
<file path=[Content_Types].xml><?xml version="1.0" encoding="utf-8"?>
<Types xmlns="http://schemas.openxmlformats.org/package/2006/content-types">
  <Default Extension="jpeg" ContentType="image/jpeg"/>
  <Default Extension="JPG" ContentType="image/.jp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9"/>
  </p:handoutMasterIdLst>
  <p:sldIdLst>
    <p:sldId id="303" r:id="rId3"/>
    <p:sldId id="305" r:id="rId5"/>
    <p:sldId id="450" r:id="rId6"/>
    <p:sldId id="449" r:id="rId7"/>
    <p:sldId id="306" r:id="rId8"/>
    <p:sldId id="307" r:id="rId9"/>
    <p:sldId id="379" r:id="rId10"/>
    <p:sldId id="304" r:id="rId11"/>
    <p:sldId id="261" r:id="rId12"/>
    <p:sldId id="309" r:id="rId13"/>
    <p:sldId id="325" r:id="rId14"/>
    <p:sldId id="384" r:id="rId15"/>
    <p:sldId id="318" r:id="rId16"/>
    <p:sldId id="310" r:id="rId17"/>
    <p:sldId id="311" r:id="rId18"/>
    <p:sldId id="312" r:id="rId19"/>
    <p:sldId id="313" r:id="rId20"/>
    <p:sldId id="314" r:id="rId21"/>
    <p:sldId id="315" r:id="rId22"/>
    <p:sldId id="316" r:id="rId23"/>
    <p:sldId id="317" r:id="rId24"/>
    <p:sldId id="319" r:id="rId25"/>
    <p:sldId id="380" r:id="rId26"/>
    <p:sldId id="326" r:id="rId27"/>
    <p:sldId id="522" r:id="rId28"/>
    <p:sldId id="523" r:id="rId29"/>
    <p:sldId id="524" r:id="rId30"/>
    <p:sldId id="525" r:id="rId31"/>
    <p:sldId id="521" r:id="rId32"/>
    <p:sldId id="531" r:id="rId33"/>
    <p:sldId id="797" r:id="rId34"/>
    <p:sldId id="532" r:id="rId35"/>
    <p:sldId id="533" r:id="rId36"/>
    <p:sldId id="697" r:id="rId37"/>
    <p:sldId id="698" r:id="rId38"/>
    <p:sldId id="534" r:id="rId39"/>
    <p:sldId id="529" r:id="rId40"/>
    <p:sldId id="535" r:id="rId41"/>
    <p:sldId id="530" r:id="rId42"/>
    <p:sldId id="586" r:id="rId43"/>
    <p:sldId id="587" r:id="rId44"/>
    <p:sldId id="324" r:id="rId45"/>
    <p:sldId id="327" r:id="rId46"/>
    <p:sldId id="385" r:id="rId47"/>
    <p:sldId id="588" r:id="rId48"/>
    <p:sldId id="589" r:id="rId49"/>
    <p:sldId id="590" r:id="rId50"/>
    <p:sldId id="329" r:id="rId51"/>
    <p:sldId id="332" r:id="rId52"/>
    <p:sldId id="592" r:id="rId53"/>
    <p:sldId id="591" r:id="rId54"/>
    <p:sldId id="381" r:id="rId55"/>
    <p:sldId id="330" r:id="rId56"/>
    <p:sldId id="331" r:id="rId57"/>
    <p:sldId id="334" r:id="rId58"/>
    <p:sldId id="593" r:id="rId59"/>
    <p:sldId id="594" r:id="rId60"/>
    <p:sldId id="595" r:id="rId61"/>
    <p:sldId id="335" r:id="rId62"/>
    <p:sldId id="596" r:id="rId63"/>
    <p:sldId id="597" r:id="rId64"/>
    <p:sldId id="336" r:id="rId65"/>
    <p:sldId id="598" r:id="rId66"/>
    <p:sldId id="337" r:id="rId67"/>
    <p:sldId id="599" r:id="rId68"/>
    <p:sldId id="600" r:id="rId69"/>
    <p:sldId id="601" r:id="rId70"/>
    <p:sldId id="338" r:id="rId71"/>
    <p:sldId id="602" r:id="rId72"/>
    <p:sldId id="603" r:id="rId73"/>
    <p:sldId id="604" r:id="rId74"/>
    <p:sldId id="339" r:id="rId75"/>
    <p:sldId id="605" r:id="rId76"/>
    <p:sldId id="606" r:id="rId77"/>
    <p:sldId id="340" r:id="rId78"/>
    <p:sldId id="608" r:id="rId79"/>
    <p:sldId id="607" r:id="rId80"/>
    <p:sldId id="859" r:id="rId81"/>
    <p:sldId id="609" r:id="rId82"/>
    <p:sldId id="353" r:id="rId83"/>
    <p:sldId id="610" r:id="rId84"/>
    <p:sldId id="355" r:id="rId85"/>
    <p:sldId id="356" r:id="rId86"/>
    <p:sldId id="357" r:id="rId87"/>
    <p:sldId id="358" r:id="rId88"/>
  </p:sldIdLst>
  <p:sldSz cx="9144000" cy="6858000" type="screen4x3"/>
  <p:notesSz cx="6858000" cy="9144000"/>
  <p:custDataLst>
    <p:tags r:id="rId93"/>
  </p:custDataLst>
  <p:defaultTextStyle>
    <a:defPPr>
      <a:defRPr lang="en-US"/>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A8C9EA"/>
    <a:srgbClr val="CCFF66"/>
    <a:srgbClr val="FFFFCC"/>
    <a:srgbClr val="F9DF9F"/>
    <a:srgbClr val="FFFF66"/>
    <a:srgbClr val="CCECFF"/>
    <a:srgbClr val="0A06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4" autoAdjust="0"/>
    <p:restoredTop sz="45943" autoAdjust="0"/>
  </p:normalViewPr>
  <p:slideViewPr>
    <p:cSldViewPr showGuides="1">
      <p:cViewPr varScale="1">
        <p:scale>
          <a:sx n="34" d="100"/>
          <a:sy n="34" d="100"/>
        </p:scale>
        <p:origin x="2220" y="24"/>
      </p:cViewPr>
      <p:guideLst>
        <p:guide orient="horz" pos="2147"/>
        <p:guide pos="2834"/>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3" Type="http://schemas.openxmlformats.org/officeDocument/2006/relationships/tags" Target="tags/tag28.xml"/><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6.xml"/><Relationship Id="rId89" Type="http://schemas.openxmlformats.org/officeDocument/2006/relationships/handoutMaster" Target="handoutMasters/handoutMaster1.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97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85800" y="890588"/>
            <a:ext cx="7772400" cy="52054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1" name="灯片编号占位符 4"/>
          <p:cNvSpPr>
            <a:spLocks noGrp="1"/>
          </p:cNvSpPr>
          <p:nvPr>
            <p:ph type="sldNum" sz="quarter" idx="4"/>
          </p:nvPr>
        </p:nvSpPr>
        <p:spPr>
          <a:xfrm>
            <a:off x="6580188" y="6313488"/>
            <a:ext cx="1905000" cy="457200"/>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lstStyle/>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b="1">
                <a:solidFill>
                  <a:srgbClr val="FFFFFF"/>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3600" kern="1200" cap="small">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entury Schoolbook" panose="02040604050505020304" pitchFamily="18" charset="0"/>
        </a:defRPr>
      </a:lvl2pPr>
      <a:lvl3pPr algn="l" rtl="0" eaLnBrk="0" fontAlgn="base" hangingPunct="0">
        <a:spcBef>
          <a:spcPct val="0"/>
        </a:spcBef>
        <a:spcAft>
          <a:spcPct val="0"/>
        </a:spcAft>
        <a:defRPr sz="3600">
          <a:solidFill>
            <a:schemeClr val="tx2"/>
          </a:solidFill>
          <a:latin typeface="Century Schoolbook" panose="02040604050505020304" pitchFamily="18" charset="0"/>
        </a:defRPr>
      </a:lvl3pPr>
      <a:lvl4pPr algn="l" rtl="0" eaLnBrk="0" fontAlgn="base" hangingPunct="0">
        <a:spcBef>
          <a:spcPct val="0"/>
        </a:spcBef>
        <a:spcAft>
          <a:spcPct val="0"/>
        </a:spcAft>
        <a:defRPr sz="3600">
          <a:solidFill>
            <a:schemeClr val="tx2"/>
          </a:solidFill>
          <a:latin typeface="Century Schoolbook" panose="02040604050505020304" pitchFamily="18" charset="0"/>
        </a:defRPr>
      </a:lvl4pPr>
      <a:lvl5pPr algn="l" rtl="0" eaLnBrk="0" fontAlgn="base" hangingPunct="0">
        <a:spcBef>
          <a:spcPct val="0"/>
        </a:spcBef>
        <a:spcAft>
          <a:spcPct val="0"/>
        </a:spcAft>
        <a:defRPr sz="3600">
          <a:solidFill>
            <a:schemeClr val="tx2"/>
          </a:solidFill>
          <a:latin typeface="Century Schoolbook" panose="02040604050505020304" pitchFamily="18" charset="0"/>
        </a:defRPr>
      </a:lvl5pPr>
      <a:lvl6pPr marL="457200" algn="l" rtl="0" fontAlgn="base">
        <a:spcBef>
          <a:spcPct val="0"/>
        </a:spcBef>
        <a:spcAft>
          <a:spcPct val="0"/>
        </a:spcAft>
        <a:defRPr sz="3600">
          <a:solidFill>
            <a:schemeClr val="tx2"/>
          </a:solidFill>
          <a:latin typeface="Century Schoolbook" panose="02040604050505020304" pitchFamily="18" charset="0"/>
        </a:defRPr>
      </a:lvl6pPr>
      <a:lvl7pPr marL="914400" algn="l" rtl="0" fontAlgn="base">
        <a:spcBef>
          <a:spcPct val="0"/>
        </a:spcBef>
        <a:spcAft>
          <a:spcPct val="0"/>
        </a:spcAft>
        <a:defRPr sz="3600">
          <a:solidFill>
            <a:schemeClr val="tx2"/>
          </a:solidFill>
          <a:latin typeface="Century Schoolbook" panose="02040604050505020304" pitchFamily="18" charset="0"/>
        </a:defRPr>
      </a:lvl7pPr>
      <a:lvl8pPr marL="1371600" algn="l" rtl="0" fontAlgn="base">
        <a:spcBef>
          <a:spcPct val="0"/>
        </a:spcBef>
        <a:spcAft>
          <a:spcPct val="0"/>
        </a:spcAft>
        <a:defRPr sz="3600">
          <a:solidFill>
            <a:schemeClr val="tx2"/>
          </a:solidFill>
          <a:latin typeface="Century Schoolbook" panose="02040604050505020304" pitchFamily="18" charset="0"/>
        </a:defRPr>
      </a:lvl8pPr>
      <a:lvl9pPr marL="1828800" algn="l" rtl="0" fontAlgn="base">
        <a:spcBef>
          <a:spcPct val="0"/>
        </a:spcBef>
        <a:spcAft>
          <a:spcPct val="0"/>
        </a:spcAft>
        <a:defRPr sz="3600">
          <a:solidFill>
            <a:schemeClr val="tx2"/>
          </a:solidFill>
          <a:latin typeface="Century Schoolbook" panose="020406040505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4.xml"/><Relationship Id="rId7" Type="http://schemas.openxmlformats.org/officeDocument/2006/relationships/image" Target="../media/image12.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tags" Target="../tags/tag2.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tags" Target="../tags/tag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tags" Target="../tags/tag4.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tags" Target="../tags/tag5.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tags" Target="../tags/tag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tags" Target="../tags/tag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tags" Target="../tags/tag8.xml"/></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tags" Target="../tags/tag9.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2.xml"/><Relationship Id="rId2" Type="http://schemas.openxmlformats.org/officeDocument/2006/relationships/image" Target="../media/image29.jpeg"/><Relationship Id="rId1" Type="http://schemas.openxmlformats.org/officeDocument/2006/relationships/tags" Target="../tags/tag10.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2.xml"/><Relationship Id="rId2" Type="http://schemas.openxmlformats.org/officeDocument/2006/relationships/image" Target="../media/image30.jpeg"/><Relationship Id="rId1" Type="http://schemas.openxmlformats.org/officeDocument/2006/relationships/tags" Target="../tags/tag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tags" Target="../tags/tag12.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tags" Target="../tags/tag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tags" Target="../tags/tag14.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tags" Target="../tags/tag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6.jpeg"/><Relationship Id="rId3" Type="http://schemas.openxmlformats.org/officeDocument/2006/relationships/tags" Target="../tags/tag17.xml"/><Relationship Id="rId2" Type="http://schemas.openxmlformats.org/officeDocument/2006/relationships/image" Target="../media/image35.png"/><Relationship Id="rId1" Type="http://schemas.openxmlformats.org/officeDocument/2006/relationships/tags" Target="../tags/tag16.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tags" Target="../tags/tag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image" Target="../media/image38.png"/><Relationship Id="rId1" Type="http://schemas.openxmlformats.org/officeDocument/2006/relationships/tags" Target="../tags/tag1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tags" Target="../tags/tag2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5" Type="http://schemas.openxmlformats.org/officeDocument/2006/relationships/notesSlide" Target="../notesSlides/notesSlide67.xml"/><Relationship Id="rId4" Type="http://schemas.openxmlformats.org/officeDocument/2006/relationships/slideLayout" Target="../slideLayouts/slideLayout2.xml"/><Relationship Id="rId3" Type="http://schemas.openxmlformats.org/officeDocument/2006/relationships/image" Target="../media/image40.jpeg"/><Relationship Id="rId2" Type="http://schemas.openxmlformats.org/officeDocument/2006/relationships/tags" Target="../tags/tag25.xml"/><Relationship Id="rId1" Type="http://schemas.openxmlformats.org/officeDocument/2006/relationships/tags" Target="../tags/tag2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2.xml"/><Relationship Id="rId2" Type="http://schemas.openxmlformats.org/officeDocument/2006/relationships/image" Target="../media/image41.jpeg"/><Relationship Id="rId1" Type="http://schemas.openxmlformats.org/officeDocument/2006/relationships/tags" Target="../tags/tag2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ctrTitle"/>
          </p:nvPr>
        </p:nvSpPr>
        <p:spPr>
          <a:xfrm>
            <a:off x="2339975" y="2060575"/>
            <a:ext cx="6172200" cy="2165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软件系统分析与设计</a:t>
            </a:r>
            <a:b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Software System Analysis and Design</a:t>
            </a:r>
            <a:endPar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19" name="灯片编号占位符 5"/>
          <p:cNvSpPr txBox="1">
            <a:spLocks noGrp="1"/>
          </p:cNvSpPr>
          <p:nvPr>
            <p:ph type="sldNum" sz="quarter" idx="4"/>
          </p:nvPr>
        </p:nvSpPr>
        <p:spPr>
          <a:xfrm>
            <a:off x="1325563" y="5013325"/>
            <a:ext cx="609600" cy="517525"/>
          </a:xfrm>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chemeClr val="bg1"/>
                </a:solidFill>
                <a:latin typeface="Arial" panose="020B0604020202020204" pitchFamily="34" charset="0"/>
                <a:ea typeface="楷体_GB2312" pitchFamily="49" charset="-122"/>
              </a:rPr>
            </a:fld>
            <a:endParaRPr lang="zh-CN" altLang="en-US" sz="1400" dirty="0">
              <a:solidFill>
                <a:schemeClr val="bg1"/>
              </a:solidFill>
              <a:latin typeface="Arial" panose="020B0604020202020204" pitchFamily="34" charset="0"/>
              <a:ea typeface="楷体_GB2312"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回顾</a:t>
            </a:r>
            <a:endParaRPr kumimoji="0" lang="zh-CN"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10243" name="内容占位符 2"/>
          <p:cNvSpPr>
            <a:spLocks noGrp="1"/>
          </p:cNvSpPr>
          <p:nvPr>
            <p:ph sz="quarter" idx="1"/>
          </p:nvPr>
        </p:nvSpPr>
        <p:spPr>
          <a:xfrm>
            <a:off x="457200" y="1600200"/>
            <a:ext cx="7931224" cy="4873752"/>
          </a:xfrm>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zh-CN" altLang="en-US" dirty="0">
                <a:ea typeface="宋体" panose="02010600030101010101" pitchFamily="2" charset="-122"/>
              </a:rPr>
              <a:t>面向对象方法概述</a:t>
            </a:r>
            <a:endParaRPr lang="en-US" altLang="zh-CN" dirty="0">
              <a:ea typeface="宋体" panose="02010600030101010101" pitchFamily="2" charset="-122"/>
            </a:endParaRPr>
          </a:p>
          <a:p>
            <a:pPr eaLnBrk="1" hangingPunct="1"/>
            <a:r>
              <a:rPr lang="zh-CN" altLang="en-US" dirty="0">
                <a:ea typeface="宋体" panose="02010600030101010101" pitchFamily="2" charset="-122"/>
              </a:rPr>
              <a:t>几个重要概念：</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面向对象</a:t>
            </a:r>
            <a:r>
              <a:rPr lang="en-US" altLang="zh-CN" dirty="0">
                <a:ea typeface="宋体" panose="02010600030101010101" pitchFamily="2" charset="-122"/>
              </a:rPr>
              <a:t>=</a:t>
            </a:r>
            <a:r>
              <a:rPr lang="zh-CN" altLang="en-US" dirty="0">
                <a:ea typeface="宋体" panose="02010600030101010101" pitchFamily="2" charset="-122"/>
              </a:rPr>
              <a:t>对象</a:t>
            </a:r>
            <a:r>
              <a:rPr lang="en-US" altLang="zh-CN" dirty="0">
                <a:ea typeface="宋体" panose="02010600030101010101" pitchFamily="2" charset="-122"/>
              </a:rPr>
              <a:t>+</a:t>
            </a:r>
            <a:r>
              <a:rPr lang="zh-CN" altLang="en-US" dirty="0">
                <a:ea typeface="宋体" panose="02010600030101010101" pitchFamily="2" charset="-122"/>
              </a:rPr>
              <a:t>类</a:t>
            </a:r>
            <a:r>
              <a:rPr lang="en-US" altLang="zh-CN" dirty="0">
                <a:ea typeface="宋体" panose="02010600030101010101" pitchFamily="2" charset="-122"/>
              </a:rPr>
              <a:t>+</a:t>
            </a:r>
            <a:r>
              <a:rPr lang="zh-CN" altLang="en-US" dirty="0">
                <a:ea typeface="宋体" panose="02010600030101010101" pitchFamily="2" charset="-122"/>
              </a:rPr>
              <a:t>继承</a:t>
            </a:r>
            <a:r>
              <a:rPr lang="en-US" altLang="zh-CN" dirty="0">
                <a:ea typeface="宋体" panose="02010600030101010101" pitchFamily="2" charset="-122"/>
              </a:rPr>
              <a:t>+</a:t>
            </a:r>
            <a:r>
              <a:rPr lang="zh-CN" altLang="en-US" dirty="0">
                <a:ea typeface="宋体" panose="02010600030101010101" pitchFamily="2" charset="-122"/>
              </a:rPr>
              <a:t>通信</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对象</a:t>
            </a:r>
            <a:r>
              <a:rPr lang="en-US" altLang="zh-CN" dirty="0">
                <a:ea typeface="宋体" panose="02010600030101010101" pitchFamily="2" charset="-122"/>
              </a:rPr>
              <a:t>·</a:t>
            </a:r>
            <a:r>
              <a:rPr lang="zh-CN" altLang="en-US" dirty="0">
                <a:ea typeface="宋体" panose="02010600030101010101" pitchFamily="2" charset="-122"/>
              </a:rPr>
              <a:t>类</a:t>
            </a:r>
            <a:r>
              <a:rPr lang="en-US" altLang="zh-CN" dirty="0">
                <a:ea typeface="宋体" panose="02010600030101010101" pitchFamily="2" charset="-122"/>
              </a:rPr>
              <a:t>·</a:t>
            </a:r>
            <a:r>
              <a:rPr lang="zh-CN" altLang="en-US" dirty="0">
                <a:ea typeface="宋体" panose="02010600030101010101" pitchFamily="2" charset="-122"/>
              </a:rPr>
              <a:t>继承</a:t>
            </a:r>
            <a:r>
              <a:rPr lang="en-US" altLang="zh-CN" dirty="0">
                <a:ea typeface="宋体" panose="02010600030101010101" pitchFamily="2" charset="-122"/>
              </a:rPr>
              <a:t>·</a:t>
            </a:r>
            <a:r>
              <a:rPr lang="zh-CN" altLang="en-US" dirty="0">
                <a:ea typeface="宋体" panose="02010600030101010101" pitchFamily="2" charset="-122"/>
              </a:rPr>
              <a:t>消息</a:t>
            </a:r>
            <a:r>
              <a:rPr lang="en-US" altLang="zh-CN" dirty="0">
                <a:ea typeface="宋体" panose="02010600030101010101" pitchFamily="2" charset="-122"/>
              </a:rPr>
              <a:t>·</a:t>
            </a:r>
            <a:r>
              <a:rPr lang="zh-CN" altLang="en-US" dirty="0">
                <a:ea typeface="宋体" panose="02010600030101010101" pitchFamily="2" charset="-122"/>
              </a:rPr>
              <a:t>封装</a:t>
            </a:r>
            <a:r>
              <a:rPr lang="en-US" altLang="zh-CN" dirty="0">
                <a:ea typeface="宋体" panose="02010600030101010101" pitchFamily="2" charset="-122"/>
              </a:rPr>
              <a:t>·</a:t>
            </a:r>
            <a:r>
              <a:rPr lang="zh-CN" altLang="en-US" dirty="0">
                <a:ea typeface="宋体" panose="02010600030101010101" pitchFamily="2" charset="-122"/>
              </a:rPr>
              <a:t>多态</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面向对象开发过程</a:t>
            </a:r>
            <a:r>
              <a:rPr lang="en-US" altLang="zh-CN" dirty="0">
                <a:ea typeface="宋体" panose="02010600030101010101" pitchFamily="2" charset="-122"/>
              </a:rPr>
              <a:t>OOA-OOD-OOI-OOT-OOM</a:t>
            </a:r>
            <a:endParaRPr lang="en-US" altLang="zh-CN" dirty="0">
              <a:ea typeface="宋体" panose="02010600030101010101" pitchFamily="2" charset="-122"/>
            </a:endParaRPr>
          </a:p>
          <a:p>
            <a:pPr eaLnBrk="1" hangingPunct="1"/>
            <a:r>
              <a:rPr lang="en-US" altLang="zh-CN" dirty="0">
                <a:ea typeface="宋体" panose="02010600030101010101" pitchFamily="2" charset="-122"/>
              </a:rPr>
              <a:t>OOA</a:t>
            </a:r>
            <a:r>
              <a:rPr lang="zh-CN" altLang="en-US" dirty="0">
                <a:ea typeface="宋体" panose="02010600030101010101" pitchFamily="2" charset="-122"/>
              </a:rPr>
              <a:t>、</a:t>
            </a:r>
            <a:r>
              <a:rPr lang="en-US" altLang="zh-CN" dirty="0">
                <a:ea typeface="宋体" panose="02010600030101010101" pitchFamily="2" charset="-122"/>
              </a:rPr>
              <a:t>OOD</a:t>
            </a:r>
            <a:r>
              <a:rPr lang="zh-CN" altLang="en-US" dirty="0">
                <a:ea typeface="宋体" panose="02010600030101010101" pitchFamily="2" charset="-122"/>
              </a:rPr>
              <a:t>的步骤</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OOA</a:t>
            </a:r>
            <a:r>
              <a:rPr lang="zh-CN" altLang="en-US" dirty="0">
                <a:ea typeface="宋体" panose="02010600030101010101" pitchFamily="2" charset="-122"/>
              </a:rPr>
              <a:t>五个层次</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类与对象层</a:t>
            </a:r>
            <a:r>
              <a:rPr lang="en-US" altLang="zh-CN" dirty="0">
                <a:ea typeface="宋体" panose="02010600030101010101" pitchFamily="2" charset="-122"/>
              </a:rPr>
              <a:t>·</a:t>
            </a:r>
            <a:r>
              <a:rPr lang="zh-CN" altLang="en-US" dirty="0">
                <a:ea typeface="宋体" panose="02010600030101010101" pitchFamily="2" charset="-122"/>
              </a:rPr>
              <a:t>属性层</a:t>
            </a:r>
            <a:r>
              <a:rPr lang="en-US" altLang="zh-CN" dirty="0">
                <a:ea typeface="宋体" panose="02010600030101010101" pitchFamily="2" charset="-122"/>
              </a:rPr>
              <a:t>·</a:t>
            </a:r>
            <a:r>
              <a:rPr lang="zh-CN" altLang="en-US" dirty="0">
                <a:ea typeface="宋体" panose="02010600030101010101" pitchFamily="2" charset="-122"/>
              </a:rPr>
              <a:t>服务层</a:t>
            </a:r>
            <a:r>
              <a:rPr lang="en-US" altLang="zh-CN" dirty="0">
                <a:ea typeface="宋体" panose="02010600030101010101" pitchFamily="2" charset="-122"/>
              </a:rPr>
              <a:t>·</a:t>
            </a:r>
            <a:r>
              <a:rPr lang="zh-CN" altLang="en-US" dirty="0">
                <a:ea typeface="宋体" panose="02010600030101010101" pitchFamily="2" charset="-122"/>
              </a:rPr>
              <a:t>结构层</a:t>
            </a:r>
            <a:r>
              <a:rPr lang="en-US" altLang="zh-CN" dirty="0">
                <a:ea typeface="宋体" panose="02010600030101010101" pitchFamily="2" charset="-122"/>
              </a:rPr>
              <a:t>·</a:t>
            </a:r>
            <a:r>
              <a:rPr lang="zh-CN" altLang="en-US" dirty="0">
                <a:ea typeface="宋体" panose="02010600030101010101" pitchFamily="2" charset="-122"/>
              </a:rPr>
              <a:t>主题层</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OOD</a:t>
            </a:r>
            <a:r>
              <a:rPr lang="zh-CN" altLang="en-US" dirty="0">
                <a:ea typeface="宋体" panose="02010600030101010101" pitchFamily="2" charset="-122"/>
              </a:rPr>
              <a:t>两个阶段</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系统对象设计阶段</a:t>
            </a:r>
            <a:r>
              <a:rPr lang="en-US" altLang="zh-CN" dirty="0">
                <a:ea typeface="宋体" panose="02010600030101010101" pitchFamily="2" charset="-122"/>
              </a:rPr>
              <a:t>·</a:t>
            </a:r>
            <a:r>
              <a:rPr lang="zh-CN" altLang="en-US" dirty="0">
                <a:ea typeface="宋体" panose="02010600030101010101" pitchFamily="2" charset="-122"/>
              </a:rPr>
              <a:t>系统体系结构阶段</a:t>
            </a:r>
            <a:endParaRPr lang="zh-CN" altLang="en-US" dirty="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mj-lt"/>
                <a:ea typeface="+mj-ea"/>
                <a:cs typeface="+mj-cs"/>
              </a:rPr>
              <a:t>学习目标</a:t>
            </a:r>
            <a:endParaRPr kumimoji="0" lang="zh-CN"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10243" name="内容占位符 2"/>
          <p:cNvSpPr>
            <a:spLocks noGrp="1"/>
          </p:cNvSpPr>
          <p:nvPr>
            <p:ph sz="quarter" idx="1"/>
          </p:nvPr>
        </p:nvSpPr>
        <p:spPr>
          <a:xfrm>
            <a:off x="457200" y="1600200"/>
            <a:ext cx="7931224" cy="4873752"/>
          </a:xfrm>
        </p:spPr>
        <p:txBody>
          <a:bodyPr vert="horz" wrap="square" lIns="91440" tIns="45720" rIns="91440" bIns="45720" anchor="t" anchorCtr="0"/>
          <a:lstStyle/>
          <a:p>
            <a:pPr eaLnBrk="1" hangingPunct="1"/>
            <a:r>
              <a:rPr lang="zh-CN" altLang="en-US" dirty="0">
                <a:ea typeface="宋体" panose="02010600030101010101" pitchFamily="2" charset="-122"/>
              </a:rPr>
              <a:t>了解</a:t>
            </a:r>
            <a:r>
              <a:rPr lang="en-US" altLang="zh-CN" dirty="0">
                <a:ea typeface="宋体" panose="02010600030101010101" pitchFamily="2" charset="-122"/>
              </a:rPr>
              <a:t>UML</a:t>
            </a:r>
            <a:r>
              <a:rPr lang="zh-CN" altLang="en-US" dirty="0">
                <a:ea typeface="宋体" panose="02010600030101010101" pitchFamily="2" charset="-122"/>
              </a:rPr>
              <a:t>发展历史</a:t>
            </a:r>
            <a:endParaRPr lang="en-US" altLang="zh-CN" dirty="0">
              <a:ea typeface="宋体" panose="02010600030101010101" pitchFamily="2" charset="-122"/>
            </a:endParaRPr>
          </a:p>
          <a:p>
            <a:pPr eaLnBrk="1" hangingPunct="1"/>
            <a:r>
              <a:rPr lang="zh-CN" altLang="en-US" dirty="0">
                <a:ea typeface="宋体" panose="02010600030101010101" pitchFamily="2" charset="-122"/>
              </a:rPr>
              <a:t>掌握</a:t>
            </a:r>
            <a:r>
              <a:rPr lang="en-US" altLang="zh-CN" dirty="0">
                <a:ea typeface="宋体" panose="02010600030101010101" pitchFamily="2" charset="-122"/>
              </a:rPr>
              <a:t>UML</a:t>
            </a:r>
            <a:r>
              <a:rPr lang="zh-CN" altLang="en-US" dirty="0">
                <a:ea typeface="宋体" panose="02010600030101010101" pitchFamily="2" charset="-122"/>
              </a:rPr>
              <a:t>基本图标元素</a:t>
            </a:r>
            <a:endParaRPr lang="en-US" altLang="zh-CN" dirty="0">
              <a:ea typeface="宋体" panose="02010600030101010101" pitchFamily="2" charset="-122"/>
            </a:endParaRPr>
          </a:p>
          <a:p>
            <a:pPr eaLnBrk="1" hangingPunct="1"/>
            <a:r>
              <a:rPr lang="zh-CN" altLang="en-US" dirty="0">
                <a:ea typeface="宋体" panose="02010600030101010101" pitchFamily="2" charset="-122"/>
              </a:rPr>
              <a:t>掌握五种视图</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用例视图</a:t>
            </a:r>
            <a:r>
              <a:rPr lang="en-US" altLang="zh-CN" dirty="0">
                <a:ea typeface="宋体" panose="02010600030101010101" pitchFamily="2" charset="-122"/>
              </a:rPr>
              <a:t>·</a:t>
            </a:r>
            <a:r>
              <a:rPr lang="zh-CN" altLang="en-US" dirty="0">
                <a:ea typeface="宋体" panose="02010600030101010101" pitchFamily="2" charset="-122"/>
              </a:rPr>
              <a:t>逻辑视图</a:t>
            </a:r>
            <a:r>
              <a:rPr lang="en-US" altLang="zh-CN" dirty="0">
                <a:ea typeface="宋体" panose="02010600030101010101" pitchFamily="2" charset="-122"/>
              </a:rPr>
              <a:t>·</a:t>
            </a:r>
            <a:r>
              <a:rPr lang="zh-CN" altLang="en-US" dirty="0">
                <a:ea typeface="宋体" panose="02010600030101010101" pitchFamily="2" charset="-122"/>
              </a:rPr>
              <a:t>构件视图</a:t>
            </a:r>
            <a:r>
              <a:rPr lang="en-US" altLang="zh-CN" dirty="0">
                <a:ea typeface="宋体" panose="02010600030101010101" pitchFamily="2" charset="-122"/>
              </a:rPr>
              <a:t>·</a:t>
            </a:r>
            <a:r>
              <a:rPr lang="zh-CN" altLang="en-US" dirty="0">
                <a:ea typeface="宋体" panose="02010600030101010101" pitchFamily="2" charset="-122"/>
              </a:rPr>
              <a:t>进程视图</a:t>
            </a:r>
            <a:r>
              <a:rPr lang="en-US" altLang="zh-CN" dirty="0">
                <a:ea typeface="宋体" panose="02010600030101010101" pitchFamily="2" charset="-122"/>
              </a:rPr>
              <a:t>·</a:t>
            </a:r>
            <a:r>
              <a:rPr lang="zh-CN" altLang="en-US" dirty="0">
                <a:ea typeface="宋体" panose="02010600030101010101" pitchFamily="2" charset="-122"/>
              </a:rPr>
              <a:t>部署视图</a:t>
            </a:r>
            <a:endParaRPr lang="en-US" altLang="zh-CN" dirty="0">
              <a:ea typeface="宋体" panose="02010600030101010101" pitchFamily="2" charset="-122"/>
            </a:endParaRPr>
          </a:p>
          <a:p>
            <a:pPr eaLnBrk="1" hangingPunct="1"/>
            <a:r>
              <a:rPr lang="zh-CN" altLang="en-US" dirty="0">
                <a:ea typeface="宋体" panose="02010600030101010101" pitchFamily="2" charset="-122"/>
              </a:rPr>
              <a:t>理解</a:t>
            </a:r>
            <a:r>
              <a:rPr lang="en-US" altLang="zh-CN" dirty="0">
                <a:ea typeface="宋体" panose="02010600030101010101" pitchFamily="2" charset="-122"/>
              </a:rPr>
              <a:t>UML</a:t>
            </a:r>
            <a:r>
              <a:rPr lang="zh-CN" altLang="en-US" dirty="0">
                <a:ea typeface="宋体" panose="02010600030101010101" pitchFamily="2" charset="-122"/>
              </a:rPr>
              <a:t>模型结构</a:t>
            </a:r>
            <a:endParaRPr lang="en-US" altLang="zh-CN" dirty="0">
              <a:ea typeface="宋体" panose="02010600030101010101" pitchFamily="2" charset="-122"/>
            </a:endParaRPr>
          </a:p>
          <a:p>
            <a:pPr eaLnBrk="1" hangingPunct="1"/>
            <a:r>
              <a:rPr lang="zh-CN" altLang="en-US" dirty="0">
                <a:ea typeface="宋体" panose="02010600030101010101" pitchFamily="2" charset="-122"/>
              </a:rPr>
              <a:t>理解</a:t>
            </a:r>
            <a:r>
              <a:rPr lang="en-US" altLang="zh-CN" dirty="0">
                <a:ea typeface="宋体" panose="02010600030101010101" pitchFamily="2" charset="-122"/>
              </a:rPr>
              <a:t>UML</a:t>
            </a:r>
            <a:r>
              <a:rPr lang="zh-CN" altLang="en-US" dirty="0">
                <a:ea typeface="宋体" panose="02010600030101010101" pitchFamily="2" charset="-122"/>
              </a:rPr>
              <a:t>公共机制和扩展机制</a:t>
            </a:r>
            <a:endParaRPr lang="en-US" altLang="zh-CN" dirty="0">
              <a:ea typeface="宋体" panose="02010600030101010101" pitchFamily="2" charset="-122"/>
            </a:endParaRPr>
          </a:p>
          <a:p>
            <a:pPr eaLnBrk="1" hangingPunct="1"/>
            <a:r>
              <a:rPr lang="zh-CN" altLang="en-US" dirty="0">
                <a:ea typeface="宋体" panose="02010600030101010101" pitchFamily="2" charset="-122"/>
              </a:rPr>
              <a:t>理解</a:t>
            </a:r>
            <a:r>
              <a:rPr lang="en-US" altLang="zh-CN" dirty="0">
                <a:ea typeface="宋体" panose="02010600030101010101" pitchFamily="2" charset="-122"/>
              </a:rPr>
              <a:t>RUP</a:t>
            </a:r>
            <a:r>
              <a:rPr lang="zh-CN" altLang="en-US" dirty="0">
                <a:ea typeface="宋体" panose="02010600030101010101" pitchFamily="2" charset="-122"/>
              </a:rPr>
              <a:t>核心概念和组织框架</a:t>
            </a:r>
            <a:endParaRPr lang="en-US" altLang="zh-CN" dirty="0">
              <a:ea typeface="宋体" panose="02010600030101010101" pitchFamily="2" charset="-122"/>
            </a:endParaRPr>
          </a:p>
          <a:p>
            <a:pPr eaLnBrk="1" hangingPunct="1"/>
            <a:r>
              <a:rPr lang="zh-CN" altLang="en-US" dirty="0">
                <a:ea typeface="宋体" panose="02010600030101010101" pitchFamily="2" charset="-122"/>
              </a:rPr>
              <a:t>了解</a:t>
            </a:r>
            <a:r>
              <a:rPr lang="en-US" altLang="zh-CN" dirty="0">
                <a:ea typeface="宋体" panose="02010600030101010101" pitchFamily="2" charset="-122"/>
              </a:rPr>
              <a:t>OOCASE</a:t>
            </a:r>
            <a:r>
              <a:rPr lang="zh-CN" altLang="en-US" dirty="0">
                <a:ea typeface="宋体" panose="02010600030101010101" pitchFamily="2" charset="-122"/>
              </a:rPr>
              <a:t>：</a:t>
            </a:r>
            <a:r>
              <a:rPr lang="en-US" altLang="zh-CN" dirty="0">
                <a:ea typeface="宋体" panose="02010600030101010101" pitchFamily="2" charset="-122"/>
              </a:rPr>
              <a:t>Rational Rose</a:t>
            </a:r>
            <a:r>
              <a:rPr lang="zh-CN" altLang="en-US" dirty="0">
                <a:ea typeface="宋体" panose="02010600030101010101" pitchFamily="2" charset="-122"/>
              </a:rPr>
              <a:t>工具</a:t>
            </a:r>
            <a:endParaRPr lang="zh-CN" altLang="en-US" dirty="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统一建模语言</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UML</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10243"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zh-CN" altLang="en-US" dirty="0">
                <a:ea typeface="宋体" panose="02010600030101010101" pitchFamily="2" charset="-122"/>
              </a:rPr>
              <a:t>建模</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模型是对事物的一种抽象，人们常常在正式建造实物之前，首先建立一个简化的模型，以便更透彻地了解它的本质，抓住问题的要害。</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在模型中，人们总是剔除那些与问题无关的、非本质的东西，从而使模型与真实的实体相比更加简单、易于把握。</a:t>
            </a:r>
            <a:endParaRPr lang="zh-CN" altLang="en-US" dirty="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统一建模语言</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UML</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11267"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面向对象的分析和设计应该从建模开始。</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构造模型通常出于以下几个目地：</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在着手解决一个复杂问题之前，对解决方案进行检测；</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用于同客户或其他相关人员进行交流，加强视觉效果；</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对复杂问题进行简化。</a:t>
            </a:r>
            <a:endParaRPr lang="zh-CN" altLang="en-US" dirty="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12291" name="内容占位符 2"/>
          <p:cNvSpPr>
            <a:spLocks noGrp="1"/>
          </p:cNvSpPr>
          <p:nvPr>
            <p:ph sz="quarter" idx="1"/>
          </p:nvPr>
        </p:nvSpPr>
        <p:spPr>
          <a:xfrm>
            <a:off x="457200" y="1557338"/>
            <a:ext cx="7467600" cy="4916487"/>
          </a:xfrm>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为何提出</a:t>
            </a:r>
            <a:r>
              <a:rPr lang="en-US" altLang="zh-CN" dirty="0">
                <a:ea typeface="宋体" panose="02010600030101010101" pitchFamily="2" charset="-122"/>
              </a:rPr>
              <a:t>UML</a:t>
            </a:r>
            <a:r>
              <a:rPr lang="zh-CN" altLang="en-US" dirty="0">
                <a:ea typeface="宋体" panose="02010600030101010101" pitchFamily="2" charset="-122"/>
              </a:rPr>
              <a:t>？</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结束方法大战。超过</a:t>
            </a:r>
            <a:r>
              <a:rPr lang="en-US" altLang="zh-CN" dirty="0">
                <a:ea typeface="宋体" panose="02010600030101010101" pitchFamily="2" charset="-122"/>
              </a:rPr>
              <a:t>50</a:t>
            </a:r>
            <a:r>
              <a:rPr lang="zh-CN" altLang="en-US" dirty="0">
                <a:ea typeface="宋体" panose="02010600030101010101" pitchFamily="2" charset="-122"/>
              </a:rPr>
              <a:t>种的面向对象方法论，统一成为必然。</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整合这些方法论成为一种标准的</a:t>
            </a:r>
            <a:r>
              <a:rPr lang="zh-CN" altLang="en-US" dirty="0">
                <a:solidFill>
                  <a:srgbClr val="FF0000"/>
                </a:solidFill>
                <a:ea typeface="宋体" panose="02010600030101010101" pitchFamily="2" charset="-122"/>
              </a:rPr>
              <a:t>建模语言</a:t>
            </a:r>
            <a:endParaRPr lang="en-US" altLang="zh-CN" dirty="0">
              <a:solidFill>
                <a:srgbClr val="FF0000"/>
              </a:solidFill>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方法论和建模语言的区别</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建模方法应包括建模语言和建模过程两部分</a:t>
            </a:r>
            <a:r>
              <a:rPr lang="en-US" altLang="zh-CN" dirty="0">
                <a:ea typeface="宋体" panose="02010600030101010101" pitchFamily="2" charset="-122"/>
              </a:rPr>
              <a:t>:</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建模语言：提供这种方法用于表示建模结果的符号。（图形符号：可视化）</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建模过程：描述建模时需要遵循的步骤。</a:t>
            </a:r>
            <a:endParaRPr lang="zh-CN" altLang="en-US" dirty="0">
              <a:ea typeface="宋体" panose="02010600030101010101" pitchFamily="2" charset="-122"/>
            </a:endParaRPr>
          </a:p>
          <a:p>
            <a:pPr marL="0" lvl="0" indent="0" eaLnBrk="1" hangingPunct="1">
              <a:buClr>
                <a:schemeClr val="accent1"/>
              </a:buClr>
              <a:buSzPct val="80000"/>
              <a:buFont typeface="Wingdings 2" panose="05020102010507070707" pitchFamily="18" charset="2"/>
              <a:buNone/>
            </a:pPr>
            <a:r>
              <a:rPr lang="en-US" altLang="zh-CN" dirty="0">
                <a:solidFill>
                  <a:srgbClr val="C00000"/>
                </a:solidFill>
                <a:latin typeface="+mj-ea"/>
                <a:ea typeface="+mj-ea"/>
                <a:cs typeface="+mj-ea"/>
              </a:rPr>
              <a:t>UML</a:t>
            </a:r>
            <a:r>
              <a:rPr lang="zh-CN" altLang="en-US" dirty="0">
                <a:solidFill>
                  <a:srgbClr val="C00000"/>
                </a:solidFill>
                <a:latin typeface="+mj-ea"/>
                <a:ea typeface="+mj-ea"/>
                <a:cs typeface="+mj-ea"/>
              </a:rPr>
              <a:t>是语言，适用于面向对象方法，其本身不是面向对象方法。</a:t>
            </a:r>
            <a:endParaRPr lang="zh-CN" altLang="en-US" dirty="0">
              <a:solidFill>
                <a:srgbClr val="C00000"/>
              </a:solidFill>
              <a:latin typeface="+mj-ea"/>
              <a:ea typeface="+mj-ea"/>
              <a:cs typeface="+mj-ea"/>
            </a:endParaRPr>
          </a:p>
        </p:txBody>
      </p:sp>
      <p:sp>
        <p:nvSpPr>
          <p:cNvPr id="1229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13315" name="内容占位符 2"/>
          <p:cNvSpPr>
            <a:spLocks noGrp="1"/>
          </p:cNvSpPr>
          <p:nvPr>
            <p:ph sz="quarter" idx="1"/>
          </p:nvPr>
        </p:nvSpPr>
        <p:spPr>
          <a:xfrm>
            <a:off x="457200" y="1600200"/>
            <a:ext cx="8002588" cy="4873625"/>
          </a:xfrm>
        </p:spPr>
        <p:txBody>
          <a:bodyPr vert="horz" wrap="square" lIns="91440" tIns="45720" rIns="91440" bIns="45720" anchor="t" anchorCtr="0"/>
          <a:lstStyle/>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统一建模语言</a:t>
            </a:r>
            <a:r>
              <a:rPr lang="zh-CN" altLang="en-US" dirty="0">
                <a:ea typeface="宋体" panose="02010600030101010101" pitchFamily="2" charset="-122"/>
              </a:rPr>
              <a:t>（</a:t>
            </a:r>
            <a:r>
              <a:rPr lang="en-US" altLang="zh-CN" dirty="0">
                <a:solidFill>
                  <a:srgbClr val="0070C0"/>
                </a:solidFill>
                <a:ea typeface="宋体" panose="02010600030101010101" pitchFamily="2" charset="-122"/>
              </a:rPr>
              <a:t>Unified Modeling Language</a:t>
            </a:r>
            <a:r>
              <a:rPr lang="zh-CN" altLang="en-US" dirty="0">
                <a:solidFill>
                  <a:srgbClr val="0070C0"/>
                </a:solidFill>
                <a:ea typeface="宋体" panose="02010600030101010101" pitchFamily="2" charset="-122"/>
              </a:rPr>
              <a:t>，</a:t>
            </a:r>
            <a:r>
              <a:rPr lang="en-US" altLang="zh-CN" dirty="0">
                <a:solidFill>
                  <a:srgbClr val="0070C0"/>
                </a:solidFill>
                <a:ea typeface="宋体" panose="02010600030101010101" pitchFamily="2" charset="-122"/>
              </a:rPr>
              <a:t>UML</a:t>
            </a:r>
            <a:r>
              <a:rPr lang="zh-CN" altLang="en-US" dirty="0">
                <a:ea typeface="宋体" panose="02010600030101010101" pitchFamily="2" charset="-122"/>
              </a:rPr>
              <a:t>）</a:t>
            </a:r>
            <a:endParaRPr lang="en-US" altLang="zh-CN" dirty="0">
              <a:ea typeface="宋体" panose="02010600030101010101" pitchFamily="2" charset="-122"/>
            </a:endParaRPr>
          </a:p>
          <a:p>
            <a:pPr>
              <a:buClr>
                <a:schemeClr val="accent1"/>
              </a:buClr>
              <a:buSzPct val="70000"/>
              <a:buFont typeface="Wingdings" panose="05000000000000000000" pitchFamily="2" charset="2"/>
            </a:pPr>
            <a:r>
              <a:rPr lang="zh-CN" altLang="en-US" dirty="0">
                <a:latin typeface="Times New Roman" panose="02020603050405020304" pitchFamily="18" charset="0"/>
                <a:ea typeface="宋体" panose="02010600030101010101" pitchFamily="2" charset="-122"/>
              </a:rPr>
              <a:t>为什么命名为</a:t>
            </a:r>
            <a:r>
              <a:rPr lang="en-US" altLang="zh-CN" dirty="0">
                <a:latin typeface="Times New Roman" panose="02020603050405020304" pitchFamily="18" charset="0"/>
                <a:ea typeface="宋体" panose="02010600030101010101" pitchFamily="2" charset="-122"/>
              </a:rPr>
              <a:t>UML</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lvl="1" algn="just" eaLnBrk="1" hangingPunct="1">
              <a:lnSpc>
                <a:spcPct val="115000"/>
              </a:lnSpc>
              <a:buClr>
                <a:schemeClr val="accent1"/>
              </a:buClr>
              <a:buSzPct val="80000"/>
              <a:buFont typeface="Wingdings 2" panose="05020102010507070707" pitchFamily="18" charset="2"/>
            </a:pPr>
            <a:r>
              <a:rPr lang="en-US" altLang="zh-CN" dirty="0">
                <a:ea typeface="宋体" panose="02010600030101010101" pitchFamily="2" charset="-122"/>
              </a:rPr>
              <a:t>U</a:t>
            </a:r>
            <a:r>
              <a:rPr lang="zh-CN" altLang="en-US" dirty="0">
                <a:ea typeface="宋体" panose="02010600030101010101" pitchFamily="2" charset="-122"/>
              </a:rPr>
              <a:t>：对多种经典的</a:t>
            </a:r>
            <a:r>
              <a:rPr lang="en-US" altLang="zh-CN" dirty="0">
                <a:ea typeface="宋体" panose="02010600030101010101" pitchFamily="2" charset="-122"/>
              </a:rPr>
              <a:t>OO</a:t>
            </a:r>
            <a:r>
              <a:rPr lang="zh-CN" altLang="en-US" dirty="0">
                <a:ea typeface="宋体" panose="02010600030101010101" pitchFamily="2" charset="-122"/>
              </a:rPr>
              <a:t>建模方法进行了统一，形成了规范。</a:t>
            </a:r>
            <a:endParaRPr lang="zh-CN" altLang="en-US" dirty="0">
              <a:ea typeface="宋体" panose="02010600030101010101" pitchFamily="2" charset="-122"/>
            </a:endParaRPr>
          </a:p>
          <a:p>
            <a:pPr lvl="1" algn="just" eaLnBrk="1" hangingPunct="1">
              <a:lnSpc>
                <a:spcPct val="115000"/>
              </a:lnSpc>
              <a:buClr>
                <a:schemeClr val="accent1"/>
              </a:buClr>
              <a:buSzPct val="80000"/>
              <a:buFont typeface="Wingdings 2" panose="05020102010507070707" pitchFamily="18" charset="2"/>
            </a:pPr>
            <a:r>
              <a:rPr lang="en-US" altLang="zh-CN" dirty="0">
                <a:ea typeface="宋体" panose="02010600030101010101" pitchFamily="2" charset="-122"/>
              </a:rPr>
              <a:t>M</a:t>
            </a:r>
            <a:r>
              <a:rPr lang="zh-CN" altLang="en-US" dirty="0">
                <a:ea typeface="宋体" panose="02010600030101010101" pitchFamily="2" charset="-122"/>
              </a:rPr>
              <a:t>：用于建立软件开发过程中的各种工程模型。</a:t>
            </a:r>
            <a:endParaRPr lang="zh-CN" altLang="en-US" dirty="0">
              <a:ea typeface="宋体" panose="02010600030101010101" pitchFamily="2" charset="-122"/>
            </a:endParaRPr>
          </a:p>
          <a:p>
            <a:pPr lvl="1" algn="just" eaLnBrk="1" hangingPunct="1">
              <a:lnSpc>
                <a:spcPct val="115000"/>
              </a:lnSpc>
              <a:buClr>
                <a:schemeClr val="accent1"/>
              </a:buClr>
              <a:buSzPct val="80000"/>
              <a:buFont typeface="Wingdings 2" panose="05020102010507070707" pitchFamily="18" charset="2"/>
            </a:pPr>
            <a:r>
              <a:rPr lang="en-US" altLang="zh-CN" dirty="0">
                <a:ea typeface="宋体" panose="02010600030101010101" pitchFamily="2" charset="-122"/>
              </a:rPr>
              <a:t>L</a:t>
            </a:r>
            <a:r>
              <a:rPr lang="zh-CN" altLang="en-US" dirty="0">
                <a:ea typeface="宋体" panose="02010600030101010101" pitchFamily="2" charset="-122"/>
              </a:rPr>
              <a:t>：是一种可视化的（图式）语言。</a:t>
            </a:r>
            <a:endParaRPr lang="zh-CN" altLang="en-US" dirty="0">
              <a:ea typeface="宋体" panose="02010600030101010101" pitchFamily="2" charset="-122"/>
            </a:endParaRPr>
          </a:p>
          <a:p>
            <a:pPr marL="1187450" lvl="2" indent="-457200" algn="just" eaLnBrk="1" hangingPunct="1">
              <a:lnSpc>
                <a:spcPct val="115000"/>
              </a:lnSpc>
              <a:buClr>
                <a:srgbClr val="E0752F"/>
              </a:buClr>
              <a:buSzPct val="60000"/>
              <a:buFontTx/>
              <a:buChar char=""/>
            </a:pPr>
            <a:r>
              <a:rPr lang="zh-CN" altLang="en-US" dirty="0">
                <a:ea typeface="宋体" panose="02010600030101010101" pitchFamily="2" charset="-122"/>
              </a:rPr>
              <a:t>具有指定的建模元素（图式符号）</a:t>
            </a:r>
            <a:endParaRPr lang="zh-CN" altLang="en-US" dirty="0">
              <a:ea typeface="宋体" panose="02010600030101010101" pitchFamily="2" charset="-122"/>
            </a:endParaRPr>
          </a:p>
          <a:p>
            <a:pPr marL="1187450" lvl="2" indent="-457200" algn="just" eaLnBrk="1" hangingPunct="1">
              <a:lnSpc>
                <a:spcPct val="115000"/>
              </a:lnSpc>
              <a:buClr>
                <a:srgbClr val="E0752F"/>
              </a:buClr>
              <a:buSzPct val="60000"/>
              <a:buFontTx/>
              <a:buChar char=""/>
            </a:pPr>
            <a:r>
              <a:rPr lang="zh-CN" altLang="en-US" dirty="0">
                <a:ea typeface="宋体" panose="02010600030101010101" pitchFamily="2" charset="-122"/>
              </a:rPr>
              <a:t>具有严格的语法（构图规则）</a:t>
            </a:r>
            <a:endParaRPr lang="zh-CN" altLang="en-US" dirty="0">
              <a:ea typeface="宋体" panose="02010600030101010101" pitchFamily="2" charset="-122"/>
            </a:endParaRPr>
          </a:p>
          <a:p>
            <a:pPr marL="1187450" lvl="2" indent="-457200" algn="just" eaLnBrk="1" hangingPunct="1">
              <a:lnSpc>
                <a:spcPct val="115000"/>
              </a:lnSpc>
              <a:buClr>
                <a:srgbClr val="E0752F"/>
              </a:buClr>
              <a:buSzPct val="60000"/>
              <a:buFontTx/>
              <a:buChar char=""/>
            </a:pPr>
            <a:r>
              <a:rPr lang="zh-CN" altLang="en-US" dirty="0">
                <a:ea typeface="宋体" panose="02010600030101010101" pitchFamily="2" charset="-122"/>
              </a:rPr>
              <a:t>具有明确的语义（逻辑含义）</a:t>
            </a:r>
            <a:endParaRPr lang="zh-CN" altLang="en-US" dirty="0">
              <a:ea typeface="宋体" panose="02010600030101010101" pitchFamily="2" charset="-122"/>
            </a:endParaRPr>
          </a:p>
        </p:txBody>
      </p:sp>
      <p:sp>
        <p:nvSpPr>
          <p:cNvPr id="13316"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4339" name="内容占位符 2"/>
          <p:cNvSpPr>
            <a:spLocks noGrp="1"/>
          </p:cNvSpPr>
          <p:nvPr>
            <p:ph sz="quarter" idx="1"/>
          </p:nvPr>
        </p:nvSpPr>
        <p:spPr/>
        <p:txBody>
          <a:bodyPr vert="horz" wrap="square" lIns="91440" tIns="45720" rIns="91440" bIns="45720" anchor="t" anchorCtr="0"/>
          <a:lstStyle/>
          <a:p>
            <a:pPr defTabSz="179705" eaLnBrk="1" hangingPunct="1">
              <a:buClr>
                <a:schemeClr val="accent1"/>
              </a:buClr>
              <a:buSzPct val="70000"/>
              <a:buFont typeface="Wingdings" panose="05000000000000000000" pitchFamily="2" charset="2"/>
            </a:pPr>
            <a:r>
              <a:rPr lang="en-US" altLang="zh-CN" dirty="0">
                <a:latin typeface="Times New Roman" panose="02020603050405020304" pitchFamily="18" charset="0"/>
                <a:ea typeface="宋体" panose="02010600030101010101" pitchFamily="2" charset="-122"/>
              </a:rPr>
              <a:t>UML</a:t>
            </a:r>
            <a:r>
              <a:rPr lang="zh-CN" altLang="en-US" dirty="0">
                <a:latin typeface="Times New Roman" panose="02020603050405020304" pitchFamily="18" charset="0"/>
                <a:ea typeface="宋体" panose="02010600030101010101" pitchFamily="2" charset="-122"/>
              </a:rPr>
              <a:t>的诞生与发展</a:t>
            </a:r>
            <a:endParaRPr lang="en-US" altLang="zh-CN" dirty="0">
              <a:latin typeface="Times New Roman" panose="02020603050405020304" pitchFamily="18" charset="0"/>
              <a:ea typeface="宋体" panose="02010600030101010101" pitchFamily="2" charset="-122"/>
            </a:endParaRPr>
          </a:p>
          <a:p>
            <a:pPr lvl="1" defTabSz="179705" eaLnBrk="1" hangingPunct="1">
              <a:buClr>
                <a:schemeClr val="accent1"/>
              </a:buClr>
              <a:buSzPct val="80000"/>
              <a:buFont typeface="Wingdings 2" panose="05020102010507070707" pitchFamily="18" charset="2"/>
            </a:pPr>
            <a:r>
              <a:rPr lang="en-US" altLang="zh-CN" dirty="0">
                <a:latin typeface="Times New Roman" panose="02020603050405020304" pitchFamily="18" charset="0"/>
                <a:ea typeface="宋体" panose="02010600030101010101" pitchFamily="2" charset="-122"/>
              </a:rPr>
              <a:t>UML</a:t>
            </a:r>
            <a:r>
              <a:rPr lang="zh-CN" altLang="en-US" dirty="0">
                <a:latin typeface="Times New Roman" panose="02020603050405020304" pitchFamily="18" charset="0"/>
                <a:ea typeface="宋体" panose="02010600030101010101" pitchFamily="2" charset="-122"/>
              </a:rPr>
              <a:t>建立在当今国际上最有代表性的三种面向对象方法的基础之上。</a:t>
            </a:r>
            <a:endParaRPr lang="en-US" altLang="zh-CN" dirty="0">
              <a:latin typeface="Times New Roman" panose="02020603050405020304" pitchFamily="18" charset="0"/>
              <a:ea typeface="宋体" panose="02010600030101010101" pitchFamily="2" charset="-122"/>
            </a:endParaRPr>
          </a:p>
          <a:p>
            <a:pPr lvl="2" defTabSz="179705" eaLnBrk="1" hangingPunct="1">
              <a:buClr>
                <a:srgbClr val="E0752F"/>
              </a:buClr>
              <a:buSzPct val="60000"/>
              <a:buFont typeface="Wingdings" panose="05000000000000000000" pitchFamily="2" charset="2"/>
            </a:pPr>
            <a:r>
              <a:rPr lang="en-US" altLang="zh-CN" dirty="0">
                <a:latin typeface="Times New Roman" panose="02020603050405020304" pitchFamily="18" charset="0"/>
                <a:ea typeface="宋体" panose="02010600030101010101" pitchFamily="2" charset="-122"/>
              </a:rPr>
              <a:t>OMT</a:t>
            </a:r>
            <a:r>
              <a:rPr lang="zh-CN" altLang="en-US" dirty="0">
                <a:latin typeface="Times New Roman" panose="02020603050405020304" pitchFamily="18" charset="0"/>
                <a:ea typeface="宋体" panose="02010600030101010101" pitchFamily="2" charset="-122"/>
              </a:rPr>
              <a:t>方法（</a:t>
            </a:r>
            <a:r>
              <a:rPr lang="en-US" altLang="zh-CN" dirty="0">
                <a:latin typeface="Times New Roman" panose="02020603050405020304" pitchFamily="18" charset="0"/>
                <a:ea typeface="宋体" panose="02010600030101010101" pitchFamily="2" charset="-122"/>
              </a:rPr>
              <a:t>James Rumbaugh</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lvl="2" defTabSz="179705" eaLnBrk="1" hangingPunct="1">
              <a:buClr>
                <a:srgbClr val="E0752F"/>
              </a:buClr>
              <a:buSzPct val="60000"/>
              <a:buFont typeface="Wingdings" panose="05000000000000000000" pitchFamily="2" charset="2"/>
            </a:pPr>
            <a:r>
              <a:rPr lang="en-US" altLang="zh-CN" dirty="0">
                <a:latin typeface="Times New Roman" panose="02020603050405020304" pitchFamily="18" charset="0"/>
                <a:ea typeface="宋体" panose="02010600030101010101" pitchFamily="2" charset="-122"/>
              </a:rPr>
              <a:t>Booch</a:t>
            </a:r>
            <a:r>
              <a:rPr lang="zh-CN" altLang="en-US" dirty="0">
                <a:latin typeface="Times New Roman" panose="02020603050405020304" pitchFamily="18" charset="0"/>
                <a:ea typeface="宋体" panose="02010600030101010101" pitchFamily="2" charset="-122"/>
              </a:rPr>
              <a:t>方法（</a:t>
            </a:r>
            <a:r>
              <a:rPr lang="en-US" altLang="zh-CN" dirty="0">
                <a:latin typeface="Times New Roman" panose="02020603050405020304" pitchFamily="18" charset="0"/>
                <a:ea typeface="宋体" panose="02010600030101010101" pitchFamily="2" charset="-122"/>
              </a:rPr>
              <a:t>Grady Booch</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lvl="2" defTabSz="179705" eaLnBrk="1" hangingPunct="1">
              <a:buClr>
                <a:srgbClr val="E0752F"/>
              </a:buClr>
              <a:buSzPct val="60000"/>
              <a:buFont typeface="Wingdings" panose="05000000000000000000" pitchFamily="2" charset="2"/>
            </a:pPr>
            <a:r>
              <a:rPr lang="en-US" altLang="zh-CN" dirty="0">
                <a:latin typeface="Times New Roman" panose="02020603050405020304" pitchFamily="18" charset="0"/>
                <a:ea typeface="宋体" panose="02010600030101010101" pitchFamily="2" charset="-122"/>
              </a:rPr>
              <a:t>OOSE</a:t>
            </a:r>
            <a:r>
              <a:rPr lang="zh-CN" altLang="en-US" dirty="0">
                <a:latin typeface="Times New Roman" panose="02020603050405020304" pitchFamily="18" charset="0"/>
                <a:ea typeface="宋体" panose="02010600030101010101" pitchFamily="2" charset="-122"/>
              </a:rPr>
              <a:t>方法（</a:t>
            </a:r>
            <a:r>
              <a:rPr lang="en-US" altLang="zh-CN" dirty="0">
                <a:latin typeface="Times New Roman" panose="02020603050405020304" pitchFamily="18" charset="0"/>
                <a:ea typeface="宋体" panose="02010600030101010101" pitchFamily="2" charset="-122"/>
              </a:rPr>
              <a:t>Ivar Jacobson</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43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4341" name="Picture 4"/>
          <p:cNvPicPr>
            <a:picLocks noChangeAspect="1"/>
          </p:cNvPicPr>
          <p:nvPr/>
        </p:nvPicPr>
        <p:blipFill>
          <a:blip r:embed="rId1"/>
          <a:stretch>
            <a:fillRect/>
          </a:stretch>
        </p:blipFill>
        <p:spPr>
          <a:xfrm>
            <a:off x="5724525" y="2565400"/>
            <a:ext cx="1262063" cy="1511300"/>
          </a:xfrm>
          <a:prstGeom prst="rect">
            <a:avLst/>
          </a:prstGeom>
          <a:noFill/>
          <a:ln w="9525">
            <a:noFill/>
          </a:ln>
        </p:spPr>
      </p:pic>
      <p:pic>
        <p:nvPicPr>
          <p:cNvPr id="14342" name="Picture 5"/>
          <p:cNvPicPr>
            <a:picLocks noChangeAspect="1"/>
          </p:cNvPicPr>
          <p:nvPr/>
        </p:nvPicPr>
        <p:blipFill>
          <a:blip r:embed="rId2"/>
          <a:stretch>
            <a:fillRect/>
          </a:stretch>
        </p:blipFill>
        <p:spPr>
          <a:xfrm>
            <a:off x="6659563" y="3860800"/>
            <a:ext cx="1296987" cy="1584325"/>
          </a:xfrm>
          <a:prstGeom prst="rect">
            <a:avLst/>
          </a:prstGeom>
          <a:noFill/>
          <a:ln w="9525">
            <a:noFill/>
          </a:ln>
        </p:spPr>
      </p:pic>
      <p:pic>
        <p:nvPicPr>
          <p:cNvPr id="14343" name="Picture 6"/>
          <p:cNvPicPr>
            <a:picLocks noChangeAspect="1"/>
          </p:cNvPicPr>
          <p:nvPr/>
        </p:nvPicPr>
        <p:blipFill>
          <a:blip r:embed="rId3"/>
          <a:stretch>
            <a:fillRect/>
          </a:stretch>
        </p:blipFill>
        <p:spPr>
          <a:xfrm>
            <a:off x="7524750" y="5157788"/>
            <a:ext cx="1201738" cy="1439862"/>
          </a:xfrm>
          <a:prstGeom prst="rect">
            <a:avLst/>
          </a:prstGeom>
          <a:noFill/>
          <a:ln w="9525">
            <a:noFill/>
          </a:ln>
        </p:spPr>
      </p:pic>
      <p:sp>
        <p:nvSpPr>
          <p:cNvPr id="14344" name="TextBox 6"/>
          <p:cNvSpPr txBox="1"/>
          <p:nvPr/>
        </p:nvSpPr>
        <p:spPr>
          <a:xfrm>
            <a:off x="2728913" y="4900613"/>
            <a:ext cx="3859212" cy="400050"/>
          </a:xfrm>
          <a:prstGeom prst="rect">
            <a:avLst/>
          </a:prstGeom>
          <a:noFill/>
          <a:ln w="9525">
            <a:noFill/>
          </a:ln>
        </p:spPr>
        <p:txBody>
          <a:bodyPr wrap="none">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000" dirty="0">
                <a:latin typeface="Times New Roman" panose="02020603050405020304" pitchFamily="18" charset="0"/>
                <a:ea typeface="楷体_GB2312" pitchFamily="49" charset="-122"/>
              </a:rPr>
              <a:t>并称</a:t>
            </a:r>
            <a:r>
              <a:rPr lang="en-US" altLang="zh-CN" sz="2000" dirty="0">
                <a:latin typeface="Times New Roman" panose="02020603050405020304" pitchFamily="18" charset="0"/>
                <a:ea typeface="楷体_GB2312" pitchFamily="49" charset="-122"/>
              </a:rPr>
              <a:t>UML</a:t>
            </a:r>
            <a:r>
              <a:rPr lang="zh-CN" altLang="en-US" sz="2000" dirty="0">
                <a:latin typeface="Times New Roman" panose="02020603050405020304" pitchFamily="18" charset="0"/>
                <a:ea typeface="楷体_GB2312" pitchFamily="49" charset="-122"/>
              </a:rPr>
              <a:t>三友（</a:t>
            </a:r>
            <a:r>
              <a:rPr lang="en-US" altLang="zh-CN" sz="2000" dirty="0">
                <a:latin typeface="Times New Roman" panose="02020603050405020304" pitchFamily="18" charset="0"/>
                <a:ea typeface="楷体_GB2312" pitchFamily="49" charset="-122"/>
              </a:rPr>
              <a:t>Three Amigos</a:t>
            </a:r>
            <a:r>
              <a:rPr lang="zh-CN" altLang="en-US" sz="2000" dirty="0">
                <a:latin typeface="Times New Roman" panose="02020603050405020304" pitchFamily="18" charset="0"/>
                <a:ea typeface="楷体_GB2312" pitchFamily="49" charset="-122"/>
              </a:rPr>
              <a:t>）</a:t>
            </a:r>
            <a:endParaRPr lang="zh-CN" altLang="en-US" sz="2000" dirty="0">
              <a:latin typeface="Times New Roman" panose="02020603050405020304" pitchFamily="18" charset="0"/>
              <a:ea typeface="楷体_GB2312"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9" name="Picture 33"/>
          <p:cNvPicPr>
            <a:picLocks noChangeAspect="1"/>
          </p:cNvPicPr>
          <p:nvPr/>
        </p:nvPicPr>
        <p:blipFill>
          <a:blip r:embed="rId1"/>
          <a:stretch>
            <a:fillRect/>
          </a:stretch>
        </p:blipFill>
        <p:spPr>
          <a:xfrm>
            <a:off x="1564640" y="1708150"/>
            <a:ext cx="6172200" cy="5000625"/>
          </a:xfrm>
          <a:prstGeom prst="rect">
            <a:avLst/>
          </a:prstGeom>
          <a:noFill/>
          <a:ln w="9525">
            <a:noFill/>
          </a:ln>
        </p:spPr>
      </p:pic>
      <p:sp>
        <p:nvSpPr>
          <p:cNvPr id="8" name="标题 7"/>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15363" name="内容占位符 8"/>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en-US" altLang="zh-CN" dirty="0">
                <a:ea typeface="宋体" panose="02010600030101010101" pitchFamily="2" charset="-122"/>
              </a:rPr>
              <a:t>UML</a:t>
            </a:r>
            <a:r>
              <a:rPr lang="zh-CN" altLang="en-US" dirty="0">
                <a:ea typeface="宋体" panose="02010600030101010101" pitchFamily="2" charset="-122"/>
              </a:rPr>
              <a:t>开发历程</a:t>
            </a:r>
            <a:endParaRPr lang="zh-CN" altLang="en-US" dirty="0">
              <a:ea typeface="宋体" panose="02010600030101010101" pitchFamily="2" charset="-122"/>
            </a:endParaRPr>
          </a:p>
        </p:txBody>
      </p:sp>
      <p:sp>
        <p:nvSpPr>
          <p:cNvPr id="15364" name="灯片编号占位符 4"/>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15365" name="Rectangle 2"/>
          <p:cNvSpPr/>
          <p:nvPr/>
        </p:nvSpPr>
        <p:spPr>
          <a:xfrm>
            <a:off x="684213" y="2420938"/>
            <a:ext cx="7704137" cy="1068387"/>
          </a:xfrm>
          <a:prstGeom prst="rect">
            <a:avLst/>
          </a:prstGeom>
          <a:noFill/>
          <a:ln w="9525">
            <a:noFill/>
          </a:ln>
        </p:spPr>
        <p:txBody>
          <a:bodyPr>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900430" lvl="0" indent="-357505" eaLnBrk="1" hangingPunct="1">
              <a:spcBef>
                <a:spcPct val="0"/>
              </a:spcBef>
              <a:buClrTx/>
              <a:buSzTx/>
              <a:buFontTx/>
              <a:buNone/>
            </a:pPr>
            <a:endParaRPr lang="zh-CN" altLang="en-US" sz="3600" dirty="0">
              <a:latin typeface="黑体" panose="02010609060101010101" pitchFamily="49" charset="-122"/>
              <a:ea typeface="黑体" panose="02010609060101010101" pitchFamily="49" charset="-122"/>
            </a:endParaRPr>
          </a:p>
          <a:p>
            <a:pPr marL="900430" lvl="0" indent="-357505" algn="just" eaLnBrk="1" hangingPunct="1">
              <a:spcBef>
                <a:spcPct val="0"/>
              </a:spcBef>
              <a:buClrTx/>
              <a:buSzTx/>
              <a:buFont typeface="Wingdings" panose="05000000000000000000" pitchFamily="2" charset="2"/>
              <a:buChar char="l"/>
            </a:pPr>
            <a:endParaRPr lang="zh-CN" altLang="en-US" sz="2800" dirty="0">
              <a:latin typeface="Arial" panose="020B0604020202020204" pitchFamily="34" charset="0"/>
              <a:ea typeface="楷体_GB2312"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18435" name="内容占位符 2"/>
          <p:cNvSpPr>
            <a:spLocks noGrp="1"/>
          </p:cNvSpPr>
          <p:nvPr>
            <p:ph sz="quarter" idx="1"/>
          </p:nvPr>
        </p:nvSpPr>
        <p:spPr>
          <a:xfrm>
            <a:off x="457200" y="1536700"/>
            <a:ext cx="7931150" cy="5060950"/>
          </a:xfrm>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en-US" altLang="zh-CN" dirty="0">
                <a:latin typeface="Times New Roman" panose="02020603050405020304" pitchFamily="18" charset="0"/>
                <a:ea typeface="宋体" panose="02010600030101010101" pitchFamily="2" charset="-122"/>
              </a:rPr>
              <a:t>UML</a:t>
            </a:r>
            <a:r>
              <a:rPr lang="zh-CN" altLang="en-US" dirty="0">
                <a:latin typeface="Times New Roman" panose="02020603050405020304" pitchFamily="18" charset="0"/>
                <a:ea typeface="宋体" panose="02010600030101010101" pitchFamily="2" charset="-122"/>
              </a:rPr>
              <a:t>的设计目标：提供一种通用的语法简单的建模语言</a:t>
            </a:r>
            <a:endParaRPr lang="zh-CN" altLang="en-US" dirty="0">
              <a:latin typeface="Times New Roman" panose="02020603050405020304" pitchFamily="18" charset="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latin typeface="Times New Roman" panose="02020603050405020304" pitchFamily="18" charset="0"/>
                <a:ea typeface="宋体" panose="02010600030101010101" pitchFamily="2" charset="-122"/>
              </a:rPr>
              <a:t>运用面向对象概念来构造系统模型</a:t>
            </a:r>
            <a:endParaRPr lang="zh-CN" altLang="en-US" dirty="0">
              <a:latin typeface="Times New Roman" panose="02020603050405020304" pitchFamily="18" charset="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latin typeface="Times New Roman" panose="02020603050405020304" pitchFamily="18" charset="0"/>
                <a:ea typeface="宋体" panose="02010600030101010101" pitchFamily="2" charset="-122"/>
              </a:rPr>
              <a:t>建立起从概念模型直至可执行体之间明显的对应关系</a:t>
            </a:r>
            <a:endParaRPr lang="zh-CN" altLang="en-US" dirty="0">
              <a:latin typeface="Times New Roman" panose="02020603050405020304" pitchFamily="18" charset="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latin typeface="Times New Roman" panose="02020603050405020304" pitchFamily="18" charset="0"/>
                <a:ea typeface="宋体" panose="02010600030101010101" pitchFamily="2" charset="-122"/>
              </a:rPr>
              <a:t>创建一种对人和机器都适用的建模语言</a:t>
            </a:r>
            <a:endParaRPr lang="en-US" altLang="zh-CN" dirty="0">
              <a:latin typeface="Times New Roman" panose="02020603050405020304" pitchFamily="18" charset="0"/>
              <a:ea typeface="宋体" panose="02010600030101010101" pitchFamily="2" charset="-122"/>
            </a:endParaRPr>
          </a:p>
          <a:p>
            <a:pPr eaLnBrk="1" hangingPunct="1">
              <a:buClr>
                <a:schemeClr val="accent1"/>
              </a:buClr>
              <a:buSzPct val="70000"/>
              <a:buFont typeface="Wingdings" panose="05000000000000000000" pitchFamily="2" charset="2"/>
            </a:pPr>
            <a:r>
              <a:rPr lang="en-US" altLang="zh-CN" dirty="0">
                <a:latin typeface="Times New Roman" panose="02020603050405020304" pitchFamily="18" charset="0"/>
                <a:ea typeface="宋体" panose="02010600030101010101" pitchFamily="2" charset="-122"/>
              </a:rPr>
              <a:t>UML</a:t>
            </a:r>
            <a:r>
              <a:rPr lang="zh-CN" altLang="en-US" dirty="0">
                <a:latin typeface="Times New Roman" panose="02020603050405020304" pitchFamily="18" charset="0"/>
                <a:ea typeface="宋体" panose="02010600030101010101" pitchFamily="2" charset="-122"/>
              </a:rPr>
              <a:t>的特点</a:t>
            </a:r>
            <a:endParaRPr lang="en-US" altLang="zh-CN" dirty="0">
              <a:latin typeface="Times New Roman" panose="02020603050405020304" pitchFamily="18" charset="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latin typeface="Times New Roman" panose="02020603050405020304" pitchFamily="18" charset="0"/>
                <a:ea typeface="宋体" panose="02010600030101010101" pitchFamily="2" charset="-122"/>
              </a:rPr>
              <a:t>统一标准</a:t>
            </a:r>
            <a:endParaRPr lang="en-US" altLang="zh-CN" dirty="0">
              <a:latin typeface="Times New Roman" panose="02020603050405020304" pitchFamily="18" charset="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latin typeface="Times New Roman" panose="02020603050405020304" pitchFamily="18" charset="0"/>
                <a:ea typeface="宋体" panose="02010600030101010101" pitchFamily="2" charset="-122"/>
              </a:rPr>
              <a:t>面向对象</a:t>
            </a:r>
            <a:endParaRPr lang="en-US" altLang="zh-CN" dirty="0">
              <a:latin typeface="Times New Roman" panose="02020603050405020304" pitchFamily="18" charset="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latin typeface="Times New Roman" panose="02020603050405020304" pitchFamily="18" charset="0"/>
                <a:ea typeface="宋体" panose="02010600030101010101" pitchFamily="2" charset="-122"/>
              </a:rPr>
              <a:t>可视化、表达能力强</a:t>
            </a:r>
            <a:endParaRPr lang="en-US" altLang="zh-CN" dirty="0">
              <a:latin typeface="Times New Roman" panose="02020603050405020304" pitchFamily="18" charset="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latin typeface="Times New Roman" panose="02020603050405020304" pitchFamily="18" charset="0"/>
                <a:ea typeface="宋体" panose="02010600030101010101" pitchFamily="2" charset="-122"/>
              </a:rPr>
              <a:t>独立于过程 </a:t>
            </a:r>
            <a:endParaRPr lang="en-US" altLang="zh-CN" dirty="0">
              <a:latin typeface="Times New Roman" panose="02020603050405020304" pitchFamily="18" charset="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latin typeface="Times New Roman" panose="02020603050405020304" pitchFamily="18" charset="0"/>
                <a:ea typeface="宋体" panose="02010600030101010101" pitchFamily="2" charset="-122"/>
              </a:rPr>
              <a:t>易掌握、易用</a:t>
            </a:r>
            <a:endParaRPr lang="zh-CN" altLang="en-US" dirty="0">
              <a:latin typeface="Times New Roman" panose="02020603050405020304" pitchFamily="18" charset="0"/>
              <a:ea typeface="宋体" panose="02010600030101010101" pitchFamily="2" charset="-122"/>
            </a:endParaRPr>
          </a:p>
        </p:txBody>
      </p:sp>
      <p:sp>
        <p:nvSpPr>
          <p:cNvPr id="18436"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20483"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en-US" altLang="zh-CN" dirty="0">
                <a:ea typeface="宋体" panose="02010600030101010101" pitchFamily="2" charset="-122"/>
              </a:rPr>
              <a:t>UML</a:t>
            </a:r>
            <a:r>
              <a:rPr lang="zh-CN" altLang="zh-CN" dirty="0">
                <a:ea typeface="宋体" panose="02010600030101010101" pitchFamily="2" charset="-122"/>
              </a:rPr>
              <a:t>支撑环境</a:t>
            </a:r>
            <a:r>
              <a:rPr lang="zh-CN" altLang="en-US" dirty="0">
                <a:ea typeface="宋体" panose="02010600030101010101" pitchFamily="2" charset="-122"/>
              </a:rPr>
              <a:t>：</a:t>
            </a:r>
            <a:r>
              <a:rPr lang="en-US" altLang="zh-CN" dirty="0">
                <a:ea typeface="宋体" panose="02010600030101010101" pitchFamily="2" charset="-122"/>
              </a:rPr>
              <a:t>IBM Rational Rose</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zh-CN" dirty="0">
                <a:ea typeface="宋体" panose="02010600030101010101" pitchFamily="2" charset="-122"/>
              </a:rPr>
              <a:t>基于</a:t>
            </a:r>
            <a:r>
              <a:rPr lang="en-US" altLang="zh-CN" dirty="0">
                <a:ea typeface="宋体" panose="02010600030101010101" pitchFamily="2" charset="-122"/>
              </a:rPr>
              <a:t>UML</a:t>
            </a:r>
            <a:r>
              <a:rPr lang="zh-CN" altLang="zh-CN" dirty="0">
                <a:ea typeface="宋体" panose="02010600030101010101" pitchFamily="2" charset="-122"/>
              </a:rPr>
              <a:t>的模型驱动的软件开发环境</a:t>
            </a:r>
            <a:endParaRPr lang="zh-CN"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zh-CN" dirty="0">
                <a:ea typeface="宋体" panose="02010600030101010101" pitchFamily="2" charset="-122"/>
              </a:rPr>
              <a:t>全面支持团队整体合作的开发形式</a:t>
            </a:r>
            <a:endParaRPr lang="zh-CN"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zh-CN" dirty="0">
                <a:ea typeface="宋体" panose="02010600030101010101" pitchFamily="2" charset="-122"/>
              </a:rPr>
              <a:t>集成了最新软件开发技术和思想</a:t>
            </a:r>
            <a:endParaRPr lang="zh-CN" altLang="zh-CN" dirty="0">
              <a:ea typeface="宋体" panose="02010600030101010101" pitchFamily="2" charset="-122"/>
            </a:endParaRPr>
          </a:p>
          <a:p>
            <a:pPr eaLnBrk="1" hangingPunct="1">
              <a:buClr>
                <a:schemeClr val="accent1"/>
              </a:buClr>
              <a:buSzPct val="70000"/>
              <a:buFont typeface="Wingdings" panose="05000000000000000000" pitchFamily="2" charset="2"/>
            </a:pP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20484"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19460" name="灯片编号占位符 3"/>
          <p:cNvSpPr txBox="1">
            <a:spLocks noGrp="1"/>
          </p:cNvSpPr>
          <p:nvPr>
            <p:ph type="sldNum" sz="quarter" idx="10"/>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63493" name="Rectangle 3"/>
          <p:cNvSpPr>
            <a:spLocks noGrp="1"/>
          </p:cNvSpPr>
          <p:nvPr>
            <p:ph idx="1"/>
          </p:nvPr>
        </p:nvSpPr>
        <p:spPr>
          <a:xfrm>
            <a:off x="93980" y="1434465"/>
            <a:ext cx="8229600" cy="4754563"/>
          </a:xfrm>
          <a:ln w="0"/>
        </p:spPr>
        <p:txBody>
          <a:bodyPr vert="horz" wrap="square" lIns="91440" tIns="45720" rIns="91440" bIns="45720" anchor="t" anchorCtr="0"/>
          <a:lstStyle/>
          <a:p>
            <a:pPr eaLnBrk="1" hangingPunct="1">
              <a:buNone/>
            </a:pPr>
            <a:endParaRPr lang="zh-TW" altLang="en-US" dirty="0"/>
          </a:p>
          <a:p>
            <a:pPr eaLnBrk="1" hangingPunct="1">
              <a:buNone/>
            </a:pPr>
            <a:endParaRPr lang="zh-TW" altLang="en-US" dirty="0"/>
          </a:p>
        </p:txBody>
      </p:sp>
      <p:sp>
        <p:nvSpPr>
          <p:cNvPr id="63494" name="Rectangle 4"/>
          <p:cNvSpPr/>
          <p:nvPr/>
        </p:nvSpPr>
        <p:spPr>
          <a:xfrm>
            <a:off x="627380" y="1510665"/>
            <a:ext cx="7620000" cy="5029200"/>
          </a:xfrm>
          <a:prstGeom prst="rect">
            <a:avLst/>
          </a:prstGeom>
          <a:noFill/>
          <a:ln w="9525">
            <a:noFill/>
          </a:ln>
        </p:spPr>
        <p:txBody>
          <a:bodyPr anchor="t" anchorCtr="0"/>
          <a:lstStyle/>
          <a:p>
            <a:pPr marL="342900" indent="-342900" eaLnBrk="0" hangingPunct="0">
              <a:buClrTx/>
              <a:buFontTx/>
            </a:pPr>
            <a:r>
              <a:rPr lang="zh-TW" altLang="en-US" sz="2400" dirty="0">
                <a:solidFill>
                  <a:srgbClr val="000099"/>
                </a:solidFill>
                <a:latin typeface="DFKai-SB" pitchFamily="65" charset="-128"/>
                <a:ea typeface="DFKai-SB" pitchFamily="65" charset="-128"/>
              </a:rPr>
              <a:t>图</a:t>
            </a:r>
            <a:r>
              <a:rPr lang="en-US" altLang="zh-TW" sz="2400" dirty="0">
                <a:solidFill>
                  <a:srgbClr val="000099"/>
                </a:solidFill>
                <a:latin typeface="DFKai-SB" pitchFamily="65" charset="-128"/>
                <a:ea typeface="DFKai-SB" pitchFamily="65" charset="-128"/>
              </a:rPr>
              <a:t>:</a:t>
            </a:r>
            <a:endParaRPr lang="en-US" altLang="zh-TW" sz="2400" dirty="0">
              <a:solidFill>
                <a:srgbClr val="000099"/>
              </a:solidFill>
              <a:latin typeface="DFKai-SB" pitchFamily="65" charset="-128"/>
              <a:ea typeface="DFKai-SB" pitchFamily="65" charset="-128"/>
            </a:endParaRPr>
          </a:p>
          <a:p>
            <a:pPr marL="342900" indent="-342900">
              <a:spcBef>
                <a:spcPct val="20000"/>
              </a:spcBef>
              <a:buClrTx/>
              <a:buFontTx/>
            </a:pPr>
            <a:endParaRPr lang="en-US" altLang="zh-TW" sz="2400" dirty="0">
              <a:solidFill>
                <a:srgbClr val="000099"/>
              </a:solidFill>
              <a:latin typeface="DFKai-SB" pitchFamily="65" charset="-128"/>
              <a:ea typeface="DFKai-SB" pitchFamily="65" charset="-128"/>
            </a:endParaRPr>
          </a:p>
          <a:p>
            <a:pPr marL="342900" indent="-342900">
              <a:spcBef>
                <a:spcPct val="20000"/>
              </a:spcBef>
              <a:buClrTx/>
              <a:buFontTx/>
            </a:pPr>
            <a:endParaRPr lang="en-US" altLang="zh-TW" sz="2400" dirty="0">
              <a:solidFill>
                <a:schemeClr val="bg1"/>
              </a:solidFill>
              <a:latin typeface="DFKai-SB" pitchFamily="65" charset="-128"/>
              <a:ea typeface="DFKai-SB" pitchFamily="65" charset="-128"/>
            </a:endParaRPr>
          </a:p>
          <a:p>
            <a:pPr marL="342900" indent="-342900">
              <a:spcBef>
                <a:spcPct val="20000"/>
              </a:spcBef>
              <a:buClrTx/>
              <a:buFontTx/>
            </a:pPr>
            <a:endParaRPr lang="en-US" altLang="zh-TW" sz="2400" dirty="0">
              <a:solidFill>
                <a:schemeClr val="bg1"/>
              </a:solidFill>
              <a:latin typeface="DFKai-SB" pitchFamily="65" charset="-128"/>
              <a:ea typeface="DFKai-SB" pitchFamily="65" charset="-128"/>
            </a:endParaRPr>
          </a:p>
          <a:p>
            <a:pPr marL="342900" indent="-342900">
              <a:spcBef>
                <a:spcPct val="20000"/>
              </a:spcBef>
              <a:buClrTx/>
              <a:buFontTx/>
            </a:pPr>
            <a:endParaRPr lang="en-US" altLang="zh-TW" sz="2400" dirty="0">
              <a:solidFill>
                <a:schemeClr val="bg1"/>
              </a:solidFill>
              <a:latin typeface="DFKai-SB" pitchFamily="65" charset="-128"/>
              <a:ea typeface="DFKai-SB" pitchFamily="65" charset="-128"/>
            </a:endParaRPr>
          </a:p>
          <a:p>
            <a:pPr marL="342900" indent="-342900">
              <a:spcBef>
                <a:spcPct val="20000"/>
              </a:spcBef>
              <a:buClrTx/>
              <a:buFontTx/>
            </a:pPr>
            <a:endParaRPr lang="zh-TW" altLang="en-US" sz="2400" dirty="0">
              <a:solidFill>
                <a:schemeClr val="bg1"/>
              </a:solidFill>
              <a:latin typeface="DFKai-SB" pitchFamily="65" charset="-128"/>
              <a:ea typeface="DFKai-SB" pitchFamily="65" charset="-128"/>
            </a:endParaRPr>
          </a:p>
        </p:txBody>
      </p:sp>
      <p:pic>
        <p:nvPicPr>
          <p:cNvPr id="63495" name="Picture 5"/>
          <p:cNvPicPr>
            <a:picLocks noChangeAspect="1"/>
          </p:cNvPicPr>
          <p:nvPr/>
        </p:nvPicPr>
        <p:blipFill>
          <a:blip r:embed="rId1"/>
          <a:stretch>
            <a:fillRect/>
          </a:stretch>
        </p:blipFill>
        <p:spPr>
          <a:xfrm>
            <a:off x="779780" y="2882265"/>
            <a:ext cx="2438400" cy="1184275"/>
          </a:xfrm>
          <a:prstGeom prst="rect">
            <a:avLst/>
          </a:prstGeom>
          <a:noFill/>
          <a:ln w="0">
            <a:noFill/>
          </a:ln>
        </p:spPr>
      </p:pic>
      <p:sp>
        <p:nvSpPr>
          <p:cNvPr id="63496" name="Text Box 6"/>
          <p:cNvSpPr txBox="1"/>
          <p:nvPr/>
        </p:nvSpPr>
        <p:spPr>
          <a:xfrm>
            <a:off x="1619250" y="6195695"/>
            <a:ext cx="1143000" cy="396875"/>
          </a:xfrm>
          <a:prstGeom prst="rect">
            <a:avLst/>
          </a:prstGeom>
          <a:noFill/>
          <a:ln w="0">
            <a:noFill/>
          </a:ln>
        </p:spPr>
        <p:txBody>
          <a:bodyPr anchor="t" anchorCtr="0">
            <a:spAutoFit/>
          </a:bodyPr>
          <a:lstStyle/>
          <a:p>
            <a:pPr>
              <a:spcBef>
                <a:spcPct val="50000"/>
              </a:spcBef>
              <a:buClrTx/>
              <a:buFont typeface="Wingdings" panose="05000000000000000000" pitchFamily="2" charset="2"/>
            </a:pPr>
            <a:r>
              <a:rPr lang="zh-TW" altLang="en-US" sz="2000" dirty="0">
                <a:solidFill>
                  <a:srgbClr val="000099"/>
                </a:solidFill>
                <a:latin typeface="DFKai-SB" pitchFamily="65" charset="-128"/>
                <a:ea typeface="DFKai-SB" pitchFamily="65" charset="-128"/>
              </a:rPr>
              <a:t>部署图</a:t>
            </a:r>
            <a:endParaRPr lang="zh-TW" altLang="en-US" sz="2000" dirty="0">
              <a:solidFill>
                <a:srgbClr val="000099"/>
              </a:solidFill>
              <a:latin typeface="DFKai-SB" pitchFamily="65" charset="-128"/>
              <a:ea typeface="DFKai-SB" pitchFamily="65" charset="-128"/>
            </a:endParaRPr>
          </a:p>
        </p:txBody>
      </p:sp>
      <p:pic>
        <p:nvPicPr>
          <p:cNvPr id="63497" name="Picture 7"/>
          <p:cNvPicPr>
            <a:picLocks noChangeAspect="1"/>
          </p:cNvPicPr>
          <p:nvPr/>
        </p:nvPicPr>
        <p:blipFill>
          <a:blip r:embed="rId2"/>
          <a:stretch>
            <a:fillRect/>
          </a:stretch>
        </p:blipFill>
        <p:spPr>
          <a:xfrm>
            <a:off x="4355148" y="3415665"/>
            <a:ext cx="1544637" cy="1752600"/>
          </a:xfrm>
          <a:prstGeom prst="rect">
            <a:avLst/>
          </a:prstGeom>
          <a:noFill/>
          <a:ln w="0">
            <a:noFill/>
          </a:ln>
        </p:spPr>
      </p:pic>
      <p:pic>
        <p:nvPicPr>
          <p:cNvPr id="63498" name="Picture 8"/>
          <p:cNvPicPr>
            <a:picLocks noChangeAspect="1"/>
          </p:cNvPicPr>
          <p:nvPr/>
        </p:nvPicPr>
        <p:blipFill>
          <a:blip r:embed="rId3"/>
          <a:stretch>
            <a:fillRect/>
          </a:stretch>
        </p:blipFill>
        <p:spPr>
          <a:xfrm>
            <a:off x="6570980" y="1358265"/>
            <a:ext cx="1905000" cy="1173163"/>
          </a:xfrm>
          <a:prstGeom prst="rect">
            <a:avLst/>
          </a:prstGeom>
          <a:noFill/>
          <a:ln w="0">
            <a:noFill/>
          </a:ln>
        </p:spPr>
      </p:pic>
      <p:sp>
        <p:nvSpPr>
          <p:cNvPr id="63499" name="Text Box 9"/>
          <p:cNvSpPr txBox="1"/>
          <p:nvPr/>
        </p:nvSpPr>
        <p:spPr>
          <a:xfrm>
            <a:off x="6951980" y="2653665"/>
            <a:ext cx="1143000" cy="396875"/>
          </a:xfrm>
          <a:prstGeom prst="rect">
            <a:avLst/>
          </a:prstGeom>
          <a:noFill/>
          <a:ln w="0">
            <a:noFill/>
          </a:ln>
        </p:spPr>
        <p:txBody>
          <a:bodyPr anchor="t" anchorCtr="0">
            <a:spAutoFit/>
          </a:bodyPr>
          <a:lstStyle/>
          <a:p>
            <a:pPr>
              <a:spcBef>
                <a:spcPct val="50000"/>
              </a:spcBef>
              <a:buClrTx/>
              <a:buFont typeface="Wingdings" panose="05000000000000000000" pitchFamily="2" charset="2"/>
            </a:pPr>
            <a:r>
              <a:rPr lang="zh-TW" altLang="en-US" sz="2000" dirty="0">
                <a:solidFill>
                  <a:srgbClr val="000099"/>
                </a:solidFill>
                <a:latin typeface="DFKai-SB" pitchFamily="65" charset="-128"/>
                <a:ea typeface="DFKai-SB" pitchFamily="65" charset="-128"/>
              </a:rPr>
              <a:t>类图</a:t>
            </a:r>
            <a:endParaRPr lang="zh-TW" altLang="en-US" sz="2000" dirty="0">
              <a:solidFill>
                <a:srgbClr val="000099"/>
              </a:solidFill>
              <a:latin typeface="DFKai-SB" pitchFamily="65" charset="-128"/>
              <a:ea typeface="DFKai-SB" pitchFamily="65" charset="-128"/>
            </a:endParaRPr>
          </a:p>
        </p:txBody>
      </p:sp>
      <p:pic>
        <p:nvPicPr>
          <p:cNvPr id="63500" name="Picture 10"/>
          <p:cNvPicPr>
            <a:picLocks noChangeAspect="1"/>
          </p:cNvPicPr>
          <p:nvPr/>
        </p:nvPicPr>
        <p:blipFill>
          <a:blip r:embed="rId4"/>
          <a:stretch>
            <a:fillRect/>
          </a:stretch>
        </p:blipFill>
        <p:spPr>
          <a:xfrm>
            <a:off x="1313180" y="1434465"/>
            <a:ext cx="2209800" cy="863600"/>
          </a:xfrm>
          <a:prstGeom prst="rect">
            <a:avLst/>
          </a:prstGeom>
          <a:noFill/>
          <a:ln w="0">
            <a:noFill/>
          </a:ln>
        </p:spPr>
      </p:pic>
      <p:sp>
        <p:nvSpPr>
          <p:cNvPr id="63501" name="Text Box 11"/>
          <p:cNvSpPr txBox="1"/>
          <p:nvPr/>
        </p:nvSpPr>
        <p:spPr>
          <a:xfrm>
            <a:off x="1770380" y="2272665"/>
            <a:ext cx="1219200" cy="396875"/>
          </a:xfrm>
          <a:prstGeom prst="rect">
            <a:avLst/>
          </a:prstGeom>
          <a:noFill/>
          <a:ln w="0">
            <a:noFill/>
          </a:ln>
        </p:spPr>
        <p:txBody>
          <a:bodyPr anchor="t" anchorCtr="0">
            <a:spAutoFit/>
          </a:bodyPr>
          <a:lstStyle/>
          <a:p>
            <a:pPr>
              <a:spcBef>
                <a:spcPct val="50000"/>
              </a:spcBef>
              <a:buClrTx/>
              <a:buFont typeface="Wingdings" panose="05000000000000000000" pitchFamily="2" charset="2"/>
            </a:pPr>
            <a:r>
              <a:rPr lang="zh-TW" altLang="en-US" sz="2000" dirty="0">
                <a:solidFill>
                  <a:srgbClr val="000099"/>
                </a:solidFill>
                <a:latin typeface="DFKai-SB" pitchFamily="65" charset="-128"/>
                <a:ea typeface="DFKai-SB" pitchFamily="65" charset="-128"/>
              </a:rPr>
              <a:t>用例图</a:t>
            </a:r>
            <a:endParaRPr lang="zh-TW" altLang="en-US" sz="2000" dirty="0">
              <a:solidFill>
                <a:srgbClr val="000099"/>
              </a:solidFill>
              <a:latin typeface="DFKai-SB" pitchFamily="65" charset="-128"/>
              <a:ea typeface="DFKai-SB" pitchFamily="65" charset="-128"/>
            </a:endParaRPr>
          </a:p>
        </p:txBody>
      </p:sp>
      <p:sp>
        <p:nvSpPr>
          <p:cNvPr id="63503" name="Text Box 13"/>
          <p:cNvSpPr txBox="1"/>
          <p:nvPr/>
        </p:nvSpPr>
        <p:spPr>
          <a:xfrm>
            <a:off x="4427220" y="2531745"/>
            <a:ext cx="1219200" cy="396875"/>
          </a:xfrm>
          <a:prstGeom prst="rect">
            <a:avLst/>
          </a:prstGeom>
          <a:noFill/>
          <a:ln w="0">
            <a:noFill/>
          </a:ln>
        </p:spPr>
        <p:txBody>
          <a:bodyPr anchor="t" anchorCtr="0">
            <a:spAutoFit/>
          </a:bodyPr>
          <a:lstStyle/>
          <a:p>
            <a:pPr>
              <a:spcBef>
                <a:spcPct val="50000"/>
              </a:spcBef>
              <a:buClrTx/>
              <a:buFont typeface="Wingdings" panose="05000000000000000000" pitchFamily="2" charset="2"/>
            </a:pPr>
            <a:r>
              <a:rPr lang="zh-TW" altLang="en-US" sz="2000" dirty="0">
                <a:solidFill>
                  <a:srgbClr val="000099"/>
                </a:solidFill>
                <a:latin typeface="DFKai-SB" pitchFamily="65" charset="-128"/>
                <a:ea typeface="DFKai-SB" pitchFamily="65" charset="-128"/>
              </a:rPr>
              <a:t>活动图</a:t>
            </a:r>
            <a:endParaRPr lang="zh-TW" altLang="en-US" sz="2000" dirty="0">
              <a:solidFill>
                <a:srgbClr val="000099"/>
              </a:solidFill>
              <a:latin typeface="DFKai-SB" pitchFamily="65" charset="-128"/>
              <a:ea typeface="DFKai-SB" pitchFamily="65" charset="-128"/>
            </a:endParaRPr>
          </a:p>
        </p:txBody>
      </p:sp>
      <p:sp>
        <p:nvSpPr>
          <p:cNvPr id="63505" name="Text Box 15"/>
          <p:cNvSpPr txBox="1"/>
          <p:nvPr/>
        </p:nvSpPr>
        <p:spPr>
          <a:xfrm>
            <a:off x="6951980" y="5320665"/>
            <a:ext cx="1219200" cy="396875"/>
          </a:xfrm>
          <a:prstGeom prst="rect">
            <a:avLst/>
          </a:prstGeom>
          <a:noFill/>
          <a:ln w="0">
            <a:noFill/>
          </a:ln>
        </p:spPr>
        <p:txBody>
          <a:bodyPr anchor="t" anchorCtr="0">
            <a:spAutoFit/>
          </a:bodyPr>
          <a:lstStyle/>
          <a:p>
            <a:pPr>
              <a:spcBef>
                <a:spcPct val="50000"/>
              </a:spcBef>
              <a:buClrTx/>
              <a:buFont typeface="Wingdings" panose="05000000000000000000" pitchFamily="2" charset="2"/>
            </a:pPr>
            <a:r>
              <a:rPr lang="zh-TW" altLang="en-US" sz="2000" dirty="0">
                <a:solidFill>
                  <a:srgbClr val="000099"/>
                </a:solidFill>
                <a:latin typeface="DFKai-SB" pitchFamily="65" charset="-128"/>
                <a:ea typeface="DFKai-SB" pitchFamily="65" charset="-128"/>
              </a:rPr>
              <a:t>状态图</a:t>
            </a:r>
            <a:endParaRPr lang="zh-TW" altLang="en-US" sz="2000" dirty="0">
              <a:solidFill>
                <a:srgbClr val="000099"/>
              </a:solidFill>
              <a:latin typeface="DFKai-SB" pitchFamily="65" charset="-128"/>
              <a:ea typeface="DFKai-SB" pitchFamily="65" charset="-128"/>
            </a:endParaRPr>
          </a:p>
        </p:txBody>
      </p:sp>
      <p:sp>
        <p:nvSpPr>
          <p:cNvPr id="63506" name="Text Box 16"/>
          <p:cNvSpPr txBox="1"/>
          <p:nvPr/>
        </p:nvSpPr>
        <p:spPr>
          <a:xfrm>
            <a:off x="4518025" y="5229225"/>
            <a:ext cx="1219200" cy="396875"/>
          </a:xfrm>
          <a:prstGeom prst="rect">
            <a:avLst/>
          </a:prstGeom>
          <a:noFill/>
          <a:ln w="0">
            <a:noFill/>
          </a:ln>
        </p:spPr>
        <p:txBody>
          <a:bodyPr anchor="t" anchorCtr="0">
            <a:spAutoFit/>
          </a:bodyPr>
          <a:lstStyle/>
          <a:p>
            <a:pPr>
              <a:spcBef>
                <a:spcPct val="50000"/>
              </a:spcBef>
              <a:buClrTx/>
              <a:buFont typeface="Wingdings" panose="05000000000000000000" pitchFamily="2" charset="2"/>
            </a:pPr>
            <a:r>
              <a:rPr lang="zh-TW" altLang="en-US" sz="2000" dirty="0">
                <a:solidFill>
                  <a:srgbClr val="000099"/>
                </a:solidFill>
                <a:latin typeface="DFKai-SB" pitchFamily="65" charset="-128"/>
                <a:ea typeface="DFKai-SB" pitchFamily="65" charset="-128"/>
              </a:rPr>
              <a:t>协作图</a:t>
            </a:r>
            <a:endParaRPr lang="zh-TW" altLang="en-US" sz="2000" dirty="0">
              <a:solidFill>
                <a:srgbClr val="000099"/>
              </a:solidFill>
              <a:latin typeface="DFKai-SB" pitchFamily="65" charset="-128"/>
              <a:ea typeface="DFKai-SB" pitchFamily="65" charset="-128"/>
            </a:endParaRPr>
          </a:p>
        </p:txBody>
      </p:sp>
      <p:pic>
        <p:nvPicPr>
          <p:cNvPr id="63507" name="Picture 17"/>
          <p:cNvPicPr>
            <a:picLocks noChangeAspect="1"/>
          </p:cNvPicPr>
          <p:nvPr/>
        </p:nvPicPr>
        <p:blipFill>
          <a:blip r:embed="rId5"/>
          <a:stretch>
            <a:fillRect/>
          </a:stretch>
        </p:blipFill>
        <p:spPr>
          <a:xfrm>
            <a:off x="551180" y="4926330"/>
            <a:ext cx="3276600" cy="1154113"/>
          </a:xfrm>
          <a:prstGeom prst="rect">
            <a:avLst/>
          </a:prstGeom>
          <a:noFill/>
          <a:ln w="0">
            <a:noFill/>
          </a:ln>
        </p:spPr>
      </p:pic>
      <p:sp>
        <p:nvSpPr>
          <p:cNvPr id="63508" name="Text Box 18"/>
          <p:cNvSpPr txBox="1"/>
          <p:nvPr/>
        </p:nvSpPr>
        <p:spPr>
          <a:xfrm>
            <a:off x="1541780" y="4072890"/>
            <a:ext cx="1143000" cy="396875"/>
          </a:xfrm>
          <a:prstGeom prst="rect">
            <a:avLst/>
          </a:prstGeom>
          <a:noFill/>
          <a:ln w="0">
            <a:noFill/>
          </a:ln>
        </p:spPr>
        <p:txBody>
          <a:bodyPr anchor="t" anchorCtr="0">
            <a:spAutoFit/>
          </a:bodyPr>
          <a:lstStyle/>
          <a:p>
            <a:pPr>
              <a:spcBef>
                <a:spcPct val="50000"/>
              </a:spcBef>
              <a:buClrTx/>
              <a:buFont typeface="Wingdings" panose="05000000000000000000" pitchFamily="2" charset="2"/>
            </a:pPr>
            <a:r>
              <a:rPr lang="zh-TW" altLang="en-US" sz="2000" dirty="0">
                <a:solidFill>
                  <a:srgbClr val="000099"/>
                </a:solidFill>
                <a:latin typeface="DFKai-SB" pitchFamily="65" charset="-128"/>
                <a:ea typeface="DFKai-SB" pitchFamily="65" charset="-128"/>
              </a:rPr>
              <a:t>序列图</a:t>
            </a:r>
            <a:endParaRPr lang="zh-TW" altLang="en-US" sz="2000" dirty="0">
              <a:solidFill>
                <a:srgbClr val="000099"/>
              </a:solidFill>
              <a:latin typeface="DFKai-SB" pitchFamily="65" charset="-128"/>
              <a:ea typeface="DFKai-SB" pitchFamily="65" charset="-128"/>
            </a:endParaRPr>
          </a:p>
        </p:txBody>
      </p:sp>
      <p:pic>
        <p:nvPicPr>
          <p:cNvPr id="63502" name="Picture 12"/>
          <p:cNvPicPr>
            <a:picLocks noChangeAspect="1"/>
          </p:cNvPicPr>
          <p:nvPr/>
        </p:nvPicPr>
        <p:blipFill>
          <a:blip r:embed="rId6"/>
          <a:stretch>
            <a:fillRect/>
          </a:stretch>
        </p:blipFill>
        <p:spPr>
          <a:xfrm>
            <a:off x="4029710" y="914400"/>
            <a:ext cx="1981200" cy="1671638"/>
          </a:xfrm>
          <a:prstGeom prst="rect">
            <a:avLst/>
          </a:prstGeom>
          <a:noFill/>
          <a:ln w="0">
            <a:noFill/>
          </a:ln>
        </p:spPr>
      </p:pic>
      <p:pic>
        <p:nvPicPr>
          <p:cNvPr id="63504" name="Picture 14"/>
          <p:cNvPicPr>
            <a:picLocks noChangeAspect="1"/>
          </p:cNvPicPr>
          <p:nvPr/>
        </p:nvPicPr>
        <p:blipFill>
          <a:blip r:embed="rId7"/>
          <a:srcRect r="50528"/>
          <a:stretch>
            <a:fillRect/>
          </a:stretch>
        </p:blipFill>
        <p:spPr>
          <a:xfrm>
            <a:off x="6830695" y="3133090"/>
            <a:ext cx="1219200" cy="2105025"/>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21507"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en-US" altLang="zh-CN" sz="2000" dirty="0">
                <a:ea typeface="宋体" panose="02010600030101010101" pitchFamily="2" charset="-122"/>
              </a:rPr>
              <a:t>UML 1.X</a:t>
            </a:r>
            <a:r>
              <a:rPr lang="zh-CN" altLang="en-US" sz="2000" dirty="0">
                <a:ea typeface="宋体" panose="02010600030101010101" pitchFamily="2" charset="-122"/>
              </a:rPr>
              <a:t>模型图：</a:t>
            </a:r>
            <a:r>
              <a:rPr lang="en-US" altLang="zh-CN" sz="2000" dirty="0">
                <a:ea typeface="宋体" panose="02010600030101010101" pitchFamily="2" charset="-122"/>
              </a:rPr>
              <a:t>9</a:t>
            </a:r>
            <a:r>
              <a:rPr lang="zh-CN" altLang="en-US" sz="2000" dirty="0">
                <a:ea typeface="宋体" panose="02010600030101010101" pitchFamily="2" charset="-122"/>
              </a:rPr>
              <a:t>种</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类图：</a:t>
            </a:r>
            <a:r>
              <a:rPr lang="en-US" altLang="zh-CN" sz="2000" dirty="0">
                <a:ea typeface="宋体" panose="02010600030101010101" pitchFamily="2" charset="-122"/>
              </a:rPr>
              <a:t>Class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对象图：</a:t>
            </a:r>
            <a:r>
              <a:rPr lang="en-US" altLang="zh-CN" sz="2000" dirty="0">
                <a:ea typeface="宋体" panose="02010600030101010101" pitchFamily="2" charset="-122"/>
              </a:rPr>
              <a:t>Object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构件图：</a:t>
            </a:r>
            <a:r>
              <a:rPr lang="en-US" altLang="zh-CN" sz="2000" dirty="0">
                <a:ea typeface="宋体" panose="02010600030101010101" pitchFamily="2" charset="-122"/>
              </a:rPr>
              <a:t> Component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部署图：</a:t>
            </a:r>
            <a:r>
              <a:rPr lang="en-US" altLang="zh-CN" sz="2000" dirty="0">
                <a:ea typeface="宋体" panose="02010600030101010101" pitchFamily="2" charset="-122"/>
              </a:rPr>
              <a:t> Deployment Diagram</a:t>
            </a:r>
            <a:endParaRPr lang="zh-CN" altLang="en-US" sz="2000" dirty="0">
              <a:ea typeface="宋体" panose="02010600030101010101" pitchFamily="2" charset="-122"/>
            </a:endParaRPr>
          </a:p>
          <a:p>
            <a:pPr lvl="1" eaLnBrk="1" hangingPunct="1">
              <a:buClr>
                <a:schemeClr val="accent1"/>
              </a:buClr>
              <a:buSzPct val="80000"/>
              <a:buFont typeface="Wingdings 2" panose="05020102010507070707" pitchFamily="18" charset="2"/>
            </a:pP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用例图：</a:t>
            </a:r>
            <a:r>
              <a:rPr lang="en-US" altLang="zh-CN" sz="2000" dirty="0">
                <a:ea typeface="宋体" panose="02010600030101010101" pitchFamily="2" charset="-122"/>
              </a:rPr>
              <a:t>Use Case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活动图：</a:t>
            </a:r>
            <a:r>
              <a:rPr lang="en-US" altLang="zh-CN" sz="2000" dirty="0">
                <a:ea typeface="宋体" panose="02010600030101010101" pitchFamily="2" charset="-122"/>
              </a:rPr>
              <a:t> Activity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状态图：</a:t>
            </a:r>
            <a:r>
              <a:rPr lang="en-US" altLang="zh-CN" sz="2000" dirty="0">
                <a:ea typeface="宋体" panose="02010600030101010101" pitchFamily="2" charset="-122"/>
              </a:rPr>
              <a:t> Statechart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时序图（顺序图）：</a:t>
            </a:r>
            <a:r>
              <a:rPr lang="en-US" altLang="zh-CN" sz="2000" dirty="0">
                <a:ea typeface="宋体" panose="02010600030101010101" pitchFamily="2" charset="-122"/>
              </a:rPr>
              <a:t> Sequence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协作图：</a:t>
            </a:r>
            <a:r>
              <a:rPr lang="en-US" altLang="zh-CN" sz="2000" dirty="0">
                <a:ea typeface="宋体" panose="02010600030101010101" pitchFamily="2" charset="-122"/>
              </a:rPr>
              <a:t> Collaboration Diagram</a:t>
            </a:r>
            <a:endParaRPr lang="en-US" altLang="zh-CN" sz="2000"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2150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22531" name="内容占位符 2"/>
          <p:cNvSpPr>
            <a:spLocks noGrp="1"/>
          </p:cNvSpPr>
          <p:nvPr>
            <p:ph sz="quarter" idx="1"/>
          </p:nvPr>
        </p:nvSpPr>
        <p:spPr>
          <a:xfrm>
            <a:off x="250825" y="1484313"/>
            <a:ext cx="7673975" cy="4989512"/>
          </a:xfrm>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en-US" altLang="zh-CN" sz="2000" dirty="0">
                <a:ea typeface="宋体" panose="02010600030101010101" pitchFamily="2" charset="-122"/>
              </a:rPr>
              <a:t>UML 2.X</a:t>
            </a:r>
            <a:r>
              <a:rPr lang="zh-CN" altLang="en-US" sz="2000" dirty="0">
                <a:ea typeface="宋体" panose="02010600030101010101" pitchFamily="2" charset="-122"/>
              </a:rPr>
              <a:t>模型图：</a:t>
            </a:r>
            <a:r>
              <a:rPr lang="en-US" altLang="zh-CN" sz="2000" dirty="0">
                <a:ea typeface="宋体" panose="02010600030101010101" pitchFamily="2" charset="-122"/>
              </a:rPr>
              <a:t>13</a:t>
            </a:r>
            <a:r>
              <a:rPr lang="zh-CN" altLang="en-US" sz="2000" dirty="0">
                <a:ea typeface="宋体" panose="02010600030101010101" pitchFamily="2" charset="-122"/>
              </a:rPr>
              <a:t>种</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类图：</a:t>
            </a:r>
            <a:r>
              <a:rPr lang="en-US" altLang="zh-CN" sz="2000" dirty="0">
                <a:ea typeface="宋体" panose="02010600030101010101" pitchFamily="2" charset="-122"/>
              </a:rPr>
              <a:t>Class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对象图：</a:t>
            </a:r>
            <a:r>
              <a:rPr lang="en-US" altLang="zh-CN" sz="2000" dirty="0">
                <a:ea typeface="宋体" panose="02010600030101010101" pitchFamily="2" charset="-122"/>
              </a:rPr>
              <a:t>Object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构件图：</a:t>
            </a:r>
            <a:r>
              <a:rPr lang="en-US" altLang="zh-CN" sz="2000" dirty="0">
                <a:ea typeface="宋体" panose="02010600030101010101" pitchFamily="2" charset="-122"/>
              </a:rPr>
              <a:t> Component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部署图：</a:t>
            </a:r>
            <a:r>
              <a:rPr lang="en-US" altLang="zh-CN" sz="2000" dirty="0">
                <a:ea typeface="宋体" panose="02010600030101010101" pitchFamily="2" charset="-122"/>
              </a:rPr>
              <a:t> Deployment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solidFill>
                  <a:srgbClr val="FF0000"/>
                </a:solidFill>
                <a:ea typeface="宋体" panose="02010600030101010101" pitchFamily="2" charset="-122"/>
              </a:rPr>
              <a:t>包图：</a:t>
            </a:r>
            <a:r>
              <a:rPr lang="en-US" altLang="zh-CN" sz="2000" dirty="0">
                <a:solidFill>
                  <a:srgbClr val="FF0000"/>
                </a:solidFill>
                <a:ea typeface="宋体" panose="02010600030101010101" pitchFamily="2" charset="-122"/>
              </a:rPr>
              <a:t> Package Diagram</a:t>
            </a:r>
            <a:endParaRPr lang="en-US" altLang="zh-CN" sz="2000" dirty="0">
              <a:solidFill>
                <a:srgbClr val="FF000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solidFill>
                  <a:srgbClr val="FF0000"/>
                </a:solidFill>
                <a:ea typeface="宋体" panose="02010600030101010101" pitchFamily="2" charset="-122"/>
              </a:rPr>
              <a:t>复合结构图：</a:t>
            </a:r>
            <a:r>
              <a:rPr lang="en-US" altLang="zh-CN" sz="2000" dirty="0">
                <a:solidFill>
                  <a:srgbClr val="FF0000"/>
                </a:solidFill>
                <a:ea typeface="宋体" panose="02010600030101010101" pitchFamily="2" charset="-122"/>
              </a:rPr>
              <a:t>Composite Structure Diagram</a:t>
            </a:r>
            <a:endParaRPr lang="en-US" altLang="zh-CN" sz="2000" dirty="0">
              <a:solidFill>
                <a:srgbClr val="FF0000"/>
              </a:solidFill>
              <a:ea typeface="宋体" panose="02010600030101010101" pitchFamily="2" charset="-122"/>
            </a:endParaRPr>
          </a:p>
          <a:p>
            <a:pPr lvl="1" eaLnBrk="1" hangingPunct="1">
              <a:buClr>
                <a:schemeClr val="accent1"/>
              </a:buClr>
              <a:buSzPct val="80000"/>
              <a:buFont typeface="Wingdings 2" panose="05020102010507070707" pitchFamily="18" charset="2"/>
            </a:pPr>
            <a:endParaRPr lang="en-US" altLang="zh-CN" sz="2000" dirty="0">
              <a:solidFill>
                <a:srgbClr val="FF000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用例图：</a:t>
            </a:r>
            <a:r>
              <a:rPr lang="en-US" altLang="zh-CN" sz="2000" dirty="0">
                <a:ea typeface="宋体" panose="02010600030101010101" pitchFamily="2" charset="-122"/>
              </a:rPr>
              <a:t>Use Case Diagram</a:t>
            </a:r>
            <a:endParaRPr lang="en-US" altLang="zh-CN" sz="2000" dirty="0">
              <a:solidFill>
                <a:srgbClr val="FF000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solidFill>
                  <a:srgbClr val="7030A0"/>
                </a:solidFill>
                <a:ea typeface="宋体" panose="02010600030101010101" pitchFamily="2" charset="-122"/>
              </a:rPr>
              <a:t>状态机图：</a:t>
            </a:r>
            <a:r>
              <a:rPr lang="en-US" altLang="zh-CN" sz="2000" dirty="0">
                <a:solidFill>
                  <a:srgbClr val="7030A0"/>
                </a:solidFill>
                <a:ea typeface="宋体" panose="02010600030101010101" pitchFamily="2" charset="-122"/>
              </a:rPr>
              <a:t> State Machine Diagram</a:t>
            </a:r>
            <a:endParaRPr lang="en-US" altLang="zh-CN" sz="2000" dirty="0">
              <a:solidFill>
                <a:srgbClr val="7030A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活动图：</a:t>
            </a:r>
            <a:r>
              <a:rPr lang="en-US" altLang="zh-CN" sz="2000" dirty="0">
                <a:ea typeface="宋体" panose="02010600030101010101" pitchFamily="2" charset="-122"/>
              </a:rPr>
              <a:t> Activity Diagram</a:t>
            </a:r>
            <a:endParaRPr lang="en-US" altLang="zh-CN"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solidFill>
                  <a:srgbClr val="FF0000"/>
                </a:solidFill>
                <a:ea typeface="宋体" panose="02010600030101010101" pitchFamily="2" charset="-122"/>
              </a:rPr>
              <a:t>交互图：</a:t>
            </a:r>
            <a:r>
              <a:rPr lang="en-US" altLang="zh-CN" sz="2000" dirty="0">
                <a:solidFill>
                  <a:srgbClr val="FF0000"/>
                </a:solidFill>
                <a:ea typeface="宋体" panose="02010600030101010101" pitchFamily="2" charset="-122"/>
              </a:rPr>
              <a:t>Interaction Diagram</a:t>
            </a:r>
            <a:endParaRPr lang="en-US" altLang="zh-CN" sz="2000" dirty="0">
              <a:solidFill>
                <a:srgbClr val="FF0000"/>
              </a:solidFill>
              <a:ea typeface="宋体" panose="02010600030101010101" pitchFamily="2" charset="-122"/>
            </a:endParaRPr>
          </a:p>
          <a:p>
            <a:pPr lvl="1" eaLnBrk="1" hangingPunct="1">
              <a:buClr>
                <a:schemeClr val="accent1"/>
              </a:buClr>
              <a:buSzPct val="80000"/>
              <a:buFont typeface="Wingdings 2" panose="05020102010507070707" pitchFamily="18" charset="2"/>
            </a:pPr>
            <a:endParaRPr lang="zh-CN" altLang="en-US" sz="2000" dirty="0">
              <a:ea typeface="宋体" panose="02010600030101010101" pitchFamily="2" charset="-122"/>
            </a:endParaRPr>
          </a:p>
        </p:txBody>
      </p:sp>
      <p:sp>
        <p:nvSpPr>
          <p:cNvPr id="2253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5" name="内容占位符 2"/>
          <p:cNvSpPr txBox="1"/>
          <p:nvPr/>
        </p:nvSpPr>
        <p:spPr bwMode="auto">
          <a:xfrm>
            <a:off x="5148263" y="4652963"/>
            <a:ext cx="3816350" cy="2089150"/>
          </a:xfrm>
          <a:prstGeom prst="rect">
            <a:avLst/>
          </a:prstGeom>
          <a:noFill/>
          <a:ln w="9525">
            <a:noFill/>
            <a:miter lim="800000"/>
          </a:ln>
        </p:spPr>
        <p:txBody>
          <a:bodyPr/>
          <a:lstStyle/>
          <a:p>
            <a:pPr marL="182880" marR="0" indent="-273050" defTabSz="914400">
              <a:spcBef>
                <a:spcPct val="20000"/>
              </a:spcBef>
              <a:buClr>
                <a:schemeClr val="accent1"/>
              </a:buClr>
              <a:buSzPct val="80000"/>
              <a:buFont typeface="Wingdings 2" panose="05020102010507070707" pitchFamily="18" charset="2"/>
              <a:buChar char=""/>
              <a:defRPr/>
            </a:pPr>
            <a:r>
              <a:rPr kumimoji="1" lang="zh-CN" altLang="en-US" sz="2000" b="1" kern="1200" cap="none" spc="0" normalizeH="0" baseline="0" noProof="0" dirty="0">
                <a:latin typeface="Times New Roman" panose="02020603050405020304" pitchFamily="18" charset="0"/>
                <a:ea typeface="+mn-ea"/>
                <a:cs typeface="Times New Roman" panose="02020603050405020304" pitchFamily="18" charset="0"/>
              </a:rPr>
              <a:t>顺序图：</a:t>
            </a:r>
            <a:r>
              <a:rPr kumimoji="1" lang="en-US" altLang="zh-CN" sz="2000" b="1" kern="1200" cap="none" spc="0" normalizeH="0" baseline="0" noProof="0" dirty="0">
                <a:latin typeface="Times New Roman" panose="02020603050405020304" pitchFamily="18" charset="0"/>
                <a:ea typeface="+mn-ea"/>
                <a:cs typeface="Times New Roman" panose="02020603050405020304" pitchFamily="18" charset="0"/>
              </a:rPr>
              <a:t> Sequence Diagram</a:t>
            </a:r>
            <a:endParaRPr kumimoji="1" lang="en-US" altLang="zh-CN" sz="2000" b="1" kern="1200" cap="none" spc="0" normalizeH="0" baseline="0" noProof="0" dirty="0">
              <a:latin typeface="Times New Roman" panose="02020603050405020304" pitchFamily="18" charset="0"/>
              <a:ea typeface="+mn-ea"/>
              <a:cs typeface="Times New Roman" panose="02020603050405020304" pitchFamily="18" charset="0"/>
            </a:endParaRPr>
          </a:p>
          <a:p>
            <a:pPr marL="182880" marR="0" indent="-273050" defTabSz="914400">
              <a:spcBef>
                <a:spcPct val="20000"/>
              </a:spcBef>
              <a:buClr>
                <a:schemeClr val="accent1"/>
              </a:buClr>
              <a:buSzPct val="80000"/>
              <a:buFont typeface="Wingdings 2" panose="05020102010507070707" pitchFamily="18" charset="2"/>
              <a:buChar char=""/>
              <a:defRPr/>
            </a:pPr>
            <a:r>
              <a:rPr kumimoji="1" lang="zh-CN" altLang="en-US" sz="2000" b="1" kern="1200" cap="none" spc="0" normalizeH="0" baseline="0" noProof="0" dirty="0">
                <a:solidFill>
                  <a:srgbClr val="FF0000"/>
                </a:solidFill>
                <a:latin typeface="Times New Roman" panose="02020603050405020304" pitchFamily="18" charset="0"/>
                <a:ea typeface="+mn-ea"/>
                <a:cs typeface="Times New Roman" panose="02020603050405020304" pitchFamily="18" charset="0"/>
              </a:rPr>
              <a:t>定时图：</a:t>
            </a:r>
            <a:r>
              <a:rPr kumimoji="1" lang="en-US" altLang="zh-CN" sz="2000" b="1" kern="1200" cap="none" spc="0" normalizeH="0" baseline="0" noProof="0" dirty="0">
                <a:solidFill>
                  <a:srgbClr val="FF0000"/>
                </a:solidFill>
                <a:latin typeface="Times New Roman" panose="02020603050405020304" pitchFamily="18" charset="0"/>
                <a:ea typeface="+mn-ea"/>
                <a:cs typeface="Times New Roman" panose="02020603050405020304" pitchFamily="18" charset="0"/>
              </a:rPr>
              <a:t>Timing Diagram</a:t>
            </a:r>
            <a:endParaRPr kumimoji="1" lang="en-US" altLang="zh-CN" sz="2000" b="1" kern="1200" cap="none" spc="0" normalizeH="0" baseline="0" noProof="0" dirty="0">
              <a:solidFill>
                <a:srgbClr val="FF0000"/>
              </a:solidFill>
              <a:latin typeface="Times New Roman" panose="02020603050405020304" pitchFamily="18" charset="0"/>
              <a:ea typeface="+mn-ea"/>
              <a:cs typeface="Times New Roman" panose="02020603050405020304" pitchFamily="18" charset="0"/>
            </a:endParaRPr>
          </a:p>
          <a:p>
            <a:pPr marL="182880" marR="0" indent="-273050" defTabSz="914400">
              <a:spcBef>
                <a:spcPct val="20000"/>
              </a:spcBef>
              <a:buClr>
                <a:schemeClr val="accent1"/>
              </a:buClr>
              <a:buSzPct val="80000"/>
              <a:buFont typeface="Wingdings 2" panose="05020102010507070707" pitchFamily="18" charset="2"/>
              <a:buChar char=""/>
              <a:defRPr/>
            </a:pPr>
            <a:r>
              <a:rPr kumimoji="1" lang="zh-CN" altLang="en-US" sz="2000" b="1" kern="1200" cap="none" spc="0" normalizeH="0" baseline="0" noProof="0" dirty="0">
                <a:solidFill>
                  <a:srgbClr val="7030A0"/>
                </a:solidFill>
                <a:latin typeface="Times New Roman" panose="02020603050405020304" pitchFamily="18" charset="0"/>
                <a:ea typeface="+mn-ea"/>
                <a:cs typeface="Times New Roman" panose="02020603050405020304" pitchFamily="18" charset="0"/>
              </a:rPr>
              <a:t>通讯图：</a:t>
            </a:r>
            <a:r>
              <a:rPr kumimoji="1" lang="en-US" altLang="zh-CN" sz="2000" b="1" kern="1200" cap="none" spc="0" normalizeH="0" baseline="0" noProof="0" dirty="0">
                <a:solidFill>
                  <a:srgbClr val="7030A0"/>
                </a:solidFill>
                <a:latin typeface="Times New Roman" panose="02020603050405020304" pitchFamily="18" charset="0"/>
                <a:ea typeface="+mn-ea"/>
                <a:cs typeface="Times New Roman" panose="02020603050405020304" pitchFamily="18" charset="0"/>
              </a:rPr>
              <a:t>Communication Diagram</a:t>
            </a:r>
            <a:endParaRPr kumimoji="1" lang="en-US" altLang="zh-CN" sz="2000" b="1" kern="1200" cap="none" spc="0" normalizeH="0" baseline="0" noProof="0" dirty="0">
              <a:solidFill>
                <a:srgbClr val="7030A0"/>
              </a:solidFill>
              <a:latin typeface="Times New Roman" panose="02020603050405020304" pitchFamily="18" charset="0"/>
              <a:ea typeface="+mn-ea"/>
              <a:cs typeface="Times New Roman" panose="02020603050405020304" pitchFamily="18" charset="0"/>
            </a:endParaRPr>
          </a:p>
          <a:p>
            <a:pPr marL="182880" marR="0" indent="-273050" defTabSz="914400">
              <a:spcBef>
                <a:spcPct val="20000"/>
              </a:spcBef>
              <a:buClr>
                <a:schemeClr val="accent1"/>
              </a:buClr>
              <a:buSzPct val="80000"/>
              <a:buFont typeface="Wingdings 2" panose="05020102010507070707" pitchFamily="18" charset="2"/>
              <a:buChar char=""/>
              <a:defRPr/>
            </a:pPr>
            <a:r>
              <a:rPr kumimoji="1" lang="zh-CN" altLang="en-US" sz="2000" b="1" kern="1200" cap="none" spc="0" normalizeH="0" baseline="0" noProof="0" dirty="0">
                <a:solidFill>
                  <a:srgbClr val="FF0000"/>
                </a:solidFill>
                <a:latin typeface="Times New Roman" panose="02020603050405020304" pitchFamily="18" charset="0"/>
                <a:ea typeface="+mn-ea"/>
                <a:cs typeface="Times New Roman" panose="02020603050405020304" pitchFamily="18" charset="0"/>
              </a:rPr>
              <a:t>交互概览图：</a:t>
            </a:r>
            <a:r>
              <a:rPr kumimoji="1" lang="en-US" altLang="zh-CN" sz="2000" b="1" kern="1200" cap="none" spc="0" normalizeH="0" baseline="0" noProof="0" dirty="0">
                <a:solidFill>
                  <a:srgbClr val="FF0000"/>
                </a:solidFill>
                <a:latin typeface="Times New Roman" panose="02020603050405020304" pitchFamily="18" charset="0"/>
                <a:ea typeface="+mn-ea"/>
                <a:cs typeface="Times New Roman" panose="02020603050405020304" pitchFamily="18" charset="0"/>
              </a:rPr>
              <a:t>Interaction Overview Diagram</a:t>
            </a:r>
            <a:endParaRPr kumimoji="1" lang="en-US" altLang="zh-CN" sz="2000" b="1" kern="1200" cap="none" spc="0" normalizeH="0" baseline="0" noProof="0" dirty="0">
              <a:solidFill>
                <a:srgbClr val="FF0000"/>
              </a:solidFill>
              <a:latin typeface="Times New Roman" panose="02020603050405020304" pitchFamily="18" charset="0"/>
              <a:ea typeface="+mn-ea"/>
              <a:cs typeface="Times New Roman" panose="02020603050405020304" pitchFamily="18" charset="0"/>
            </a:endParaRPr>
          </a:p>
        </p:txBody>
      </p:sp>
      <p:sp>
        <p:nvSpPr>
          <p:cNvPr id="6" name="左大括号 5"/>
          <p:cNvSpPr/>
          <p:nvPr/>
        </p:nvSpPr>
        <p:spPr>
          <a:xfrm>
            <a:off x="4787900" y="4797425"/>
            <a:ext cx="360363" cy="187166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fontScale="92500"/>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cs"/>
              </a:rPr>
              <a:t>UML2.X</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增改的图（相对于</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UML1.X  </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增加了</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4</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种图</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复合结构图（</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Composite Structure Diagram</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包图（</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Package Diagram</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交互概览图（</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Interaction Overview Diagram</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定时图（</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Timing Diagram</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pitchFamily="18" charset="2"/>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注：包图在</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UML1.X</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中并不是一种正式的图</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种图重新命名</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原来的协作图（</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Collaboration Diagrams</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）改名为通讯图（</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Communication Diagrams</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原来的状态图（</a:t>
            </a:r>
            <a:r>
              <a:rPr kumimoji="0" lang="en-US" altLang="zh-CN" sz="2400" b="1" i="0" u="none" strike="noStrike" kern="1200" cap="none" spc="0" normalizeH="0" baseline="0" noProof="0" dirty="0" err="1">
                <a:ln>
                  <a:noFill/>
                </a:ln>
                <a:solidFill>
                  <a:schemeClr val="tx1"/>
                </a:solidFill>
                <a:effectLst/>
                <a:uLnTx/>
                <a:uFillTx/>
                <a:latin typeface="+mn-lt"/>
                <a:ea typeface="+mn-ea"/>
                <a:cs typeface="+mn-cs"/>
              </a:rPr>
              <a:t>Statechart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Diagrams</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）改名为状态机图（</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State Machine Diagrams</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23556"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24579"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软件系统体系结构的描述</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en-US" altLang="zh-CN" dirty="0">
                <a:ea typeface="宋体" panose="02010600030101010101" pitchFamily="2" charset="-122"/>
              </a:rPr>
              <a:t>UML</a:t>
            </a:r>
            <a:r>
              <a:rPr lang="zh-CN" altLang="en-US" dirty="0">
                <a:ea typeface="宋体" panose="02010600030101010101" pitchFamily="2" charset="-122"/>
              </a:rPr>
              <a:t>为人们提供了从不同的角度去观察和展示系统的各种特征的一种标准表达方式。</a:t>
            </a:r>
            <a:r>
              <a:rPr lang="en-US" altLang="zh-CN" dirty="0">
                <a:ea typeface="宋体" panose="02010600030101010101" pitchFamily="2" charset="-122"/>
              </a:rPr>
              <a:t>UML</a:t>
            </a:r>
            <a:r>
              <a:rPr lang="zh-CN" altLang="zh-CN" dirty="0">
                <a:ea typeface="宋体" panose="02010600030101010101" pitchFamily="2" charset="-122"/>
              </a:rPr>
              <a:t>利用</a:t>
            </a:r>
            <a:r>
              <a:rPr lang="zh-CN" altLang="zh-CN" dirty="0">
                <a:solidFill>
                  <a:srgbClr val="0070C0"/>
                </a:solidFill>
                <a:ea typeface="宋体" panose="02010600030101010101" pitchFamily="2" charset="-122"/>
              </a:rPr>
              <a:t>视图</a:t>
            </a:r>
            <a:r>
              <a:rPr lang="zh-CN" altLang="en-US" dirty="0">
                <a:ea typeface="宋体" panose="02010600030101010101" pitchFamily="2" charset="-122"/>
              </a:rPr>
              <a:t>（</a:t>
            </a:r>
            <a:r>
              <a:rPr lang="en-US" altLang="zh-CN" dirty="0">
                <a:ea typeface="宋体" panose="02010600030101010101" pitchFamily="2" charset="-122"/>
              </a:rPr>
              <a:t>view</a:t>
            </a:r>
            <a:r>
              <a:rPr lang="zh-CN" altLang="en-US" dirty="0">
                <a:ea typeface="宋体" panose="02010600030101010101" pitchFamily="2" charset="-122"/>
              </a:rPr>
              <a:t>）</a:t>
            </a:r>
            <a:r>
              <a:rPr lang="zh-CN" altLang="zh-CN" dirty="0">
                <a:ea typeface="宋体" panose="02010600030101010101" pitchFamily="2" charset="-122"/>
              </a:rPr>
              <a:t>从不同角度来观察和描述一个软件系统的体系结构。每个视图都是整个系统描述的一个投影，说明了系统的一个侧面，若干个不同的视图可以完整的描述所建造的系统。</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在</a:t>
            </a:r>
            <a:r>
              <a:rPr lang="en-US" altLang="zh-CN" dirty="0">
                <a:ea typeface="宋体" panose="02010600030101010101" pitchFamily="2" charset="-122"/>
              </a:rPr>
              <a:t>UML</a:t>
            </a:r>
            <a:r>
              <a:rPr lang="zh-CN" altLang="en-US" dirty="0">
                <a:ea typeface="宋体" panose="02010600030101010101" pitchFamily="2" charset="-122"/>
              </a:rPr>
              <a:t>中，从任何一个角度对系统所作的抽象都可能需要用几种</a:t>
            </a:r>
            <a:r>
              <a:rPr lang="zh-CN" altLang="en-US" dirty="0">
                <a:solidFill>
                  <a:srgbClr val="0070C0"/>
                </a:solidFill>
                <a:ea typeface="宋体" panose="02010600030101010101" pitchFamily="2" charset="-122"/>
              </a:rPr>
              <a:t>模型图</a:t>
            </a:r>
            <a:r>
              <a:rPr lang="zh-CN" altLang="en-US" dirty="0">
                <a:ea typeface="宋体" panose="02010600030101010101" pitchFamily="2" charset="-122"/>
              </a:rPr>
              <a:t>（</a:t>
            </a:r>
            <a:r>
              <a:rPr lang="en-US" altLang="zh-CN" dirty="0">
                <a:ea typeface="宋体" panose="02010600030101010101" pitchFamily="2" charset="-122"/>
              </a:rPr>
              <a:t>diagram</a:t>
            </a:r>
            <a:r>
              <a:rPr lang="zh-CN" altLang="en-US" dirty="0">
                <a:ea typeface="宋体" panose="02010600030101010101" pitchFamily="2" charset="-122"/>
              </a:rPr>
              <a:t>）来描述，而这些来自不同角度的模型图最终组成了系统的完整模型。</a:t>
            </a:r>
            <a:endParaRPr lang="en-US" altLang="zh-CN" dirty="0">
              <a:ea typeface="宋体" panose="02010600030101010101" pitchFamily="2" charset="-122"/>
            </a:endParaRPr>
          </a:p>
        </p:txBody>
      </p:sp>
      <p:sp>
        <p:nvSpPr>
          <p:cNvPr id="2458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25603"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常用视图</a:t>
            </a:r>
            <a:r>
              <a:rPr lang="en-US" altLang="zh-CN" dirty="0">
                <a:ea typeface="宋体" panose="02010600030101010101" pitchFamily="2" charset="-122"/>
              </a:rPr>
              <a:t>1</a:t>
            </a:r>
            <a:r>
              <a:rPr lang="zh-CN" altLang="en-US" dirty="0">
                <a:ea typeface="宋体" panose="02010600030101010101" pitchFamily="2" charset="-122"/>
              </a:rPr>
              <a:t>：</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用例视图</a:t>
            </a:r>
            <a:r>
              <a:rPr lang="zh-CN" altLang="en-US" dirty="0">
                <a:ea typeface="宋体" panose="02010600030101010101" pitchFamily="2" charset="-122"/>
              </a:rPr>
              <a:t>：从系统</a:t>
            </a:r>
            <a:r>
              <a:rPr lang="zh-CN" altLang="en-US" dirty="0">
                <a:solidFill>
                  <a:srgbClr val="FF0000"/>
                </a:solidFill>
                <a:ea typeface="宋体" panose="02010600030101010101" pitchFamily="2" charset="-122"/>
              </a:rPr>
              <a:t>外部</a:t>
            </a:r>
            <a:r>
              <a:rPr lang="zh-CN" altLang="en-US" dirty="0">
                <a:ea typeface="宋体" panose="02010600030101010101" pitchFamily="2" charset="-122"/>
              </a:rPr>
              <a:t>的操作者的角度描述系统的功能需求。</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逻辑视图</a:t>
            </a:r>
            <a:r>
              <a:rPr lang="zh-CN" altLang="en-US" dirty="0">
                <a:ea typeface="宋体" panose="02010600030101010101" pitchFamily="2" charset="-122"/>
              </a:rPr>
              <a:t>：描述系统</a:t>
            </a:r>
            <a:r>
              <a:rPr lang="zh-CN" altLang="en-US" dirty="0">
                <a:solidFill>
                  <a:srgbClr val="FF0000"/>
                </a:solidFill>
                <a:ea typeface="宋体" panose="02010600030101010101" pitchFamily="2" charset="-122"/>
              </a:rPr>
              <a:t>内部</a:t>
            </a:r>
            <a:r>
              <a:rPr lang="zh-CN" altLang="en-US" dirty="0">
                <a:ea typeface="宋体" panose="02010600030101010101" pitchFamily="2" charset="-122"/>
              </a:rPr>
              <a:t>的</a:t>
            </a:r>
            <a:r>
              <a:rPr lang="zh-CN" altLang="en-US" dirty="0">
                <a:solidFill>
                  <a:srgbClr val="FF0000"/>
                </a:solidFill>
                <a:ea typeface="宋体" panose="02010600030101010101" pitchFamily="2" charset="-122"/>
              </a:rPr>
              <a:t>静态结构</a:t>
            </a:r>
            <a:r>
              <a:rPr lang="zh-CN" altLang="en-US" dirty="0">
                <a:ea typeface="宋体" panose="02010600030101010101" pitchFamily="2" charset="-122"/>
              </a:rPr>
              <a:t>和</a:t>
            </a:r>
            <a:r>
              <a:rPr lang="zh-CN" altLang="en-US" dirty="0">
                <a:solidFill>
                  <a:srgbClr val="FF0000"/>
                </a:solidFill>
                <a:ea typeface="宋体" panose="02010600030101010101" pitchFamily="2" charset="-122"/>
              </a:rPr>
              <a:t>动态行为</a:t>
            </a:r>
            <a:r>
              <a:rPr lang="zh-CN" altLang="en-US" dirty="0">
                <a:ea typeface="宋体" panose="02010600030101010101" pitchFamily="2" charset="-122"/>
              </a:rPr>
              <a:t>，即从内部描述如何设计实现系统功能。</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构件视图（实现视图）</a:t>
            </a:r>
            <a:r>
              <a:rPr lang="zh-CN" altLang="en-US" dirty="0">
                <a:ea typeface="宋体" panose="02010600030101010101" pitchFamily="2" charset="-122"/>
              </a:rPr>
              <a:t>：描述系统由哪些程序构件所组成。</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进程视图（并发视图） </a:t>
            </a:r>
            <a:r>
              <a:rPr lang="zh-CN" altLang="en-US" dirty="0">
                <a:ea typeface="宋体" panose="02010600030101010101" pitchFamily="2" charset="-122"/>
              </a:rPr>
              <a:t>：描述系统的并发性，强调并发系统中存在的各种通信和同步问题。</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部署视图（配置视图）</a:t>
            </a:r>
            <a:r>
              <a:rPr lang="zh-CN" altLang="en-US" dirty="0">
                <a:ea typeface="宋体" panose="02010600030101010101" pitchFamily="2" charset="-122"/>
              </a:rPr>
              <a:t>：描述系统的软件和各种硬件设备之间的配置关系。</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25604"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26627"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1</a:t>
            </a:r>
            <a:r>
              <a:rPr lang="zh-CN" altLang="en-US" dirty="0">
                <a:ea typeface="宋体" panose="02010600030101010101" pitchFamily="2" charset="-122"/>
              </a:rPr>
              <a:t>．用例视图</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作用：</a:t>
            </a:r>
            <a:r>
              <a:rPr lang="zh-CN" altLang="en-US" dirty="0">
                <a:solidFill>
                  <a:srgbClr val="FF0000"/>
                </a:solidFill>
                <a:ea typeface="宋体" panose="02010600030101010101" pitchFamily="2" charset="-122"/>
              </a:rPr>
              <a:t>描述系统的功能需求</a:t>
            </a:r>
            <a:r>
              <a:rPr lang="zh-CN" altLang="en-US" dirty="0">
                <a:ea typeface="宋体" panose="02010600030101010101" pitchFamily="2" charset="-122"/>
              </a:rPr>
              <a:t>，找出用例和行为者</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适用对象：客户、分析者、设计者、开发者和测试者；</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描述使用的图：用例图和活动图；</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重要性：</a:t>
            </a:r>
            <a:r>
              <a:rPr lang="zh-CN" altLang="en-US" dirty="0">
                <a:solidFill>
                  <a:srgbClr val="FF0000"/>
                </a:solidFill>
                <a:ea typeface="宋体" panose="02010600030101010101" pitchFamily="2" charset="-122"/>
              </a:rPr>
              <a:t>系统的中心，决定了其他视图的开发，用于确认和最终验证系统</a:t>
            </a:r>
            <a:r>
              <a:rPr lang="zh-CN" altLang="en-US" dirty="0">
                <a:ea typeface="宋体" panose="02010600030101010101" pitchFamily="2" charset="-122"/>
              </a:rPr>
              <a:t>。 </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2662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27651"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2</a:t>
            </a:r>
            <a:r>
              <a:rPr lang="zh-CN" altLang="en-US" dirty="0">
                <a:ea typeface="宋体" panose="02010600030101010101" pitchFamily="2" charset="-122"/>
              </a:rPr>
              <a:t>．逻辑视图</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作用：</a:t>
            </a:r>
            <a:r>
              <a:rPr lang="zh-CN" altLang="en-US" dirty="0">
                <a:solidFill>
                  <a:srgbClr val="FF0000"/>
                </a:solidFill>
                <a:ea typeface="宋体" panose="02010600030101010101" pitchFamily="2" charset="-122"/>
              </a:rPr>
              <a:t>描述如何实现系统内部的功能</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适用对象：分析者、设计者、开发者；</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描述使用的图：类图和对象图（</a:t>
            </a:r>
            <a:r>
              <a:rPr lang="zh-CN" altLang="en-US" dirty="0">
                <a:solidFill>
                  <a:srgbClr val="0070C0"/>
                </a:solidFill>
                <a:ea typeface="宋体" panose="02010600030101010101" pitchFamily="2" charset="-122"/>
              </a:rPr>
              <a:t>静态视图</a:t>
            </a:r>
            <a:r>
              <a:rPr lang="zh-CN" altLang="en-US" dirty="0">
                <a:ea typeface="宋体" panose="02010600030101010101" pitchFamily="2" charset="-122"/>
              </a:rPr>
              <a:t>）；状态图、时序图、协作图和活动图（</a:t>
            </a:r>
            <a:r>
              <a:rPr lang="zh-CN" altLang="en-US" dirty="0">
                <a:solidFill>
                  <a:srgbClr val="0070C0"/>
                </a:solidFill>
                <a:ea typeface="宋体" panose="02010600030101010101" pitchFamily="2" charset="-122"/>
              </a:rPr>
              <a:t>动态视图</a:t>
            </a:r>
            <a:r>
              <a:rPr lang="zh-CN" altLang="en-US" dirty="0">
                <a:ea typeface="宋体" panose="02010600030101010101" pitchFamily="2" charset="-122"/>
              </a:rPr>
              <a:t>）；</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重要性：描述了系统的静态结构和因发送消息而出现的动态协作关系。</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2765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28675"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3</a:t>
            </a:r>
            <a:r>
              <a:rPr lang="zh-CN" altLang="en-US" dirty="0">
                <a:ea typeface="宋体" panose="02010600030101010101" pitchFamily="2" charset="-122"/>
              </a:rPr>
              <a:t>．构件视图 </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作用：</a:t>
            </a:r>
            <a:r>
              <a:rPr lang="zh-CN" altLang="en-US" dirty="0">
                <a:solidFill>
                  <a:srgbClr val="FF0000"/>
                </a:solidFill>
                <a:ea typeface="宋体" panose="02010600030101010101" pitchFamily="2" charset="-122"/>
              </a:rPr>
              <a:t>描述系统代码构件组织和实现模块，及它们之间的依赖关系</a:t>
            </a:r>
            <a:r>
              <a:rPr lang="zh-CN" altLang="en-US" dirty="0">
                <a:ea typeface="宋体" panose="02010600030101010101" pitchFamily="2" charset="-122"/>
              </a:rPr>
              <a:t>；</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适用对象：设计者、开发者；</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描述使用的图：构件图；</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重要性：描述系统如何划分软件构件，如何进行编程。 </a:t>
            </a:r>
            <a:endParaRPr lang="zh-CN" altLang="en-US" dirty="0">
              <a:ea typeface="宋体" panose="02010600030101010101" pitchFamily="2" charset="-122"/>
            </a:endParaRPr>
          </a:p>
        </p:txBody>
      </p:sp>
      <p:sp>
        <p:nvSpPr>
          <p:cNvPr id="28676"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29699"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4</a:t>
            </a:r>
            <a:r>
              <a:rPr lang="zh-CN" altLang="en-US" dirty="0">
                <a:ea typeface="宋体" panose="02010600030101010101" pitchFamily="2" charset="-122"/>
              </a:rPr>
              <a:t>．进程视图（并发视图）</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作用：</a:t>
            </a:r>
            <a:r>
              <a:rPr lang="zh-CN" altLang="en-US" dirty="0">
                <a:solidFill>
                  <a:srgbClr val="FF0000"/>
                </a:solidFill>
                <a:ea typeface="宋体" panose="02010600030101010101" pitchFamily="2" charset="-122"/>
              </a:rPr>
              <a:t>描述系统的并发性，并处理这些线程间的通信和同步</a:t>
            </a:r>
            <a:r>
              <a:rPr lang="zh-CN" altLang="en-US" dirty="0">
                <a:ea typeface="宋体" panose="02010600030101010101" pitchFamily="2" charset="-122"/>
              </a:rPr>
              <a:t>；</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适用对象：开发者和系统集成者；</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描述使用的图：状态图、时序图、协作图、活动图、构件图和配置图；</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重要性：将系统分割成并发执行的控制线程及处理这些线程的通信和同步。 </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2970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0723"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5</a:t>
            </a:r>
            <a:r>
              <a:rPr lang="zh-CN" altLang="en-US" dirty="0">
                <a:ea typeface="宋体" panose="02010600030101010101" pitchFamily="2" charset="-122"/>
              </a:rPr>
              <a:t>．部署视图（配置视图）</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作用：</a:t>
            </a:r>
            <a:r>
              <a:rPr lang="zh-CN" altLang="en-US" dirty="0">
                <a:solidFill>
                  <a:srgbClr val="FF0000"/>
                </a:solidFill>
                <a:ea typeface="宋体" panose="02010600030101010101" pitchFamily="2" charset="-122"/>
              </a:rPr>
              <a:t>描述系统的物理设备配置，以及它们相互间的连接</a:t>
            </a:r>
            <a:r>
              <a:rPr lang="zh-CN" altLang="en-US" dirty="0">
                <a:ea typeface="宋体" panose="02010600030101010101" pitchFamily="2" charset="-122"/>
              </a:rPr>
              <a:t>；</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适用对象：开发者、系统集成者和测试者；</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描述使用的图：配置图；</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重要性：描述硬件设备的连接和哪个程序或对象驻留在哪台计算机上执行。</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30724"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1747"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31748" name="Group 4"/>
          <p:cNvGrpSpPr/>
          <p:nvPr/>
        </p:nvGrpSpPr>
        <p:grpSpPr>
          <a:xfrm>
            <a:off x="2268538" y="2997200"/>
            <a:ext cx="4113212" cy="2330450"/>
            <a:chOff x="768" y="960"/>
            <a:chExt cx="4128" cy="2304"/>
          </a:xfrm>
        </p:grpSpPr>
        <p:sp>
          <p:nvSpPr>
            <p:cNvPr id="31754" name="Rectangle 5"/>
            <p:cNvSpPr/>
            <p:nvPr/>
          </p:nvSpPr>
          <p:spPr>
            <a:xfrm>
              <a:off x="768" y="2160"/>
              <a:ext cx="2013" cy="1104"/>
            </a:xfrm>
            <a:prstGeom prst="rect">
              <a:avLst/>
            </a:prstGeom>
            <a:solidFill>
              <a:schemeClr val="bg1"/>
            </a:solidFill>
            <a:ln w="12700" cap="flat" cmpd="sng">
              <a:solidFill>
                <a:srgbClr val="5F5F5F"/>
              </a:solidFill>
              <a:prstDash val="solid"/>
              <a:miter/>
              <a:headEnd type="none" w="med" len="med"/>
              <a:tailEnd type="none" w="med" len="med"/>
            </a:ln>
          </p:spPr>
          <p:txBody>
            <a:bodyPr wrap="none"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400" dirty="0">
                <a:latin typeface="Times New Roman" panose="02020603050405020304" pitchFamily="18" charset="0"/>
                <a:ea typeface="楷体_GB2312" pitchFamily="49" charset="-122"/>
              </a:endParaRPr>
            </a:p>
          </p:txBody>
        </p:sp>
        <p:grpSp>
          <p:nvGrpSpPr>
            <p:cNvPr id="31755" name="Group 6"/>
            <p:cNvGrpSpPr/>
            <p:nvPr/>
          </p:nvGrpSpPr>
          <p:grpSpPr>
            <a:xfrm>
              <a:off x="768" y="960"/>
              <a:ext cx="4128" cy="2304"/>
              <a:chOff x="768" y="1056"/>
              <a:chExt cx="4128" cy="2304"/>
            </a:xfrm>
          </p:grpSpPr>
          <p:sp>
            <p:nvSpPr>
              <p:cNvPr id="31756" name="Rectangle 7"/>
              <p:cNvSpPr/>
              <p:nvPr/>
            </p:nvSpPr>
            <p:spPr>
              <a:xfrm>
                <a:off x="768" y="1056"/>
                <a:ext cx="2013" cy="1161"/>
              </a:xfrm>
              <a:prstGeom prst="rect">
                <a:avLst/>
              </a:prstGeom>
              <a:solidFill>
                <a:schemeClr val="bg1"/>
              </a:solidFill>
              <a:ln w="12700" cap="flat" cmpd="sng">
                <a:solidFill>
                  <a:srgbClr val="5F5F5F"/>
                </a:solidFill>
                <a:prstDash val="solid"/>
                <a:miter/>
                <a:headEnd type="none" w="med" len="med"/>
                <a:tailEnd type="none" w="med" len="med"/>
              </a:ln>
            </p:spPr>
            <p:txBody>
              <a:bodyPr wrap="none"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400" dirty="0">
                  <a:latin typeface="Times New Roman" panose="02020603050405020304" pitchFamily="18" charset="0"/>
                  <a:ea typeface="楷体_GB2312" pitchFamily="49" charset="-122"/>
                </a:endParaRPr>
              </a:p>
            </p:txBody>
          </p:sp>
          <p:sp>
            <p:nvSpPr>
              <p:cNvPr id="31757" name="Rectangle 8"/>
              <p:cNvSpPr/>
              <p:nvPr/>
            </p:nvSpPr>
            <p:spPr>
              <a:xfrm>
                <a:off x="1129" y="1412"/>
                <a:ext cx="1326" cy="305"/>
              </a:xfrm>
              <a:prstGeom prst="rect">
                <a:avLst/>
              </a:prstGeom>
              <a:solidFill>
                <a:schemeClr val="bg1"/>
              </a:solidFill>
              <a:ln w="9525">
                <a:noFill/>
              </a:ln>
            </p:spPr>
            <p:txBody>
              <a:bodyPr lIns="92075" tIns="46038" rIns="92075" bIns="46038">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spcBef>
                    <a:spcPct val="0"/>
                  </a:spcBef>
                  <a:buClrTx/>
                  <a:buSzTx/>
                  <a:buFontTx/>
                  <a:buNone/>
                </a:pPr>
                <a:r>
                  <a:rPr lang="en-US" altLang="ko-KR" sz="1400" dirty="0">
                    <a:latin typeface="Times New Roman" panose="02020603050405020304" pitchFamily="18" charset="0"/>
                    <a:ea typeface="Gulim" panose="020B0600000101010101" pitchFamily="34" charset="-127"/>
                  </a:rPr>
                  <a:t>Logical View</a:t>
                </a:r>
                <a:endParaRPr lang="en-US" altLang="ko-KR" sz="1400" dirty="0">
                  <a:latin typeface="Times New Roman" panose="02020603050405020304" pitchFamily="18" charset="0"/>
                  <a:ea typeface="Gulim" panose="020B0600000101010101" pitchFamily="34" charset="-127"/>
                </a:endParaRPr>
              </a:p>
            </p:txBody>
          </p:sp>
          <p:sp>
            <p:nvSpPr>
              <p:cNvPr id="31758" name="Rectangle 9"/>
              <p:cNvSpPr/>
              <p:nvPr/>
            </p:nvSpPr>
            <p:spPr>
              <a:xfrm>
                <a:off x="2832" y="1056"/>
                <a:ext cx="2064" cy="1161"/>
              </a:xfrm>
              <a:prstGeom prst="rect">
                <a:avLst/>
              </a:prstGeom>
              <a:solidFill>
                <a:schemeClr val="bg1"/>
              </a:solidFill>
              <a:ln w="12700" cap="flat" cmpd="sng">
                <a:solidFill>
                  <a:srgbClr val="5F5F5F"/>
                </a:solidFill>
                <a:prstDash val="solid"/>
                <a:miter/>
                <a:headEnd type="none" w="med" len="med"/>
                <a:tailEnd type="none" w="med" len="med"/>
              </a:ln>
            </p:spPr>
            <p:txBody>
              <a:bodyPr wrap="none"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400" dirty="0">
                  <a:latin typeface="Times New Roman" panose="02020603050405020304" pitchFamily="18" charset="0"/>
                  <a:ea typeface="楷体_GB2312" pitchFamily="49" charset="-122"/>
                </a:endParaRPr>
              </a:p>
            </p:txBody>
          </p:sp>
          <p:sp>
            <p:nvSpPr>
              <p:cNvPr id="31759" name="Rectangle 10"/>
              <p:cNvSpPr/>
              <p:nvPr/>
            </p:nvSpPr>
            <p:spPr>
              <a:xfrm>
                <a:off x="3024" y="1392"/>
                <a:ext cx="1872" cy="305"/>
              </a:xfrm>
              <a:prstGeom prst="rect">
                <a:avLst/>
              </a:prstGeom>
              <a:noFill/>
              <a:ln w="9525">
                <a:noFill/>
              </a:ln>
            </p:spPr>
            <p:txBody>
              <a:bodyPr lIns="92075" tIns="46038" rIns="92075" bIns="46038">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spcBef>
                    <a:spcPct val="0"/>
                  </a:spcBef>
                  <a:buClrTx/>
                  <a:buSzTx/>
                  <a:buFontTx/>
                  <a:buNone/>
                </a:pPr>
                <a:r>
                  <a:rPr lang="en-US" altLang="ko-KR" sz="1400" dirty="0">
                    <a:latin typeface="Times New Roman" panose="02020603050405020304" pitchFamily="18" charset="0"/>
                    <a:ea typeface="Gulim" panose="020B0600000101010101" pitchFamily="34" charset="-127"/>
                  </a:rPr>
                  <a:t>Implementation View</a:t>
                </a:r>
                <a:endParaRPr lang="en-US" altLang="ko-KR" sz="1400" dirty="0">
                  <a:latin typeface="Times New Roman" panose="02020603050405020304" pitchFamily="18" charset="0"/>
                  <a:ea typeface="Gulim" panose="020B0600000101010101" pitchFamily="34" charset="-127"/>
                </a:endParaRPr>
              </a:p>
            </p:txBody>
          </p:sp>
          <p:sp>
            <p:nvSpPr>
              <p:cNvPr id="31760" name="Rectangle 11"/>
              <p:cNvSpPr/>
              <p:nvPr/>
            </p:nvSpPr>
            <p:spPr>
              <a:xfrm>
                <a:off x="1129" y="2656"/>
                <a:ext cx="1367" cy="305"/>
              </a:xfrm>
              <a:prstGeom prst="rect">
                <a:avLst/>
              </a:prstGeom>
              <a:solidFill>
                <a:schemeClr val="bg1"/>
              </a:solidFill>
              <a:ln w="9525">
                <a:noFill/>
              </a:ln>
            </p:spPr>
            <p:txBody>
              <a:bodyPr lIns="92075" tIns="46038" rIns="92075" bIns="46038">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spcBef>
                    <a:spcPct val="0"/>
                  </a:spcBef>
                  <a:buClrTx/>
                  <a:buSzTx/>
                  <a:buFontTx/>
                  <a:buNone/>
                </a:pPr>
                <a:r>
                  <a:rPr lang="en-US" altLang="ko-KR" sz="1400" dirty="0">
                    <a:latin typeface="Times New Roman" panose="02020603050405020304" pitchFamily="18" charset="0"/>
                    <a:ea typeface="Gulim" panose="020B0600000101010101" pitchFamily="34" charset="-127"/>
                  </a:rPr>
                  <a:t>Process View</a:t>
                </a:r>
                <a:endParaRPr lang="en-US" altLang="ko-KR" sz="1400" dirty="0">
                  <a:latin typeface="Times New Roman" panose="02020603050405020304" pitchFamily="18" charset="0"/>
                  <a:ea typeface="Gulim" panose="020B0600000101010101" pitchFamily="34" charset="-127"/>
                </a:endParaRPr>
              </a:p>
            </p:txBody>
          </p:sp>
          <p:sp>
            <p:nvSpPr>
              <p:cNvPr id="31761" name="Rectangle 12"/>
              <p:cNvSpPr/>
              <p:nvPr/>
            </p:nvSpPr>
            <p:spPr>
              <a:xfrm>
                <a:off x="2834" y="2256"/>
                <a:ext cx="2062" cy="1104"/>
              </a:xfrm>
              <a:prstGeom prst="rect">
                <a:avLst/>
              </a:prstGeom>
              <a:solidFill>
                <a:schemeClr val="bg1"/>
              </a:solidFill>
              <a:ln w="12700" cap="flat" cmpd="sng">
                <a:solidFill>
                  <a:srgbClr val="5F5F5F"/>
                </a:solidFill>
                <a:prstDash val="solid"/>
                <a:miter/>
                <a:headEnd type="none" w="med" len="med"/>
                <a:tailEnd type="none" w="med" len="med"/>
              </a:ln>
            </p:spPr>
            <p:txBody>
              <a:bodyPr wrap="none"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400" dirty="0">
                  <a:latin typeface="Times New Roman" panose="02020603050405020304" pitchFamily="18" charset="0"/>
                  <a:ea typeface="楷体_GB2312" pitchFamily="49" charset="-122"/>
                </a:endParaRPr>
              </a:p>
            </p:txBody>
          </p:sp>
          <p:sp>
            <p:nvSpPr>
              <p:cNvPr id="31762" name="Rectangle 13"/>
              <p:cNvSpPr/>
              <p:nvPr/>
            </p:nvSpPr>
            <p:spPr>
              <a:xfrm>
                <a:off x="3018" y="2656"/>
                <a:ext cx="1686" cy="305"/>
              </a:xfrm>
              <a:prstGeom prst="rect">
                <a:avLst/>
              </a:prstGeom>
              <a:solidFill>
                <a:schemeClr val="bg1"/>
              </a:solidFill>
              <a:ln w="9525">
                <a:noFill/>
              </a:ln>
            </p:spPr>
            <p:txBody>
              <a:bodyPr lIns="92075" tIns="46038" rIns="92075" bIns="46038">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spcBef>
                    <a:spcPct val="0"/>
                  </a:spcBef>
                  <a:buClrTx/>
                  <a:buSzTx/>
                  <a:buFontTx/>
                  <a:buNone/>
                </a:pPr>
                <a:r>
                  <a:rPr lang="en-US" altLang="ko-KR" sz="1400" dirty="0">
                    <a:latin typeface="Times New Roman" panose="02020603050405020304" pitchFamily="18" charset="0"/>
                    <a:ea typeface="Gulim" panose="020B0600000101010101" pitchFamily="34" charset="-127"/>
                  </a:rPr>
                  <a:t>Deployment View</a:t>
                </a:r>
                <a:endParaRPr lang="en-US" altLang="ko-KR" sz="1400" dirty="0">
                  <a:latin typeface="Times New Roman" panose="02020603050405020304" pitchFamily="18" charset="0"/>
                  <a:ea typeface="Gulim" panose="020B0600000101010101" pitchFamily="34" charset="-127"/>
                </a:endParaRPr>
              </a:p>
            </p:txBody>
          </p:sp>
          <p:sp>
            <p:nvSpPr>
              <p:cNvPr id="31763" name="Oval 14"/>
              <p:cNvSpPr/>
              <p:nvPr/>
            </p:nvSpPr>
            <p:spPr>
              <a:xfrm>
                <a:off x="1913" y="1712"/>
                <a:ext cx="1783" cy="954"/>
              </a:xfrm>
              <a:prstGeom prst="ellipse">
                <a:avLst/>
              </a:prstGeom>
              <a:solidFill>
                <a:srgbClr val="FFFF99"/>
              </a:solidFill>
              <a:ln w="12700" cap="flat" cmpd="sng">
                <a:solidFill>
                  <a:srgbClr val="5F5F5F"/>
                </a:solidFill>
                <a:prstDash val="solid"/>
                <a:headEnd type="none" w="med" len="med"/>
                <a:tailEnd type="none" w="med" len="med"/>
              </a:ln>
            </p:spPr>
            <p:txBody>
              <a:bodyPr wrap="none"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400" dirty="0">
                  <a:latin typeface="Times New Roman" panose="02020603050405020304" pitchFamily="18" charset="0"/>
                  <a:ea typeface="楷体_GB2312" pitchFamily="49" charset="-122"/>
                </a:endParaRPr>
              </a:p>
            </p:txBody>
          </p:sp>
          <p:sp>
            <p:nvSpPr>
              <p:cNvPr id="31764" name="Rectangle 15"/>
              <p:cNvSpPr/>
              <p:nvPr/>
            </p:nvSpPr>
            <p:spPr>
              <a:xfrm>
                <a:off x="2112" y="2016"/>
                <a:ext cx="1480" cy="305"/>
              </a:xfrm>
              <a:prstGeom prst="rect">
                <a:avLst/>
              </a:prstGeom>
              <a:noFill/>
              <a:ln w="9525">
                <a:noFill/>
              </a:ln>
            </p:spPr>
            <p:txBody>
              <a:bodyPr lIns="92075" tIns="46038" rIns="92075" bIns="46038">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stStyle>
              <a:p>
                <a:pPr marL="0" lvl="0" indent="0">
                  <a:spcBef>
                    <a:spcPct val="0"/>
                  </a:spcBef>
                  <a:buClrTx/>
                  <a:buSzTx/>
                  <a:buFontTx/>
                  <a:buNone/>
                </a:pPr>
                <a:r>
                  <a:rPr lang="en-US" altLang="ko-KR" sz="1400" dirty="0">
                    <a:latin typeface="Times New Roman" panose="02020603050405020304" pitchFamily="18" charset="0"/>
                    <a:ea typeface="Gulim" panose="020B0600000101010101" pitchFamily="34" charset="-127"/>
                  </a:rPr>
                  <a:t>Use Case View</a:t>
                </a:r>
                <a:endParaRPr lang="en-US" altLang="ko-KR" sz="1400" dirty="0">
                  <a:latin typeface="Times New Roman" panose="02020603050405020304" pitchFamily="18" charset="0"/>
                  <a:ea typeface="Gulim" panose="020B0600000101010101" pitchFamily="34" charset="-127"/>
                </a:endParaRPr>
              </a:p>
            </p:txBody>
          </p:sp>
        </p:grpSp>
      </p:grpSp>
      <p:sp>
        <p:nvSpPr>
          <p:cNvPr id="17" name="AutoShape 16"/>
          <p:cNvSpPr>
            <a:spLocks noChangeArrowheads="1"/>
          </p:cNvSpPr>
          <p:nvPr/>
        </p:nvSpPr>
        <p:spPr bwMode="auto">
          <a:xfrm>
            <a:off x="3708400" y="1484313"/>
            <a:ext cx="2519363" cy="720725"/>
          </a:xfrm>
          <a:prstGeom prst="wedgeRectCallout">
            <a:avLst>
              <a:gd name="adj1" fmla="val -35739"/>
              <a:gd name="adj2" fmla="val 281406"/>
            </a:avLst>
          </a:prstGeom>
          <a:solidFill>
            <a:srgbClr val="FFC000"/>
          </a:solidFill>
          <a:ln w="9525">
            <a:solidFill>
              <a:schemeClr val="bg2"/>
            </a:solidFill>
            <a:miter lim="800000"/>
          </a:ln>
          <a:effectLst>
            <a:outerShdw dist="35921" dir="2700000" algn="ctr" rotWithShape="0">
              <a:schemeClr val="bg2"/>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用例视图描述系统的外部特性、系统功能等。</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18" name="AutoShape 17"/>
          <p:cNvSpPr>
            <a:spLocks noChangeArrowheads="1"/>
          </p:cNvSpPr>
          <p:nvPr/>
        </p:nvSpPr>
        <p:spPr bwMode="auto">
          <a:xfrm>
            <a:off x="323850" y="2097088"/>
            <a:ext cx="1827213" cy="2268538"/>
          </a:xfrm>
          <a:prstGeom prst="wedgeRectCallout">
            <a:avLst>
              <a:gd name="adj1" fmla="val 104560"/>
              <a:gd name="adj2" fmla="val -4653"/>
            </a:avLst>
          </a:prstGeom>
          <a:solidFill>
            <a:srgbClr val="FFC000"/>
          </a:solidFill>
          <a:ln w="9525">
            <a:solidFill>
              <a:schemeClr val="bg2"/>
            </a:solidFill>
            <a:miter lim="800000"/>
          </a:ln>
          <a:effectLst>
            <a:outerShdw dist="35921" dir="2700000" algn="ctr" rotWithShape="0">
              <a:schemeClr val="bg2"/>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逻辑视图描述系统设计特征，包括结构模型视图和行为模型视图，前者描述系统的静态结构，后者描述系统的动态行为。</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19" name="AutoShape 18"/>
          <p:cNvSpPr>
            <a:spLocks noChangeArrowheads="1"/>
          </p:cNvSpPr>
          <p:nvPr/>
        </p:nvSpPr>
        <p:spPr bwMode="auto">
          <a:xfrm>
            <a:off x="6732588" y="2565400"/>
            <a:ext cx="1368425" cy="946150"/>
          </a:xfrm>
          <a:prstGeom prst="wedgeRectCallout">
            <a:avLst>
              <a:gd name="adj1" fmla="val -160705"/>
              <a:gd name="adj2" fmla="val 13643"/>
            </a:avLst>
          </a:prstGeom>
          <a:solidFill>
            <a:srgbClr val="FFC000"/>
          </a:solidFill>
          <a:ln w="9525">
            <a:solidFill>
              <a:schemeClr val="bg2"/>
            </a:solidFill>
            <a:miter lim="800000"/>
          </a:ln>
          <a:effectLst>
            <a:outerShdw dist="35921" dir="2700000" algn="ctr" rotWithShape="0">
              <a:schemeClr val="bg2"/>
            </a:outerShdw>
          </a:effectLst>
        </p:spPr>
        <p:txBody>
          <a:bodyPr/>
          <a:lstStyle/>
          <a:p>
            <a:pPr marL="0" marR="0" lvl="0" indent="0" algn="l" defTabSz="914400" rtl="0" eaLnBrk="1" fontAlgn="base" latinLnBrk="0" hangingPunct="1">
              <a:lnSpc>
                <a:spcPct val="110000"/>
              </a:lnSpc>
              <a:spcBef>
                <a:spcPct val="40000"/>
              </a:spcBef>
              <a:spcAft>
                <a:spcPct val="0"/>
              </a:spcAft>
              <a:buClrTx/>
              <a:buSzTx/>
              <a:buFontTx/>
              <a:buNone/>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构件视图表示系统的实现特征。</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20" name="AutoShape 20"/>
          <p:cNvSpPr>
            <a:spLocks noChangeArrowheads="1"/>
          </p:cNvSpPr>
          <p:nvPr/>
        </p:nvSpPr>
        <p:spPr bwMode="auto">
          <a:xfrm flipH="1">
            <a:off x="5219700" y="5589588"/>
            <a:ext cx="2808288" cy="719138"/>
          </a:xfrm>
          <a:prstGeom prst="wedgeRectCallout">
            <a:avLst>
              <a:gd name="adj1" fmla="val 36491"/>
              <a:gd name="adj2" fmla="val -127120"/>
            </a:avLst>
          </a:prstGeom>
          <a:solidFill>
            <a:srgbClr val="FFC000"/>
          </a:solidFill>
          <a:ln w="9525">
            <a:solidFill>
              <a:schemeClr val="bg2"/>
            </a:solidFill>
            <a:miter lim="800000"/>
          </a:ln>
          <a:effectLst>
            <a:outerShdw dist="35921" dir="2700000" algn="ctr" rotWithShape="0">
              <a:schemeClr val="bg2"/>
            </a:outerShdw>
          </a:effectLst>
        </p:spPr>
        <p:txBody>
          <a:bodyPr/>
          <a:lstStyle/>
          <a:p>
            <a:pPr marL="0" marR="0" lvl="0" indent="0" algn="l" defTabSz="914400" rtl="0" eaLnBrk="1" fontAlgn="base" latinLnBrk="0" hangingPunct="1">
              <a:lnSpc>
                <a:spcPct val="110000"/>
              </a:lnSpc>
              <a:spcBef>
                <a:spcPct val="40000"/>
              </a:spcBef>
              <a:spcAft>
                <a:spcPct val="0"/>
              </a:spcAft>
              <a:buClrTx/>
              <a:buSzTx/>
              <a:buFontTx/>
              <a:buNone/>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配置视图描述系统的物理配置特征。</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21" name="AutoShape 19"/>
          <p:cNvSpPr>
            <a:spLocks noChangeArrowheads="1"/>
          </p:cNvSpPr>
          <p:nvPr/>
        </p:nvSpPr>
        <p:spPr bwMode="auto">
          <a:xfrm>
            <a:off x="971550" y="5516563"/>
            <a:ext cx="3240088" cy="720725"/>
          </a:xfrm>
          <a:prstGeom prst="wedgeRectCallout">
            <a:avLst>
              <a:gd name="adj1" fmla="val 40364"/>
              <a:gd name="adj2" fmla="val -100523"/>
            </a:avLst>
          </a:prstGeom>
          <a:solidFill>
            <a:srgbClr val="FFC000"/>
          </a:solidFill>
          <a:ln w="9525">
            <a:solidFill>
              <a:schemeClr val="bg2"/>
            </a:solidFill>
            <a:miter lim="800000"/>
          </a:ln>
          <a:effectLst>
            <a:outerShdw dist="35921" dir="2700000" algn="ctr" rotWithShape="0">
              <a:schemeClr val="bg2"/>
            </a:outerShdw>
          </a:effectLst>
        </p:spPr>
        <p:txBody>
          <a:bodyPr/>
          <a:lstStyle/>
          <a:p>
            <a:pPr marL="0" marR="0" lvl="0" indent="0" algn="l" defTabSz="914400" rtl="0" eaLnBrk="1" fontAlgn="base" latinLnBrk="0" hangingPunct="1">
              <a:lnSpc>
                <a:spcPct val="110000"/>
              </a:lnSpc>
              <a:spcBef>
                <a:spcPct val="40000"/>
              </a:spcBef>
              <a:spcAft>
                <a:spcPct val="0"/>
              </a:spcAft>
              <a:buClrTx/>
              <a:buSzTx/>
              <a:buFontTx/>
              <a:buNone/>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进程视图表示系统内部的控制机制。</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righ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down)">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79877" name="Picture 4" descr="mxsj_12"/>
          <p:cNvPicPr>
            <a:picLocks noGrp="1" noChangeAspect="1"/>
          </p:cNvPicPr>
          <p:nvPr>
            <p:ph idx="1"/>
          </p:nvPr>
        </p:nvPicPr>
        <p:blipFill>
          <a:blip r:embed="rId1"/>
          <a:stretch>
            <a:fillRect/>
          </a:stretch>
        </p:blipFill>
        <p:spPr>
          <a:xfrm>
            <a:off x="4284980" y="693420"/>
            <a:ext cx="4248150" cy="5858510"/>
          </a:xfrm>
        </p:spPr>
      </p:pic>
      <p:sp>
        <p:nvSpPr>
          <p:cNvPr id="4" name="文本框 3"/>
          <p:cNvSpPr txBox="1"/>
          <p:nvPr/>
        </p:nvSpPr>
        <p:spPr>
          <a:xfrm>
            <a:off x="438150" y="1412875"/>
            <a:ext cx="3846830" cy="5238750"/>
          </a:xfrm>
          <a:prstGeom prst="rect">
            <a:avLst/>
          </a:prstGeom>
          <a:noFill/>
        </p:spPr>
        <p:txBody>
          <a:bodyPr wrap="square" rtlCol="0">
            <a:spAutoFit/>
          </a:bodyPr>
          <a:lstStyle/>
          <a:p>
            <a:pPr>
              <a:lnSpc>
                <a:spcPct val="150000"/>
              </a:lnSpc>
              <a:spcAft>
                <a:spcPts val="600"/>
              </a:spcAft>
            </a:pPr>
            <a:r>
              <a:rPr lang="en-US" altLang="zh-CN" dirty="0"/>
              <a:t>UML</a:t>
            </a:r>
            <a:r>
              <a:rPr lang="zh-CN" altLang="en-US" dirty="0"/>
              <a:t>结构图</a:t>
            </a:r>
            <a:endParaRPr lang="zh-CN" altLang="en-US" dirty="0"/>
          </a:p>
          <a:p>
            <a:pPr marL="342900" indent="-342900" eaLnBrk="1" hangingPunct="1">
              <a:lnSpc>
                <a:spcPct val="80000"/>
              </a:lnSpc>
              <a:buFont typeface="Wingdings" panose="05000000000000000000" charset="0"/>
              <a:buChar char=""/>
            </a:pPr>
            <a:r>
              <a:rPr lang="en-US" altLang="zh-CN" sz="2400" dirty="0">
                <a:sym typeface="+mn-ea"/>
              </a:rPr>
              <a:t>UML</a:t>
            </a:r>
            <a:r>
              <a:rPr lang="zh-CN" altLang="en-US" sz="2400" dirty="0">
                <a:sym typeface="+mn-ea"/>
              </a:rPr>
              <a:t>中有三种基本构造块，分别是事物、关系和图。 </a:t>
            </a:r>
            <a:endParaRPr lang="zh-CN" altLang="en-US" sz="2400" dirty="0"/>
          </a:p>
          <a:p>
            <a:pPr eaLnBrk="1" hangingPunct="1">
              <a:lnSpc>
                <a:spcPct val="80000"/>
              </a:lnSpc>
            </a:pPr>
            <a:endParaRPr lang="zh-CN" altLang="en-US" sz="2400" dirty="0"/>
          </a:p>
          <a:p>
            <a:pPr marL="342900" indent="-342900" eaLnBrk="1" hangingPunct="1">
              <a:lnSpc>
                <a:spcPct val="80000"/>
              </a:lnSpc>
              <a:buFont typeface="Wingdings" panose="05000000000000000000" charset="0"/>
              <a:buChar char=""/>
            </a:pPr>
            <a:r>
              <a:rPr lang="zh-CN" altLang="en-US" sz="2400" dirty="0">
                <a:sym typeface="+mn-ea"/>
              </a:rPr>
              <a:t>事物分</a:t>
            </a:r>
            <a:r>
              <a:rPr lang="zh-CN" altLang="en-US" sz="2400" dirty="0">
                <a:solidFill>
                  <a:srgbClr val="FF0000"/>
                </a:solidFill>
                <a:sym typeface="+mn-ea"/>
              </a:rPr>
              <a:t>结构事物</a:t>
            </a:r>
            <a:r>
              <a:rPr lang="zh-CN" altLang="en-US" sz="2400" dirty="0">
                <a:sym typeface="+mn-ea"/>
              </a:rPr>
              <a:t>（包括类、接口、协作、用况、主动类、构件和节点）、</a:t>
            </a:r>
            <a:r>
              <a:rPr lang="zh-CN" altLang="en-US" sz="2400" dirty="0">
                <a:solidFill>
                  <a:srgbClr val="FF0000"/>
                </a:solidFill>
                <a:sym typeface="+mn-ea"/>
              </a:rPr>
              <a:t>行为事物</a:t>
            </a:r>
            <a:r>
              <a:rPr lang="zh-CN" altLang="en-US" sz="2400" dirty="0">
                <a:sym typeface="+mn-ea"/>
              </a:rPr>
              <a:t>（包括交互和状态机）、</a:t>
            </a:r>
            <a:r>
              <a:rPr lang="zh-CN" altLang="en-US" sz="2400" dirty="0">
                <a:solidFill>
                  <a:srgbClr val="FF0000"/>
                </a:solidFill>
                <a:sym typeface="+mn-ea"/>
              </a:rPr>
              <a:t>分组事物</a:t>
            </a:r>
            <a:r>
              <a:rPr lang="zh-CN" altLang="en-US" sz="2400" dirty="0">
                <a:sym typeface="+mn-ea"/>
              </a:rPr>
              <a:t>（包）和</a:t>
            </a:r>
            <a:r>
              <a:rPr lang="zh-CN" altLang="en-US" sz="2400" dirty="0">
                <a:solidFill>
                  <a:srgbClr val="FF0000"/>
                </a:solidFill>
                <a:sym typeface="+mn-ea"/>
              </a:rPr>
              <a:t>注释事物</a:t>
            </a:r>
            <a:r>
              <a:rPr lang="zh-CN" altLang="en-US" sz="2400" dirty="0">
                <a:sym typeface="+mn-ea"/>
              </a:rPr>
              <a:t>（注解）。</a:t>
            </a:r>
            <a:endParaRPr lang="zh-CN" altLang="en-US" sz="2400" dirty="0"/>
          </a:p>
          <a:p>
            <a:pPr eaLnBrk="1" hangingPunct="1">
              <a:lnSpc>
                <a:spcPct val="80000"/>
              </a:lnSpc>
            </a:pPr>
            <a:endParaRPr lang="zh-CN" altLang="en-US" sz="2400" dirty="0"/>
          </a:p>
          <a:p>
            <a:pPr marL="342900" indent="-342900" eaLnBrk="1" hangingPunct="1">
              <a:lnSpc>
                <a:spcPct val="80000"/>
              </a:lnSpc>
              <a:buFont typeface="Wingdings" panose="05000000000000000000" charset="0"/>
              <a:buChar char=""/>
            </a:pPr>
            <a:r>
              <a:rPr lang="en-US" altLang="zh-CN" sz="2400" dirty="0">
                <a:sym typeface="+mn-ea"/>
              </a:rPr>
              <a:t>UML</a:t>
            </a:r>
            <a:r>
              <a:rPr lang="zh-CN" altLang="en-US" sz="2400" dirty="0">
                <a:sym typeface="+mn-ea"/>
              </a:rPr>
              <a:t>中有四种关系，分别是</a:t>
            </a:r>
            <a:r>
              <a:rPr lang="zh-CN" altLang="en-US" sz="2400" dirty="0">
                <a:solidFill>
                  <a:srgbClr val="FF0000"/>
                </a:solidFill>
                <a:sym typeface="+mn-ea"/>
              </a:rPr>
              <a:t>依赖</a:t>
            </a:r>
            <a:r>
              <a:rPr lang="zh-CN" altLang="en-US" sz="2400" dirty="0">
                <a:sym typeface="+mn-ea"/>
              </a:rPr>
              <a:t>、</a:t>
            </a:r>
            <a:r>
              <a:rPr lang="zh-CN" altLang="en-US" sz="2400" dirty="0">
                <a:solidFill>
                  <a:srgbClr val="FF0000"/>
                </a:solidFill>
                <a:sym typeface="+mn-ea"/>
              </a:rPr>
              <a:t>关联</a:t>
            </a:r>
            <a:r>
              <a:rPr lang="zh-CN" altLang="en-US" sz="2400" dirty="0">
                <a:sym typeface="+mn-ea"/>
              </a:rPr>
              <a:t>、</a:t>
            </a:r>
            <a:r>
              <a:rPr lang="zh-CN" altLang="en-US" sz="2400" dirty="0">
                <a:solidFill>
                  <a:srgbClr val="FF0000"/>
                </a:solidFill>
                <a:sym typeface="+mn-ea"/>
              </a:rPr>
              <a:t>泛化</a:t>
            </a:r>
            <a:r>
              <a:rPr lang="zh-CN" altLang="en-US" sz="2400" dirty="0">
                <a:sym typeface="+mn-ea"/>
              </a:rPr>
              <a:t>和</a:t>
            </a:r>
            <a:r>
              <a:rPr lang="zh-CN" altLang="en-US" sz="2400" dirty="0">
                <a:solidFill>
                  <a:srgbClr val="FF0000"/>
                </a:solidFill>
                <a:sym typeface="+mn-ea"/>
              </a:rPr>
              <a:t>实现</a:t>
            </a:r>
            <a:r>
              <a:rPr lang="zh-CN" altLang="en-US" sz="2400" dirty="0">
                <a:sym typeface="+mn-ea"/>
              </a:rPr>
              <a:t>关系。</a:t>
            </a:r>
            <a:endParaRPr lang="zh-CN" altLang="en-US" sz="2400" dirty="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79877" name="Picture 4" descr="mxsj_12"/>
          <p:cNvPicPr>
            <a:picLocks noGrp="1" noChangeAspect="1"/>
          </p:cNvPicPr>
          <p:nvPr>
            <p:ph idx="1"/>
          </p:nvPr>
        </p:nvPicPr>
        <p:blipFill>
          <a:blip r:embed="rId1"/>
          <a:srcRect b="47160"/>
          <a:stretch>
            <a:fillRect/>
          </a:stretch>
        </p:blipFill>
        <p:spPr>
          <a:xfrm>
            <a:off x="4427855" y="274955"/>
            <a:ext cx="4248150" cy="3095625"/>
          </a:xfrm>
        </p:spPr>
      </p:pic>
      <p:sp>
        <p:nvSpPr>
          <p:cNvPr id="4" name="文本框 3"/>
          <p:cNvSpPr txBox="1"/>
          <p:nvPr/>
        </p:nvSpPr>
        <p:spPr>
          <a:xfrm>
            <a:off x="323850" y="1772920"/>
            <a:ext cx="3846830" cy="1635760"/>
          </a:xfrm>
          <a:prstGeom prst="rect">
            <a:avLst/>
          </a:prstGeom>
          <a:noFill/>
        </p:spPr>
        <p:txBody>
          <a:bodyPr wrap="square" rtlCol="0">
            <a:spAutoFit/>
          </a:bodyPr>
          <a:lstStyle/>
          <a:p>
            <a:pPr>
              <a:lnSpc>
                <a:spcPct val="150000"/>
              </a:lnSpc>
              <a:spcAft>
                <a:spcPts val="600"/>
              </a:spcAft>
            </a:pPr>
            <a:r>
              <a:rPr lang="zh-CN" altLang="en-US" sz="1800">
                <a:solidFill>
                  <a:srgbClr val="C00000"/>
                </a:solidFill>
              </a:rPr>
              <a:t>结构事物</a:t>
            </a:r>
            <a:r>
              <a:rPr lang="zh-CN" altLang="en-US" sz="1800"/>
              <a:t>是模型中的静态部分，用以呈现概念或实体的表现元素，是软件建模中最常见的元素，共有以下七种：</a:t>
            </a:r>
            <a:endParaRPr lang="zh-CN" altLang="en-US" sz="1800"/>
          </a:p>
          <a:p>
            <a:pPr marL="342900" indent="-342900" eaLnBrk="1" hangingPunct="1">
              <a:lnSpc>
                <a:spcPct val="80000"/>
              </a:lnSpc>
              <a:buFont typeface="Wingdings" panose="05000000000000000000" charset="0"/>
              <a:buChar char=""/>
            </a:pPr>
            <a:endParaRPr lang="zh-CN" altLang="en-US" sz="1800" dirty="0">
              <a:sym typeface="+mn-ea"/>
            </a:endParaRPr>
          </a:p>
        </p:txBody>
      </p:sp>
      <p:sp>
        <p:nvSpPr>
          <p:cNvPr id="3" name="文本框 2"/>
          <p:cNvSpPr txBox="1"/>
          <p:nvPr/>
        </p:nvSpPr>
        <p:spPr>
          <a:xfrm>
            <a:off x="251460" y="3501390"/>
            <a:ext cx="8496300" cy="3207385"/>
          </a:xfrm>
          <a:prstGeom prst="rect">
            <a:avLst/>
          </a:prstGeom>
          <a:noFill/>
        </p:spPr>
        <p:txBody>
          <a:bodyPr wrap="square" rtlCol="0" anchor="t">
            <a:noAutofit/>
          </a:bodyPr>
          <a:lstStyle/>
          <a:p>
            <a:pPr>
              <a:lnSpc>
                <a:spcPct val="150000"/>
              </a:lnSpc>
              <a:spcAft>
                <a:spcPts val="600"/>
              </a:spcAft>
            </a:pPr>
            <a:r>
              <a:rPr lang="zh-CN" altLang="en-US" sz="1800" b="1">
                <a:sym typeface="+mn-ea"/>
              </a:rPr>
              <a:t>类：</a:t>
            </a:r>
            <a:r>
              <a:rPr lang="zh-CN" altLang="en-US" sz="1800">
                <a:sym typeface="+mn-ea"/>
              </a:rPr>
              <a:t>类是指具有相同属性、方法、关系和语义的对象的集合；</a:t>
            </a:r>
            <a:endParaRPr lang="zh-CN" altLang="en-US" sz="1800"/>
          </a:p>
          <a:p>
            <a:pPr>
              <a:lnSpc>
                <a:spcPct val="150000"/>
              </a:lnSpc>
              <a:spcAft>
                <a:spcPts val="600"/>
              </a:spcAft>
            </a:pPr>
            <a:r>
              <a:rPr lang="zh-CN" altLang="en-US" sz="1800" b="1">
                <a:sym typeface="+mn-ea"/>
              </a:rPr>
              <a:t>接口：</a:t>
            </a:r>
            <a:r>
              <a:rPr lang="zh-CN" altLang="en-US" sz="1800">
                <a:sym typeface="+mn-ea"/>
              </a:rPr>
              <a:t>接口是指类或组件所提供的服务（操作），描述了类或组件对外可见的动作；</a:t>
            </a:r>
            <a:endParaRPr lang="zh-CN" altLang="en-US" sz="1800"/>
          </a:p>
          <a:p>
            <a:pPr>
              <a:lnSpc>
                <a:spcPct val="150000"/>
              </a:lnSpc>
              <a:spcAft>
                <a:spcPts val="600"/>
              </a:spcAft>
            </a:pPr>
            <a:r>
              <a:rPr lang="zh-CN" altLang="en-US" sz="1800" b="1">
                <a:sym typeface="+mn-ea"/>
              </a:rPr>
              <a:t>协作：</a:t>
            </a:r>
            <a:r>
              <a:rPr lang="zh-CN" altLang="en-US" sz="1800">
                <a:sym typeface="+mn-ea"/>
              </a:rPr>
              <a:t>协作描述合作完成某个特定任务的一组类及其关联的集合，用于对使用情形的实现建模；</a:t>
            </a:r>
            <a:endParaRPr lang="zh-CN" altLang="en-US" sz="1800"/>
          </a:p>
          <a:p>
            <a:pPr>
              <a:lnSpc>
                <a:spcPct val="150000"/>
              </a:lnSpc>
              <a:spcAft>
                <a:spcPts val="600"/>
              </a:spcAft>
            </a:pPr>
            <a:r>
              <a:rPr lang="zh-CN" altLang="en-US" sz="1800" b="1">
                <a:sym typeface="+mn-ea"/>
              </a:rPr>
              <a:t>用例：</a:t>
            </a:r>
            <a:r>
              <a:rPr lang="zh-CN" altLang="en-US" sz="1800">
                <a:sym typeface="+mn-ea"/>
              </a:rPr>
              <a:t>用例定义了执行者（在系统外部和系统交互的人）和被考虑的系统之间的交互来实现的一个业务目标；</a:t>
            </a:r>
            <a:endParaRPr lang="zh-CN" altLang="en-US" sz="1800"/>
          </a:p>
          <a:p>
            <a:pPr marL="342900" indent="-342900" eaLnBrk="1" hangingPunct="1">
              <a:lnSpc>
                <a:spcPct val="80000"/>
              </a:lnSpc>
              <a:buFont typeface="Wingdings" panose="05000000000000000000" charset="0"/>
              <a:buChar char=""/>
            </a:pPr>
            <a:endParaRPr lang="zh-CN" alt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79877" name="Picture 4" descr="mxsj_12"/>
          <p:cNvPicPr>
            <a:picLocks noGrp="1" noChangeAspect="1"/>
          </p:cNvPicPr>
          <p:nvPr>
            <p:ph idx="1"/>
          </p:nvPr>
        </p:nvPicPr>
        <p:blipFill>
          <a:blip r:embed="rId1"/>
          <a:srcRect b="47160"/>
          <a:stretch>
            <a:fillRect/>
          </a:stretch>
        </p:blipFill>
        <p:spPr>
          <a:xfrm>
            <a:off x="4427855" y="274955"/>
            <a:ext cx="4248150" cy="3095625"/>
          </a:xfrm>
        </p:spPr>
      </p:pic>
      <p:sp>
        <p:nvSpPr>
          <p:cNvPr id="4" name="文本框 3"/>
          <p:cNvSpPr txBox="1"/>
          <p:nvPr/>
        </p:nvSpPr>
        <p:spPr>
          <a:xfrm>
            <a:off x="323850" y="1772920"/>
            <a:ext cx="3846830" cy="1635760"/>
          </a:xfrm>
          <a:prstGeom prst="rect">
            <a:avLst/>
          </a:prstGeom>
          <a:noFill/>
        </p:spPr>
        <p:txBody>
          <a:bodyPr wrap="square" rtlCol="0">
            <a:spAutoFit/>
          </a:bodyPr>
          <a:lstStyle/>
          <a:p>
            <a:pPr>
              <a:lnSpc>
                <a:spcPct val="150000"/>
              </a:lnSpc>
              <a:spcAft>
                <a:spcPts val="600"/>
              </a:spcAft>
            </a:pPr>
            <a:r>
              <a:rPr lang="zh-CN" altLang="en-US" sz="1800">
                <a:solidFill>
                  <a:srgbClr val="C00000"/>
                </a:solidFill>
              </a:rPr>
              <a:t>结构事物</a:t>
            </a:r>
            <a:r>
              <a:rPr lang="zh-CN" altLang="en-US" sz="1800"/>
              <a:t>是模型中的静态部分，用以呈现概念或实体的表现元素，是软件建模中最常见的元素，共有以下七种：</a:t>
            </a:r>
            <a:endParaRPr lang="zh-CN" altLang="en-US" sz="1800"/>
          </a:p>
          <a:p>
            <a:pPr marL="342900" indent="-342900" eaLnBrk="1" hangingPunct="1">
              <a:lnSpc>
                <a:spcPct val="80000"/>
              </a:lnSpc>
              <a:buFont typeface="Wingdings" panose="05000000000000000000" charset="0"/>
              <a:buChar char=""/>
            </a:pPr>
            <a:endParaRPr lang="zh-CN" altLang="en-US" sz="1800" dirty="0">
              <a:sym typeface="+mn-ea"/>
            </a:endParaRPr>
          </a:p>
        </p:txBody>
      </p:sp>
      <p:sp>
        <p:nvSpPr>
          <p:cNvPr id="3" name="文本框 2"/>
          <p:cNvSpPr txBox="1"/>
          <p:nvPr/>
        </p:nvSpPr>
        <p:spPr>
          <a:xfrm>
            <a:off x="251460" y="3501390"/>
            <a:ext cx="8496300" cy="3207385"/>
          </a:xfrm>
          <a:prstGeom prst="rect">
            <a:avLst/>
          </a:prstGeom>
          <a:noFill/>
        </p:spPr>
        <p:txBody>
          <a:bodyPr wrap="square" rtlCol="0" anchor="t">
            <a:noAutofit/>
          </a:bodyPr>
          <a:lstStyle/>
          <a:p>
            <a:pPr>
              <a:lnSpc>
                <a:spcPct val="150000"/>
              </a:lnSpc>
              <a:spcAft>
                <a:spcPts val="600"/>
              </a:spcAft>
            </a:pPr>
            <a:r>
              <a:rPr lang="zh-CN" altLang="en-US" sz="1800" b="1" dirty="0">
                <a:sym typeface="+mn-ea"/>
              </a:rPr>
              <a:t>主动类：</a:t>
            </a:r>
            <a:r>
              <a:rPr lang="zh-CN" altLang="en-US" sz="1800" dirty="0">
                <a:sym typeface="+mn-ea"/>
              </a:rPr>
              <a:t>主动类的对象有一个或多个进程或线程。主动类和类很相象，只是它的对象代表的元素的行为和其他的元素是同时存在的；</a:t>
            </a:r>
            <a:endParaRPr lang="zh-CN" altLang="en-US" sz="1800" dirty="0">
              <a:sym typeface="+mn-ea"/>
            </a:endParaRPr>
          </a:p>
          <a:p>
            <a:pPr>
              <a:lnSpc>
                <a:spcPct val="150000"/>
              </a:lnSpc>
              <a:spcAft>
                <a:spcPts val="600"/>
              </a:spcAft>
            </a:pPr>
            <a:r>
              <a:rPr lang="zh-CN" altLang="en-US" sz="1800" b="1" dirty="0">
                <a:sym typeface="+mn-ea"/>
              </a:rPr>
              <a:t>组件：</a:t>
            </a:r>
            <a:r>
              <a:rPr lang="zh-CN" altLang="en-US" sz="1800" dirty="0">
                <a:sym typeface="+mn-ea"/>
              </a:rPr>
              <a:t>组件是物理的、可替换的部分，包含接口的集合，例如COM+ 、JAVA BEANS等；</a:t>
            </a:r>
            <a:endParaRPr lang="zh-CN" altLang="en-US" sz="1800" dirty="0">
              <a:sym typeface="+mn-ea"/>
            </a:endParaRPr>
          </a:p>
          <a:p>
            <a:pPr>
              <a:lnSpc>
                <a:spcPct val="150000"/>
              </a:lnSpc>
              <a:spcAft>
                <a:spcPts val="600"/>
              </a:spcAft>
            </a:pPr>
            <a:r>
              <a:rPr lang="zh-CN" altLang="en-US" sz="1800" b="1" dirty="0">
                <a:sym typeface="+mn-ea"/>
              </a:rPr>
              <a:t>结点：</a:t>
            </a:r>
            <a:r>
              <a:rPr lang="zh-CN" altLang="en-US" sz="1800" dirty="0">
                <a:sym typeface="+mn-ea"/>
              </a:rPr>
              <a:t>结点是系统在运行时存在的物理元素，代表一个可计算的资源，通常占用一些内存和具有处理能力。</a:t>
            </a:r>
            <a:endParaRPr lang="zh-CN" altLang="en-US" sz="1800" dirty="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79877" name="Picture 4" descr="mxsj_12"/>
          <p:cNvPicPr>
            <a:picLocks noGrp="1" noChangeAspect="1"/>
          </p:cNvPicPr>
          <p:nvPr>
            <p:ph idx="1"/>
          </p:nvPr>
        </p:nvPicPr>
        <p:blipFill>
          <a:blip r:embed="rId1"/>
          <a:srcRect b="47160"/>
          <a:stretch>
            <a:fillRect/>
          </a:stretch>
        </p:blipFill>
        <p:spPr>
          <a:xfrm>
            <a:off x="4427855" y="274955"/>
            <a:ext cx="4248150" cy="3095625"/>
          </a:xfrm>
        </p:spPr>
      </p:pic>
      <p:sp>
        <p:nvSpPr>
          <p:cNvPr id="4" name="文本框 3"/>
          <p:cNvSpPr txBox="1"/>
          <p:nvPr/>
        </p:nvSpPr>
        <p:spPr>
          <a:xfrm>
            <a:off x="323850" y="1772920"/>
            <a:ext cx="3846830" cy="2051050"/>
          </a:xfrm>
          <a:prstGeom prst="rect">
            <a:avLst/>
          </a:prstGeom>
          <a:noFill/>
        </p:spPr>
        <p:txBody>
          <a:bodyPr wrap="square" rtlCol="0">
            <a:spAutoFit/>
          </a:bodyPr>
          <a:lstStyle/>
          <a:p>
            <a:pPr>
              <a:lnSpc>
                <a:spcPct val="150000"/>
              </a:lnSpc>
              <a:spcAft>
                <a:spcPts val="600"/>
              </a:spcAft>
            </a:pPr>
            <a:r>
              <a:rPr lang="zh-CN" altLang="en-US" sz="1800" dirty="0">
                <a:solidFill>
                  <a:srgbClr val="C00000"/>
                </a:solidFill>
              </a:rPr>
              <a:t>行为事物</a:t>
            </a:r>
            <a:r>
              <a:rPr lang="zh-CN" altLang="en-US" sz="1800" dirty="0"/>
              <a:t>指的是UML模型中的动态部分，代表语句里的"动词"，表示模型里随着时空不断变化的部分，包含两类：</a:t>
            </a:r>
            <a:endParaRPr lang="zh-CN" altLang="en-US" sz="1800" dirty="0"/>
          </a:p>
          <a:p>
            <a:pPr marL="342900" indent="-342900" eaLnBrk="1" hangingPunct="1">
              <a:lnSpc>
                <a:spcPct val="80000"/>
              </a:lnSpc>
              <a:buFont typeface="Wingdings" panose="05000000000000000000" charset="0"/>
              <a:buChar char=""/>
            </a:pPr>
            <a:endParaRPr lang="zh-CN" altLang="en-US" sz="1800" dirty="0">
              <a:sym typeface="+mn-ea"/>
            </a:endParaRPr>
          </a:p>
        </p:txBody>
      </p:sp>
      <p:sp>
        <p:nvSpPr>
          <p:cNvPr id="3" name="文本框 2"/>
          <p:cNvSpPr txBox="1"/>
          <p:nvPr/>
        </p:nvSpPr>
        <p:spPr>
          <a:xfrm>
            <a:off x="251460" y="3501390"/>
            <a:ext cx="8496300" cy="3207385"/>
          </a:xfrm>
          <a:prstGeom prst="rect">
            <a:avLst/>
          </a:prstGeom>
          <a:noFill/>
        </p:spPr>
        <p:txBody>
          <a:bodyPr wrap="square" rtlCol="0" anchor="t">
            <a:noAutofit/>
          </a:bodyPr>
          <a:lstStyle/>
          <a:p>
            <a:pPr>
              <a:lnSpc>
                <a:spcPct val="150000"/>
              </a:lnSpc>
              <a:spcAft>
                <a:spcPts val="600"/>
              </a:spcAft>
            </a:pPr>
            <a:endParaRPr lang="zh-CN" altLang="en-US" sz="1800" b="1" dirty="0">
              <a:sym typeface="+mn-ea"/>
            </a:endParaRPr>
          </a:p>
          <a:p>
            <a:pPr>
              <a:lnSpc>
                <a:spcPct val="150000"/>
              </a:lnSpc>
              <a:spcAft>
                <a:spcPts val="600"/>
              </a:spcAft>
            </a:pPr>
            <a:r>
              <a:rPr lang="zh-CN" altLang="en-US" sz="1800" b="1" dirty="0">
                <a:sym typeface="+mn-ea"/>
              </a:rPr>
              <a:t>交互：</a:t>
            </a:r>
            <a:r>
              <a:rPr lang="zh-CN" altLang="en-US" sz="1800" dirty="0">
                <a:sym typeface="+mn-ea"/>
              </a:rPr>
              <a:t>交互是由一组对象之间在特定上下文中，为达到特定的目的而进行的一系列消息交换而组成的动作；</a:t>
            </a:r>
            <a:endParaRPr lang="zh-CN" altLang="en-US" sz="1800" dirty="0">
              <a:sym typeface="+mn-ea"/>
            </a:endParaRPr>
          </a:p>
          <a:p>
            <a:pPr>
              <a:lnSpc>
                <a:spcPct val="150000"/>
              </a:lnSpc>
              <a:spcAft>
                <a:spcPts val="600"/>
              </a:spcAft>
            </a:pPr>
            <a:r>
              <a:rPr lang="zh-CN" altLang="en-US" sz="1800" b="1" dirty="0">
                <a:sym typeface="+mn-ea"/>
              </a:rPr>
              <a:t>状态机：</a:t>
            </a:r>
            <a:r>
              <a:rPr lang="zh-CN" altLang="en-US" sz="1800" dirty="0">
                <a:sym typeface="+mn-ea"/>
              </a:rPr>
              <a:t>状态机由一系列对象的状态组成。状态机描述了一个对象可能处于的各种状态，以及在这些状态之间如何根据事件的发生进行转换。</a:t>
            </a:r>
            <a:endParaRPr lang="zh-CN" altLang="en-US" sz="1800" dirty="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79877" name="Picture 4" descr="mxsj_12"/>
          <p:cNvPicPr>
            <a:picLocks noGrp="1" noChangeAspect="1"/>
          </p:cNvPicPr>
          <p:nvPr>
            <p:ph idx="1"/>
          </p:nvPr>
        </p:nvPicPr>
        <p:blipFill>
          <a:blip r:embed="rId1"/>
          <a:srcRect b="47160"/>
          <a:stretch>
            <a:fillRect/>
          </a:stretch>
        </p:blipFill>
        <p:spPr>
          <a:xfrm>
            <a:off x="4427855" y="274955"/>
            <a:ext cx="4248150" cy="3095625"/>
          </a:xfrm>
        </p:spPr>
      </p:pic>
      <p:sp>
        <p:nvSpPr>
          <p:cNvPr id="3" name="文本框 2"/>
          <p:cNvSpPr txBox="1"/>
          <p:nvPr/>
        </p:nvSpPr>
        <p:spPr>
          <a:xfrm>
            <a:off x="236220" y="3501390"/>
            <a:ext cx="8496300" cy="3207385"/>
          </a:xfrm>
          <a:prstGeom prst="rect">
            <a:avLst/>
          </a:prstGeom>
          <a:noFill/>
        </p:spPr>
        <p:txBody>
          <a:bodyPr wrap="square" rtlCol="0" anchor="t">
            <a:noAutofit/>
          </a:bodyPr>
          <a:lstStyle/>
          <a:p>
            <a:pPr>
              <a:lnSpc>
                <a:spcPct val="150000"/>
              </a:lnSpc>
              <a:spcAft>
                <a:spcPts val="600"/>
              </a:spcAft>
            </a:pPr>
            <a:r>
              <a:rPr lang="zh-CN" altLang="en-US" sz="1800" dirty="0">
                <a:solidFill>
                  <a:srgbClr val="C00000"/>
                </a:solidFill>
                <a:sym typeface="+mn-ea"/>
              </a:rPr>
              <a:t>分组事物：</a:t>
            </a:r>
            <a:r>
              <a:rPr lang="zh-CN" altLang="en-US" sz="1800" dirty="0">
                <a:sym typeface="+mn-ea"/>
              </a:rPr>
              <a:t>可以把分组事物看成是一个"盒子"，模型可以在其中被分解。目前只有一种分组事物，即包。</a:t>
            </a:r>
            <a:endParaRPr lang="zh-CN" altLang="en-US" sz="1800" dirty="0">
              <a:sym typeface="+mn-ea"/>
            </a:endParaRPr>
          </a:p>
          <a:p>
            <a:pPr>
              <a:lnSpc>
                <a:spcPct val="150000"/>
              </a:lnSpc>
              <a:spcAft>
                <a:spcPts val="600"/>
              </a:spcAft>
            </a:pPr>
            <a:r>
              <a:rPr lang="zh-CN" altLang="en-US" sz="1800" dirty="0">
                <a:sym typeface="+mn-ea"/>
              </a:rPr>
              <a:t>结构事物、行为事物甚至分组事物都有可能放在一个包中。包纯粹是概念上的，只存在于开发阶段，而组件在运行时存在。</a:t>
            </a:r>
            <a:endParaRPr lang="zh-CN" altLang="en-US" sz="1800" dirty="0">
              <a:sym typeface="+mn-ea"/>
            </a:endParaRPr>
          </a:p>
          <a:p>
            <a:pPr>
              <a:lnSpc>
                <a:spcPct val="150000"/>
              </a:lnSpc>
              <a:spcAft>
                <a:spcPts val="600"/>
              </a:spcAft>
            </a:pPr>
            <a:r>
              <a:rPr lang="zh-CN" altLang="en-US" sz="1800" dirty="0">
                <a:solidFill>
                  <a:srgbClr val="C00000"/>
                </a:solidFill>
                <a:sym typeface="+mn-ea"/>
              </a:rPr>
              <a:t>注释事物</a:t>
            </a:r>
            <a:r>
              <a:rPr lang="zh-CN" altLang="en-US" sz="1800" dirty="0">
                <a:sym typeface="+mn-ea"/>
              </a:rPr>
              <a:t>是UML模型的解释部分。</a:t>
            </a:r>
            <a:endParaRPr lang="zh-CN" altLang="en-US" sz="1800" dirty="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依赖</a:t>
            </a:r>
            <a:endParaRPr lang="zh-CN" altLang="en-US" dirty="0">
              <a:solidFill>
                <a:srgbClr val="C00000"/>
              </a:solidFill>
              <a:ea typeface="宋体" panose="02010600030101010101" pitchFamily="2" charset="-122"/>
            </a:endParaRPr>
          </a:p>
          <a:p>
            <a:pPr eaLnBrk="1" hangingPunct="1">
              <a:lnSpc>
                <a:spcPct val="90000"/>
              </a:lnSpc>
            </a:pPr>
            <a:r>
              <a:rPr lang="zh-CN" altLang="en-US" dirty="0">
                <a:sym typeface="+mn-ea"/>
              </a:rPr>
              <a:t>一个元素</a:t>
            </a:r>
            <a:r>
              <a:rPr lang="en-US" altLang="zh-CN" dirty="0">
                <a:sym typeface="+mn-ea"/>
              </a:rPr>
              <a:t>(</a:t>
            </a:r>
            <a:r>
              <a:rPr lang="zh-CN" altLang="en-US" dirty="0">
                <a:sym typeface="+mn-ea"/>
              </a:rPr>
              <a:t>被依赖事物的提供者</a:t>
            </a:r>
            <a:r>
              <a:rPr lang="en-US" altLang="zh-CN" dirty="0">
                <a:sym typeface="+mn-ea"/>
              </a:rPr>
              <a:t>)</a:t>
            </a:r>
            <a:r>
              <a:rPr lang="zh-CN" altLang="en-US" dirty="0">
                <a:sym typeface="+mn-ea"/>
              </a:rPr>
              <a:t>的变化将影响到另一个元素</a:t>
            </a:r>
            <a:r>
              <a:rPr lang="en-US" altLang="zh-CN" dirty="0">
                <a:sym typeface="+mn-ea"/>
              </a:rPr>
              <a:t>(</a:t>
            </a:r>
            <a:r>
              <a:rPr lang="zh-CN" altLang="en-US" dirty="0">
                <a:sym typeface="+mn-ea"/>
              </a:rPr>
              <a:t>依赖事物的接收者</a:t>
            </a:r>
            <a:r>
              <a:rPr lang="en-US" altLang="zh-CN" dirty="0">
                <a:sym typeface="+mn-ea"/>
              </a:rPr>
              <a:t>)</a:t>
            </a:r>
            <a:r>
              <a:rPr lang="zh-CN" altLang="en-US" dirty="0">
                <a:sym typeface="+mn-ea"/>
              </a:rPr>
              <a:t>，或向其</a:t>
            </a:r>
            <a:r>
              <a:rPr lang="en-US" altLang="zh-CN" dirty="0">
                <a:sym typeface="+mn-ea"/>
              </a:rPr>
              <a:t>(</a:t>
            </a:r>
            <a:r>
              <a:rPr lang="zh-CN" altLang="en-US" dirty="0">
                <a:sym typeface="+mn-ea"/>
              </a:rPr>
              <a:t>接收者</a:t>
            </a:r>
            <a:r>
              <a:rPr lang="en-US" altLang="zh-CN" dirty="0">
                <a:sym typeface="+mn-ea"/>
              </a:rPr>
              <a:t>)</a:t>
            </a:r>
            <a:r>
              <a:rPr lang="zh-CN" altLang="en-US" dirty="0">
                <a:sym typeface="+mn-ea"/>
              </a:rPr>
              <a:t>提供信息。</a:t>
            </a:r>
            <a:endParaRPr lang="zh-CN" altLang="en-US" dirty="0"/>
          </a:p>
          <a:p>
            <a:pPr eaLnBrk="1" hangingPunct="1">
              <a:lnSpc>
                <a:spcPct val="90000"/>
              </a:lnSpc>
            </a:pPr>
            <a:endParaRPr lang="zh-CN" altLang="en-US" dirty="0"/>
          </a:p>
          <a:p>
            <a:pPr eaLnBrk="1" hangingPunct="1">
              <a:lnSpc>
                <a:spcPct val="90000"/>
              </a:lnSpc>
            </a:pPr>
            <a:r>
              <a:rPr lang="zh-CN" altLang="en-US" dirty="0">
                <a:sym typeface="+mn-ea"/>
              </a:rPr>
              <a:t>举个简单的例子，一个小孩（依赖事物）是没有获取食物的能力的行为，他的生存就是依赖于他的父母（被依赖事物）对他的抚养（依赖方式）。故依赖被这样定义：一个事物为了达到某个目的，而采用一种依赖方式依赖于被依赖事物。</a:t>
            </a:r>
            <a:endParaRPr lang="zh-CN" altLang="en-US" dirty="0"/>
          </a:p>
          <a:p>
            <a:pPr eaLnBrk="1" hangingPunct="1">
              <a:lnSpc>
                <a:spcPct val="90000"/>
              </a:lnSpc>
            </a:pPr>
            <a:endParaRPr lang="zh-CN" altLang="en-US" dirty="0"/>
          </a:p>
          <a:p>
            <a:pPr eaLnBrk="1" hangingPunct="1">
              <a:lnSpc>
                <a:spcPct val="90000"/>
              </a:lnSpc>
            </a:pPr>
            <a:r>
              <a:rPr lang="zh-CN" altLang="en-US" dirty="0">
                <a:sym typeface="+mn-ea"/>
              </a:rPr>
              <a:t>依赖的形式可能是多样的，这样我们就用依赖关系来表述它，针对不同的依赖的形式，依赖关系有不同的变体。</a:t>
            </a:r>
            <a:endParaRPr lang="en-US" altLang="zh-CN" dirty="0"/>
          </a:p>
          <a:p>
            <a:pPr lvl="1" eaLnBrk="1" hangingPunct="1">
              <a:buClr>
                <a:schemeClr val="accent1"/>
              </a:buClr>
              <a:buSzPct val="80000"/>
              <a:buFont typeface="Wingdings 2" panose="05020102010507070707" pitchFamily="18" charset="2"/>
            </a:pPr>
            <a:endParaRPr lang="zh-CN" altLang="en-US" dirty="0">
              <a:ea typeface="宋体" panose="02010600030101010101" pitchFamily="2" charset="-122"/>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依赖</a:t>
            </a:r>
            <a:endParaRPr lang="zh-CN" altLang="en-US" dirty="0">
              <a:solidFill>
                <a:srgbClr val="C0000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用一条带有箭头的虚线来表示，如图：汽车需要依赖车牌才可以上路</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这里表示的就是汽车和车牌是一种依赖关系，这两者的关系表现非固定关系但是有依赖</a:t>
            </a:r>
            <a:endParaRPr lang="zh-CN" altLang="en-US" dirty="0">
              <a:ea typeface="宋体" panose="02010600030101010101" pitchFamily="2" charset="-122"/>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3" name="图片 2"/>
          <p:cNvPicPr>
            <a:picLocks noChangeAspect="1"/>
          </p:cNvPicPr>
          <p:nvPr/>
        </p:nvPicPr>
        <p:blipFill>
          <a:blip r:embed="rId1"/>
          <a:stretch>
            <a:fillRect/>
          </a:stretch>
        </p:blipFill>
        <p:spPr>
          <a:xfrm>
            <a:off x="1043305" y="2997200"/>
            <a:ext cx="6566535" cy="150939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关联</a:t>
            </a:r>
            <a:endParaRPr lang="zh-CN" altLang="en-US" dirty="0">
              <a:solidFill>
                <a:srgbClr val="C00000"/>
              </a:solidFill>
              <a:ea typeface="宋体" panose="02010600030101010101" pitchFamily="2" charset="-122"/>
            </a:endParaRPr>
          </a:p>
          <a:p>
            <a:pPr eaLnBrk="1" hangingPunct="1">
              <a:lnSpc>
                <a:spcPct val="80000"/>
              </a:lnSpc>
            </a:pPr>
            <a:r>
              <a:rPr lang="zh-CN" altLang="en-US" dirty="0">
                <a:sym typeface="+mn-ea"/>
              </a:rPr>
              <a:t>关联是两个或多个特定类之间的关系，它描述了这些类元的实例的联系。</a:t>
            </a:r>
            <a:endParaRPr lang="en-US" altLang="zh-CN" dirty="0">
              <a:sym typeface="+mn-ea"/>
            </a:endParaRPr>
          </a:p>
          <a:p>
            <a:pPr eaLnBrk="1" hangingPunct="1">
              <a:lnSpc>
                <a:spcPct val="80000"/>
              </a:lnSpc>
            </a:pPr>
            <a:r>
              <a:rPr lang="zh-CN" altLang="en-US" dirty="0">
                <a:sym typeface="+mn-ea"/>
              </a:rPr>
              <a:t>参与其中的类元在关联内的位置有序。在一个关联中同一个类可以出现在多个位置上，关联的每一个实例链是引用对象的有序表，关联的外延即这种链的一个集合。</a:t>
            </a:r>
            <a:endParaRPr lang="en-US" altLang="zh-CN" dirty="0">
              <a:sym typeface="+mn-ea"/>
            </a:endParaRPr>
          </a:p>
          <a:p>
            <a:pPr eaLnBrk="1" hangingPunct="1">
              <a:lnSpc>
                <a:spcPct val="80000"/>
              </a:lnSpc>
            </a:pPr>
            <a:r>
              <a:rPr lang="zh-CN" altLang="en-US" dirty="0">
                <a:sym typeface="+mn-ea"/>
              </a:rPr>
              <a:t>在链集合中给定对象可以出现多次，或者在关联的定义允许的情况下可以在同一链中（不同的位置）出现多次。关联将一个集合组织在一起。如果没有关联，那只是一个无连接类集合。</a:t>
            </a:r>
            <a:endParaRPr lang="zh-CN" altLang="en-US" dirty="0"/>
          </a:p>
          <a:p>
            <a:pPr eaLnBrk="1" hangingPunct="1">
              <a:lnSpc>
                <a:spcPct val="80000"/>
              </a:lnSpc>
            </a:pPr>
            <a:r>
              <a:rPr lang="zh-CN" altLang="en-US" dirty="0">
                <a:sym typeface="+mn-ea"/>
              </a:rPr>
              <a:t>关联可以有一个名称，但是它的大部分描述建立在关联端点中，每个端点描述了关联中类对象的参与。关联端点只是关联描述的一部分，不是可区分的语义或可用符号表示的概念。</a:t>
            </a:r>
            <a:endParaRPr lang="zh-CN" altLang="en-US" dirty="0"/>
          </a:p>
          <a:p>
            <a:pPr lvl="1" eaLnBrk="1" hangingPunct="1">
              <a:buClr>
                <a:schemeClr val="accent1"/>
              </a:buClr>
              <a:buSzPct val="80000"/>
              <a:buFont typeface="Wingdings 2" panose="05020102010507070707" pitchFamily="18" charset="2"/>
            </a:pPr>
            <a:endParaRPr lang="zh-CN" altLang="en-US" dirty="0">
              <a:ea typeface="宋体" panose="02010600030101010101" pitchFamily="2" charset="-122"/>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关联</a:t>
            </a:r>
            <a:endParaRPr lang="zh-CN" altLang="en-US" dirty="0">
              <a:solidFill>
                <a:srgbClr val="C00000"/>
              </a:solidFill>
              <a:ea typeface="宋体" panose="02010600030101010101" pitchFamily="2" charset="-122"/>
            </a:endParaRPr>
          </a:p>
          <a:p>
            <a:pPr eaLnBrk="1" hangingPunct="1">
              <a:lnSpc>
                <a:spcPct val="80000"/>
              </a:lnSpc>
            </a:pPr>
            <a:r>
              <a:rPr lang="zh-CN" altLang="en-US" dirty="0">
                <a:sym typeface="+mn-ea"/>
              </a:rPr>
              <a:t>是一种结构化的关系，指一种对象和另一种对象有联系，给定关联的两个类，可以从其中的一个类的对象访问到另一个类的相关对象。</a:t>
            </a:r>
            <a:endParaRPr lang="zh-CN" altLang="en-US" dirty="0">
              <a:sym typeface="+mn-ea"/>
            </a:endParaRPr>
          </a:p>
          <a:p>
            <a:pPr eaLnBrk="1" hangingPunct="1">
              <a:lnSpc>
                <a:spcPct val="80000"/>
              </a:lnSpc>
            </a:pPr>
            <a:r>
              <a:rPr lang="zh-CN" altLang="en-US" dirty="0">
                <a:sym typeface="+mn-ea"/>
              </a:rPr>
              <a:t>关联关系用一条实线表示，关联可以有方向，表示该关联在某方向被使用。只在一个方向存在关联的，称作单向关联（导航关联）</a:t>
            </a:r>
            <a:endParaRPr lang="zh-CN" altLang="en-US" dirty="0">
              <a:sym typeface="+mn-ea"/>
            </a:endParaRPr>
          </a:p>
          <a:p>
            <a:pPr eaLnBrk="1" hangingPunct="1">
              <a:lnSpc>
                <a:spcPct val="80000"/>
              </a:lnSpc>
            </a:pPr>
            <a:endParaRPr lang="zh-CN" altLang="en-US" dirty="0">
              <a:sym typeface="+mn-ea"/>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3" name="图片 2"/>
          <p:cNvPicPr>
            <a:picLocks noChangeAspect="1"/>
          </p:cNvPicPr>
          <p:nvPr/>
        </p:nvPicPr>
        <p:blipFill>
          <a:blip r:embed="rId1"/>
          <a:stretch>
            <a:fillRect/>
          </a:stretch>
        </p:blipFill>
        <p:spPr>
          <a:xfrm>
            <a:off x="1548130" y="4077335"/>
            <a:ext cx="5003800" cy="1645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关联</a:t>
            </a:r>
            <a:endParaRPr lang="zh-CN" altLang="en-US" dirty="0">
              <a:solidFill>
                <a:srgbClr val="C00000"/>
              </a:solidFill>
              <a:ea typeface="宋体" panose="02010600030101010101" pitchFamily="2" charset="-122"/>
            </a:endParaRPr>
          </a:p>
          <a:p>
            <a:pPr eaLnBrk="1" hangingPunct="1">
              <a:lnSpc>
                <a:spcPct val="80000"/>
              </a:lnSpc>
            </a:pPr>
            <a:r>
              <a:rPr lang="zh-CN" altLang="en-US" dirty="0">
                <a:sym typeface="+mn-ea"/>
              </a:rPr>
              <a:t>在两个方向都存在关联，称作双向关联</a:t>
            </a:r>
            <a:endParaRPr lang="zh-CN" altLang="en-US" dirty="0">
              <a:sym typeface="+mn-ea"/>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4" name="图片 3"/>
          <p:cNvPicPr>
            <a:picLocks noChangeAspect="1"/>
          </p:cNvPicPr>
          <p:nvPr/>
        </p:nvPicPr>
        <p:blipFill>
          <a:blip r:embed="rId1"/>
          <a:stretch>
            <a:fillRect/>
          </a:stretch>
        </p:blipFill>
        <p:spPr>
          <a:xfrm>
            <a:off x="1475740" y="2709545"/>
            <a:ext cx="5600700" cy="178943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关联</a:t>
            </a:r>
            <a:endParaRPr lang="zh-CN" altLang="en-US" dirty="0">
              <a:solidFill>
                <a:srgbClr val="C00000"/>
              </a:solidFill>
              <a:ea typeface="宋体" panose="02010600030101010101" pitchFamily="2" charset="-122"/>
            </a:endParaRPr>
          </a:p>
          <a:p>
            <a:pPr eaLnBrk="1" hangingPunct="1">
              <a:lnSpc>
                <a:spcPct val="80000"/>
              </a:lnSpc>
            </a:pPr>
            <a:r>
              <a:rPr lang="zh-CN" altLang="en-US" dirty="0">
                <a:sym typeface="+mn-ea"/>
              </a:rPr>
              <a:t>单向关联</a:t>
            </a:r>
            <a:endParaRPr lang="en-US" altLang="zh-CN" dirty="0">
              <a:sym typeface="+mn-ea"/>
            </a:endParaRPr>
          </a:p>
          <a:p>
            <a:pPr eaLnBrk="1" hangingPunct="1">
              <a:lnSpc>
                <a:spcPct val="80000"/>
              </a:lnSpc>
            </a:pPr>
            <a:endParaRPr lang="en-US" altLang="zh-CN" dirty="0">
              <a:sym typeface="+mn-ea"/>
            </a:endParaRPr>
          </a:p>
          <a:p>
            <a:pPr eaLnBrk="1" hangingPunct="1">
              <a:lnSpc>
                <a:spcPct val="80000"/>
              </a:lnSpc>
            </a:pPr>
            <a:r>
              <a:rPr lang="en-US" altLang="zh-CN" dirty="0">
                <a:sym typeface="+mn-ea"/>
              </a:rPr>
              <a:t>//</a:t>
            </a:r>
            <a:r>
              <a:rPr lang="zh-CN" altLang="en-US" dirty="0">
                <a:sym typeface="+mn-ea"/>
              </a:rPr>
              <a:t>一个人只有一个身份证</a:t>
            </a:r>
            <a:r>
              <a:rPr lang="en-US" altLang="zh-CN" dirty="0">
                <a:sym typeface="+mn-ea"/>
              </a:rPr>
              <a:t>,</a:t>
            </a:r>
            <a:r>
              <a:rPr lang="zh-CN" altLang="en-US" dirty="0">
                <a:sym typeface="+mn-ea"/>
              </a:rPr>
              <a:t>一个身份证也只能对应一个人；所以身份证跟人是一对一关系</a:t>
            </a:r>
            <a:endParaRPr lang="zh-CN" altLang="en-US" dirty="0">
              <a:sym typeface="+mn-ea"/>
            </a:endParaRPr>
          </a:p>
          <a:p>
            <a:pPr eaLnBrk="1" hangingPunct="1">
              <a:lnSpc>
                <a:spcPct val="80000"/>
              </a:lnSpc>
            </a:pPr>
            <a:r>
              <a:rPr lang="en-US" altLang="zh-CN" dirty="0">
                <a:sym typeface="+mn-ea"/>
              </a:rPr>
              <a:t>public class Person {</a:t>
            </a:r>
            <a:endParaRPr lang="en-US" altLang="zh-CN" dirty="0">
              <a:sym typeface="+mn-ea"/>
            </a:endParaRPr>
          </a:p>
          <a:p>
            <a:pPr eaLnBrk="1" hangingPunct="1">
              <a:lnSpc>
                <a:spcPct val="80000"/>
              </a:lnSpc>
            </a:pPr>
            <a:r>
              <a:rPr lang="en-US" altLang="zh-CN" dirty="0">
                <a:sym typeface="+mn-ea"/>
              </a:rPr>
              <a:t>  private </a:t>
            </a:r>
            <a:r>
              <a:rPr lang="en-US" altLang="zh-CN" dirty="0" err="1">
                <a:sym typeface="+mn-ea"/>
              </a:rPr>
              <a:t>IDCard</a:t>
            </a:r>
            <a:r>
              <a:rPr lang="en-US" altLang="zh-CN" dirty="0">
                <a:sym typeface="+mn-ea"/>
              </a:rPr>
              <a:t> card;</a:t>
            </a:r>
            <a:endParaRPr lang="en-US" altLang="zh-CN" dirty="0">
              <a:sym typeface="+mn-ea"/>
            </a:endParaRPr>
          </a:p>
          <a:p>
            <a:pPr eaLnBrk="1" hangingPunct="1">
              <a:lnSpc>
                <a:spcPct val="80000"/>
              </a:lnSpc>
            </a:pPr>
            <a:endParaRPr lang="en-US" altLang="zh-CN" dirty="0">
              <a:sym typeface="+mn-ea"/>
            </a:endParaRPr>
          </a:p>
          <a:p>
            <a:pPr marL="0" indent="0" eaLnBrk="1" hangingPunct="1">
              <a:lnSpc>
                <a:spcPct val="80000"/>
              </a:lnSpc>
              <a:buNone/>
            </a:pPr>
            <a:r>
              <a:rPr lang="en-US" altLang="zh-CN" dirty="0">
                <a:sym typeface="+mn-ea"/>
              </a:rPr>
              <a:t>   }</a:t>
            </a:r>
            <a:endParaRPr lang="en-US" altLang="zh-CN" dirty="0">
              <a:sym typeface="+mn-ea"/>
            </a:endParaRPr>
          </a:p>
          <a:p>
            <a:pPr eaLnBrk="1" hangingPunct="1">
              <a:lnSpc>
                <a:spcPct val="80000"/>
              </a:lnSpc>
            </a:pPr>
            <a:endParaRPr lang="en-US" altLang="zh-CN" dirty="0">
              <a:sym typeface="+mn-ea"/>
            </a:endParaRPr>
          </a:p>
          <a:p>
            <a:pPr eaLnBrk="1" hangingPunct="1">
              <a:lnSpc>
                <a:spcPct val="80000"/>
              </a:lnSpc>
            </a:pPr>
            <a:r>
              <a:rPr lang="en-US" altLang="zh-CN" dirty="0">
                <a:sym typeface="+mn-ea"/>
              </a:rPr>
              <a:t>public class </a:t>
            </a:r>
            <a:r>
              <a:rPr lang="en-US" altLang="zh-CN" dirty="0" err="1">
                <a:sym typeface="+mn-ea"/>
              </a:rPr>
              <a:t>IDCard</a:t>
            </a:r>
            <a:r>
              <a:rPr lang="en-US" altLang="zh-CN" dirty="0">
                <a:sym typeface="+mn-ea"/>
              </a:rPr>
              <a:t>{</a:t>
            </a:r>
            <a:endParaRPr lang="en-US" altLang="zh-CN" dirty="0">
              <a:sym typeface="+mn-ea"/>
            </a:endParaRPr>
          </a:p>
          <a:p>
            <a:pPr eaLnBrk="1" hangingPunct="1">
              <a:lnSpc>
                <a:spcPct val="80000"/>
              </a:lnSpc>
            </a:pPr>
            <a:endParaRPr lang="en-US" altLang="zh-CN" dirty="0">
              <a:sym typeface="+mn-ea"/>
            </a:endParaRPr>
          </a:p>
          <a:p>
            <a:pPr marL="0" indent="0" eaLnBrk="1" hangingPunct="1">
              <a:lnSpc>
                <a:spcPct val="80000"/>
              </a:lnSpc>
              <a:buNone/>
            </a:pPr>
            <a:r>
              <a:rPr lang="en-US" altLang="zh-CN" dirty="0">
                <a:sym typeface="+mn-ea"/>
              </a:rPr>
              <a:t>   }</a:t>
            </a:r>
            <a:endParaRPr lang="en-US" altLang="zh-CN" dirty="0">
              <a:sym typeface="+mn-ea"/>
            </a:endParaRPr>
          </a:p>
          <a:p>
            <a:pPr eaLnBrk="1" hangingPunct="1">
              <a:lnSpc>
                <a:spcPct val="80000"/>
              </a:lnSpc>
            </a:pPr>
            <a:endParaRPr lang="en-US" altLang="zh-CN" dirty="0">
              <a:sym typeface="+mn-ea"/>
            </a:endParaRPr>
          </a:p>
          <a:p>
            <a:pPr eaLnBrk="1" hangingPunct="1">
              <a:lnSpc>
                <a:spcPct val="80000"/>
              </a:lnSpc>
            </a:pPr>
            <a:endParaRPr lang="zh-CN" altLang="en-US" dirty="0">
              <a:sym typeface="+mn-ea"/>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关联</a:t>
            </a:r>
            <a:endParaRPr lang="zh-CN" altLang="en-US" dirty="0">
              <a:solidFill>
                <a:srgbClr val="C00000"/>
              </a:solidFill>
              <a:ea typeface="宋体" panose="02010600030101010101" pitchFamily="2" charset="-122"/>
            </a:endParaRPr>
          </a:p>
          <a:p>
            <a:pPr eaLnBrk="1" hangingPunct="1">
              <a:lnSpc>
                <a:spcPct val="80000"/>
              </a:lnSpc>
            </a:pPr>
            <a:r>
              <a:rPr lang="zh-CN" altLang="en-US" dirty="0">
                <a:sym typeface="+mn-ea"/>
              </a:rPr>
              <a:t>双向关联</a:t>
            </a:r>
            <a:endParaRPr lang="en-US" altLang="zh-CN" dirty="0">
              <a:sym typeface="+mn-ea"/>
            </a:endParaRPr>
          </a:p>
          <a:p>
            <a:pPr eaLnBrk="1" hangingPunct="1">
              <a:lnSpc>
                <a:spcPct val="80000"/>
              </a:lnSpc>
            </a:pPr>
            <a:endParaRPr lang="en-US" altLang="zh-CN" dirty="0">
              <a:sym typeface="+mn-ea"/>
            </a:endParaRPr>
          </a:p>
          <a:p>
            <a:pPr eaLnBrk="1" hangingPunct="1">
              <a:lnSpc>
                <a:spcPct val="80000"/>
              </a:lnSpc>
            </a:pPr>
            <a:r>
              <a:rPr lang="en-US" altLang="zh-CN" dirty="0">
                <a:sym typeface="+mn-ea"/>
              </a:rPr>
              <a:t>public class Person {</a:t>
            </a:r>
            <a:endParaRPr lang="en-US" altLang="zh-CN" dirty="0">
              <a:sym typeface="+mn-ea"/>
            </a:endParaRPr>
          </a:p>
          <a:p>
            <a:pPr marL="0" indent="0" eaLnBrk="1" hangingPunct="1">
              <a:lnSpc>
                <a:spcPct val="80000"/>
              </a:lnSpc>
              <a:buNone/>
            </a:pPr>
            <a:r>
              <a:rPr lang="en-US" altLang="zh-CN" dirty="0">
                <a:sym typeface="+mn-ea"/>
              </a:rPr>
              <a:t>     private </a:t>
            </a:r>
            <a:r>
              <a:rPr lang="en-US" altLang="zh-CN" dirty="0" err="1">
                <a:sym typeface="+mn-ea"/>
              </a:rPr>
              <a:t>IDCard</a:t>
            </a:r>
            <a:r>
              <a:rPr lang="en-US" altLang="zh-CN" dirty="0">
                <a:sym typeface="+mn-ea"/>
              </a:rPr>
              <a:t> card; </a:t>
            </a:r>
            <a:endParaRPr lang="en-US" altLang="zh-CN" dirty="0">
              <a:sym typeface="+mn-ea"/>
            </a:endParaRPr>
          </a:p>
          <a:p>
            <a:pPr marL="0" indent="0" eaLnBrk="1" hangingPunct="1">
              <a:lnSpc>
                <a:spcPct val="80000"/>
              </a:lnSpc>
              <a:buNone/>
            </a:pPr>
            <a:endParaRPr lang="en-US" altLang="zh-CN" dirty="0">
              <a:sym typeface="+mn-ea"/>
            </a:endParaRPr>
          </a:p>
          <a:p>
            <a:pPr marL="0" indent="0" eaLnBrk="1" hangingPunct="1">
              <a:lnSpc>
                <a:spcPct val="80000"/>
              </a:lnSpc>
              <a:buNone/>
            </a:pPr>
            <a:r>
              <a:rPr lang="en-US" altLang="zh-CN" dirty="0">
                <a:sym typeface="+mn-ea"/>
              </a:rPr>
              <a:t>   }</a:t>
            </a:r>
            <a:endParaRPr lang="en-US" altLang="zh-CN" dirty="0">
              <a:sym typeface="+mn-ea"/>
            </a:endParaRPr>
          </a:p>
          <a:p>
            <a:pPr eaLnBrk="1" hangingPunct="1">
              <a:lnSpc>
                <a:spcPct val="80000"/>
              </a:lnSpc>
            </a:pPr>
            <a:r>
              <a:rPr lang="en-US" altLang="zh-CN" dirty="0">
                <a:sym typeface="+mn-ea"/>
              </a:rPr>
              <a:t>public class </a:t>
            </a:r>
            <a:r>
              <a:rPr lang="en-US" altLang="zh-CN" dirty="0" err="1">
                <a:sym typeface="+mn-ea"/>
              </a:rPr>
              <a:t>IDCard</a:t>
            </a:r>
            <a:r>
              <a:rPr lang="en-US" altLang="zh-CN" dirty="0">
                <a:sym typeface="+mn-ea"/>
              </a:rPr>
              <a:t>{</a:t>
            </a:r>
            <a:endParaRPr lang="en-US" altLang="zh-CN" dirty="0">
              <a:sym typeface="+mn-ea"/>
            </a:endParaRPr>
          </a:p>
          <a:p>
            <a:pPr marL="0" indent="0" eaLnBrk="1" hangingPunct="1">
              <a:lnSpc>
                <a:spcPct val="80000"/>
              </a:lnSpc>
              <a:buNone/>
            </a:pPr>
            <a:r>
              <a:rPr lang="en-US" altLang="zh-CN" dirty="0">
                <a:sym typeface="+mn-ea"/>
              </a:rPr>
              <a:t>     private Person </a:t>
            </a:r>
            <a:r>
              <a:rPr lang="en-US" altLang="zh-CN" dirty="0" err="1">
                <a:sym typeface="+mn-ea"/>
              </a:rPr>
              <a:t>person</a:t>
            </a:r>
            <a:endParaRPr lang="en-US" altLang="zh-CN" dirty="0">
              <a:sym typeface="+mn-ea"/>
            </a:endParaRPr>
          </a:p>
          <a:p>
            <a:pPr marL="0" indent="0" eaLnBrk="1" hangingPunct="1">
              <a:lnSpc>
                <a:spcPct val="80000"/>
              </a:lnSpc>
              <a:buNone/>
            </a:pPr>
            <a:endParaRPr lang="en-US" altLang="zh-CN" dirty="0">
              <a:sym typeface="+mn-ea"/>
            </a:endParaRPr>
          </a:p>
          <a:p>
            <a:pPr marL="0" indent="0" eaLnBrk="1" hangingPunct="1">
              <a:lnSpc>
                <a:spcPct val="80000"/>
              </a:lnSpc>
              <a:buNone/>
            </a:pPr>
            <a:r>
              <a:rPr lang="en-US" altLang="zh-CN" dirty="0">
                <a:sym typeface="+mn-ea"/>
              </a:rPr>
              <a:t>   }</a:t>
            </a:r>
            <a:endParaRPr lang="en-US" altLang="zh-CN" dirty="0">
              <a:sym typeface="+mn-ea"/>
            </a:endParaRPr>
          </a:p>
          <a:p>
            <a:pPr eaLnBrk="1" hangingPunct="1">
              <a:lnSpc>
                <a:spcPct val="80000"/>
              </a:lnSpc>
            </a:pPr>
            <a:endParaRPr lang="en-US" altLang="zh-CN" dirty="0">
              <a:sym typeface="+mn-ea"/>
            </a:endParaRPr>
          </a:p>
          <a:p>
            <a:pPr eaLnBrk="1" hangingPunct="1">
              <a:lnSpc>
                <a:spcPct val="80000"/>
              </a:lnSpc>
            </a:pPr>
            <a:endParaRPr lang="zh-CN" altLang="en-US" dirty="0">
              <a:sym typeface="+mn-ea"/>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关联</a:t>
            </a:r>
            <a:endParaRPr lang="zh-CN" altLang="en-US" dirty="0">
              <a:solidFill>
                <a:srgbClr val="C00000"/>
              </a:solidFill>
              <a:ea typeface="宋体" panose="02010600030101010101" pitchFamily="2" charset="-122"/>
            </a:endParaRPr>
          </a:p>
          <a:p>
            <a:pPr eaLnBrk="1" hangingPunct="1">
              <a:lnSpc>
                <a:spcPct val="80000"/>
              </a:lnSpc>
            </a:pPr>
            <a:r>
              <a:rPr lang="zh-CN" altLang="en-US" dirty="0">
                <a:sym typeface="+mn-ea"/>
              </a:rPr>
              <a:t>聚合关系：是关联的特例，聚合表示类与类之间的关系是整体与部分的关系，即表示一个整体的模型元素可能有几个表示部分的模型元素聚合而成。</a:t>
            </a:r>
            <a:endParaRPr lang="zh-CN" altLang="en-US" dirty="0">
              <a:sym typeface="+mn-ea"/>
            </a:endParaRPr>
          </a:p>
          <a:p>
            <a:pPr eaLnBrk="1" hangingPunct="1">
              <a:lnSpc>
                <a:spcPct val="80000"/>
              </a:lnSpc>
            </a:pPr>
            <a:endParaRPr lang="zh-CN" altLang="en-US" dirty="0">
              <a:sym typeface="+mn-ea"/>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3" name="图片 2"/>
          <p:cNvPicPr>
            <a:picLocks noChangeAspect="1"/>
          </p:cNvPicPr>
          <p:nvPr/>
        </p:nvPicPr>
        <p:blipFill>
          <a:blip r:embed="rId1"/>
          <a:stretch>
            <a:fillRect/>
          </a:stretch>
        </p:blipFill>
        <p:spPr>
          <a:xfrm>
            <a:off x="1259840" y="2919095"/>
            <a:ext cx="6577330" cy="1781810"/>
          </a:xfrm>
          <a:prstGeom prst="rect">
            <a:avLst/>
          </a:prstGeom>
        </p:spPr>
      </p:pic>
      <p:sp>
        <p:nvSpPr>
          <p:cNvPr id="5" name="文本框 4"/>
          <p:cNvSpPr txBox="1"/>
          <p:nvPr/>
        </p:nvSpPr>
        <p:spPr>
          <a:xfrm>
            <a:off x="828040" y="5013325"/>
            <a:ext cx="6725920" cy="460375"/>
          </a:xfrm>
          <a:prstGeom prst="rect">
            <a:avLst/>
          </a:prstGeom>
          <a:noFill/>
        </p:spPr>
        <p:txBody>
          <a:bodyPr wrap="square" rtlCol="0" anchor="t">
            <a:spAutoFit/>
          </a:bodyPr>
          <a:lstStyle/>
          <a:p>
            <a:r>
              <a:rPr lang="zh-CN" altLang="en-US" sz="2400" b="1">
                <a:latin typeface="+mn-ea"/>
                <a:ea typeface="+mn-ea"/>
              </a:rPr>
              <a:t>歌唱大赛由专业的评委等对象组成</a:t>
            </a:r>
            <a:endParaRPr lang="zh-CN" altLang="en-US" sz="2400" b="1">
              <a:latin typeface="+mn-ea"/>
              <a:ea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泛化</a:t>
            </a:r>
            <a:endParaRPr lang="zh-CN" altLang="en-US" dirty="0">
              <a:solidFill>
                <a:srgbClr val="C00000"/>
              </a:solidFill>
              <a:ea typeface="宋体" panose="02010600030101010101" pitchFamily="2" charset="-122"/>
            </a:endParaRPr>
          </a:p>
          <a:p>
            <a:pPr eaLnBrk="1" hangingPunct="1">
              <a:lnSpc>
                <a:spcPct val="80000"/>
              </a:lnSpc>
            </a:pPr>
            <a:r>
              <a:rPr lang="zh-CN" altLang="en-US" dirty="0">
                <a:sym typeface="+mn-ea"/>
              </a:rPr>
              <a:t>泛化是一个较广泛的元素和一个较特殊元素之间的类元关系。较特殊的元素完整地包含了较广泛元素，并含有更多的信息。较特殊的元素的实例可以用于任何使用较广泛的元素的地方。</a:t>
            </a:r>
            <a:endParaRPr lang="zh-CN" altLang="en-US" dirty="0"/>
          </a:p>
          <a:p>
            <a:pPr eaLnBrk="1" hangingPunct="1">
              <a:lnSpc>
                <a:spcPct val="80000"/>
              </a:lnSpc>
            </a:pPr>
            <a:endParaRPr lang="zh-CN" altLang="en-US" dirty="0"/>
          </a:p>
          <a:p>
            <a:pPr eaLnBrk="1" hangingPunct="1">
              <a:lnSpc>
                <a:spcPct val="80000"/>
              </a:lnSpc>
            </a:pPr>
            <a:r>
              <a:rPr lang="zh-CN" altLang="en-US" dirty="0">
                <a:sym typeface="+mn-ea"/>
              </a:rPr>
              <a:t>泛化是两个同类的可泛化元素（如类、包或其他元素）之间的关系，其中一个元素被称为父，另一个为子。对类而言，父类称为超类，子类称为子类。父类说明的直接实例带有所有子类的共同特性，子所说明的实例是上述实例的对象。</a:t>
            </a:r>
            <a:endParaRPr lang="zh-CN" altLang="en-US" dirty="0">
              <a:ea typeface="宋体" panose="02010600030101010101" pitchFamily="2" charset="-122"/>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泛化</a:t>
            </a:r>
            <a:endParaRPr lang="zh-CN" altLang="en-US" dirty="0">
              <a:solidFill>
                <a:srgbClr val="C00000"/>
              </a:solidFill>
              <a:ea typeface="宋体" panose="02010600030101010101" pitchFamily="2" charset="-122"/>
            </a:endParaRPr>
          </a:p>
          <a:p>
            <a:pPr eaLnBrk="1" hangingPunct="1">
              <a:lnSpc>
                <a:spcPct val="80000"/>
              </a:lnSpc>
            </a:pPr>
            <a:r>
              <a:rPr lang="zh-CN" altLang="en-US" dirty="0">
                <a:sym typeface="+mn-ea"/>
              </a:rPr>
              <a:t>简单的讲就是类之间的继承关系。在UML中，泛化关系用空心三角形+实线来表示，箭头指向为父类。</a:t>
            </a:r>
            <a:endParaRPr lang="zh-CN" altLang="en-US" dirty="0">
              <a:sym typeface="+mn-ea"/>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4" name="图片 3"/>
          <p:cNvPicPr>
            <a:picLocks noChangeAspect="1"/>
          </p:cNvPicPr>
          <p:nvPr>
            <p:custDataLst>
              <p:tags r:id="rId1"/>
            </p:custDataLst>
          </p:nvPr>
        </p:nvPicPr>
        <p:blipFill>
          <a:blip r:embed="rId2"/>
          <a:stretch>
            <a:fillRect/>
          </a:stretch>
        </p:blipFill>
        <p:spPr>
          <a:xfrm>
            <a:off x="1691005" y="2781300"/>
            <a:ext cx="5397500" cy="262128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实现</a:t>
            </a:r>
            <a:endParaRPr lang="zh-CN" altLang="en-US" dirty="0">
              <a:solidFill>
                <a:srgbClr val="C00000"/>
              </a:solidFill>
              <a:ea typeface="宋体" panose="02010600030101010101" pitchFamily="2" charset="-122"/>
            </a:endParaRPr>
          </a:p>
          <a:p>
            <a:pPr eaLnBrk="1" hangingPunct="1">
              <a:lnSpc>
                <a:spcPct val="80000"/>
              </a:lnSpc>
            </a:pPr>
            <a:r>
              <a:rPr lang="zh-CN" altLang="en-US" dirty="0">
                <a:sym typeface="+mn-ea"/>
              </a:rPr>
              <a:t>　实现关系定义某事物是如何构造的、计算的。</a:t>
            </a:r>
            <a:endParaRPr lang="en-US" altLang="zh-CN" dirty="0">
              <a:sym typeface="+mn-ea"/>
            </a:endParaRPr>
          </a:p>
          <a:p>
            <a:pPr lvl="1" eaLnBrk="1" hangingPunct="1">
              <a:lnSpc>
                <a:spcPct val="80000"/>
              </a:lnSpc>
              <a:buFont typeface="Wingdings" panose="05000000000000000000" pitchFamily="2" charset="2"/>
              <a:buChar char="Ø"/>
            </a:pPr>
            <a:r>
              <a:rPr lang="zh-CN" altLang="en-US" dirty="0">
                <a:sym typeface="+mn-ea"/>
              </a:rPr>
              <a:t>例如，类是类型的实现，方法是操作的实现。实现和说明之间是实现关系。</a:t>
            </a:r>
            <a:endParaRPr lang="zh-CN" altLang="en-US" b="1" dirty="0"/>
          </a:p>
          <a:p>
            <a:pPr eaLnBrk="1" hangingPunct="1">
              <a:lnSpc>
                <a:spcPct val="80000"/>
              </a:lnSpc>
            </a:pPr>
            <a:r>
              <a:rPr lang="zh-CN" altLang="en-US" dirty="0">
                <a:sym typeface="+mn-ea"/>
              </a:rPr>
              <a:t>用可执行的媒体（如程序设计语言、数据库、数字化硬件）描述系统功能的一个步骤。对实现而言，必须产生下层的决策以使设计适合具体的实现，并与环境相适应（每种语言有各自的限制）。</a:t>
            </a:r>
            <a:endParaRPr lang="en-US" altLang="zh-CN" dirty="0">
              <a:sym typeface="+mn-ea"/>
            </a:endParaRPr>
          </a:p>
          <a:p>
            <a:pPr eaLnBrk="1" hangingPunct="1">
              <a:lnSpc>
                <a:spcPct val="80000"/>
              </a:lnSpc>
            </a:pPr>
            <a:r>
              <a:rPr lang="zh-CN" altLang="en-US" dirty="0">
                <a:sym typeface="+mn-ea"/>
              </a:rPr>
              <a:t>如果设计得好、实现任何决策不会影响系统的全局。这一步由实现层模型捕捉。特别是静态视图和代码。</a:t>
            </a:r>
            <a:endParaRPr lang="zh-CN" altLang="en-US" dirty="0">
              <a:ea typeface="宋体" panose="02010600030101010101" pitchFamily="2" charset="-122"/>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实现</a:t>
            </a:r>
            <a:endParaRPr lang="zh-CN" altLang="en-US" dirty="0">
              <a:solidFill>
                <a:srgbClr val="C00000"/>
              </a:solidFill>
              <a:ea typeface="宋体" panose="02010600030101010101" pitchFamily="2" charset="-122"/>
            </a:endParaRPr>
          </a:p>
          <a:p>
            <a:pPr eaLnBrk="1" hangingPunct="1">
              <a:lnSpc>
                <a:spcPct val="80000"/>
              </a:lnSpc>
            </a:pPr>
            <a:r>
              <a:rPr lang="zh-CN" altLang="en-US" dirty="0">
                <a:sym typeface="+mn-ea"/>
              </a:rPr>
              <a:t>　实现关系定义某事物是如何构造的、计算的。</a:t>
            </a:r>
            <a:endParaRPr lang="en-US" altLang="zh-CN" dirty="0">
              <a:sym typeface="+mn-ea"/>
            </a:endParaRPr>
          </a:p>
          <a:p>
            <a:pPr lvl="1" eaLnBrk="1" hangingPunct="1">
              <a:lnSpc>
                <a:spcPct val="80000"/>
              </a:lnSpc>
              <a:buFont typeface="Wingdings" panose="05000000000000000000" pitchFamily="2" charset="2"/>
              <a:buChar char="Ø"/>
            </a:pPr>
            <a:r>
              <a:rPr lang="zh-CN" altLang="en-US" dirty="0">
                <a:sym typeface="+mn-ea"/>
              </a:rPr>
              <a:t>例如，类是类型的实现，方法是操作的实现。实现和说明之间是实现关系。</a:t>
            </a:r>
            <a:endParaRPr lang="zh-CN" altLang="en-US" b="1" dirty="0"/>
          </a:p>
          <a:p>
            <a:pPr eaLnBrk="1" hangingPunct="1">
              <a:lnSpc>
                <a:spcPct val="80000"/>
              </a:lnSpc>
            </a:pPr>
            <a:r>
              <a:rPr lang="zh-CN" altLang="en-US" dirty="0">
                <a:sym typeface="+mn-ea"/>
              </a:rPr>
              <a:t>用可执行的媒体（如程序设计语言、数据库、数字化硬件）描述系统功能的一个步骤。对实现而言，必须产生下层的决策以使设计适合具体的实现，并与环境相适应（每种语言有各自的限制）。</a:t>
            </a:r>
            <a:endParaRPr lang="en-US" altLang="zh-CN" dirty="0">
              <a:sym typeface="+mn-ea"/>
            </a:endParaRPr>
          </a:p>
          <a:p>
            <a:pPr eaLnBrk="1" hangingPunct="1">
              <a:lnSpc>
                <a:spcPct val="80000"/>
              </a:lnSpc>
            </a:pPr>
            <a:r>
              <a:rPr lang="zh-CN" altLang="en-US" dirty="0">
                <a:sym typeface="+mn-ea"/>
              </a:rPr>
              <a:t>如果设计得好、实现任何决策不会影响系统的全局。这一步由实现层模型捕捉。特别是静态视图和代码。</a:t>
            </a:r>
            <a:endParaRPr lang="zh-CN" altLang="en-US" dirty="0"/>
          </a:p>
          <a:p>
            <a:pPr eaLnBrk="1" hangingPunct="1">
              <a:lnSpc>
                <a:spcPct val="80000"/>
              </a:lnSpc>
            </a:pPr>
            <a:r>
              <a:rPr lang="zh-CN" altLang="en-US" dirty="0">
                <a:solidFill>
                  <a:srgbClr val="FF0000"/>
                </a:solidFill>
                <a:sym typeface="+mn-ea"/>
              </a:rPr>
              <a:t>泛化和实现关系都可以将一般描述与具体的描述联系起来。泛化将在同一个语义层内的元素连接起来，而且在同一模型内。实现关系将在不同的语义层内元素连接起来，（接口或类）并且通常建立在不同的模型内。 </a:t>
            </a:r>
            <a:endParaRPr lang="zh-CN" altLang="en-US" dirty="0">
              <a:ea typeface="宋体" panose="02010600030101010101" pitchFamily="2" charset="-122"/>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4.1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简介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4819" name="内容占位符 2"/>
          <p:cNvSpPr>
            <a:spLocks noGrp="1"/>
          </p:cNvSpPr>
          <p:nvPr>
            <p:ph sz="quarter" idx="1"/>
          </p:nvPr>
        </p:nvSpPr>
        <p:spPr>
          <a:xfrm>
            <a:off x="323850" y="1484630"/>
            <a:ext cx="8132445" cy="4989195"/>
          </a:xfrm>
        </p:spPr>
        <p:txBody>
          <a:bodyPr vert="horz" wrap="square" lIns="91440" tIns="45720" rIns="91440" bIns="45720" anchor="t" anchorCtr="0"/>
          <a:lstStyle/>
          <a:p>
            <a:pPr marL="0" lvl="0" indent="0" eaLnBrk="1" hangingPunct="1">
              <a:buClr>
                <a:schemeClr val="accent1"/>
              </a:buClr>
              <a:buSzPct val="80000"/>
              <a:buFont typeface="Wingdings 2" panose="05020102010507070707" pitchFamily="18" charset="2"/>
              <a:buNone/>
            </a:pPr>
            <a:r>
              <a:rPr lang="zh-CN" altLang="en-US" dirty="0">
                <a:solidFill>
                  <a:srgbClr val="C00000"/>
                </a:solidFill>
                <a:ea typeface="宋体" panose="02010600030101010101" pitchFamily="2" charset="-122"/>
              </a:rPr>
              <a:t>关系</a:t>
            </a:r>
            <a:r>
              <a:rPr lang="en-US" altLang="zh-CN" dirty="0">
                <a:solidFill>
                  <a:srgbClr val="C00000"/>
                </a:solidFill>
                <a:ea typeface="宋体" panose="02010600030101010101" pitchFamily="2" charset="-122"/>
              </a:rPr>
              <a:t>--</a:t>
            </a:r>
            <a:r>
              <a:rPr lang="zh-CN" altLang="en-US" dirty="0">
                <a:solidFill>
                  <a:srgbClr val="C00000"/>
                </a:solidFill>
                <a:ea typeface="宋体" panose="02010600030101010101" pitchFamily="2" charset="-122"/>
              </a:rPr>
              <a:t>实现</a:t>
            </a:r>
            <a:endParaRPr lang="zh-CN" altLang="en-US" dirty="0">
              <a:solidFill>
                <a:srgbClr val="C00000"/>
              </a:solidFill>
              <a:ea typeface="宋体" panose="02010600030101010101" pitchFamily="2" charset="-122"/>
            </a:endParaRPr>
          </a:p>
          <a:p>
            <a:pPr eaLnBrk="1" hangingPunct="1">
              <a:lnSpc>
                <a:spcPct val="80000"/>
              </a:lnSpc>
              <a:buNone/>
            </a:pPr>
            <a:r>
              <a:rPr lang="zh-CN" altLang="en-US" dirty="0">
                <a:sym typeface="+mn-ea"/>
              </a:rPr>
              <a:t>　　实现表示一个class类实现interface接口（可以是多个）的功能。</a:t>
            </a:r>
            <a:r>
              <a:rPr lang="en-US" altLang="zh-CN" dirty="0">
                <a:ea typeface="宋体" panose="02010600030101010101" pitchFamily="2" charset="-122"/>
              </a:rPr>
              <a:t>  </a:t>
            </a:r>
            <a:r>
              <a:rPr lang="zh-CN" altLang="en-US" dirty="0">
                <a:ea typeface="宋体" panose="02010600030101010101" pitchFamily="2" charset="-122"/>
              </a:rPr>
              <a:t>实现关系用一条带空心箭头的虚线来表示，箭头从源模型指向目标模型。表示源模型实现目标模型。</a:t>
            </a:r>
            <a:endParaRPr lang="zh-CN" altLang="en-US" dirty="0">
              <a:ea typeface="宋体" panose="02010600030101010101" pitchFamily="2" charset="-122"/>
            </a:endParaRPr>
          </a:p>
          <a:p>
            <a:pPr indent="0" eaLnBrk="1" hangingPunct="1">
              <a:lnSpc>
                <a:spcPct val="80000"/>
              </a:lnSpc>
              <a:buNone/>
            </a:pPr>
            <a:r>
              <a:rPr lang="zh-CN" altLang="en-US" dirty="0">
                <a:sym typeface="+mn-ea"/>
              </a:rPr>
              <a:t>比如大雁要飞翔，就要实现飞的接口</a:t>
            </a:r>
            <a:r>
              <a:rPr lang="zh-CN" altLang="en-US" dirty="0">
                <a:solidFill>
                  <a:srgbClr val="FF0000"/>
                </a:solidFill>
                <a:sym typeface="+mn-ea"/>
              </a:rPr>
              <a:t> </a:t>
            </a:r>
            <a:endParaRPr lang="zh-CN" altLang="en-US" dirty="0">
              <a:solidFill>
                <a:srgbClr val="FF0000"/>
              </a:solidFill>
              <a:sym typeface="+mn-ea"/>
            </a:endParaRPr>
          </a:p>
          <a:p>
            <a:pPr eaLnBrk="1" hangingPunct="1">
              <a:lnSpc>
                <a:spcPct val="80000"/>
              </a:lnSpc>
              <a:buNone/>
            </a:pPr>
            <a:endParaRPr lang="zh-CN" altLang="en-US" dirty="0">
              <a:ea typeface="宋体" panose="02010600030101010101" pitchFamily="2" charset="-122"/>
            </a:endParaRPr>
          </a:p>
        </p:txBody>
      </p:sp>
      <p:sp>
        <p:nvSpPr>
          <p:cNvPr id="348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0" name="图片 99"/>
          <p:cNvPicPr/>
          <p:nvPr>
            <p:custDataLst>
              <p:tags r:id="rId1"/>
            </p:custDataLst>
          </p:nvPr>
        </p:nvPicPr>
        <p:blipFill>
          <a:blip r:embed="rId2"/>
          <a:srcRect l="27562" r="27549"/>
          <a:stretch>
            <a:fillRect/>
          </a:stretch>
        </p:blipFill>
        <p:spPr>
          <a:xfrm>
            <a:off x="2195830" y="3644900"/>
            <a:ext cx="4781550" cy="2129790"/>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stretch>
            <a:fillRect/>
          </a:stretch>
        </p:blipFill>
        <p:spPr>
          <a:xfrm>
            <a:off x="3204210" y="618490"/>
            <a:ext cx="5534660" cy="5636260"/>
          </a:xfrm>
          <a:prstGeom prst="rect">
            <a:avLst/>
          </a:prstGeom>
        </p:spPr>
      </p:pic>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5844"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6" name="文本框 5"/>
          <p:cNvSpPr txBox="1"/>
          <p:nvPr/>
        </p:nvSpPr>
        <p:spPr>
          <a:xfrm>
            <a:off x="251460" y="1700530"/>
            <a:ext cx="3048000" cy="4399915"/>
          </a:xfrm>
          <a:prstGeom prst="rect">
            <a:avLst/>
          </a:prstGeom>
          <a:noFill/>
        </p:spPr>
        <p:txBody>
          <a:bodyPr wrap="square" rtlCol="0">
            <a:spAutoFit/>
          </a:bodyPr>
          <a:lstStyle/>
          <a:p>
            <a:r>
              <a:rPr lang="zh-CN" altLang="en-US" b="1">
                <a:solidFill>
                  <a:srgbClr val="FF0000"/>
                </a:solidFill>
                <a:latin typeface="仿宋" panose="02010609060101010101" charset="-122"/>
                <a:ea typeface="仿宋" panose="02010609060101010101" charset="-122"/>
              </a:rPr>
              <a:t>静态图</a:t>
            </a:r>
            <a:r>
              <a:rPr lang="zh-CN" altLang="en-US" b="1">
                <a:latin typeface="仿宋" panose="02010609060101010101" charset="-122"/>
                <a:ea typeface="仿宋" panose="02010609060101010101" charset="-122"/>
              </a:rPr>
              <a:t>描述系统的结构。分为：用例图，类图，对象图，（包图），构件图，部署图。</a:t>
            </a:r>
            <a:endParaRPr lang="zh-CN" altLang="en-US" b="1">
              <a:latin typeface="仿宋" panose="02010609060101010101" charset="-122"/>
              <a:ea typeface="仿宋" panose="02010609060101010101" charset="-122"/>
            </a:endParaRPr>
          </a:p>
          <a:p>
            <a:endParaRPr lang="zh-CN" altLang="en-US" b="1">
              <a:latin typeface="仿宋" panose="02010609060101010101" charset="-122"/>
              <a:ea typeface="仿宋" panose="02010609060101010101" charset="-122"/>
            </a:endParaRPr>
          </a:p>
          <a:p>
            <a:r>
              <a:rPr lang="zh-CN" altLang="en-US" b="1">
                <a:solidFill>
                  <a:srgbClr val="FF0000"/>
                </a:solidFill>
                <a:latin typeface="仿宋" panose="02010609060101010101" charset="-122"/>
                <a:ea typeface="仿宋" panose="02010609060101010101" charset="-122"/>
              </a:rPr>
              <a:t>动态图</a:t>
            </a:r>
            <a:r>
              <a:rPr lang="zh-CN" altLang="en-US" b="1">
                <a:latin typeface="仿宋" panose="02010609060101010101" charset="-122"/>
                <a:ea typeface="仿宋" panose="02010609060101010101" charset="-122"/>
              </a:rPr>
              <a:t>描述系统的行为。分为：状态图，活动图，协作图，序列图。</a:t>
            </a:r>
            <a:endParaRPr lang="zh-CN" altLang="en-US" b="1">
              <a:latin typeface="仿宋" panose="02010609060101010101" charset="-122"/>
              <a:ea typeface="仿宋" panose="02010609060101010101"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6867" name="内容占位符 2"/>
          <p:cNvSpPr>
            <a:spLocks noGrp="1"/>
          </p:cNvSpPr>
          <p:nvPr>
            <p:ph sz="quarter" idx="1"/>
          </p:nvPr>
        </p:nvSpPr>
        <p:spPr>
          <a:xfrm>
            <a:off x="457200" y="1700213"/>
            <a:ext cx="7499350" cy="4968875"/>
          </a:xfrm>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1</a:t>
            </a:r>
            <a:r>
              <a:rPr lang="zh-CN" altLang="en-US" dirty="0">
                <a:ea typeface="宋体" panose="02010600030101010101" pitchFamily="2" charset="-122"/>
              </a:rPr>
              <a:t>、用例模型图</a:t>
            </a:r>
            <a:endParaRPr lang="en-US" altLang="zh-CN" dirty="0">
              <a:ea typeface="宋体" panose="02010600030101010101" pitchFamily="2" charset="-122"/>
            </a:endParaRPr>
          </a:p>
          <a:p>
            <a:pPr marL="273050" lvl="1" eaLnBrk="1" hangingPunct="1">
              <a:spcBef>
                <a:spcPts val="600"/>
              </a:spcBef>
              <a:buClr>
                <a:schemeClr val="accent1"/>
              </a:buClr>
              <a:buSzPct val="70000"/>
              <a:buFont typeface="Wingdings" panose="05000000000000000000" pitchFamily="2" charset="2"/>
              <a:buChar char=""/>
            </a:pPr>
            <a:r>
              <a:rPr lang="zh-CN" altLang="en-US" dirty="0">
                <a:ea typeface="宋体" panose="02010600030101010101" pitchFamily="2" charset="-122"/>
              </a:rPr>
              <a:t>用例图：着重于描述系统外部的行为者与系统的用例之间的某种联系，从系统外部行为者的角度来描述系统需要提供哪些功能，并且指明了这些功能的行为者是谁。</a:t>
            </a:r>
            <a:endParaRPr lang="zh-CN" altLang="en-US" dirty="0">
              <a:ea typeface="宋体" panose="02010600030101010101" pitchFamily="2" charset="-122"/>
            </a:endParaRPr>
          </a:p>
          <a:p>
            <a:pPr marL="273050" lvl="1" eaLnBrk="1" hangingPunct="1">
              <a:spcBef>
                <a:spcPts val="600"/>
              </a:spcBef>
              <a:buClr>
                <a:schemeClr val="accent1"/>
              </a:buClr>
              <a:buSzPct val="70000"/>
              <a:buFont typeface="Wingdings" panose="05000000000000000000" pitchFamily="2" charset="2"/>
              <a:buChar char=""/>
            </a:pPr>
            <a:r>
              <a:rPr lang="en-US" altLang="zh-CN" dirty="0">
                <a:ea typeface="宋体" panose="02010600030101010101" pitchFamily="2" charset="-122"/>
              </a:rPr>
              <a:t>用例图在很大程度上用于软件系统的分析阶段，是辅助进行需求分析的有效手段。并且，用例图往往表达的并非是需求的详述，而是一种辅助，常常针对的是核心的成功场景。用例抽象的质量，会对后续进一步的分析和设计即OOAD的工作产生影响。</a:t>
            </a:r>
            <a:endParaRPr lang="en-US" altLang="zh-CN" dirty="0">
              <a:ea typeface="宋体" panose="02010600030101010101" pitchFamily="2" charset="-122"/>
            </a:endParaRPr>
          </a:p>
          <a:p>
            <a:pPr marL="273050" lvl="1" eaLnBrk="1" hangingPunct="1">
              <a:spcBef>
                <a:spcPts val="600"/>
              </a:spcBef>
              <a:buClr>
                <a:schemeClr val="accent1"/>
              </a:buClr>
              <a:buSzPct val="70000"/>
              <a:buFont typeface="Wingdings" panose="05000000000000000000" pitchFamily="2" charset="2"/>
              <a:buChar char=""/>
            </a:pPr>
            <a:r>
              <a:rPr lang="zh-CN" altLang="zh-CN" dirty="0">
                <a:ea typeface="宋体" panose="02010600030101010101" pitchFamily="2" charset="-122"/>
              </a:rPr>
              <a:t>开发者与客户交流的纽带</a:t>
            </a:r>
            <a:endParaRPr lang="zh-CN" altLang="zh-CN" dirty="0">
              <a:ea typeface="宋体" panose="02010600030101010101" pitchFamily="2" charset="-122"/>
            </a:endParaRPr>
          </a:p>
        </p:txBody>
      </p:sp>
      <p:sp>
        <p:nvSpPr>
          <p:cNvPr id="368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基本元素及图符</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用例</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Use Case</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）：对系统提供的功能（或称系统的用途）的一种描述。用一个椭圆来表示</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参与者</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（行为者</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执行者）（</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Actor</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）：可能使用这些用例的人或外部系统</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系统边界</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：用于界定系统功能范围，描述该系统功能的用例都置于其中，而描述外部实体的行为者都置于其外。</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关系</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2960" marR="0" lvl="2" indent="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包含</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&lt;&lt;include&gt;&gt;, </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扩展</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&lt;&lt;extend&gt;&gt;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822960" marR="0" lvl="2" indent="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泛化</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&lt;&lt;generation&gt;&gt;</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，使用</a:t>
            </a:r>
            <a:r>
              <a:rPr kumimoji="0" lang="en-US" altLang="zh-CN" sz="2400" b="1" i="0" u="none" strike="noStrike" kern="1200" cap="none" spc="0" normalizeH="0" baseline="0" noProof="0" dirty="0">
                <a:ln>
                  <a:noFill/>
                </a:ln>
                <a:solidFill>
                  <a:schemeClr val="tx1"/>
                </a:solidFill>
                <a:effectLst/>
                <a:uLnTx/>
                <a:uFillTx/>
                <a:latin typeface="+mn-lt"/>
                <a:ea typeface="+mn-ea"/>
                <a:cs typeface="+mn-cs"/>
              </a:rPr>
              <a:t>&lt;&lt;use&gt;&gt;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3789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789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1" name="图片 100"/>
          <p:cNvPicPr/>
          <p:nvPr>
            <p:custDataLst>
              <p:tags r:id="rId1"/>
            </p:custDataLst>
          </p:nvPr>
        </p:nvPicPr>
        <p:blipFill>
          <a:blip r:embed="rId2"/>
          <a:srcRect l="19799" r="21139"/>
          <a:stretch>
            <a:fillRect/>
          </a:stretch>
        </p:blipFill>
        <p:spPr>
          <a:xfrm>
            <a:off x="1619885" y="1610360"/>
            <a:ext cx="5400675" cy="3256280"/>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789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3" name="图片 2"/>
          <p:cNvPicPr>
            <a:picLocks noChangeAspect="1"/>
          </p:cNvPicPr>
          <p:nvPr>
            <p:custDataLst>
              <p:tags r:id="rId1"/>
            </p:custDataLst>
          </p:nvPr>
        </p:nvPicPr>
        <p:blipFill>
          <a:blip r:embed="rId2"/>
          <a:stretch>
            <a:fillRect/>
          </a:stretch>
        </p:blipFill>
        <p:spPr>
          <a:xfrm>
            <a:off x="971550" y="2060575"/>
            <a:ext cx="7242810" cy="326136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789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4" name="图片 3"/>
          <p:cNvPicPr>
            <a:picLocks noChangeAspect="1"/>
          </p:cNvPicPr>
          <p:nvPr>
            <p:custDataLst>
              <p:tags r:id="rId1"/>
            </p:custDataLst>
          </p:nvPr>
        </p:nvPicPr>
        <p:blipFill>
          <a:blip r:embed="rId2"/>
          <a:stretch>
            <a:fillRect/>
          </a:stretch>
        </p:blipFill>
        <p:spPr>
          <a:xfrm>
            <a:off x="611505" y="1849120"/>
            <a:ext cx="7769860" cy="388493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8915"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2</a:t>
            </a:r>
            <a:r>
              <a:rPr lang="zh-CN" altLang="en-US" dirty="0">
                <a:ea typeface="宋体" panose="02010600030101010101" pitchFamily="2" charset="-122"/>
              </a:rPr>
              <a:t>、类图</a:t>
            </a:r>
            <a:endParaRPr lang="en-US" altLang="zh-CN" dirty="0">
              <a:ea typeface="宋体" panose="02010600030101010101" pitchFamily="2" charset="-122"/>
            </a:endParaRPr>
          </a:p>
          <a:p>
            <a:pPr marL="457200" lvl="1" indent="-457200" eaLnBrk="1" hangingPunct="1">
              <a:spcBef>
                <a:spcPts val="600"/>
              </a:spcBef>
              <a:buClr>
                <a:schemeClr val="accent1"/>
              </a:buClr>
              <a:buSzPct val="70000"/>
              <a:buFontTx/>
              <a:buAutoNum type="circleNumDbPlain"/>
            </a:pPr>
            <a:r>
              <a:rPr lang="zh-CN" altLang="en-US" dirty="0">
                <a:ea typeface="宋体" panose="02010600030101010101" pitchFamily="2" charset="-122"/>
              </a:rPr>
              <a:t>描述了系统中的类及其相互之间的各种关系，其本质反映了系统中包含的各种对象的类型以及对象间的各种静态关系。</a:t>
            </a:r>
            <a:endParaRPr lang="zh-CN" altLang="en-US" dirty="0">
              <a:ea typeface="宋体" panose="02010600030101010101" pitchFamily="2" charset="-122"/>
            </a:endParaRPr>
          </a:p>
          <a:p>
            <a:pPr marL="457200" lvl="1" indent="-457200" eaLnBrk="1" hangingPunct="1">
              <a:spcBef>
                <a:spcPts val="600"/>
              </a:spcBef>
              <a:buClr>
                <a:schemeClr val="accent1"/>
              </a:buClr>
              <a:buSzPct val="70000"/>
              <a:buFontTx/>
              <a:buAutoNum type="circleNumDbPlain"/>
            </a:pPr>
            <a:r>
              <a:rPr lang="en-US" altLang="zh-CN" dirty="0">
                <a:ea typeface="宋体" panose="02010600030101010101" pitchFamily="2" charset="-122"/>
              </a:rPr>
              <a:t>类图是一个静态视图，它的核心包括类的表示法以及类之间关系的表示。</a:t>
            </a:r>
            <a:endParaRPr lang="en-US" altLang="zh-CN" dirty="0">
              <a:ea typeface="宋体" panose="02010600030101010101" pitchFamily="2" charset="-122"/>
            </a:endParaRPr>
          </a:p>
          <a:p>
            <a:pPr marL="457200" lvl="1" indent="-457200" eaLnBrk="1" hangingPunct="1">
              <a:spcBef>
                <a:spcPts val="600"/>
              </a:spcBef>
              <a:buClr>
                <a:schemeClr val="accent1"/>
              </a:buClr>
              <a:buSzPct val="70000"/>
              <a:buFontTx/>
              <a:buAutoNum type="circleNumDbPlain"/>
            </a:pPr>
            <a:r>
              <a:rPr lang="zh-CN" altLang="en-US" dirty="0">
                <a:ea typeface="宋体" panose="02010600030101010101" pitchFamily="2" charset="-122"/>
              </a:rPr>
              <a:t>一个系统可以有多张类图，一个类也可以出现在几张类图中。</a:t>
            </a:r>
            <a:endParaRPr lang="en-US" altLang="zh-CN" dirty="0">
              <a:ea typeface="宋体" panose="02010600030101010101" pitchFamily="2" charset="-122"/>
            </a:endParaRPr>
          </a:p>
        </p:txBody>
      </p:sp>
      <p:sp>
        <p:nvSpPr>
          <p:cNvPr id="38916"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9939" name="内容占位符 2"/>
          <p:cNvSpPr>
            <a:spLocks noGrp="1"/>
          </p:cNvSpPr>
          <p:nvPr>
            <p:ph sz="quarter" idx="1"/>
          </p:nvPr>
        </p:nvSpPr>
        <p:spPr>
          <a:xfrm>
            <a:off x="457200" y="1412875"/>
            <a:ext cx="7643813" cy="5060950"/>
          </a:xfrm>
        </p:spPr>
        <p:txBody>
          <a:bodyPr vert="horz" wrap="square" lIns="91440" tIns="45720" rIns="91440" bIns="45720" numCol="1" anchor="t" anchorCtr="0" compatLnSpc="1"/>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基本元素及图符</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类</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：表示一个类，其中第一栏是类的名，第二栏是类的属性，第三栏是类的操作（方法）。</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属性定义的格式：</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[可视性]属性名[：属性类型]，其中[]内为可选内容；</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方法定义的格式：</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[可视性]操作名[(参数列表)][：返回类型][{特性}]</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关键表示的意义：</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表示</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public</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-表示private</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#表示protected</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~表示default,也就是包权限</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_下划线表示static</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1097280" marR="0" lvl="2"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斜体表示abstract抽象类</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399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99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4" name="内容占位符 3"/>
          <p:cNvPicPr>
            <a:picLocks noGrp="1" noChangeAspect="1"/>
          </p:cNvPicPr>
          <p:nvPr>
            <p:ph sz="quarter" idx="1"/>
            <p:custDataLst>
              <p:tags r:id="rId1"/>
            </p:custDataLst>
          </p:nvPr>
        </p:nvPicPr>
        <p:blipFill>
          <a:blip r:embed="rId2"/>
          <a:stretch>
            <a:fillRect/>
          </a:stretch>
        </p:blipFill>
        <p:spPr>
          <a:xfrm>
            <a:off x="2099945" y="1650365"/>
            <a:ext cx="4181475" cy="477202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9939" name="内容占位符 2"/>
          <p:cNvSpPr>
            <a:spLocks noGrp="1"/>
          </p:cNvSpPr>
          <p:nvPr>
            <p:ph sz="quarter" idx="1"/>
          </p:nvPr>
        </p:nvSpPr>
        <p:spPr>
          <a:xfrm>
            <a:off x="457200" y="1412875"/>
            <a:ext cx="7643813" cy="5060950"/>
          </a:xfrm>
        </p:spPr>
        <p:txBody>
          <a:bodyPr vert="horz" wrap="square" lIns="91440" tIns="45720" rIns="91440" bIns="45720" numCol="1" anchor="t" anchorCtr="0" compatLnSpc="1"/>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基本元素及图符</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关联</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：用于表示类的对象之间的关系。其特殊形式有组成关联和聚集关联。</a:t>
            </a:r>
            <a:endParaRPr kumimoji="0" lang="en-US" altLang="zh-CN" sz="2000" b="1" i="0" u="none" strike="noStrike" kern="1200" cap="none" spc="0" normalizeH="0" baseline="0" noProof="0" dirty="0">
              <a:ln>
                <a:noFill/>
              </a:ln>
              <a:solidFill>
                <a:srgbClr val="0070C0"/>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聚集关联</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聚合</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）：用于表示类的对象之间的关系是整体与部分的关系。</a:t>
            </a: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has a </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组成关联</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组合</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）：用于表示类的对象之间的关系，整体拥有各部分，部分与整体共存，如整体不存在了，部分也会随之消失。</a:t>
            </a: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contains a</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泛化关联</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继承关系</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 ：定义了类和包间的一般元素和特殊元素之间的分类关系。</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消息连接</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依赖关系</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）：有两个类或包元素</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X</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Y</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，修改元素</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X</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的定义可能会引起对另一个元素</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Y</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的定义的修改，则称元素</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Y</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依赖于元素</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X</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399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40963"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40964" name="Picture 5" descr="t01"/>
          <p:cNvPicPr>
            <a:picLocks noGrp="1" noChangeAspect="1"/>
          </p:cNvPicPr>
          <p:nvPr>
            <p:ph sz="quarter" idx="1"/>
          </p:nvPr>
        </p:nvPicPr>
        <p:blipFill>
          <a:blip r:embed="rId1"/>
          <a:srcRect t="5646" b="5992"/>
          <a:stretch>
            <a:fillRect/>
          </a:stretch>
        </p:blipFill>
        <p:spPr>
          <a:xfrm>
            <a:off x="1042988" y="1989138"/>
            <a:ext cx="6943725" cy="3384550"/>
          </a:xfr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lnSpcReduction="10000"/>
          </a:bodyPr>
          <a:lstStyle/>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对象图：类图的一种实例化。一张对象图表示的是与其对应的类图的一个具体实例，即系统在某一时期或者某一特定时刻可能存在的具体对象实例以及它们相互之间的具体关系。</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对象图是类图的一种变形：除了在对象名下面要加下划线以外，对象图中所使用的符号与类图基本相同。</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对象图并不象类图那样具有重要的地位，但是利用它可以帮助我们通过具体的实例分析，更具体直观地了解复杂系统类图的丰富内涵。</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基本元素及图符</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对象</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：类的一个实例。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链接</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：用于表示对象间的关联关系的一个实例。</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4301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44035"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44036" name="Picture 5" descr="图5"/>
          <p:cNvPicPr>
            <a:picLocks noGrp="1" noChangeAspect="1"/>
          </p:cNvPicPr>
          <p:nvPr>
            <p:ph sz="quarter" idx="1"/>
          </p:nvPr>
        </p:nvPicPr>
        <p:blipFill>
          <a:blip r:embed="rId1"/>
          <a:srcRect/>
          <a:stretch>
            <a:fillRect/>
          </a:stretch>
        </p:blipFill>
        <p:spPr>
          <a:xfrm>
            <a:off x="1428750" y="1700213"/>
            <a:ext cx="5664200" cy="4552950"/>
          </a:xfr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45059"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包图：显示的是类的</a:t>
            </a:r>
            <a:r>
              <a:rPr lang="zh-CN" altLang="en-US" dirty="0">
                <a:solidFill>
                  <a:srgbClr val="0070C0"/>
                </a:solidFill>
                <a:ea typeface="宋体" panose="02010600030101010101" pitchFamily="2" charset="-122"/>
              </a:rPr>
              <a:t>包</a:t>
            </a:r>
            <a:r>
              <a:rPr lang="zh-CN" altLang="en-US" dirty="0">
                <a:ea typeface="宋体" panose="02010600030101010101" pitchFamily="2" charset="-122"/>
              </a:rPr>
              <a:t>以及这些包之间的依赖关系。</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包名：每个包必须有一个与其他包相区别的名称，包的名字是一个字符串，有简单名和路径名之分。</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4506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3" name="图片 2"/>
          <p:cNvPicPr>
            <a:picLocks noChangeAspect="1"/>
          </p:cNvPicPr>
          <p:nvPr>
            <p:custDataLst>
              <p:tags r:id="rId1"/>
            </p:custDataLst>
          </p:nvPr>
        </p:nvPicPr>
        <p:blipFill>
          <a:blip r:embed="rId2"/>
          <a:stretch>
            <a:fillRect/>
          </a:stretch>
        </p:blipFill>
        <p:spPr>
          <a:xfrm>
            <a:off x="1691640" y="3284855"/>
            <a:ext cx="5576570" cy="21399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45059"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当不需要显示包的内容时，将包的名字放入主方框内； 当需要显示包的内容时，将包的名字放入左上角的小方框中，内容放入主方框内。</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4506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5" name="图片 4"/>
          <p:cNvPicPr>
            <a:picLocks noChangeAspect="1"/>
          </p:cNvPicPr>
          <p:nvPr>
            <p:custDataLst>
              <p:tags r:id="rId1"/>
            </p:custDataLst>
          </p:nvPr>
        </p:nvPicPr>
        <p:blipFill>
          <a:blip r:embed="rId2"/>
          <a:stretch>
            <a:fillRect/>
          </a:stretch>
        </p:blipFill>
        <p:spPr>
          <a:xfrm>
            <a:off x="1619885" y="3357245"/>
            <a:ext cx="5749290" cy="211137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45059"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包元素的可见性：用来表示包外界的元素对包内元素的可访问权限。</a:t>
            </a:r>
            <a:endParaRPr lang="zh-CN" altLang="en-US" dirty="0">
              <a:ea typeface="宋体" panose="02010600030101010101" pitchFamily="2" charset="-122"/>
            </a:endParaRPr>
          </a:p>
          <a:p>
            <a:pPr lvl="1" eaLnBrk="1" hangingPunct="1">
              <a:buClr>
                <a:schemeClr val="accent1"/>
              </a:buClr>
              <a:buSzPct val="70000"/>
              <a:buFont typeface="Wingdings" panose="05000000000000000000" pitchFamily="2" charset="2"/>
            </a:pPr>
            <a:r>
              <a:rPr lang="zh-CN" altLang="en-US" dirty="0">
                <a:ea typeface="宋体" panose="02010600030101010101" pitchFamily="2" charset="-122"/>
              </a:rPr>
              <a:t>公有访问（+）：表示包内的元素可以被任何引入了此包的其他包的内含元素访问。 </a:t>
            </a:r>
            <a:endParaRPr lang="zh-CN" altLang="en-US" dirty="0">
              <a:ea typeface="宋体" panose="02010600030101010101" pitchFamily="2" charset="-122"/>
            </a:endParaRPr>
          </a:p>
          <a:p>
            <a:pPr lvl="1" eaLnBrk="1" hangingPunct="1">
              <a:buClr>
                <a:schemeClr val="accent1"/>
              </a:buClr>
              <a:buSzPct val="70000"/>
              <a:buFont typeface="Wingdings" panose="05000000000000000000" pitchFamily="2" charset="2"/>
            </a:pPr>
            <a:r>
              <a:rPr lang="zh-CN" altLang="en-US" dirty="0">
                <a:ea typeface="宋体" panose="02010600030101010101" pitchFamily="2" charset="-122"/>
              </a:rPr>
              <a:t>保护访问（#）：表示此元素能被该包的子包内所含元素访问。 </a:t>
            </a:r>
            <a:endParaRPr lang="zh-CN" altLang="en-US" dirty="0">
              <a:ea typeface="宋体" panose="02010600030101010101" pitchFamily="2" charset="-122"/>
            </a:endParaRPr>
          </a:p>
          <a:p>
            <a:pPr lvl="1" eaLnBrk="1" hangingPunct="1">
              <a:buClr>
                <a:schemeClr val="accent1"/>
              </a:buClr>
              <a:buSzPct val="70000"/>
              <a:buFont typeface="Wingdings" panose="05000000000000000000" pitchFamily="2" charset="2"/>
            </a:pPr>
            <a:r>
              <a:rPr lang="zh-CN" altLang="en-US" dirty="0">
                <a:ea typeface="宋体" panose="02010600030101010101" pitchFamily="2" charset="-122"/>
              </a:rPr>
              <a:t>私有访问（-）：表示此元素只能被属于同一包的内含元素访问，外部无法访问。</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4506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2" name="图片 101"/>
          <p:cNvPicPr/>
          <p:nvPr>
            <p:custDataLst>
              <p:tags r:id="rId1"/>
            </p:custDataLst>
          </p:nvPr>
        </p:nvPicPr>
        <p:blipFill>
          <a:blip r:embed="rId2"/>
          <a:stretch>
            <a:fillRect/>
          </a:stretch>
        </p:blipFill>
        <p:spPr>
          <a:xfrm>
            <a:off x="2555875" y="4940935"/>
            <a:ext cx="2679700" cy="1549400"/>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45059"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包之间的关系主要有依赖关系和泛化关系。</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包之间的依赖关系是指两个包内的若干元素之间存在着依赖。</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依赖使用虚线箭头表示。箭头由依赖包指向被依赖的包。</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下图表示的是两个包之间的依赖关系。</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4506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3" name="图片 102"/>
          <p:cNvPicPr/>
          <p:nvPr>
            <p:custDataLst>
              <p:tags r:id="rId1"/>
            </p:custDataLst>
          </p:nvPr>
        </p:nvPicPr>
        <p:blipFill>
          <a:blip r:embed="rId2"/>
          <a:stretch>
            <a:fillRect/>
          </a:stretch>
        </p:blipFill>
        <p:spPr>
          <a:xfrm>
            <a:off x="1259840" y="4292918"/>
            <a:ext cx="6096000" cy="1933575"/>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a:ln>
                <a:noFill/>
              </a:ln>
              <a:solidFill>
                <a:schemeClr val="tx2"/>
              </a:solidFill>
              <a:effectLst/>
              <a:uLnTx/>
              <a:uFillTx/>
              <a:latin typeface="+mj-lt"/>
              <a:ea typeface="+mj-ea"/>
              <a:cs typeface="+mj-cs"/>
            </a:endParaRPr>
          </a:p>
        </p:txBody>
      </p:sp>
      <p:sp>
        <p:nvSpPr>
          <p:cNvPr id="46083" name="内容占位符 2"/>
          <p:cNvSpPr>
            <a:spLocks noGrp="1"/>
          </p:cNvSpPr>
          <p:nvPr>
            <p:ph sz="quarter" idx="1"/>
          </p:nvPr>
        </p:nvSpPr>
        <p:spPr/>
        <p:txBody>
          <a:bodyPr vert="horz" wrap="square" lIns="91440" tIns="45720" rIns="91440" bIns="45720" anchor="t" anchorCtr="0"/>
          <a:lstStyle/>
          <a:p>
            <a:pPr marL="457200" indent="-457200" eaLnBrk="1" hangingPunct="1">
              <a:buClr>
                <a:schemeClr val="accent1"/>
              </a:buClr>
              <a:buSzPct val="70000"/>
              <a:buFontTx/>
              <a:buAutoNum type="circleNumDbPlain" startAt="3"/>
            </a:pPr>
            <a:r>
              <a:rPr lang="zh-CN" altLang="en-US" dirty="0">
                <a:ea typeface="宋体" panose="02010600030101010101" pitchFamily="2" charset="-122"/>
              </a:rPr>
              <a:t>构件图（组件图）：描述软件构件以及它们之间的依赖关系，便于人们分析和发现当修改某个构件时可能对哪些构件产生影响，以便对它们做相应的修改或更新。</a:t>
            </a:r>
            <a:endParaRPr lang="zh-CN" altLang="en-US" dirty="0">
              <a:ea typeface="宋体" panose="02010600030101010101" pitchFamily="2" charset="-122"/>
            </a:endParaRPr>
          </a:p>
          <a:p>
            <a:pPr marL="457200" indent="-457200" eaLnBrk="1" hangingPunct="1">
              <a:buClr>
                <a:schemeClr val="accent1"/>
              </a:buClr>
              <a:buSzPct val="70000"/>
              <a:buFontTx/>
              <a:buAutoNum type="circleNumDbPlain" startAt="3"/>
            </a:pPr>
            <a:r>
              <a:rPr lang="en-US" altLang="zh-CN" dirty="0">
                <a:ea typeface="宋体" panose="02010600030101010101" pitchFamily="2" charset="-122"/>
              </a:rPr>
              <a:t>构件图用于静态建模，是表示构件类型的组织以及各种构件之间依赖关系的图。</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构件（</a:t>
            </a:r>
            <a:r>
              <a:rPr lang="en-US" altLang="zh-CN" dirty="0">
                <a:solidFill>
                  <a:srgbClr val="0070C0"/>
                </a:solidFill>
                <a:ea typeface="宋体" panose="02010600030101010101" pitchFamily="2" charset="-122"/>
              </a:rPr>
              <a:t> </a:t>
            </a:r>
            <a:r>
              <a:rPr lang="en-US" altLang="zh-CN" dirty="0">
                <a:ea typeface="宋体" panose="02010600030101010101" pitchFamily="2" charset="-122"/>
              </a:rPr>
              <a:t>Component </a:t>
            </a:r>
            <a:r>
              <a:rPr lang="zh-CN" altLang="en-US" dirty="0">
                <a:ea typeface="宋体" panose="02010600030101010101" pitchFamily="2" charset="-122"/>
              </a:rPr>
              <a:t>）是系统中可替换的物理部分，它包装了实现而且遵从并提供一组接口的实现。</a:t>
            </a:r>
            <a:r>
              <a:rPr lang="zh-CN" altLang="en-US" dirty="0">
                <a:latin typeface="Times New Roman" panose="02020603050405020304" pitchFamily="18" charset="0"/>
                <a:ea typeface="宋体" panose="02010600030101010101" pitchFamily="2" charset="-122"/>
              </a:rPr>
              <a:t>构件间通过接口连接。</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构件可以是源代码构件、二进制目标码构件、可执行构件等。</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endParaRPr lang="zh-CN" altLang="en-US" dirty="0">
              <a:ea typeface="宋体" panose="02010600030101010101" pitchFamily="2" charset="-122"/>
            </a:endParaRPr>
          </a:p>
          <a:p>
            <a:pPr marL="457200" indent="-457200"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46084"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a:ln>
                <a:noFill/>
              </a:ln>
              <a:solidFill>
                <a:schemeClr val="tx2"/>
              </a:solidFill>
              <a:effectLst/>
              <a:uLnTx/>
              <a:uFillTx/>
              <a:latin typeface="+mj-lt"/>
              <a:ea typeface="+mj-ea"/>
              <a:cs typeface="+mj-cs"/>
            </a:endParaRPr>
          </a:p>
        </p:txBody>
      </p:sp>
      <p:sp>
        <p:nvSpPr>
          <p:cNvPr id="46083" name="内容占位符 2"/>
          <p:cNvSpPr>
            <a:spLocks noGrp="1"/>
          </p:cNvSpPr>
          <p:nvPr>
            <p:ph sz="quarter" idx="1"/>
          </p:nvPr>
        </p:nvSpPr>
        <p:spPr/>
        <p:txBody>
          <a:bodyPr vert="horz" wrap="square" lIns="91440" tIns="45720" rIns="91440" bIns="45720" anchor="t" anchorCtr="0"/>
          <a:lstStyle/>
          <a:p>
            <a:pPr marL="457200" indent="-457200" eaLnBrk="1" hangingPunct="1">
              <a:buClr>
                <a:schemeClr val="accent1"/>
              </a:buClr>
              <a:buSzPct val="70000"/>
              <a:buFontTx/>
              <a:buAutoNum type="circleNumDbPlain" startAt="3"/>
            </a:pPr>
            <a:r>
              <a:rPr lang="zh-CN" altLang="en-US" dirty="0">
                <a:ea typeface="宋体" panose="02010600030101010101" pitchFamily="2" charset="-122"/>
              </a:rPr>
              <a:t>组件图中主要包括组件、接口及其它们之间的关系三种元素。组件图中的关系主要包括两种：依赖关系和实现关系。</a:t>
            </a:r>
            <a:endParaRPr lang="zh-CN" altLang="en-US" dirty="0">
              <a:ea typeface="宋体" panose="02010600030101010101" pitchFamily="2" charset="-122"/>
            </a:endParaRPr>
          </a:p>
          <a:p>
            <a:pPr marL="457200" indent="-457200"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46084"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3" name="图片 2"/>
          <p:cNvPicPr>
            <a:picLocks noChangeAspect="1"/>
          </p:cNvPicPr>
          <p:nvPr>
            <p:custDataLst>
              <p:tags r:id="rId1"/>
            </p:custDataLst>
          </p:nvPr>
        </p:nvPicPr>
        <p:blipFill>
          <a:blip r:embed="rId2"/>
          <a:stretch>
            <a:fillRect/>
          </a:stretch>
        </p:blipFill>
        <p:spPr>
          <a:xfrm>
            <a:off x="683895" y="3068955"/>
            <a:ext cx="7688580" cy="256222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a:ln>
                <a:noFill/>
              </a:ln>
              <a:solidFill>
                <a:schemeClr val="tx2"/>
              </a:solidFill>
              <a:effectLst/>
              <a:uLnTx/>
              <a:uFillTx/>
              <a:latin typeface="+mj-lt"/>
              <a:ea typeface="+mj-ea"/>
              <a:cs typeface="+mj-cs"/>
            </a:endParaRPr>
          </a:p>
        </p:txBody>
      </p:sp>
      <p:sp>
        <p:nvSpPr>
          <p:cNvPr id="46084"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4" name="图片 103"/>
          <p:cNvPicPr/>
          <p:nvPr>
            <p:custDataLst>
              <p:tags r:id="rId1"/>
            </p:custDataLst>
          </p:nvPr>
        </p:nvPicPr>
        <p:blipFill>
          <a:blip r:embed="rId2"/>
          <a:stretch>
            <a:fillRect/>
          </a:stretch>
        </p:blipFill>
        <p:spPr>
          <a:xfrm>
            <a:off x="971550" y="2277110"/>
            <a:ext cx="6934200" cy="3359150"/>
          </a:xfrm>
          <a:prstGeom prst="rect">
            <a:avLst/>
          </a:prstGeom>
          <a:noFill/>
          <a:ln w="9525">
            <a:noFill/>
          </a:ln>
        </p:spPr>
      </p:pic>
      <p:sp>
        <p:nvSpPr>
          <p:cNvPr id="4" name="文本框 3"/>
          <p:cNvSpPr txBox="1"/>
          <p:nvPr/>
        </p:nvSpPr>
        <p:spPr>
          <a:xfrm>
            <a:off x="899795" y="1700530"/>
            <a:ext cx="3162300" cy="280035"/>
          </a:xfrm>
          <a:prstGeom prst="rect">
            <a:avLst/>
          </a:prstGeom>
          <a:noFill/>
        </p:spPr>
        <p:txBody>
          <a:bodyPr wrap="square" rtlCol="0" anchor="t">
            <a:noAutofit/>
          </a:bodyPr>
          <a:lstStyle/>
          <a:p>
            <a:r>
              <a:rPr lang="zh-CN" altLang="en-US" sz="2000"/>
              <a:t>新闻管理系统构件图</a:t>
            </a:r>
            <a:endParaRPr lang="zh-CN" altLang="en-US" sz="20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a:ln>
                <a:noFill/>
              </a:ln>
              <a:solidFill>
                <a:schemeClr val="tx2"/>
              </a:solidFill>
              <a:effectLst/>
              <a:uLnTx/>
              <a:uFillTx/>
              <a:latin typeface="+mj-lt"/>
              <a:ea typeface="+mj-ea"/>
              <a:cs typeface="+mj-cs"/>
            </a:endParaRPr>
          </a:p>
        </p:txBody>
      </p:sp>
      <p:sp>
        <p:nvSpPr>
          <p:cNvPr id="47107" name="内容占位符 2"/>
          <p:cNvSpPr>
            <a:spLocks noGrp="1"/>
          </p:cNvSpPr>
          <p:nvPr>
            <p:ph sz="quarter" idx="1"/>
          </p:nvPr>
        </p:nvSpPr>
        <p:spPr/>
        <p:txBody>
          <a:bodyPr vert="horz" wrap="square" lIns="91440" tIns="45720" rIns="91440" bIns="45720" anchor="t" anchorCtr="0"/>
          <a:lstStyle/>
          <a:p>
            <a:pPr marL="457200" indent="-457200" eaLnBrk="1" hangingPunct="1">
              <a:buClr>
                <a:schemeClr val="accent1"/>
              </a:buClr>
              <a:buSzPct val="70000"/>
              <a:buFontTx/>
              <a:buAutoNum type="circleNumDbPlain" startAt="4"/>
            </a:pPr>
            <a:r>
              <a:rPr lang="zh-CN" altLang="en-US" dirty="0">
                <a:ea typeface="宋体" panose="02010600030101010101" pitchFamily="2" charset="-122"/>
              </a:rPr>
              <a:t>部署图：描述系统中硬件和软件的物理配置情况和系统体系结构。</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在部署图中，用</a:t>
            </a:r>
            <a:r>
              <a:rPr lang="zh-CN" altLang="en-US" dirty="0">
                <a:solidFill>
                  <a:srgbClr val="0070C0"/>
                </a:solidFill>
                <a:ea typeface="宋体" panose="02010600030101010101" pitchFamily="2" charset="-122"/>
              </a:rPr>
              <a:t>节点</a:t>
            </a:r>
            <a:r>
              <a:rPr lang="zh-CN" altLang="en-US" dirty="0">
                <a:ea typeface="宋体" panose="02010600030101010101" pitchFamily="2" charset="-122"/>
              </a:rPr>
              <a:t>表示实际的物理设备，如计算机和各种外部设备等，并根据它们之间的连接关系，将相应的节点连接起来，并说明其连接方式。</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在节点里面，说明分配给该节点上运行的可执行构件或对象，从而说明哪些软件单元被分配在哪些节点上运行。</a:t>
            </a:r>
            <a:endParaRPr lang="zh-CN" altLang="en-US" dirty="0">
              <a:ea typeface="宋体" panose="02010600030101010101" pitchFamily="2" charset="-122"/>
            </a:endParaRPr>
          </a:p>
          <a:p>
            <a:pPr marL="457200" indent="-457200" eaLnBrk="1" hangingPunct="1">
              <a:buClr>
                <a:schemeClr val="accent1"/>
              </a:buClr>
              <a:buSzPct val="70000"/>
              <a:buFontTx/>
              <a:buChar char=""/>
            </a:pPr>
            <a:endParaRPr lang="zh-CN" altLang="en-US" dirty="0">
              <a:ea typeface="宋体" panose="02010600030101010101" pitchFamily="2" charset="-122"/>
            </a:endParaRPr>
          </a:p>
        </p:txBody>
      </p:sp>
      <p:sp>
        <p:nvSpPr>
          <p:cNvPr id="4710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a:ln>
                <a:noFill/>
              </a:ln>
              <a:solidFill>
                <a:schemeClr val="tx2"/>
              </a:solidFill>
              <a:effectLst/>
              <a:uLnTx/>
              <a:uFillTx/>
              <a:latin typeface="+mj-lt"/>
              <a:ea typeface="+mj-ea"/>
              <a:cs typeface="+mj-cs"/>
            </a:endParaRPr>
          </a:p>
        </p:txBody>
      </p:sp>
      <p:sp>
        <p:nvSpPr>
          <p:cNvPr id="47107" name="内容占位符 2"/>
          <p:cNvSpPr>
            <a:spLocks noGrp="1"/>
          </p:cNvSpPr>
          <p:nvPr>
            <p:ph sz="quarter" idx="1"/>
          </p:nvPr>
        </p:nvSpPr>
        <p:spPr/>
        <p:txBody>
          <a:bodyPr vert="horz" wrap="square" lIns="91440" tIns="45720" rIns="91440" bIns="45720" anchor="t" anchorCtr="0"/>
          <a:lstStyle/>
          <a:p>
            <a:pPr marL="457200" indent="-457200" eaLnBrk="1" hangingPunct="1">
              <a:buClr>
                <a:schemeClr val="accent1"/>
              </a:buClr>
              <a:buSzPct val="70000"/>
              <a:buFontTx/>
              <a:buAutoNum type="circleNumDbPlain" startAt="4"/>
            </a:pPr>
            <a:r>
              <a:rPr lang="zh-CN" altLang="en-US" dirty="0">
                <a:ea typeface="宋体" panose="02010600030101010101" pitchFamily="2" charset="-122"/>
              </a:rPr>
              <a:t>在一个部署图中，包含了两种基本的模型元素：节点（Node）和节点之间的连接（Connection）。在每一个模型中仅包含一个部署图。如下图所示，是一个系统部署图。</a:t>
            </a:r>
            <a:endParaRPr lang="zh-CN" altLang="en-US" dirty="0">
              <a:ea typeface="宋体" panose="02010600030101010101" pitchFamily="2" charset="-122"/>
            </a:endParaRPr>
          </a:p>
        </p:txBody>
      </p:sp>
      <p:sp>
        <p:nvSpPr>
          <p:cNvPr id="4710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5" name="图片 104"/>
          <p:cNvPicPr/>
          <p:nvPr/>
        </p:nvPicPr>
        <p:blipFill>
          <a:blip r:embed="rId1"/>
          <a:srcRect l="10277" t="13171" r="11031" b="13055"/>
          <a:stretch>
            <a:fillRect/>
          </a:stretch>
        </p:blipFill>
        <p:spPr>
          <a:xfrm>
            <a:off x="1468755" y="3141345"/>
            <a:ext cx="5781040" cy="2298700"/>
          </a:xfrm>
          <a:prstGeom prst="rect">
            <a:avLst/>
          </a:prstGeom>
          <a:noFill/>
          <a:ln w="9525">
            <a:noFill/>
          </a:ln>
        </p:spPr>
      </p:pic>
      <p:sp>
        <p:nvSpPr>
          <p:cNvPr id="3" name="文本框 2"/>
          <p:cNvSpPr txBox="1"/>
          <p:nvPr/>
        </p:nvSpPr>
        <p:spPr>
          <a:xfrm>
            <a:off x="584835" y="5445125"/>
            <a:ext cx="7492365" cy="1198880"/>
          </a:xfrm>
          <a:prstGeom prst="rect">
            <a:avLst/>
          </a:prstGeom>
          <a:noFill/>
        </p:spPr>
        <p:txBody>
          <a:bodyPr wrap="square" rtlCol="0" anchor="t">
            <a:spAutoFit/>
          </a:bodyPr>
          <a:lstStyle/>
          <a:p>
            <a:r>
              <a:rPr lang="en-US" altLang="zh-CN" sz="1800" b="1">
                <a:latin typeface="仿宋" panose="02010609060101010101" charset="-122"/>
                <a:ea typeface="仿宋" panose="02010609060101010101" charset="-122"/>
                <a:cs typeface="仿宋" panose="02010609060101010101" charset="-122"/>
              </a:rPr>
              <a:t>  </a:t>
            </a:r>
            <a:r>
              <a:rPr lang="zh-CN" altLang="en-US" sz="1800" b="1">
                <a:latin typeface="仿宋" panose="02010609060101010101" charset="-122"/>
                <a:ea typeface="仿宋" panose="02010609060101010101" charset="-122"/>
                <a:cs typeface="仿宋" panose="02010609060101010101" charset="-122"/>
              </a:rPr>
              <a:t>图中包含了客户端、服务器端、数据库服务器和打印机等节点，其中客户端和服务器端通过HTTP方式连接，服务器端与数据库服务器通过JDBC方式连接，客户端中拥有IE7.0进程，服务器端中拥有IIS 6.0进程，数据库服务器为Oracle 9i。</a:t>
            </a:r>
            <a:endParaRPr lang="zh-CN" altLang="en-US" sz="1800" b="1">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rgbClr val="FF0000"/>
                </a:solidFill>
                <a:effectLst/>
                <a:uLnTx/>
                <a:uFillTx/>
                <a:latin typeface="+mn-lt"/>
                <a:ea typeface="+mn-ea"/>
                <a:cs typeface="+mn-cs"/>
              </a:rPr>
              <a:t>动态模型图</a:t>
            </a:r>
            <a:endParaRPr kumimoji="0" lang="en-US" altLang="zh-CN" sz="2400" b="1" i="0" u="none" strike="noStrike" kern="1200" cap="none" spc="0" normalizeH="0" baseline="0" noProof="0" dirty="0">
              <a:ln>
                <a:noFill/>
              </a:ln>
              <a:solidFill>
                <a:srgbClr val="FF0000"/>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顺序图（时序图）：描述对象之间动态的交互关系，着重体现多个对象之间消息传递的时间顺序。</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顺序图是交互图的一种，表示的是一种动态的维度或视角，是一种强调消息</a:t>
            </a:r>
            <a:r>
              <a:rPr kumimoji="0" lang="zh-CN" altLang="en-US" sz="2400" b="1" i="0" u="sng" strike="noStrike" kern="1200" cap="none" spc="0" normalizeH="0" baseline="0" noProof="0" dirty="0">
                <a:ln>
                  <a:noFill/>
                </a:ln>
                <a:solidFill>
                  <a:srgbClr val="0070C0"/>
                </a:solidFill>
                <a:effectLst/>
                <a:uLnTx/>
                <a:uFillTx/>
                <a:latin typeface="+mn-lt"/>
                <a:ea typeface="+mn-ea"/>
                <a:cs typeface="+mn-cs"/>
              </a:rPr>
              <a:t>时间顺序</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的交互图。所谓动态，强调对象之间的互相作用，随着时间的推移，一些对象被创建，属性值被改变，一些对象被销毁等等。</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4813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None/>
              <a:defRPr/>
            </a:pPr>
            <a:r>
              <a:rPr kumimoji="0" lang="zh-CN" altLang="en-US" sz="2400" b="1" i="0" u="none" strike="noStrike" kern="1200" cap="none" spc="0" normalizeH="0" baseline="0" noProof="0" dirty="0">
                <a:ln>
                  <a:noFill/>
                </a:ln>
                <a:solidFill>
                  <a:srgbClr val="FF0000"/>
                </a:solidFill>
                <a:effectLst/>
                <a:uLnTx/>
                <a:uFillTx/>
                <a:latin typeface="+mn-lt"/>
                <a:ea typeface="+mn-ea"/>
                <a:cs typeface="+mn-cs"/>
              </a:rPr>
              <a:t>动态模型图</a:t>
            </a:r>
            <a:endParaRPr kumimoji="0" lang="en-US" altLang="zh-CN" sz="2400" b="1" i="0" u="none" strike="noStrike" kern="1200" cap="none" spc="0" normalizeH="0" baseline="0" noProof="0" dirty="0">
              <a:ln>
                <a:noFill/>
              </a:ln>
              <a:solidFill>
                <a:srgbClr val="FF0000"/>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顺序图（时序图）基本元素及图符：</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对象</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：时序图由一组对象构成，时序图描述了这些对象随着时间的推移相互之间交换消息的过程。</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生命线</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：每个对象分别带有一条竖线，称作对象的生命线，它代表时间轴，时间沿竖线向下延伸。</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消息</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：消息用从一条垂直的对象生命线指向另一个对象的生命线的水平箭头表示。图中还可以根据需要增加有关消息的说明和其他注释。</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4813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4813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6" name="图片 105"/>
          <p:cNvPicPr/>
          <p:nvPr>
            <p:custDataLst>
              <p:tags r:id="rId1"/>
            </p:custDataLst>
          </p:nvPr>
        </p:nvPicPr>
        <p:blipFill>
          <a:blip r:embed="rId2"/>
          <a:srcRect l="15069" r="14840"/>
          <a:stretch>
            <a:fillRect/>
          </a:stretch>
        </p:blipFill>
        <p:spPr>
          <a:xfrm>
            <a:off x="1187450" y="1557020"/>
            <a:ext cx="6409055" cy="4133850"/>
          </a:xfrm>
          <a:prstGeom prst="rect">
            <a:avLst/>
          </a:prstGeom>
          <a:noFill/>
          <a:ln w="9525">
            <a:noFill/>
          </a:ln>
        </p:spPr>
      </p:pic>
      <p:sp>
        <p:nvSpPr>
          <p:cNvPr id="5" name="文本框 4"/>
          <p:cNvSpPr txBox="1"/>
          <p:nvPr/>
        </p:nvSpPr>
        <p:spPr>
          <a:xfrm>
            <a:off x="6228080" y="764540"/>
            <a:ext cx="2446020" cy="829945"/>
          </a:xfrm>
          <a:prstGeom prst="rect">
            <a:avLst/>
          </a:prstGeom>
          <a:noFill/>
        </p:spPr>
        <p:txBody>
          <a:bodyPr wrap="square" rtlCol="0" anchor="t">
            <a:spAutoFit/>
          </a:bodyPr>
          <a:lstStyle/>
          <a:p>
            <a:r>
              <a:rPr lang="zh-CN" altLang="en-US" sz="1600" b="1">
                <a:solidFill>
                  <a:srgbClr val="0070C0"/>
                </a:solidFill>
                <a:latin typeface="仿宋" panose="02010609060101010101" charset="-122"/>
                <a:ea typeface="仿宋" panose="02010609060101010101" charset="-122"/>
                <a:cs typeface="仿宋" panose="02010609060101010101" charset="-122"/>
              </a:rPr>
              <a:t>对象(Object)：表示参与交互的实体，用方框加名字来表示。</a:t>
            </a:r>
            <a:endParaRPr lang="zh-CN" altLang="en-US" sz="1600" b="1">
              <a:solidFill>
                <a:srgbClr val="0070C0"/>
              </a:solidFill>
              <a:latin typeface="仿宋" panose="02010609060101010101" charset="-122"/>
              <a:ea typeface="仿宋" panose="02010609060101010101" charset="-122"/>
              <a:cs typeface="仿宋" panose="02010609060101010101" charset="-122"/>
            </a:endParaRPr>
          </a:p>
        </p:txBody>
      </p:sp>
      <p:sp>
        <p:nvSpPr>
          <p:cNvPr id="6" name="文本框 5"/>
          <p:cNvSpPr txBox="1"/>
          <p:nvPr/>
        </p:nvSpPr>
        <p:spPr>
          <a:xfrm>
            <a:off x="251460" y="2829560"/>
            <a:ext cx="1136650" cy="1198880"/>
          </a:xfrm>
          <a:prstGeom prst="rect">
            <a:avLst/>
          </a:prstGeom>
          <a:noFill/>
        </p:spPr>
        <p:txBody>
          <a:bodyPr wrap="square" rtlCol="0" anchor="t">
            <a:spAutoFit/>
          </a:bodyPr>
          <a:lstStyle/>
          <a:p>
            <a:r>
              <a:rPr lang="zh-CN" altLang="en-US" sz="1800" b="1">
                <a:solidFill>
                  <a:srgbClr val="0070C0"/>
                </a:solidFill>
                <a:latin typeface="仿宋" panose="02010609060101010101" charset="-122"/>
                <a:ea typeface="仿宋" panose="02010609060101010101" charset="-122"/>
                <a:cs typeface="仿宋" panose="02010609060101010101" charset="-122"/>
              </a:rPr>
              <a:t>生命线：生命线用竖直的虚线表示。</a:t>
            </a:r>
            <a:endParaRPr lang="zh-CN" altLang="en-US" sz="1800" b="1">
              <a:solidFill>
                <a:srgbClr val="0070C0"/>
              </a:solidFill>
              <a:latin typeface="仿宋" panose="02010609060101010101" charset="-122"/>
              <a:ea typeface="仿宋" panose="02010609060101010101" charset="-122"/>
              <a:cs typeface="仿宋" panose="02010609060101010101" charset="-122"/>
            </a:endParaRPr>
          </a:p>
        </p:txBody>
      </p:sp>
      <p:sp>
        <p:nvSpPr>
          <p:cNvPr id="7" name="文本框 6"/>
          <p:cNvSpPr txBox="1"/>
          <p:nvPr/>
        </p:nvSpPr>
        <p:spPr>
          <a:xfrm>
            <a:off x="897255" y="5661025"/>
            <a:ext cx="6888480" cy="922020"/>
          </a:xfrm>
          <a:prstGeom prst="rect">
            <a:avLst/>
          </a:prstGeom>
          <a:noFill/>
        </p:spPr>
        <p:txBody>
          <a:bodyPr wrap="square" rtlCol="0" anchor="t">
            <a:spAutoFit/>
          </a:bodyPr>
          <a:lstStyle/>
          <a:p>
            <a:r>
              <a:rPr lang="zh-CN" altLang="en-US" sz="1800" b="1">
                <a:solidFill>
                  <a:srgbClr val="0070C0"/>
                </a:solidFill>
                <a:latin typeface="仿宋" panose="02010609060101010101" charset="-122"/>
                <a:ea typeface="仿宋" panose="02010609060101010101" charset="-122"/>
                <a:cs typeface="仿宋" panose="02010609060101010101" charset="-122"/>
              </a:rPr>
              <a:t>激活：代表时序图中对象执行一项操作的时期, 表示该对象被占用以完成某个任务，在表示上，当对象处于激活时期, 生命线可以拓宽为矩形, 这个矩形条成为激活条，有时也称为控制期。</a:t>
            </a:r>
            <a:endParaRPr lang="zh-CN" altLang="en-US" sz="1800" b="1">
              <a:solidFill>
                <a:srgbClr val="0070C0"/>
              </a:solidFill>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4813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6" name="图片 105"/>
          <p:cNvPicPr/>
          <p:nvPr>
            <p:custDataLst>
              <p:tags r:id="rId1"/>
            </p:custDataLst>
          </p:nvPr>
        </p:nvPicPr>
        <p:blipFill>
          <a:blip r:embed="rId2"/>
          <a:srcRect l="15069" r="14840"/>
          <a:stretch>
            <a:fillRect/>
          </a:stretch>
        </p:blipFill>
        <p:spPr>
          <a:xfrm>
            <a:off x="1187450" y="1557020"/>
            <a:ext cx="6409055" cy="4133850"/>
          </a:xfrm>
          <a:prstGeom prst="rect">
            <a:avLst/>
          </a:prstGeom>
          <a:noFill/>
          <a:ln w="9525">
            <a:noFill/>
          </a:ln>
        </p:spPr>
      </p:pic>
      <p:sp>
        <p:nvSpPr>
          <p:cNvPr id="7" name="文本框 6"/>
          <p:cNvSpPr txBox="1"/>
          <p:nvPr/>
        </p:nvSpPr>
        <p:spPr>
          <a:xfrm>
            <a:off x="292735" y="5661025"/>
            <a:ext cx="7837170" cy="922020"/>
          </a:xfrm>
          <a:prstGeom prst="rect">
            <a:avLst/>
          </a:prstGeom>
          <a:noFill/>
        </p:spPr>
        <p:txBody>
          <a:bodyPr wrap="square" rtlCol="0" anchor="t">
            <a:spAutoFit/>
          </a:bodyPr>
          <a:lstStyle/>
          <a:p>
            <a:r>
              <a:rPr lang="zh-CN" altLang="en-US" sz="1800" b="1">
                <a:solidFill>
                  <a:srgbClr val="0070C0"/>
                </a:solidFill>
                <a:latin typeface="仿宋" panose="02010609060101010101" charset="-122"/>
                <a:ea typeface="仿宋" panose="02010609060101010101" charset="-122"/>
                <a:cs typeface="仿宋" panose="02010609060101010101" charset="-122"/>
              </a:rPr>
              <a:t>消息(Message)：消息允许在实体间传递信息 (传递参数), 允许实体请求其它服务, 对象之间通过发送和接收消息进行通信，消息可以触发操作, 唤起信号, 或使目标对象创建或销毁。消息又主要分为同步消息和异步消息。</a:t>
            </a:r>
            <a:endParaRPr lang="zh-CN" altLang="en-US" sz="1800" b="1">
              <a:solidFill>
                <a:srgbClr val="0070C0"/>
              </a:solidFill>
              <a:latin typeface="仿宋" panose="02010609060101010101" charset="-122"/>
              <a:ea typeface="仿宋" panose="02010609060101010101" charset="-122"/>
              <a:cs typeface="仿宋" panose="02010609060101010101" charset="-122"/>
            </a:endParaRPr>
          </a:p>
        </p:txBody>
      </p:sp>
      <p:sp>
        <p:nvSpPr>
          <p:cNvPr id="3" name="文本框 2"/>
          <p:cNvSpPr txBox="1"/>
          <p:nvPr/>
        </p:nvSpPr>
        <p:spPr>
          <a:xfrm>
            <a:off x="4187825" y="358140"/>
            <a:ext cx="4542155" cy="1198880"/>
          </a:xfrm>
          <a:prstGeom prst="rect">
            <a:avLst/>
          </a:prstGeom>
          <a:noFill/>
        </p:spPr>
        <p:txBody>
          <a:bodyPr wrap="square" rtlCol="0" anchor="t">
            <a:spAutoFit/>
          </a:bodyPr>
          <a:lstStyle/>
          <a:p>
            <a:r>
              <a:rPr lang="zh-CN" altLang="en-US" sz="1800" b="1">
                <a:solidFill>
                  <a:srgbClr val="0070C0"/>
                </a:solidFill>
                <a:latin typeface="仿宋" panose="02010609060101010101" charset="-122"/>
                <a:ea typeface="仿宋" panose="02010609060101010101" charset="-122"/>
                <a:cs typeface="仿宋" panose="02010609060101010101" charset="-122"/>
              </a:rPr>
              <a:t>同步消息：直接调用对象的方法, 执行方法返回结果, 这种具有返回控制机制的操作是同步通信，同步消息的发送者在继续其他动作之前，需要等待消息的响应。</a:t>
            </a:r>
            <a:endParaRPr lang="zh-CN" altLang="en-US" sz="1800" b="1">
              <a:solidFill>
                <a:srgbClr val="0070C0"/>
              </a:solidFill>
              <a:latin typeface="仿宋" panose="02010609060101010101" charset="-122"/>
              <a:ea typeface="仿宋" panose="02010609060101010101" charset="-122"/>
              <a:cs typeface="仿宋" panose="02010609060101010101" charset="-122"/>
            </a:endParaRPr>
          </a:p>
        </p:txBody>
      </p:sp>
      <p:sp>
        <p:nvSpPr>
          <p:cNvPr id="4" name="文本框 3"/>
          <p:cNvSpPr txBox="1"/>
          <p:nvPr/>
        </p:nvSpPr>
        <p:spPr>
          <a:xfrm>
            <a:off x="7092315" y="2132965"/>
            <a:ext cx="1435100" cy="2584450"/>
          </a:xfrm>
          <a:prstGeom prst="rect">
            <a:avLst/>
          </a:prstGeom>
          <a:noFill/>
        </p:spPr>
        <p:txBody>
          <a:bodyPr wrap="square" rtlCol="0" anchor="t">
            <a:spAutoFit/>
          </a:bodyPr>
          <a:lstStyle/>
          <a:p>
            <a:r>
              <a:rPr lang="zh-CN" altLang="en-US" sz="1800" b="1">
                <a:solidFill>
                  <a:srgbClr val="0070C0"/>
                </a:solidFill>
                <a:latin typeface="仿宋" panose="02010609060101010101" charset="-122"/>
                <a:ea typeface="仿宋" panose="02010609060101010101" charset="-122"/>
                <a:cs typeface="仿宋" panose="02010609060101010101" charset="-122"/>
              </a:rPr>
              <a:t>异步消息：与同步消息相对应的，异步消息发送者在继续其他动作之前，无需等待消息的响应。</a:t>
            </a:r>
            <a:endParaRPr lang="zh-CN" altLang="en-US" sz="1800" b="1">
              <a:solidFill>
                <a:srgbClr val="0070C0"/>
              </a:solidFill>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协作图：与时序图作用相同，协作图也是用来描述系统中对象之间的动态协作关系。协作图侧重于描述多个对象之间存在的消息收发关系（交互关系），而不专门突出这些消息发送的时间顺序。</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基本元素及图符：</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对象</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：用对象图符来表示</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消息</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：用带箭头的直线表示。箭头方向表示消息发送的方向，而消息执行的顺序则由消息的编号来表明。</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49156"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协作图</a:t>
            </a:r>
            <a:r>
              <a:rPr kumimoji="0" lang="en-US" sz="2400" b="1" i="0" u="none" strike="noStrike" kern="1200" cap="none" spc="0" normalizeH="0" baseline="0" noProof="0" dirty="0">
                <a:ln>
                  <a:noFill/>
                </a:ln>
                <a:solidFill>
                  <a:schemeClr val="tx1"/>
                </a:solidFill>
                <a:effectLst/>
                <a:uLnTx/>
                <a:uFillTx/>
                <a:latin typeface="+mn-lt"/>
                <a:ea typeface="+mn-ea"/>
                <a:cs typeface="+mn-cs"/>
              </a:rPr>
              <a:t>vs</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时序图</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l"/>
              <a:defRPr/>
            </a:pPr>
            <a:r>
              <a:rPr kumimoji="0" lang="zh-CN" altLang="en-US" b="1" i="0" u="none" strike="noStrike" kern="1200" cap="none" spc="0" normalizeH="0" baseline="0" noProof="0" dirty="0">
                <a:ln>
                  <a:noFill/>
                </a:ln>
                <a:solidFill>
                  <a:schemeClr val="tx1"/>
                </a:solidFill>
                <a:effectLst/>
                <a:uLnTx/>
                <a:uFillTx/>
                <a:latin typeface="+mn-lt"/>
                <a:ea typeface="+mn-ea"/>
                <a:cs typeface="+mn-cs"/>
              </a:rPr>
              <a:t>两者都表现出对象间的交互作用，但侧重点不同</a:t>
            </a:r>
            <a:endParaRPr kumimoji="0" lang="zh-CN" altLang="en-US" b="1"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l"/>
              <a:defRPr/>
            </a:pPr>
            <a:r>
              <a:rPr kumimoji="0" lang="zh-CN" altLang="en-US" b="1" i="0" u="none" strike="noStrike" kern="1200" cap="none" spc="0" normalizeH="0" baseline="0" noProof="0" dirty="0">
                <a:ln>
                  <a:noFill/>
                </a:ln>
                <a:solidFill>
                  <a:schemeClr val="tx1"/>
                </a:solidFill>
                <a:effectLst/>
                <a:uLnTx/>
                <a:uFillTx/>
                <a:latin typeface="+mn-lt"/>
                <a:ea typeface="+mn-ea"/>
                <a:cs typeface="+mn-cs"/>
              </a:rPr>
              <a:t>时序图清楚地表示了交互作用中的时间顺序(强调时间)，但没有明确表示对象间的关系。</a:t>
            </a:r>
            <a:endParaRPr kumimoji="0" lang="zh-CN" altLang="en-US" b="1"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l"/>
              <a:defRPr/>
            </a:pPr>
            <a:r>
              <a:rPr kumimoji="0" lang="zh-CN" altLang="en-US" b="1" i="0" u="none" strike="noStrike" kern="1200" cap="none" spc="0" normalizeH="0" baseline="0" noProof="0" dirty="0">
                <a:ln>
                  <a:noFill/>
                </a:ln>
                <a:solidFill>
                  <a:schemeClr val="tx1"/>
                </a:solidFill>
                <a:effectLst/>
                <a:uLnTx/>
                <a:uFillTx/>
                <a:latin typeface="+mn-lt"/>
                <a:ea typeface="+mn-ea"/>
                <a:cs typeface="+mn-cs"/>
              </a:rPr>
              <a:t>协作图清楚地表示了对象间的关系(强调空间)，但时间顺序必须从顺序号获得。</a:t>
            </a:r>
            <a:endParaRPr kumimoji="0" lang="zh-CN" altLang="en-US" b="1"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l"/>
              <a:defRPr/>
            </a:pPr>
            <a:r>
              <a:rPr kumimoji="0" lang="zh-CN" altLang="en-US" b="1" i="0" u="none" strike="noStrike" kern="1200" cap="none" spc="0" normalizeH="0" baseline="0" noProof="0" dirty="0">
                <a:ln>
                  <a:noFill/>
                </a:ln>
                <a:solidFill>
                  <a:schemeClr val="tx1"/>
                </a:solidFill>
                <a:effectLst/>
                <a:uLnTx/>
                <a:uFillTx/>
                <a:latin typeface="+mn-lt"/>
                <a:ea typeface="+mn-ea"/>
                <a:cs typeface="+mn-cs"/>
              </a:rPr>
              <a:t>协作图不能体现对象的初始化和消亡的时间</a:t>
            </a:r>
            <a:endParaRPr kumimoji="0" lang="zh-CN" altLang="en-US" b="1"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auto" latinLnBrk="0" hangingPunct="1">
              <a:lnSpc>
                <a:spcPct val="100000"/>
              </a:lnSpc>
              <a:spcBef>
                <a:spcPts val="600"/>
              </a:spcBef>
              <a:spcAft>
                <a:spcPts val="0"/>
              </a:spcAft>
              <a:buClr>
                <a:schemeClr val="accent1"/>
              </a:buClr>
              <a:buSzPct val="70000"/>
              <a:buFont typeface="Wingdings" panose="05000000000000000000" charset="0"/>
              <a:buChar char="l"/>
              <a:defRPr/>
            </a:pPr>
            <a:r>
              <a:rPr kumimoji="0" lang="zh-CN" altLang="en-US" b="1" i="0" u="none" strike="noStrike" kern="1200" cap="none" spc="0" normalizeH="0" baseline="0" noProof="0" dirty="0">
                <a:ln>
                  <a:noFill/>
                </a:ln>
                <a:solidFill>
                  <a:schemeClr val="tx1"/>
                </a:solidFill>
                <a:effectLst/>
                <a:uLnTx/>
                <a:uFillTx/>
                <a:latin typeface="+mn-lt"/>
                <a:ea typeface="+mn-ea"/>
                <a:cs typeface="+mn-cs"/>
              </a:rPr>
              <a:t>协作图和时序图可以相互转化。</a:t>
            </a:r>
            <a:endParaRPr kumimoji="0" lang="zh-CN" altLang="en-US" b="1"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49156"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914400" marR="0" lvl="1"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49156"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7" name="图片 106"/>
          <p:cNvPicPr/>
          <p:nvPr>
            <p:custDataLst>
              <p:tags r:id="rId1"/>
            </p:custDataLst>
          </p:nvPr>
        </p:nvPicPr>
        <p:blipFill>
          <a:blip r:embed="rId2"/>
          <a:srcRect l="3853" r="3898"/>
          <a:stretch>
            <a:fillRect/>
          </a:stretch>
        </p:blipFill>
        <p:spPr>
          <a:xfrm>
            <a:off x="108585" y="2132965"/>
            <a:ext cx="4751705" cy="3975100"/>
          </a:xfrm>
          <a:prstGeom prst="rect">
            <a:avLst/>
          </a:prstGeom>
          <a:noFill/>
          <a:ln w="9525">
            <a:noFill/>
          </a:ln>
        </p:spPr>
      </p:pic>
      <p:sp>
        <p:nvSpPr>
          <p:cNvPr id="4" name="文本框 3"/>
          <p:cNvSpPr txBox="1"/>
          <p:nvPr/>
        </p:nvSpPr>
        <p:spPr>
          <a:xfrm>
            <a:off x="467360" y="1557020"/>
            <a:ext cx="6100445" cy="460375"/>
          </a:xfrm>
          <a:prstGeom prst="rect">
            <a:avLst/>
          </a:prstGeom>
          <a:noFill/>
        </p:spPr>
        <p:txBody>
          <a:bodyPr wrap="square" rtlCol="0">
            <a:spAutoFit/>
          </a:bodyPr>
          <a:lstStyle/>
          <a:p>
            <a:r>
              <a:rPr lang="zh-CN" altLang="en-US" sz="2400" b="1">
                <a:latin typeface="仿宋" panose="02010609060101010101" charset="-122"/>
                <a:ea typeface="仿宋" panose="02010609060101010101" charset="-122"/>
                <a:cs typeface="仿宋" panose="02010609060101010101" charset="-122"/>
              </a:rPr>
              <a:t>管理员结账时序图</a:t>
            </a:r>
            <a:r>
              <a:rPr lang="en-US" altLang="zh-CN" sz="2400" b="1">
                <a:latin typeface="仿宋" panose="02010609060101010101" charset="-122"/>
                <a:ea typeface="仿宋" panose="02010609060101010101" charset="-122"/>
                <a:cs typeface="仿宋" panose="02010609060101010101" charset="-122"/>
              </a:rPr>
              <a:t>vs</a:t>
            </a:r>
            <a:r>
              <a:rPr lang="zh-CN" altLang="en-US" sz="2400" b="1">
                <a:latin typeface="仿宋" panose="02010609060101010101" charset="-122"/>
                <a:ea typeface="仿宋" panose="02010609060101010101" charset="-122"/>
                <a:cs typeface="仿宋" panose="02010609060101010101" charset="-122"/>
              </a:rPr>
              <a:t>协作图</a:t>
            </a:r>
            <a:endParaRPr lang="zh-CN" altLang="en-US" sz="2400" b="1">
              <a:latin typeface="仿宋" panose="02010609060101010101" charset="-122"/>
              <a:ea typeface="仿宋" panose="02010609060101010101" charset="-122"/>
              <a:cs typeface="仿宋" panose="02010609060101010101" charset="-122"/>
            </a:endParaRPr>
          </a:p>
        </p:txBody>
      </p:sp>
      <p:pic>
        <p:nvPicPr>
          <p:cNvPr id="108" name="图片 107"/>
          <p:cNvPicPr/>
          <p:nvPr>
            <p:custDataLst>
              <p:tags r:id="rId3"/>
            </p:custDataLst>
          </p:nvPr>
        </p:nvPicPr>
        <p:blipFill>
          <a:blip r:embed="rId4"/>
          <a:srcRect l="1633" r="10435"/>
          <a:stretch>
            <a:fillRect/>
          </a:stretch>
        </p:blipFill>
        <p:spPr>
          <a:xfrm>
            <a:off x="4868545" y="2399665"/>
            <a:ext cx="3879215" cy="3228340"/>
          </a:xfrm>
          <a:prstGeom prst="rect">
            <a:avLst/>
          </a:prstGeom>
          <a:noFill/>
          <a:ln w="9525">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914400" marR="0" lvl="1"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2"/>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49156"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4" name="文本框 3"/>
          <p:cNvSpPr txBox="1"/>
          <p:nvPr/>
        </p:nvSpPr>
        <p:spPr>
          <a:xfrm>
            <a:off x="467360" y="1557020"/>
            <a:ext cx="6100445" cy="460375"/>
          </a:xfrm>
          <a:prstGeom prst="rect">
            <a:avLst/>
          </a:prstGeom>
          <a:noFill/>
        </p:spPr>
        <p:txBody>
          <a:bodyPr wrap="square" rtlCol="0">
            <a:spAutoFit/>
          </a:bodyPr>
          <a:lstStyle/>
          <a:p>
            <a:r>
              <a:rPr lang="zh-CN" altLang="en-US" sz="2400" b="1">
                <a:latin typeface="仿宋" panose="02010609060101010101" charset="-122"/>
                <a:ea typeface="仿宋" panose="02010609060101010101" charset="-122"/>
                <a:cs typeface="仿宋" panose="02010609060101010101" charset="-122"/>
              </a:rPr>
              <a:t>微信扫一扫付款时序图</a:t>
            </a:r>
            <a:r>
              <a:rPr lang="en-US" altLang="zh-CN" sz="2400" b="1">
                <a:latin typeface="仿宋" panose="02010609060101010101" charset="-122"/>
                <a:ea typeface="仿宋" panose="02010609060101010101" charset="-122"/>
                <a:cs typeface="仿宋" panose="02010609060101010101" charset="-122"/>
              </a:rPr>
              <a:t>vs</a:t>
            </a:r>
            <a:r>
              <a:rPr lang="zh-CN" altLang="en-US" sz="2400" b="1">
                <a:latin typeface="仿宋" panose="02010609060101010101" charset="-122"/>
                <a:ea typeface="仿宋" panose="02010609060101010101" charset="-122"/>
                <a:cs typeface="仿宋" panose="02010609060101010101" charset="-122"/>
              </a:rPr>
              <a:t>协作图</a:t>
            </a:r>
            <a:endParaRPr lang="zh-CN" altLang="en-US" sz="2400" b="1">
              <a:latin typeface="仿宋" panose="02010609060101010101" charset="-122"/>
              <a:ea typeface="仿宋" panose="02010609060101010101" charset="-122"/>
              <a:cs typeface="仿宋" panose="02010609060101010101" charset="-122"/>
            </a:endParaRPr>
          </a:p>
        </p:txBody>
      </p:sp>
      <p:pic>
        <p:nvPicPr>
          <p:cNvPr id="109" name="图片 108"/>
          <p:cNvPicPr/>
          <p:nvPr>
            <p:custDataLst>
              <p:tags r:id="rId1"/>
            </p:custDataLst>
          </p:nvPr>
        </p:nvPicPr>
        <p:blipFill>
          <a:blip r:embed="rId2"/>
          <a:stretch>
            <a:fillRect/>
          </a:stretch>
        </p:blipFill>
        <p:spPr>
          <a:xfrm>
            <a:off x="464185" y="1921510"/>
            <a:ext cx="8078470" cy="4632325"/>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50179" name="内容占位符 2"/>
          <p:cNvSpPr>
            <a:spLocks noGrp="1"/>
          </p:cNvSpPr>
          <p:nvPr>
            <p:ph sz="quarter" idx="1"/>
          </p:nvPr>
        </p:nvSpPr>
        <p:spPr>
          <a:xfrm>
            <a:off x="457200" y="1557020"/>
            <a:ext cx="8016240" cy="4873625"/>
          </a:xfrm>
        </p:spPr>
        <p:txBody>
          <a:bodyPr vert="horz" wrap="square" lIns="91440" tIns="45720" rIns="91440" bIns="45720" anchor="t" anchorCtr="0"/>
          <a:lstStyle/>
          <a:p>
            <a:pPr marL="457200" indent="-457200" eaLnBrk="1" hangingPunct="1">
              <a:buClr>
                <a:schemeClr val="accent1"/>
              </a:buClr>
              <a:buSzPct val="70000"/>
              <a:buFontTx/>
              <a:buAutoNum type="circleNumDbPlain" startAt="3"/>
            </a:pPr>
            <a:r>
              <a:rPr lang="zh-CN" altLang="en-US" dirty="0">
                <a:ea typeface="宋体" panose="02010600030101010101" pitchFamily="2" charset="-122"/>
              </a:rPr>
              <a:t>状态图：对类的一种补充描述，它展示了某类的对象所具有的可能的状态以及某些事件发生时其状态的转移情况。主要用于描述重要而且复杂的对象的所有行为。</a:t>
            </a:r>
            <a:endParaRPr lang="zh-CN" altLang="en-US" dirty="0">
              <a:ea typeface="宋体" panose="02010600030101010101" pitchFamily="2" charset="-122"/>
            </a:endParaRPr>
          </a:p>
          <a:p>
            <a:pPr marL="457200" indent="-457200" eaLnBrk="1" hangingPunct="1">
              <a:buClr>
                <a:schemeClr val="accent1"/>
              </a:buClr>
              <a:buSzPct val="70000"/>
              <a:buFontTx/>
              <a:buAutoNum type="circleNumDbPlain" startAt="3"/>
            </a:pPr>
            <a:r>
              <a:rPr lang="zh-CN" altLang="en-US" dirty="0">
                <a:ea typeface="宋体" panose="02010600030101010101" pitchFamily="2" charset="-122"/>
              </a:rPr>
              <a:t>状态图描述了一个实体基于事件反应的动态行为，显示了该实体是如何根据当前所处的状态对不同的事件作出反应的。</a:t>
            </a:r>
            <a:endParaRPr lang="zh-CN" altLang="en-US" dirty="0">
              <a:solidFill>
                <a:srgbClr val="0070C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状态</a:t>
            </a:r>
            <a:r>
              <a:rPr lang="zh-CN" altLang="en-US" dirty="0">
                <a:ea typeface="宋体" panose="02010600030101010101" pitchFamily="2" charset="-122"/>
              </a:rPr>
              <a:t>：由圆角矩形表示。</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初始状态、结束</a:t>
            </a:r>
            <a:r>
              <a:rPr lang="en-US" altLang="zh-CN" dirty="0">
                <a:solidFill>
                  <a:srgbClr val="0070C0"/>
                </a:solidFill>
                <a:ea typeface="宋体" panose="02010600030101010101" pitchFamily="2" charset="-122"/>
              </a:rPr>
              <a:t>/</a:t>
            </a:r>
            <a:r>
              <a:rPr lang="zh-CN" altLang="en-US" dirty="0">
                <a:solidFill>
                  <a:srgbClr val="0070C0"/>
                </a:solidFill>
                <a:ea typeface="宋体" panose="02010600030101010101" pitchFamily="2" charset="-122"/>
              </a:rPr>
              <a:t>终止状态</a:t>
            </a:r>
            <a:r>
              <a:rPr lang="zh-CN" altLang="en-US" dirty="0">
                <a:solidFill>
                  <a:schemeClr val="tx1"/>
                </a:solidFill>
                <a:ea typeface="宋体" panose="02010600030101010101" pitchFamily="2" charset="-122"/>
              </a:rPr>
              <a:t>：实心圆、半实心圆</a:t>
            </a:r>
            <a:endParaRPr lang="en-US" altLang="zh-CN" dirty="0">
              <a:solidFill>
                <a:srgbClr val="0070C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迁移</a:t>
            </a:r>
            <a:r>
              <a:rPr lang="en-US" altLang="zh-CN" dirty="0">
                <a:ea typeface="宋体" panose="02010600030101010101" pitchFamily="2" charset="-122"/>
              </a:rPr>
              <a:t>/</a:t>
            </a:r>
            <a:r>
              <a:rPr lang="zh-CN" altLang="en-US" dirty="0">
                <a:ea typeface="宋体" panose="02010600030101010101" pitchFamily="2" charset="-122"/>
              </a:rPr>
              <a:t>转换</a:t>
            </a:r>
            <a:r>
              <a:rPr lang="en-US" altLang="zh-CN" dirty="0">
                <a:ea typeface="宋体" panose="02010600030101010101" pitchFamily="2" charset="-122"/>
              </a:rPr>
              <a:t>/</a:t>
            </a:r>
            <a:r>
              <a:rPr lang="zh-CN" altLang="en-US" dirty="0">
                <a:ea typeface="宋体" panose="02010600030101010101" pitchFamily="2" charset="-122"/>
              </a:rPr>
              <a:t>：状态的改变称作迁移。状态迁移由箭头表示，箭头旁可以标出触发迁移的</a:t>
            </a:r>
            <a:r>
              <a:rPr lang="zh-CN" altLang="en-US" dirty="0">
                <a:solidFill>
                  <a:srgbClr val="0070C0"/>
                </a:solidFill>
                <a:ea typeface="宋体" panose="02010600030101010101" pitchFamily="2" charset="-122"/>
              </a:rPr>
              <a:t>事件</a:t>
            </a:r>
            <a:r>
              <a:rPr lang="zh-CN" altLang="en-US" dirty="0">
                <a:ea typeface="宋体" panose="02010600030101010101" pitchFamily="2" charset="-122"/>
              </a:rPr>
              <a:t>以及迁移发生的</a:t>
            </a:r>
            <a:r>
              <a:rPr lang="zh-CN" altLang="en-US" dirty="0">
                <a:solidFill>
                  <a:srgbClr val="0070C0"/>
                </a:solidFill>
                <a:ea typeface="宋体" panose="02010600030101010101" pitchFamily="2" charset="-122"/>
              </a:rPr>
              <a:t>条件</a:t>
            </a:r>
            <a:r>
              <a:rPr lang="zh-CN" altLang="en-US" dirty="0">
                <a:ea typeface="宋体" panose="02010600030101010101" pitchFamily="2" charset="-122"/>
              </a:rPr>
              <a:t>。状态迁移可以伴随有某个</a:t>
            </a:r>
            <a:r>
              <a:rPr lang="zh-CN" altLang="en-US" dirty="0">
                <a:solidFill>
                  <a:srgbClr val="0070C0"/>
                </a:solidFill>
                <a:ea typeface="宋体" panose="02010600030101010101" pitchFamily="2" charset="-122"/>
              </a:rPr>
              <a:t>动作</a:t>
            </a:r>
            <a:r>
              <a:rPr lang="en-US" altLang="zh-CN" dirty="0">
                <a:ea typeface="宋体" panose="02010600030101010101" pitchFamily="2" charset="-122"/>
              </a:rPr>
              <a:t>/</a:t>
            </a:r>
            <a:r>
              <a:rPr lang="zh-CN" altLang="en-US" dirty="0">
                <a:ea typeface="宋体" panose="02010600030101010101" pitchFamily="2" charset="-122"/>
              </a:rPr>
              <a:t>行为，它表明当迁移发生时系统要做什么。</a:t>
            </a:r>
            <a:endParaRPr lang="zh-CN" altLang="en-US" dirty="0">
              <a:ea typeface="宋体" panose="02010600030101010101" pitchFamily="2" charset="-122"/>
            </a:endParaRPr>
          </a:p>
          <a:p>
            <a:pPr marL="457200" indent="-457200" eaLnBrk="1" hangingPunct="1">
              <a:buClr>
                <a:schemeClr val="accent1"/>
              </a:buClr>
              <a:buSzPct val="70000"/>
              <a:buFontTx/>
              <a:buChar char=""/>
            </a:pPr>
            <a:endParaRPr lang="zh-CN" altLang="en-US" dirty="0">
              <a:ea typeface="宋体" panose="02010600030101010101" pitchFamily="2" charset="-122"/>
            </a:endParaRPr>
          </a:p>
        </p:txBody>
      </p:sp>
      <p:sp>
        <p:nvSpPr>
          <p:cNvPr id="5018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5018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10" name="图片 109"/>
          <p:cNvPicPr/>
          <p:nvPr>
            <p:custDataLst>
              <p:tags r:id="rId1"/>
            </p:custDataLst>
          </p:nvPr>
        </p:nvPicPr>
        <p:blipFill>
          <a:blip r:embed="rId2"/>
          <a:srcRect l="26882" r="27444"/>
          <a:stretch>
            <a:fillRect/>
          </a:stretch>
        </p:blipFill>
        <p:spPr>
          <a:xfrm>
            <a:off x="1835785" y="2348865"/>
            <a:ext cx="5244465" cy="3503295"/>
          </a:xfrm>
          <a:prstGeom prst="rect">
            <a:avLst/>
          </a:prstGeom>
          <a:noFill/>
          <a:ln w="9525">
            <a:noFill/>
          </a:ln>
        </p:spPr>
      </p:pic>
      <p:sp>
        <p:nvSpPr>
          <p:cNvPr id="4" name="文本框 3"/>
          <p:cNvSpPr txBox="1"/>
          <p:nvPr/>
        </p:nvSpPr>
        <p:spPr>
          <a:xfrm>
            <a:off x="827405" y="1628775"/>
            <a:ext cx="3048000" cy="460375"/>
          </a:xfrm>
          <a:prstGeom prst="rect">
            <a:avLst/>
          </a:prstGeom>
          <a:noFill/>
        </p:spPr>
        <p:txBody>
          <a:bodyPr wrap="square" rtlCol="0">
            <a:spAutoFit/>
          </a:bodyPr>
          <a:lstStyle/>
          <a:p>
            <a:r>
              <a:rPr lang="zh-CN" altLang="en-US" sz="2400" b="1">
                <a:solidFill>
                  <a:schemeClr val="tx1"/>
                </a:solidFill>
                <a:latin typeface="仿宋" panose="02010609060101010101" charset="-122"/>
                <a:ea typeface="仿宋" panose="02010609060101010101" charset="-122"/>
              </a:rPr>
              <a:t>典型的电话状态图</a:t>
            </a:r>
            <a:endParaRPr lang="zh-CN" altLang="en-US" sz="2400" b="1">
              <a:solidFill>
                <a:schemeClr val="tx1"/>
              </a:solidFill>
              <a:latin typeface="仿宋" panose="02010609060101010101" charset="-122"/>
              <a:ea typeface="仿宋" panose="02010609060101010101" charset="-122"/>
            </a:endParaRPr>
          </a:p>
        </p:txBody>
      </p:sp>
      <p:sp>
        <p:nvSpPr>
          <p:cNvPr id="5" name="文本框 4"/>
          <p:cNvSpPr txBox="1"/>
          <p:nvPr/>
        </p:nvSpPr>
        <p:spPr>
          <a:xfrm>
            <a:off x="3059430" y="2343150"/>
            <a:ext cx="1166495" cy="368300"/>
          </a:xfrm>
          <a:prstGeom prst="rect">
            <a:avLst/>
          </a:prstGeom>
          <a:noFill/>
        </p:spPr>
        <p:txBody>
          <a:bodyPr wrap="square" rtlCol="0">
            <a:spAutoFit/>
          </a:bodyPr>
          <a:lstStyle/>
          <a:p>
            <a:pPr algn="ctr"/>
            <a:r>
              <a:rPr lang="zh-CN" altLang="en-US" sz="1800" b="1">
                <a:solidFill>
                  <a:srgbClr val="C00000"/>
                </a:solidFill>
                <a:latin typeface="仿宋" panose="02010609060101010101" charset="-122"/>
                <a:ea typeface="仿宋" panose="02010609060101010101" charset="-122"/>
              </a:rPr>
              <a:t>闲置状态</a:t>
            </a:r>
            <a:endParaRPr lang="zh-CN" altLang="en-US" sz="1800" b="1">
              <a:solidFill>
                <a:srgbClr val="C00000"/>
              </a:solidFill>
              <a:latin typeface="仿宋" panose="02010609060101010101" charset="-122"/>
              <a:ea typeface="仿宋" panose="02010609060101010101" charset="-122"/>
            </a:endParaRPr>
          </a:p>
        </p:txBody>
      </p:sp>
      <p:sp>
        <p:nvSpPr>
          <p:cNvPr id="6" name="文本框 5"/>
          <p:cNvSpPr txBox="1"/>
          <p:nvPr>
            <p:custDataLst>
              <p:tags r:id="rId3"/>
            </p:custDataLst>
          </p:nvPr>
        </p:nvSpPr>
        <p:spPr>
          <a:xfrm>
            <a:off x="3131820" y="5852160"/>
            <a:ext cx="1166495" cy="368300"/>
          </a:xfrm>
          <a:prstGeom prst="rect">
            <a:avLst/>
          </a:prstGeom>
          <a:noFill/>
        </p:spPr>
        <p:txBody>
          <a:bodyPr wrap="square" rtlCol="0">
            <a:spAutoFit/>
          </a:bodyPr>
          <a:lstStyle/>
          <a:p>
            <a:pPr algn="ctr"/>
            <a:r>
              <a:rPr lang="zh-CN" altLang="en-US" sz="1800" b="1">
                <a:solidFill>
                  <a:srgbClr val="C00000"/>
                </a:solidFill>
                <a:latin typeface="仿宋" panose="02010609060101010101" charset="-122"/>
                <a:ea typeface="仿宋" panose="02010609060101010101" charset="-122"/>
              </a:rPr>
              <a:t>拨号中</a:t>
            </a:r>
            <a:endParaRPr lang="zh-CN" altLang="en-US" sz="1800" b="1">
              <a:solidFill>
                <a:srgbClr val="C00000"/>
              </a:solidFill>
              <a:latin typeface="仿宋" panose="02010609060101010101" charset="-122"/>
              <a:ea typeface="仿宋" panose="02010609060101010101" charset="-122"/>
            </a:endParaRPr>
          </a:p>
        </p:txBody>
      </p:sp>
      <p:sp>
        <p:nvSpPr>
          <p:cNvPr id="7" name="文本框 6"/>
          <p:cNvSpPr txBox="1"/>
          <p:nvPr>
            <p:custDataLst>
              <p:tags r:id="rId4"/>
            </p:custDataLst>
          </p:nvPr>
        </p:nvSpPr>
        <p:spPr>
          <a:xfrm>
            <a:off x="5630545" y="5805170"/>
            <a:ext cx="1166495" cy="368300"/>
          </a:xfrm>
          <a:prstGeom prst="rect">
            <a:avLst/>
          </a:prstGeom>
          <a:noFill/>
        </p:spPr>
        <p:txBody>
          <a:bodyPr wrap="square" rtlCol="0">
            <a:spAutoFit/>
          </a:bodyPr>
          <a:lstStyle/>
          <a:p>
            <a:pPr algn="ctr"/>
            <a:r>
              <a:rPr lang="zh-CN" altLang="en-US" sz="1800" b="1">
                <a:solidFill>
                  <a:srgbClr val="C00000"/>
                </a:solidFill>
                <a:latin typeface="仿宋" panose="02010609060101010101" charset="-122"/>
                <a:ea typeface="仿宋" panose="02010609060101010101" charset="-122"/>
              </a:rPr>
              <a:t>拨通中</a:t>
            </a:r>
            <a:endParaRPr lang="zh-CN" altLang="en-US" sz="1800" b="1">
              <a:solidFill>
                <a:srgbClr val="C00000"/>
              </a:solidFill>
              <a:latin typeface="仿宋" panose="02010609060101010101" charset="-122"/>
              <a:ea typeface="仿宋" panose="02010609060101010101" charset="-122"/>
            </a:endParaRPr>
          </a:p>
        </p:txBody>
      </p:sp>
      <p:sp>
        <p:nvSpPr>
          <p:cNvPr id="8" name="文本框 7"/>
          <p:cNvSpPr txBox="1"/>
          <p:nvPr>
            <p:custDataLst>
              <p:tags r:id="rId5"/>
            </p:custDataLst>
          </p:nvPr>
        </p:nvSpPr>
        <p:spPr>
          <a:xfrm>
            <a:off x="5652135" y="2343150"/>
            <a:ext cx="1166495" cy="368300"/>
          </a:xfrm>
          <a:prstGeom prst="rect">
            <a:avLst/>
          </a:prstGeom>
          <a:noFill/>
        </p:spPr>
        <p:txBody>
          <a:bodyPr wrap="square" rtlCol="0">
            <a:spAutoFit/>
          </a:bodyPr>
          <a:lstStyle/>
          <a:p>
            <a:pPr algn="ctr"/>
            <a:r>
              <a:rPr lang="zh-CN" altLang="en-US" sz="1800" b="1">
                <a:solidFill>
                  <a:srgbClr val="C00000"/>
                </a:solidFill>
                <a:latin typeface="仿宋" panose="02010609060101010101" charset="-122"/>
                <a:ea typeface="仿宋" panose="02010609060101010101" charset="-122"/>
              </a:rPr>
              <a:t>响铃</a:t>
            </a:r>
            <a:endParaRPr lang="zh-CN" altLang="en-US" sz="1800" b="1">
              <a:solidFill>
                <a:srgbClr val="C00000"/>
              </a:solidFill>
              <a:latin typeface="仿宋" panose="02010609060101010101" charset="-122"/>
              <a:ea typeface="仿宋" panose="02010609060101010101"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5018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3" name="文本框 2"/>
          <p:cNvSpPr txBox="1"/>
          <p:nvPr/>
        </p:nvSpPr>
        <p:spPr>
          <a:xfrm>
            <a:off x="395605" y="1477645"/>
            <a:ext cx="7734300" cy="5147310"/>
          </a:xfrm>
          <a:prstGeom prst="rect">
            <a:avLst/>
          </a:prstGeom>
          <a:noFill/>
        </p:spPr>
        <p:txBody>
          <a:bodyPr wrap="square" rtlCol="0" anchor="t">
            <a:noAutofit/>
          </a:bodyPr>
          <a:lstStyle/>
          <a:p>
            <a:pPr marL="342900" indent="-342900">
              <a:spcBef>
                <a:spcPts val="600"/>
              </a:spcBef>
              <a:spcAft>
                <a:spcPts val="600"/>
              </a:spcAft>
              <a:buFont typeface="Wingdings" panose="05000000000000000000" charset="0"/>
              <a:buChar char="Ø"/>
            </a:pPr>
            <a:r>
              <a:rPr lang="zh-CN" altLang="en-US" sz="2000" b="1">
                <a:latin typeface="+mn-ea"/>
                <a:ea typeface="+mn-ea"/>
                <a:cs typeface="+mn-ea"/>
              </a:rPr>
              <a:t>状态图清晰地描述了状态之间的转换顺序，通过状态的转换顺序也就可以清晰地看出事件的执行顺序。如果没有状态图我们就不可避免地要使用大量文字来描述外部事件的合法顺序。</a:t>
            </a:r>
            <a:endParaRPr lang="zh-CN" altLang="en-US" sz="2000" b="1">
              <a:latin typeface="+mn-ea"/>
              <a:ea typeface="+mn-ea"/>
              <a:cs typeface="+mn-ea"/>
            </a:endParaRPr>
          </a:p>
          <a:p>
            <a:pPr marL="342900" indent="-342900">
              <a:spcBef>
                <a:spcPts val="600"/>
              </a:spcBef>
              <a:spcAft>
                <a:spcPts val="600"/>
              </a:spcAft>
              <a:buFont typeface="Wingdings" panose="05000000000000000000" charset="0"/>
              <a:buChar char="Ø"/>
            </a:pPr>
            <a:r>
              <a:rPr lang="zh-CN" altLang="en-US" sz="2000" b="1">
                <a:latin typeface="+mn-ea"/>
                <a:ea typeface="+mn-ea"/>
                <a:cs typeface="+mn-ea"/>
              </a:rPr>
              <a:t>清晰的事件顺序有利于程序员在开发程序时避免出现事件顺序错误的情况。例如，对于一个网上销售系统，在用户处于登录状态前是不允许购买商品的，这就需要程序员开发程序的过程中加以限制。</a:t>
            </a:r>
            <a:endParaRPr lang="zh-CN" altLang="en-US" sz="2000" b="1">
              <a:latin typeface="+mn-ea"/>
              <a:ea typeface="+mn-ea"/>
              <a:cs typeface="+mn-ea"/>
            </a:endParaRPr>
          </a:p>
          <a:p>
            <a:pPr marL="342900" indent="-342900">
              <a:spcBef>
                <a:spcPts val="600"/>
              </a:spcBef>
              <a:spcAft>
                <a:spcPts val="600"/>
              </a:spcAft>
              <a:buFont typeface="Wingdings" panose="05000000000000000000" charset="0"/>
              <a:buChar char="Ø"/>
            </a:pPr>
            <a:r>
              <a:rPr lang="zh-CN" altLang="en-US" sz="2000" b="1">
                <a:latin typeface="+mn-ea"/>
                <a:ea typeface="+mn-ea"/>
                <a:cs typeface="+mn-ea"/>
              </a:rPr>
              <a:t>状态图清晰地描述了状态转换时所必需的触发事件、监护条件和动作等影响转换的因素，有利于程序员避免程序中非法事件的进入。例如，飞机起飞前半小时不允许售票，在状态图中就可以清晰地看到，可以提醒程序员不要遗漏这些限制条件。</a:t>
            </a:r>
            <a:endParaRPr lang="zh-CN" altLang="en-US" sz="2000" b="1">
              <a:latin typeface="+mn-ea"/>
              <a:ea typeface="+mn-ea"/>
              <a:cs typeface="+mn-ea"/>
            </a:endParaRPr>
          </a:p>
          <a:p>
            <a:pPr marL="342900" indent="-342900">
              <a:spcBef>
                <a:spcPts val="600"/>
              </a:spcBef>
              <a:spcAft>
                <a:spcPts val="600"/>
              </a:spcAft>
              <a:buFont typeface="Wingdings" panose="05000000000000000000" charset="0"/>
              <a:buChar char="Ø"/>
            </a:pPr>
            <a:r>
              <a:rPr lang="zh-CN" altLang="en-US" sz="2000" b="1">
                <a:latin typeface="+mn-ea"/>
                <a:ea typeface="+mn-ea"/>
                <a:cs typeface="+mn-ea"/>
              </a:rPr>
              <a:t>状态图通过判定可以更好地描述工作流因为不同的条件发生的分支。例如，当一个班的人数少于10人的时候需要和其他班合为一班上课，大于10人则单独上课，在状态图中就可以很明确地表达出来。</a:t>
            </a:r>
            <a:endParaRPr lang="zh-CN" altLang="en-US" sz="2000" b="1">
              <a:latin typeface="+mn-ea"/>
              <a:ea typeface="+mn-ea"/>
              <a:cs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7823200" cy="4873625"/>
          </a:xfrm>
        </p:spPr>
        <p:txBody>
          <a:bodyPr vert="horz" wrap="square" lIns="91440" tIns="45720" rIns="91440" bIns="45720" numCol="1" anchor="t" anchorCtr="0" compatLnSpc="1">
            <a:normAutofit/>
          </a:bodyPr>
          <a:lstStyle/>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4"/>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活动图：描述系统中</a:t>
            </a:r>
            <a:r>
              <a:rPr kumimoji="0" lang="zh-CN" altLang="en-US" sz="2400" b="1" i="0" u="none" strike="noStrike" kern="1200" cap="none" spc="0" normalizeH="0" baseline="0" noProof="0" dirty="0">
                <a:ln>
                  <a:noFill/>
                </a:ln>
                <a:solidFill>
                  <a:srgbClr val="FF0000"/>
                </a:solidFill>
                <a:effectLst/>
                <a:uLnTx/>
                <a:uFillTx/>
                <a:latin typeface="+mn-lt"/>
                <a:ea typeface="+mn-ea"/>
                <a:cs typeface="+mn-cs"/>
              </a:rPr>
              <a:t>各种活动的执行顺序</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。以“流”（控制流和数据流）处理为侧重点描述系统的行为。</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基本元素及图符：</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活动</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：活动图由一些活动组成，用圆角矩形表示。</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初始状态、结束状态</a:t>
            </a:r>
            <a:endParaRPr kumimoji="0" lang="en-US" altLang="zh-CN" sz="2400" b="1" i="0" u="none" strike="noStrike" kern="1200" cap="none" spc="0" normalizeH="0" baseline="0" noProof="0" dirty="0">
              <a:ln>
                <a:noFill/>
              </a:ln>
              <a:solidFill>
                <a:srgbClr val="0070C0"/>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控制流</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：当一个活动执行完毕之后，控制将沿着控制转移箭头转向下一个活动。用带箭头的直线表示。</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控制转移的条件</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条件分支、条件联合</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并行</a:t>
            </a:r>
            <a:r>
              <a:rPr kumimoji="0" lang="en-US" altLang="zh-CN" sz="2400" b="1" i="0" u="none" strike="noStrike" kern="1200" cap="none" spc="0" normalizeH="0" baseline="0" noProof="0" dirty="0">
                <a:ln>
                  <a:noFill/>
                </a:ln>
                <a:solidFill>
                  <a:srgbClr val="0070C0"/>
                </a:solidFill>
                <a:effectLst/>
                <a:uLnTx/>
                <a:uFillTx/>
                <a:latin typeface="+mn-lt"/>
                <a:ea typeface="+mn-ea"/>
                <a:cs typeface="+mn-cs"/>
              </a:rPr>
              <a:t>/</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并发执行</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并发分支、并发联合</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rgbClr val="0070C0"/>
                </a:solidFill>
                <a:effectLst/>
                <a:uLnTx/>
                <a:uFillTx/>
                <a:latin typeface="+mn-lt"/>
                <a:ea typeface="+mn-ea"/>
                <a:cs typeface="+mn-cs"/>
              </a:rPr>
              <a:t>泳道 </a:t>
            </a:r>
            <a:r>
              <a:rPr kumimoji="0" lang="zh-CN" altLang="en-US" sz="2400" b="1" i="0" u="none" strike="noStrike" kern="1200" cap="none" spc="0" normalizeH="0" baseline="0" noProof="0" dirty="0">
                <a:ln>
                  <a:noFill/>
                </a:ln>
                <a:solidFill>
                  <a:schemeClr val="tx1"/>
                </a:solidFill>
                <a:effectLst/>
                <a:uLnTx/>
                <a:uFillTx/>
                <a:latin typeface="+mn-lt"/>
                <a:ea typeface="+mn-ea"/>
                <a:cs typeface="+mn-cs"/>
              </a:rPr>
              <a:t>活动图中的活动可以被分成为几个区域，每个区域在图中用虚线分开而因此被叫做泳道</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51204"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600200"/>
            <a:ext cx="7885430" cy="4873625"/>
          </a:xfrm>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600"/>
              </a:spcBef>
              <a:spcAft>
                <a:spcPts val="0"/>
              </a:spcAft>
              <a:buClr>
                <a:schemeClr val="accent1"/>
              </a:buClr>
              <a:buSzPct val="70000"/>
              <a:buFont typeface="+mj-ea"/>
              <a:buNone/>
              <a:defRPr/>
            </a:pPr>
            <a:r>
              <a:rPr kumimoji="0" lang="zh-CN" altLang="en-US" sz="2400" b="1" i="0" u="none" strike="noStrike" kern="1200" cap="none" spc="0" normalizeH="0" baseline="0" noProof="0" dirty="0">
                <a:ln>
                  <a:noFill/>
                </a:ln>
                <a:effectLst/>
                <a:uLnTx/>
                <a:uFillTx/>
                <a:latin typeface="+mn-lt"/>
                <a:ea typeface="+mn-ea"/>
                <a:cs typeface="+mn-cs"/>
              </a:rPr>
              <a:t>活动图的作用：活动图是模型中的完整单元，表示一个程序或工作流，常用于计算流程和工作流程的建模。活动图着重描述用例实例或对象的活动，以及操作实现中所完成的工作。活动图通常出现在设计的前期，即在所有实现决定前出现，特别是在对象被指定执行所有活动前。</a:t>
            </a:r>
            <a:endParaRPr kumimoji="0" lang="zh-CN" altLang="en-US" sz="2400" b="1" i="0" u="none" strike="noStrike" kern="1200" cap="none" spc="0" normalizeH="0" baseline="0" noProof="0" dirty="0">
              <a:ln>
                <a:noFill/>
              </a:ln>
              <a:effectLst/>
              <a:uLnTx/>
              <a:uFillTx/>
              <a:latin typeface="+mn-lt"/>
              <a:ea typeface="+mn-ea"/>
              <a:cs typeface="+mn-cs"/>
            </a:endParaRPr>
          </a:p>
        </p:txBody>
      </p:sp>
      <p:sp>
        <p:nvSpPr>
          <p:cNvPr id="51204"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11" name="图片 110"/>
          <p:cNvPicPr/>
          <p:nvPr>
            <p:custDataLst>
              <p:tags r:id="rId1"/>
            </p:custDataLst>
          </p:nvPr>
        </p:nvPicPr>
        <p:blipFill>
          <a:blip r:embed="rId2"/>
          <a:srcRect l="28630" r="25176"/>
          <a:stretch>
            <a:fillRect/>
          </a:stretch>
        </p:blipFill>
        <p:spPr>
          <a:xfrm>
            <a:off x="2843530" y="3573145"/>
            <a:ext cx="3853815" cy="3178810"/>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4.2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模型图</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ts val="600"/>
              </a:spcBef>
              <a:spcAft>
                <a:spcPts val="0"/>
              </a:spcAft>
              <a:buClr>
                <a:schemeClr val="accent1"/>
              </a:buClr>
              <a:buSzPct val="70000"/>
              <a:buFont typeface="+mj-ea"/>
              <a:buNone/>
              <a:defRPr/>
            </a:pPr>
            <a:r>
              <a:rPr kumimoji="0" lang="zh-CN" altLang="en-US" sz="2400" b="1" i="0" u="none" strike="noStrike" kern="1200" cap="none" spc="0" normalizeH="0" baseline="0" noProof="0" dirty="0">
                <a:ln>
                  <a:noFill/>
                </a:ln>
                <a:effectLst/>
                <a:uLnTx/>
                <a:uFillTx/>
                <a:latin typeface="+mn-lt"/>
                <a:ea typeface="+mn-ea"/>
                <a:cs typeface="+mn-cs"/>
              </a:rPr>
              <a:t>活动图与状态图的区别：</a:t>
            </a:r>
            <a:endParaRPr kumimoji="0" lang="zh-CN" altLang="en-US" sz="2400" b="1" i="0" u="none" strike="noStrike" kern="1200" cap="none" spc="0" normalizeH="0" baseline="0" noProof="0" dirty="0">
              <a:ln>
                <a:noFill/>
              </a:ln>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4"/>
              <a:defRPr/>
            </a:pPr>
            <a:endParaRPr kumimoji="0" lang="zh-CN" altLang="en-US" sz="2400" b="1" i="0" u="none" strike="noStrike" kern="1200" cap="none" spc="0" normalizeH="0" baseline="0" noProof="0" dirty="0">
              <a:ln>
                <a:noFill/>
              </a:ln>
              <a:effectLst/>
              <a:uLnTx/>
              <a:uFillTx/>
              <a:latin typeface="+mn-lt"/>
              <a:ea typeface="+mn-ea"/>
              <a:cs typeface="+mn-cs"/>
            </a:endParaRPr>
          </a:p>
          <a:p>
            <a:pPr marR="0" lvl="0" algn="l" defTabSz="914400" rtl="0" eaLnBrk="1" fontAlgn="auto" latinLnBrk="0" hangingPunct="1">
              <a:lnSpc>
                <a:spcPct val="100000"/>
              </a:lnSpc>
              <a:spcBef>
                <a:spcPts val="600"/>
              </a:spcBef>
              <a:spcAft>
                <a:spcPts val="0"/>
              </a:spcAft>
              <a:buClr>
                <a:schemeClr val="accent1"/>
              </a:buClr>
              <a:buSzPct val="70000"/>
              <a:defRPr/>
            </a:pPr>
            <a:r>
              <a:rPr kumimoji="0" lang="zh-CN" altLang="en-US" sz="2400" b="1" i="0" u="none" strike="noStrike" kern="1200" cap="none" spc="0" normalizeH="0" baseline="0" noProof="0" dirty="0">
                <a:ln>
                  <a:noFill/>
                </a:ln>
                <a:effectLst/>
                <a:uLnTx/>
                <a:uFillTx/>
                <a:latin typeface="+mn-lt"/>
                <a:ea typeface="+mn-ea"/>
                <a:cs typeface="+mn-cs"/>
              </a:rPr>
              <a:t>活动图可以算是状态图的一个变种，并且活动图的符号与状态图的符号非常相似，有时会让人混淆。</a:t>
            </a:r>
            <a:endParaRPr kumimoji="0" lang="zh-CN" altLang="en-US" sz="2400" b="1" i="0" u="none" strike="noStrike" kern="1200" cap="none" spc="0" normalizeH="0" baseline="0" noProof="0" dirty="0">
              <a:ln>
                <a:noFill/>
              </a:ln>
              <a:effectLst/>
              <a:uLnTx/>
              <a:uFillTx/>
              <a:latin typeface="+mn-lt"/>
              <a:ea typeface="+mn-ea"/>
              <a:cs typeface="+mn-cs"/>
            </a:endParaRPr>
          </a:p>
          <a:p>
            <a:pPr marR="0" lvl="0" algn="l" defTabSz="914400" rtl="0" eaLnBrk="1" fontAlgn="auto" latinLnBrk="0" hangingPunct="1">
              <a:lnSpc>
                <a:spcPct val="100000"/>
              </a:lnSpc>
              <a:spcBef>
                <a:spcPts val="600"/>
              </a:spcBef>
              <a:spcAft>
                <a:spcPts val="0"/>
              </a:spcAft>
              <a:buClr>
                <a:schemeClr val="accent1"/>
              </a:buClr>
              <a:buSzPct val="70000"/>
              <a:defRPr/>
            </a:pPr>
            <a:r>
              <a:rPr kumimoji="0" lang="zh-CN" altLang="en-US" sz="2400" b="1" i="0" u="none" strike="noStrike" kern="1200" cap="none" spc="0" normalizeH="0" baseline="0" noProof="0" dirty="0">
                <a:ln>
                  <a:noFill/>
                </a:ln>
                <a:effectLst/>
                <a:uLnTx/>
                <a:uFillTx/>
                <a:latin typeface="+mn-lt"/>
                <a:ea typeface="+mn-ea"/>
                <a:cs typeface="+mn-cs"/>
              </a:rPr>
              <a:t>活动图的主要目的是描述动作及对象的改变结果，而状态图则是以状态的概念描述对象、子系统、系统在生命周期中的各种行为。</a:t>
            </a:r>
            <a:endParaRPr kumimoji="0" lang="zh-CN" altLang="en-US" sz="2400" b="1" i="0" u="none" strike="noStrike" kern="1200" cap="none" spc="0" normalizeH="0" baseline="0" noProof="0" dirty="0">
              <a:ln>
                <a:noFill/>
              </a:ln>
              <a:effectLst/>
              <a:uLnTx/>
              <a:uFillTx/>
              <a:latin typeface="+mn-lt"/>
              <a:ea typeface="+mn-ea"/>
              <a:cs typeface="+mn-cs"/>
            </a:endParaRPr>
          </a:p>
          <a:p>
            <a:pPr marR="0" lvl="0" algn="l" defTabSz="914400" rtl="0" eaLnBrk="1" fontAlgn="auto" latinLnBrk="0" hangingPunct="1">
              <a:lnSpc>
                <a:spcPct val="100000"/>
              </a:lnSpc>
              <a:spcBef>
                <a:spcPts val="600"/>
              </a:spcBef>
              <a:spcAft>
                <a:spcPts val="0"/>
              </a:spcAft>
              <a:buClr>
                <a:schemeClr val="accent1"/>
              </a:buClr>
              <a:buSzPct val="70000"/>
              <a:defRPr/>
            </a:pPr>
            <a:r>
              <a:rPr kumimoji="0" lang="zh-CN" altLang="en-US" sz="2400" b="1" i="0" u="none" strike="noStrike" kern="1200" cap="none" spc="0" normalizeH="0" baseline="0" noProof="0" dirty="0">
                <a:ln>
                  <a:noFill/>
                </a:ln>
                <a:effectLst/>
                <a:uLnTx/>
                <a:uFillTx/>
                <a:latin typeface="+mn-lt"/>
                <a:ea typeface="+mn-ea"/>
                <a:cs typeface="+mn-cs"/>
              </a:rPr>
              <a:t>活动图中的状态转换不需要任何触发事件。活动图中的动作可以放在泳道中，而状态图则不可以。</a:t>
            </a:r>
            <a:endParaRPr kumimoji="0" lang="zh-CN" altLang="en-US" sz="2400" b="1" i="0" u="none" strike="noStrike" kern="1200" cap="none" spc="0" normalizeH="0" baseline="0" noProof="0" dirty="0">
              <a:ln>
                <a:noFill/>
              </a:ln>
              <a:effectLst/>
              <a:uLnTx/>
              <a:uFillTx/>
              <a:latin typeface="+mn-lt"/>
              <a:ea typeface="+mn-ea"/>
              <a:cs typeface="+mn-cs"/>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4"/>
              <a:defRPr/>
            </a:pPr>
            <a:endParaRPr kumimoji="0" lang="zh-CN" altLang="en-US" sz="2400" b="1" i="0" u="none" strike="noStrike" kern="1200" cap="none" spc="0" normalizeH="0" baseline="0" noProof="0" dirty="0">
              <a:ln>
                <a:noFill/>
              </a:ln>
              <a:effectLst/>
              <a:uLnTx/>
              <a:uFillTx/>
              <a:latin typeface="+mn-lt"/>
              <a:ea typeface="+mn-ea"/>
              <a:cs typeface="+mn-cs"/>
            </a:endParaRPr>
          </a:p>
        </p:txBody>
      </p:sp>
      <p:sp>
        <p:nvSpPr>
          <p:cNvPr id="51204"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4.3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的公共机制</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3251"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sz="2200" dirty="0">
                <a:ea typeface="宋体" panose="02010600030101010101" pitchFamily="2" charset="-122"/>
              </a:rPr>
              <a:t>1</a:t>
            </a:r>
            <a:r>
              <a:rPr lang="zh-CN" altLang="en-US" sz="2200" dirty="0">
                <a:ea typeface="宋体" panose="02010600030101010101" pitchFamily="2" charset="-122"/>
              </a:rPr>
              <a:t>、规格说明</a:t>
            </a:r>
            <a:endParaRPr lang="en-US" altLang="zh-CN" sz="22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en-US" altLang="zh-CN" sz="2200" dirty="0">
                <a:ea typeface="宋体" panose="02010600030101010101" pitchFamily="2" charset="-122"/>
              </a:rPr>
              <a:t>UML</a:t>
            </a:r>
            <a:r>
              <a:rPr lang="zh-CN" altLang="zh-CN" sz="2200" dirty="0">
                <a:ea typeface="宋体" panose="02010600030101010101" pitchFamily="2" charset="-122"/>
              </a:rPr>
              <a:t>不只提供了可视化的图形表示法，也提供了对图形的文字说明的语法和语义描述，即它的图形表示法的每一部分背后都有一个规格说明。</a:t>
            </a:r>
            <a:endParaRPr lang="en-US" altLang="zh-CN" sz="2200" dirty="0">
              <a:ea typeface="宋体" panose="02010600030101010101" pitchFamily="2" charset="-122"/>
            </a:endParaRPr>
          </a:p>
          <a:p>
            <a:pPr eaLnBrk="1" hangingPunct="1">
              <a:buClr>
                <a:schemeClr val="accent1"/>
              </a:buClr>
              <a:buSzPct val="70000"/>
              <a:buFont typeface="Wingdings" panose="05000000000000000000" pitchFamily="2" charset="2"/>
              <a:buNone/>
            </a:pPr>
            <a:r>
              <a:rPr lang="en-US" altLang="zh-CN" sz="2200" dirty="0">
                <a:ea typeface="宋体" panose="02010600030101010101" pitchFamily="2" charset="-122"/>
              </a:rPr>
              <a:t>2</a:t>
            </a:r>
            <a:r>
              <a:rPr lang="zh-CN" altLang="en-US" sz="2200" dirty="0">
                <a:ea typeface="宋体" panose="02010600030101010101" pitchFamily="2" charset="-122"/>
              </a:rPr>
              <a:t>、修饰</a:t>
            </a:r>
            <a:endParaRPr lang="en-US" altLang="zh-CN" sz="22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sz="2200" dirty="0">
                <a:ea typeface="宋体" panose="02010600030101010101" pitchFamily="2" charset="-122"/>
              </a:rPr>
              <a:t>把建模的表述可视化使之容易理解</a:t>
            </a:r>
            <a:endParaRPr lang="zh-CN" sz="2200" dirty="0">
              <a:ea typeface="宋体" panose="02010600030101010101" pitchFamily="2" charset="-122"/>
            </a:endParaRPr>
          </a:p>
          <a:p>
            <a:pPr marL="0" lvl="0" indent="0" eaLnBrk="1" hangingPunct="1">
              <a:buClr>
                <a:schemeClr val="accent1"/>
              </a:buClr>
              <a:buSzPct val="80000"/>
              <a:buFont typeface="Wingdings 2" panose="05020102010507070707" pitchFamily="18" charset="2"/>
              <a:buNone/>
            </a:pPr>
            <a:r>
              <a:rPr lang="en-US" altLang="zh-CN" sz="2200" dirty="0">
                <a:ea typeface="宋体" panose="02010600030101010101" pitchFamily="2" charset="-122"/>
              </a:rPr>
              <a:t>3</a:t>
            </a:r>
            <a:r>
              <a:rPr lang="zh-CN" altLang="en-US" sz="2200" dirty="0">
                <a:ea typeface="宋体" panose="02010600030101010101" pitchFamily="2" charset="-122"/>
              </a:rPr>
              <a:t>、通用划分</a:t>
            </a:r>
            <a:endParaRPr lang="zh-CN" altLang="en-US" sz="2200" dirty="0">
              <a:ea typeface="宋体" panose="02010600030101010101" pitchFamily="2" charset="-122"/>
            </a:endParaRPr>
          </a:p>
          <a:p>
            <a:pPr lvl="1" eaLnBrk="1" hangingPunct="1">
              <a:buClr>
                <a:schemeClr val="accent1"/>
              </a:buClr>
              <a:buSzPct val="80000"/>
              <a:buFont typeface="Wingdings" panose="05000000000000000000" charset="0"/>
              <a:buChar char="l"/>
            </a:pPr>
            <a:r>
              <a:rPr lang="zh-CN" altLang="en-US" sz="2200" dirty="0">
                <a:ea typeface="宋体" panose="02010600030101010101" pitchFamily="2" charset="-122"/>
              </a:rPr>
              <a:t>两种：一种是类和对象的划分。即把表述者和被表述者分开；另一种是接口和实现的分离，即把实施对象和实施过程分开</a:t>
            </a:r>
            <a:endParaRPr lang="zh-CN" altLang="en-US" sz="2200" dirty="0">
              <a:ea typeface="宋体" panose="02010600030101010101" pitchFamily="2" charset="-122"/>
            </a:endParaRPr>
          </a:p>
          <a:p>
            <a:pPr marL="0" lvl="0" indent="0" eaLnBrk="1" hangingPunct="1">
              <a:buClr>
                <a:schemeClr val="accent1"/>
              </a:buClr>
              <a:buSzPct val="80000"/>
              <a:buFont typeface="Wingdings 2" panose="05020102010507070707" pitchFamily="18" charset="2"/>
              <a:buNone/>
            </a:pPr>
            <a:r>
              <a:rPr lang="en-US" altLang="zh-CN" sz="2200" dirty="0">
                <a:ea typeface="宋体" panose="02010600030101010101" pitchFamily="2" charset="-122"/>
              </a:rPr>
              <a:t>4</a:t>
            </a:r>
            <a:r>
              <a:rPr lang="zh-CN" altLang="en-US" sz="2200" dirty="0">
                <a:ea typeface="宋体" panose="02010600030101010101" pitchFamily="2" charset="-122"/>
              </a:rPr>
              <a:t>、扩展机制</a:t>
            </a:r>
            <a:endParaRPr lang="zh-CN" altLang="en-US" sz="2200" dirty="0">
              <a:ea typeface="宋体" panose="02010600030101010101" pitchFamily="2" charset="-122"/>
            </a:endParaRPr>
          </a:p>
          <a:p>
            <a:pPr lvl="1" eaLnBrk="1" hangingPunct="1">
              <a:buClr>
                <a:schemeClr val="accent1"/>
              </a:buClr>
              <a:buSzPct val="80000"/>
              <a:buFont typeface="Wingdings" panose="05000000000000000000" charset="0"/>
              <a:buChar char="l"/>
            </a:pPr>
            <a:r>
              <a:rPr lang="en-US" altLang="zh-CN" sz="2200" dirty="0">
                <a:ea typeface="宋体" panose="02010600030101010101" pitchFamily="2" charset="-122"/>
              </a:rPr>
              <a:t>UML</a:t>
            </a:r>
            <a:r>
              <a:rPr lang="zh-CN" altLang="en-US" sz="2200" dirty="0">
                <a:ea typeface="宋体" panose="02010600030101010101" pitchFamily="2" charset="-122"/>
              </a:rPr>
              <a:t>仅提供蓝本，允许派生出新事物增加新规则，并可以对新规则进行描述。</a:t>
            </a:r>
            <a:endParaRPr lang="zh-CN" sz="2200" dirty="0">
              <a:ea typeface="宋体" panose="02010600030101010101" pitchFamily="2" charset="-122"/>
            </a:endParaRPr>
          </a:p>
          <a:p>
            <a:pPr lvl="1" eaLnBrk="1" hangingPunct="1">
              <a:buClr>
                <a:schemeClr val="accent1"/>
              </a:buClr>
              <a:buSzPct val="80000"/>
              <a:buFont typeface="Wingdings 2" panose="05020102010507070707" pitchFamily="18" charset="2"/>
            </a:pPr>
            <a:endParaRPr lang="zh-CN" sz="2200" dirty="0">
              <a:ea typeface="宋体" panose="02010600030101010101" pitchFamily="2" charset="-122"/>
            </a:endParaRPr>
          </a:p>
        </p:txBody>
      </p:sp>
      <p:sp>
        <p:nvSpPr>
          <p:cNvPr id="5325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4.3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的公共机制</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3251" name="内容占位符 2"/>
          <p:cNvSpPr>
            <a:spLocks noGrp="1"/>
          </p:cNvSpPr>
          <p:nvPr>
            <p:ph sz="quarter" idx="1"/>
          </p:nvPr>
        </p:nvSpPr>
        <p:spPr>
          <a:xfrm>
            <a:off x="457200" y="1600200"/>
            <a:ext cx="8038465" cy="4873625"/>
          </a:xfrm>
        </p:spPr>
        <p:txBody>
          <a:bodyPr vert="horz" wrap="square" lIns="91440" tIns="45720" rIns="91440" bIns="45720" anchor="t" anchorCtr="0"/>
          <a:lstStyle/>
          <a:p>
            <a:pPr eaLnBrk="1" hangingPunct="1">
              <a:lnSpc>
                <a:spcPct val="80000"/>
              </a:lnSpc>
            </a:pPr>
            <a:r>
              <a:rPr lang="en-US" altLang="zh-CN" dirty="0">
                <a:sym typeface="+mn-ea"/>
              </a:rPr>
              <a:t>UML</a:t>
            </a:r>
            <a:r>
              <a:rPr lang="zh-CN" altLang="en-US" dirty="0">
                <a:sym typeface="+mn-ea"/>
              </a:rPr>
              <a:t>不只是一种图形语言。实际上，在它的图形表示法的每部分背后都有一个详细说明，提供了对构造块的语法和语义的文字叙述。 </a:t>
            </a:r>
            <a:endParaRPr lang="zh-CN" altLang="en-US" dirty="0"/>
          </a:p>
          <a:p>
            <a:pPr eaLnBrk="1" hangingPunct="1">
              <a:lnSpc>
                <a:spcPct val="80000"/>
              </a:lnSpc>
            </a:pPr>
            <a:r>
              <a:rPr lang="en-US" altLang="zh-CN" dirty="0">
                <a:sym typeface="+mn-ea"/>
              </a:rPr>
              <a:t>UML</a:t>
            </a:r>
            <a:r>
              <a:rPr lang="zh-CN" altLang="en-US" dirty="0">
                <a:sym typeface="+mn-ea"/>
              </a:rPr>
              <a:t>表示法中的每一个元素都有一个基本符号，这些图形符号对元素的最重要的方面提供了可视化表示，对元素的描述还包含其他细节。例如，一个类是否是抽象类，或它的属性和操作是否可见。要把这样的修饰细节加到基本符号上。</a:t>
            </a:r>
            <a:endParaRPr lang="zh-CN" altLang="en-US" dirty="0"/>
          </a:p>
          <a:p>
            <a:pPr eaLnBrk="1" hangingPunct="1">
              <a:lnSpc>
                <a:spcPct val="80000"/>
              </a:lnSpc>
            </a:pPr>
            <a:r>
              <a:rPr lang="zh-CN" altLang="en-US" dirty="0">
                <a:sym typeface="+mn-ea"/>
              </a:rPr>
              <a:t>在对面向对象的系统建模中，至少有两种通用的划分世界的方法：对类和对象的划分；对接口和实现的划分。</a:t>
            </a:r>
            <a:r>
              <a:rPr lang="en-US" altLang="zh-CN" dirty="0">
                <a:sym typeface="+mn-ea"/>
              </a:rPr>
              <a:t>UML</a:t>
            </a:r>
            <a:r>
              <a:rPr lang="zh-CN" altLang="en-US" dirty="0">
                <a:sym typeface="+mn-ea"/>
              </a:rPr>
              <a:t>中的构造块几乎都存在着这样的两分法。 　　</a:t>
            </a:r>
            <a:endParaRPr lang="zh-CN" altLang="en-US" dirty="0"/>
          </a:p>
          <a:p>
            <a:pPr eaLnBrk="1" hangingPunct="1">
              <a:lnSpc>
                <a:spcPct val="80000"/>
              </a:lnSpc>
            </a:pPr>
            <a:r>
              <a:rPr lang="en-US" altLang="zh-CN" dirty="0">
                <a:sym typeface="+mn-ea"/>
              </a:rPr>
              <a:t>UML</a:t>
            </a:r>
            <a:r>
              <a:rPr lang="zh-CN" altLang="en-US" dirty="0">
                <a:sym typeface="+mn-ea"/>
              </a:rPr>
              <a:t>是开放的，可用一种受限的方法扩展它。</a:t>
            </a:r>
            <a:r>
              <a:rPr lang="en-US" altLang="zh-CN" dirty="0">
                <a:sym typeface="+mn-ea"/>
              </a:rPr>
              <a:t>UML</a:t>
            </a:r>
            <a:r>
              <a:rPr lang="zh-CN" altLang="en-US" dirty="0">
                <a:sym typeface="+mn-ea"/>
              </a:rPr>
              <a:t>的扩展机制包括构造型、标记值和约束。</a:t>
            </a:r>
            <a:endParaRPr lang="zh-CN" dirty="0">
              <a:ea typeface="宋体" panose="02010600030101010101" pitchFamily="2" charset="-122"/>
            </a:endParaRPr>
          </a:p>
        </p:txBody>
      </p:sp>
      <p:sp>
        <p:nvSpPr>
          <p:cNvPr id="5325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4.4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的扩展机制</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7347" name="内容占位符 2"/>
          <p:cNvSpPr>
            <a:spLocks noGrp="1"/>
          </p:cNvSpPr>
          <p:nvPr>
            <p:ph sz="quarter" idx="1"/>
          </p:nvPr>
        </p:nvSpPr>
        <p:spPr>
          <a:xfrm>
            <a:off x="457200" y="1600200"/>
            <a:ext cx="7570788" cy="4873625"/>
          </a:xfrm>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1</a:t>
            </a:r>
            <a:r>
              <a:rPr lang="zh-CN" altLang="en-US" dirty="0">
                <a:ea typeface="宋体" panose="02010600030101010101" pitchFamily="2" charset="-122"/>
              </a:rPr>
              <a:t>、构造型</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zh-CN" dirty="0">
                <a:ea typeface="宋体" panose="02010600030101010101" pitchFamily="2" charset="-122"/>
              </a:rPr>
              <a:t>是</a:t>
            </a:r>
            <a:r>
              <a:rPr lang="en-US" altLang="zh-CN" dirty="0">
                <a:ea typeface="宋体" panose="02010600030101010101" pitchFamily="2" charset="-122"/>
              </a:rPr>
              <a:t>UML</a:t>
            </a:r>
            <a:r>
              <a:rPr lang="zh-CN" altLang="zh-CN" dirty="0">
                <a:ea typeface="宋体" panose="02010600030101010101" pitchFamily="2" charset="-122"/>
              </a:rPr>
              <a:t>的一种用来对模型元素进行分类或标记的新模型元素，该模型元素是原来的需要进行分类或标记的模型元素的子元素。</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一个模型元素只能有一个构造型</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双尖括号中的字符串表示</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例：写在类名之前，也可作为类内操作的分类标识</a:t>
            </a:r>
            <a:endParaRPr lang="zh-CN" altLang="en-US" dirty="0">
              <a:ea typeface="宋体" panose="02010600030101010101" pitchFamily="2" charset="-122"/>
            </a:endParaRPr>
          </a:p>
        </p:txBody>
      </p:sp>
      <p:sp>
        <p:nvSpPr>
          <p:cNvPr id="5734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4.4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的扩展机制</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7347" name="内容占位符 2"/>
          <p:cNvSpPr>
            <a:spLocks noGrp="1"/>
          </p:cNvSpPr>
          <p:nvPr>
            <p:ph sz="quarter" idx="1"/>
          </p:nvPr>
        </p:nvSpPr>
        <p:spPr>
          <a:xfrm>
            <a:off x="457200" y="1600200"/>
            <a:ext cx="7570788" cy="4873625"/>
          </a:xfrm>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1</a:t>
            </a:r>
            <a:r>
              <a:rPr lang="zh-CN" altLang="en-US" dirty="0">
                <a:ea typeface="宋体" panose="02010600030101010101" pitchFamily="2" charset="-122"/>
              </a:rPr>
              <a:t>、构造型</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zh-CN" dirty="0">
                <a:sym typeface="+mn-ea"/>
              </a:rPr>
              <a:t>表示构造型时，构造型放置在基本模型元素符号邻近并被“</a:t>
            </a:r>
            <a:r>
              <a:rPr lang="en-US" altLang="zh-CN" dirty="0">
                <a:sym typeface="+mn-ea"/>
              </a:rPr>
              <a:t>&lt;&lt;   &gt;&gt;</a:t>
            </a:r>
            <a:r>
              <a:rPr lang="zh-CN" altLang="zh-CN" dirty="0">
                <a:sym typeface="+mn-ea"/>
              </a:rPr>
              <a:t>”双尖括号包围。构造型元素还可以拥有自己的图形表示符号。</a:t>
            </a:r>
            <a:endParaRPr lang="zh-CN" altLang="en-US" dirty="0">
              <a:ea typeface="宋体" panose="02010600030101010101" pitchFamily="2" charset="-122"/>
            </a:endParaRPr>
          </a:p>
        </p:txBody>
      </p:sp>
      <p:sp>
        <p:nvSpPr>
          <p:cNvPr id="5734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
        <p:nvSpPr>
          <p:cNvPr id="106503" name="TextBox 6"/>
          <p:cNvSpPr txBox="1"/>
          <p:nvPr>
            <p:custDataLst>
              <p:tags r:id="rId1"/>
            </p:custDataLst>
          </p:nvPr>
        </p:nvSpPr>
        <p:spPr>
          <a:xfrm>
            <a:off x="381000" y="3657600"/>
            <a:ext cx="2438400" cy="2553335"/>
          </a:xfrm>
          <a:prstGeom prst="rect">
            <a:avLst/>
          </a:prstGeom>
          <a:noFill/>
          <a:ln w="9525">
            <a:noFill/>
          </a:ln>
        </p:spPr>
        <p:txBody>
          <a:bodyPr anchor="t" anchorCtr="0">
            <a:spAutoFit/>
          </a:bodyPr>
          <a:lstStyle/>
          <a:p>
            <a:pPr>
              <a:buClrTx/>
              <a:buFontTx/>
            </a:pPr>
            <a:r>
              <a:rPr lang="zh-CN" altLang="zh-CN" sz="2000" dirty="0">
                <a:solidFill>
                  <a:srgbClr val="0070C0"/>
                </a:solidFill>
                <a:latin typeface="Arial" panose="020B0604020202020204" pitchFamily="34" charset="0"/>
                <a:ea typeface="宋体" panose="02010600030101010101" pitchFamily="2" charset="-122"/>
              </a:rPr>
              <a:t>目录类是一个接口类，在操作描述中，将这些操作由构造型分为</a:t>
            </a:r>
            <a:r>
              <a:rPr lang="en-US" altLang="zh-CN" sz="2000" dirty="0">
                <a:solidFill>
                  <a:srgbClr val="0070C0"/>
                </a:solidFill>
                <a:latin typeface="Arial" panose="020B0604020202020204" pitchFamily="34" charset="0"/>
                <a:ea typeface="宋体" panose="02010600030101010101" pitchFamily="2" charset="-122"/>
              </a:rPr>
              <a:t>&lt;&lt;get operations&gt;&gt;</a:t>
            </a:r>
            <a:r>
              <a:rPr lang="zh-CN" altLang="zh-CN" sz="2000" dirty="0">
                <a:solidFill>
                  <a:srgbClr val="0070C0"/>
                </a:solidFill>
                <a:latin typeface="Arial" panose="020B0604020202020204" pitchFamily="34" charset="0"/>
                <a:ea typeface="宋体" panose="02010600030101010101" pitchFamily="2" charset="-122"/>
              </a:rPr>
              <a:t>和</a:t>
            </a:r>
            <a:r>
              <a:rPr lang="en-US" altLang="zh-CN" sz="2000" dirty="0">
                <a:solidFill>
                  <a:srgbClr val="0070C0"/>
                </a:solidFill>
                <a:latin typeface="Arial" panose="020B0604020202020204" pitchFamily="34" charset="0"/>
                <a:ea typeface="宋体" panose="02010600030101010101" pitchFamily="2" charset="-122"/>
              </a:rPr>
              <a:t>&lt;&lt;editing&gt;&gt;</a:t>
            </a:r>
            <a:r>
              <a:rPr lang="zh-CN" altLang="zh-CN" sz="2000" dirty="0">
                <a:solidFill>
                  <a:srgbClr val="0070C0"/>
                </a:solidFill>
                <a:latin typeface="Arial" panose="020B0604020202020204" pitchFamily="34" charset="0"/>
                <a:ea typeface="宋体" panose="02010600030101010101" pitchFamily="2" charset="-122"/>
              </a:rPr>
              <a:t>两大类，即提取运算和编辑修改两大类操作。</a:t>
            </a:r>
            <a:endParaRPr lang="zh-CN" altLang="zh-CN" sz="2000" dirty="0">
              <a:solidFill>
                <a:srgbClr val="0070C0"/>
              </a:solidFill>
              <a:latin typeface="Arial" panose="020B0604020202020204" pitchFamily="34" charset="0"/>
              <a:ea typeface="宋体" panose="02010600030101010101" pitchFamily="2" charset="-122"/>
            </a:endParaRPr>
          </a:p>
        </p:txBody>
      </p:sp>
      <p:pic>
        <p:nvPicPr>
          <p:cNvPr id="106502" name="Picture 2" descr="2-15"/>
          <p:cNvPicPr>
            <a:picLocks noChangeAspect="1"/>
          </p:cNvPicPr>
          <p:nvPr>
            <p:custDataLst>
              <p:tags r:id="rId2"/>
            </p:custDataLst>
          </p:nvPr>
        </p:nvPicPr>
        <p:blipFill>
          <a:blip r:embed="rId3">
            <a:grayscl/>
          </a:blip>
          <a:srcRect t="3619" b="4590"/>
          <a:stretch>
            <a:fillRect/>
          </a:stretch>
        </p:blipFill>
        <p:spPr>
          <a:xfrm>
            <a:off x="2743200" y="3500755"/>
            <a:ext cx="5411788" cy="2514600"/>
          </a:xfrm>
          <a:prstGeom prst="rect">
            <a:avLst/>
          </a:prstGeom>
          <a:noFill/>
          <a:ln w="9525">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4.4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的扩展机制</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58371"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2</a:t>
            </a:r>
            <a:r>
              <a:rPr lang="zh-CN" altLang="en-US" dirty="0">
                <a:ea typeface="宋体" panose="02010600030101010101" pitchFamily="2" charset="-122"/>
              </a:rPr>
              <a:t>、标记值</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也称特性规格说明，用于描述模型元素的特性。</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zh-CN" dirty="0">
                <a:sym typeface="+mn-ea"/>
              </a:rPr>
              <a:t>标记值被用来描述模型元素的特性，是存储有关元素任意相关信息的字符串。标记值可以附加在任何独立的元素上。提供了向元素添加特性规格说明的方法。</a:t>
            </a:r>
            <a:endParaRPr lang="en-US" altLang="zh-CN" dirty="0"/>
          </a:p>
          <a:p>
            <a:pPr lvl="1" eaLnBrk="1" hangingPunct="1">
              <a:buClr>
                <a:schemeClr val="accent1"/>
              </a:buClr>
              <a:buSzPct val="80000"/>
              <a:buFont typeface="Wingdings 2" panose="05020102010507070707" pitchFamily="18" charset="2"/>
            </a:pPr>
            <a:endParaRPr lang="zh-CN" altLang="zh-CN" dirty="0"/>
          </a:p>
          <a:p>
            <a:pPr lvl="1" eaLnBrk="1" hangingPunct="1">
              <a:buClr>
                <a:schemeClr val="accent1"/>
              </a:buClr>
              <a:buSzPct val="80000"/>
              <a:buFont typeface="Wingdings 2" panose="05020102010507070707" pitchFamily="18" charset="2"/>
            </a:pPr>
            <a:r>
              <a:rPr lang="zh-CN" altLang="zh-CN" dirty="0">
                <a:sym typeface="+mn-ea"/>
              </a:rPr>
              <a:t>表示标记值时，标记名由字符串表示，用等号“</a:t>
            </a:r>
            <a:r>
              <a:rPr lang="en-US" altLang="zh-CN" dirty="0">
                <a:sym typeface="+mn-ea"/>
              </a:rPr>
              <a:t>=</a:t>
            </a:r>
            <a:r>
              <a:rPr lang="zh-CN" altLang="zh-CN" dirty="0">
                <a:sym typeface="+mn-ea"/>
              </a:rPr>
              <a:t>”给标记赋值，一组标记和所赋的值用等号相连，放在花括号“</a:t>
            </a:r>
            <a:r>
              <a:rPr lang="en-US" altLang="zh-CN" dirty="0">
                <a:sym typeface="+mn-ea"/>
              </a:rPr>
              <a:t>{ }</a:t>
            </a:r>
            <a:r>
              <a:rPr lang="zh-CN" altLang="zh-CN" dirty="0">
                <a:sym typeface="+mn-ea"/>
              </a:rPr>
              <a:t>”中</a:t>
            </a:r>
            <a:r>
              <a:rPr lang="zh-CN" altLang="en-US" dirty="0">
                <a:sym typeface="+mn-ea"/>
              </a:rPr>
              <a:t>。标记值一般写在类名后面。</a:t>
            </a:r>
            <a:endParaRPr lang="en-US" altLang="zh-CN" dirty="0">
              <a:ea typeface="宋体" panose="02010600030101010101" pitchFamily="2" charset="-122"/>
            </a:endParaRPr>
          </a:p>
        </p:txBody>
      </p:sp>
      <p:sp>
        <p:nvSpPr>
          <p:cNvPr id="5837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4.4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的扩展机制</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59395"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7526" name="Picture 2" descr="标记值类图"/>
          <p:cNvPicPr>
            <a:picLocks noGrp="1" noChangeAspect="1"/>
          </p:cNvPicPr>
          <p:nvPr>
            <p:ph sz="quarter" idx="1"/>
            <p:custDataLst>
              <p:tags r:id="rId1"/>
            </p:custDataLst>
          </p:nvPr>
        </p:nvPicPr>
        <p:blipFill>
          <a:blip r:embed="rId2">
            <a:grayscl/>
          </a:blip>
          <a:srcRect l="2167" t="15689" r="24188" b="9581"/>
          <a:stretch>
            <a:fillRect/>
          </a:stretch>
        </p:blipFill>
        <p:spPr>
          <a:xfrm>
            <a:off x="467360" y="2420620"/>
            <a:ext cx="8062595" cy="2430780"/>
          </a:xfrm>
          <a:prstGeom prst="rect">
            <a:avLst/>
          </a:prstGeom>
          <a:noFill/>
          <a:ln w="9525">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4.4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的扩展机制</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60419" name="内容占位符 2"/>
          <p:cNvSpPr>
            <a:spLocks noGrp="1"/>
          </p:cNvSpPr>
          <p:nvPr>
            <p:ph sz="quarter" idx="1"/>
          </p:nvPr>
        </p:nvSpPr>
        <p:spPr>
          <a:xfrm>
            <a:off x="457200" y="1412875"/>
            <a:ext cx="7643813" cy="5184775"/>
          </a:xfrm>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en-US" altLang="zh-CN" dirty="0">
                <a:ea typeface="宋体" panose="02010600030101010101" pitchFamily="2" charset="-122"/>
              </a:rPr>
              <a:t>3</a:t>
            </a:r>
            <a:r>
              <a:rPr lang="zh-CN" altLang="en-US" dirty="0">
                <a:ea typeface="宋体" panose="02010600030101010101" pitchFamily="2" charset="-122"/>
              </a:rPr>
              <a:t>、约束</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zh-CN" dirty="0">
                <a:sym typeface="+mn-ea"/>
              </a:rPr>
              <a:t>约束是用文字表达式扩展模型元素的语义，它允许增加新的规则或修改现有的规则。</a:t>
            </a:r>
            <a:endParaRPr lang="en-US" altLang="zh-CN" dirty="0"/>
          </a:p>
          <a:p>
            <a:pPr lvl="1" eaLnBrk="1" hangingPunct="1">
              <a:buClr>
                <a:schemeClr val="accent1"/>
              </a:buClr>
              <a:buSzPct val="80000"/>
              <a:buFont typeface="Wingdings 2" panose="05020102010507070707" pitchFamily="18" charset="2"/>
            </a:pPr>
            <a:endParaRPr lang="zh-CN" altLang="zh-CN" dirty="0"/>
          </a:p>
          <a:p>
            <a:pPr lvl="1" eaLnBrk="1" hangingPunct="1">
              <a:buClr>
                <a:schemeClr val="accent1"/>
              </a:buClr>
              <a:buSzPct val="80000"/>
              <a:buFont typeface="Wingdings 2" panose="05020102010507070707" pitchFamily="18" charset="2"/>
            </a:pPr>
            <a:r>
              <a:rPr lang="zh-CN" altLang="zh-CN" dirty="0">
                <a:sym typeface="+mn-ea"/>
              </a:rPr>
              <a:t>表示约束时，</a:t>
            </a:r>
            <a:r>
              <a:rPr lang="zh-CN" altLang="en-US" dirty="0">
                <a:ea typeface="宋体" panose="02010600030101010101" pitchFamily="2" charset="-122"/>
              </a:rPr>
              <a:t>由一个字符串放在花括号中表示。例如：｛</a:t>
            </a:r>
            <a:r>
              <a:rPr lang="en-US" altLang="zh-CN" dirty="0">
                <a:ea typeface="宋体" panose="02010600030101010101" pitchFamily="2" charset="-122"/>
              </a:rPr>
              <a:t>value≥0</a:t>
            </a:r>
            <a:r>
              <a:rPr lang="zh-CN" altLang="en-US" dirty="0">
                <a:ea typeface="宋体" panose="02010600030101010101" pitchFamily="2" charset="-122"/>
              </a:rPr>
              <a:t>｝，｛</a:t>
            </a:r>
            <a:r>
              <a:rPr lang="en-US" altLang="zh-CN" dirty="0">
                <a:ea typeface="宋体" panose="02010600030101010101" pitchFamily="2" charset="-122"/>
              </a:rPr>
              <a:t>or</a:t>
            </a:r>
            <a:r>
              <a:rPr lang="zh-CN" altLang="en-US" dirty="0">
                <a:ea typeface="宋体" panose="02010600030101010101" pitchFamily="2" charset="-122"/>
              </a:rPr>
              <a:t>｝</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单个模型元素的约束：写在附近</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两个模型元素之间的约束：两个元素之间的虚箭线上，可加注释框</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如果一条约束涉及同一种类的多个元素，则要用虚线把所有受约束的元素框起来，并把该约束显示在旁边。</a:t>
            </a:r>
            <a:endParaRPr lang="en-US" altLang="zh-CN" dirty="0">
              <a:ea typeface="宋体" panose="02010600030101010101" pitchFamily="2" charset="-122"/>
            </a:endParaRPr>
          </a:p>
        </p:txBody>
      </p:sp>
      <p:sp>
        <p:nvSpPr>
          <p:cNvPr id="6042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4.4 UML</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的扩展机制</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61443"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108550" name="Picture 2"/>
          <p:cNvPicPr>
            <a:picLocks noChangeAspect="1"/>
          </p:cNvPicPr>
          <p:nvPr>
            <p:custDataLst>
              <p:tags r:id="rId1"/>
            </p:custDataLst>
          </p:nvPr>
        </p:nvPicPr>
        <p:blipFill>
          <a:blip r:embed="rId2"/>
          <a:stretch>
            <a:fillRect/>
          </a:stretch>
        </p:blipFill>
        <p:spPr>
          <a:xfrm>
            <a:off x="755650" y="1988820"/>
            <a:ext cx="7208838" cy="1905000"/>
          </a:xfrm>
          <a:prstGeom prst="rect">
            <a:avLst/>
          </a:prstGeom>
          <a:noFill/>
          <a:ln w="9525">
            <a:noFill/>
          </a:ln>
        </p:spPr>
      </p:pic>
      <p:sp>
        <p:nvSpPr>
          <p:cNvPr id="4" name="文本框 3"/>
          <p:cNvSpPr txBox="1"/>
          <p:nvPr/>
        </p:nvSpPr>
        <p:spPr>
          <a:xfrm>
            <a:off x="821055" y="4580890"/>
            <a:ext cx="6739890" cy="706755"/>
          </a:xfrm>
          <a:prstGeom prst="rect">
            <a:avLst/>
          </a:prstGeom>
          <a:noFill/>
        </p:spPr>
        <p:txBody>
          <a:bodyPr wrap="square" rtlCol="0">
            <a:spAutoFit/>
          </a:bodyPr>
          <a:lstStyle/>
          <a:p>
            <a:r>
              <a:rPr lang="zh-CN" altLang="en-US" sz="2000"/>
              <a:t>这个例子中，约束由虚线箭头和字符串</a:t>
            </a:r>
            <a:r>
              <a:rPr lang="en-US" altLang="zh-CN" sz="2000"/>
              <a:t>{subset}</a:t>
            </a:r>
            <a:r>
              <a:rPr lang="zh-CN" altLang="en-US" sz="2000"/>
              <a:t>（子集）表示。意思是，</a:t>
            </a:r>
            <a:r>
              <a:rPr lang="en-US" altLang="zh-CN" sz="2000"/>
              <a:t>“</a:t>
            </a:r>
            <a:r>
              <a:rPr lang="zh-CN" altLang="en-US" sz="2000"/>
              <a:t>主席</a:t>
            </a:r>
            <a:r>
              <a:rPr lang="en-US" altLang="zh-CN" sz="2000"/>
              <a:t>”</a:t>
            </a:r>
            <a:r>
              <a:rPr lang="zh-CN" altLang="en-US" sz="2000"/>
              <a:t>必须是</a:t>
            </a:r>
            <a:r>
              <a:rPr lang="en-US" altLang="zh-CN" sz="2000"/>
              <a:t>“</a:t>
            </a:r>
            <a:r>
              <a:rPr lang="zh-CN" altLang="en-US" sz="2000"/>
              <a:t>成员</a:t>
            </a:r>
            <a:r>
              <a:rPr lang="en-US" altLang="zh-CN" sz="2000"/>
              <a:t>”</a:t>
            </a:r>
            <a:r>
              <a:rPr lang="zh-CN" altLang="en-US" sz="2000"/>
              <a:t>的子集</a:t>
            </a:r>
            <a:endParaRPr lang="zh-CN" altLang="en-US" sz="2000"/>
          </a:p>
        </p:txBody>
      </p:sp>
    </p:spTree>
  </p:cSld>
  <p:clrMapOvr>
    <a:masterClrMapping/>
  </p:clrMapOvr>
</p:sld>
</file>

<file path=ppt/tags/tag1.xml><?xml version="1.0" encoding="utf-8"?>
<p:tagLst xmlns:p="http://schemas.openxmlformats.org/presentationml/2006/main">
  <p:tag name="KSO_WM_UNIT_PLACING_PICTURE_USER_VIEWPORT" val="{&quot;height&quot;:5445,&quot;width&quot;:11213}"/>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COMMONDATA" val="eyJoZGlkIjoiMWJmYmVhMGQ2YWQwOTc0ZDFkYmVkZTE0NzFkNThlYzIifQ=="/>
  <p:tag name="KSO_WPP_MARK_KEY" val="afdba021-d03a-4b70-9a21-be0fb58a453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11978</Words>
  <Application>WPS 演示</Application>
  <PresentationFormat>全屏显示(4:3)</PresentationFormat>
  <Paragraphs>907</Paragraphs>
  <Slides>85</Slides>
  <Notes>75</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85</vt:i4>
      </vt:variant>
    </vt:vector>
  </HeadingPairs>
  <TitlesOfParts>
    <vt:vector size="109" baseType="lpstr">
      <vt:lpstr>Arial</vt:lpstr>
      <vt:lpstr>宋体</vt:lpstr>
      <vt:lpstr>Wingdings</vt:lpstr>
      <vt:lpstr>楷体_GB2312</vt:lpstr>
      <vt:lpstr>新宋体</vt:lpstr>
      <vt:lpstr>Century Schoolbook</vt:lpstr>
      <vt:lpstr>Wingdings 2</vt:lpstr>
      <vt:lpstr>Wingdings</vt:lpstr>
      <vt:lpstr>Times New Roman</vt:lpstr>
      <vt:lpstr>黑体</vt:lpstr>
      <vt:lpstr>Helvetica Neue</vt:lpstr>
      <vt:lpstr>微软雅黑</vt:lpstr>
      <vt:lpstr>Arial Unicode MS</vt:lpstr>
      <vt:lpstr>华文楷体</vt:lpstr>
      <vt:lpstr>DFKai-SB</vt:lpstr>
      <vt:lpstr>Yu Gothic</vt:lpstr>
      <vt:lpstr>Wingdings 2</vt:lpstr>
      <vt:lpstr>Gulim</vt:lpstr>
      <vt:lpstr>Malgun Gothic</vt:lpstr>
      <vt:lpstr>Wingdings</vt:lpstr>
      <vt:lpstr>仿宋</vt:lpstr>
      <vt:lpstr>楷体</vt:lpstr>
      <vt:lpstr>华文新魏</vt:lpstr>
      <vt:lpstr>凸显</vt:lpstr>
      <vt:lpstr>软件系统分析与设计 Software System Analysis and Design</vt:lpstr>
      <vt:lpstr>回顾</vt:lpstr>
      <vt:lpstr>学习目标</vt:lpstr>
      <vt:lpstr>第4章  统一建模语言UML</vt:lpstr>
      <vt:lpstr>第4章  统一建模语言UML</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4.1 UML简介</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4.2 UML模型图</vt:lpstr>
      <vt:lpstr>4.3 UML的公共机制</vt:lpstr>
      <vt:lpstr>4.3 UML的公共机制</vt:lpstr>
      <vt:lpstr>4.4 UML的扩展机制</vt:lpstr>
      <vt:lpstr>4.4 UML的扩展机制</vt:lpstr>
      <vt:lpstr>4.4 UML的扩展机制</vt:lpstr>
      <vt:lpstr>4.4 UML的扩展机制</vt:lpstr>
      <vt:lpstr>4.4 UML的扩展机制</vt:lpstr>
      <vt:lpstr>4.4 UML的扩展机制</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65187</cp:lastModifiedBy>
  <cp:revision>1054</cp:revision>
  <cp:lastPrinted>2023-10-13T16:06:00Z</cp:lastPrinted>
  <dcterms:created xsi:type="dcterms:W3CDTF">2023-10-13T16:06:00Z</dcterms:created>
  <dcterms:modified xsi:type="dcterms:W3CDTF">2025-04-11T07:56:23Z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CA44DDFB6F70239F87AE0D65C5955F78_43</vt:lpwstr>
  </property>
  <property fmtid="{D5CDD505-2E9C-101B-9397-08002B2CF9AE}" pid="3" name="KSOProductBuildVer">
    <vt:lpwstr>2052-11.1.0.12165</vt:lpwstr>
  </property>
</Properties>
</file>