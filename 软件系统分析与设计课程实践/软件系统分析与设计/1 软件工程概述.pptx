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9"/>
  </p:handoutMasterIdLst>
  <p:sldIdLst>
    <p:sldId id="258" r:id="rId3"/>
    <p:sldId id="299" r:id="rId5"/>
    <p:sldId id="617" r:id="rId6"/>
    <p:sldId id="500" r:id="rId7"/>
    <p:sldId id="618" r:id="rId8"/>
    <p:sldId id="304" r:id="rId9"/>
    <p:sldId id="302" r:id="rId10"/>
    <p:sldId id="502" r:id="rId11"/>
    <p:sldId id="503" r:id="rId12"/>
    <p:sldId id="501" r:id="rId13"/>
    <p:sldId id="504" r:id="rId14"/>
    <p:sldId id="505" r:id="rId15"/>
    <p:sldId id="506" r:id="rId16"/>
    <p:sldId id="508" r:id="rId17"/>
    <p:sldId id="510" r:id="rId18"/>
    <p:sldId id="528" r:id="rId19"/>
    <p:sldId id="303" r:id="rId20"/>
    <p:sldId id="511" r:id="rId21"/>
    <p:sldId id="512" r:id="rId22"/>
    <p:sldId id="315" r:id="rId23"/>
    <p:sldId id="272" r:id="rId24"/>
    <p:sldId id="368" r:id="rId25"/>
    <p:sldId id="273" r:id="rId26"/>
    <p:sldId id="321" r:id="rId27"/>
    <p:sldId id="514" r:id="rId28"/>
    <p:sldId id="515" r:id="rId29"/>
    <p:sldId id="516" r:id="rId30"/>
    <p:sldId id="517" r:id="rId31"/>
    <p:sldId id="518" r:id="rId32"/>
    <p:sldId id="520" r:id="rId33"/>
    <p:sldId id="521" r:id="rId34"/>
    <p:sldId id="619" r:id="rId35"/>
    <p:sldId id="620" r:id="rId36"/>
    <p:sldId id="621" r:id="rId37"/>
    <p:sldId id="523" r:id="rId38"/>
    <p:sldId id="524" r:id="rId39"/>
    <p:sldId id="525" r:id="rId40"/>
    <p:sldId id="526" r:id="rId41"/>
    <p:sldId id="527" r:id="rId42"/>
    <p:sldId id="622" r:id="rId43"/>
    <p:sldId id="513" r:id="rId44"/>
    <p:sldId id="398" r:id="rId45"/>
    <p:sldId id="307" r:id="rId46"/>
    <p:sldId id="418" r:id="rId47"/>
    <p:sldId id="316" r:id="rId48"/>
    <p:sldId id="308" r:id="rId49"/>
    <p:sldId id="420" r:id="rId50"/>
    <p:sldId id="399" r:id="rId51"/>
    <p:sldId id="312" r:id="rId52"/>
    <p:sldId id="318" r:id="rId53"/>
    <p:sldId id="313" r:id="rId54"/>
    <p:sldId id="319" r:id="rId55"/>
    <p:sldId id="325" r:id="rId56"/>
    <p:sldId id="285" r:id="rId57"/>
    <p:sldId id="326" r:id="rId58"/>
    <p:sldId id="388" r:id="rId59"/>
    <p:sldId id="327" r:id="rId60"/>
    <p:sldId id="286" r:id="rId61"/>
    <p:sldId id="328" r:id="rId62"/>
    <p:sldId id="287" r:id="rId63"/>
    <p:sldId id="329" r:id="rId64"/>
    <p:sldId id="330" r:id="rId65"/>
    <p:sldId id="331" r:id="rId66"/>
    <p:sldId id="389" r:id="rId67"/>
    <p:sldId id="333" r:id="rId68"/>
    <p:sldId id="289" r:id="rId69"/>
    <p:sldId id="335" r:id="rId70"/>
    <p:sldId id="342" r:id="rId71"/>
    <p:sldId id="362" r:id="rId72"/>
    <p:sldId id="363" r:id="rId73"/>
    <p:sldId id="343" r:id="rId74"/>
    <p:sldId id="358" r:id="rId75"/>
    <p:sldId id="360" r:id="rId76"/>
    <p:sldId id="390" r:id="rId77"/>
    <p:sldId id="361" r:id="rId78"/>
    <p:sldId id="344" r:id="rId79"/>
    <p:sldId id="369" r:id="rId80"/>
    <p:sldId id="346" r:id="rId81"/>
    <p:sldId id="396" r:id="rId82"/>
    <p:sldId id="391" r:id="rId83"/>
    <p:sldId id="393" r:id="rId84"/>
    <p:sldId id="347" r:id="rId85"/>
    <p:sldId id="348" r:id="rId86"/>
    <p:sldId id="349" r:id="rId87"/>
    <p:sldId id="370" r:id="rId88"/>
    <p:sldId id="350" r:id="rId89"/>
    <p:sldId id="351" r:id="rId90"/>
    <p:sldId id="371" r:id="rId91"/>
    <p:sldId id="372" r:id="rId92"/>
    <p:sldId id="373" r:id="rId93"/>
    <p:sldId id="375" r:id="rId94"/>
    <p:sldId id="419" r:id="rId95"/>
    <p:sldId id="377" r:id="rId96"/>
    <p:sldId id="378" r:id="rId97"/>
    <p:sldId id="379" r:id="rId98"/>
    <p:sldId id="380" r:id="rId99"/>
    <p:sldId id="381" r:id="rId100"/>
    <p:sldId id="382" r:id="rId101"/>
    <p:sldId id="383" r:id="rId102"/>
    <p:sldId id="384" r:id="rId103"/>
    <p:sldId id="293" r:id="rId104"/>
    <p:sldId id="294" r:id="rId105"/>
    <p:sldId id="385" r:id="rId106"/>
    <p:sldId id="295" r:id="rId107"/>
    <p:sldId id="296" r:id="rId108"/>
  </p:sldIdLst>
  <p:sldSz cx="9144000" cy="6858000" type="screen4x3"/>
  <p:notesSz cx="6858000" cy="9144000"/>
  <p:custDataLst>
    <p:tags r:id="rId113"/>
  </p:custDataLst>
  <p:defaultTextStyle>
    <a:defPPr>
      <a:defRPr lang="en-US"/>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A8C9EA"/>
    <a:srgbClr val="CCFF66"/>
    <a:srgbClr val="FFFFCC"/>
    <a:srgbClr val="F9DF9F"/>
    <a:srgbClr val="FFFF66"/>
    <a:srgbClr val="CCECFF"/>
    <a:srgbClr val="0A06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71" autoAdjust="0"/>
    <p:restoredTop sz="49043" autoAdjust="0"/>
  </p:normalViewPr>
  <p:slideViewPr>
    <p:cSldViewPr showGuides="1">
      <p:cViewPr varScale="1">
        <p:scale>
          <a:sx n="36" d="100"/>
          <a:sy n="36" d="100"/>
        </p:scale>
        <p:origin x="2091" y="30"/>
      </p:cViewPr>
      <p:guideLst>
        <p:guide orient="horz" pos="2159"/>
        <p:guide pos="289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3" Type="http://schemas.openxmlformats.org/officeDocument/2006/relationships/tags" Target="tags/tag27.xml"/><Relationship Id="rId112" Type="http://schemas.openxmlformats.org/officeDocument/2006/relationships/tableStyles" Target="tableStyles.xml"/><Relationship Id="rId111" Type="http://schemas.openxmlformats.org/officeDocument/2006/relationships/viewProps" Target="viewProps.xml"/><Relationship Id="rId110" Type="http://schemas.openxmlformats.org/officeDocument/2006/relationships/presProps" Target="presProps.xml"/><Relationship Id="rId11" Type="http://schemas.openxmlformats.org/officeDocument/2006/relationships/slide" Target="slides/slide8.xml"/><Relationship Id="rId109" Type="http://schemas.openxmlformats.org/officeDocument/2006/relationships/handoutMaster" Target="handoutMasters/handoutMaster1.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35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（世界上第一台通用计算机是ENIAC（电子数字积分计算机）于1946年2月14日在美国宾夕法尼亚大学诞生，标志着计算机历史上的一个重要时刻。</a:t>
            </a:r>
            <a:endParaRPr lang="zh-CN" altLang="en-US">
              <a:sym typeface="+mn-ea"/>
            </a:endParaRPr>
          </a:p>
          <a:p>
            <a:r>
              <a:rPr lang="zh-CN" altLang="en-US">
                <a:sym typeface="+mn-ea"/>
              </a:rPr>
              <a:t>占地约1800平方英尺，重达27吨，能够进行复杂的数学计算和数据处理。</a:t>
            </a:r>
            <a:endParaRPr lang="zh-CN" altLang="en-US">
              <a:sym typeface="+mn-ea"/>
            </a:endParaRPr>
          </a:p>
          <a:p>
            <a:r>
              <a:rPr lang="zh-CN" altLang="en-US">
                <a:sym typeface="+mn-ea"/>
              </a:rPr>
              <a:t>ENIAC不仅在军事上有着重要的应用，如计算炮弹轨迹，还在科学研究和其他领域发挥了重要作用，推动了计算机技术的发展。</a:t>
            </a:r>
            <a:endParaRPr lang="zh-CN" altLang="en-US">
              <a:sym typeface="+mn-ea"/>
            </a:endParaRPr>
          </a:p>
          <a:p>
            <a:r>
              <a:rPr lang="zh-CN" altLang="en-US">
                <a:sym typeface="+mn-ea"/>
              </a:rPr>
              <a:t>第一个程序的编写者是美国数学家约翰·艾克特和约翰·马奎克。目标是将计算机用于计算弹道问题。</a:t>
            </a:r>
            <a:endParaRPr lang="zh-CN" altLang="en-US">
              <a:sym typeface="+mn-ea"/>
            </a:endParaRPr>
          </a:p>
          <a:p>
            <a:r>
              <a:rPr lang="zh-CN" altLang="en-US">
                <a:sym typeface="+mn-ea"/>
              </a:rPr>
              <a:t>艾克特和马奎克编写的第一个程序是用机器语言编写的，目的是计算出球形弹道的轨迹。）</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1968年北大西洋公约组织的计算机科学家召开会议，正式提出“软件工程”</a:t>
            </a:r>
            <a:endParaRPr lang="zh-CN" altLang="en-US"/>
          </a:p>
          <a:p>
            <a:endParaRPr lang="zh-CN" altLang="en-US">
              <a:sym typeface="+mn-ea"/>
            </a:endParaRPr>
          </a:p>
          <a:p>
            <a:r>
              <a:rPr lang="zh-CN" altLang="en-US">
                <a:sym typeface="+mn-ea"/>
              </a:rPr>
              <a:t>世界上第一个被记录下来的程序是“hello world”。这个程序在1978年由贝尔实验室的著名研究员合作撰写的《The C Programming Language》一书中作为开篇第一个程序出现。这个程序输出的“hello, world”全部是小写，没有感叹号，逗号后有一空格。从那时起，“hello world”几乎成为每个设计语言的第一个程序的标准模板，成为计算机编程中的一个传统。</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b="1" dirty="0"/>
              <a:t>1.</a:t>
            </a:r>
            <a:r>
              <a:rPr lang="zh-CN" b="1" dirty="0"/>
              <a:t>软件的不可见性：</a:t>
            </a:r>
            <a:r>
              <a:rPr lang="zh-CN" dirty="0"/>
              <a:t>与物理产品不同，软件是一种抽象的实体，没有形体或可观察的物理特征。这使软件的开发、测试和维护相对较为困难，因为无法直接观察和检查软件的运行状态。</a:t>
            </a:r>
            <a:endParaRPr lang="zh-CN" dirty="0"/>
          </a:p>
          <a:p>
            <a:r>
              <a:rPr lang="en-US" altLang="zh-CN" b="1" dirty="0"/>
              <a:t>2. </a:t>
            </a:r>
            <a:r>
              <a:rPr lang="zh-CN" b="1" dirty="0"/>
              <a:t>软件的复杂性</a:t>
            </a:r>
            <a:r>
              <a:rPr lang="zh-CN" dirty="0"/>
              <a:t>：软件系统通常由多个模块和组件组成，涉及多个交互和依赖关系。软件的复杂性使得对系统整体行为的理解和控制变得复杂，增加了开发人员的挑战。</a:t>
            </a:r>
            <a:endParaRPr lang="zh-CN" dirty="0"/>
          </a:p>
          <a:p>
            <a:r>
              <a:rPr lang="en-US" altLang="zh-CN" b="1" dirty="0"/>
              <a:t>3. </a:t>
            </a:r>
            <a:r>
              <a:rPr lang="zh-CN" b="1" dirty="0"/>
              <a:t>可变性和灵活性：</a:t>
            </a:r>
            <a:r>
              <a:rPr lang="zh-CN" dirty="0"/>
              <a:t>软件具有较高的可变性和灵活性，可以容易地进行修改和定制。然而，这也意味着软件需求和设计可能会频繁变化，导致开发过程中的不稳定性和不确定性。</a:t>
            </a:r>
            <a:endParaRPr lang="zh-CN" dirty="0"/>
          </a:p>
          <a:p>
            <a:r>
              <a:rPr lang="en-US" altLang="zh-CN" b="1" dirty="0"/>
              <a:t>4. </a:t>
            </a:r>
            <a:r>
              <a:rPr lang="zh-CN" b="1" dirty="0"/>
              <a:t>技术的快速演进：</a:t>
            </a:r>
            <a:r>
              <a:rPr lang="zh-CN" dirty="0"/>
              <a:t>软件技术和工具在不断发展和演进，新的技术和平台不断涌现。这要求开发团队保持对新技术的了解和适应能力，以应对技术变化带来的挑战。</a:t>
            </a:r>
            <a:endParaRPr lang="zh-CN" dirty="0"/>
          </a:p>
          <a:p>
            <a:r>
              <a:rPr lang="en-US" altLang="zh-CN" b="1" dirty="0"/>
              <a:t>5. </a:t>
            </a:r>
            <a:r>
              <a:rPr lang="zh-CN" b="1" dirty="0"/>
              <a:t>软件的可重用性和组件化：</a:t>
            </a:r>
            <a:r>
              <a:rPr lang="zh-CN" dirty="0"/>
              <a:t>软件开发中可以利用已有的软件组件和库进行重用，以提高开发效率和质量。然而，这也带来了组件集成和兼容性等问题，增加了开发过程的复杂性。</a:t>
            </a:r>
            <a:endParaRPr 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认识上的局限性可能是由以下因素引起的：</a:t>
            </a:r>
            <a:endParaRPr lang="zh-CN" altLang="en-US" dirty="0"/>
          </a:p>
          <a:p>
            <a:r>
              <a:rPr lang="en-US" altLang="zh-CN" b="1" dirty="0"/>
              <a:t>1.</a:t>
            </a:r>
            <a:r>
              <a:rPr lang="zh-CN" altLang="en-US" b="1" dirty="0"/>
              <a:t>主观偏见：</a:t>
            </a:r>
            <a:r>
              <a:rPr lang="zh-CN" altLang="en-US" dirty="0"/>
              <a:t>开发团队和利益相关者可能受到个人经验、观点或偏好的影响，导致对系统需求和解决方案的理解存在偏见。这可能导致对用户需求的错误理解、不合理的设计决策或技术偏好的盲目追求。</a:t>
            </a:r>
            <a:endParaRPr lang="zh-CN" altLang="en-US" dirty="0"/>
          </a:p>
          <a:p>
            <a:r>
              <a:rPr lang="en-US" altLang="zh-CN" b="1" dirty="0"/>
              <a:t>2.</a:t>
            </a:r>
            <a:r>
              <a:rPr lang="zh-CN" altLang="en-US" b="1" dirty="0"/>
              <a:t>需求不完整或不明确：</a:t>
            </a:r>
            <a:r>
              <a:rPr lang="zh-CN" altLang="en-US" dirty="0"/>
              <a:t>对于复杂的软件系统，用户和利益相关者可能无法准确地表达其需求，或者他们对需求的理解存在模糊或矛盾之处。开发团队在这种情况下可能无法准确地理解和满足用户的期望。</a:t>
            </a:r>
            <a:endParaRPr lang="zh-CN" altLang="en-US" dirty="0"/>
          </a:p>
          <a:p>
            <a:r>
              <a:rPr lang="en-US" altLang="zh-CN" b="1" dirty="0"/>
              <a:t>3.</a:t>
            </a:r>
            <a:r>
              <a:rPr lang="zh-CN" altLang="en-US" b="1" dirty="0"/>
              <a:t>技术知识限制：</a:t>
            </a:r>
            <a:r>
              <a:rPr lang="zh-CN" altLang="en-US" dirty="0"/>
              <a:t>开发团队可能在某些领域或技术方面存在知识限制。他们可能缺乏对新兴技术或特定领域的了解，导致在设计和实现阶段面临技术挑战或选择的局限性。</a:t>
            </a:r>
            <a:endParaRPr lang="zh-CN" altLang="en-US" dirty="0"/>
          </a:p>
          <a:p>
            <a:r>
              <a:rPr lang="en-US" altLang="zh-CN" b="1" dirty="0"/>
              <a:t>4.</a:t>
            </a:r>
            <a:r>
              <a:rPr lang="zh-CN" altLang="en-US" b="1" dirty="0"/>
              <a:t>沟通和信息传递问题：</a:t>
            </a:r>
            <a:r>
              <a:rPr lang="zh-CN" altLang="en-US" dirty="0"/>
              <a:t>软件开发涉及多个团队成员和利益相关者之间的沟通和交流。信息传递的不准确、不充分或不及时可能导致需求误解、决策偏差或不一致的认识。</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err="1"/>
              <a:t>Nato</a:t>
            </a:r>
            <a:r>
              <a:rPr lang="zh-CN" altLang="en-US" dirty="0"/>
              <a:t>：北大西洋公约组织</a:t>
            </a:r>
            <a:endParaRPr lang="en-US" altLang="zh-CN" dirty="0"/>
          </a:p>
          <a:p>
            <a:endParaRPr lang="en-US" altLang="zh-CN" dirty="0"/>
          </a:p>
          <a:p>
            <a:r>
              <a:rPr lang="zh-CN" altLang="en-US" dirty="0"/>
              <a:t>电气与电子工程师协会（Institute of Electrical and Electronics Engineers），简称IEEE，</a:t>
            </a:r>
            <a:endParaRPr lang="zh-CN" altLang="en-US" dirty="0"/>
          </a:p>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a:p>
            <a:endParaRPr lang="zh-CN" altLang="en-US"/>
          </a:p>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b="1"/>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b="1"/>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sz="4000" b="1"/>
            </a:lvl1pPr>
          </a:lstStyle>
          <a:p>
            <a:r>
              <a:rPr lang="zh-CN" altLang="en-US" dirty="0"/>
              <a:t>单击此处编辑母版标题样式</a:t>
            </a:r>
            <a:endParaRPr lang="en-US" dirty="0"/>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单击此处编辑母版副标题样式</a:t>
            </a:r>
            <a:endParaRPr lang="en-US" dirty="0"/>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1"/>
            </a:lvl1pPr>
          </a:lstStyle>
          <a:p>
            <a:r>
              <a:rPr lang="zh-CN" altLang="en-US" dirty="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normAutofit/>
          </a:bodyPr>
          <a:lstStyle>
            <a:lvl1pPr>
              <a:defRPr sz="2400" b="1"/>
            </a:lvl1pPr>
            <a:lvl2pPr>
              <a:defRPr sz="2400" b="1"/>
            </a:lvl2pPr>
            <a:lvl3pPr>
              <a:defRPr sz="2400" b="1"/>
            </a:lvl3pPr>
            <a:lvl4pPr>
              <a:defRPr sz="2400" b="1"/>
            </a:lvl4pPr>
            <a:lvl5pPr>
              <a:defRPr sz="2400" b="1"/>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18" name="内容占位符 17"/>
          <p:cNvSpPr>
            <a:spLocks noGrp="1"/>
          </p:cNvSpPr>
          <p:nvPr>
            <p:ph sz="quarter" idx="1"/>
          </p:nvPr>
        </p:nvSpPr>
        <p:spPr>
          <a:xfrm>
            <a:off x="304800" y="274320"/>
            <a:ext cx="5638800" cy="632764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lstStyle/>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b="1">
                <a:solidFill>
                  <a:srgbClr val="FFFFFF"/>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200" b="1" kern="1200" cap="small">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Century Schoolbook" panose="02040604050505020304" pitchFamily="18" charset="0"/>
        </a:defRPr>
      </a:lvl2pPr>
      <a:lvl3pPr algn="l" rtl="0" eaLnBrk="0" fontAlgn="base" hangingPunct="0">
        <a:spcBef>
          <a:spcPct val="0"/>
        </a:spcBef>
        <a:spcAft>
          <a:spcPct val="0"/>
        </a:spcAft>
        <a:defRPr sz="3200" b="1">
          <a:solidFill>
            <a:schemeClr val="tx2"/>
          </a:solidFill>
          <a:latin typeface="Century Schoolbook" panose="02040604050505020304" pitchFamily="18" charset="0"/>
        </a:defRPr>
      </a:lvl3pPr>
      <a:lvl4pPr algn="l" rtl="0" eaLnBrk="0" fontAlgn="base" hangingPunct="0">
        <a:spcBef>
          <a:spcPct val="0"/>
        </a:spcBef>
        <a:spcAft>
          <a:spcPct val="0"/>
        </a:spcAft>
        <a:defRPr sz="3200" b="1">
          <a:solidFill>
            <a:schemeClr val="tx2"/>
          </a:solidFill>
          <a:latin typeface="Century Schoolbook" panose="02040604050505020304" pitchFamily="18" charset="0"/>
        </a:defRPr>
      </a:lvl4pPr>
      <a:lvl5pPr algn="l" rtl="0" eaLnBrk="0" fontAlgn="base" hangingPunct="0">
        <a:spcBef>
          <a:spcPct val="0"/>
        </a:spcBef>
        <a:spcAft>
          <a:spcPct val="0"/>
        </a:spcAft>
        <a:defRPr sz="3200" b="1">
          <a:solidFill>
            <a:schemeClr val="tx2"/>
          </a:solidFill>
          <a:latin typeface="Century Schoolbook" panose="02040604050505020304" pitchFamily="18" charset="0"/>
        </a:defRPr>
      </a:lvl5pPr>
      <a:lvl6pPr marL="457200" algn="l" rtl="0" fontAlgn="base">
        <a:spcBef>
          <a:spcPct val="0"/>
        </a:spcBef>
        <a:spcAft>
          <a:spcPct val="0"/>
        </a:spcAft>
        <a:defRPr sz="3200" b="1">
          <a:solidFill>
            <a:schemeClr val="tx2"/>
          </a:solidFill>
          <a:latin typeface="Century Schoolbook" panose="02040604050505020304" pitchFamily="18" charset="0"/>
        </a:defRPr>
      </a:lvl6pPr>
      <a:lvl7pPr marL="914400" algn="l" rtl="0" fontAlgn="base">
        <a:spcBef>
          <a:spcPct val="0"/>
        </a:spcBef>
        <a:spcAft>
          <a:spcPct val="0"/>
        </a:spcAft>
        <a:defRPr sz="3200" b="1">
          <a:solidFill>
            <a:schemeClr val="tx2"/>
          </a:solidFill>
          <a:latin typeface="Century Schoolbook" panose="02040604050505020304" pitchFamily="18" charset="0"/>
        </a:defRPr>
      </a:lvl7pPr>
      <a:lvl8pPr marL="1371600" algn="l" rtl="0" fontAlgn="base">
        <a:spcBef>
          <a:spcPct val="0"/>
        </a:spcBef>
        <a:spcAft>
          <a:spcPct val="0"/>
        </a:spcAft>
        <a:defRPr sz="3200" b="1">
          <a:solidFill>
            <a:schemeClr val="tx2"/>
          </a:solidFill>
          <a:latin typeface="Century Schoolbook" panose="02040604050505020304" pitchFamily="18" charset="0"/>
        </a:defRPr>
      </a:lvl8pPr>
      <a:lvl9pPr marL="1828800" algn="l" rtl="0" fontAlgn="base">
        <a:spcBef>
          <a:spcPct val="0"/>
        </a:spcBef>
        <a:spcAft>
          <a:spcPct val="0"/>
        </a:spcAft>
        <a:defRPr sz="3200" b="1">
          <a:solidFill>
            <a:schemeClr val="tx2"/>
          </a:solidFill>
          <a:latin typeface="Century Schoolbook" panose="020406040505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2" Type="http://schemas.openxmlformats.org/officeDocument/2006/relationships/notesSlide" Target="../notesSlides/notesSlide19.xml"/><Relationship Id="rId11" Type="http://schemas.openxmlformats.org/officeDocument/2006/relationships/slideLayout" Target="../slideLayouts/slideLayout2.xml"/><Relationship Id="rId10" Type="http://schemas.openxmlformats.org/officeDocument/2006/relationships/tags" Target="../tags/tag12.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1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7" Type="http://schemas.openxmlformats.org/officeDocument/2006/relationships/notesSlide" Target="../notesSlides/notesSlide42.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7.emf"/><Relationship Id="rId3" Type="http://schemas.openxmlformats.org/officeDocument/2006/relationships/oleObject" Target="../embeddings/oleObject2.bin"/><Relationship Id="rId2" Type="http://schemas.openxmlformats.org/officeDocument/2006/relationships/image" Target="../media/image6.emf"/><Relationship Id="rId1" Type="http://schemas.openxmlformats.org/officeDocument/2006/relationships/oleObject" Target="../embeddings/oleObject1.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ctrTitle"/>
          </p:nvPr>
        </p:nvSpPr>
        <p:spPr>
          <a:xfrm>
            <a:off x="2339975" y="2060575"/>
            <a:ext cx="6172200" cy="216535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软件系统分析与设计</a:t>
            </a:r>
            <a:b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Software System Analysis and Design</a:t>
            </a:r>
            <a:endPar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95"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软件的发展过程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程序设计阶段：从第一台计算机上的第一个程序的出现到实用的高级程序设计语言出现之前，约为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世纪五六十年代。</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92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软件的发展过程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程序设计阶段：从第一台计算机上的第一个程序的出现到实用的高级程序设计语言出现之前，约为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世纪五六十年代。</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程序系统阶段：从实用的高级程序设计语言出现到软件工程出现之前，约为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世纪六七十年代。</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92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软件的发展过程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程序设计阶段：从第一台计算机上的第一个程序的出现到实用的高级程序设计语言出现之前，约为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世纪五六十年代。</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程序系统阶段：从实用的高级程序设计语言出现到软件工程出现之前，约为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世纪六七十年代。</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软件工程阶段：结构化软件工程出现，约为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世纪</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70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年代以后。</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92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cxnSp>
        <p:nvCxnSpPr>
          <p:cNvPr id="8" name="直接连接符 7"/>
          <p:cNvCxnSpPr>
            <a:stCxn id="3" idx="1"/>
            <a:endCxn id="3" idx="3"/>
          </p:cNvCxnSpPr>
          <p:nvPr/>
        </p:nvCxnSpPr>
        <p:spPr>
          <a:xfrm>
            <a:off x="457200" y="4037013"/>
            <a:ext cx="7467600"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软件的发展过程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程序设计阶段：从第一台计算机上的第一个程序的出现到实用的高级程序设计语言出现之前，约为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世纪五六十年代。</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程序系统阶段：从实用的高级程序设计语言出现到软件工程出现之前，约为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世纪六七十年代。</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软件工程阶段：结构化软件工程出现，约为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世纪</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70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年代以后。</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面向对象软件工程阶段：面向对象软件工程出现，约为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世纪</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80</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年代以后。</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92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cxnSp>
        <p:nvCxnSpPr>
          <p:cNvPr id="8" name="直接连接符 7"/>
          <p:cNvCxnSpPr>
            <a:stCxn id="3" idx="1"/>
            <a:endCxn id="3" idx="3"/>
          </p:cNvCxnSpPr>
          <p:nvPr/>
        </p:nvCxnSpPr>
        <p:spPr>
          <a:xfrm>
            <a:off x="457200" y="4037013"/>
            <a:ext cx="7467600"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sz="3600"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j-cs"/>
            </a:endParaRPr>
          </a:p>
        </p:txBody>
      </p:sp>
      <p:sp>
        <p:nvSpPr>
          <p:cNvPr id="10243" name="灯片编号占位符 5"/>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10244" name="Rectangle 3"/>
          <p:cNvSpPr>
            <a:spLocks noGrp="1"/>
          </p:cNvSpPr>
          <p:nvPr>
            <p:ph sz="quarter" idx="1"/>
          </p:nvPr>
        </p:nvSpPr>
        <p:spPr/>
        <p:txBody>
          <a:bodyPr vert="horz" wrap="square" lIns="91440" tIns="45720" rIns="91440" bIns="45720" anchor="t" anchorCtr="0"/>
          <a:lstStyle/>
          <a:p>
            <a:pPr marL="457200" indent="-457200" eaLnBrk="1" hangingPunct="1">
              <a:buClr>
                <a:schemeClr val="accent1"/>
              </a:buClr>
              <a:buSzPct val="70000"/>
              <a:buFont typeface="Wingdings" panose="05000000000000000000" pitchFamily="2" charset="2"/>
            </a:pPr>
            <a:r>
              <a:rPr lang="zh-CN" altLang="en-US" dirty="0">
                <a:latin typeface="Times New Roman" panose="02020603050405020304" pitchFamily="18" charset="0"/>
                <a:ea typeface="宋体" panose="02010600030101010101" pitchFamily="2" charset="-122"/>
              </a:rPr>
              <a:t>早期软件的特点</a:t>
            </a:r>
            <a:endParaRPr lang="zh-CN" altLang="en-US" dirty="0">
              <a:latin typeface="Times New Roman" panose="02020603050405020304" pitchFamily="18" charset="0"/>
              <a:ea typeface="宋体" panose="02010600030101010101" pitchFamily="2" charset="-122"/>
            </a:endParaRPr>
          </a:p>
          <a:p>
            <a:pPr marL="457200" indent="-457200" eaLnBrk="1" hangingPunct="1">
              <a:buClr>
                <a:schemeClr val="accent1"/>
              </a:buClr>
              <a:buSzPct val="70000"/>
              <a:buFont typeface="Century Schoolbook" panose="02040604050505020304" pitchFamily="18" charset="0"/>
              <a:buAutoNum type="arabicPeriod"/>
            </a:pPr>
            <a:r>
              <a:rPr lang="zh-CN" altLang="en-US" dirty="0">
                <a:latin typeface="Times New Roman" panose="02020603050405020304" pitchFamily="18" charset="0"/>
                <a:ea typeface="宋体" panose="02010600030101010101" pitchFamily="2" charset="-122"/>
              </a:rPr>
              <a:t>软件规模相对较小。</a:t>
            </a:r>
            <a:endParaRPr lang="zh-CN" altLang="en-US" dirty="0">
              <a:latin typeface="Times New Roman" panose="02020603050405020304" pitchFamily="18" charset="0"/>
              <a:ea typeface="宋体" panose="02010600030101010101" pitchFamily="2" charset="-122"/>
            </a:endParaRPr>
          </a:p>
          <a:p>
            <a:pPr marL="457200" indent="-457200" eaLnBrk="1" hangingPunct="1">
              <a:buClr>
                <a:schemeClr val="accent1"/>
              </a:buClr>
              <a:buSzPct val="70000"/>
              <a:buFont typeface="Century Schoolbook" panose="02040604050505020304" pitchFamily="18" charset="0"/>
              <a:buAutoNum type="arabicPeriod"/>
            </a:pPr>
            <a:r>
              <a:rPr lang="zh-CN" altLang="en-US" dirty="0">
                <a:latin typeface="Times New Roman" panose="02020603050405020304" pitchFamily="18" charset="0"/>
                <a:ea typeface="宋体" panose="02010600030101010101" pitchFamily="2" charset="-122"/>
              </a:rPr>
              <a:t>编程无规范和标准。</a:t>
            </a:r>
            <a:endParaRPr lang="zh-CN" altLang="en-US" dirty="0">
              <a:latin typeface="Times New Roman" panose="02020603050405020304" pitchFamily="18" charset="0"/>
              <a:ea typeface="宋体" panose="02010600030101010101" pitchFamily="2" charset="-122"/>
            </a:endParaRPr>
          </a:p>
          <a:p>
            <a:pPr marL="457200" indent="-457200" eaLnBrk="1" hangingPunct="1">
              <a:buClr>
                <a:schemeClr val="accent1"/>
              </a:buClr>
              <a:buSzPct val="70000"/>
              <a:buFont typeface="Century Schoolbook" panose="02040604050505020304" pitchFamily="18" charset="0"/>
              <a:buAutoNum type="arabicPeriod"/>
            </a:pPr>
            <a:r>
              <a:rPr lang="zh-CN" altLang="en-US" dirty="0">
                <a:latin typeface="Times New Roman" panose="02020603050405020304" pitchFamily="18" charset="0"/>
                <a:ea typeface="宋体" panose="02010600030101010101" pitchFamily="2" charset="-122"/>
              </a:rPr>
              <a:t>缺少有效的软件开发方法和软件工具支持。</a:t>
            </a:r>
            <a:endParaRPr lang="zh-CN" altLang="en-US" dirty="0">
              <a:latin typeface="Times New Roman" panose="02020603050405020304" pitchFamily="18" charset="0"/>
              <a:ea typeface="宋体" panose="02010600030101010101" pitchFamily="2" charset="-122"/>
            </a:endParaRPr>
          </a:p>
          <a:p>
            <a:pPr marL="457200" indent="-457200" eaLnBrk="1" hangingPunct="1">
              <a:buClr>
                <a:schemeClr val="accent1"/>
              </a:buClr>
              <a:buSzPct val="70000"/>
              <a:buFont typeface="Century Schoolbook" panose="02040604050505020304" pitchFamily="18" charset="0"/>
              <a:buAutoNum type="arabicPeriod"/>
            </a:pPr>
            <a:r>
              <a:rPr lang="zh-CN" altLang="en-US" dirty="0">
                <a:latin typeface="Times New Roman" panose="02020603050405020304" pitchFamily="18" charset="0"/>
                <a:ea typeface="宋体" panose="02010600030101010101" pitchFamily="2" charset="-122"/>
              </a:rPr>
              <a:t>不重视软件开发的管理。</a:t>
            </a:r>
            <a:endParaRPr lang="zh-CN" altLang="en-US" dirty="0">
              <a:latin typeface="Times New Roman" panose="02020603050405020304" pitchFamily="18" charset="0"/>
              <a:ea typeface="宋体" panose="02010600030101010101" pitchFamily="2" charset="-122"/>
            </a:endParaRPr>
          </a:p>
          <a:p>
            <a:pPr marL="457200" indent="-457200" eaLnBrk="1" hangingPunct="1">
              <a:buClr>
                <a:schemeClr val="accent1"/>
              </a:buClr>
              <a:buSzPct val="70000"/>
              <a:buFont typeface="Century Schoolbook" panose="02040604050505020304" pitchFamily="18" charset="0"/>
              <a:buAutoNum type="arabicPeriod"/>
            </a:pPr>
            <a:r>
              <a:rPr lang="zh-CN" altLang="en-US" dirty="0">
                <a:latin typeface="Times New Roman" panose="02020603050405020304" pitchFamily="18" charset="0"/>
                <a:ea typeface="宋体" panose="02010600030101010101" pitchFamily="2" charset="-122"/>
              </a:rPr>
              <a:t>软件维护困难。</a:t>
            </a:r>
            <a:endParaRPr lang="en-US" altLang="zh-CN" dirty="0">
              <a:latin typeface="Times New Roman" panose="02020603050405020304" pitchFamily="18" charset="0"/>
              <a:ea typeface="宋体" panose="02010600030101010101" pitchFamily="2" charset="-122"/>
            </a:endParaRPr>
          </a:p>
        </p:txBody>
      </p:sp>
      <p:sp>
        <p:nvSpPr>
          <p:cNvPr id="7" name="内容占位符 6"/>
          <p:cNvSpPr>
            <a:spLocks noGrp="1"/>
          </p:cNvSpPr>
          <p:nvPr>
            <p:ph sz="quarter" idx="2"/>
          </p:nvPr>
        </p:nvSpPr>
        <p:spPr/>
        <p:txBody>
          <a:bodyPr vert="horz" wrap="square" lIns="91440" tIns="45720" rIns="91440" bIns="45720" numCol="1" anchor="t" anchorCtr="0" compatLnSpc="1">
            <a:normAutofit/>
          </a:bodyPr>
          <a:lstStyle/>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现代软件的特点</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软件规模大。</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软件开发规范并趋于标准化。</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软件开发方法多，有大量的软件工具支持。</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注重软件开发的管理。</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软件维护相对过去容易得多。</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Tx/>
              <a:buNone/>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4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44">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44">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600200"/>
            <a:ext cx="8002588" cy="4873625"/>
          </a:xfrm>
        </p:spPr>
        <p:txBody>
          <a:bodyPr vert="horz" wrap="square" lIns="91440" tIns="45720" rIns="91440" bIns="45720" numCol="1" anchor="t" anchorCtr="0" compatLnSpc="1">
            <a:no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软件危机的出现</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600"/>
              </a:spcBef>
              <a:spcAft>
                <a:spcPts val="0"/>
              </a:spcAft>
              <a:buClr>
                <a:schemeClr val="accent1"/>
              </a:buClr>
              <a:buSzPct val="70000"/>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软件危机，泛指软件开发和维护过程中遇到的一系列严重的问题。概括来说包含两个方面：</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R="0" lvl="1" algn="l" defTabSz="914400" rtl="0" eaLnBrk="1" fontAlgn="auto" latinLnBrk="0" hangingPunct="1">
              <a:lnSpc>
                <a:spcPct val="100000"/>
              </a:lnSpc>
              <a:spcBef>
                <a:spcPts val="600"/>
              </a:spcBef>
              <a:spcAft>
                <a:spcPts val="0"/>
              </a:spcAft>
              <a:buClr>
                <a:schemeClr val="accent1"/>
              </a:buClr>
              <a:buSzPct val="70000"/>
              <a:defRPr/>
            </a:pPr>
            <a:r>
              <a:rPr kumimoji="0" lang="zh-CN" altLang="en-US" b="1" i="0" u="none" strike="noStrike" kern="1200" cap="none" spc="0" normalizeH="0" baseline="0" noProof="0" dirty="0">
                <a:ln>
                  <a:noFill/>
                </a:ln>
                <a:solidFill>
                  <a:schemeClr val="tx1"/>
                </a:solidFill>
                <a:effectLst/>
                <a:uLnTx/>
                <a:uFillTx/>
                <a:latin typeface="+mn-lt"/>
                <a:ea typeface="+mn-ea"/>
                <a:cs typeface="+mn-cs"/>
              </a:rPr>
              <a:t>如何</a:t>
            </a:r>
            <a:r>
              <a:rPr kumimoji="0" lang="zh-CN" altLang="en-US" b="1" i="0" u="none" strike="noStrike" kern="1200" cap="none" spc="0" normalizeH="0" baseline="0" noProof="0" dirty="0">
                <a:ln>
                  <a:noFill/>
                </a:ln>
                <a:solidFill>
                  <a:schemeClr val="accent2">
                    <a:lumMod val="75000"/>
                  </a:schemeClr>
                </a:solidFill>
                <a:effectLst/>
                <a:uLnTx/>
                <a:uFillTx/>
                <a:latin typeface="+mn-lt"/>
                <a:ea typeface="+mn-ea"/>
                <a:cs typeface="+mn-cs"/>
              </a:rPr>
              <a:t>开发</a:t>
            </a:r>
            <a:r>
              <a:rPr kumimoji="0" lang="zh-CN" altLang="en-US" b="1" i="0" u="none" strike="noStrike" kern="1200" cap="none" spc="0" normalizeH="0" baseline="0" noProof="0" dirty="0">
                <a:ln>
                  <a:noFill/>
                </a:ln>
                <a:solidFill>
                  <a:schemeClr val="tx1"/>
                </a:solidFill>
                <a:effectLst/>
                <a:uLnTx/>
                <a:uFillTx/>
                <a:latin typeface="+mn-lt"/>
                <a:ea typeface="+mn-ea"/>
                <a:cs typeface="+mn-cs"/>
              </a:rPr>
              <a:t>软件？以满足不断增长的、日趋复杂的要求</a:t>
            </a:r>
            <a:endParaRPr kumimoji="0" lang="zh-CN" altLang="en-US" b="1" i="0" u="none" strike="noStrike" kern="1200" cap="none" spc="0" normalizeH="0" baseline="0" noProof="0" dirty="0">
              <a:ln>
                <a:noFill/>
              </a:ln>
              <a:solidFill>
                <a:schemeClr val="tx1"/>
              </a:solidFill>
              <a:effectLst/>
              <a:uLnTx/>
              <a:uFillTx/>
              <a:latin typeface="+mn-lt"/>
              <a:ea typeface="+mn-ea"/>
              <a:cs typeface="+mn-cs"/>
            </a:endParaRPr>
          </a:p>
          <a:p>
            <a:pPr marR="0" lvl="1" algn="l" defTabSz="914400" rtl="0" eaLnBrk="1" fontAlgn="auto" latinLnBrk="0" hangingPunct="1">
              <a:lnSpc>
                <a:spcPct val="100000"/>
              </a:lnSpc>
              <a:spcBef>
                <a:spcPts val="600"/>
              </a:spcBef>
              <a:spcAft>
                <a:spcPts val="0"/>
              </a:spcAft>
              <a:buClr>
                <a:schemeClr val="accent1"/>
              </a:buClr>
              <a:buSzPct val="70000"/>
              <a:defRPr/>
            </a:pPr>
            <a:r>
              <a:rPr kumimoji="0" lang="zh-CN" altLang="en-US" b="1" i="0" u="none" strike="noStrike" kern="1200" cap="none" spc="0" normalizeH="0" baseline="0" noProof="0" dirty="0">
                <a:ln>
                  <a:noFill/>
                </a:ln>
                <a:solidFill>
                  <a:schemeClr val="tx1"/>
                </a:solidFill>
                <a:effectLst/>
                <a:uLnTx/>
                <a:uFillTx/>
                <a:latin typeface="+mn-lt"/>
                <a:ea typeface="+mn-ea"/>
                <a:cs typeface="+mn-cs"/>
              </a:rPr>
              <a:t>如何</a:t>
            </a:r>
            <a:r>
              <a:rPr kumimoji="0" lang="zh-CN" altLang="en-US" b="1" i="0" u="none" strike="noStrike" kern="1200" cap="none" spc="0" normalizeH="0" baseline="0" noProof="0" dirty="0">
                <a:ln>
                  <a:noFill/>
                </a:ln>
                <a:solidFill>
                  <a:schemeClr val="accent2">
                    <a:lumMod val="75000"/>
                  </a:schemeClr>
                </a:solidFill>
                <a:effectLst/>
                <a:uLnTx/>
                <a:uFillTx/>
                <a:latin typeface="+mn-lt"/>
                <a:ea typeface="+mn-ea"/>
                <a:cs typeface="+mn-cs"/>
              </a:rPr>
              <a:t>维护</a:t>
            </a:r>
            <a:r>
              <a:rPr kumimoji="0" lang="zh-CN" altLang="en-US" b="1" i="0" u="none" strike="noStrike" kern="1200" cap="none" spc="0" normalizeH="0" baseline="0" noProof="0" dirty="0">
                <a:ln>
                  <a:noFill/>
                </a:ln>
                <a:solidFill>
                  <a:schemeClr val="tx1"/>
                </a:solidFill>
                <a:effectLst/>
                <a:uLnTx/>
                <a:uFillTx/>
                <a:latin typeface="+mn-lt"/>
                <a:ea typeface="+mn-ea"/>
                <a:cs typeface="+mn-cs"/>
              </a:rPr>
              <a:t>规模不断庞大的软件产品？</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600"/>
              </a:spcBef>
              <a:spcAft>
                <a:spcPts val="0"/>
              </a:spcAft>
              <a:buClr>
                <a:schemeClr val="accent1"/>
              </a:buClr>
              <a:buSzPct val="70000"/>
              <a:buFont typeface="+mj-lt"/>
              <a:buNone/>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内容占位符 3"/>
          <p:cNvSpPr>
            <a:spLocks noGrp="1"/>
          </p:cNvSpPr>
          <p:nvPr>
            <p:ph sz="quarter" idx="1"/>
          </p:nvPr>
        </p:nvSpPr>
        <p:spPr/>
        <p:txBody>
          <a:bodyPr/>
          <a:lstStyle/>
          <a:p>
            <a:r>
              <a:rPr lang="zh-CN" altLang="en-US"/>
              <a:t>软件和硬件的开发、运行和维护过程有着本质的不同。</a:t>
            </a:r>
            <a:endParaRPr lang="zh-CN" altLang="en-US"/>
          </a:p>
        </p:txBody>
      </p:sp>
      <p:pic>
        <p:nvPicPr>
          <p:cNvPr id="6" name="Picture 4"/>
          <p:cNvPicPr>
            <a:picLocks noChangeAspect="1"/>
          </p:cNvPicPr>
          <p:nvPr>
            <p:custDataLst>
              <p:tags r:id="rId1"/>
            </p:custDataLst>
          </p:nvPr>
        </p:nvPicPr>
        <p:blipFill>
          <a:blip r:embed="rId2"/>
          <a:stretch>
            <a:fillRect/>
          </a:stretch>
        </p:blipFill>
        <p:spPr>
          <a:xfrm>
            <a:off x="827405" y="2493010"/>
            <a:ext cx="7423785" cy="358140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内容占位符 3"/>
          <p:cNvSpPr>
            <a:spLocks noGrp="1"/>
          </p:cNvSpPr>
          <p:nvPr>
            <p:ph sz="quarter" idx="1"/>
          </p:nvPr>
        </p:nvSpPr>
        <p:spPr/>
        <p:txBody>
          <a:bodyPr/>
          <a:lstStyle/>
          <a:p>
            <a:r>
              <a:rPr lang="zh-CN" altLang="en-US"/>
              <a:t>软件和硬件的开发、运行和维护过程有着本质的不同。</a:t>
            </a:r>
            <a:endParaRPr lang="zh-CN" altLang="en-US"/>
          </a:p>
        </p:txBody>
      </p:sp>
      <p:pic>
        <p:nvPicPr>
          <p:cNvPr id="6" name="Picture 4"/>
          <p:cNvPicPr>
            <a:picLocks noChangeAspect="1"/>
          </p:cNvPicPr>
          <p:nvPr>
            <p:custDataLst>
              <p:tags r:id="rId1"/>
            </p:custDataLst>
          </p:nvPr>
        </p:nvPicPr>
        <p:blipFill>
          <a:blip r:embed="rId2"/>
          <a:stretch>
            <a:fillRect/>
          </a:stretch>
        </p:blipFill>
        <p:spPr>
          <a:xfrm>
            <a:off x="827405" y="2493010"/>
            <a:ext cx="7423785" cy="358140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600200"/>
            <a:ext cx="8002588" cy="4873625"/>
          </a:xfrm>
        </p:spPr>
        <p:txBody>
          <a:bodyPr vert="horz" wrap="square" lIns="91440" tIns="45720" rIns="91440" bIns="45720" numCol="1" anchor="t" anchorCtr="0" compatLnSpc="1">
            <a:no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软件危机的表现</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eaLnBrk="1" hangingPunct="1">
              <a:lnSpc>
                <a:spcPct val="110000"/>
              </a:lnSpc>
              <a:spcBef>
                <a:spcPct val="15000"/>
              </a:spcBef>
              <a:buClr>
                <a:srgbClr val="800080"/>
              </a:buClr>
              <a:buSzTx/>
              <a:buFont typeface="Wingdings" panose="05000000000000000000" pitchFamily="2" charset="2"/>
              <a:buChar char="§"/>
            </a:pPr>
            <a:r>
              <a:rPr lang="zh-CN" altLang="en-US" dirty="0">
                <a:latin typeface="Times New Roman" panose="02020603050405020304" pitchFamily="18" charset="0"/>
                <a:ea typeface="仿宋_GB2312" pitchFamily="49" charset="-122"/>
                <a:sym typeface="+mn-ea"/>
              </a:rPr>
              <a:t>软件开发成本日益增长</a:t>
            </a:r>
            <a:r>
              <a:rPr lang="en-US" altLang="zh-CN" dirty="0">
                <a:latin typeface="Times New Roman" panose="02020603050405020304" pitchFamily="18" charset="0"/>
                <a:ea typeface="仿宋_GB2312" pitchFamily="49" charset="-122"/>
                <a:sym typeface="+mn-ea"/>
              </a:rPr>
              <a:t>;</a:t>
            </a:r>
            <a:endParaRPr lang="en-US" altLang="zh-CN" b="1" dirty="0">
              <a:latin typeface="Times New Roman" panose="02020603050405020304" pitchFamily="18" charset="0"/>
              <a:ea typeface="仿宋_GB2312" pitchFamily="49" charset="-122"/>
            </a:endParaRPr>
          </a:p>
          <a:p>
            <a:pPr eaLnBrk="1" hangingPunct="1">
              <a:lnSpc>
                <a:spcPct val="110000"/>
              </a:lnSpc>
              <a:spcBef>
                <a:spcPct val="15000"/>
              </a:spcBef>
              <a:buClr>
                <a:srgbClr val="800080"/>
              </a:buClr>
              <a:buSzTx/>
              <a:buFont typeface="Wingdings" panose="05000000000000000000" pitchFamily="2" charset="2"/>
              <a:buChar char="§"/>
            </a:pPr>
            <a:r>
              <a:rPr lang="zh-CN" altLang="en-US" dirty="0">
                <a:latin typeface="Times New Roman" panose="02020603050405020304" pitchFamily="18" charset="0"/>
                <a:ea typeface="仿宋_GB2312" pitchFamily="49" charset="-122"/>
                <a:sym typeface="+mn-ea"/>
              </a:rPr>
              <a:t>软件开发进度难以控制</a:t>
            </a:r>
            <a:r>
              <a:rPr lang="en-US" altLang="zh-CN" dirty="0">
                <a:latin typeface="Times New Roman" panose="02020603050405020304" pitchFamily="18" charset="0"/>
                <a:ea typeface="仿宋_GB2312" pitchFamily="49" charset="-122"/>
                <a:sym typeface="+mn-ea"/>
              </a:rPr>
              <a:t>;</a:t>
            </a:r>
            <a:endParaRPr lang="en-US" altLang="zh-CN" b="1" dirty="0">
              <a:latin typeface="Times New Roman" panose="02020603050405020304" pitchFamily="18" charset="0"/>
              <a:ea typeface="仿宋_GB2312" pitchFamily="49" charset="-122"/>
            </a:endParaRPr>
          </a:p>
          <a:p>
            <a:pPr eaLnBrk="1" hangingPunct="1">
              <a:lnSpc>
                <a:spcPct val="110000"/>
              </a:lnSpc>
              <a:spcBef>
                <a:spcPct val="15000"/>
              </a:spcBef>
              <a:buClr>
                <a:srgbClr val="800080"/>
              </a:buClr>
              <a:buSzTx/>
              <a:buFont typeface="Wingdings" panose="05000000000000000000" pitchFamily="2" charset="2"/>
              <a:buChar char="§"/>
            </a:pPr>
            <a:r>
              <a:rPr lang="zh-CN" altLang="en-US" dirty="0">
                <a:latin typeface="Times New Roman" panose="02020603050405020304" pitchFamily="18" charset="0"/>
                <a:ea typeface="仿宋_GB2312" pitchFamily="49" charset="-122"/>
                <a:sym typeface="+mn-ea"/>
              </a:rPr>
              <a:t>软件质量难于保证</a:t>
            </a:r>
            <a:r>
              <a:rPr lang="en-US" altLang="zh-CN" dirty="0">
                <a:latin typeface="Times New Roman" panose="02020603050405020304" pitchFamily="18" charset="0"/>
                <a:ea typeface="仿宋_GB2312" pitchFamily="49" charset="-122"/>
                <a:sym typeface="+mn-ea"/>
              </a:rPr>
              <a:t>;</a:t>
            </a:r>
            <a:endParaRPr lang="en-US" altLang="zh-CN" b="1" dirty="0">
              <a:latin typeface="Times New Roman" panose="02020603050405020304" pitchFamily="18" charset="0"/>
              <a:ea typeface="仿宋_GB2312" pitchFamily="49" charset="-122"/>
            </a:endParaRPr>
          </a:p>
          <a:p>
            <a:pPr eaLnBrk="1" hangingPunct="1">
              <a:lnSpc>
                <a:spcPct val="110000"/>
              </a:lnSpc>
              <a:spcBef>
                <a:spcPct val="15000"/>
              </a:spcBef>
              <a:buClr>
                <a:srgbClr val="800080"/>
              </a:buClr>
              <a:buSzTx/>
              <a:buFont typeface="Wingdings" panose="05000000000000000000" pitchFamily="2" charset="2"/>
              <a:buChar char="§"/>
            </a:pPr>
            <a:r>
              <a:rPr lang="zh-CN" altLang="en-US" dirty="0">
                <a:latin typeface="Times New Roman" panose="02020603050405020304" pitchFamily="18" charset="0"/>
                <a:ea typeface="仿宋_GB2312" pitchFamily="49" charset="-122"/>
                <a:sym typeface="+mn-ea"/>
              </a:rPr>
              <a:t>软件维护困难。</a:t>
            </a:r>
            <a:endParaRPr lang="zh-CN" altLang="en-US" b="1" dirty="0">
              <a:latin typeface="Times New Roman" panose="02020603050405020304" pitchFamily="18" charset="0"/>
              <a:ea typeface="仿宋_GB2312" pitchFamily="49" charset="-122"/>
            </a:endParaRPr>
          </a:p>
          <a:p>
            <a:pPr marL="0" marR="0" lvl="0" indent="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600200"/>
            <a:ext cx="7907020" cy="3376295"/>
          </a:xfrm>
        </p:spPr>
        <p:txBody>
          <a:bodyPr vert="horz" wrap="square" lIns="91440" tIns="45720" rIns="91440" bIns="45720" numCol="1" anchor="t" anchorCtr="0" compatLnSpc="1">
            <a:noAutofit/>
          </a:bodyPr>
          <a:lstStyle/>
          <a:p>
            <a:pPr eaLnBrk="1" hangingPunct="1">
              <a:lnSpc>
                <a:spcPct val="110000"/>
              </a:lnSpc>
              <a:spcBef>
                <a:spcPct val="15000"/>
              </a:spcBef>
              <a:buClr>
                <a:srgbClr val="800080"/>
              </a:buClr>
              <a:buSzTx/>
              <a:buFont typeface="Wingdings" panose="05000000000000000000" pitchFamily="2" charset="2"/>
              <a:buChar cha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案例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1  </a:t>
            </a:r>
            <a:r>
              <a:rPr lang="zh-CN" dirty="0">
                <a:latin typeface="Times New Roman" panose="02020603050405020304" pitchFamily="18" charset="0"/>
                <a:ea typeface="仿宋_GB2312" pitchFamily="49" charset="-122"/>
                <a:sym typeface="+mn-ea"/>
              </a:rPr>
              <a:t>丹佛新国际机场事件</a:t>
            </a:r>
            <a:endParaRPr lang="zh-CN" dirty="0">
              <a:latin typeface="Times New Roman" panose="02020603050405020304" pitchFamily="18" charset="0"/>
              <a:ea typeface="仿宋_GB2312" pitchFamily="49" charset="-122"/>
              <a:sym typeface="+mn-ea"/>
            </a:endParaRPr>
          </a:p>
          <a:p>
            <a:pPr marL="0" marR="0" lvl="0" indent="457200" algn="just"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lang="zh-CN" dirty="0">
                <a:latin typeface="Times New Roman" panose="02020603050405020304" pitchFamily="18" charset="0"/>
                <a:ea typeface="仿宋_GB2312" pitchFamily="49" charset="-122"/>
                <a:sym typeface="+mn-ea"/>
              </a:rPr>
              <a:t>该机场规模是曼哈顿机场的两倍，宽为希思机场的10倍，可以全天侯同时起降三架喷气式客机，投资1.93亿美元建立了一个地下行李传送系统，总长21英里，有4</a:t>
            </a:r>
            <a:r>
              <a:rPr lang="en-US" altLang="zh-CN" dirty="0">
                <a:latin typeface="Times New Roman" panose="02020603050405020304" pitchFamily="18" charset="0"/>
                <a:ea typeface="仿宋_GB2312" pitchFamily="49" charset="-122"/>
                <a:sym typeface="+mn-ea"/>
              </a:rPr>
              <a:t>,</a:t>
            </a:r>
            <a:r>
              <a:rPr lang="zh-CN" dirty="0">
                <a:latin typeface="Times New Roman" panose="02020603050405020304" pitchFamily="18" charset="0"/>
                <a:ea typeface="仿宋_GB2312" pitchFamily="49" charset="-122"/>
                <a:sym typeface="+mn-ea"/>
              </a:rPr>
              <a:t>000台遥控车，可按不同线路在20家不同的航空公司柜台、登机门和行李领取处之间发送和传递行李。</a:t>
            </a:r>
            <a:endParaRPr lang="zh-CN" dirty="0">
              <a:latin typeface="Times New Roman" panose="02020603050405020304" pitchFamily="18" charset="0"/>
              <a:ea typeface="仿宋_GB2312" pitchFamily="49" charset="-122"/>
              <a:sym typeface="+mn-ea"/>
            </a:endParaRPr>
          </a:p>
          <a:p>
            <a:pPr marL="0" marR="0" lvl="0" indent="457200" algn="just"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lang="zh-CN" dirty="0">
                <a:latin typeface="Times New Roman" panose="02020603050405020304" pitchFamily="18" charset="0"/>
                <a:ea typeface="仿宋_GB2312" pitchFamily="49" charset="-122"/>
                <a:sym typeface="+mn-ea"/>
              </a:rPr>
              <a:t>支持该系统的是5000个电子眼、400台无线电接受机、56台条形码扫描仪和100台计算机。按原定计划要在1993年万圣节前启用，但一直到1994年6月，</a:t>
            </a:r>
            <a:r>
              <a:rPr lang="zh-CN" dirty="0">
                <a:solidFill>
                  <a:srgbClr val="FF0000"/>
                </a:solidFill>
                <a:latin typeface="Times New Roman" panose="02020603050405020304" pitchFamily="18" charset="0"/>
                <a:ea typeface="仿宋_GB2312" pitchFamily="49" charset="-122"/>
                <a:sym typeface="+mn-ea"/>
              </a:rPr>
              <a:t>机场的计划者还无法预测行李系统何时能达到可使机场开放的稳定程度，导致机场无法如期开放</a:t>
            </a:r>
            <a:r>
              <a:rPr lang="zh-CN" dirty="0">
                <a:latin typeface="Times New Roman" panose="02020603050405020304" pitchFamily="18" charset="0"/>
                <a:ea typeface="仿宋_GB2312" pitchFamily="49" charset="-122"/>
                <a:sym typeface="+mn-ea"/>
              </a:rPr>
              <a:t>。</a:t>
            </a:r>
            <a:endParaRPr lang="zh-CN" dirty="0">
              <a:latin typeface="Times New Roman" panose="02020603050405020304" pitchFamily="18" charset="0"/>
              <a:ea typeface="仿宋_GB2312" pitchFamily="49" charset="-122"/>
              <a:sym typeface="+mn-ea"/>
            </a:endParaRPr>
          </a:p>
          <a:p>
            <a:pPr marL="0" marR="0" lvl="0" indent="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endParaRPr lang="zh-CN" dirty="0">
              <a:latin typeface="Times New Roman" panose="02020603050405020304" pitchFamily="18" charset="0"/>
              <a:ea typeface="仿宋_GB2312" pitchFamily="49" charset="-122"/>
              <a:sym typeface="+mn-ea"/>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600200"/>
            <a:ext cx="8002588" cy="4873625"/>
          </a:xfrm>
        </p:spPr>
        <p:txBody>
          <a:bodyPr vert="horz" wrap="square" lIns="91440" tIns="45720" rIns="91440" bIns="45720" numCol="1" anchor="t" anchorCtr="0" compatLnSpc="1">
            <a:noAutofit/>
          </a:bodyPr>
          <a:lstStyle/>
          <a:p>
            <a:pPr eaLnBrk="1" hangingPunct="1">
              <a:lnSpc>
                <a:spcPct val="110000"/>
              </a:lnSpc>
              <a:spcBef>
                <a:spcPct val="15000"/>
              </a:spcBef>
              <a:buClr>
                <a:srgbClr val="800080"/>
              </a:buClr>
              <a:buSzTx/>
              <a:buFont typeface="Wingdings" panose="05000000000000000000" pitchFamily="2" charset="2"/>
              <a:buChar cha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案例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  </a:t>
            </a:r>
            <a:r>
              <a:rPr lang="en-US" altLang="zh-CN" dirty="0">
                <a:latin typeface="Times New Roman" panose="02020603050405020304" pitchFamily="18" charset="0"/>
                <a:ea typeface="仿宋_GB2312" pitchFamily="49" charset="-122"/>
                <a:sym typeface="+mn-ea"/>
              </a:rPr>
              <a:t>IBM</a:t>
            </a:r>
            <a:r>
              <a:rPr lang="zh-CN" altLang="en-US" dirty="0">
                <a:latin typeface="Times New Roman" panose="02020603050405020304" pitchFamily="18" charset="0"/>
                <a:ea typeface="仿宋_GB2312" pitchFamily="49" charset="-122"/>
                <a:sym typeface="+mn-ea"/>
              </a:rPr>
              <a:t>公司经典软件危机</a:t>
            </a:r>
            <a:endParaRPr lang="zh-CN" altLang="en-US" dirty="0">
              <a:latin typeface="Times New Roman" panose="02020603050405020304" pitchFamily="18" charset="0"/>
              <a:ea typeface="仿宋_GB2312" pitchFamily="49" charset="-122"/>
              <a:sym typeface="+mn-ea"/>
            </a:endParaRPr>
          </a:p>
          <a:p>
            <a:pPr marL="0" indent="457200" algn="just" eaLnBrk="1" latinLnBrk="0" hangingPunct="1">
              <a:lnSpc>
                <a:spcPct val="110000"/>
              </a:lnSpc>
              <a:spcBef>
                <a:spcPts val="0"/>
              </a:spcBef>
              <a:buClr>
                <a:srgbClr val="800080"/>
              </a:buClr>
              <a:buSzTx/>
              <a:buFont typeface="Wingdings" panose="05000000000000000000" pitchFamily="2" charset="2"/>
              <a:buNone/>
            </a:pPr>
            <a:r>
              <a:rPr lang="zh-CN" dirty="0">
                <a:latin typeface="Times New Roman" panose="02020603050405020304" pitchFamily="18" charset="0"/>
                <a:ea typeface="仿宋_GB2312" pitchFamily="49" charset="-122"/>
                <a:sym typeface="+mn-ea"/>
              </a:rPr>
              <a:t>IBMOS/360操作系统被认为是一个典型的案例，到现在为止，它仍然被使用在360系列主机中。这个经历了数十年，极度复杂的软件项目甚至产生了一套不包括在原始设计方案之中的工作系统。</a:t>
            </a:r>
            <a:endParaRPr lang="zh-CN" dirty="0">
              <a:latin typeface="Times New Roman" panose="02020603050405020304" pitchFamily="18" charset="0"/>
              <a:ea typeface="仿宋_GB2312" pitchFamily="49" charset="-122"/>
              <a:sym typeface="+mn-ea"/>
            </a:endParaRPr>
          </a:p>
          <a:p>
            <a:pPr marL="0" marR="0" lvl="0" indent="457200" algn="just"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lang="zh-CN" dirty="0">
                <a:latin typeface="Times New Roman" panose="02020603050405020304" pitchFamily="18" charset="0"/>
                <a:ea typeface="仿宋_GB2312" pitchFamily="49" charset="-122"/>
                <a:sym typeface="+mn-ea"/>
              </a:rPr>
              <a:t>IBM公司开发OS/360系统，共有4000多个模块，约100万条指令，投入5000人年，耗资数亿美元，结果还是</a:t>
            </a:r>
            <a:r>
              <a:rPr lang="zh-CN" dirty="0">
                <a:solidFill>
                  <a:srgbClr val="FF0000"/>
                </a:solidFill>
                <a:latin typeface="Times New Roman" panose="02020603050405020304" pitchFamily="18" charset="0"/>
                <a:ea typeface="仿宋_GB2312" pitchFamily="49" charset="-122"/>
                <a:sym typeface="+mn-ea"/>
              </a:rPr>
              <a:t>延期交付</a:t>
            </a:r>
            <a:r>
              <a:rPr lang="zh-CN" dirty="0">
                <a:latin typeface="Times New Roman" panose="02020603050405020304" pitchFamily="18" charset="0"/>
                <a:ea typeface="仿宋_GB2312" pitchFamily="49" charset="-122"/>
                <a:sym typeface="+mn-ea"/>
              </a:rPr>
              <a:t>，在交付使用后的系统中仍发现</a:t>
            </a:r>
            <a:r>
              <a:rPr lang="zh-CN" dirty="0">
                <a:solidFill>
                  <a:srgbClr val="FF0000"/>
                </a:solidFill>
                <a:latin typeface="Times New Roman" panose="02020603050405020304" pitchFamily="18" charset="0"/>
                <a:ea typeface="仿宋_GB2312" pitchFamily="49" charset="-122"/>
                <a:sym typeface="+mn-ea"/>
              </a:rPr>
              <a:t>大量（2000个以上）的错误</a:t>
            </a:r>
            <a:r>
              <a:rPr lang="zh-CN" dirty="0">
                <a:latin typeface="Times New Roman" panose="02020603050405020304" pitchFamily="18" charset="0"/>
                <a:ea typeface="仿宋_GB2312" pitchFamily="49" charset="-122"/>
                <a:sym typeface="+mn-ea"/>
              </a:rPr>
              <a:t>，造成无法估计的安全隐患。</a:t>
            </a:r>
            <a:endParaRPr lang="zh-CN" dirty="0">
              <a:latin typeface="Times New Roman" panose="02020603050405020304" pitchFamily="18" charset="0"/>
              <a:ea typeface="仿宋_GB2312" pitchFamily="49" charset="-122"/>
              <a:sym typeface="+mn-ea"/>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600200"/>
            <a:ext cx="8002588" cy="4873625"/>
          </a:xfrm>
        </p:spPr>
        <p:txBody>
          <a:bodyPr vert="horz" wrap="square" lIns="91440" tIns="45720" rIns="91440" bIns="45720" numCol="1" anchor="t" anchorCtr="0" compatLnSpc="1">
            <a:noAutofit/>
          </a:bodyPr>
          <a:lstStyle/>
          <a:p>
            <a:pPr eaLnBrk="1" hangingPunct="1">
              <a:lnSpc>
                <a:spcPct val="110000"/>
              </a:lnSpc>
              <a:spcBef>
                <a:spcPct val="15000"/>
              </a:spcBef>
              <a:buClr>
                <a:srgbClr val="800080"/>
              </a:buClr>
              <a:buSzTx/>
              <a:buFont typeface="Wingdings" panose="05000000000000000000" pitchFamily="2" charset="2"/>
              <a:buChar cha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案例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3  </a:t>
            </a:r>
            <a:r>
              <a:rPr dirty="0">
                <a:latin typeface="Times New Roman" panose="02020603050405020304" pitchFamily="18" charset="0"/>
                <a:ea typeface="仿宋_GB2312" pitchFamily="49" charset="-122"/>
                <a:sym typeface="+mn-ea"/>
              </a:rPr>
              <a:t>美国银行信托软件系统开发案</a:t>
            </a:r>
            <a:endParaRPr dirty="0">
              <a:latin typeface="Times New Roman" panose="02020603050405020304" pitchFamily="18" charset="0"/>
              <a:ea typeface="仿宋_GB2312" pitchFamily="49" charset="-122"/>
              <a:sym typeface="+mn-ea"/>
            </a:endParaRPr>
          </a:p>
          <a:p>
            <a:pPr marL="0" indent="457200" algn="just" eaLnBrk="1" latinLnBrk="0" hangingPunct="1">
              <a:lnSpc>
                <a:spcPct val="110000"/>
              </a:lnSpc>
              <a:spcBef>
                <a:spcPts val="0"/>
              </a:spcBef>
              <a:buClr>
                <a:srgbClr val="800080"/>
              </a:buClr>
              <a:buSzTx/>
              <a:buFont typeface="Wingdings" panose="05000000000000000000" pitchFamily="2" charset="2"/>
              <a:buNone/>
            </a:pPr>
            <a:r>
              <a:rPr lang="zh-CN" dirty="0">
                <a:latin typeface="Times New Roman" panose="02020603050405020304" pitchFamily="18" charset="0"/>
                <a:ea typeface="仿宋_GB2312" pitchFamily="49" charset="-122"/>
                <a:sym typeface="+mn-ea"/>
              </a:rPr>
              <a:t>美国银行1982年进入信托商业领域，并规划发展信托软件系统。项目原订预算2千万美元，开发时程9个月，预计于1984年12月31日以前完成，后来至1987年3月都</a:t>
            </a:r>
            <a:r>
              <a:rPr lang="zh-CN" dirty="0">
                <a:solidFill>
                  <a:srgbClr val="FF0000"/>
                </a:solidFill>
                <a:latin typeface="Times New Roman" panose="02020603050405020304" pitchFamily="18" charset="0"/>
                <a:ea typeface="仿宋_GB2312" pitchFamily="49" charset="-122"/>
                <a:sym typeface="+mn-ea"/>
              </a:rPr>
              <a:t>未能完成</a:t>
            </a:r>
            <a:r>
              <a:rPr lang="zh-CN" dirty="0">
                <a:latin typeface="Times New Roman" panose="02020603050405020304" pitchFamily="18" charset="0"/>
                <a:ea typeface="仿宋_GB2312" pitchFamily="49" charset="-122"/>
                <a:sym typeface="+mn-ea"/>
              </a:rPr>
              <a:t>该系统，期间已投入6千万美元。</a:t>
            </a:r>
            <a:endParaRPr lang="zh-CN" dirty="0">
              <a:latin typeface="Times New Roman" panose="02020603050405020304" pitchFamily="18" charset="0"/>
              <a:ea typeface="仿宋_GB2312" pitchFamily="49" charset="-122"/>
              <a:sym typeface="+mn-ea"/>
            </a:endParaRPr>
          </a:p>
          <a:p>
            <a:pPr marL="0" indent="457200" algn="just" eaLnBrk="1" latinLnBrk="0" hangingPunct="1">
              <a:lnSpc>
                <a:spcPct val="110000"/>
              </a:lnSpc>
              <a:spcBef>
                <a:spcPts val="0"/>
              </a:spcBef>
              <a:buClr>
                <a:srgbClr val="800080"/>
              </a:buClr>
              <a:buSzTx/>
              <a:buFont typeface="Wingdings" panose="05000000000000000000" pitchFamily="2" charset="2"/>
              <a:buNone/>
            </a:pPr>
            <a:r>
              <a:rPr lang="zh-CN" dirty="0">
                <a:latin typeface="Times New Roman" panose="02020603050405020304" pitchFamily="18" charset="0"/>
                <a:ea typeface="仿宋_GB2312" pitchFamily="49" charset="-122"/>
                <a:sym typeface="+mn-ea"/>
              </a:rPr>
              <a:t>美国银行最终因为此系统不稳定而不得不放弃，并将340亿美元的信托账户转移出去，并失去了6亿美元的信托生意商机。</a:t>
            </a:r>
            <a:endParaRPr lang="zh-CN" dirty="0">
              <a:latin typeface="Times New Roman" panose="02020603050405020304" pitchFamily="18" charset="0"/>
              <a:ea typeface="仿宋_GB2312" pitchFamily="49" charset="-122"/>
              <a:sym typeface="+mn-ea"/>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600200"/>
            <a:ext cx="8002588" cy="4873625"/>
          </a:xfrm>
        </p:spPr>
        <p:txBody>
          <a:bodyPr vert="horz" wrap="square" lIns="91440" tIns="45720" rIns="91440" bIns="45720" numCol="1" anchor="t" anchorCtr="0" compatLnSpc="1">
            <a:no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软件危机的原因</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eaLnBrk="1" hangingPunct="1">
              <a:lnSpc>
                <a:spcPct val="110000"/>
              </a:lnSpc>
              <a:spcBef>
                <a:spcPct val="15000"/>
              </a:spcBef>
              <a:buClr>
                <a:srgbClr val="800080"/>
              </a:buClr>
              <a:buSzTx/>
            </a:pPr>
            <a:r>
              <a:rPr lang="zh-CN" altLang="en-US" dirty="0">
                <a:latin typeface="Times New Roman" panose="02020603050405020304" pitchFamily="18" charset="0"/>
                <a:ea typeface="仿宋_GB2312" pitchFamily="49" charset="-122"/>
                <a:sym typeface="+mn-ea"/>
              </a:rPr>
              <a:t>软件本身的复杂性</a:t>
            </a:r>
            <a:endParaRPr lang="zh-CN" altLang="en-US" dirty="0">
              <a:latin typeface="Times New Roman" panose="02020603050405020304" pitchFamily="18" charset="0"/>
              <a:ea typeface="仿宋_GB2312" pitchFamily="49" charset="-122"/>
              <a:sym typeface="+mn-ea"/>
            </a:endParaRPr>
          </a:p>
          <a:p>
            <a:pPr lvl="1" eaLnBrk="1" hangingPunct="1">
              <a:lnSpc>
                <a:spcPct val="110000"/>
              </a:lnSpc>
              <a:spcBef>
                <a:spcPct val="15000"/>
              </a:spcBef>
              <a:buClr>
                <a:srgbClr val="800080"/>
              </a:buClr>
              <a:buSzTx/>
              <a:buFont typeface="Wingdings" panose="05000000000000000000" pitchFamily="2" charset="2"/>
              <a:buChar char="§"/>
            </a:pPr>
            <a:r>
              <a:rPr lang="zh-CN" altLang="en-US" b="0" dirty="0">
                <a:latin typeface="Times New Roman" panose="02020603050405020304" pitchFamily="18" charset="0"/>
                <a:ea typeface="仿宋_GB2312" pitchFamily="49" charset="-122"/>
                <a:sym typeface="+mn-ea"/>
              </a:rPr>
              <a:t>开发结构的复杂性</a:t>
            </a:r>
            <a:endParaRPr lang="zh-CN" altLang="en-US" b="0" dirty="0">
              <a:latin typeface="Times New Roman" panose="02020603050405020304" pitchFamily="18" charset="0"/>
              <a:ea typeface="仿宋_GB2312" pitchFamily="49" charset="-122"/>
              <a:sym typeface="+mn-ea"/>
            </a:endParaRPr>
          </a:p>
          <a:p>
            <a:pPr lvl="1" eaLnBrk="1" hangingPunct="1">
              <a:lnSpc>
                <a:spcPct val="110000"/>
              </a:lnSpc>
              <a:spcBef>
                <a:spcPct val="15000"/>
              </a:spcBef>
              <a:buClr>
                <a:srgbClr val="800080"/>
              </a:buClr>
              <a:buSzTx/>
              <a:buFont typeface="Wingdings" panose="05000000000000000000" pitchFamily="2" charset="2"/>
              <a:buChar char="§"/>
            </a:pPr>
            <a:r>
              <a:rPr lang="zh-CN" altLang="en-US" b="0" dirty="0">
                <a:latin typeface="Times New Roman" panose="02020603050405020304" pitchFamily="18" charset="0"/>
                <a:ea typeface="仿宋_GB2312" pitchFamily="49" charset="-122"/>
                <a:sym typeface="+mn-ea"/>
              </a:rPr>
              <a:t>软件技术的发展复杂性</a:t>
            </a:r>
            <a:endParaRPr lang="zh-CN" altLang="en-US" b="0" dirty="0">
              <a:latin typeface="Times New Roman" panose="02020603050405020304" pitchFamily="18" charset="0"/>
              <a:ea typeface="仿宋_GB2312" pitchFamily="49" charset="-122"/>
              <a:sym typeface="+mn-ea"/>
            </a:endParaRPr>
          </a:p>
          <a:p>
            <a:pPr eaLnBrk="1" hangingPunct="1">
              <a:lnSpc>
                <a:spcPct val="110000"/>
              </a:lnSpc>
              <a:spcBef>
                <a:spcPct val="15000"/>
              </a:spcBef>
              <a:buClr>
                <a:srgbClr val="800080"/>
              </a:buClr>
              <a:buSzTx/>
            </a:pPr>
            <a:r>
              <a:rPr lang="zh-CN" altLang="en-US" b="1" dirty="0">
                <a:latin typeface="Times New Roman" panose="02020603050405020304" pitchFamily="18" charset="0"/>
                <a:ea typeface="仿宋_GB2312" pitchFamily="49" charset="-122"/>
              </a:rPr>
              <a:t>软件产品的特殊性</a:t>
            </a:r>
            <a:endParaRPr lang="zh-CN" altLang="en-US" b="1" dirty="0">
              <a:latin typeface="Times New Roman" panose="02020603050405020304" pitchFamily="18" charset="0"/>
              <a:ea typeface="仿宋_GB2312" pitchFamily="49" charset="-122"/>
            </a:endParaRPr>
          </a:p>
          <a:p>
            <a:pPr eaLnBrk="1" hangingPunct="1">
              <a:lnSpc>
                <a:spcPct val="110000"/>
              </a:lnSpc>
              <a:spcBef>
                <a:spcPct val="15000"/>
              </a:spcBef>
              <a:buClr>
                <a:srgbClr val="800080"/>
              </a:buClr>
              <a:buSzTx/>
            </a:pPr>
            <a:r>
              <a:rPr lang="zh-CN" altLang="en-US" b="1" dirty="0">
                <a:latin typeface="Times New Roman" panose="02020603050405020304" pitchFamily="18" charset="0"/>
                <a:ea typeface="仿宋_GB2312" pitchFamily="49" charset="-122"/>
              </a:rPr>
              <a:t>人们认识的局限</a:t>
            </a:r>
            <a:endParaRPr lang="zh-CN" altLang="en-US" b="1" dirty="0">
              <a:latin typeface="Times New Roman" panose="02020603050405020304" pitchFamily="18" charset="0"/>
              <a:ea typeface="仿宋_GB2312" pitchFamily="49" charset="-122"/>
            </a:endParaRPr>
          </a:p>
          <a:p>
            <a:pPr eaLnBrk="1" hangingPunct="1">
              <a:lnSpc>
                <a:spcPct val="110000"/>
              </a:lnSpc>
              <a:spcBef>
                <a:spcPct val="15000"/>
              </a:spcBef>
              <a:buClr>
                <a:srgbClr val="800080"/>
              </a:buClr>
              <a:buSzTx/>
              <a:buFont typeface="Wingdings" panose="05000000000000000000" pitchFamily="2" charset="2"/>
              <a:buChar char="§"/>
            </a:pPr>
            <a:endParaRPr lang="zh-CN" altLang="en-US" b="1" dirty="0">
              <a:latin typeface="Times New Roman" panose="02020603050405020304" pitchFamily="18" charset="0"/>
              <a:ea typeface="仿宋_GB2312" pitchFamily="49" charset="-122"/>
            </a:endParaRPr>
          </a:p>
          <a:p>
            <a:pPr marL="0" marR="0" lvl="0" indent="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600200"/>
            <a:ext cx="8002588" cy="4873625"/>
          </a:xfrm>
        </p:spPr>
        <p:txBody>
          <a:bodyPr vert="horz" wrap="square" lIns="91440" tIns="45720" rIns="91440" bIns="45720" numCol="1" anchor="t" anchorCtr="0" compatLnSpc="1">
            <a:no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软件危机的原因</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eaLnBrk="1" hangingPunct="1">
              <a:lnSpc>
                <a:spcPct val="110000"/>
              </a:lnSpc>
              <a:spcBef>
                <a:spcPct val="15000"/>
              </a:spcBef>
              <a:buClr>
                <a:srgbClr val="800080"/>
              </a:buClr>
              <a:buSzTx/>
            </a:pPr>
            <a:r>
              <a:rPr lang="zh-CN" altLang="en-US" dirty="0">
                <a:latin typeface="Times New Roman" panose="02020603050405020304" pitchFamily="18" charset="0"/>
                <a:ea typeface="仿宋_GB2312" pitchFamily="49" charset="-122"/>
                <a:sym typeface="+mn-ea"/>
              </a:rPr>
              <a:t>软件本身的复杂性</a:t>
            </a:r>
            <a:endParaRPr lang="zh-CN" altLang="en-US" dirty="0">
              <a:latin typeface="Times New Roman" panose="02020603050405020304" pitchFamily="18" charset="0"/>
              <a:ea typeface="仿宋_GB2312" pitchFamily="49" charset="-122"/>
              <a:sym typeface="+mn-ea"/>
            </a:endParaRPr>
          </a:p>
          <a:p>
            <a:pPr lvl="1" eaLnBrk="1" hangingPunct="1">
              <a:lnSpc>
                <a:spcPct val="110000"/>
              </a:lnSpc>
              <a:spcBef>
                <a:spcPct val="15000"/>
              </a:spcBef>
              <a:buClr>
                <a:srgbClr val="800080"/>
              </a:buClr>
              <a:buSzTx/>
              <a:buFont typeface="Wingdings" panose="05000000000000000000" pitchFamily="2" charset="2"/>
              <a:buChar char="§"/>
            </a:pPr>
            <a:r>
              <a:rPr lang="zh-CN" altLang="en-US" b="0" dirty="0">
                <a:latin typeface="Times New Roman" panose="02020603050405020304" pitchFamily="18" charset="0"/>
                <a:ea typeface="仿宋_GB2312" pitchFamily="49" charset="-122"/>
                <a:sym typeface="+mn-ea"/>
              </a:rPr>
              <a:t>开发结构的复杂性</a:t>
            </a:r>
            <a:endParaRPr lang="zh-CN" altLang="en-US" b="0" dirty="0">
              <a:latin typeface="Times New Roman" panose="02020603050405020304" pitchFamily="18" charset="0"/>
              <a:ea typeface="仿宋_GB2312" pitchFamily="49" charset="-122"/>
              <a:sym typeface="+mn-ea"/>
            </a:endParaRPr>
          </a:p>
          <a:p>
            <a:pPr lvl="1" eaLnBrk="1" hangingPunct="1">
              <a:lnSpc>
                <a:spcPct val="110000"/>
              </a:lnSpc>
              <a:spcBef>
                <a:spcPct val="15000"/>
              </a:spcBef>
              <a:buClr>
                <a:srgbClr val="800080"/>
              </a:buClr>
              <a:buSzTx/>
              <a:buFont typeface="Wingdings" panose="05000000000000000000" pitchFamily="2" charset="2"/>
              <a:buChar char="§"/>
            </a:pPr>
            <a:r>
              <a:rPr lang="zh-CN" altLang="en-US" b="0" dirty="0">
                <a:latin typeface="Times New Roman" panose="02020603050405020304" pitchFamily="18" charset="0"/>
                <a:ea typeface="仿宋_GB2312" pitchFamily="49" charset="-122"/>
                <a:sym typeface="+mn-ea"/>
              </a:rPr>
              <a:t>软件技术的发展复杂性</a:t>
            </a:r>
            <a:endParaRPr lang="zh-CN" altLang="en-US" b="0" dirty="0">
              <a:latin typeface="Times New Roman" panose="02020603050405020304" pitchFamily="18" charset="0"/>
              <a:ea typeface="仿宋_GB2312" pitchFamily="49" charset="-122"/>
              <a:sym typeface="+mn-ea"/>
            </a:endParaRPr>
          </a:p>
          <a:p>
            <a:pPr eaLnBrk="1" hangingPunct="1">
              <a:lnSpc>
                <a:spcPct val="110000"/>
              </a:lnSpc>
              <a:spcBef>
                <a:spcPct val="15000"/>
              </a:spcBef>
              <a:buClr>
                <a:srgbClr val="800080"/>
              </a:buClr>
              <a:buSzTx/>
            </a:pPr>
            <a:r>
              <a:rPr lang="zh-CN" altLang="en-US" b="1" dirty="0">
                <a:latin typeface="Times New Roman" panose="02020603050405020304" pitchFamily="18" charset="0"/>
                <a:ea typeface="仿宋_GB2312" pitchFamily="49" charset="-122"/>
              </a:rPr>
              <a:t>软件产品的特殊性</a:t>
            </a:r>
            <a:endParaRPr lang="en-US" altLang="zh-CN" b="1" dirty="0">
              <a:latin typeface="Times New Roman" panose="02020603050405020304" pitchFamily="18" charset="0"/>
              <a:ea typeface="仿宋_GB2312" pitchFamily="49" charset="-122"/>
            </a:endParaRPr>
          </a:p>
          <a:p>
            <a:pPr lvl="1" eaLnBrk="1" hangingPunct="1">
              <a:lnSpc>
                <a:spcPct val="110000"/>
              </a:lnSpc>
              <a:spcBef>
                <a:spcPct val="15000"/>
              </a:spcBef>
              <a:buClr>
                <a:srgbClr val="800080"/>
              </a:buClr>
              <a:buSzTx/>
            </a:pPr>
            <a:r>
              <a:rPr lang="zh-CN" altLang="en-US" b="0" dirty="0">
                <a:latin typeface="Times New Roman" panose="02020603050405020304" pitchFamily="18" charset="0"/>
                <a:ea typeface="仿宋_GB2312" pitchFamily="49" charset="-122"/>
              </a:rPr>
              <a:t>不可见性；复杂性；可变性和灵活性；技术的快速演进；可重用性和组件化</a:t>
            </a:r>
            <a:r>
              <a:rPr lang="en-US" altLang="zh-CN" b="0" dirty="0">
                <a:latin typeface="Times New Roman" panose="02020603050405020304" pitchFamily="18" charset="0"/>
                <a:ea typeface="仿宋_GB2312" pitchFamily="49" charset="-122"/>
              </a:rPr>
              <a:t>…</a:t>
            </a:r>
            <a:endParaRPr lang="zh-CN" altLang="en-US" b="0" dirty="0">
              <a:latin typeface="Times New Roman" panose="02020603050405020304" pitchFamily="18" charset="0"/>
              <a:ea typeface="仿宋_GB2312" pitchFamily="49" charset="-122"/>
            </a:endParaRPr>
          </a:p>
          <a:p>
            <a:pPr eaLnBrk="1" hangingPunct="1">
              <a:lnSpc>
                <a:spcPct val="110000"/>
              </a:lnSpc>
              <a:spcBef>
                <a:spcPct val="15000"/>
              </a:spcBef>
              <a:buClr>
                <a:srgbClr val="800080"/>
              </a:buClr>
              <a:buSzTx/>
            </a:pPr>
            <a:r>
              <a:rPr lang="zh-CN" altLang="en-US" b="1" dirty="0">
                <a:latin typeface="Times New Roman" panose="02020603050405020304" pitchFamily="18" charset="0"/>
                <a:ea typeface="仿宋_GB2312" pitchFamily="49" charset="-122"/>
              </a:rPr>
              <a:t>人们认识的局限性</a:t>
            </a:r>
            <a:endParaRPr lang="zh-CN" altLang="en-US" b="1" dirty="0">
              <a:latin typeface="Times New Roman" panose="02020603050405020304" pitchFamily="18" charset="0"/>
              <a:ea typeface="仿宋_GB2312" pitchFamily="49" charset="-122"/>
            </a:endParaRPr>
          </a:p>
          <a:p>
            <a:pPr eaLnBrk="1" hangingPunct="1">
              <a:lnSpc>
                <a:spcPct val="110000"/>
              </a:lnSpc>
              <a:spcBef>
                <a:spcPct val="15000"/>
              </a:spcBef>
              <a:buClr>
                <a:srgbClr val="800080"/>
              </a:buClr>
              <a:buSzTx/>
              <a:buFont typeface="Wingdings" panose="05000000000000000000" pitchFamily="2" charset="2"/>
              <a:buChar char="§"/>
            </a:pPr>
            <a:endParaRPr lang="zh-CN" altLang="en-US" b="1" dirty="0">
              <a:latin typeface="Times New Roman" panose="02020603050405020304" pitchFamily="18" charset="0"/>
              <a:ea typeface="仿宋_GB2312" pitchFamily="49" charset="-122"/>
            </a:endParaRPr>
          </a:p>
          <a:p>
            <a:pPr marL="0" marR="0" lvl="0" indent="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600200"/>
            <a:ext cx="8002588" cy="4873625"/>
          </a:xfrm>
        </p:spPr>
        <p:txBody>
          <a:bodyPr vert="horz" wrap="square" lIns="91440" tIns="45720" rIns="91440" bIns="45720" numCol="1" anchor="t" anchorCtr="0" compatLnSpc="1">
            <a:no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软件危机的原因</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eaLnBrk="1" hangingPunct="1">
              <a:lnSpc>
                <a:spcPct val="110000"/>
              </a:lnSpc>
              <a:spcBef>
                <a:spcPct val="15000"/>
              </a:spcBef>
              <a:buClr>
                <a:srgbClr val="800080"/>
              </a:buClr>
              <a:buSzTx/>
            </a:pPr>
            <a:r>
              <a:rPr lang="zh-CN" altLang="en-US" dirty="0">
                <a:latin typeface="Times New Roman" panose="02020603050405020304" pitchFamily="18" charset="0"/>
                <a:ea typeface="仿宋_GB2312" pitchFamily="49" charset="-122"/>
                <a:sym typeface="+mn-ea"/>
              </a:rPr>
              <a:t>软件本身的复杂性</a:t>
            </a:r>
            <a:endParaRPr lang="zh-CN" altLang="en-US" dirty="0">
              <a:latin typeface="Times New Roman" panose="02020603050405020304" pitchFamily="18" charset="0"/>
              <a:ea typeface="仿宋_GB2312" pitchFamily="49" charset="-122"/>
              <a:sym typeface="+mn-ea"/>
            </a:endParaRPr>
          </a:p>
          <a:p>
            <a:pPr lvl="1" eaLnBrk="1" hangingPunct="1">
              <a:lnSpc>
                <a:spcPct val="110000"/>
              </a:lnSpc>
              <a:spcBef>
                <a:spcPct val="15000"/>
              </a:spcBef>
              <a:buClr>
                <a:srgbClr val="800080"/>
              </a:buClr>
              <a:buSzTx/>
              <a:buFont typeface="Wingdings" panose="05000000000000000000" pitchFamily="2" charset="2"/>
              <a:buChar char="§"/>
            </a:pPr>
            <a:r>
              <a:rPr lang="zh-CN" altLang="en-US" b="0" dirty="0">
                <a:latin typeface="Times New Roman" panose="02020603050405020304" pitchFamily="18" charset="0"/>
                <a:ea typeface="仿宋_GB2312" pitchFamily="49" charset="-122"/>
                <a:sym typeface="+mn-ea"/>
              </a:rPr>
              <a:t>开发结构的复杂性</a:t>
            </a:r>
            <a:endParaRPr lang="zh-CN" altLang="en-US" b="0" dirty="0">
              <a:latin typeface="Times New Roman" panose="02020603050405020304" pitchFamily="18" charset="0"/>
              <a:ea typeface="仿宋_GB2312" pitchFamily="49" charset="-122"/>
              <a:sym typeface="+mn-ea"/>
            </a:endParaRPr>
          </a:p>
          <a:p>
            <a:pPr lvl="1" eaLnBrk="1" hangingPunct="1">
              <a:lnSpc>
                <a:spcPct val="110000"/>
              </a:lnSpc>
              <a:spcBef>
                <a:spcPct val="15000"/>
              </a:spcBef>
              <a:buClr>
                <a:srgbClr val="800080"/>
              </a:buClr>
              <a:buSzTx/>
              <a:buFont typeface="Wingdings" panose="05000000000000000000" pitchFamily="2" charset="2"/>
              <a:buChar char="§"/>
            </a:pPr>
            <a:r>
              <a:rPr lang="zh-CN" altLang="en-US" b="0" dirty="0">
                <a:latin typeface="Times New Roman" panose="02020603050405020304" pitchFamily="18" charset="0"/>
                <a:ea typeface="仿宋_GB2312" pitchFamily="49" charset="-122"/>
                <a:sym typeface="+mn-ea"/>
              </a:rPr>
              <a:t>软件技术的发展复杂性</a:t>
            </a:r>
            <a:endParaRPr lang="zh-CN" altLang="en-US" b="0" dirty="0">
              <a:latin typeface="Times New Roman" panose="02020603050405020304" pitchFamily="18" charset="0"/>
              <a:ea typeface="仿宋_GB2312" pitchFamily="49" charset="-122"/>
              <a:sym typeface="+mn-ea"/>
            </a:endParaRPr>
          </a:p>
          <a:p>
            <a:pPr eaLnBrk="1" hangingPunct="1">
              <a:lnSpc>
                <a:spcPct val="110000"/>
              </a:lnSpc>
              <a:spcBef>
                <a:spcPct val="15000"/>
              </a:spcBef>
              <a:buClr>
                <a:srgbClr val="800080"/>
              </a:buClr>
              <a:buSzTx/>
            </a:pPr>
            <a:r>
              <a:rPr lang="zh-CN" altLang="en-US" b="1" dirty="0">
                <a:latin typeface="Times New Roman" panose="02020603050405020304" pitchFamily="18" charset="0"/>
                <a:ea typeface="仿宋_GB2312" pitchFamily="49" charset="-122"/>
              </a:rPr>
              <a:t>软件产品的特殊性</a:t>
            </a:r>
            <a:endParaRPr lang="en-US" altLang="zh-CN" b="1" dirty="0">
              <a:latin typeface="Times New Roman" panose="02020603050405020304" pitchFamily="18" charset="0"/>
              <a:ea typeface="仿宋_GB2312" pitchFamily="49" charset="-122"/>
            </a:endParaRPr>
          </a:p>
          <a:p>
            <a:pPr lvl="1" eaLnBrk="1" hangingPunct="1">
              <a:lnSpc>
                <a:spcPct val="110000"/>
              </a:lnSpc>
              <a:spcBef>
                <a:spcPct val="15000"/>
              </a:spcBef>
              <a:buClr>
                <a:srgbClr val="800080"/>
              </a:buClr>
              <a:buSzTx/>
            </a:pPr>
            <a:r>
              <a:rPr lang="zh-CN" altLang="en-US" b="0" dirty="0">
                <a:latin typeface="Times New Roman" panose="02020603050405020304" pitchFamily="18" charset="0"/>
                <a:ea typeface="仿宋_GB2312" pitchFamily="49" charset="-122"/>
              </a:rPr>
              <a:t>不可见性；复杂性；可变性和灵活性；技术的快速演进；可重用性和组件化</a:t>
            </a:r>
            <a:r>
              <a:rPr lang="en-US" altLang="zh-CN" b="0" dirty="0">
                <a:latin typeface="Times New Roman" panose="02020603050405020304" pitchFamily="18" charset="0"/>
                <a:ea typeface="仿宋_GB2312" pitchFamily="49" charset="-122"/>
              </a:rPr>
              <a:t>…</a:t>
            </a:r>
            <a:endParaRPr lang="zh-CN" altLang="en-US" b="0" dirty="0">
              <a:latin typeface="Times New Roman" panose="02020603050405020304" pitchFamily="18" charset="0"/>
              <a:ea typeface="仿宋_GB2312" pitchFamily="49" charset="-122"/>
            </a:endParaRPr>
          </a:p>
          <a:p>
            <a:pPr eaLnBrk="1" hangingPunct="1">
              <a:lnSpc>
                <a:spcPct val="110000"/>
              </a:lnSpc>
              <a:spcBef>
                <a:spcPct val="15000"/>
              </a:spcBef>
              <a:buClr>
                <a:srgbClr val="800080"/>
              </a:buClr>
              <a:buSzTx/>
            </a:pPr>
            <a:r>
              <a:rPr lang="zh-CN" altLang="en-US" b="1" dirty="0">
                <a:latin typeface="Times New Roman" panose="02020603050405020304" pitchFamily="18" charset="0"/>
                <a:ea typeface="仿宋_GB2312" pitchFamily="49" charset="-122"/>
              </a:rPr>
              <a:t>人们认识的局限性</a:t>
            </a:r>
            <a:endParaRPr lang="zh-CN" altLang="en-US" b="1" dirty="0">
              <a:latin typeface="Times New Roman" panose="02020603050405020304" pitchFamily="18" charset="0"/>
              <a:ea typeface="仿宋_GB2312" pitchFamily="49" charset="-122"/>
            </a:endParaRPr>
          </a:p>
          <a:p>
            <a:pPr eaLnBrk="1" hangingPunct="1">
              <a:lnSpc>
                <a:spcPct val="110000"/>
              </a:lnSpc>
              <a:spcBef>
                <a:spcPct val="15000"/>
              </a:spcBef>
              <a:buClr>
                <a:srgbClr val="800080"/>
              </a:buClr>
              <a:buSzTx/>
              <a:buFont typeface="Wingdings" panose="05000000000000000000" pitchFamily="2" charset="2"/>
              <a:buChar char="§"/>
            </a:pPr>
            <a:endParaRPr lang="zh-CN" altLang="en-US" b="1" dirty="0">
              <a:latin typeface="Times New Roman" panose="02020603050405020304" pitchFamily="18" charset="0"/>
              <a:ea typeface="仿宋_GB2312" pitchFamily="49" charset="-122"/>
            </a:endParaRPr>
          </a:p>
          <a:p>
            <a:pPr marL="0" marR="0" lvl="0" indent="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2291" name="内容占位符 2"/>
          <p:cNvSpPr>
            <a:spLocks noGrp="1"/>
          </p:cNvSpPr>
          <p:nvPr>
            <p:ph sz="quarter" idx="1"/>
          </p:nvPr>
        </p:nvSpPr>
        <p:spPr>
          <a:xfrm>
            <a:off x="457200" y="1600200"/>
            <a:ext cx="8011160" cy="4873625"/>
          </a:xfrm>
        </p:spPr>
        <p:txBody>
          <a:bodyPr vert="horz" wrap="square" lIns="91440" tIns="45720" rIns="91440" bIns="45720" anchor="t" anchorCtr="0">
            <a:normAutofit/>
          </a:bodyPr>
          <a:lstStyle/>
          <a:p>
            <a:pPr algn="just" eaLnBrk="1" hangingPunct="1">
              <a:buSzPct val="70000"/>
            </a:pPr>
            <a:r>
              <a:rPr lang="zh-CN" altLang="en-US" kern="1200" dirty="0">
                <a:solidFill>
                  <a:schemeClr val="tx1"/>
                </a:solidFill>
                <a:latin typeface="+mn-lt"/>
                <a:ea typeface="宋体" panose="02010600030101010101" pitchFamily="2" charset="-122"/>
                <a:cs typeface="+mn-cs"/>
              </a:rPr>
              <a:t>软件工程的提出：1968年北大西洋公约组织（NATO）第一次提出“软件工程”概念。不同时代有不同的定义。</a:t>
            </a:r>
            <a:endParaRPr lang="zh-CN" altLang="en-US" kern="1200" dirty="0">
              <a:solidFill>
                <a:schemeClr val="tx1"/>
              </a:solidFill>
              <a:latin typeface="+mn-lt"/>
              <a:ea typeface="宋体" panose="02010600030101010101" pitchFamily="2" charset="-122"/>
              <a:cs typeface="+mn-cs"/>
            </a:endParaRPr>
          </a:p>
          <a:p>
            <a:pPr algn="just" eaLnBrk="1" hangingPunct="1">
              <a:buSzPct val="70000"/>
            </a:pPr>
            <a:endParaRPr lang="zh-CN" altLang="en-US" kern="1200" dirty="0">
              <a:solidFill>
                <a:schemeClr val="tx1"/>
              </a:solidFill>
              <a:latin typeface="+mn-lt"/>
              <a:ea typeface="宋体" panose="02010600030101010101" pitchFamily="2" charset="-122"/>
              <a:cs typeface="+mn-cs"/>
            </a:endParaRPr>
          </a:p>
          <a:p>
            <a:pPr marL="342900" marR="0" lvl="0" indent="-342900" algn="l" defTabSz="914400" rtl="0" eaLnBrk="1" fontAlgn="base" latinLnBrk="0" hangingPunct="1">
              <a:lnSpc>
                <a:spcPct val="90000"/>
              </a:lnSpc>
              <a:spcBef>
                <a:spcPct val="15000"/>
              </a:spcBef>
              <a:spcAft>
                <a:spcPct val="0"/>
              </a:spcAft>
              <a:buClr>
                <a:srgbClr val="800080"/>
              </a:buClr>
              <a:buSzTx/>
              <a:buFont typeface="Wingdings" panose="05000000000000000000" pitchFamily="2" charset="2"/>
              <a:buChar char="§"/>
              <a:defRPr/>
            </a:pPr>
            <a:r>
              <a:rPr lang="en-US" altLang="zh-CN" kern="0" noProof="0">
                <a:ln>
                  <a:noFill/>
                </a:ln>
                <a:solidFill>
                  <a:schemeClr val="accent2"/>
                </a:solidFill>
                <a:effectLst/>
                <a:uLnTx/>
                <a:uFillTx/>
                <a:latin typeface="Times New Roman" panose="02020603050405020304" pitchFamily="18" charset="0"/>
                <a:ea typeface="仿宋_GB2312" pitchFamily="49" charset="-122"/>
                <a:sym typeface="+mn-ea"/>
              </a:rPr>
              <a:t>Fritz Bauer(1968)  in NATO</a:t>
            </a:r>
            <a:r>
              <a:rPr lang="zh-CN" altLang="en-US" kern="0" noProof="0">
                <a:ln>
                  <a:noFill/>
                </a:ln>
                <a:solidFill>
                  <a:schemeClr val="accent2"/>
                </a:solidFill>
                <a:effectLst/>
                <a:uLnTx/>
                <a:uFillTx/>
                <a:latin typeface="Times New Roman" panose="02020603050405020304" pitchFamily="18" charset="0"/>
                <a:ea typeface="仿宋_GB2312" pitchFamily="49" charset="-122"/>
                <a:sym typeface="+mn-ea"/>
              </a:rPr>
              <a:t>：</a:t>
            </a:r>
            <a:endParaRPr kumimoji="0" lang="zh-CN" altLang="en-US" b="1" i="0" u="none" strike="noStrike" kern="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90000"/>
              </a:lnSpc>
              <a:spcBef>
                <a:spcPct val="15000"/>
              </a:spcBef>
              <a:spcAft>
                <a:spcPct val="0"/>
              </a:spcAft>
              <a:buClr>
                <a:srgbClr val="800080"/>
              </a:buClr>
              <a:buSzTx/>
              <a:buFont typeface="Wingdings" panose="05000000000000000000" pitchFamily="2" charset="2"/>
              <a:buNone/>
              <a:defRPr/>
            </a:pPr>
            <a:r>
              <a:rPr lang="zh-CN" altLang="en-US" kern="0" noProof="0">
                <a:ln>
                  <a:noFill/>
                </a:ln>
                <a:effectLst/>
                <a:uLnTx/>
                <a:uFillTx/>
                <a:latin typeface="Times New Roman" panose="02020603050405020304" pitchFamily="18" charset="0"/>
                <a:ea typeface="仿宋_GB2312" pitchFamily="49" charset="-122"/>
                <a:sym typeface="+mn-ea"/>
              </a:rPr>
              <a:t>    </a:t>
            </a:r>
            <a:r>
              <a:rPr lang="zh-CN" altLang="en-US" kern="0" noProof="0">
                <a:ln>
                  <a:noFill/>
                </a:ln>
                <a:effectLst>
                  <a:outerShdw blurRad="38100" dist="38100" dir="2700000" algn="tl">
                    <a:srgbClr val="C0C0C0"/>
                  </a:outerShdw>
                </a:effectLst>
                <a:uLnTx/>
                <a:uFillTx/>
                <a:ea typeface="仿宋_GB2312" pitchFamily="49" charset="-122"/>
                <a:sym typeface="+mn-ea"/>
              </a:rPr>
              <a:t>“</a:t>
            </a:r>
            <a:r>
              <a:rPr lang="zh-CN" altLang="en-US" kern="0"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建立并使用完善的工程化原则</a:t>
            </a:r>
            <a:r>
              <a:rPr lang="en-US" altLang="zh-CN" kern="0"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  </a:t>
            </a:r>
            <a:r>
              <a:rPr lang="zh-CN" altLang="en-US" kern="0"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以较经济的手段获得能在实际机器上有效运行的可靠软件的一系列方法。</a:t>
            </a:r>
            <a:r>
              <a:rPr lang="zh-CN" altLang="en-US" kern="0" noProof="0">
                <a:ln>
                  <a:noFill/>
                </a:ln>
                <a:effectLst>
                  <a:outerShdw blurRad="38100" dist="38100" dir="2700000" algn="tl">
                    <a:srgbClr val="C0C0C0"/>
                  </a:outerShdw>
                </a:effectLst>
                <a:uLnTx/>
                <a:uFillTx/>
                <a:ea typeface="仿宋_GB2312" pitchFamily="49" charset="-122"/>
                <a:sym typeface="+mn-ea"/>
              </a:rPr>
              <a:t>”</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90000"/>
              </a:lnSpc>
              <a:spcBef>
                <a:spcPct val="15000"/>
              </a:spcBef>
              <a:spcAft>
                <a:spcPct val="0"/>
              </a:spcAft>
              <a:buClr>
                <a:srgbClr val="800080"/>
              </a:buClr>
              <a:buSzTx/>
              <a:buFont typeface="Wingdings" panose="05000000000000000000" pitchFamily="2" charset="2"/>
              <a:buChar char="§"/>
              <a:defRPr/>
            </a:pPr>
            <a:r>
              <a:rPr lang="en-US" altLang="zh-CN" kern="0" noProof="0">
                <a:ln>
                  <a:noFill/>
                </a:ln>
                <a:solidFill>
                  <a:schemeClr val="accent2"/>
                </a:solidFill>
                <a:effectLst/>
                <a:uLnTx/>
                <a:uFillTx/>
                <a:latin typeface="Times New Roman" panose="02020603050405020304" pitchFamily="18" charset="0"/>
                <a:ea typeface="仿宋_GB2312" pitchFamily="49" charset="-122"/>
                <a:sym typeface="+mn-ea"/>
              </a:rPr>
              <a:t>IEEE(1983)</a:t>
            </a:r>
            <a:r>
              <a:rPr lang="zh-CN" altLang="en-US" kern="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90000"/>
              </a:lnSpc>
              <a:spcBef>
                <a:spcPct val="15000"/>
              </a:spcBef>
              <a:spcAft>
                <a:spcPct val="0"/>
              </a:spcAft>
              <a:buClr>
                <a:srgbClr val="800080"/>
              </a:buClr>
              <a:buSzTx/>
              <a:buFont typeface="Wingdings" panose="05000000000000000000" pitchFamily="2" charset="2"/>
              <a:buNone/>
              <a:defRPr/>
            </a:pPr>
            <a:r>
              <a:rPr lang="zh-CN" altLang="en-US" kern="0"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     </a:t>
            </a:r>
            <a:r>
              <a:rPr lang="zh-CN" altLang="en-US" kern="0" noProof="0">
                <a:ln>
                  <a:noFill/>
                </a:ln>
                <a:effectLst>
                  <a:outerShdw blurRad="38100" dist="38100" dir="2700000" algn="tl">
                    <a:srgbClr val="C0C0C0"/>
                  </a:outerShdw>
                </a:effectLst>
                <a:uLnTx/>
                <a:uFillTx/>
                <a:ea typeface="仿宋_GB2312" pitchFamily="49" charset="-122"/>
                <a:sym typeface="+mn-ea"/>
              </a:rPr>
              <a:t>“</a:t>
            </a:r>
            <a:r>
              <a:rPr lang="zh-CN" altLang="en-US" kern="0"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软件工程是开发、运行、维护和修复软件的系统方法。</a:t>
            </a:r>
            <a:r>
              <a:rPr lang="zh-CN" altLang="en-US" kern="0" noProof="0">
                <a:ln>
                  <a:noFill/>
                </a:ln>
                <a:effectLst>
                  <a:outerShdw blurRad="38100" dist="38100" dir="2700000" algn="tl">
                    <a:srgbClr val="C0C0C0"/>
                  </a:outerShdw>
                </a:effectLst>
                <a:uLnTx/>
                <a:uFillTx/>
                <a:ea typeface="仿宋_GB2312" pitchFamily="49" charset="-122"/>
                <a:sym typeface="+mn-ea"/>
              </a:rPr>
              <a:t>”</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90000"/>
              </a:lnSpc>
              <a:spcBef>
                <a:spcPct val="15000"/>
              </a:spcBef>
              <a:spcAft>
                <a:spcPct val="0"/>
              </a:spcAft>
              <a:buClr>
                <a:srgbClr val="800080"/>
              </a:buClr>
              <a:buSzTx/>
              <a:buFont typeface="Wingdings" panose="05000000000000000000" pitchFamily="2" charset="2"/>
              <a:buChar char="§"/>
              <a:defRPr/>
            </a:pPr>
            <a:r>
              <a:rPr lang="en-US" altLang="zh-CN" kern="0" noProof="0">
                <a:ln>
                  <a:noFill/>
                </a:ln>
                <a:solidFill>
                  <a:schemeClr val="accent2"/>
                </a:solidFill>
                <a:effectLst/>
                <a:uLnTx/>
                <a:uFillTx/>
                <a:latin typeface="Times New Roman" panose="02020603050405020304" pitchFamily="18" charset="0"/>
                <a:ea typeface="仿宋_GB2312" pitchFamily="49" charset="-122"/>
                <a:sym typeface="+mn-ea"/>
              </a:rPr>
              <a:t>IEEE(1993)</a:t>
            </a:r>
            <a:r>
              <a:rPr lang="zh-CN" altLang="en-US" kern="0" noProof="0">
                <a:ln>
                  <a:noFill/>
                </a:ln>
                <a:solidFill>
                  <a:schemeClr val="accent2"/>
                </a:solidFill>
                <a:effectLst/>
                <a:uLnTx/>
                <a:uFillTx/>
                <a:latin typeface="Times New Roman" panose="02020603050405020304" pitchFamily="18" charset="0"/>
                <a:ea typeface="仿宋_GB2312" pitchFamily="49" charset="-122"/>
                <a:sym typeface="+mn-ea"/>
              </a:rPr>
              <a:t>：</a:t>
            </a:r>
            <a:endParaRPr kumimoji="0" lang="zh-CN" altLang="en-US" b="1" i="0" u="none" strike="noStrike" kern="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90000"/>
              </a:lnSpc>
              <a:spcBef>
                <a:spcPct val="15000"/>
              </a:spcBef>
              <a:spcAft>
                <a:spcPct val="0"/>
              </a:spcAft>
              <a:buClr>
                <a:srgbClr val="800080"/>
              </a:buClr>
              <a:buSzTx/>
              <a:buFont typeface="Wingdings" panose="05000000000000000000" pitchFamily="2" charset="2"/>
              <a:buNone/>
              <a:defRPr/>
            </a:pPr>
            <a:r>
              <a:rPr lang="zh-CN" altLang="en-US" kern="0" noProof="0">
                <a:ln>
                  <a:noFill/>
                </a:ln>
                <a:effectLst/>
                <a:uLnTx/>
                <a:uFillTx/>
                <a:latin typeface="Times New Roman" panose="02020603050405020304" pitchFamily="18" charset="0"/>
                <a:ea typeface="仿宋_GB2312" pitchFamily="49" charset="-122"/>
                <a:sym typeface="+mn-ea"/>
              </a:rPr>
              <a:t>    </a:t>
            </a:r>
            <a:r>
              <a:rPr lang="zh-CN" altLang="en-US" kern="0" noProof="0">
                <a:ln>
                  <a:noFill/>
                </a:ln>
                <a:effectLst/>
                <a:uLnTx/>
                <a:uFillTx/>
                <a:ea typeface="仿宋_GB2312" pitchFamily="49" charset="-122"/>
                <a:sym typeface="+mn-ea"/>
              </a:rPr>
              <a:t>“</a:t>
            </a:r>
            <a:r>
              <a:rPr lang="zh-CN" altLang="en-US" kern="0" noProof="0">
                <a:ln>
                  <a:noFill/>
                </a:ln>
                <a:effectLst/>
                <a:uLnTx/>
                <a:uFillTx/>
                <a:latin typeface="Times New Roman" panose="02020603050405020304" pitchFamily="18" charset="0"/>
                <a:ea typeface="仿宋_GB2312" pitchFamily="49" charset="-122"/>
                <a:sym typeface="+mn-ea"/>
              </a:rPr>
              <a:t>将</a:t>
            </a:r>
            <a:r>
              <a:rPr lang="zh-CN" altLang="en-US" kern="0" noProof="0">
                <a:ln>
                  <a:noFill/>
                </a:ln>
                <a:solidFill>
                  <a:srgbClr val="FF0000"/>
                </a:solidFill>
                <a:effectLst/>
                <a:uLnTx/>
                <a:uFillTx/>
                <a:latin typeface="Times New Roman" panose="02020603050405020304" pitchFamily="18" charset="0"/>
                <a:ea typeface="仿宋_GB2312" pitchFamily="49" charset="-122"/>
                <a:sym typeface="+mn-ea"/>
              </a:rPr>
              <a:t>系统化的、规范的、可度量的</a:t>
            </a:r>
            <a:r>
              <a:rPr lang="zh-CN" altLang="en-US" kern="0" noProof="0">
                <a:ln>
                  <a:noFill/>
                </a:ln>
                <a:effectLst/>
                <a:uLnTx/>
                <a:uFillTx/>
                <a:latin typeface="Times New Roman" panose="02020603050405020304" pitchFamily="18" charset="0"/>
                <a:ea typeface="仿宋_GB2312" pitchFamily="49" charset="-122"/>
                <a:sym typeface="+mn-ea"/>
              </a:rPr>
              <a:t>方法应用于软件的开发、运行和维护的过程，即将工程化应用于软件中。</a:t>
            </a:r>
            <a:r>
              <a:rPr lang="zh-CN" altLang="en-US" kern="0" noProof="0">
                <a:ln>
                  <a:noFill/>
                </a:ln>
                <a:effectLst/>
                <a:uLnTx/>
                <a:uFillTx/>
                <a:ea typeface="仿宋_GB2312" pitchFamily="49" charset="-122"/>
                <a:sym typeface="+mn-ea"/>
              </a:rPr>
              <a:t>”</a:t>
            </a:r>
            <a:endParaRPr kumimoji="0" lang="zh-CN" altLang="en-US" b="1" i="0" u="none" strike="noStrike" kern="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a:p>
            <a:pPr eaLnBrk="1" hangingPunct="1">
              <a:buSzPct val="70000"/>
            </a:pPr>
            <a:endParaRPr lang="zh-CN" altLang="en-US" kern="1200" dirty="0">
              <a:latin typeface="+mn-lt"/>
              <a:ea typeface="宋体" panose="02010600030101010101" pitchFamily="2" charset="-122"/>
              <a:cs typeface="+mn-cs"/>
            </a:endParaRPr>
          </a:p>
          <a:p>
            <a:pPr algn="just" eaLnBrk="1" hangingPunct="1">
              <a:buSzPct val="70000"/>
            </a:pPr>
            <a:endParaRPr lang="zh-CN" altLang="en-US" kern="1200" dirty="0">
              <a:latin typeface="+mn-lt"/>
              <a:ea typeface="宋体" panose="02010600030101010101" pitchFamily="2" charset="-122"/>
              <a:cs typeface="+mn-cs"/>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2291" name="内容占位符 2"/>
          <p:cNvSpPr>
            <a:spLocks noGrp="1"/>
          </p:cNvSpPr>
          <p:nvPr>
            <p:ph sz="quarter" idx="1"/>
          </p:nvPr>
        </p:nvSpPr>
        <p:spPr>
          <a:xfrm>
            <a:off x="457200" y="1600200"/>
            <a:ext cx="8022590" cy="4873625"/>
          </a:xfrm>
        </p:spPr>
        <p:txBody>
          <a:bodyPr vert="horz" wrap="square" lIns="91440" tIns="45720" rIns="91440" bIns="45720" anchor="t" anchorCtr="0"/>
          <a:lstStyle/>
          <a:p>
            <a:pPr eaLnBrk="1" hangingPunct="1">
              <a:buSzPct val="70000"/>
            </a:pPr>
            <a:r>
              <a:rPr lang="zh-CN" altLang="en-US" kern="1200" dirty="0">
                <a:solidFill>
                  <a:srgbClr val="C00000"/>
                </a:solidFill>
                <a:latin typeface="+mn-lt"/>
                <a:ea typeface="宋体" panose="02010600030101010101" pitchFamily="2" charset="-122"/>
                <a:cs typeface="+mn-cs"/>
              </a:rPr>
              <a:t>软件工程：</a:t>
            </a:r>
            <a:endParaRPr lang="zh-CN" altLang="en-US" kern="1200" dirty="0">
              <a:solidFill>
                <a:srgbClr val="C00000"/>
              </a:solidFill>
              <a:latin typeface="+mn-lt"/>
              <a:ea typeface="宋体" panose="02010600030101010101" pitchFamily="2" charset="-122"/>
              <a:cs typeface="+mn-cs"/>
            </a:endParaRPr>
          </a:p>
          <a:p>
            <a:pPr eaLnBrk="1" hangingPunct="1">
              <a:lnSpc>
                <a:spcPct val="150000"/>
              </a:lnSpc>
              <a:buSzPct val="70000"/>
            </a:pPr>
            <a:r>
              <a:rPr lang="zh-CN" altLang="en-US" kern="1200" dirty="0">
                <a:latin typeface="+mn-lt"/>
                <a:ea typeface="宋体" panose="02010600030101010101" pitchFamily="2" charset="-122"/>
                <a:cs typeface="+mn-cs"/>
              </a:rPr>
              <a:t>采用工程化的概念、原理、技术和方法来开发和维护计算机软件，将工程管理技术的成功经验和思想与具体的软件开发过程、研究技术相结合，形成一整套适合于计算机软件开发的方法、规范和技术。</a:t>
            </a:r>
            <a:endParaRPr lang="zh-CN" altLang="en-US" kern="1200" dirty="0">
              <a:latin typeface="+mn-lt"/>
              <a:ea typeface="宋体" panose="02010600030101010101" pitchFamily="2" charset="-122"/>
              <a:cs typeface="+mn-cs"/>
            </a:endParaRPr>
          </a:p>
          <a:p>
            <a:pPr eaLnBrk="1" hangingPunct="1">
              <a:lnSpc>
                <a:spcPct val="150000"/>
              </a:lnSpc>
              <a:buSzPct val="70000"/>
            </a:pPr>
            <a:r>
              <a:rPr lang="zh-CN" altLang="en-US" kern="1200" dirty="0">
                <a:solidFill>
                  <a:srgbClr val="C00000"/>
                </a:solidFill>
                <a:latin typeface="+mn-lt"/>
                <a:ea typeface="宋体" panose="02010600030101010101" pitchFamily="2" charset="-122"/>
                <a:cs typeface="+mn-cs"/>
              </a:rPr>
              <a:t>目的：</a:t>
            </a:r>
            <a:r>
              <a:rPr lang="zh-CN" altLang="en-US" kern="1200" dirty="0">
                <a:latin typeface="+mn-lt"/>
                <a:ea typeface="宋体" panose="02010600030101010101" pitchFamily="2" charset="-122"/>
                <a:cs typeface="+mn-cs"/>
              </a:rPr>
              <a:t>提高软件本身的质量</a:t>
            </a:r>
            <a:endParaRPr lang="zh-CN" altLang="en-US" kern="1200" dirty="0">
              <a:latin typeface="+mn-lt"/>
              <a:ea typeface="宋体" panose="02010600030101010101" pitchFamily="2" charset="-122"/>
              <a:cs typeface="+mn-cs"/>
            </a:endParaRPr>
          </a:p>
          <a:p>
            <a:pPr algn="just" eaLnBrk="1" hangingPunct="1">
              <a:lnSpc>
                <a:spcPct val="150000"/>
              </a:lnSpc>
              <a:buSzPct val="70000"/>
            </a:pPr>
            <a:endParaRPr lang="zh-CN" altLang="en-US" kern="1200" dirty="0">
              <a:latin typeface="+mn-lt"/>
              <a:ea typeface="宋体" panose="02010600030101010101" pitchFamily="2" charset="-122"/>
              <a:cs typeface="+mn-cs"/>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a:t>
            </a:r>
            <a:r>
              <a:rPr lang="zh-CN" altLang="en-US" noProof="0" dirty="0">
                <a:ln>
                  <a:noFill/>
                </a:ln>
                <a:effectLst/>
                <a:uLnTx/>
                <a:uFillTx/>
                <a:latin typeface="Times New Roman" panose="02020603050405020304" pitchFamily="18" charset="0"/>
                <a:cs typeface="Times New Roman" panose="02020603050405020304" pitchFamily="18" charset="0"/>
                <a:sym typeface="+mn-ea"/>
              </a:rPr>
              <a:t>软件工程概述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Rectangle 2"/>
          <p:cNvSpPr/>
          <p:nvPr>
            <p:custDataLst>
              <p:tags r:id="rId1"/>
            </p:custDataLst>
          </p:nvPr>
        </p:nvSpPr>
        <p:spPr>
          <a:xfrm>
            <a:off x="3060700" y="1868488"/>
            <a:ext cx="3311525" cy="469900"/>
          </a:xfrm>
          <a:prstGeom prst="rect">
            <a:avLst/>
          </a:prstGeom>
          <a:solidFill>
            <a:srgbClr val="000000"/>
          </a:solidFill>
          <a:ln w="12700">
            <a:noFill/>
          </a:ln>
        </p:spPr>
        <p:txBody>
          <a:bodyPr wrap="none" lIns="90487" tIns="44450" rIns="90487" bIns="44450">
            <a:spAutoFit/>
          </a:bodyPr>
          <a:lstStyle/>
          <a:p>
            <a:pPr>
              <a:lnSpc>
                <a:spcPct val="90000"/>
              </a:lnSpc>
            </a:pPr>
            <a:r>
              <a:rPr lang="en-US" altLang="zh-CN" sz="2400" b="1" dirty="0">
                <a:latin typeface="Helvetica" charset="0"/>
              </a:rPr>
              <a:t>Software Engineering</a:t>
            </a:r>
            <a:endParaRPr lang="en-US" altLang="zh-CN" sz="2400" b="1" dirty="0">
              <a:latin typeface="Helvetica" charset="0"/>
            </a:endParaRPr>
          </a:p>
        </p:txBody>
      </p:sp>
      <p:sp>
        <p:nvSpPr>
          <p:cNvPr id="5" name="Rectangle 4"/>
          <p:cNvSpPr/>
          <p:nvPr>
            <p:custDataLst>
              <p:tags r:id="rId2"/>
            </p:custDataLst>
          </p:nvPr>
        </p:nvSpPr>
        <p:spPr>
          <a:xfrm>
            <a:off x="3006725" y="1798955"/>
            <a:ext cx="3244215" cy="421005"/>
          </a:xfrm>
          <a:prstGeom prst="rect">
            <a:avLst/>
          </a:prstGeom>
          <a:solidFill>
            <a:srgbClr val="FFC000"/>
          </a:solidFill>
          <a:ln w="12700">
            <a:noFill/>
          </a:ln>
        </p:spPr>
        <p:txBody>
          <a:bodyPr wrap="square" lIns="90487" tIns="44450" rIns="90487" bIns="44450">
            <a:spAutoFit/>
          </a:bodyPr>
          <a:lstStyle/>
          <a:p>
            <a:pPr algn="ctr">
              <a:lnSpc>
                <a:spcPct val="90000"/>
              </a:lnSpc>
            </a:pPr>
            <a:r>
              <a:rPr lang="zh-CN" altLang="en-US" sz="2400" b="1" dirty="0">
                <a:solidFill>
                  <a:schemeClr val="bg1"/>
                </a:solidFill>
                <a:latin typeface="Helvetica" charset="0"/>
              </a:rPr>
              <a:t>软件工程</a:t>
            </a:r>
            <a:endParaRPr lang="zh-CN" altLang="en-US" sz="2400" b="1" dirty="0">
              <a:solidFill>
                <a:schemeClr val="bg1"/>
              </a:solidFill>
              <a:latin typeface="Helvetica" charset="0"/>
            </a:endParaRPr>
          </a:p>
        </p:txBody>
      </p:sp>
      <p:sp>
        <p:nvSpPr>
          <p:cNvPr id="6" name="Oval 5"/>
          <p:cNvSpPr/>
          <p:nvPr>
            <p:custDataLst>
              <p:tags r:id="rId3"/>
            </p:custDataLst>
          </p:nvPr>
        </p:nvSpPr>
        <p:spPr>
          <a:xfrm>
            <a:off x="774700" y="3773488"/>
            <a:ext cx="7620000" cy="1285875"/>
          </a:xfrm>
          <a:prstGeom prst="ellipse">
            <a:avLst/>
          </a:prstGeom>
          <a:solidFill>
            <a:schemeClr val="accent4">
              <a:lumMod val="20000"/>
              <a:lumOff val="80000"/>
            </a:schemeClr>
          </a:solidFill>
          <a:ln w="12700">
            <a:noFill/>
          </a:ln>
          <a:effectLst>
            <a:outerShdw dist="107763" dir="2699999" algn="ctr" rotWithShape="0">
              <a:srgbClr val="000000"/>
            </a:outerShdw>
          </a:effectLst>
        </p:spPr>
        <p:txBody>
          <a:bodyPr wrap="none" anchor="ctr" anchorCtr="0"/>
          <a:lstStyle/>
          <a:p>
            <a:pPr eaLnBrk="1" hangingPunct="1"/>
            <a:endParaRPr lang="zh-CN" altLang="en-US" dirty="0">
              <a:latin typeface="Arial" panose="020B0604020202020204" pitchFamily="34" charset="0"/>
            </a:endParaRPr>
          </a:p>
        </p:txBody>
      </p:sp>
      <p:sp>
        <p:nvSpPr>
          <p:cNvPr id="7" name="Oval 6"/>
          <p:cNvSpPr/>
          <p:nvPr>
            <p:custDataLst>
              <p:tags r:id="rId4"/>
            </p:custDataLst>
          </p:nvPr>
        </p:nvSpPr>
        <p:spPr>
          <a:xfrm>
            <a:off x="1231900" y="3344863"/>
            <a:ext cx="6629400" cy="1200150"/>
          </a:xfrm>
          <a:prstGeom prst="ellipse">
            <a:avLst/>
          </a:prstGeom>
          <a:solidFill>
            <a:srgbClr val="7030A0"/>
          </a:solidFill>
          <a:ln w="12700">
            <a:noFill/>
          </a:ln>
          <a:effectLst>
            <a:outerShdw dist="107763" dir="2699999" algn="ctr" rotWithShape="0">
              <a:srgbClr val="000000"/>
            </a:outerShdw>
          </a:effectLst>
        </p:spPr>
        <p:txBody>
          <a:bodyPr wrap="none" anchor="ctr" anchorCtr="0"/>
          <a:lstStyle/>
          <a:p>
            <a:pPr eaLnBrk="1" hangingPunct="1"/>
            <a:endParaRPr lang="zh-CN" altLang="en-US" dirty="0">
              <a:latin typeface="Arial" panose="020B0604020202020204" pitchFamily="34" charset="0"/>
            </a:endParaRPr>
          </a:p>
        </p:txBody>
      </p:sp>
      <p:sp>
        <p:nvSpPr>
          <p:cNvPr id="8" name="Oval 7"/>
          <p:cNvSpPr/>
          <p:nvPr>
            <p:custDataLst>
              <p:tags r:id="rId5"/>
            </p:custDataLst>
          </p:nvPr>
        </p:nvSpPr>
        <p:spPr>
          <a:xfrm>
            <a:off x="1765300" y="2916238"/>
            <a:ext cx="5486400" cy="1028700"/>
          </a:xfrm>
          <a:prstGeom prst="ellipse">
            <a:avLst/>
          </a:prstGeom>
          <a:solidFill>
            <a:srgbClr val="00B0F0"/>
          </a:solidFill>
          <a:ln w="12700">
            <a:noFill/>
          </a:ln>
          <a:effectLst>
            <a:outerShdw dist="107763" dir="2699999" algn="ctr" rotWithShape="0">
              <a:srgbClr val="000000"/>
            </a:outerShdw>
          </a:effectLst>
        </p:spPr>
        <p:txBody>
          <a:bodyPr wrap="none" anchor="ctr" anchorCtr="0"/>
          <a:lstStyle/>
          <a:p>
            <a:pPr eaLnBrk="1" hangingPunct="1"/>
            <a:endParaRPr lang="zh-CN" altLang="en-US" dirty="0">
              <a:latin typeface="Arial" panose="020B0604020202020204" pitchFamily="34" charset="0"/>
            </a:endParaRPr>
          </a:p>
        </p:txBody>
      </p:sp>
      <p:sp>
        <p:nvSpPr>
          <p:cNvPr id="9" name="Oval 8"/>
          <p:cNvSpPr/>
          <p:nvPr>
            <p:custDataLst>
              <p:tags r:id="rId6"/>
            </p:custDataLst>
          </p:nvPr>
        </p:nvSpPr>
        <p:spPr>
          <a:xfrm>
            <a:off x="2146300" y="2659063"/>
            <a:ext cx="4724400" cy="685800"/>
          </a:xfrm>
          <a:prstGeom prst="ellipse">
            <a:avLst/>
          </a:prstGeom>
          <a:solidFill>
            <a:srgbClr val="92D050"/>
          </a:solidFill>
          <a:ln w="12700">
            <a:noFill/>
          </a:ln>
          <a:effectLst>
            <a:outerShdw dist="107763" dir="2699999" algn="ctr" rotWithShape="0">
              <a:srgbClr val="000000"/>
            </a:outerShdw>
          </a:effectLst>
        </p:spPr>
        <p:txBody>
          <a:bodyPr wrap="none" anchor="ctr" anchorCtr="0"/>
          <a:lstStyle/>
          <a:p>
            <a:pPr eaLnBrk="1" hangingPunct="1"/>
            <a:endParaRPr lang="zh-CN" altLang="en-US" dirty="0">
              <a:latin typeface="Arial" panose="020B0604020202020204" pitchFamily="34" charset="0"/>
            </a:endParaRPr>
          </a:p>
        </p:txBody>
      </p:sp>
      <p:sp>
        <p:nvSpPr>
          <p:cNvPr id="10" name="Rectangle 9"/>
          <p:cNvSpPr>
            <a:spLocks noChangeArrowheads="1"/>
          </p:cNvSpPr>
          <p:nvPr>
            <p:custDataLst>
              <p:tags r:id="rId7"/>
            </p:custDataLst>
          </p:nvPr>
        </p:nvSpPr>
        <p:spPr bwMode="auto">
          <a:xfrm>
            <a:off x="3427730" y="4615180"/>
            <a:ext cx="2234565" cy="457835"/>
          </a:xfrm>
          <a:prstGeom prst="rect">
            <a:avLst/>
          </a:prstGeom>
          <a:noFill/>
          <a:ln w="12700">
            <a:noFill/>
            <a:miter lim="800000"/>
          </a:ln>
          <a:effectLst/>
        </p:spPr>
        <p:txBody>
          <a:bodyPr wrap="square" lIns="90487" tIns="44450" rIns="90487" bIns="4445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Helvetica" charset="0"/>
                <a:ea typeface="宋体" panose="02010600030101010101" pitchFamily="2" charset="-122"/>
                <a:cs typeface="+mn-cs"/>
              </a:rPr>
              <a:t>质量聚焦</a:t>
            </a:r>
            <a:endPar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Helvetica" charset="0"/>
              <a:ea typeface="宋体" panose="02010600030101010101" pitchFamily="2" charset="-122"/>
              <a:cs typeface="+mn-cs"/>
            </a:endParaRPr>
          </a:p>
        </p:txBody>
      </p:sp>
      <p:sp>
        <p:nvSpPr>
          <p:cNvPr id="11" name="Rectangle 10"/>
          <p:cNvSpPr>
            <a:spLocks noChangeArrowheads="1"/>
          </p:cNvSpPr>
          <p:nvPr>
            <p:custDataLst>
              <p:tags r:id="rId8"/>
            </p:custDataLst>
          </p:nvPr>
        </p:nvSpPr>
        <p:spPr bwMode="auto">
          <a:xfrm>
            <a:off x="3601085" y="4015105"/>
            <a:ext cx="1953895" cy="457835"/>
          </a:xfrm>
          <a:prstGeom prst="rect">
            <a:avLst/>
          </a:prstGeom>
          <a:noFill/>
          <a:ln w="12700">
            <a:noFill/>
            <a:miter lim="800000"/>
          </a:ln>
          <a:effectLst/>
        </p:spPr>
        <p:txBody>
          <a:bodyPr wrap="square" lIns="90487" tIns="44450" rIns="90487" bIns="4445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Helvetica" charset="0"/>
                <a:ea typeface="宋体" panose="02010600030101010101" pitchFamily="2" charset="-122"/>
                <a:cs typeface="+mn-cs"/>
              </a:rPr>
              <a:t>模型</a:t>
            </a:r>
            <a:endPar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Helvetica" charset="0"/>
              <a:ea typeface="宋体" panose="02010600030101010101" pitchFamily="2" charset="-122"/>
              <a:cs typeface="+mn-cs"/>
            </a:endParaRPr>
          </a:p>
        </p:txBody>
      </p:sp>
      <p:sp>
        <p:nvSpPr>
          <p:cNvPr id="12" name="Rectangle 11"/>
          <p:cNvSpPr>
            <a:spLocks noChangeArrowheads="1"/>
          </p:cNvSpPr>
          <p:nvPr>
            <p:custDataLst>
              <p:tags r:id="rId9"/>
            </p:custDataLst>
          </p:nvPr>
        </p:nvSpPr>
        <p:spPr bwMode="auto">
          <a:xfrm>
            <a:off x="3956685" y="3415030"/>
            <a:ext cx="1197610" cy="457835"/>
          </a:xfrm>
          <a:prstGeom prst="rect">
            <a:avLst/>
          </a:prstGeom>
          <a:noFill/>
          <a:ln w="12700">
            <a:noFill/>
            <a:miter lim="800000"/>
          </a:ln>
          <a:effectLst/>
        </p:spPr>
        <p:txBody>
          <a:bodyPr wrap="square" lIns="90487" tIns="44450" rIns="90487" bIns="4445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Helvetica" charset="0"/>
                <a:ea typeface="宋体" panose="02010600030101010101" pitchFamily="2" charset="-122"/>
                <a:cs typeface="+mn-cs"/>
              </a:rPr>
              <a:t>方法</a:t>
            </a:r>
            <a:endPar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Helvetica" charset="0"/>
              <a:ea typeface="宋体" panose="02010600030101010101" pitchFamily="2" charset="-122"/>
              <a:cs typeface="+mn-cs"/>
            </a:endParaRPr>
          </a:p>
        </p:txBody>
      </p:sp>
      <p:sp>
        <p:nvSpPr>
          <p:cNvPr id="13" name="Rectangle 12"/>
          <p:cNvSpPr>
            <a:spLocks noChangeArrowheads="1"/>
          </p:cNvSpPr>
          <p:nvPr>
            <p:custDataLst>
              <p:tags r:id="rId10"/>
            </p:custDataLst>
          </p:nvPr>
        </p:nvSpPr>
        <p:spPr bwMode="auto">
          <a:xfrm>
            <a:off x="4189413" y="2814638"/>
            <a:ext cx="792480" cy="457835"/>
          </a:xfrm>
          <a:prstGeom prst="rect">
            <a:avLst/>
          </a:prstGeom>
          <a:noFill/>
          <a:ln w="12700">
            <a:noFill/>
            <a:miter lim="800000"/>
          </a:ln>
          <a:effectLst/>
        </p:spPr>
        <p:txBody>
          <a:bodyPr wrap="none" lIns="90487" tIns="44450" rIns="90487" bIns="4445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Helvetica" charset="0"/>
                <a:ea typeface="宋体" panose="02010600030101010101" pitchFamily="2" charset="-122"/>
                <a:cs typeface="+mn-cs"/>
              </a:rPr>
              <a:t>工具</a:t>
            </a:r>
            <a:endPar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Helvetica" charset="0"/>
              <a:ea typeface="宋体" panose="02010600030101010101" pitchFamily="2"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内容占位符 2"/>
          <p:cNvSpPr>
            <a:spLocks noGrp="1"/>
          </p:cNvSpPr>
          <p:nvPr>
            <p:ph sz="quarter" idx="1"/>
          </p:nvPr>
        </p:nvSpPr>
        <p:spPr/>
        <p:txBody>
          <a:bodyPr/>
          <a:lstStyle/>
          <a:p>
            <a:r>
              <a:rPr lang="zh-CN" altLang="en-US"/>
              <a:t>软件生命周期</a:t>
            </a:r>
            <a:endParaRPr lang="zh-CN" altLang="en-US"/>
          </a:p>
          <a:p>
            <a:r>
              <a:rPr lang="zh-CN" altLang="en-US"/>
              <a:t>指软件产品从提出、实现、使用维护到停止使用退役的整个过程。</a:t>
            </a:r>
            <a:endParaRPr lang="zh-CN" altLang="en-US"/>
          </a:p>
          <a:p>
            <a:r>
              <a:rPr lang="zh-CN" altLang="en-US"/>
              <a:t>软件生命周期中，能够准确确定软件系统必须做什么和必须具备哪些功能的阶段是：需求分析。</a:t>
            </a:r>
            <a:endParaRPr lang="zh-CN" altLang="en-US"/>
          </a:p>
        </p:txBody>
      </p:sp>
      <p:pic>
        <p:nvPicPr>
          <p:cNvPr id="4" name="Picture 7"/>
          <p:cNvPicPr>
            <a:picLocks noChangeAspect="1"/>
          </p:cNvPicPr>
          <p:nvPr>
            <p:custDataLst>
              <p:tags r:id="rId1"/>
            </p:custDataLst>
          </p:nvPr>
        </p:nvPicPr>
        <p:blipFill>
          <a:blip r:embed="rId2"/>
          <a:stretch>
            <a:fillRect/>
          </a:stretch>
        </p:blipFill>
        <p:spPr>
          <a:xfrm>
            <a:off x="467360" y="4076700"/>
            <a:ext cx="7626350" cy="129540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3" name="Rectangle 3"/>
          <p:cNvSpPr>
            <a:spLocks noGrp="1" noChangeArrowheads="1"/>
          </p:cNvSpPr>
          <p:nvPr>
            <p:ph sz="quarter" idx="1"/>
          </p:nvPr>
        </p:nvSpPr>
        <p:spPr>
          <a:xfrm>
            <a:off x="457200" y="1484313"/>
            <a:ext cx="7643813" cy="4989513"/>
          </a:xfrm>
        </p:spPr>
        <p:txBody>
          <a:bodyPr vert="horz" wrap="square" lIns="91440" tIns="45720" rIns="91440" bIns="45720" numCol="1" anchor="t" anchorCtr="0" compatLnSpc="1">
            <a:normAutofit lnSpcReduction="10000"/>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软件生命周期的重要性</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1200" cap="none" spc="0" normalizeH="0" baseline="0" noProof="0" dirty="0">
                <a:ln>
                  <a:noFill/>
                </a:ln>
                <a:solidFill>
                  <a:srgbClr val="FF0000"/>
                </a:solidFill>
                <a:effectLst/>
                <a:uLnTx/>
                <a:uFillTx/>
                <a:latin typeface="+mn-lt"/>
                <a:ea typeface="+mn-ea"/>
                <a:cs typeface="+mn-cs"/>
              </a:rPr>
              <a:t>“</a:t>
            </a:r>
            <a:r>
              <a:rPr kumimoji="0" lang="zh-CN" altLang="en-US" sz="2400" b="1" i="0" u="none" strike="noStrike" kern="1200" cap="none" spc="0" normalizeH="0" baseline="0" noProof="0" dirty="0">
                <a:ln>
                  <a:noFill/>
                </a:ln>
                <a:solidFill>
                  <a:srgbClr val="FF0000"/>
                </a:solidFill>
                <a:effectLst/>
                <a:uLnTx/>
                <a:uFillTx/>
                <a:latin typeface="+mn-lt"/>
                <a:ea typeface="+mn-ea"/>
                <a:cs typeface="+mn-cs"/>
              </a:rPr>
              <a:t>好的过程决定好的结果</a:t>
            </a:r>
            <a:r>
              <a:rPr kumimoji="0" lang="en-US" altLang="zh-CN" sz="2400" b="1" i="0" u="none" strike="noStrike" kern="1200" cap="none" spc="0" normalizeH="0" baseline="0" noProof="0" dirty="0">
                <a:ln>
                  <a:noFill/>
                </a:ln>
                <a:solidFill>
                  <a:srgbClr val="FF0000"/>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使一组活动具有了一致性和结构。便于排除人为干扰，形成规范化和标准化操作，使得能够采用灵活的方式来描述软件开发过程，允许人们使用不同的技术和工具进行软件设计和开发。</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获取经验并把它传授给他人，共享人类的经验。</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对软件生命周期的不同划分，形成了不同的软件生存周期模型。（软件过程模型）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lang="zh-CN" altLang="en-US" noProof="0" dirty="0">
                <a:ln>
                  <a:noFill/>
                </a:ln>
                <a:effectLst/>
                <a:uLnTx/>
                <a:uFillTx/>
                <a:sym typeface="+mn-ea"/>
              </a:rPr>
              <a:t>软件过程模型：将抽象的软件工程思想具体化；不断在软件开发实践中总结出来的，实施于过程模型的软件开发工具、方法和步骤。是跨越整个软件生命周期的系统开发、运作、维护所实施的全部过程、活动和任务的</a:t>
            </a:r>
            <a:r>
              <a:rPr lang="zh-CN" altLang="en-US" noProof="0" dirty="0">
                <a:ln>
                  <a:noFill/>
                </a:ln>
                <a:effectLst/>
                <a:uLnTx/>
                <a:uFillTx/>
                <a:sym typeface="+mn-ea"/>
              </a:rPr>
              <a:t>结构框架。</a:t>
            </a:r>
            <a:endParaRPr lang="zh-CN" altLang="en-US" noProof="0" dirty="0">
              <a:ln>
                <a:noFill/>
              </a:ln>
              <a:effectLst/>
              <a:uLnTx/>
              <a:uFillTx/>
              <a:sym typeface="+mn-ea"/>
            </a:endParaRPr>
          </a:p>
        </p:txBody>
      </p:sp>
      <p:sp>
        <p:nvSpPr>
          <p:cNvPr id="25604"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标题 3"/>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5"/>
          <p:cNvSpPr>
            <a:spLocks noGrp="1"/>
          </p:cNvSpPr>
          <p:nvPr>
            <p:ph sz="quarter" idx="1"/>
          </p:nvPr>
        </p:nvSpPr>
        <p:spPr/>
        <p:txBody>
          <a:bodyPr vert="horz" wrap="square" lIns="91440" tIns="45720" rIns="91440" bIns="45720" anchor="t" anchorCtr="0"/>
          <a:lstStyle/>
          <a:p>
            <a:pPr eaLnBrk="1" hangingPunct="1">
              <a:buSzPct val="70000"/>
            </a:pPr>
            <a:r>
              <a:rPr lang="en-US" altLang="zh-CN" kern="1200" dirty="0">
                <a:latin typeface="+mn-lt"/>
                <a:ea typeface="宋体" panose="02010600030101010101" pitchFamily="2" charset="-122"/>
                <a:cs typeface="+mn-cs"/>
              </a:rPr>
              <a:t>GB8567</a:t>
            </a:r>
            <a:r>
              <a:rPr lang="zh-CN" altLang="zh-CN" kern="1200" dirty="0">
                <a:latin typeface="+mn-lt"/>
                <a:ea typeface="宋体" panose="02010600030101010101" pitchFamily="2" charset="-122"/>
                <a:cs typeface="+mn-cs"/>
              </a:rPr>
              <a:t>软件开发国家标准</a:t>
            </a:r>
            <a:r>
              <a:rPr lang="zh-CN" altLang="en-US" kern="1200" dirty="0">
                <a:latin typeface="+mn-lt"/>
                <a:ea typeface="宋体" panose="02010600030101010101" pitchFamily="2" charset="-122"/>
                <a:cs typeface="+mn-cs"/>
              </a:rPr>
              <a:t>（</a:t>
            </a:r>
            <a:r>
              <a:rPr lang="zh-CN" altLang="zh-CN" kern="1200" dirty="0">
                <a:latin typeface="+mn-lt"/>
                <a:ea typeface="宋体" panose="02010600030101010101" pitchFamily="2" charset="-122"/>
                <a:cs typeface="+mn-cs"/>
              </a:rPr>
              <a:t>七个阶段</a:t>
            </a:r>
            <a:r>
              <a:rPr lang="zh-CN" altLang="en-US" kern="1200" dirty="0">
                <a:latin typeface="+mn-lt"/>
                <a:ea typeface="宋体" panose="02010600030101010101" pitchFamily="2" charset="-122"/>
                <a:cs typeface="+mn-cs"/>
              </a:rPr>
              <a:t>）</a:t>
            </a:r>
            <a:r>
              <a:rPr lang="zh-CN" altLang="zh-CN"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lvl="1" eaLnBrk="1" hangingPunct="1">
              <a:buSzPct val="80000"/>
            </a:pPr>
            <a:r>
              <a:rPr lang="zh-CN" altLang="zh-CN" kern="1200" dirty="0">
                <a:latin typeface="+mn-lt"/>
                <a:ea typeface="宋体" panose="02010600030101010101" pitchFamily="2" charset="-122"/>
                <a:cs typeface="+mn-cs"/>
              </a:rPr>
              <a:t>问题定义和可行性研究</a:t>
            </a:r>
            <a:endParaRPr lang="en-US" altLang="zh-CN" kern="1200" dirty="0">
              <a:latin typeface="+mn-lt"/>
              <a:ea typeface="宋体" panose="02010600030101010101" pitchFamily="2" charset="-122"/>
              <a:cs typeface="+mn-cs"/>
            </a:endParaRPr>
          </a:p>
          <a:p>
            <a:pPr lvl="1" eaLnBrk="1" hangingPunct="1">
              <a:buSzPct val="80000"/>
            </a:pPr>
            <a:r>
              <a:rPr lang="zh-CN" altLang="zh-CN" kern="1200" dirty="0">
                <a:latin typeface="+mn-lt"/>
                <a:ea typeface="宋体" panose="02010600030101010101" pitchFamily="2" charset="-122"/>
                <a:cs typeface="+mn-cs"/>
              </a:rPr>
              <a:t>需求分析</a:t>
            </a:r>
            <a:endParaRPr lang="en-US" altLang="zh-CN" kern="1200" dirty="0">
              <a:latin typeface="+mn-lt"/>
              <a:ea typeface="宋体" panose="02010600030101010101" pitchFamily="2" charset="-122"/>
              <a:cs typeface="+mn-cs"/>
            </a:endParaRPr>
          </a:p>
          <a:p>
            <a:pPr lvl="1" eaLnBrk="1" hangingPunct="1">
              <a:buSzPct val="80000"/>
            </a:pPr>
            <a:r>
              <a:rPr lang="zh-CN" altLang="zh-CN" kern="1200" dirty="0">
                <a:latin typeface="+mn-lt"/>
                <a:ea typeface="宋体" panose="02010600030101010101" pitchFamily="2" charset="-122"/>
                <a:cs typeface="+mn-cs"/>
              </a:rPr>
              <a:t>概要设计</a:t>
            </a:r>
            <a:endParaRPr lang="en-US" altLang="zh-CN" kern="1200" dirty="0">
              <a:latin typeface="+mn-lt"/>
              <a:ea typeface="宋体" panose="02010600030101010101" pitchFamily="2" charset="-122"/>
              <a:cs typeface="+mn-cs"/>
            </a:endParaRPr>
          </a:p>
          <a:p>
            <a:pPr lvl="1" eaLnBrk="1" hangingPunct="1">
              <a:buSzPct val="80000"/>
            </a:pPr>
            <a:r>
              <a:rPr lang="zh-CN" altLang="zh-CN" kern="1200" dirty="0">
                <a:latin typeface="+mn-lt"/>
                <a:ea typeface="宋体" panose="02010600030101010101" pitchFamily="2" charset="-122"/>
                <a:cs typeface="+mn-cs"/>
              </a:rPr>
              <a:t>详细设计</a:t>
            </a:r>
            <a:endParaRPr lang="en-US" altLang="zh-CN" kern="1200" dirty="0">
              <a:latin typeface="+mn-lt"/>
              <a:ea typeface="宋体" panose="02010600030101010101" pitchFamily="2" charset="-122"/>
              <a:cs typeface="+mn-cs"/>
            </a:endParaRPr>
          </a:p>
          <a:p>
            <a:pPr lvl="1" eaLnBrk="1" hangingPunct="1">
              <a:buSzPct val="80000"/>
            </a:pPr>
            <a:r>
              <a:rPr lang="zh-CN" altLang="zh-CN" kern="1200" dirty="0">
                <a:latin typeface="+mn-lt"/>
                <a:ea typeface="宋体" panose="02010600030101010101" pitchFamily="2" charset="-122"/>
                <a:cs typeface="+mn-cs"/>
              </a:rPr>
              <a:t>编码</a:t>
            </a:r>
            <a:endParaRPr lang="en-US" altLang="zh-CN" kern="1200" dirty="0">
              <a:latin typeface="+mn-lt"/>
              <a:ea typeface="宋体" panose="02010600030101010101" pitchFamily="2" charset="-122"/>
              <a:cs typeface="+mn-cs"/>
            </a:endParaRPr>
          </a:p>
          <a:p>
            <a:pPr lvl="1" eaLnBrk="1" hangingPunct="1">
              <a:buSzPct val="80000"/>
            </a:pPr>
            <a:r>
              <a:rPr lang="zh-CN" altLang="zh-CN" kern="1200" dirty="0">
                <a:latin typeface="+mn-lt"/>
                <a:ea typeface="宋体" panose="02010600030101010101" pitchFamily="2" charset="-122"/>
                <a:cs typeface="+mn-cs"/>
              </a:rPr>
              <a:t>测试</a:t>
            </a:r>
            <a:endParaRPr lang="en-US" altLang="zh-CN" kern="1200" dirty="0">
              <a:latin typeface="+mn-lt"/>
              <a:ea typeface="宋体" panose="02010600030101010101" pitchFamily="2" charset="-122"/>
              <a:cs typeface="+mn-cs"/>
            </a:endParaRPr>
          </a:p>
          <a:p>
            <a:pPr lvl="1" eaLnBrk="1" hangingPunct="1">
              <a:buSzPct val="80000"/>
            </a:pPr>
            <a:r>
              <a:rPr lang="zh-CN" altLang="zh-CN" kern="1200" dirty="0">
                <a:latin typeface="+mn-lt"/>
                <a:ea typeface="宋体" panose="02010600030101010101" pitchFamily="2" charset="-122"/>
                <a:cs typeface="+mn-cs"/>
              </a:rPr>
              <a:t>维护</a:t>
            </a:r>
            <a:endParaRPr lang="zh-CN" altLang="en-US"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a:p>
            <a:pPr>
              <a:buSzPct val="70000"/>
            </a:pPr>
            <a:endParaRPr lang="zh-CN" altLang="en-US" kern="1200" dirty="0">
              <a:latin typeface="+mn-lt"/>
              <a:ea typeface="宋体" panose="02010600030101010101" pitchFamily="2" charset="-122"/>
              <a:cs typeface="+mn-cs"/>
            </a:endParaRPr>
          </a:p>
        </p:txBody>
      </p:sp>
      <p:sp>
        <p:nvSpPr>
          <p:cNvPr id="26628" name="灯片编号占位符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26629" name="Picture 2" descr="01-01"/>
          <p:cNvPicPr>
            <a:picLocks noChangeAspect="1"/>
          </p:cNvPicPr>
          <p:nvPr/>
        </p:nvPicPr>
        <p:blipFill>
          <a:blip r:embed="rId1"/>
          <a:srcRect l="2930"/>
          <a:stretch>
            <a:fillRect/>
          </a:stretch>
        </p:blipFill>
        <p:spPr>
          <a:xfrm>
            <a:off x="3276600" y="2636838"/>
            <a:ext cx="4703763" cy="3744912"/>
          </a:xfrm>
          <a:prstGeom prst="rect">
            <a:avLst/>
          </a:prstGeom>
          <a:noFill/>
          <a:ln w="9525">
            <a:noFill/>
          </a:ln>
        </p:spPr>
      </p:pic>
      <p:sp>
        <p:nvSpPr>
          <p:cNvPr id="4" name="标题 3"/>
          <p:cNvSpPr>
            <a:spLocks noGrp="1"/>
          </p:cNvSpPr>
          <p:nvPr>
            <p:ph type="title"/>
            <p:custDataLst>
              <p:tags r:id="rId2"/>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7" name="Rectangle 3"/>
          <p:cNvSpPr>
            <a:spLocks noGrp="1" noChangeArrowheads="1"/>
          </p:cNvSpPr>
          <p:nvPr>
            <p:ph sz="quarter" idx="1"/>
          </p:nvPr>
        </p:nvSpPr>
        <p:spPr/>
        <p:txBody>
          <a:bodyPr vert="horz" wrap="square" lIns="91440" tIns="45720" rIns="91440" bIns="45720" numCol="1" anchor="t" anchorCtr="0" compatLnSpc="1">
            <a:noAutofit/>
          </a:bodyPr>
          <a:lstStyle/>
          <a:p>
            <a:pPr marL="274320" marR="0" lvl="0" indent="-274320" algn="l" defTabSz="914400" rtl="0" eaLnBrk="1" fontAlgn="auto" latinLnBrk="0" hangingPunct="1">
              <a:lnSpc>
                <a:spcPct val="90000"/>
              </a:lnSpc>
              <a:spcBef>
                <a:spcPts val="600"/>
              </a:spcBef>
              <a:spcAft>
                <a:spcPts val="0"/>
              </a:spcAft>
              <a:buClr>
                <a:schemeClr val="accent1"/>
              </a:buClr>
              <a:buSzPct val="70000"/>
              <a:buFontTx/>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１．</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软件定义</a:t>
            </a:r>
            <a:endParaRPr kumimoji="0" lang="zh-CN" altLang="en-US" sz="2400" b="1" i="0" u="none" strike="noStrike" kern="1200" cap="none" spc="0" normalizeH="0" baseline="0" noProof="0" dirty="0">
              <a:ln>
                <a:noFill/>
              </a:ln>
              <a:solidFill>
                <a:srgbClr val="0070C0"/>
              </a:solidFill>
              <a:effectLst/>
              <a:uLnTx/>
              <a:uFillTx/>
              <a:latin typeface="+mn-lt"/>
              <a:ea typeface="+mn-ea"/>
              <a:cs typeface="+mn-cs"/>
            </a:endParaRPr>
          </a:p>
          <a:p>
            <a:pPr marL="457200" marR="0" lvl="0" indent="-457200" algn="l" defTabSz="914400" rtl="0" eaLnBrk="1" fontAlgn="auto" latinLnBrk="0" hangingPunct="1">
              <a:lnSpc>
                <a:spcPct val="9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可行性研究</a:t>
            </a:r>
            <a:endParaRPr kumimoji="0" lang="en-US" altLang="zh-CN" sz="2400" b="1" i="0" u="none" strike="noStrike" kern="1200" cap="none" spc="0" normalizeH="0" baseline="0" noProof="0" dirty="0">
              <a:ln>
                <a:noFill/>
              </a:ln>
              <a:solidFill>
                <a:srgbClr val="0070C0"/>
              </a:solidFill>
              <a:effectLst/>
              <a:uLnTx/>
              <a:uFillTx/>
              <a:latin typeface="+mn-lt"/>
              <a:ea typeface="+mn-ea"/>
              <a:cs typeface="+mn-cs"/>
            </a:endParaRPr>
          </a:p>
          <a:p>
            <a:pPr marL="457200" marR="0" lvl="0" indent="-457200" algn="l" defTabSz="914400" rtl="0" eaLnBrk="1" fontAlgn="auto" latinLnBrk="0" hangingPunct="1">
              <a:lnSpc>
                <a:spcPct val="9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任务：了解用户的要求及实现环境，从技术、经济和社会等几个方面研究并论证软件系统的可行性。</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296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经济可行性研究。</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296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技术可行性研究。</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296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法律可行性研究。</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296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方案的选择。</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296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27652"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标题 2"/>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457200" marR="0" lvl="0" indent="-457200" algn="l" defTabSz="914400" rtl="0" eaLnBrk="1" fontAlgn="auto" latinLnBrk="0" hangingPunct="1">
              <a:lnSpc>
                <a:spcPct val="90000"/>
              </a:lnSpc>
              <a:spcBef>
                <a:spcPts val="600"/>
              </a:spcBef>
              <a:spcAft>
                <a:spcPts val="0"/>
              </a:spcAft>
              <a:buClr>
                <a:schemeClr val="accent1"/>
              </a:buClr>
              <a:buSzPct val="70000"/>
              <a:buFont typeface="+mj-ea"/>
              <a:buAutoNum type="circleNumDbPlain" startAt="2"/>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需求分析</a:t>
            </a:r>
            <a:endParaRPr kumimoji="0" lang="en-US" altLang="zh-CN" sz="2400" b="1" i="0" u="none" strike="noStrike" kern="1200" cap="none" spc="0" normalizeH="0" baseline="0" noProof="0" dirty="0">
              <a:ln>
                <a:noFill/>
              </a:ln>
              <a:solidFill>
                <a:srgbClr val="0070C0"/>
              </a:solidFill>
              <a:effectLst/>
              <a:uLnTx/>
              <a:uFillTx/>
              <a:latin typeface="+mn-lt"/>
              <a:ea typeface="+mn-ea"/>
              <a:cs typeface="+mn-cs"/>
            </a:endParaRPr>
          </a:p>
          <a:p>
            <a:pPr marL="457200" marR="0" lvl="0" indent="-457200" algn="l" defTabSz="914400" rtl="0" eaLnBrk="1" fontAlgn="auto" latinLnBrk="0" hangingPunct="1">
              <a:lnSpc>
                <a:spcPct val="9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任务：确定所要开发软件的功能需求、性能需求和运行环境约束，编制软件需求规格说明、软件系统的确认测试准则。</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296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需求分析工作包括：</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457200" algn="l" defTabSz="914400" rtl="0" eaLnBrk="1" fontAlgn="auto" latinLnBrk="0" hangingPunct="1">
              <a:lnSpc>
                <a:spcPct val="90000"/>
              </a:lnSpc>
              <a:spcBef>
                <a:spcPct val="20000"/>
              </a:spcBef>
              <a:spcAft>
                <a:spcPts val="0"/>
              </a:spcAft>
              <a:buClr>
                <a:schemeClr val="accent1">
                  <a:shade val="75000"/>
                </a:schemeClr>
              </a:buClr>
              <a:buSzPct val="6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软件功能需求</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457200" algn="l" defTabSz="914400" rtl="0" eaLnBrk="1" fontAlgn="auto" latinLnBrk="0" hangingPunct="1">
              <a:lnSpc>
                <a:spcPct val="90000"/>
              </a:lnSpc>
              <a:spcBef>
                <a:spcPct val="20000"/>
              </a:spcBef>
              <a:spcAft>
                <a:spcPts val="0"/>
              </a:spcAft>
              <a:buClr>
                <a:schemeClr val="accent1">
                  <a:shade val="75000"/>
                </a:schemeClr>
              </a:buClr>
              <a:buSzPct val="6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软件性能需求</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7280" marR="0" lvl="2" indent="-457200" algn="l" defTabSz="914400" rtl="0" eaLnBrk="1" fontAlgn="auto" latinLnBrk="0" hangingPunct="1">
              <a:lnSpc>
                <a:spcPct val="90000"/>
              </a:lnSpc>
              <a:spcBef>
                <a:spcPct val="20000"/>
              </a:spcBef>
              <a:spcAft>
                <a:spcPts val="0"/>
              </a:spcAft>
              <a:buClr>
                <a:schemeClr val="accent1">
                  <a:shade val="75000"/>
                </a:schemeClr>
              </a:buClr>
              <a:buSzPct val="6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软件系统运行环境约束</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296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按需求建模。</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296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软件需求规格说明书（</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Software Requirements Specification</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，简称</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SRS</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）：需求概述、需求建模、数据建模等</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2867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5" name="标题 4"/>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1" name="Rectangle 3"/>
          <p:cNvSpPr>
            <a:spLocks noGrp="1" noChangeArrowheads="1"/>
          </p:cNvSpPr>
          <p:nvPr>
            <p:ph sz="quarter" idx="1"/>
          </p:nvPr>
        </p:nvSpPr>
        <p:spPr/>
        <p:txBody>
          <a:bodyPr vert="horz" wrap="square" lIns="91440" tIns="45720" rIns="91440" bIns="45720" numCol="1" anchor="t" anchorCtr="0" compatLnSpc="1">
            <a:no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Tx/>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２．</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软件开发</a:t>
            </a:r>
            <a:endParaRPr kumimoji="0" lang="en-US" altLang="zh-CN" sz="2400" b="1" i="0" u="none" strike="noStrike" kern="1200" cap="none" spc="0" normalizeH="0" baseline="0" noProof="0" dirty="0">
              <a:ln>
                <a:noFill/>
              </a:ln>
              <a:solidFill>
                <a:srgbClr val="0070C0"/>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按照需求规格说明的要求，由抽象到具体，逐步生成软件的过程。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概要设计</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：也称为总体设计，在这个阶段需要确定软件的总体结构（模块化）。</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建立系统总体结构和各模块之间的关系；</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定义各个功能摸块的接口；</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设计全局数据库或数据结构；</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规定设计约束；</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3" name="标题 2"/>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详细设计</a:t>
            </a:r>
            <a:endParaRPr kumimoji="0" lang="en-US" altLang="zh-CN" sz="2400" b="1" i="0" u="none" strike="noStrike" kern="1200" cap="none" spc="0" normalizeH="0" baseline="0" noProof="0" dirty="0">
              <a:ln>
                <a:noFill/>
              </a:ln>
              <a:solidFill>
                <a:srgbClr val="0070C0"/>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也称为过程设计</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程序设计，在这个阶段需要在总体设计阶段成果的基础上，考虑如何实现定义的软件系统，直到对系统中的每个模块给出足够详细的过程描述。</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在详细设计中，把一个模块的功能逐步分解细化为一系列具体的处理步骤，即确定模块采用的算法和块内数据结构。</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对概要设计进行细化；</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建立文档资料            </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3072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6" name="标题 5"/>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p:cNvSpPr>
          <p:nvPr>
            <p:ph sz="quarter" idx="1"/>
          </p:nvPr>
        </p:nvSpPr>
        <p:spPr/>
        <p:txBody>
          <a:bodyPr vert="horz" wrap="square" lIns="91440" tIns="45720" rIns="91440" bIns="45720" anchor="t" anchorCtr="0"/>
          <a:lstStyle/>
          <a:p>
            <a:pPr marL="457200" indent="-457200" eaLnBrk="1" hangingPunct="1">
              <a:buSzPct val="70000"/>
              <a:buFontTx/>
              <a:buAutoNum type="circleNumDbPlain" startAt="3"/>
            </a:pPr>
            <a:r>
              <a:rPr lang="zh-CN" altLang="en-US" kern="1200" dirty="0">
                <a:solidFill>
                  <a:srgbClr val="0070C0"/>
                </a:solidFill>
                <a:latin typeface="+mn-lt"/>
                <a:ea typeface="宋体" panose="02010600030101010101" pitchFamily="2" charset="-122"/>
                <a:cs typeface="+mn-cs"/>
              </a:rPr>
              <a:t>实现</a:t>
            </a:r>
            <a:endParaRPr lang="en-US" altLang="zh-CN" kern="1200" dirty="0">
              <a:solidFill>
                <a:srgbClr val="0070C0"/>
              </a:solidFill>
              <a:latin typeface="+mn-lt"/>
              <a:ea typeface="宋体" panose="02010600030101010101" pitchFamily="2" charset="-122"/>
              <a:cs typeface="+mn-cs"/>
            </a:endParaRPr>
          </a:p>
          <a:p>
            <a:pPr marL="457200" indent="-457200" eaLnBrk="1" hangingPunct="1">
              <a:buSzPct val="70000"/>
            </a:pPr>
            <a:r>
              <a:rPr lang="zh-CN" altLang="en-US" kern="1200" dirty="0">
                <a:latin typeface="+mn-lt"/>
                <a:ea typeface="宋体" panose="02010600030101010101" pitchFamily="2" charset="-122"/>
                <a:cs typeface="+mn-cs"/>
              </a:rPr>
              <a:t>软件实现阶段即编码阶段：把模块的过程性描述翻译成用选定的程序设计语言书写的源程序。</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选择合适的编程语言编写程序；</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制定测试案例；</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保存文档资料。</a:t>
            </a:r>
            <a:endParaRPr lang="en-US" altLang="zh-CN" kern="1200" dirty="0">
              <a:latin typeface="+mn-lt"/>
              <a:ea typeface="宋体" panose="02010600030101010101" pitchFamily="2" charset="-122"/>
              <a:cs typeface="+mn-cs"/>
            </a:endParaRPr>
          </a:p>
        </p:txBody>
      </p:sp>
      <p:sp>
        <p:nvSpPr>
          <p:cNvPr id="31748"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标题 3"/>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内容占位符 2"/>
          <p:cNvSpPr>
            <a:spLocks noGrp="1"/>
          </p:cNvSpPr>
          <p:nvPr>
            <p:ph sz="quarter" idx="1"/>
          </p:nvPr>
        </p:nvSpPr>
        <p:spPr>
          <a:xfrm>
            <a:off x="457200" y="1600200"/>
            <a:ext cx="7643813" cy="4873625"/>
          </a:xfrm>
        </p:spPr>
        <p:txBody>
          <a:bodyPr vert="horz" wrap="square" lIns="91440" tIns="45720" rIns="91440" bIns="45720" numCol="1" anchor="t" anchorCtr="0" compatLnSpc="1">
            <a:normAutofit/>
          </a:bodyPr>
          <a:lstStyle/>
          <a:p>
            <a:pPr marL="457200" marR="0" lvl="0" indent="-457200" algn="l" defTabSz="914400" rtl="0" eaLnBrk="1" fontAlgn="base" latinLnBrk="0" hangingPunct="1">
              <a:lnSpc>
                <a:spcPct val="100000"/>
              </a:lnSpc>
              <a:spcBef>
                <a:spcPts val="600"/>
              </a:spcBef>
              <a:spcAft>
                <a:spcPct val="0"/>
              </a:spcAft>
              <a:buClr>
                <a:schemeClr val="accent1"/>
              </a:buClr>
              <a:buSzPct val="70000"/>
              <a:buFontTx/>
              <a:buAutoNum type="circleNumDbPlain" startAt="4"/>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测试</a:t>
            </a:r>
            <a:endParaRPr kumimoji="0" lang="zh-CN" altLang="en-US" sz="2400" b="1" i="0" u="none" strike="noStrike" kern="1200" cap="none" spc="0" normalizeH="0" baseline="0" noProof="0" dirty="0">
              <a:ln>
                <a:noFill/>
              </a:ln>
              <a:solidFill>
                <a:srgbClr val="0070C0"/>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单元测试</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：对软件设计的最小单元“模块”进行正确性检验的测试工作。</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集成测试</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 ：也称为组装测试。按设计要求把通过单元测试的各个模块组装在一起之后所进行的测试。</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系统测试</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：将已经集成好的软件系统置于实际运行环境中所进行的测试。</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验收测试</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：又称确认测试。是软件开发结束后，用户对软件产品投入实际应用前，进行的最后一次质量检验活动。它要回答开发的软件产品是否符合预期的各项要求，以及用户能否接受的问题。</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3277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5" name="标题 4"/>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3</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软件使用、维护和更新换代</a:t>
            </a:r>
            <a:endParaRPr kumimoji="0" lang="zh-CN" altLang="en-US" sz="2400" b="1" i="0" u="none" strike="noStrike" kern="1200" cap="none" spc="0" normalizeH="0" baseline="0" noProof="0" dirty="0">
              <a:ln>
                <a:noFill/>
              </a:ln>
              <a:solidFill>
                <a:srgbClr val="0070C0"/>
              </a:solidFill>
              <a:effectLst/>
              <a:uLnTx/>
              <a:uFillTx/>
              <a:latin typeface="+mn-lt"/>
              <a:ea typeface="+mn-ea"/>
              <a:cs typeface="+mn-cs"/>
            </a:endParaRPr>
          </a:p>
          <a:p>
            <a:pPr marL="457200" marR="0" lvl="1"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软件使用</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：是在软件通过测试后，将软件安装在用户确定的运行环境中移交给用户使用。</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软件维护</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：对软件系统进行修改或对软件需求变化做出反应的过程。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软件更新换代</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：终止对软件系统的支持，停止软件的使用（退役）。</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3379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5" name="标题 4"/>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2"/>
          <p:cNvSpPr>
            <a:spLocks noGrp="1"/>
          </p:cNvSpPr>
          <p:nvPr>
            <p:ph sz="quarter" idx="1"/>
          </p:nvPr>
        </p:nvSpPr>
        <p:spPr>
          <a:xfrm>
            <a:off x="571500" y="1643063"/>
            <a:ext cx="7240588" cy="4830762"/>
          </a:xfrm>
        </p:spPr>
        <p:txBody>
          <a:bodyPr vert="horz" wrap="square" lIns="91440" tIns="45720" rIns="91440" bIns="45720" anchor="t" anchorCtr="0"/>
          <a:lstStyle/>
          <a:p>
            <a:pPr eaLnBrk="1" hangingPunct="1">
              <a:buSzPct val="70000"/>
              <a:buFont typeface="Wingdings" panose="05000000000000000000" pitchFamily="2" charset="2"/>
              <a:buNone/>
            </a:pPr>
            <a:r>
              <a:rPr lang="zh-CN" altLang="en-US" kern="1200" dirty="0">
                <a:solidFill>
                  <a:srgbClr val="0070C0"/>
                </a:solidFill>
                <a:latin typeface="+mn-lt"/>
                <a:ea typeface="宋体" panose="02010600030101010101" pitchFamily="2" charset="-122"/>
                <a:cs typeface="+mn-cs"/>
              </a:rPr>
              <a:t>瀑布模型</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waterfall model</a:t>
            </a:r>
            <a:r>
              <a:rPr lang="zh-CN" altLang="en-US" kern="1200" dirty="0">
                <a:latin typeface="+mn-lt"/>
                <a:ea typeface="宋体" panose="02010600030101010101" pitchFamily="2" charset="-122"/>
                <a:cs typeface="+mn-cs"/>
              </a:rPr>
              <a:t>），又称线性顺序模型，</a:t>
            </a:r>
            <a:r>
              <a:rPr lang="en-US" altLang="zh-CN" kern="1200" dirty="0">
                <a:latin typeface="+mn-lt"/>
                <a:ea typeface="宋体" panose="02010600030101010101" pitchFamily="2" charset="-122"/>
                <a:cs typeface="+mn-cs"/>
              </a:rPr>
              <a:t>Royce[Royce</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1970]</a:t>
            </a:r>
            <a:endParaRPr lang="en-US" altLang="zh-CN" kern="1200" dirty="0">
              <a:solidFill>
                <a:srgbClr val="0070C0"/>
              </a:solidFill>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瀑布过程模型反映了人们早期对软件工程的认识水平，是人们所熟悉的一种线性思维的体现，也是软件工程的最早范例。</a:t>
            </a: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瀑布模型强调阶段的划分及其顺序性、各阶段工作及其文档的完备性，是一种严格线性的、按阶段顺序的、逐步细化的开发模式。</a:t>
            </a:r>
            <a:endParaRPr lang="en-US" altLang="zh-CN" kern="1200" dirty="0">
              <a:latin typeface="+mn-lt"/>
              <a:ea typeface="宋体" panose="02010600030101010101" pitchFamily="2" charset="-122"/>
              <a:cs typeface="+mn-cs"/>
            </a:endParaRPr>
          </a:p>
        </p:txBody>
      </p:sp>
      <p:sp>
        <p:nvSpPr>
          <p:cNvPr id="35844" name="Rectangle 2"/>
          <p:cNvSpPr/>
          <p:nvPr/>
        </p:nvSpPr>
        <p:spPr>
          <a:xfrm>
            <a:off x="0" y="0"/>
            <a:ext cx="9144000" cy="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5" name="标题 4"/>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软件生存周期模型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6867" name="内容占位符 2"/>
          <p:cNvSpPr>
            <a:spLocks noGrp="1"/>
          </p:cNvSpPr>
          <p:nvPr>
            <p:ph sz="quarter" idx="1"/>
          </p:nvPr>
        </p:nvSpPr>
        <p:spPr>
          <a:xfrm>
            <a:off x="457200" y="1600200"/>
            <a:ext cx="7472363" cy="4873625"/>
          </a:xfrm>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基本思想：瀑布式软件生存期模型把软件开发过程划分成若干阶段，</a:t>
            </a:r>
            <a:r>
              <a:rPr lang="zh-CN" altLang="en-US" kern="1200" dirty="0">
                <a:solidFill>
                  <a:srgbClr val="FF0000"/>
                </a:solidFill>
                <a:latin typeface="+mn-lt"/>
                <a:ea typeface="宋体" panose="02010600030101010101" pitchFamily="2" charset="-122"/>
                <a:cs typeface="+mn-cs"/>
              </a:rPr>
              <a:t>每个阶段的任务相对独立</a:t>
            </a:r>
            <a:r>
              <a:rPr lang="zh-CN" altLang="en-US" kern="1200" dirty="0">
                <a:latin typeface="+mn-lt"/>
                <a:ea typeface="宋体" panose="02010600030101010101" pitchFamily="2" charset="-122"/>
                <a:cs typeface="+mn-cs"/>
              </a:rPr>
              <a:t>，便于不同人员分工协作，从而降低了整个软件开发工程的困难程度。</a:t>
            </a: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规定了各项软件工程活动，包括制定开发计划、进行需求分析、软件设计、程序编码、测试及运行维护。并且规定了它们</a:t>
            </a:r>
            <a:r>
              <a:rPr lang="zh-CN" altLang="en-US" kern="1200" dirty="0">
                <a:solidFill>
                  <a:srgbClr val="FF0000"/>
                </a:solidFill>
                <a:latin typeface="+mn-lt"/>
                <a:ea typeface="宋体" panose="02010600030101010101" pitchFamily="2" charset="-122"/>
                <a:cs typeface="+mn-cs"/>
              </a:rPr>
              <a:t>自上而下、相互衔接</a:t>
            </a:r>
            <a:r>
              <a:rPr lang="zh-CN" altLang="en-US" kern="1200" dirty="0">
                <a:latin typeface="+mn-lt"/>
                <a:ea typeface="宋体" panose="02010600030101010101" pitchFamily="2" charset="-122"/>
                <a:cs typeface="+mn-cs"/>
              </a:rPr>
              <a:t>的固定次序。</a:t>
            </a: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每个阶段结束之前，都从技术和管理两个角度进行严格的审查，经确认之后才开始下一阶段的工作。</a:t>
            </a:r>
            <a:endParaRPr lang="en-US" altLang="zh-CN"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2"/>
          <p:cNvSpPr>
            <a:spLocks noGrp="1"/>
          </p:cNvSpPr>
          <p:nvPr>
            <p:ph sz="quarter" idx="1"/>
          </p:nvPr>
        </p:nvSpPr>
        <p:spPr>
          <a:xfrm>
            <a:off x="571500" y="1643063"/>
            <a:ext cx="7240588" cy="4830762"/>
          </a:xfrm>
        </p:spPr>
        <p:txBody>
          <a:bodyPr vert="horz" wrap="square" lIns="91440" tIns="45720" rIns="91440" bIns="45720" anchor="t" anchorCtr="0"/>
          <a:lstStyle/>
          <a:p>
            <a:pPr eaLnBrk="1" hangingPunct="1">
              <a:buSzPct val="70000"/>
              <a:buFont typeface="Wingdings" panose="05000000000000000000" pitchFamily="2" charset="2"/>
              <a:buNone/>
            </a:pPr>
            <a:r>
              <a:rPr lang="zh-CN" altLang="en-US" kern="1200" dirty="0">
                <a:solidFill>
                  <a:srgbClr val="0070C0"/>
                </a:solidFill>
                <a:latin typeface="+mn-lt"/>
                <a:ea typeface="宋体" panose="02010600030101010101" pitchFamily="2" charset="-122"/>
                <a:cs typeface="+mn-cs"/>
              </a:rPr>
              <a:t>增量模型</a:t>
            </a:r>
            <a:r>
              <a:rPr lang="zh-CN" altLang="en-US" kern="1200" dirty="0">
                <a:latin typeface="+mn-lt"/>
                <a:ea typeface="宋体" panose="02010600030101010101" pitchFamily="2" charset="-122"/>
                <a:cs typeface="+mn-cs"/>
              </a:rPr>
              <a:t>，一种演化模型，</a:t>
            </a:r>
            <a:r>
              <a:rPr kern="1200" dirty="0">
                <a:latin typeface="+mn-lt"/>
                <a:ea typeface="宋体" panose="02010600030101010101" pitchFamily="2" charset="-122"/>
                <a:cs typeface="+mn-cs"/>
              </a:rPr>
              <a:t>又称为渐增模型，也称为有计划的产品改进模型</a:t>
            </a:r>
            <a:r>
              <a:rPr lang="zh-CN" kern="1200" dirty="0">
                <a:latin typeface="+mn-lt"/>
                <a:ea typeface="宋体" panose="02010600030101010101" pitchFamily="2" charset="-122"/>
                <a:cs typeface="+mn-cs"/>
              </a:rPr>
              <a:t>。</a:t>
            </a:r>
            <a:endParaRPr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它从一组给定的需求开始，通过构造一系列可执行中间版本来实施开发活动。第一个版本纳入一部分需求，下一个版本纳入更多的需求，依此类推，直到系统完成。每个中间版本都要执行必需的过程、活动和任务。</a:t>
            </a:r>
            <a:endParaRPr lang="zh-CN" altLang="en-US"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它与原型实现模型和其他演化方法一样，本质是迭代的。但不同的是，他强调每一个增量都发布一个</a:t>
            </a:r>
            <a:r>
              <a:rPr lang="zh-CN" altLang="en-US" kern="1200" dirty="0">
                <a:latin typeface="+mn-lt"/>
                <a:ea typeface="宋体" panose="02010600030101010101" pitchFamily="2" charset="-122"/>
                <a:cs typeface="+mn-cs"/>
              </a:rPr>
              <a:t>可操作的产品。</a:t>
            </a:r>
            <a:endParaRPr lang="zh-CN" altLang="en-US" kern="1200" dirty="0">
              <a:latin typeface="+mn-lt"/>
              <a:ea typeface="宋体" panose="02010600030101010101" pitchFamily="2" charset="-122"/>
              <a:cs typeface="+mn-cs"/>
            </a:endParaRPr>
          </a:p>
        </p:txBody>
      </p:sp>
      <p:sp>
        <p:nvSpPr>
          <p:cNvPr id="35844" name="Rectangle 2"/>
          <p:cNvSpPr/>
          <p:nvPr/>
        </p:nvSpPr>
        <p:spPr>
          <a:xfrm>
            <a:off x="0" y="0"/>
            <a:ext cx="9144000" cy="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5" name="标题 4"/>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2"/>
          <p:cNvSpPr>
            <a:spLocks noGrp="1"/>
          </p:cNvSpPr>
          <p:nvPr>
            <p:ph sz="quarter" idx="1"/>
          </p:nvPr>
        </p:nvSpPr>
        <p:spPr>
          <a:xfrm>
            <a:off x="571500" y="1643063"/>
            <a:ext cx="7240588" cy="4830762"/>
          </a:xfrm>
        </p:spPr>
        <p:txBody>
          <a:bodyPr vert="horz" wrap="square" lIns="91440" tIns="45720" rIns="91440" bIns="45720" anchor="t" anchorCtr="0"/>
          <a:lstStyle/>
          <a:p>
            <a:pPr algn="just" eaLnBrk="1" hangingPunct="1">
              <a:buSzPct val="70000"/>
              <a:buFont typeface="Wingdings" panose="05000000000000000000" pitchFamily="2" charset="2"/>
              <a:buNone/>
            </a:pPr>
            <a:r>
              <a:rPr kern="1200" dirty="0">
                <a:latin typeface="宋体" panose="02010600030101010101" pitchFamily="2" charset="-122"/>
                <a:ea typeface="宋体" panose="02010600030101010101" pitchFamily="2" charset="-122"/>
                <a:cs typeface="宋体" panose="02010600030101010101" pitchFamily="2" charset="-122"/>
              </a:rPr>
              <a:t>增量模型的最大特点就是将待开发的软件系统模块化和组件化。基于这个特点，增量模型具有以下优点。</a:t>
            </a:r>
            <a:endParaRPr kern="1200" dirty="0">
              <a:latin typeface="宋体" panose="02010600030101010101" pitchFamily="2" charset="-122"/>
              <a:ea typeface="宋体" panose="02010600030101010101" pitchFamily="2" charset="-122"/>
              <a:cs typeface="宋体" panose="02010600030101010101" pitchFamily="2" charset="-122"/>
            </a:endParaRPr>
          </a:p>
          <a:p>
            <a:pPr algn="just" eaLnBrk="1" hangingPunct="1">
              <a:buSzPct val="70000"/>
              <a:buFont typeface="Wingdings" panose="05000000000000000000" pitchFamily="2" charset="2"/>
              <a:buNone/>
            </a:pPr>
            <a:r>
              <a:rPr kern="1200" dirty="0">
                <a:latin typeface="宋体" panose="02010600030101010101" pitchFamily="2" charset="-122"/>
                <a:ea typeface="宋体" panose="02010600030101010101" pitchFamily="2" charset="-122"/>
                <a:cs typeface="宋体" panose="02010600030101010101" pitchFamily="2" charset="-122"/>
              </a:rPr>
              <a:t>1、将待开发的软件系统模块化，可以分批次地提交软件产品，使用户可以及时了解软件项目的进展。</a:t>
            </a:r>
            <a:endParaRPr kern="1200" dirty="0">
              <a:latin typeface="宋体" panose="02010600030101010101" pitchFamily="2" charset="-122"/>
              <a:ea typeface="宋体" panose="02010600030101010101" pitchFamily="2" charset="-122"/>
              <a:cs typeface="宋体" panose="02010600030101010101" pitchFamily="2" charset="-122"/>
            </a:endParaRPr>
          </a:p>
          <a:p>
            <a:pPr algn="just" eaLnBrk="1" hangingPunct="1">
              <a:buSzPct val="70000"/>
              <a:buFont typeface="Wingdings" panose="05000000000000000000" pitchFamily="2" charset="2"/>
              <a:buNone/>
            </a:pPr>
            <a:r>
              <a:rPr kern="1200" dirty="0">
                <a:latin typeface="宋体" panose="02010600030101010101" pitchFamily="2" charset="-122"/>
                <a:ea typeface="宋体" panose="02010600030101010101" pitchFamily="2" charset="-122"/>
                <a:cs typeface="宋体" panose="02010600030101010101" pitchFamily="2" charset="-122"/>
              </a:rPr>
              <a:t>2、以组件为单位进行开发降低了软件开发的风险。一个开发周期内的错误不会影响到整个软件系统。</a:t>
            </a:r>
            <a:endParaRPr kern="1200" dirty="0">
              <a:latin typeface="宋体" panose="02010600030101010101" pitchFamily="2" charset="-122"/>
              <a:ea typeface="宋体" panose="02010600030101010101" pitchFamily="2" charset="-122"/>
              <a:cs typeface="宋体" panose="02010600030101010101" pitchFamily="2" charset="-122"/>
            </a:endParaRPr>
          </a:p>
          <a:p>
            <a:pPr algn="just" eaLnBrk="1" hangingPunct="1">
              <a:buSzPct val="70000"/>
              <a:buFont typeface="Wingdings" panose="05000000000000000000" pitchFamily="2" charset="2"/>
              <a:buNone/>
            </a:pPr>
            <a:r>
              <a:rPr kern="1200" dirty="0">
                <a:latin typeface="宋体" panose="02010600030101010101" pitchFamily="2" charset="-122"/>
                <a:ea typeface="宋体" panose="02010600030101010101" pitchFamily="2" charset="-122"/>
                <a:cs typeface="宋体" panose="02010600030101010101" pitchFamily="2" charset="-122"/>
              </a:rPr>
              <a:t>3、开发顺序灵活。开发人员可以对组件的实现顺序进行优先级排序，先完成需求稳定的核心组件。当组件的优先级发生变化时，还能及时地对实现顺序进行调整。</a:t>
            </a:r>
            <a:endParaRPr kern="1200" dirty="0">
              <a:latin typeface="宋体" panose="02010600030101010101" pitchFamily="2" charset="-122"/>
              <a:ea typeface="宋体" panose="02010600030101010101" pitchFamily="2" charset="-122"/>
              <a:cs typeface="宋体" panose="02010600030101010101" pitchFamily="2" charset="-122"/>
            </a:endParaRPr>
          </a:p>
          <a:p>
            <a:pPr algn="just" eaLnBrk="1" hangingPunct="1">
              <a:buSzPct val="70000"/>
              <a:buFont typeface="Wingdings" panose="05000000000000000000" pitchFamily="2" charset="2"/>
              <a:buNone/>
            </a:pPr>
            <a:endParaRPr kern="1200" dirty="0">
              <a:latin typeface="宋体" panose="02010600030101010101" pitchFamily="2" charset="-122"/>
              <a:ea typeface="宋体" panose="02010600030101010101" pitchFamily="2" charset="-122"/>
              <a:cs typeface="宋体" panose="02010600030101010101" pitchFamily="2" charset="-122"/>
            </a:endParaRPr>
          </a:p>
        </p:txBody>
      </p:sp>
      <p:sp>
        <p:nvSpPr>
          <p:cNvPr id="35844" name="Rectangle 2"/>
          <p:cNvSpPr/>
          <p:nvPr/>
        </p:nvSpPr>
        <p:spPr>
          <a:xfrm>
            <a:off x="0" y="0"/>
            <a:ext cx="9144000" cy="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5" name="标题 4"/>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2"/>
          <p:cNvSpPr>
            <a:spLocks noGrp="1"/>
          </p:cNvSpPr>
          <p:nvPr>
            <p:ph sz="quarter" idx="1"/>
          </p:nvPr>
        </p:nvSpPr>
        <p:spPr>
          <a:xfrm>
            <a:off x="571500" y="1643063"/>
            <a:ext cx="7240588" cy="4830762"/>
          </a:xfrm>
        </p:spPr>
        <p:txBody>
          <a:bodyPr vert="horz" wrap="square" lIns="91440" tIns="45720" rIns="91440" bIns="45720" anchor="t" anchorCtr="0"/>
          <a:lstStyle/>
          <a:p>
            <a:pPr algn="just" eaLnBrk="1" hangingPunct="1">
              <a:buSzPct val="70000"/>
              <a:buFont typeface="Wingdings" panose="05000000000000000000" pitchFamily="2" charset="2"/>
              <a:buNone/>
            </a:pPr>
            <a:r>
              <a:rPr dirty="0">
                <a:latin typeface="宋体" panose="02010600030101010101" pitchFamily="2" charset="-122"/>
                <a:ea typeface="宋体" panose="02010600030101010101" pitchFamily="2" charset="-122"/>
                <a:cs typeface="宋体" panose="02010600030101010101" pitchFamily="2" charset="-122"/>
                <a:sym typeface="+mn-ea"/>
              </a:rPr>
              <a:t>增量模型的缺点是要求待开发的软件系统可以被模块化。如果待开发的软件系统很难被模块化，那么将会给增量开发带来很多麻烦。</a:t>
            </a:r>
            <a:endParaRPr dirty="0">
              <a:latin typeface="宋体" panose="02010600030101010101" pitchFamily="2" charset="-122"/>
              <a:ea typeface="宋体" panose="02010600030101010101" pitchFamily="2" charset="-122"/>
              <a:cs typeface="宋体" panose="02010600030101010101" pitchFamily="2" charset="-122"/>
              <a:sym typeface="+mn-ea"/>
            </a:endParaRPr>
          </a:p>
          <a:p>
            <a:pPr algn="just" eaLnBrk="1" hangingPunct="1">
              <a:buSzPct val="70000"/>
              <a:buFont typeface="Wingdings" panose="05000000000000000000" pitchFamily="2" charset="2"/>
              <a:buNone/>
            </a:pPr>
            <a:endParaRPr kern="1200" dirty="0">
              <a:latin typeface="宋体" panose="02010600030101010101" pitchFamily="2" charset="-122"/>
              <a:ea typeface="宋体" panose="02010600030101010101" pitchFamily="2" charset="-122"/>
              <a:cs typeface="宋体" panose="02010600030101010101" pitchFamily="2" charset="-122"/>
            </a:endParaRPr>
          </a:p>
          <a:p>
            <a:pPr algn="just" eaLnBrk="1" hangingPunct="1">
              <a:buSzPct val="70000"/>
              <a:buFont typeface="Wingdings" panose="05000000000000000000" pitchFamily="2" charset="2"/>
              <a:buNone/>
            </a:pPr>
            <a:r>
              <a:rPr dirty="0">
                <a:latin typeface="宋体" panose="02010600030101010101" pitchFamily="2" charset="-122"/>
                <a:ea typeface="宋体" panose="02010600030101010101" pitchFamily="2" charset="-122"/>
                <a:cs typeface="宋体" panose="02010600030101010101" pitchFamily="2" charset="-122"/>
                <a:sym typeface="+mn-ea"/>
              </a:rPr>
              <a:t>增量模型适用于具有以下特征的软件开发项目：</a:t>
            </a:r>
            <a:endParaRPr kern="1200" dirty="0">
              <a:latin typeface="宋体" panose="02010600030101010101" pitchFamily="2" charset="-122"/>
              <a:ea typeface="宋体" panose="02010600030101010101" pitchFamily="2" charset="-122"/>
              <a:cs typeface="宋体" panose="02010600030101010101" pitchFamily="2" charset="-122"/>
            </a:endParaRPr>
          </a:p>
          <a:p>
            <a:pPr algn="just" eaLnBrk="1" hangingPunct="1">
              <a:buSzPct val="70000"/>
              <a:buFont typeface="Wingdings" panose="05000000000000000000" pitchFamily="2" charset="2"/>
              <a:buNone/>
            </a:pPr>
            <a:r>
              <a:rPr dirty="0">
                <a:latin typeface="宋体" panose="02010600030101010101" pitchFamily="2" charset="-122"/>
                <a:ea typeface="宋体" panose="02010600030101010101" pitchFamily="2" charset="-122"/>
                <a:cs typeface="宋体" panose="02010600030101010101" pitchFamily="2" charset="-122"/>
                <a:sym typeface="+mn-ea"/>
              </a:rPr>
              <a:t>1、软件产品可以分批次地进行交付。</a:t>
            </a:r>
            <a:endParaRPr kern="1200" dirty="0">
              <a:latin typeface="宋体" panose="02010600030101010101" pitchFamily="2" charset="-122"/>
              <a:ea typeface="宋体" panose="02010600030101010101" pitchFamily="2" charset="-122"/>
              <a:cs typeface="宋体" panose="02010600030101010101" pitchFamily="2" charset="-122"/>
            </a:endParaRPr>
          </a:p>
          <a:p>
            <a:pPr algn="just" eaLnBrk="1" hangingPunct="1">
              <a:buSzPct val="70000"/>
              <a:buFont typeface="Wingdings" panose="05000000000000000000" pitchFamily="2" charset="2"/>
              <a:buNone/>
            </a:pPr>
            <a:r>
              <a:rPr dirty="0">
                <a:latin typeface="宋体" panose="02010600030101010101" pitchFamily="2" charset="-122"/>
                <a:ea typeface="宋体" panose="02010600030101010101" pitchFamily="2" charset="-122"/>
                <a:cs typeface="宋体" panose="02010600030101010101" pitchFamily="2" charset="-122"/>
                <a:sym typeface="+mn-ea"/>
              </a:rPr>
              <a:t>2、待开发的软件系统能够被模块化。</a:t>
            </a:r>
            <a:endParaRPr kern="1200" dirty="0">
              <a:latin typeface="宋体" panose="02010600030101010101" pitchFamily="2" charset="-122"/>
              <a:ea typeface="宋体" panose="02010600030101010101" pitchFamily="2" charset="-122"/>
              <a:cs typeface="宋体" panose="02010600030101010101" pitchFamily="2" charset="-122"/>
            </a:endParaRPr>
          </a:p>
          <a:p>
            <a:pPr algn="just" eaLnBrk="1" hangingPunct="1">
              <a:buSzPct val="70000"/>
              <a:buFont typeface="Wingdings" panose="05000000000000000000" pitchFamily="2" charset="2"/>
              <a:buNone/>
            </a:pPr>
            <a:r>
              <a:rPr dirty="0">
                <a:latin typeface="宋体" panose="02010600030101010101" pitchFamily="2" charset="-122"/>
                <a:ea typeface="宋体" panose="02010600030101010101" pitchFamily="2" charset="-122"/>
                <a:cs typeface="宋体" panose="02010600030101010101" pitchFamily="2" charset="-122"/>
                <a:sym typeface="+mn-ea"/>
              </a:rPr>
              <a:t>3、软件开发人员对应用领域不熟悉，难以一次性地进行系统开发。</a:t>
            </a:r>
            <a:endParaRPr kern="1200" dirty="0">
              <a:latin typeface="宋体" panose="02010600030101010101" pitchFamily="2" charset="-122"/>
              <a:ea typeface="宋体" panose="02010600030101010101" pitchFamily="2" charset="-122"/>
              <a:cs typeface="宋体" panose="02010600030101010101" pitchFamily="2" charset="-122"/>
            </a:endParaRPr>
          </a:p>
          <a:p>
            <a:pPr algn="just" eaLnBrk="1" hangingPunct="1">
              <a:buSzPct val="70000"/>
              <a:buFont typeface="Wingdings" panose="05000000000000000000" pitchFamily="2" charset="2"/>
              <a:buNone/>
            </a:pPr>
            <a:r>
              <a:rPr dirty="0">
                <a:latin typeface="宋体" panose="02010600030101010101" pitchFamily="2" charset="-122"/>
                <a:ea typeface="宋体" panose="02010600030101010101" pitchFamily="2" charset="-122"/>
                <a:cs typeface="宋体" panose="02010600030101010101" pitchFamily="2" charset="-122"/>
                <a:sym typeface="+mn-ea"/>
              </a:rPr>
              <a:t>4、项目管理人员把握全局的水平较高。</a:t>
            </a:r>
            <a:endParaRPr kern="1200" dirty="0">
              <a:latin typeface="宋体" panose="02010600030101010101" pitchFamily="2" charset="-122"/>
              <a:ea typeface="宋体" panose="02010600030101010101" pitchFamily="2" charset="-122"/>
              <a:cs typeface="宋体" panose="02010600030101010101" pitchFamily="2" charset="-122"/>
            </a:endParaRPr>
          </a:p>
          <a:p>
            <a:pPr algn="just" eaLnBrk="1" hangingPunct="1">
              <a:buSzPct val="70000"/>
              <a:buFont typeface="Wingdings" panose="05000000000000000000" pitchFamily="2" charset="2"/>
              <a:buNone/>
            </a:pPr>
            <a:endParaRPr kern="1200" dirty="0">
              <a:latin typeface="宋体" panose="02010600030101010101" pitchFamily="2" charset="-122"/>
              <a:ea typeface="宋体" panose="02010600030101010101" pitchFamily="2" charset="-122"/>
              <a:cs typeface="宋体" panose="02010600030101010101" pitchFamily="2" charset="-122"/>
            </a:endParaRPr>
          </a:p>
        </p:txBody>
      </p:sp>
      <p:sp>
        <p:nvSpPr>
          <p:cNvPr id="35844" name="Rectangle 2"/>
          <p:cNvSpPr/>
          <p:nvPr/>
        </p:nvSpPr>
        <p:spPr>
          <a:xfrm>
            <a:off x="0" y="0"/>
            <a:ext cx="9144000" cy="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5" name="标题 4"/>
          <p:cNvSpPr>
            <a:spLocks noGrp="1"/>
          </p:cNvSpPr>
          <p:nvPr>
            <p:ph type="title"/>
            <p:custDataLst>
              <p:tags r:id="rId1"/>
            </p:custDataLst>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软件开发过程模型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软件生存周期模型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8915" name="内容占位符 2"/>
          <p:cNvSpPr>
            <a:spLocks noGrp="1"/>
          </p:cNvSpPr>
          <p:nvPr>
            <p:ph sz="quarter" idx="1"/>
          </p:nvPr>
        </p:nvSpPr>
        <p:spPr>
          <a:xfrm>
            <a:off x="642938" y="1643063"/>
            <a:ext cx="7500937" cy="4830762"/>
          </a:xfrm>
        </p:spPr>
        <p:txBody>
          <a:bodyPr vert="horz" wrap="square" lIns="91440" tIns="45720" rIns="91440" bIns="45720" anchor="t" anchorCtr="0"/>
          <a:lstStyle/>
          <a:p>
            <a:pPr eaLnBrk="1" hangingPunct="1">
              <a:buSzPct val="70000"/>
              <a:buFont typeface="Wingdings" panose="05000000000000000000" pitchFamily="2" charset="2"/>
              <a:buNone/>
            </a:pPr>
            <a:r>
              <a:rPr lang="zh-CN" altLang="en-US" kern="1200" dirty="0">
                <a:solidFill>
                  <a:srgbClr val="0070C0"/>
                </a:solidFill>
                <a:latin typeface="+mn-lt"/>
                <a:ea typeface="宋体" panose="02010600030101010101" pitchFamily="2" charset="-122"/>
                <a:cs typeface="+mn-cs"/>
              </a:rPr>
              <a:t>螺旋模型</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spiral model</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 [Boehm</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1988] </a:t>
            </a:r>
            <a:endParaRPr lang="en-US" altLang="zh-CN" kern="1200" dirty="0">
              <a:solidFill>
                <a:srgbClr val="0070C0"/>
              </a:solidFill>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将瀑布模型与演化模型结合起来，并且添加两种模型均忽略的风险分析，</a:t>
            </a:r>
            <a:r>
              <a:rPr lang="en-US" altLang="zh-CN" kern="1200" dirty="0">
                <a:latin typeface="+mn-lt"/>
                <a:ea typeface="宋体" panose="02010600030101010101" pitchFamily="2" charset="-122"/>
                <a:cs typeface="+mn-cs"/>
              </a:rPr>
              <a:t>以确保项目的成功和减少风险</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螺旋模型产生的主要原因：规避风险、及时反馈、避免一次大量集成代码。       </a:t>
            </a:r>
            <a:endParaRPr lang="en-US" altLang="zh-CN" kern="1200" dirty="0">
              <a:latin typeface="+mn-lt"/>
              <a:ea typeface="宋体" panose="02010600030101010101" pitchFamily="2"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软件生存周期模型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9939"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基本思路：</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在瀑布模型的每一个开发阶段前引入一个非常严格的风险识别、风险分析和风险控制，把软件项目分解成一个个小项目。每个小项目都标识一个或多个主要风险，直到所有的主要风险因素都被确定。</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螺旋模型沿着螺线旋转，在笛卡儿坐标的</a:t>
            </a:r>
            <a:r>
              <a:rPr lang="en-US" altLang="zh-CN" kern="1200" dirty="0">
                <a:latin typeface="+mn-lt"/>
                <a:ea typeface="宋体" panose="02010600030101010101" pitchFamily="2" charset="-122"/>
                <a:cs typeface="+mn-cs"/>
              </a:rPr>
              <a:t>4</a:t>
            </a:r>
            <a:r>
              <a:rPr lang="zh-CN" altLang="en-US" kern="1200" dirty="0">
                <a:latin typeface="+mn-lt"/>
                <a:ea typeface="宋体" panose="02010600030101010101" pitchFamily="2" charset="-122"/>
                <a:cs typeface="+mn-cs"/>
              </a:rPr>
              <a:t>个象限上分别表达了</a:t>
            </a:r>
            <a:r>
              <a:rPr lang="en-US" altLang="zh-CN" kern="1200" dirty="0">
                <a:latin typeface="+mn-lt"/>
                <a:ea typeface="宋体" panose="02010600030101010101" pitchFamily="2" charset="-122"/>
                <a:cs typeface="+mn-cs"/>
              </a:rPr>
              <a:t>4</a:t>
            </a:r>
            <a:r>
              <a:rPr lang="zh-CN" altLang="en-US" kern="1200" dirty="0">
                <a:latin typeface="+mn-lt"/>
                <a:ea typeface="宋体" panose="02010600030101010101" pitchFamily="2" charset="-122"/>
                <a:cs typeface="+mn-cs"/>
              </a:rPr>
              <a:t>个方面的活动。沿螺旋线自内向外每旋转一圈，便开发出一个更为完善的、新的软件版本。依据前一个版本的结果构造新的版本，这个不断重复迭代的过程形成了一个螺旋上升的路径。</a:t>
            </a:r>
            <a:endParaRPr lang="en-US" altLang="zh-CN" kern="1200" dirty="0">
              <a:latin typeface="+mn-lt"/>
              <a:ea typeface="宋体" panose="02010600030101010101" pitchFamily="2"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软件生存周期模型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40963"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螺旋模型</a:t>
            </a:r>
            <a:r>
              <a:rPr lang="en-US" altLang="zh-CN" kern="1200" dirty="0">
                <a:latin typeface="+mn-lt"/>
                <a:ea typeface="宋体" panose="02010600030101010101" pitchFamily="2" charset="-122"/>
                <a:cs typeface="+mn-cs"/>
              </a:rPr>
              <a:t>4</a:t>
            </a:r>
            <a:r>
              <a:rPr lang="zh-CN" altLang="en-US" kern="1200" dirty="0">
                <a:latin typeface="+mn-lt"/>
                <a:ea typeface="宋体" panose="02010600030101010101" pitchFamily="2" charset="-122"/>
                <a:cs typeface="+mn-cs"/>
              </a:rPr>
              <a:t>个象限的活动</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制定计划：确定软件目标，选定实施方案，弄清项目开发的限制条件。</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风险分析：分析所选方案，考虑如何识别和消除风险。</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实施工程：实施软件开发。</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客户评估：评价开发工作，提出修正建议。</a:t>
            </a:r>
            <a:endParaRPr lang="zh-CN" altLang="en-US"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软件生存周期模型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pic>
        <p:nvPicPr>
          <p:cNvPr id="41987" name="Picture 4"/>
          <p:cNvPicPr>
            <a:picLocks noChangeAspect="1"/>
          </p:cNvPicPr>
          <p:nvPr/>
        </p:nvPicPr>
        <p:blipFill>
          <a:blip r:embed="rId1"/>
          <a:stretch>
            <a:fillRect/>
          </a:stretch>
        </p:blipFill>
        <p:spPr>
          <a:xfrm>
            <a:off x="1042988" y="1412875"/>
            <a:ext cx="6624637" cy="5245100"/>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软件生存周期模型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43011" name="内容占位符 2"/>
          <p:cNvSpPr>
            <a:spLocks noGrp="1"/>
          </p:cNvSpPr>
          <p:nvPr>
            <p:ph sz="quarter" idx="1"/>
          </p:nvPr>
        </p:nvSpPr>
        <p:spPr>
          <a:xfrm>
            <a:off x="457200" y="1600200"/>
            <a:ext cx="7643813" cy="4873625"/>
          </a:xfrm>
        </p:spPr>
        <p:txBody>
          <a:bodyPr vert="horz" wrap="square" lIns="91440" tIns="45720" rIns="91440" bIns="45720" anchor="t" anchorCtr="0">
            <a:normAutofit/>
          </a:bodyPr>
          <a:lstStyle/>
          <a:p>
            <a:pPr eaLnBrk="1" hangingPunct="1">
              <a:buSzPct val="70000"/>
            </a:pPr>
            <a:r>
              <a:rPr lang="zh-CN" altLang="en-US" kern="1200" dirty="0">
                <a:solidFill>
                  <a:srgbClr val="0070C0"/>
                </a:solidFill>
                <a:latin typeface="+mn-lt"/>
                <a:ea typeface="宋体" panose="02010600030101010101" pitchFamily="2" charset="-122"/>
                <a:cs typeface="+mn-cs"/>
              </a:rPr>
              <a:t>螺旋模型的特点</a:t>
            </a:r>
            <a:endParaRPr lang="zh-CN" altLang="en-US" kern="1200" dirty="0">
              <a:solidFill>
                <a:srgbClr val="0070C0"/>
              </a:solidFill>
              <a:latin typeface="+mn-lt"/>
              <a:ea typeface="宋体" panose="02010600030101010101" pitchFamily="2" charset="-122"/>
              <a:cs typeface="+mn-cs"/>
            </a:endParaRPr>
          </a:p>
          <a:p>
            <a:pPr eaLnBrk="1" hangingPunct="1">
              <a:buSzPct val="70000"/>
            </a:pPr>
            <a:r>
              <a:rPr lang="zh-CN" altLang="en-US" kern="1200" dirty="0">
                <a:solidFill>
                  <a:srgbClr val="0070C0"/>
                </a:solidFill>
                <a:latin typeface="+mn-lt"/>
                <a:ea typeface="宋体" panose="02010600030101010101" pitchFamily="2" charset="-122"/>
                <a:cs typeface="+mn-cs"/>
              </a:rPr>
              <a:t>风险管理。</a:t>
            </a:r>
            <a:r>
              <a:rPr lang="zh-CN" altLang="en-US" kern="1200" dirty="0">
                <a:latin typeface="+mn-lt"/>
                <a:ea typeface="宋体" panose="02010600030101010101" pitchFamily="2" charset="-122"/>
                <a:cs typeface="+mn-cs"/>
              </a:rPr>
              <a:t>螺旋模型将风险管理置于软件开发过程的核心，每个阶段都进行风险分析和评估，以减轻或消除风险。</a:t>
            </a:r>
            <a:endParaRPr lang="zh-CN" altLang="en-US" kern="1200" dirty="0">
              <a:latin typeface="+mn-lt"/>
              <a:ea typeface="宋体" panose="02010600030101010101" pitchFamily="2" charset="-122"/>
              <a:cs typeface="+mn-cs"/>
            </a:endParaRPr>
          </a:p>
          <a:p>
            <a:pPr eaLnBrk="1" hangingPunct="1">
              <a:buSzPct val="70000"/>
            </a:pPr>
            <a:r>
              <a:rPr lang="zh-CN" altLang="en-US" kern="1200" dirty="0">
                <a:solidFill>
                  <a:srgbClr val="0070C0"/>
                </a:solidFill>
                <a:latin typeface="+mn-lt"/>
                <a:ea typeface="宋体" panose="02010600030101010101" pitchFamily="2" charset="-122"/>
                <a:cs typeface="+mn-cs"/>
              </a:rPr>
              <a:t>迭代式开发。</a:t>
            </a:r>
            <a:r>
              <a:rPr lang="zh-CN" altLang="en-US" kern="1200" dirty="0">
                <a:latin typeface="+mn-lt"/>
                <a:ea typeface="宋体" panose="02010600030101010101" pitchFamily="2" charset="-122"/>
                <a:cs typeface="+mn-cs"/>
              </a:rPr>
              <a:t>螺旋模型采用迭代式开发，每个阶段都包含反馈和迭代，以快速发现和纠正问题。</a:t>
            </a:r>
            <a:endParaRPr lang="zh-CN" altLang="en-US" kern="1200" dirty="0">
              <a:latin typeface="+mn-lt"/>
              <a:ea typeface="宋体" panose="02010600030101010101" pitchFamily="2" charset="-122"/>
              <a:cs typeface="+mn-cs"/>
            </a:endParaRPr>
          </a:p>
          <a:p>
            <a:pPr eaLnBrk="1" hangingPunct="1">
              <a:buSzPct val="70000"/>
            </a:pPr>
            <a:r>
              <a:rPr lang="zh-CN" altLang="en-US" kern="1200" dirty="0">
                <a:solidFill>
                  <a:srgbClr val="0070C0"/>
                </a:solidFill>
                <a:latin typeface="+mn-lt"/>
                <a:ea typeface="宋体" panose="02010600030101010101" pitchFamily="2" charset="-122"/>
                <a:cs typeface="+mn-cs"/>
              </a:rPr>
              <a:t>灵活性。</a:t>
            </a:r>
            <a:r>
              <a:rPr lang="zh-CN" altLang="en-US" kern="1200" dirty="0">
                <a:latin typeface="+mn-lt"/>
                <a:ea typeface="宋体" panose="02010600030101010101" pitchFamily="2" charset="-122"/>
                <a:cs typeface="+mn-cs"/>
              </a:rPr>
              <a:t>螺旋模型具有灵活性，可以根据项目需求进行定制和调整，以更好地满足客户需求。</a:t>
            </a:r>
            <a:endParaRPr lang="zh-CN" altLang="en-US" kern="1200" dirty="0">
              <a:latin typeface="+mn-lt"/>
              <a:ea typeface="宋体" panose="02010600030101010101" pitchFamily="2" charset="-122"/>
              <a:cs typeface="+mn-cs"/>
            </a:endParaRPr>
          </a:p>
          <a:p>
            <a:pPr eaLnBrk="1" hangingPunct="1">
              <a:buSzPct val="70000"/>
            </a:pPr>
            <a:r>
              <a:rPr lang="zh-CN" altLang="en-US" kern="1200" dirty="0">
                <a:solidFill>
                  <a:srgbClr val="0070C0"/>
                </a:solidFill>
                <a:latin typeface="+mn-lt"/>
                <a:ea typeface="宋体" panose="02010600030101010101" pitchFamily="2" charset="-122"/>
                <a:cs typeface="+mn-cs"/>
              </a:rPr>
              <a:t>透明度。</a:t>
            </a:r>
            <a:r>
              <a:rPr lang="zh-CN" altLang="en-US" kern="1200" dirty="0">
                <a:latin typeface="+mn-lt"/>
                <a:ea typeface="宋体" panose="02010600030101010101" pitchFamily="2" charset="-122"/>
                <a:cs typeface="+mn-cs"/>
              </a:rPr>
              <a:t>螺旋模型要求开发团队与客户之间进行持续的沟通和协商，以确保项目的透明度和可见性。</a:t>
            </a:r>
            <a:endParaRPr lang="zh-CN" altLang="en-US"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软件生存周期模型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43011" name="内容占位符 2"/>
          <p:cNvSpPr>
            <a:spLocks noGrp="1"/>
          </p:cNvSpPr>
          <p:nvPr>
            <p:ph sz="quarter" idx="1"/>
          </p:nvPr>
        </p:nvSpPr>
        <p:spPr>
          <a:xfrm>
            <a:off x="457200" y="1600200"/>
            <a:ext cx="7643813" cy="4873625"/>
          </a:xfrm>
        </p:spPr>
        <p:txBody>
          <a:bodyPr vert="horz" wrap="square" lIns="91440" tIns="45720" rIns="91440" bIns="45720" anchor="t" anchorCtr="0">
            <a:normAutofit/>
          </a:bodyPr>
          <a:lstStyle/>
          <a:p>
            <a:pPr eaLnBrk="1" hangingPunct="1">
              <a:buSzPct val="70000"/>
            </a:pPr>
            <a:r>
              <a:rPr lang="zh-CN" altLang="en-US" dirty="0">
                <a:solidFill>
                  <a:srgbClr val="0070C0"/>
                </a:solidFill>
                <a:ea typeface="宋体" panose="02010600030101010101" pitchFamily="2" charset="-122"/>
                <a:sym typeface="+mn-ea"/>
              </a:rPr>
              <a:t>持续评估。</a:t>
            </a:r>
            <a:r>
              <a:rPr lang="zh-CN" altLang="en-US" dirty="0">
                <a:ea typeface="宋体" panose="02010600030101010101" pitchFamily="2" charset="-122"/>
                <a:sym typeface="+mn-ea"/>
              </a:rPr>
              <a:t>螺旋模型要求在每个阶段中进行评估，以确保项目进展符合预期，如果需要，可以进行调整和变更，以满足客户需求。</a:t>
            </a:r>
            <a:endParaRPr lang="zh-CN" altLang="en-US" kern="1200" dirty="0">
              <a:latin typeface="+mn-lt"/>
              <a:ea typeface="宋体" panose="02010600030101010101" pitchFamily="2" charset="-122"/>
              <a:cs typeface="+mn-cs"/>
            </a:endParaRPr>
          </a:p>
          <a:p>
            <a:pPr eaLnBrk="1" hangingPunct="1">
              <a:buSzPct val="70000"/>
            </a:pPr>
            <a:r>
              <a:rPr lang="zh-CN" altLang="en-US" dirty="0">
                <a:solidFill>
                  <a:srgbClr val="0070C0"/>
                </a:solidFill>
                <a:ea typeface="宋体" panose="02010600030101010101" pitchFamily="2" charset="-122"/>
                <a:sym typeface="+mn-ea"/>
              </a:rPr>
              <a:t>风险分析。</a:t>
            </a:r>
            <a:r>
              <a:rPr lang="zh-CN" altLang="en-US" dirty="0">
                <a:ea typeface="宋体" panose="02010600030101010101" pitchFamily="2" charset="-122"/>
                <a:sym typeface="+mn-ea"/>
              </a:rPr>
              <a:t>螺旋模型强调风险分析，对可选方案和限制条件都进行评估，有助于将软件质量作为特殊目标融入产品开发之中。</a:t>
            </a:r>
            <a:endParaRPr lang="zh-CN" altLang="en-US" kern="1200" dirty="0">
              <a:latin typeface="+mn-lt"/>
              <a:ea typeface="宋体" panose="02010600030101010101" pitchFamily="2" charset="-122"/>
              <a:cs typeface="+mn-cs"/>
            </a:endParaRPr>
          </a:p>
          <a:p>
            <a:pPr eaLnBrk="1" hangingPunct="1">
              <a:buSzPct val="70000"/>
            </a:pPr>
            <a:r>
              <a:rPr lang="zh-CN" altLang="en-US" dirty="0">
                <a:solidFill>
                  <a:srgbClr val="0070C0"/>
                </a:solidFill>
                <a:ea typeface="宋体" panose="02010600030101010101" pitchFamily="2" charset="-122"/>
                <a:sym typeface="+mn-ea"/>
              </a:rPr>
              <a:t>小分段构建大型软件。</a:t>
            </a:r>
            <a:r>
              <a:rPr lang="zh-CN" altLang="en-US" dirty="0">
                <a:ea typeface="宋体" panose="02010600030101010101" pitchFamily="2" charset="-122"/>
                <a:sym typeface="+mn-ea"/>
              </a:rPr>
              <a:t>螺旋模型以小分段构建大型软件，使成本计算变得简单容易，客户始终参与每个阶段的开发，保证了项目不偏离正确方向，也保证了项目的可控制性。</a:t>
            </a:r>
            <a:endParaRPr lang="zh-CN" altLang="en-US" kern="1200" dirty="0">
              <a:latin typeface="+mn-lt"/>
              <a:ea typeface="宋体" panose="02010600030101010101" pitchFamily="2" charset="-122"/>
              <a:cs typeface="+mn-cs"/>
            </a:endParaRPr>
          </a:p>
          <a:p>
            <a:pPr eaLnBrk="1" hangingPunct="1">
              <a:buSzPct val="70000"/>
            </a:pPr>
            <a:r>
              <a:rPr lang="zh-CN" altLang="en-US" dirty="0">
                <a:solidFill>
                  <a:srgbClr val="0070C0"/>
                </a:solidFill>
                <a:ea typeface="宋体" panose="02010600030101010101" pitchFamily="2" charset="-122"/>
                <a:sym typeface="+mn-ea"/>
              </a:rPr>
              <a:t>总的</a:t>
            </a:r>
            <a:r>
              <a:rPr lang="zh-CN" altLang="en-US" dirty="0">
                <a:solidFill>
                  <a:srgbClr val="0070C0"/>
                </a:solidFill>
                <a:ea typeface="宋体" panose="02010600030101010101" pitchFamily="2" charset="-122"/>
                <a:sym typeface="+mn-ea"/>
              </a:rPr>
              <a:t>来说，螺旋模型特别适合于大型、复杂并具有高风险的系统开发</a:t>
            </a:r>
            <a:endParaRPr lang="zh-CN" altLang="en-US" kern="1200" dirty="0">
              <a:solidFill>
                <a:srgbClr val="0070C0"/>
              </a:solidFill>
              <a:latin typeface="+mn-lt"/>
              <a:ea typeface="宋体" panose="02010600030101010101" pitchFamily="2"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8435" name="内容占位符 2"/>
          <p:cNvSpPr>
            <a:spLocks noGrp="1"/>
          </p:cNvSpPr>
          <p:nvPr>
            <p:ph sz="quarter" idx="1"/>
          </p:nvPr>
        </p:nvSpPr>
        <p:spPr/>
        <p:txBody>
          <a:bodyPr vert="horz" wrap="square" lIns="91440" tIns="45720" rIns="91440" bIns="45720" numCol="1" anchor="t" anchorCtr="0" compatLnSpc="1">
            <a:normAutofit/>
          </a:bodyPr>
          <a:lstStyle/>
          <a:p>
            <a:pPr marL="367030" marR="0" lvl="1" indent="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defRPr/>
            </a:pP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主要软件开发方法（分析与设计）</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结构化方法（面向过程的</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方法）</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accent6">
                    <a:lumMod val="40000"/>
                    <a:lumOff val="60000"/>
                  </a:schemeClr>
                </a:solidFill>
                <a:effectLst/>
                <a:uLnTx/>
                <a:uFillTx/>
                <a:latin typeface="+mn-lt"/>
                <a:ea typeface="+mn-ea"/>
                <a:cs typeface="+mn-cs"/>
              </a:rPr>
              <a:t>面向数据结构的方法</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面向对象方法</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4339" name="内容占位符 2"/>
          <p:cNvSpPr>
            <a:spLocks noGrp="1"/>
          </p:cNvSpPr>
          <p:nvPr>
            <p:ph sz="quarter" idx="1"/>
          </p:nvPr>
        </p:nvSpPr>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结构化程序设计方法（</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面向过程）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主要特征</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控制结构仅由顺序、选择与重复等有限的基本控制结构表示。</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zh-CN" sz="2400" b="1" i="0" u="none" strike="noStrike" kern="1200" cap="none" spc="0" normalizeH="0" baseline="0" noProof="0" dirty="0">
                <a:ln>
                  <a:noFill/>
                </a:ln>
                <a:solidFill>
                  <a:schemeClr val="tx1"/>
                </a:solidFill>
                <a:effectLst/>
                <a:uLnTx/>
                <a:uFillTx/>
                <a:latin typeface="+mn-lt"/>
                <a:ea typeface="+mn-ea"/>
                <a:cs typeface="+mn-cs"/>
              </a:rPr>
              <a:t>程序自底向上逐步抽象成一个函数块</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zh-CN" sz="2400" b="1" i="0" u="none" strike="noStrike" kern="1200" cap="none" spc="0" normalizeH="0" baseline="0" noProof="0" dirty="0">
                <a:ln>
                  <a:noFill/>
                </a:ln>
                <a:solidFill>
                  <a:schemeClr val="tx1"/>
                </a:solidFill>
                <a:effectLst/>
                <a:uLnTx/>
                <a:uFillTx/>
                <a:latin typeface="+mn-lt"/>
                <a:ea typeface="+mn-ea"/>
                <a:cs typeface="+mn-cs"/>
              </a:rPr>
              <a:t>每个函数块都有一个入口和一个出口</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434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5363" name="Rectangle 3"/>
          <p:cNvSpPr>
            <a:spLocks noGrp="1" noChangeArrowheads="1"/>
          </p:cNvSpPr>
          <p:nvPr>
            <p:ph sz="quarter" idx="1"/>
          </p:nvPr>
        </p:nvSpPr>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结构化</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软件开发方法（</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Structured</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rPr>
              <a:t> </a:t>
            </a:r>
            <a:r>
              <a:rPr kumimoji="0" lang="en-US" altLang="zh-CN" sz="2400" b="1" i="0" u="none" strike="noStrike" kern="1200" cap="none" spc="0" normalizeH="0" baseline="0" noProof="0" dirty="0" err="1">
                <a:ln>
                  <a:noFill/>
                </a:ln>
                <a:solidFill>
                  <a:schemeClr val="tx1"/>
                </a:solidFill>
                <a:effectLst/>
                <a:uLnTx/>
                <a:uFillTx/>
                <a:latin typeface="+mn-lt"/>
                <a:ea typeface="+mn-ea"/>
                <a:cs typeface="Times New Roman" panose="02020603050405020304" pitchFamily="18" charset="0"/>
              </a:rPr>
              <a:t>即传统</a:t>
            </a:r>
            <a:r>
              <a:rPr kumimoji="0" lang="en-US" altLang="zh-CN"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rPr>
              <a:t>/</a:t>
            </a:r>
            <a:r>
              <a:rPr kumimoji="0" lang="en-US" altLang="zh-CN" sz="2400" b="1" i="0" u="none" strike="noStrike" kern="1200" cap="none" spc="0" normalizeH="0" baseline="0" noProof="0" dirty="0" err="1">
                <a:ln>
                  <a:noFill/>
                </a:ln>
                <a:solidFill>
                  <a:schemeClr val="tx1"/>
                </a:solidFill>
                <a:effectLst/>
                <a:uLnTx/>
                <a:uFillTx/>
                <a:latin typeface="+mn-lt"/>
                <a:ea typeface="+mn-ea"/>
                <a:cs typeface="Times New Roman" panose="02020603050405020304" pitchFamily="18" charset="0"/>
              </a:rPr>
              <a:t>经典软件工程</a:t>
            </a:r>
            <a:r>
              <a:rPr kumimoji="0" lang="zh-CN" altLang="en-US"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rPr>
              <a:t>Traditional</a:t>
            </a:r>
            <a:r>
              <a:rPr kumimoji="0" lang="zh-CN" altLang="en-US"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rPr>
              <a:t>）</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rPr>
              <a:t>最早的、最传统的软件开发方法</a:t>
            </a:r>
            <a:endParaRPr kumimoji="0" lang="en-US" altLang="zh-CN"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rPr>
              <a:t>主要改进：</a:t>
            </a:r>
            <a:r>
              <a:rPr kumimoji="0" lang="en-US" altLang="zh-CN" sz="2400" b="1" i="0" u="none" strike="noStrike" kern="1200" cap="none" spc="0" normalizeH="0" baseline="0" noProof="0" dirty="0" err="1">
                <a:ln>
                  <a:noFill/>
                </a:ln>
                <a:solidFill>
                  <a:schemeClr val="tx1"/>
                </a:solidFill>
                <a:effectLst/>
                <a:uLnTx/>
                <a:uFillTx/>
                <a:latin typeface="+mn-lt"/>
                <a:ea typeface="+mn-ea"/>
                <a:cs typeface="Times New Roman" panose="02020603050405020304" pitchFamily="18" charset="0"/>
              </a:rPr>
              <a:t>从“追求技巧与效率”到“清晰第一，效率第二”的转变，从而提高了程序的易读性和可靠性</a:t>
            </a:r>
            <a:r>
              <a:rPr kumimoji="0" lang="en-US" altLang="zh-CN"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rPr>
              <a:t>指导思想：自顶向下、逐步求精，基本原则是功能的分解与抽象</a:t>
            </a:r>
            <a:endParaRPr kumimoji="0" lang="zh-CN" altLang="en-US"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rgbClr val="FF0000"/>
                </a:solidFill>
                <a:effectLst/>
                <a:uLnTx/>
                <a:uFillTx/>
                <a:latin typeface="+mn-lt"/>
                <a:ea typeface="+mn-ea"/>
                <a:cs typeface="Times New Roman" panose="02020603050405020304" pitchFamily="18" charset="0"/>
              </a:rPr>
              <a:t>面向数据流</a:t>
            </a:r>
            <a:r>
              <a:rPr kumimoji="0" lang="zh-CN" altLang="en-US"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rPr>
              <a:t>的开发方法（数据流图）</a:t>
            </a:r>
            <a:endParaRPr kumimoji="0" lang="en-US" altLang="zh-CN" sz="2400" b="1" i="0" u="none" strike="noStrike" kern="1200" cap="none" spc="0" normalizeH="0" baseline="0" noProof="0" dirty="0">
              <a:ln>
                <a:noFill/>
              </a:ln>
              <a:solidFill>
                <a:schemeClr val="tx1"/>
              </a:solidFill>
              <a:effectLst/>
              <a:uLnTx/>
              <a:uFillTx/>
              <a:latin typeface="+mn-lt"/>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Tx/>
              <a:buAutoNum type="arabicPeriod"/>
              <a:defRPr/>
            </a:pPr>
            <a:endPar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p:txBody>
      </p:sp>
      <p:sp>
        <p:nvSpPr>
          <p:cNvPr id="15364"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6387" name="内容占位符 2"/>
          <p:cNvSpPr>
            <a:spLocks noGrp="1"/>
          </p:cNvSpPr>
          <p:nvPr>
            <p:ph sz="quarter" idx="1"/>
          </p:nvPr>
        </p:nvSpPr>
        <p:spPr/>
        <p:txBody>
          <a:bodyPr vert="horz" wrap="square" lIns="91440" tIns="45720" rIns="91440" bIns="45720" anchor="t" anchorCtr="0"/>
          <a:lstStyle/>
          <a:p>
            <a:pPr lvl="1" eaLnBrk="1" hangingPunct="1">
              <a:buSzPct val="80000"/>
            </a:pPr>
            <a:r>
              <a:rPr lang="zh-CN" altLang="en-US" kern="1200" dirty="0">
                <a:latin typeface="+mn-lt"/>
                <a:ea typeface="宋体" panose="02010600030101010101" pitchFamily="2" charset="-122"/>
                <a:cs typeface="+mn-cs"/>
              </a:rPr>
              <a:t>结构化方法包括：结构化分析（</a:t>
            </a:r>
            <a:r>
              <a:rPr lang="en-US" altLang="zh-CN" kern="1200" dirty="0">
                <a:latin typeface="+mn-lt"/>
                <a:ea typeface="宋体" panose="02010600030101010101" pitchFamily="2" charset="-122"/>
                <a:cs typeface="+mn-cs"/>
              </a:rPr>
              <a:t>SA</a:t>
            </a:r>
            <a:r>
              <a:rPr lang="zh-CN" altLang="en-US" kern="1200" dirty="0">
                <a:latin typeface="+mn-lt"/>
                <a:ea typeface="宋体" panose="02010600030101010101" pitchFamily="2" charset="-122"/>
                <a:cs typeface="+mn-cs"/>
              </a:rPr>
              <a:t>）、结构化设计（</a:t>
            </a:r>
            <a:r>
              <a:rPr lang="en-US" altLang="zh-CN" kern="1200" dirty="0">
                <a:latin typeface="+mn-lt"/>
                <a:ea typeface="宋体" panose="02010600030101010101" pitchFamily="2" charset="-122"/>
                <a:cs typeface="+mn-cs"/>
              </a:rPr>
              <a:t>SD</a:t>
            </a:r>
            <a:r>
              <a:rPr lang="zh-CN" altLang="en-US" kern="1200" dirty="0">
                <a:latin typeface="+mn-lt"/>
                <a:ea typeface="宋体" panose="02010600030101010101" pitchFamily="2" charset="-122"/>
                <a:cs typeface="+mn-cs"/>
              </a:rPr>
              <a:t>）、结构化实现（</a:t>
            </a:r>
            <a:r>
              <a:rPr lang="en-US" altLang="zh-CN" kern="1200" dirty="0">
                <a:latin typeface="+mn-lt"/>
                <a:ea typeface="宋体" panose="02010600030101010101" pitchFamily="2" charset="-122"/>
                <a:cs typeface="+mn-cs"/>
              </a:rPr>
              <a:t>SI</a:t>
            </a:r>
            <a:r>
              <a:rPr lang="zh-CN" altLang="en-US" kern="1200" dirty="0">
                <a:latin typeface="+mn-lt"/>
                <a:ea typeface="宋体" panose="02010600030101010101" pitchFamily="2" charset="-122"/>
                <a:cs typeface="+mn-cs"/>
              </a:rPr>
              <a:t>）等。</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主要缺陷：“有限成功”</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出现较早，适用于数据处理领域，不适用于规模大以及特别复杂的项目</a:t>
            </a:r>
            <a:endParaRPr lang="zh-CN" altLang="en-US" kern="1200" dirty="0">
              <a:latin typeface="+mn-lt"/>
              <a:ea typeface="宋体" panose="02010600030101010101" pitchFamily="2" charset="-122"/>
              <a:cs typeface="+mn-cs"/>
            </a:endParaRPr>
          </a:p>
          <a:p>
            <a:pPr>
              <a:buSzPct val="70000"/>
            </a:pPr>
            <a:endParaRPr lang="zh-CN" altLang="en-US" kern="1200" dirty="0">
              <a:latin typeface="+mn-lt"/>
              <a:ea typeface="宋体" panose="02010600030101010101" pitchFamily="2" charset="-122"/>
              <a:cs typeface="+mn-cs"/>
            </a:endParaRPr>
          </a:p>
        </p:txBody>
      </p:sp>
      <p:sp>
        <p:nvSpPr>
          <p:cNvPr id="1638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结构化分析的步骤</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构造数据流模型（</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DFD</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构建控制流模型。</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生成数据字典（</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DD</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生成可选方案，建立需求规约。</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zh-CN" sz="2400" b="1" i="0" u="none" strike="noStrike" kern="1200" cap="none" spc="0" normalizeH="0" baseline="0" noProof="0" dirty="0">
                <a:ln>
                  <a:noFill/>
                </a:ln>
                <a:solidFill>
                  <a:srgbClr val="FF0000"/>
                </a:solidFill>
                <a:effectLst/>
                <a:uLnTx/>
                <a:uFillTx/>
                <a:latin typeface="+mn-lt"/>
                <a:ea typeface="+mn-ea"/>
                <a:cs typeface="+mn-cs"/>
              </a:rPr>
              <a:t>层次化数据流图</a:t>
            </a:r>
            <a:r>
              <a:rPr kumimoji="0" lang="zh-CN" altLang="zh-CN" sz="2400" b="1" i="0" u="none" strike="noStrike" kern="1200" cap="none" spc="0" normalizeH="0" baseline="0" noProof="0" dirty="0">
                <a:ln>
                  <a:noFill/>
                </a:ln>
                <a:solidFill>
                  <a:schemeClr val="tx1"/>
                </a:solidFill>
                <a:effectLst/>
                <a:uLnTx/>
                <a:uFillTx/>
                <a:latin typeface="+mn-lt"/>
                <a:ea typeface="+mn-ea"/>
                <a:cs typeface="+mn-cs"/>
              </a:rPr>
              <a:t>：结构化分析方法中，按照系统需求的层次结构逐步分解，以分层的数据流图反映复杂的需求结构关系，以达到化繁为简的目的。</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741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13347" name="Rectangle 3"/>
          <p:cNvSpPr>
            <a:spLocks noGrp="1" noChangeArrowheads="1"/>
          </p:cNvSpPr>
          <p:nvPr>
            <p:ph sz="quarter" idx="1"/>
          </p:nvPr>
        </p:nvSpPr>
        <p:spPr/>
        <p:txBody>
          <a:bodyPr vert="horz" wrap="square" lIns="91440" tIns="45720" rIns="91440" bIns="45720" numCol="1" anchor="t" anchorCtr="0" compatLnSpc="1">
            <a:normAutofit/>
          </a:bodyPr>
          <a:lstStyle/>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结构化设计步骤</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研究、分析和审查数据流图。从软件的需求规格说明中弄清数据流加工的过程。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根据数据流图决定问题的类型。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由数据流图推导出系统的初始模块结构图（分层）。</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优化软件结构。</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描述模块接口。</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修改和补充数据词典。</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8436"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19459"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solidFill>
                  <a:srgbClr val="FF0000"/>
                </a:solidFill>
                <a:latin typeface="Times New Roman" panose="02020603050405020304" pitchFamily="18" charset="0"/>
                <a:ea typeface="宋体" panose="02010600030101010101" pitchFamily="2" charset="-122"/>
                <a:cs typeface="+mn-cs"/>
              </a:rPr>
              <a:t>面向数据结构</a:t>
            </a:r>
            <a:r>
              <a:rPr lang="zh-CN" altLang="en-US" kern="1200" dirty="0">
                <a:latin typeface="Times New Roman" panose="02020603050405020304" pitchFamily="18" charset="0"/>
                <a:ea typeface="宋体" panose="02010600030101010101" pitchFamily="2" charset="-122"/>
                <a:cs typeface="+mn-cs"/>
              </a:rPr>
              <a:t>软件开发方法（</a:t>
            </a:r>
            <a:r>
              <a:rPr lang="en-US" altLang="zh-CN" kern="1200" dirty="0">
                <a:solidFill>
                  <a:srgbClr val="FF0000"/>
                </a:solidFill>
                <a:latin typeface="Times New Roman" panose="02020603050405020304" pitchFamily="18" charset="0"/>
                <a:ea typeface="宋体" panose="02010600030101010101" pitchFamily="2" charset="-122"/>
                <a:cs typeface="+mn-cs"/>
              </a:rPr>
              <a:t>Jackson</a:t>
            </a:r>
            <a:r>
              <a:rPr lang="zh-CN" altLang="en-US" kern="1200" dirty="0">
                <a:solidFill>
                  <a:srgbClr val="FF0000"/>
                </a:solidFill>
                <a:latin typeface="Times New Roman" panose="02020603050405020304" pitchFamily="18" charset="0"/>
                <a:ea typeface="宋体" panose="02010600030101010101" pitchFamily="2" charset="-122"/>
                <a:cs typeface="+mn-cs"/>
              </a:rPr>
              <a:t>方法</a:t>
            </a:r>
            <a:r>
              <a:rPr lang="en-US" altLang="zh-CN" kern="1200" dirty="0">
                <a:solidFill>
                  <a:srgbClr val="FF0000"/>
                </a:solidFill>
                <a:latin typeface="Times New Roman" panose="02020603050405020304" pitchFamily="18" charset="0"/>
                <a:ea typeface="宋体" panose="02010600030101010101" pitchFamily="2" charset="-122"/>
                <a:cs typeface="+mn-cs"/>
              </a:rPr>
              <a:t>-JSD</a:t>
            </a:r>
            <a:r>
              <a:rPr lang="zh-CN" altLang="en-US" kern="1200" dirty="0">
                <a:latin typeface="Times New Roman" panose="02020603050405020304" pitchFamily="18" charset="0"/>
                <a:ea typeface="宋体" panose="02010600030101010101" pitchFamily="2" charset="-122"/>
                <a:cs typeface="+mn-cs"/>
              </a:rPr>
              <a:t>）</a:t>
            </a:r>
            <a:endParaRPr lang="en-US" altLang="zh-CN" kern="1200" dirty="0">
              <a:latin typeface="Times New Roman" panose="02020603050405020304" pitchFamily="18" charset="0"/>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特点：</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将分析结果作为设计基础，无明显分界；</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都必须标识关键实体和动作；</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信息具有层次性；</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提供一组将层次化的数据结构映射到程序结构的步骤；</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数据结构由顺序、选择和重复</a:t>
            </a:r>
            <a:r>
              <a:rPr lang="en-US" altLang="zh-CN" kern="1200" dirty="0">
                <a:latin typeface="+mn-lt"/>
                <a:ea typeface="宋体" panose="02010600030101010101" pitchFamily="2" charset="-122"/>
                <a:cs typeface="+mn-cs"/>
              </a:rPr>
              <a:t>3</a:t>
            </a:r>
            <a:r>
              <a:rPr lang="zh-CN" altLang="en-US" kern="1200" dirty="0">
                <a:latin typeface="+mn-lt"/>
                <a:ea typeface="宋体" panose="02010600030101010101" pitchFamily="2" charset="-122"/>
                <a:cs typeface="+mn-cs"/>
              </a:rPr>
              <a:t>种构造成分表示。</a:t>
            </a:r>
            <a:endParaRPr lang="zh-CN" altLang="en-US" kern="1200" dirty="0">
              <a:latin typeface="+mn-lt"/>
              <a:ea typeface="宋体" panose="02010600030101010101" pitchFamily="2" charset="-122"/>
              <a:cs typeface="+mn-cs"/>
            </a:endParaRPr>
          </a:p>
          <a:p>
            <a:pPr>
              <a:buSzPct val="70000"/>
            </a:pPr>
            <a:endParaRPr lang="zh-CN" altLang="en-US" kern="1200" dirty="0">
              <a:latin typeface="+mn-lt"/>
              <a:ea typeface="宋体" panose="02010600030101010101" pitchFamily="2" charset="-122"/>
              <a:cs typeface="+mn-cs"/>
            </a:endParaRPr>
          </a:p>
        </p:txBody>
      </p:sp>
      <p:sp>
        <p:nvSpPr>
          <p:cNvPr id="1946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面向对象程序设计方法（主流）</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主要特征</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2325"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较好地的实现了“解空间”与“问题空间”的一致性。</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2325"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err="1">
                <a:ln>
                  <a:noFill/>
                </a:ln>
                <a:solidFill>
                  <a:srgbClr val="FF0000"/>
                </a:solidFill>
                <a:effectLst/>
                <a:uLnTx/>
                <a:uFillTx/>
                <a:latin typeface="+mn-lt"/>
                <a:ea typeface="+mn-ea"/>
                <a:cs typeface="+mn-cs"/>
              </a:rPr>
              <a:t>对象＋消息</a:t>
            </a:r>
            <a:r>
              <a:rPr kumimoji="0" lang="en-US" altLang="zh-CN" sz="2400" b="1" i="0" u="none" strike="noStrike" kern="1200" cap="none" spc="0" normalizeH="0" baseline="0" noProof="0" dirty="0" err="1">
                <a:ln>
                  <a:noFill/>
                </a:ln>
                <a:solidFill>
                  <a:schemeClr val="tx1"/>
                </a:solidFill>
                <a:effectLst/>
                <a:uLnTx/>
                <a:uFillTx/>
                <a:latin typeface="+mn-lt"/>
                <a:ea typeface="+mn-ea"/>
                <a:cs typeface="+mn-cs"/>
              </a:rPr>
              <a:t>”的机制取代了“数据结构＋算法”的思路</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204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graphicFrame>
        <p:nvGraphicFramePr>
          <p:cNvPr id="20485" name="对象 4"/>
          <p:cNvGraphicFramePr>
            <a:graphicFrameLocks noChangeAspect="1"/>
          </p:cNvGraphicFramePr>
          <p:nvPr/>
        </p:nvGraphicFramePr>
        <p:xfrm>
          <a:off x="922338" y="4076700"/>
          <a:ext cx="3511550" cy="2160588"/>
        </p:xfrm>
        <a:graphic>
          <a:graphicData uri="http://schemas.openxmlformats.org/presentationml/2006/ole">
            <mc:AlternateContent xmlns:mc="http://schemas.openxmlformats.org/markup-compatibility/2006">
              <mc:Choice xmlns:v="urn:schemas-microsoft-com:vml" Requires="v">
                <p:oleObj spid="_x0000_s4" name="" r:id="rId1" imgW="5441315" imgH="3352800" progId="Visio.Drawing.11">
                  <p:embed/>
                </p:oleObj>
              </mc:Choice>
              <mc:Fallback>
                <p:oleObj name="" r:id="rId1" imgW="5441315" imgH="3352800" progId="Visio.Drawing.11">
                  <p:embed/>
                  <p:pic>
                    <p:nvPicPr>
                      <p:cNvPr id="0" name="图片 3076"/>
                      <p:cNvPicPr/>
                      <p:nvPr/>
                    </p:nvPicPr>
                    <p:blipFill>
                      <a:blip r:embed="rId2"/>
                      <a:stretch>
                        <a:fillRect/>
                      </a:stretch>
                    </p:blipFill>
                    <p:spPr>
                      <a:xfrm>
                        <a:off x="922338" y="4076700"/>
                        <a:ext cx="3511550" cy="2160588"/>
                      </a:xfrm>
                      <a:prstGeom prst="rect">
                        <a:avLst/>
                      </a:prstGeom>
                      <a:noFill/>
                      <a:ln w="38100">
                        <a:noFill/>
                        <a:miter/>
                      </a:ln>
                    </p:spPr>
                  </p:pic>
                </p:oleObj>
              </mc:Fallback>
            </mc:AlternateContent>
          </a:graphicData>
        </a:graphic>
      </p:graphicFrame>
      <p:graphicFrame>
        <p:nvGraphicFramePr>
          <p:cNvPr id="20486" name="对象 5"/>
          <p:cNvGraphicFramePr>
            <a:graphicFrameLocks noChangeAspect="1"/>
          </p:cNvGraphicFramePr>
          <p:nvPr/>
        </p:nvGraphicFramePr>
        <p:xfrm>
          <a:off x="4594225" y="4078288"/>
          <a:ext cx="3433763" cy="2159000"/>
        </p:xfrm>
        <a:graphic>
          <a:graphicData uri="http://schemas.openxmlformats.org/presentationml/2006/ole">
            <mc:AlternateContent xmlns:mc="http://schemas.openxmlformats.org/markup-compatibility/2006">
              <mc:Choice xmlns:v="urn:schemas-microsoft-com:vml" Requires="v">
                <p:oleObj spid="_x0000_s5" name="" r:id="rId3" imgW="5091430" imgH="3206115" progId="Visio.Drawing.11">
                  <p:embed/>
                </p:oleObj>
              </mc:Choice>
              <mc:Fallback>
                <p:oleObj name="" r:id="rId3" imgW="5091430" imgH="3206115" progId="Visio.Drawing.11">
                  <p:embed/>
                  <p:pic>
                    <p:nvPicPr>
                      <p:cNvPr id="0" name="图片 3075"/>
                      <p:cNvPicPr/>
                      <p:nvPr/>
                    </p:nvPicPr>
                    <p:blipFill>
                      <a:blip r:embed="rId4"/>
                      <a:stretch>
                        <a:fillRect/>
                      </a:stretch>
                    </p:blipFill>
                    <p:spPr>
                      <a:xfrm>
                        <a:off x="4594225" y="4078288"/>
                        <a:ext cx="3433763" cy="2159000"/>
                      </a:xfrm>
                      <a:prstGeom prst="rect">
                        <a:avLst/>
                      </a:prstGeom>
                      <a:noFill/>
                      <a:ln w="38100">
                        <a:noFill/>
                        <a:miter/>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21507" name="Rectangle 3"/>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solidFill>
                  <a:srgbClr val="0070C0"/>
                </a:solidFill>
                <a:latin typeface="Times New Roman" panose="02020603050405020304" pitchFamily="18" charset="0"/>
                <a:ea typeface="宋体" panose="02010600030101010101" pitchFamily="2" charset="-122"/>
                <a:cs typeface="+mn-cs"/>
              </a:rPr>
              <a:t>面向对象</a:t>
            </a:r>
            <a:r>
              <a:rPr lang="zh-CN" altLang="en-US" kern="1200" dirty="0">
                <a:latin typeface="Times New Roman" panose="02020603050405020304" pitchFamily="18" charset="0"/>
                <a:ea typeface="宋体" panose="02010600030101010101" pitchFamily="2" charset="-122"/>
                <a:cs typeface="+mn-cs"/>
              </a:rPr>
              <a:t>软件开发方法</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Object-Oriented</a:t>
            </a:r>
            <a:r>
              <a:rPr lang="zh-CN" altLang="en-US" kern="1200" dirty="0">
                <a:latin typeface="+mn-lt"/>
                <a:ea typeface="宋体" panose="02010600030101010101" pitchFamily="2" charset="-122"/>
                <a:cs typeface="+mn-cs"/>
              </a:rPr>
              <a:t>）</a:t>
            </a:r>
            <a:endParaRPr lang="en-US" altLang="zh-CN" kern="1200" dirty="0">
              <a:latin typeface="Times New Roman" panose="02020603050405020304" pitchFamily="18" charset="0"/>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面向对象开发的基本出发点是尽可能按照人类认识世界的方法和思维方式来分析和解决问题。</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运用对象、类、继承、封装、聚合、消息传送、多态性等概念来构造系统的软件开发方法。</a:t>
            </a:r>
            <a:endParaRPr lang="en-US" altLang="zh-CN" kern="1200" dirty="0">
              <a:latin typeface="+mn-lt"/>
              <a:ea typeface="宋体" panose="02010600030101010101" pitchFamily="2" charset="-122"/>
              <a:cs typeface="+mn-cs"/>
            </a:endParaRPr>
          </a:p>
          <a:p>
            <a:pPr lvl="1" eaLnBrk="1" hangingPunct="1">
              <a:buSzPct val="80000"/>
            </a:pPr>
            <a:r>
              <a:rPr lang="zh-CN" altLang="zh-CN" kern="1200" dirty="0">
                <a:latin typeface="+mn-lt"/>
                <a:ea typeface="宋体" panose="02010600030101010101" pitchFamily="2" charset="-122"/>
                <a:cs typeface="+mn-cs"/>
              </a:rPr>
              <a:t>核心思想</a:t>
            </a:r>
            <a:r>
              <a:rPr lang="zh-CN" altLang="en-US" kern="1200" dirty="0">
                <a:latin typeface="+mn-lt"/>
                <a:ea typeface="宋体" panose="02010600030101010101" pitchFamily="2" charset="-122"/>
                <a:cs typeface="+mn-cs"/>
              </a:rPr>
              <a:t>：</a:t>
            </a:r>
            <a:r>
              <a:rPr lang="zh-CN" altLang="zh-CN" kern="1200" dirty="0">
                <a:latin typeface="+mn-lt"/>
                <a:ea typeface="宋体" panose="02010600030101010101" pitchFamily="2" charset="-122"/>
                <a:cs typeface="+mn-cs"/>
              </a:rPr>
              <a:t>利用面向对象的概念和方法为软件需求建立模型、进行系统设计，采用面向对象程序设计语言完成系统实现，并对建成的系统进行面向对象的系统维护。</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面向对象开发方法包括面向对象分析（</a:t>
            </a:r>
            <a:r>
              <a:rPr lang="en-US" altLang="zh-CN" kern="1200" dirty="0">
                <a:latin typeface="+mn-lt"/>
                <a:ea typeface="宋体" panose="02010600030101010101" pitchFamily="2" charset="-122"/>
                <a:cs typeface="+mn-cs"/>
              </a:rPr>
              <a:t>OOA</a:t>
            </a:r>
            <a:r>
              <a:rPr lang="zh-CN" altLang="en-US" kern="1200" dirty="0">
                <a:latin typeface="+mn-lt"/>
                <a:ea typeface="宋体" panose="02010600030101010101" pitchFamily="2" charset="-122"/>
                <a:cs typeface="+mn-cs"/>
              </a:rPr>
              <a:t>）、面向对象设计（</a:t>
            </a:r>
            <a:r>
              <a:rPr lang="en-US" altLang="zh-CN" kern="1200" dirty="0">
                <a:latin typeface="+mn-lt"/>
                <a:ea typeface="宋体" panose="02010600030101010101" pitchFamily="2" charset="-122"/>
                <a:cs typeface="+mn-cs"/>
              </a:rPr>
              <a:t>OOD</a:t>
            </a:r>
            <a:r>
              <a:rPr lang="zh-CN" altLang="en-US" kern="1200" dirty="0">
                <a:latin typeface="+mn-lt"/>
                <a:ea typeface="宋体" panose="02010600030101010101" pitchFamily="2" charset="-122"/>
                <a:cs typeface="+mn-cs"/>
              </a:rPr>
              <a:t>）和面向对象实现（</a:t>
            </a:r>
            <a:r>
              <a:rPr lang="en-US" altLang="zh-CN" kern="1200" dirty="0">
                <a:latin typeface="+mn-lt"/>
                <a:ea typeface="宋体" panose="02010600030101010101" pitchFamily="2" charset="-122"/>
                <a:cs typeface="+mn-cs"/>
              </a:rPr>
              <a:t>OOI</a:t>
            </a:r>
            <a:r>
              <a:rPr lang="zh-CN" altLang="en-US" kern="1200" dirty="0">
                <a:latin typeface="+mn-lt"/>
                <a:ea typeface="宋体" panose="02010600030101010101" pitchFamily="2" charset="-122"/>
                <a:cs typeface="+mn-cs"/>
              </a:rPr>
              <a:t>）等。</a:t>
            </a:r>
            <a:endParaRPr lang="en-US" altLang="zh-CN" kern="1200" dirty="0">
              <a:latin typeface="+mn-lt"/>
              <a:ea typeface="宋体" panose="02010600030101010101" pitchFamily="2" charset="-122"/>
              <a:cs typeface="+mn-cs"/>
            </a:endParaRPr>
          </a:p>
          <a:p>
            <a:pPr eaLnBrk="1" hangingPunct="1">
              <a:buSzPct val="70000"/>
              <a:buFontTx/>
              <a:buNone/>
            </a:pPr>
            <a:endParaRPr lang="zh-CN" altLang="en-US" kern="1200" dirty="0">
              <a:solidFill>
                <a:srgbClr val="0070C0"/>
              </a:solidFill>
              <a:latin typeface="Times New Roman" panose="02020603050405020304" pitchFamily="18" charset="0"/>
              <a:ea typeface="宋体" panose="02010600030101010101" pitchFamily="2" charset="-122"/>
              <a:cs typeface="+mn-cs"/>
            </a:endParaRPr>
          </a:p>
        </p:txBody>
      </p:sp>
      <p:sp>
        <p:nvSpPr>
          <p:cNvPr id="21508"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面向对象方法的意义：</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一种新的思考方式。</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将数据和行为结合成为对象。</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核心是封装。</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en-US" altLang="zh-CN" sz="2400" b="1" i="0" u="none" strike="noStrike" kern="1200" cap="none" spc="0" normalizeH="0" baseline="0" noProof="0" dirty="0" err="1">
                <a:ln>
                  <a:noFill/>
                </a:ln>
                <a:solidFill>
                  <a:schemeClr val="tx1"/>
                </a:solidFill>
                <a:effectLst/>
                <a:uLnTx/>
                <a:uFillTx/>
                <a:latin typeface="+mn-lt"/>
                <a:ea typeface="+mn-ea"/>
                <a:cs typeface="+mn-cs"/>
              </a:rPr>
              <a:t>优势</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有效地降低了软件的复杂性，简化了软件的开发。</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有利于维护。</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2253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29699" name="Rectangle 3"/>
          <p:cNvSpPr>
            <a:spLocks noGrp="1" noChangeArrowheads="1"/>
          </p:cNvSpPr>
          <p:nvPr>
            <p:ph sz="quarter" idx="1"/>
          </p:nvPr>
        </p:nvSpPr>
        <p:spPr>
          <a:xfrm>
            <a:off x="457200" y="1600200"/>
            <a:ext cx="7643813" cy="4873625"/>
          </a:xfrm>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面向对象方法有几十种，综合起来，其基本观点如下：</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现实客观世界由对象组成。</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相同的对象归并为类。</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类可以继承。</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对象之间通过消息进行联系。</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Tx/>
              <a:buNone/>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base" latinLnBrk="0" hangingPunct="1">
              <a:lnSpc>
                <a:spcPct val="105000"/>
              </a:lnSpc>
              <a:spcBef>
                <a:spcPts val="600"/>
              </a:spcBef>
              <a:spcAft>
                <a:spcPct val="0"/>
              </a:spcAft>
              <a:buClr>
                <a:schemeClr val="accent1"/>
              </a:buClr>
              <a:buSzPct val="70000"/>
              <a:buFontTx/>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面向对象</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对象</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object</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just" defTabSz="914400" rtl="0" eaLnBrk="1" fontAlgn="base" latinLnBrk="0" hangingPunct="1">
              <a:lnSpc>
                <a:spcPct val="105000"/>
              </a:lnSpc>
              <a:spcBef>
                <a:spcPts val="600"/>
              </a:spcBef>
              <a:spcAft>
                <a:spcPct val="0"/>
              </a:spcAft>
              <a:buClr>
                <a:schemeClr val="accent1"/>
              </a:buClr>
              <a:buSzPct val="70000"/>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类</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classification</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just" defTabSz="914400" rtl="0" eaLnBrk="1" fontAlgn="base" latinLnBrk="0" hangingPunct="1">
              <a:lnSpc>
                <a:spcPct val="105000"/>
              </a:lnSpc>
              <a:spcBef>
                <a:spcPts val="600"/>
              </a:spcBef>
              <a:spcAft>
                <a:spcPct val="0"/>
              </a:spcAft>
              <a:buClr>
                <a:schemeClr val="accent1"/>
              </a:buClr>
              <a:buSzPct val="70000"/>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继承</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inheritance</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0" marR="0" lvl="0" indent="0" algn="just" defTabSz="914400" rtl="0" eaLnBrk="1" fontAlgn="base" latinLnBrk="0" hangingPunct="1">
              <a:lnSpc>
                <a:spcPct val="105000"/>
              </a:lnSpc>
              <a:spcBef>
                <a:spcPts val="600"/>
              </a:spcBef>
              <a:spcAft>
                <a:spcPct val="0"/>
              </a:spcAft>
              <a:buClr>
                <a:schemeClr val="accent1"/>
              </a:buClr>
              <a:buSzPct val="70000"/>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通信</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communication with messages</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3556"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软件开发方法概述</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24579"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面向对象建模方法：一种用于辨识系统环境中的对象及这些对象之间关系的技术</a:t>
            </a:r>
            <a:endParaRPr lang="zh-CN" altLang="en-US" kern="1200" dirty="0">
              <a:latin typeface="+mn-lt"/>
              <a:ea typeface="宋体" panose="02010600030101010101" pitchFamily="2" charset="-122"/>
              <a:cs typeface="+mn-cs"/>
            </a:endParaRPr>
          </a:p>
          <a:p>
            <a:pPr lvl="1" eaLnBrk="1" hangingPunct="1">
              <a:buSzPct val="80000"/>
            </a:pPr>
            <a:r>
              <a:rPr lang="en-US" altLang="zh-CN" kern="1200" dirty="0">
                <a:latin typeface="+mn-lt"/>
                <a:ea typeface="宋体" panose="02010600030101010101" pitchFamily="2" charset="-122"/>
                <a:cs typeface="+mn-cs"/>
              </a:rPr>
              <a:t>OMT </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James Rumbaugh</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lvl="1" eaLnBrk="1" hangingPunct="1">
              <a:buSzPct val="80000"/>
            </a:pPr>
            <a:r>
              <a:rPr lang="en-US" altLang="zh-CN" kern="1200" dirty="0">
                <a:latin typeface="+mn-lt"/>
                <a:ea typeface="宋体" panose="02010600030101010101" pitchFamily="2" charset="-122"/>
                <a:cs typeface="+mn-cs"/>
              </a:rPr>
              <a:t>Booch</a:t>
            </a:r>
            <a:r>
              <a:rPr lang="zh-CN" altLang="en-US" kern="1200" dirty="0">
                <a:latin typeface="+mn-lt"/>
                <a:ea typeface="宋体" panose="02010600030101010101" pitchFamily="2" charset="-122"/>
                <a:cs typeface="+mn-cs"/>
              </a:rPr>
              <a:t>方法（</a:t>
            </a:r>
            <a:r>
              <a:rPr lang="en-US" altLang="zh-CN" kern="1200" dirty="0">
                <a:latin typeface="+mn-lt"/>
                <a:ea typeface="宋体" panose="02010600030101010101" pitchFamily="2" charset="-122"/>
                <a:cs typeface="+mn-cs"/>
              </a:rPr>
              <a:t>Grady Booch</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      UML</a:t>
            </a:r>
            <a:endParaRPr lang="en-US" altLang="zh-CN" kern="1200" dirty="0">
              <a:latin typeface="+mn-lt"/>
              <a:ea typeface="宋体" panose="02010600030101010101" pitchFamily="2" charset="-122"/>
              <a:cs typeface="+mn-cs"/>
            </a:endParaRPr>
          </a:p>
          <a:p>
            <a:pPr lvl="1" eaLnBrk="1" hangingPunct="1">
              <a:buSzPct val="80000"/>
            </a:pPr>
            <a:r>
              <a:rPr lang="en-US" altLang="zh-CN" kern="1200" dirty="0">
                <a:latin typeface="+mn-lt"/>
                <a:ea typeface="宋体" panose="02010600030101010101" pitchFamily="2" charset="-122"/>
                <a:cs typeface="+mn-cs"/>
              </a:rPr>
              <a:t>OOSE </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Ivar Jacobson</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lvl="1" eaLnBrk="1" hangingPunct="1">
              <a:buSzPct val="80000"/>
            </a:pPr>
            <a:r>
              <a:rPr lang="en-US" altLang="zh-CN" kern="1200" dirty="0">
                <a:latin typeface="+mn-lt"/>
                <a:ea typeface="宋体" panose="02010600030101010101" pitchFamily="2" charset="-122"/>
                <a:cs typeface="+mn-cs"/>
              </a:rPr>
              <a:t>Coad-Yourdon</a:t>
            </a:r>
            <a:endParaRPr lang="en-US" altLang="zh-CN" kern="1200" dirty="0">
              <a:latin typeface="+mn-lt"/>
              <a:ea typeface="宋体" panose="02010600030101010101" pitchFamily="2" charset="-122"/>
              <a:cs typeface="+mn-cs"/>
            </a:endParaRPr>
          </a:p>
          <a:p>
            <a:pPr lvl="1" eaLnBrk="1" hangingPunct="1">
              <a:buSzPct val="80000"/>
            </a:pPr>
            <a:r>
              <a:rPr lang="en-US" altLang="zh-CN" kern="1200" dirty="0">
                <a:latin typeface="+mn-lt"/>
                <a:ea typeface="宋体" panose="02010600030101010101" pitchFamily="2" charset="-122"/>
                <a:cs typeface="+mn-cs"/>
              </a:rPr>
              <a:t>Shlaer-Mellor</a:t>
            </a:r>
            <a:endParaRPr lang="en-US" altLang="zh-CN" kern="1200" dirty="0">
              <a:latin typeface="+mn-lt"/>
              <a:ea typeface="宋体" panose="02010600030101010101" pitchFamily="2" charset="-122"/>
              <a:cs typeface="+mn-cs"/>
            </a:endParaRPr>
          </a:p>
          <a:p>
            <a:pPr lvl="1" eaLnBrk="1" hangingPunct="1">
              <a:buSzPct val="80000"/>
            </a:pPr>
            <a:r>
              <a:rPr lang="en-US" altLang="zh-CN" kern="1200" dirty="0">
                <a:latin typeface="+mn-lt"/>
                <a:ea typeface="宋体" panose="02010600030101010101" pitchFamily="2" charset="-122"/>
                <a:cs typeface="+mn-cs"/>
              </a:rPr>
              <a:t>Martin/Odell</a:t>
            </a:r>
            <a:endParaRPr lang="en-US" altLang="zh-CN" kern="1200" dirty="0">
              <a:latin typeface="+mn-lt"/>
              <a:ea typeface="宋体" panose="02010600030101010101" pitchFamily="2" charset="-122"/>
              <a:cs typeface="+mn-cs"/>
            </a:endParaRPr>
          </a:p>
          <a:p>
            <a:pPr lvl="1" eaLnBrk="1" hangingPunct="1">
              <a:buSzPct val="80000"/>
            </a:pPr>
            <a:r>
              <a:rPr lang="en-US" altLang="zh-CN" kern="1200" dirty="0">
                <a:latin typeface="+mn-lt"/>
                <a:ea typeface="宋体" panose="02010600030101010101" pitchFamily="2" charset="-122"/>
                <a:cs typeface="+mn-cs"/>
              </a:rPr>
              <a:t>Fusion</a:t>
            </a:r>
            <a:endParaRPr lang="en-US" altLang="zh-CN" kern="1200" dirty="0">
              <a:latin typeface="+mn-lt"/>
              <a:ea typeface="宋体" panose="02010600030101010101" pitchFamily="2" charset="-122"/>
              <a:cs typeface="+mn-cs"/>
            </a:endParaRPr>
          </a:p>
          <a:p>
            <a:pPr eaLnBrk="1" hangingPunct="1">
              <a:buSzPct val="70000"/>
            </a:pP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当前的主流：统一建模语言</a:t>
            </a:r>
            <a:r>
              <a:rPr lang="en-US" altLang="zh-CN" kern="1200" dirty="0">
                <a:latin typeface="+mn-lt"/>
                <a:ea typeface="宋体" panose="02010600030101010101" pitchFamily="2" charset="-122"/>
                <a:cs typeface="+mn-cs"/>
              </a:rPr>
              <a:t>UML</a:t>
            </a:r>
            <a:endParaRPr lang="zh-CN" altLang="en-US" kern="1200" dirty="0">
              <a:latin typeface="+mn-lt"/>
              <a:ea typeface="宋体" panose="02010600030101010101" pitchFamily="2" charset="-122"/>
              <a:cs typeface="+mn-cs"/>
            </a:endParaRPr>
          </a:p>
        </p:txBody>
      </p:sp>
      <p:sp>
        <p:nvSpPr>
          <p:cNvPr id="2458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24581" name="AutoShape 5"/>
          <p:cNvSpPr/>
          <p:nvPr/>
        </p:nvSpPr>
        <p:spPr>
          <a:xfrm>
            <a:off x="5572125" y="2565400"/>
            <a:ext cx="228600" cy="1081088"/>
          </a:xfrm>
          <a:prstGeom prst="rightBrace">
            <a:avLst>
              <a:gd name="adj1" fmla="val 47226"/>
              <a:gd name="adj2" fmla="val 50000"/>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44035"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面向对象方法（</a:t>
            </a:r>
            <a:r>
              <a:rPr lang="en-US" altLang="zh-CN" kern="1200" dirty="0">
                <a:latin typeface="+mn-lt"/>
                <a:ea typeface="宋体" panose="02010600030101010101" pitchFamily="2" charset="-122"/>
                <a:cs typeface="+mn-cs"/>
              </a:rPr>
              <a:t>OO</a:t>
            </a:r>
            <a:r>
              <a:rPr lang="zh-CN" altLang="en-US" kern="1200" dirty="0">
                <a:latin typeface="+mn-lt"/>
                <a:ea typeface="宋体" panose="02010600030101010101" pitchFamily="2" charset="-122"/>
                <a:cs typeface="+mn-cs"/>
              </a:rPr>
              <a:t>方法）是一种认识客观世界的世界观，这种世界观将客观世界看成是有许多不同种类的对象构成的，每个对象有自己的内部状态和运动规律，不同对象之间的相互联系、相互作用就构成了完整的客观世界。</a:t>
            </a: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面向对象方法正是以对象作为最基本的元素，对象也是分析问题、解决问题的核心。</a:t>
            </a:r>
            <a:endParaRPr lang="en-US" altLang="zh-CN"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p:txBody>
      </p:sp>
      <p:sp>
        <p:nvSpPr>
          <p:cNvPr id="4403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45059" name="Rectangle 3"/>
          <p:cNvSpPr>
            <a:spLocks noGrp="1" noChangeArrowheads="1"/>
          </p:cNvSpPr>
          <p:nvPr>
            <p:ph sz="quarter" idx="1"/>
          </p:nvPr>
        </p:nvSpPr>
        <p:spPr/>
        <p:txBody>
          <a:bodyPr vert="horz" wrap="square" lIns="91440" tIns="45720" rIns="91440" bIns="45720" numCol="1" anchor="t" anchorCtr="0" compatLnSpc="1">
            <a:normAutofit lnSpcReduction="10000"/>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面向对象方法的特点：</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符合人们对客观世界的认识规律</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能很好地适应需求变化</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支持软件复用</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系统易于维护</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面向对象方法成为主流开发方法。可以从下列几个方面来分析其原因：</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从认知学的角度来看，面向对象方法符合人们对客观世界的认识规律。</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面向对象方法开发的软件系统易于维护，其体系结构易于理解、扩充和修改。</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面向对象方法中的继承机制有力支持软件的复用。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5060"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46083" name="内容占位符 2"/>
          <p:cNvSpPr>
            <a:spLocks noGrp="1"/>
          </p:cNvSpPr>
          <p:nvPr>
            <p:ph sz="quarter" idx="1"/>
          </p:nvPr>
        </p:nvSpPr>
        <p:spPr>
          <a:xfrm>
            <a:off x="673100" y="1557338"/>
            <a:ext cx="7354888" cy="4989512"/>
          </a:xfrm>
        </p:spPr>
        <p:txBody>
          <a:bodyPr vert="horz" wrap="square" lIns="91440" tIns="45720" rIns="91440" bIns="45720" anchor="t" anchorCtr="0"/>
          <a:lstStyle/>
          <a:p>
            <a:pPr eaLnBrk="1" hangingPunct="1">
              <a:buSzPct val="70000"/>
              <a:buFont typeface="Wingdings" panose="05000000000000000000" pitchFamily="2" charset="2"/>
              <a:buNone/>
            </a:pPr>
            <a:r>
              <a:rPr lang="en-US" altLang="zh-CN" kern="1200" dirty="0">
                <a:latin typeface="+mn-lt"/>
                <a:ea typeface="宋体" panose="02010600030101010101" pitchFamily="2" charset="-122"/>
                <a:cs typeface="+mn-cs"/>
              </a:rPr>
              <a:t>1</a:t>
            </a:r>
            <a:r>
              <a:rPr lang="zh-CN" altLang="en-US" kern="1200" dirty="0">
                <a:latin typeface="+mn-lt"/>
                <a:ea typeface="宋体" panose="02010600030101010101" pitchFamily="2" charset="-122"/>
                <a:cs typeface="+mn-cs"/>
              </a:rPr>
              <a:t>、</a:t>
            </a:r>
            <a:r>
              <a:rPr lang="zh-CN" altLang="en-US" kern="1200" dirty="0">
                <a:solidFill>
                  <a:srgbClr val="0070C0"/>
                </a:solidFill>
                <a:latin typeface="+mn-lt"/>
                <a:ea typeface="宋体" panose="02010600030101010101" pitchFamily="2" charset="-122"/>
                <a:cs typeface="+mn-cs"/>
              </a:rPr>
              <a:t>对象</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Object</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将客观世界中的实体抽象为问题空间中的对象。</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对象是现实世界中个体或事物的抽象表示，是指在一个应用当中具有明确角色的独立可确认的实体。</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对象是指一组属性以及这组属性上的专用操作的封装体。</a:t>
            </a:r>
            <a:endParaRPr lang="en-US" altLang="zh-CN" kern="1200" dirty="0">
              <a:latin typeface="+mn-lt"/>
              <a:ea typeface="宋体" panose="02010600030101010101" pitchFamily="2" charset="-122"/>
              <a:cs typeface="+mn-cs"/>
            </a:endParaRPr>
          </a:p>
        </p:txBody>
      </p:sp>
      <p:sp>
        <p:nvSpPr>
          <p:cNvPr id="460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47107" name="内容占位符 2"/>
          <p:cNvSpPr>
            <a:spLocks noGrp="1"/>
          </p:cNvSpPr>
          <p:nvPr>
            <p:ph sz="quarter" idx="1"/>
          </p:nvPr>
        </p:nvSpPr>
        <p:spPr>
          <a:xfrm>
            <a:off x="457200" y="1600200"/>
            <a:ext cx="6202363" cy="4873625"/>
          </a:xfrm>
        </p:spPr>
        <p:txBody>
          <a:bodyPr vert="horz" wrap="square" lIns="91440" tIns="45720" rIns="91440" bIns="45720" anchor="t" anchorCtr="0"/>
          <a:lstStyle/>
          <a:p>
            <a:pPr lvl="1" eaLnBrk="1" hangingPunct="1">
              <a:buSzPct val="80000"/>
            </a:pPr>
            <a:r>
              <a:rPr lang="zh-CN" altLang="en-US" kern="1200" dirty="0">
                <a:latin typeface="+mn-lt"/>
                <a:ea typeface="宋体" panose="02010600030101010101" pitchFamily="2" charset="-122"/>
                <a:cs typeface="+mn-cs"/>
              </a:rPr>
              <a:t>每个对象都要包含：</a:t>
            </a:r>
            <a:endParaRPr lang="en-US" altLang="zh-CN" kern="1200" dirty="0">
              <a:latin typeface="+mn-lt"/>
              <a:ea typeface="宋体" panose="02010600030101010101" pitchFamily="2" charset="-122"/>
              <a:cs typeface="+mn-cs"/>
            </a:endParaRPr>
          </a:p>
          <a:p>
            <a:pPr lvl="2" eaLnBrk="1" hangingPunct="1">
              <a:buClr>
                <a:srgbClr val="E0752F"/>
              </a:buClr>
              <a:buSzPct val="60000"/>
            </a:pPr>
            <a:r>
              <a:rPr lang="zh-CN" altLang="en-US" kern="1200" dirty="0">
                <a:solidFill>
                  <a:srgbClr val="0070C0"/>
                </a:solidFill>
                <a:latin typeface="+mn-lt"/>
                <a:ea typeface="宋体" panose="02010600030101010101" pitchFamily="2" charset="-122"/>
                <a:cs typeface="+mn-cs"/>
              </a:rPr>
              <a:t>标识</a:t>
            </a:r>
            <a:r>
              <a:rPr lang="zh-CN" altLang="en-US" kern="1200" dirty="0">
                <a:latin typeface="+mn-lt"/>
                <a:ea typeface="宋体" panose="02010600030101010101" pitchFamily="2" charset="-122"/>
                <a:cs typeface="+mn-cs"/>
              </a:rPr>
              <a:t>：对象唯一标识</a:t>
            </a:r>
            <a:endParaRPr lang="en-US" altLang="zh-CN" kern="1200" dirty="0">
              <a:latin typeface="+mn-lt"/>
              <a:ea typeface="宋体" panose="02010600030101010101" pitchFamily="2" charset="-122"/>
              <a:cs typeface="+mn-cs"/>
            </a:endParaRPr>
          </a:p>
          <a:p>
            <a:pPr lvl="2" eaLnBrk="1" hangingPunct="1">
              <a:buClr>
                <a:srgbClr val="E0752F"/>
              </a:buClr>
              <a:buSzPct val="60000"/>
            </a:pPr>
            <a:r>
              <a:rPr lang="zh-CN" altLang="en-US" kern="1200" dirty="0">
                <a:solidFill>
                  <a:srgbClr val="0070C0"/>
                </a:solidFill>
                <a:latin typeface="+mn-lt"/>
                <a:ea typeface="宋体" panose="02010600030101010101" pitchFamily="2" charset="-122"/>
                <a:cs typeface="+mn-cs"/>
              </a:rPr>
              <a:t>属性</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attribute</a:t>
            </a:r>
            <a:r>
              <a:rPr lang="zh-CN" altLang="en-US" kern="1200" dirty="0">
                <a:latin typeface="+mn-lt"/>
                <a:ea typeface="宋体" panose="02010600030101010101" pitchFamily="2" charset="-122"/>
                <a:cs typeface="+mn-cs"/>
              </a:rPr>
              <a:t>） ：表示对象的性质（对象的特征描述）。每个对象都有它自己的属性值，表示该对象的状态。对象中的属性只能通过该对象所提供的操作来存取或修改。</a:t>
            </a:r>
            <a:endParaRPr lang="en-US" altLang="zh-CN" kern="1200" dirty="0">
              <a:latin typeface="+mn-lt"/>
              <a:ea typeface="宋体" panose="02010600030101010101" pitchFamily="2" charset="-122"/>
              <a:cs typeface="+mn-cs"/>
            </a:endParaRPr>
          </a:p>
          <a:p>
            <a:pPr lvl="2" eaLnBrk="1" hangingPunct="1">
              <a:buClr>
                <a:srgbClr val="E0752F"/>
              </a:buClr>
              <a:buSzPct val="60000"/>
            </a:pPr>
            <a:r>
              <a:rPr lang="zh-CN" altLang="en-US" kern="1200" dirty="0">
                <a:solidFill>
                  <a:srgbClr val="0070C0"/>
                </a:solidFill>
                <a:latin typeface="+mn-lt"/>
                <a:ea typeface="宋体" panose="02010600030101010101" pitchFamily="2" charset="-122"/>
                <a:cs typeface="+mn-cs"/>
              </a:rPr>
              <a:t>操作</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operation</a:t>
            </a:r>
            <a:r>
              <a:rPr lang="zh-CN" altLang="en-US" kern="1200" dirty="0">
                <a:latin typeface="+mn-lt"/>
                <a:ea typeface="宋体" panose="02010600030101010101" pitchFamily="2" charset="-122"/>
                <a:cs typeface="+mn-cs"/>
              </a:rPr>
              <a:t>）：也称方法或服务。对象可以展现的外部服务（对象在其状态发生改变或者接收到外界消息时所采取的行动 ）</a:t>
            </a:r>
            <a:endParaRPr lang="en-US" altLang="zh-CN" kern="1200" dirty="0">
              <a:latin typeface="+mn-lt"/>
              <a:ea typeface="宋体" panose="02010600030101010101" pitchFamily="2" charset="-122"/>
              <a:cs typeface="+mn-cs"/>
            </a:endParaRPr>
          </a:p>
        </p:txBody>
      </p:sp>
      <p:sp>
        <p:nvSpPr>
          <p:cNvPr id="4710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47109" name="Picture 2"/>
          <p:cNvPicPr>
            <a:picLocks noChangeAspect="1"/>
          </p:cNvPicPr>
          <p:nvPr/>
        </p:nvPicPr>
        <p:blipFill>
          <a:blip r:embed="rId1"/>
          <a:stretch>
            <a:fillRect/>
          </a:stretch>
        </p:blipFill>
        <p:spPr>
          <a:xfrm>
            <a:off x="6588125" y="2565400"/>
            <a:ext cx="1800225" cy="1946275"/>
          </a:xfrm>
          <a:prstGeom prst="rect">
            <a:avLst/>
          </a:prstGeom>
          <a:noFill/>
          <a:ln w="9525">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48131"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一个对象维护其自身的状态需要对外公开一些方法，行使其职能也要对外公开一些方法，这些方法组合起来定义了该对象允许外界访问的方法，或者说限定了外界可以期望的表现，它们是对象需要对外界履行的</a:t>
            </a:r>
            <a:r>
              <a:rPr lang="zh-CN" altLang="en-US" kern="1200" dirty="0">
                <a:solidFill>
                  <a:srgbClr val="0070C0"/>
                </a:solidFill>
                <a:latin typeface="+mn-lt"/>
                <a:ea typeface="宋体" panose="02010600030101010101" pitchFamily="2" charset="-122"/>
                <a:cs typeface="+mn-cs"/>
              </a:rPr>
              <a:t>协议</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Protocol</a:t>
            </a:r>
            <a:r>
              <a:rPr lang="zh-CN" altLang="en-US" kern="1200" dirty="0">
                <a:latin typeface="+mn-lt"/>
                <a:ea typeface="宋体" panose="02010600030101010101" pitchFamily="2" charset="-122"/>
                <a:cs typeface="+mn-cs"/>
              </a:rPr>
              <a:t>） </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一个对象的整体协议可能会分为多个内聚的逻辑行为组，划分后的每一个逻辑行为组就描述了对象的一个独立职责，体现了对象的一个独立角色 </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如果一个对象拥有多个行为组，就意味着该对象拥有多个不同的职责，需要扮演多个不同的角色。 </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理想的单一职责对象应该仅仅扮演一个角色 </a:t>
            </a:r>
            <a:endParaRPr lang="zh-CN" altLang="en-US"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p:txBody>
      </p:sp>
      <p:sp>
        <p:nvSpPr>
          <p:cNvPr id="4813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48131" name="Rectangle 3"/>
          <p:cNvSpPr>
            <a:spLocks noGrp="1" noChangeArrowheads="1"/>
          </p:cNvSpPr>
          <p:nvPr>
            <p:ph sz="quarter" idx="1"/>
          </p:nvPr>
        </p:nvSpPr>
        <p:spPr/>
        <p:txBody>
          <a:bodyPr vert="horz" wrap="square" lIns="91440" tIns="45720" rIns="91440" bIns="45720" numCol="1" anchor="t" anchorCtr="0" compatLnSpc="1">
            <a:normAutofit lnSpcReduction="10000"/>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类</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Class</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类：是共享相同属性和操作的对象的集合，把具有相同特征和行为的对象归在一起就形成了类。</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类的产生：分类。人们认识和处理具体事物时总会有意识或无意识的对它们进行归类。类产生的关键是进行正确的分类</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实例（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instance</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 ：在面向对象系统中，每个对象都属于一个类。属于某个特定类的对象称为该类的实例。因此，常常把对象和实例当作同义词。</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一个类中的每个对象都是这个类的一个实例。类是创建对象的模板，从同一个类实例化的每个对象在它们的操作和信息结构两个方面都有相同的定义。</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一个类和该类的所有对象称为类及对象（对象类）。</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49156"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50179" name="内容占位符 2"/>
          <p:cNvSpPr>
            <a:spLocks noGrp="1"/>
          </p:cNvSpPr>
          <p:nvPr>
            <p:ph sz="quarter" idx="1"/>
          </p:nvPr>
        </p:nvSpPr>
        <p:spPr>
          <a:xfrm>
            <a:off x="457200" y="1484313"/>
            <a:ext cx="7467600" cy="4989512"/>
          </a:xfrm>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为属于该类的所有对象提供统一的抽象描述和生成模板</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抽象描述称为</a:t>
            </a:r>
            <a:r>
              <a:rPr lang="zh-CN" altLang="en-US" kern="1200" dirty="0">
                <a:solidFill>
                  <a:srgbClr val="0070C0"/>
                </a:solidFill>
                <a:latin typeface="+mn-lt"/>
                <a:ea typeface="宋体" panose="02010600030101010101" pitchFamily="2" charset="-122"/>
                <a:cs typeface="+mn-cs"/>
              </a:rPr>
              <a:t>接口</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Interface</a:t>
            </a:r>
            <a:r>
              <a:rPr lang="zh-CN" altLang="en-US" kern="1200" dirty="0">
                <a:latin typeface="+mn-lt"/>
                <a:ea typeface="宋体" panose="02010600030101010101" pitchFamily="2" charset="-122"/>
                <a:cs typeface="+mn-cs"/>
              </a:rPr>
              <a:t>），定义了类所含对象对外的（其他类和对象）的统一协议</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生成模板称为</a:t>
            </a:r>
            <a:r>
              <a:rPr lang="zh-CN" altLang="en-US" kern="1200" dirty="0">
                <a:solidFill>
                  <a:srgbClr val="0070C0"/>
                </a:solidFill>
                <a:latin typeface="+mn-lt"/>
                <a:ea typeface="宋体" panose="02010600030101010101" pitchFamily="2" charset="-122"/>
                <a:cs typeface="+mn-cs"/>
              </a:rPr>
              <a:t>实现</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Implementation</a:t>
            </a:r>
            <a:r>
              <a:rPr lang="zh-CN" altLang="en-US" kern="1200" dirty="0">
                <a:latin typeface="+mn-lt"/>
                <a:ea typeface="宋体" panose="02010600030101010101" pitchFamily="2" charset="-122"/>
                <a:cs typeface="+mn-cs"/>
              </a:rPr>
              <a:t>），说明了类所含对象的生成机制和行为模式 </a:t>
            </a: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类包括：</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solidFill>
                  <a:srgbClr val="0070C0"/>
                </a:solidFill>
                <a:latin typeface="+mn-lt"/>
                <a:ea typeface="宋体" panose="02010600030101010101" pitchFamily="2" charset="-122"/>
                <a:cs typeface="+mn-cs"/>
              </a:rPr>
              <a:t>名称</a:t>
            </a:r>
            <a:endParaRPr lang="en-US" altLang="zh-CN" kern="1200" dirty="0">
              <a:solidFill>
                <a:srgbClr val="0070C0"/>
              </a:solidFill>
              <a:latin typeface="+mn-lt"/>
              <a:ea typeface="宋体" panose="02010600030101010101" pitchFamily="2" charset="-122"/>
              <a:cs typeface="+mn-cs"/>
            </a:endParaRPr>
          </a:p>
          <a:p>
            <a:pPr lvl="1" eaLnBrk="1" hangingPunct="1">
              <a:buSzPct val="80000"/>
            </a:pPr>
            <a:r>
              <a:rPr lang="zh-CN" altLang="en-US" kern="1200" dirty="0">
                <a:solidFill>
                  <a:srgbClr val="0070C0"/>
                </a:solidFill>
                <a:latin typeface="+mn-lt"/>
                <a:ea typeface="宋体" panose="02010600030101010101" pitchFamily="2" charset="-122"/>
                <a:cs typeface="+mn-cs"/>
              </a:rPr>
              <a:t>属性</a:t>
            </a:r>
            <a:endParaRPr lang="en-US" altLang="zh-CN" kern="1200" dirty="0">
              <a:solidFill>
                <a:srgbClr val="0070C0"/>
              </a:solidFill>
              <a:latin typeface="+mn-lt"/>
              <a:ea typeface="宋体" panose="02010600030101010101" pitchFamily="2" charset="-122"/>
              <a:cs typeface="+mn-cs"/>
            </a:endParaRPr>
          </a:p>
          <a:p>
            <a:pPr lvl="1" eaLnBrk="1" hangingPunct="1">
              <a:buSzPct val="80000"/>
            </a:pPr>
            <a:r>
              <a:rPr lang="zh-CN" altLang="en-US" kern="1200" dirty="0">
                <a:solidFill>
                  <a:srgbClr val="0070C0"/>
                </a:solidFill>
                <a:latin typeface="+mn-lt"/>
                <a:ea typeface="宋体" panose="02010600030101010101" pitchFamily="2" charset="-122"/>
                <a:cs typeface="+mn-cs"/>
              </a:rPr>
              <a:t>行为方法</a:t>
            </a:r>
            <a:endParaRPr lang="en-US" altLang="zh-CN" kern="1200" dirty="0">
              <a:solidFill>
                <a:srgbClr val="0070C0"/>
              </a:solidFill>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在进行面向对象的分析与设计时，通常着重关注类。</a:t>
            </a:r>
            <a:endParaRPr lang="en-US" altLang="zh-CN" kern="1200" dirty="0">
              <a:latin typeface="+mn-lt"/>
              <a:ea typeface="宋体" panose="02010600030101010101" pitchFamily="2" charset="-122"/>
              <a:cs typeface="+mn-cs"/>
            </a:endParaRPr>
          </a:p>
        </p:txBody>
      </p:sp>
      <p:sp>
        <p:nvSpPr>
          <p:cNvPr id="5018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50181" name="Picture 4"/>
          <p:cNvPicPr>
            <a:picLocks noChangeAspect="1"/>
          </p:cNvPicPr>
          <p:nvPr/>
        </p:nvPicPr>
        <p:blipFill>
          <a:blip r:embed="rId1"/>
          <a:stretch>
            <a:fillRect/>
          </a:stretch>
        </p:blipFill>
        <p:spPr>
          <a:xfrm>
            <a:off x="3294063" y="3965575"/>
            <a:ext cx="2933700" cy="1695450"/>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51203"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51204" name="内容占位符 8"/>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类的基本特征</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抽象</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继承</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封装</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多态</a:t>
            </a:r>
            <a:endParaRPr lang="zh-CN" altLang="en-US"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52227"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类的</a:t>
            </a:r>
            <a:r>
              <a:rPr lang="zh-CN" altLang="en-US" kern="1200" dirty="0">
                <a:solidFill>
                  <a:srgbClr val="0070C0"/>
                </a:solidFill>
                <a:latin typeface="+mn-lt"/>
                <a:ea typeface="宋体" panose="02010600030101010101" pitchFamily="2" charset="-122"/>
                <a:cs typeface="+mn-cs"/>
              </a:rPr>
              <a:t>抽象</a:t>
            </a:r>
            <a:r>
              <a:rPr lang="zh-CN" altLang="en-US" kern="1200" dirty="0">
                <a:latin typeface="+mn-lt"/>
                <a:ea typeface="宋体" panose="02010600030101010101" pitchFamily="2" charset="-122"/>
                <a:cs typeface="+mn-cs"/>
              </a:rPr>
              <a:t>（</a:t>
            </a:r>
            <a:r>
              <a:rPr lang="en-US" altLang="zh-CN" kern="1200" dirty="0">
                <a:latin typeface="Times New Roman" panose="02020603050405020304" pitchFamily="18" charset="0"/>
                <a:ea typeface="宋体" panose="02010600030101010101" pitchFamily="2" charset="-122"/>
                <a:cs typeface="+mn-cs"/>
              </a:rPr>
              <a:t>Abstraction</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抽象是人们在理解事物时常用的手段 。是指在事物的众多特征当中只注意那些和目标密切相关的特征，同时忽略那些不相关的特征，进而找出事物的本质和共性 </a:t>
            </a: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忽略的方式（水平层次）：对象就是对现实世界事物的抽象结果，它表达了系统所需要的现实世界事物特征，抛弃了那些系统不需要的特征。</a:t>
            </a:r>
            <a:endParaRPr lang="zh-CN" altLang="en-US"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忽略的方式（垂直层次）：类则是对象集的抽象结果，它忽略了具体某个对象在特定时间和空间的细节状态，从对象集的全局出发，在一个更高的逻辑层次上，描述了对象集的共性 </a:t>
            </a:r>
            <a:endParaRPr lang="zh-CN" altLang="en-US" kern="1200" dirty="0">
              <a:latin typeface="+mn-lt"/>
              <a:ea typeface="宋体" panose="02010600030101010101" pitchFamily="2" charset="-122"/>
              <a:cs typeface="+mn-cs"/>
            </a:endParaRPr>
          </a:p>
        </p:txBody>
      </p:sp>
      <p:sp>
        <p:nvSpPr>
          <p:cNvPr id="5222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50179" name="内容占位符 2"/>
          <p:cNvSpPr>
            <a:spLocks noGrp="1"/>
          </p:cNvSpPr>
          <p:nvPr>
            <p:ph sz="quarter" idx="1"/>
          </p:nvPr>
        </p:nvSpPr>
        <p:spPr/>
        <p:txBody>
          <a:bodyPr vert="horz" wrap="square" lIns="91440" tIns="45720" rIns="91440" bIns="45720" numCol="1" anchor="t" anchorCtr="0" compatLnSpc="1">
            <a:normAutofit/>
          </a:bodyPr>
          <a:lstStyle/>
          <a:p>
            <a:pPr marL="273050" marR="0" lvl="1"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类的</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封装</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Encapsulation</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mn-ea"/>
                <a:cs typeface="+mn-cs"/>
              </a:rPr>
              <a:t>信息隐蔽和局部化</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zh-CN" sz="2400" b="1" i="0" u="none" strike="noStrike" kern="1200" cap="none" spc="0" normalizeH="0" baseline="0" noProof="0" dirty="0">
                <a:ln>
                  <a:noFill/>
                </a:ln>
                <a:solidFill>
                  <a:schemeClr val="tx1"/>
                </a:solidFill>
                <a:effectLst/>
                <a:uLnTx/>
                <a:uFillTx/>
                <a:latin typeface="+mn-lt"/>
                <a:ea typeface="+mn-ea"/>
                <a:cs typeface="+mn-cs"/>
              </a:rPr>
              <a:t>封装是一种信息隐蔽技术，目的是使对象的生产者和使用者分离，使对象的定义和实现分开。</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封装是指尽可能隐藏构造单位内部的实现细节，只通过有限的对外接口保持对外联系的一种软件构造策略 </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绝不是简单的将属性和行为放置在一起 。封装的基本单位是对象。</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特征：</a:t>
            </a:r>
            <a:r>
              <a:rPr kumimoji="0" lang="zh-CN" altLang="zh-CN" sz="2400" b="1" i="0" u="none" strike="noStrike" kern="1200" cap="none" spc="0" normalizeH="0" baseline="0" noProof="0" dirty="0">
                <a:ln>
                  <a:noFill/>
                </a:ln>
                <a:solidFill>
                  <a:schemeClr val="tx1"/>
                </a:solidFill>
                <a:effectLst/>
                <a:uLnTx/>
                <a:uFillTx/>
                <a:latin typeface="+mn-lt"/>
                <a:ea typeface="+mn-ea"/>
                <a:cs typeface="+mn-cs"/>
              </a:rPr>
              <a:t>一个清楚的边界</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zh-CN" altLang="zh-CN" sz="2400" b="1" i="0" u="none" strike="noStrike" kern="1200" cap="none" spc="0" normalizeH="0" baseline="0" noProof="0" dirty="0">
                <a:ln>
                  <a:noFill/>
                </a:ln>
                <a:solidFill>
                  <a:schemeClr val="tx1"/>
                </a:solidFill>
                <a:effectLst/>
                <a:uLnTx/>
                <a:uFillTx/>
                <a:latin typeface="+mn-lt"/>
                <a:ea typeface="+mn-ea"/>
                <a:cs typeface="+mn-cs"/>
              </a:rPr>
              <a:t>一个接口</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zh-CN" altLang="zh-CN" sz="2400" b="1" i="0" u="none" strike="noStrike" kern="1200" cap="none" spc="0" normalizeH="0" baseline="0" noProof="0" dirty="0">
                <a:ln>
                  <a:noFill/>
                </a:ln>
                <a:solidFill>
                  <a:schemeClr val="tx1"/>
                </a:solidFill>
                <a:effectLst/>
                <a:uLnTx/>
                <a:uFillTx/>
                <a:latin typeface="+mn-lt"/>
                <a:ea typeface="+mn-ea"/>
                <a:cs typeface="+mn-cs"/>
              </a:rPr>
              <a:t>受保护的内部实现</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5325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54275" name="内容占位符 2"/>
          <p:cNvSpPr>
            <a:spLocks noGrp="1"/>
          </p:cNvSpPr>
          <p:nvPr>
            <p:ph sz="quarter" idx="1"/>
          </p:nvPr>
        </p:nvSpPr>
        <p:spPr>
          <a:xfrm>
            <a:off x="395288" y="1600200"/>
            <a:ext cx="7529512" cy="4873625"/>
          </a:xfrm>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类的</a:t>
            </a:r>
            <a:r>
              <a:rPr lang="zh-CN" altLang="en-US" kern="1200" dirty="0">
                <a:solidFill>
                  <a:srgbClr val="0070C0"/>
                </a:solidFill>
                <a:latin typeface="+mn-lt"/>
                <a:ea typeface="宋体" panose="02010600030101010101" pitchFamily="2" charset="-122"/>
                <a:cs typeface="+mn-cs"/>
              </a:rPr>
              <a:t>继承</a:t>
            </a:r>
            <a:r>
              <a:rPr lang="zh-CN" altLang="en-US" kern="1200" dirty="0">
                <a:latin typeface="Times New Roman" panose="02020603050405020304" pitchFamily="18" charset="0"/>
                <a:ea typeface="宋体" panose="02010600030101010101" pitchFamily="2" charset="-122"/>
                <a:cs typeface="+mn-cs"/>
              </a:rPr>
              <a:t>（</a:t>
            </a:r>
            <a:r>
              <a:rPr lang="en-US" altLang="zh-CN" kern="1200" dirty="0">
                <a:latin typeface="Times New Roman" panose="02020603050405020304" pitchFamily="18" charset="0"/>
                <a:ea typeface="宋体" panose="02010600030101010101" pitchFamily="2" charset="-122"/>
                <a:cs typeface="+mn-cs"/>
              </a:rPr>
              <a:t>Inheritance</a:t>
            </a:r>
            <a:r>
              <a:rPr lang="zh-CN" altLang="en-US" kern="1200" dirty="0">
                <a:latin typeface="Times New Roman" panose="02020603050405020304" pitchFamily="18" charset="0"/>
                <a:ea typeface="宋体" panose="02010600030101010101" pitchFamily="2" charset="-122"/>
                <a:cs typeface="+mn-cs"/>
              </a:rPr>
              <a:t>）</a:t>
            </a:r>
            <a:endParaRPr lang="en-US" altLang="zh-CN" kern="1200" dirty="0">
              <a:latin typeface="Times New Roman" panose="02020603050405020304" pitchFamily="18" charset="0"/>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继承是基于层次关系的不同类共享数据和操作的一种机制。父类中定义了其所有子类的公共属性和操作，在子类中除了定义自己特有的属性和操作外，可以继承其父类（或祖先类）的属性和操作，还可以对父类（或祖先类）中的操作重新定义其实现方法。</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意义：实现代码的重用。</a:t>
            </a:r>
            <a:endParaRPr lang="en-US" altLang="zh-CN" kern="1200" dirty="0">
              <a:latin typeface="+mn-lt"/>
              <a:ea typeface="宋体" panose="02010600030101010101" pitchFamily="2" charset="-122"/>
              <a:cs typeface="+mn-cs"/>
            </a:endParaRPr>
          </a:p>
        </p:txBody>
      </p:sp>
      <p:sp>
        <p:nvSpPr>
          <p:cNvPr id="5427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54277" name="Picture 3"/>
          <p:cNvPicPr>
            <a:picLocks noChangeAspect="1"/>
          </p:cNvPicPr>
          <p:nvPr/>
        </p:nvPicPr>
        <p:blipFill>
          <a:blip r:embed="rId1"/>
          <a:stretch>
            <a:fillRect/>
          </a:stretch>
        </p:blipFill>
        <p:spPr>
          <a:xfrm>
            <a:off x="4356100" y="4221163"/>
            <a:ext cx="4443413" cy="2447925"/>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55299" name="内容占位符 2"/>
          <p:cNvSpPr>
            <a:spLocks noGrp="1"/>
          </p:cNvSpPr>
          <p:nvPr>
            <p:ph sz="quarter" idx="1"/>
          </p:nvPr>
        </p:nvSpPr>
        <p:spPr/>
        <p:txBody>
          <a:bodyPr vert="horz" wrap="square" lIns="91440" tIns="45720" rIns="91440" bIns="45720" anchor="t" anchorCtr="0"/>
          <a:lstStyle/>
          <a:p>
            <a:pPr>
              <a:buSzPct val="70000"/>
            </a:pPr>
            <a:r>
              <a:rPr lang="zh-CN" altLang="en-US" kern="1200" dirty="0">
                <a:solidFill>
                  <a:srgbClr val="0070C0"/>
                </a:solidFill>
                <a:latin typeface="+mn-lt"/>
                <a:ea typeface="宋体" panose="02010600030101010101" pitchFamily="2" charset="-122"/>
                <a:cs typeface="+mn-cs"/>
              </a:rPr>
              <a:t>抽象类</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abstract class</a:t>
            </a:r>
            <a:r>
              <a:rPr lang="zh-CN" altLang="en-US" kern="1200" dirty="0">
                <a:latin typeface="+mn-lt"/>
                <a:ea typeface="宋体" panose="02010600030101010101" pitchFamily="2" charset="-122"/>
                <a:cs typeface="+mn-cs"/>
              </a:rPr>
              <a:t>）：没有实例的类，它把一些类组织起来，提供一些公共的行为，但并不需要使用这个类的实例，而仅使用其子类的实例。</a:t>
            </a:r>
            <a:endParaRPr lang="zh-CN" altLang="en-US" kern="1200" dirty="0">
              <a:latin typeface="+mn-lt"/>
              <a:ea typeface="宋体" panose="02010600030101010101" pitchFamily="2" charset="-122"/>
              <a:cs typeface="+mn-cs"/>
            </a:endParaRPr>
          </a:p>
          <a:p>
            <a:pPr>
              <a:buSzPct val="70000"/>
            </a:pPr>
            <a:r>
              <a:rPr lang="zh-CN" altLang="en-US" kern="1200" dirty="0">
                <a:latin typeface="+mn-lt"/>
                <a:ea typeface="宋体" panose="02010600030101010101" pitchFamily="2" charset="-122"/>
                <a:cs typeface="+mn-cs"/>
              </a:rPr>
              <a:t>如果一个子类只有唯一一个父类，这个继承称为</a:t>
            </a:r>
            <a:r>
              <a:rPr lang="zh-CN" altLang="en-US" kern="1200" dirty="0">
                <a:solidFill>
                  <a:srgbClr val="0070C0"/>
                </a:solidFill>
                <a:latin typeface="+mn-lt"/>
                <a:ea typeface="宋体" panose="02010600030101010101" pitchFamily="2" charset="-122"/>
                <a:cs typeface="+mn-cs"/>
              </a:rPr>
              <a:t>单一继承</a:t>
            </a:r>
            <a:r>
              <a:rPr lang="zh-CN" altLang="en-US" kern="1200" dirty="0">
                <a:latin typeface="+mn-lt"/>
                <a:ea typeface="宋体" panose="02010600030101010101" pitchFamily="2" charset="-122"/>
                <a:cs typeface="+mn-cs"/>
              </a:rPr>
              <a:t>。如果一个子类有一个以上的父类，这种继承称为</a:t>
            </a:r>
            <a:r>
              <a:rPr lang="zh-CN" altLang="en-US" kern="1200" dirty="0">
                <a:solidFill>
                  <a:srgbClr val="0070C0"/>
                </a:solidFill>
                <a:latin typeface="+mn-lt"/>
                <a:ea typeface="宋体" panose="02010600030101010101" pitchFamily="2" charset="-122"/>
                <a:cs typeface="+mn-cs"/>
              </a:rPr>
              <a:t>多重继承</a:t>
            </a:r>
            <a:r>
              <a:rPr lang="zh-CN" altLang="en-US" kern="1200" dirty="0">
                <a:latin typeface="+mn-lt"/>
                <a:ea typeface="宋体" panose="02010600030101010101" pitchFamily="2" charset="-122"/>
                <a:cs typeface="+mn-cs"/>
              </a:rPr>
              <a:t>。</a:t>
            </a:r>
            <a:endParaRPr lang="zh-CN" altLang="en-US" kern="1200" dirty="0">
              <a:latin typeface="+mn-lt"/>
              <a:ea typeface="宋体" panose="02010600030101010101" pitchFamily="2" charset="-122"/>
              <a:cs typeface="+mn-cs"/>
            </a:endParaRPr>
          </a:p>
        </p:txBody>
      </p:sp>
      <p:sp>
        <p:nvSpPr>
          <p:cNvPr id="5530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56323" name="内容占位符 2"/>
          <p:cNvSpPr>
            <a:spLocks noGrp="1"/>
          </p:cNvSpPr>
          <p:nvPr>
            <p:ph sz="quarter" idx="1"/>
          </p:nvPr>
        </p:nvSpPr>
        <p:spPr>
          <a:xfrm>
            <a:off x="457200" y="1557338"/>
            <a:ext cx="7467600" cy="4916487"/>
          </a:xfrm>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类的多态（</a:t>
            </a:r>
            <a:r>
              <a:rPr lang="en-US" altLang="zh-CN" kern="1200" dirty="0">
                <a:latin typeface="Times New Roman" panose="02020603050405020304" pitchFamily="18" charset="0"/>
                <a:ea typeface="宋体" panose="02010600030101010101" pitchFamily="2" charset="-122"/>
                <a:cs typeface="+mn-cs"/>
              </a:rPr>
              <a:t>Polymorphism</a:t>
            </a:r>
            <a:r>
              <a:rPr lang="zh-CN" altLang="en-US" kern="1200" dirty="0">
                <a:latin typeface="+mn-lt"/>
                <a:ea typeface="宋体" panose="02010600030101010101" pitchFamily="2" charset="-122"/>
                <a:cs typeface="+mn-cs"/>
              </a:rPr>
              <a:t>）</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latin typeface="楷体_GB2312" pitchFamily="49" charset="-122"/>
                <a:ea typeface="宋体" panose="02010600030101010101" pitchFamily="2" charset="-122"/>
                <a:cs typeface="+mn-cs"/>
              </a:rPr>
              <a:t>同一个消息为不同的对象接收时，可产生不同的动作或执行结果。即</a:t>
            </a:r>
            <a:r>
              <a:rPr lang="zh-CN" altLang="zh-CN" kern="1200" dirty="0">
                <a:latin typeface="+mn-lt"/>
                <a:ea typeface="宋体" panose="02010600030101010101" pitchFamily="2" charset="-122"/>
                <a:cs typeface="+mn-cs"/>
              </a:rPr>
              <a:t>在多个类中可以定义同一个操作或属性名，并在每一类中有不同的实现。</a:t>
            </a:r>
            <a:endParaRPr lang="zh-CN" altLang="en-US"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p:txBody>
      </p:sp>
      <p:sp>
        <p:nvSpPr>
          <p:cNvPr id="5632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56325" name="Picture 3"/>
          <p:cNvPicPr>
            <a:picLocks noChangeAspect="1"/>
          </p:cNvPicPr>
          <p:nvPr/>
        </p:nvPicPr>
        <p:blipFill>
          <a:blip r:embed="rId1"/>
          <a:stretch>
            <a:fillRect/>
          </a:stretch>
        </p:blipFill>
        <p:spPr>
          <a:xfrm>
            <a:off x="1403350" y="3573463"/>
            <a:ext cx="5976938" cy="2992437"/>
          </a:xfrm>
          <a:prstGeom prst="rect">
            <a:avLst/>
          </a:prstGeom>
          <a:noFill/>
          <a:ln w="9525">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57347" name="Rectangle 3"/>
          <p:cNvSpPr>
            <a:spLocks noGrp="1"/>
          </p:cNvSpPr>
          <p:nvPr>
            <p:ph sz="quarter" idx="1"/>
          </p:nvPr>
        </p:nvSpPr>
        <p:spPr>
          <a:xfrm>
            <a:off x="457200" y="1341438"/>
            <a:ext cx="7715250" cy="5132387"/>
          </a:xfrm>
        </p:spPr>
        <p:txBody>
          <a:bodyPr vert="horz" wrap="square" lIns="91440" tIns="45720" rIns="91440" bIns="45720" anchor="t" anchorCtr="0"/>
          <a:lstStyle/>
          <a:p>
            <a:pPr algn="just" eaLnBrk="1" hangingPunct="1">
              <a:buSzPct val="70000"/>
              <a:buFontTx/>
              <a:buNone/>
            </a:pPr>
            <a:r>
              <a:rPr lang="en-US" altLang="zh-CN" kern="1200" dirty="0">
                <a:latin typeface="Times New Roman" panose="02020603050405020304" pitchFamily="18" charset="0"/>
                <a:ea typeface="宋体" panose="02010600030101010101" pitchFamily="2" charset="-122"/>
                <a:cs typeface="+mn-cs"/>
              </a:rPr>
              <a:t>3</a:t>
            </a:r>
            <a:r>
              <a:rPr lang="zh-CN" altLang="en-US" kern="1200" dirty="0">
                <a:latin typeface="Times New Roman" panose="02020603050405020304" pitchFamily="18" charset="0"/>
                <a:ea typeface="宋体" panose="02010600030101010101" pitchFamily="2" charset="-122"/>
                <a:cs typeface="+mn-cs"/>
              </a:rPr>
              <a:t>、</a:t>
            </a:r>
            <a:r>
              <a:rPr lang="zh-CN" altLang="en-US" kern="1200" dirty="0">
                <a:solidFill>
                  <a:srgbClr val="0070C0"/>
                </a:solidFill>
                <a:latin typeface="Times New Roman" panose="02020603050405020304" pitchFamily="18" charset="0"/>
                <a:ea typeface="宋体" panose="02010600030101010101" pitchFamily="2" charset="-122"/>
                <a:cs typeface="+mn-cs"/>
              </a:rPr>
              <a:t>消息</a:t>
            </a:r>
            <a:r>
              <a:rPr lang="zh-CN" altLang="en-US" kern="1200" dirty="0">
                <a:latin typeface="Times New Roman" panose="02020603050405020304" pitchFamily="18" charset="0"/>
                <a:ea typeface="宋体" panose="02010600030101010101" pitchFamily="2" charset="-122"/>
                <a:cs typeface="+mn-cs"/>
              </a:rPr>
              <a:t>（</a:t>
            </a:r>
            <a:r>
              <a:rPr lang="en-US" altLang="zh-CN" kern="1200" dirty="0">
                <a:latin typeface="Times New Roman" panose="02020603050405020304" pitchFamily="18" charset="0"/>
                <a:ea typeface="宋体" panose="02010600030101010101" pitchFamily="2" charset="-122"/>
                <a:cs typeface="+mn-cs"/>
              </a:rPr>
              <a:t>Message</a:t>
            </a:r>
            <a:r>
              <a:rPr lang="zh-CN" altLang="en-US" kern="1200" dirty="0">
                <a:latin typeface="Times New Roman" panose="02020603050405020304" pitchFamily="18" charset="0"/>
                <a:ea typeface="宋体" panose="02010600030101010101" pitchFamily="2" charset="-122"/>
                <a:cs typeface="+mn-cs"/>
              </a:rPr>
              <a:t>）</a:t>
            </a:r>
            <a:endParaRPr lang="en-US" altLang="zh-CN" kern="1200" dirty="0">
              <a:latin typeface="Times New Roman" panose="02020603050405020304" pitchFamily="18" charset="0"/>
              <a:ea typeface="宋体" panose="02010600030101010101" pitchFamily="2" charset="-122"/>
              <a:cs typeface="+mn-cs"/>
            </a:endParaRPr>
          </a:p>
          <a:p>
            <a:pPr algn="just" eaLnBrk="1" hangingPunct="1">
              <a:buSzPct val="70000"/>
            </a:pPr>
            <a:r>
              <a:rPr lang="zh-CN" altLang="en-US" kern="1200" dirty="0">
                <a:latin typeface="+mn-lt"/>
                <a:ea typeface="宋体" panose="02010600030101010101" pitchFamily="2" charset="-122"/>
                <a:cs typeface="+mn-cs"/>
              </a:rPr>
              <a:t>对象间相互联系和相互作用的方式称为消息。是</a:t>
            </a:r>
            <a:r>
              <a:rPr lang="zh-CN" altLang="en-US" kern="1200" dirty="0">
                <a:latin typeface="Times New Roman" panose="02020603050405020304" pitchFamily="18" charset="0"/>
                <a:ea typeface="宋体" panose="02010600030101010101" pitchFamily="2" charset="-122"/>
                <a:cs typeface="+mn-cs"/>
              </a:rPr>
              <a:t>对象之间的联系纽带。一个对象通过向另一个对象发送消息来请求其服务。</a:t>
            </a:r>
            <a:endParaRPr lang="en-US" altLang="zh-CN" kern="1200" dirty="0">
              <a:latin typeface="Times New Roman" panose="02020603050405020304" pitchFamily="18" charset="0"/>
              <a:ea typeface="宋体" panose="02010600030101010101" pitchFamily="2" charset="-122"/>
              <a:cs typeface="+mn-cs"/>
            </a:endParaRPr>
          </a:p>
          <a:p>
            <a:pPr algn="just" eaLnBrk="1" hangingPunct="1">
              <a:buSzPct val="70000"/>
            </a:pPr>
            <a:r>
              <a:rPr lang="zh-CN" altLang="en-US" kern="1200" dirty="0">
                <a:latin typeface="Times New Roman" panose="02020603050405020304" pitchFamily="18" charset="0"/>
                <a:ea typeface="宋体" panose="02010600030101010101" pitchFamily="2" charset="-122"/>
                <a:cs typeface="+mn-cs"/>
              </a:rPr>
              <a:t>消息只告诉接收对象需要完成什么操作，但并不指示接收者怎样完成操作。消息完全由接收者解释执行。</a:t>
            </a:r>
            <a:endParaRPr lang="en-US" altLang="zh-CN" kern="1200" dirty="0">
              <a:latin typeface="Times New Roman" panose="02020603050405020304" pitchFamily="18" charset="0"/>
              <a:ea typeface="宋体" panose="02010600030101010101" pitchFamily="2" charset="-122"/>
              <a:cs typeface="+mn-cs"/>
            </a:endParaRPr>
          </a:p>
          <a:p>
            <a:pPr algn="just" eaLnBrk="1" hangingPunct="1">
              <a:buSzPct val="70000"/>
            </a:pPr>
            <a:r>
              <a:rPr lang="zh-CN" altLang="en-US" kern="1200" dirty="0">
                <a:latin typeface="Times New Roman" panose="02020603050405020304" pitchFamily="18" charset="0"/>
                <a:ea typeface="宋体" panose="02010600030101010101" pitchFamily="2" charset="-122"/>
                <a:cs typeface="+mn-cs"/>
              </a:rPr>
              <a:t>消息的组成：一个消息通常包括接收对象名、调用的操作名和适当的参数（如果有必要的话）。</a:t>
            </a:r>
            <a:endParaRPr lang="en-US" altLang="zh-CN" kern="1200" dirty="0">
              <a:latin typeface="Times New Roman" panose="02020603050405020304" pitchFamily="18" charset="0"/>
              <a:ea typeface="宋体" panose="02010600030101010101" pitchFamily="2" charset="-122"/>
              <a:cs typeface="+mn-cs"/>
            </a:endParaRPr>
          </a:p>
          <a:p>
            <a:pPr eaLnBrk="1" hangingPunct="1">
              <a:buSzPct val="70000"/>
              <a:buFontTx/>
              <a:buNone/>
            </a:pPr>
            <a:endParaRPr lang="zh-CN" altLang="en-US" kern="1200" dirty="0">
              <a:latin typeface="Times New Roman" panose="02020603050405020304" pitchFamily="18" charset="0"/>
              <a:ea typeface="宋体" panose="02010600030101010101" pitchFamily="2" charset="-122"/>
              <a:cs typeface="+mn-cs"/>
            </a:endParaRPr>
          </a:p>
        </p:txBody>
      </p:sp>
      <p:sp>
        <p:nvSpPr>
          <p:cNvPr id="57348"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57349" name="Picture 6"/>
          <p:cNvPicPr>
            <a:picLocks noChangeAspect="1"/>
          </p:cNvPicPr>
          <p:nvPr/>
        </p:nvPicPr>
        <p:blipFill>
          <a:blip r:embed="rId1"/>
          <a:stretch>
            <a:fillRect/>
          </a:stretch>
        </p:blipFill>
        <p:spPr>
          <a:xfrm>
            <a:off x="1592263" y="4581525"/>
            <a:ext cx="6216650" cy="2087563"/>
          </a:xfrm>
          <a:prstGeom prst="rect">
            <a:avLst/>
          </a:prstGeom>
          <a:noFill/>
          <a:ln w="9525">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1.3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面向对象的基本概念</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58371" name="内容占位符 6"/>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消息的类型：报告消息、询问消息、操作消息</a:t>
            </a: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消息传递和过程调用的区别</a:t>
            </a:r>
            <a:endParaRPr lang="zh-CN" altLang="en-US" kern="1200" dirty="0">
              <a:latin typeface="+mn-lt"/>
              <a:ea typeface="宋体" panose="02010600030101010101" pitchFamily="2" charset="-122"/>
              <a:cs typeface="+mn-cs"/>
            </a:endParaRPr>
          </a:p>
        </p:txBody>
      </p:sp>
      <p:sp>
        <p:nvSpPr>
          <p:cNvPr id="5837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58373" name="Picture 5"/>
          <p:cNvPicPr>
            <a:picLocks noChangeAspect="1"/>
          </p:cNvPicPr>
          <p:nvPr/>
        </p:nvPicPr>
        <p:blipFill>
          <a:blip r:embed="rId1"/>
          <a:srcRect l="14853" t="52484" r="23198" b="23820"/>
          <a:stretch>
            <a:fillRect/>
          </a:stretch>
        </p:blipFill>
        <p:spPr>
          <a:xfrm>
            <a:off x="1116013" y="2781300"/>
            <a:ext cx="6192837" cy="2159000"/>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9395"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solidFill>
                  <a:srgbClr val="0070C0"/>
                </a:solidFill>
                <a:latin typeface="+mn-lt"/>
                <a:ea typeface="宋体" panose="02010600030101010101" pitchFamily="2" charset="-122"/>
                <a:cs typeface="+mn-cs"/>
              </a:rPr>
              <a:t>面向对象分析</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Object-Oriented Analysis</a:t>
            </a:r>
            <a:r>
              <a:rPr lang="zh-CN" altLang="en-US" kern="1200" dirty="0">
                <a:latin typeface="+mn-lt"/>
                <a:ea typeface="宋体" panose="02010600030101010101" pitchFamily="2" charset="-122"/>
                <a:cs typeface="+mn-cs"/>
              </a:rPr>
              <a:t>，</a:t>
            </a:r>
            <a:r>
              <a:rPr lang="en-US" altLang="zh-CN" kern="1200" dirty="0">
                <a:solidFill>
                  <a:srgbClr val="FF0000"/>
                </a:solidFill>
                <a:latin typeface="+mn-lt"/>
                <a:ea typeface="宋体" panose="02010600030101010101" pitchFamily="2" charset="-122"/>
                <a:cs typeface="+mn-cs"/>
              </a:rPr>
              <a:t>OOA</a:t>
            </a:r>
            <a:r>
              <a:rPr lang="zh-CN" altLang="en-US" kern="1200" dirty="0">
                <a:latin typeface="+mn-lt"/>
                <a:ea typeface="宋体" panose="02010600030101010101" pitchFamily="2" charset="-122"/>
                <a:cs typeface="+mn-cs"/>
              </a:rPr>
              <a:t>）</a:t>
            </a:r>
            <a:r>
              <a:rPr lang="zh-CN" altLang="en-US" kern="1200" dirty="0">
                <a:solidFill>
                  <a:srgbClr val="FF0000"/>
                </a:solidFill>
                <a:latin typeface="+mn-lt"/>
                <a:ea typeface="宋体" panose="02010600030101010101" pitchFamily="2" charset="-122"/>
                <a:cs typeface="+mn-cs"/>
              </a:rPr>
              <a:t> </a:t>
            </a:r>
            <a:r>
              <a:rPr lang="en-US" altLang="zh-CN" kern="1200" dirty="0">
                <a:solidFill>
                  <a:srgbClr val="FF0000"/>
                </a:solidFill>
                <a:latin typeface="+mn-lt"/>
                <a:ea typeface="宋体" panose="02010600030101010101" pitchFamily="2" charset="-122"/>
                <a:cs typeface="+mn-cs"/>
              </a:rPr>
              <a:t>what</a:t>
            </a:r>
            <a:r>
              <a:rPr lang="zh-CN" altLang="en-US" kern="1200" dirty="0">
                <a:solidFill>
                  <a:srgbClr val="FF0000"/>
                </a:solidFill>
                <a:latin typeface="+mn-lt"/>
                <a:ea typeface="宋体" panose="02010600030101010101" pitchFamily="2" charset="-122"/>
                <a:cs typeface="+mn-cs"/>
              </a:rPr>
              <a:t>？</a:t>
            </a:r>
            <a:endParaRPr lang="en-US" altLang="zh-CN" kern="1200" dirty="0">
              <a:solidFill>
                <a:srgbClr val="FF0000"/>
              </a:solidFill>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抽取和整理用户需求并建立问题域精确模型的过程。</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面向对象分析的关键，是识别出问题域内的对象，并分析它们相互间的关系，最终建立起问题域的简洁、精确、可理解的正确模型。（建立</a:t>
            </a:r>
            <a:r>
              <a:rPr lang="en-US" altLang="zh-CN" kern="1200" dirty="0">
                <a:latin typeface="+mn-lt"/>
                <a:ea typeface="宋体" panose="02010600030101010101" pitchFamily="2" charset="-122"/>
                <a:cs typeface="+mn-cs"/>
              </a:rPr>
              <a:t>OOA</a:t>
            </a:r>
            <a:r>
              <a:rPr lang="zh-CN" altLang="en-US" kern="1200" dirty="0">
                <a:latin typeface="+mn-lt"/>
                <a:ea typeface="宋体" panose="02010600030101010101" pitchFamily="2" charset="-122"/>
                <a:cs typeface="+mn-cs"/>
              </a:rPr>
              <a:t>模型）</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包括分析步骤、分析过程、系统建模、提交文档资料。</a:t>
            </a:r>
            <a:endParaRPr lang="en-US" altLang="zh-CN"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p:txBody>
      </p:sp>
      <p:sp>
        <p:nvSpPr>
          <p:cNvPr id="5939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60419"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通常需求分为两种类型：</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solidFill>
                  <a:srgbClr val="0070C0"/>
                </a:solidFill>
                <a:latin typeface="+mn-lt"/>
                <a:ea typeface="宋体" panose="02010600030101010101" pitchFamily="2" charset="-122"/>
                <a:cs typeface="+mn-cs"/>
              </a:rPr>
              <a:t>功能需求</a:t>
            </a:r>
            <a:r>
              <a:rPr lang="zh-CN" altLang="en-US" kern="1200" dirty="0">
                <a:latin typeface="+mn-lt"/>
                <a:ea typeface="宋体" panose="02010600030101010101" pitchFamily="2" charset="-122"/>
                <a:cs typeface="+mn-cs"/>
              </a:rPr>
              <a:t>：描述了软件系统所应具有的外部行为。需要计算机系统解决的问题，也就是对数据的处理要求，这是一类最主要的需求。</a:t>
            </a:r>
            <a:endParaRPr lang="zh-CN" altLang="en-US" kern="1200" dirty="0">
              <a:latin typeface="+mn-lt"/>
              <a:ea typeface="宋体" panose="02010600030101010101" pitchFamily="2" charset="-122"/>
              <a:cs typeface="+mn-cs"/>
            </a:endParaRPr>
          </a:p>
          <a:p>
            <a:pPr lvl="1" eaLnBrk="1" hangingPunct="1">
              <a:buSzPct val="80000"/>
            </a:pPr>
            <a:r>
              <a:rPr lang="zh-CN" altLang="en-US" kern="1200" dirty="0">
                <a:solidFill>
                  <a:srgbClr val="0070C0"/>
                </a:solidFill>
                <a:latin typeface="+mn-lt"/>
                <a:ea typeface="宋体" panose="02010600030101010101" pitchFamily="2" charset="-122"/>
                <a:cs typeface="+mn-cs"/>
              </a:rPr>
              <a:t>非功能需求</a:t>
            </a:r>
            <a:r>
              <a:rPr lang="zh-CN" altLang="en-US" kern="1200" dirty="0">
                <a:latin typeface="+mn-lt"/>
                <a:ea typeface="宋体" panose="02010600030101010101" pitchFamily="2" charset="-122"/>
                <a:cs typeface="+mn-cs"/>
              </a:rPr>
              <a:t>：描述了系统展现给用户的行为和执行的操作等。实际使用环境所要求的需求，往往是一些限制要求，如性能、质量、约束、安全性等等。</a:t>
            </a:r>
            <a:endParaRPr lang="zh-CN" altLang="en-US"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62467" name="内容占位符 2"/>
          <p:cNvSpPr>
            <a:spLocks noGrp="1"/>
          </p:cNvSpPr>
          <p:nvPr>
            <p:ph sz="quarter" idx="1"/>
          </p:nvPr>
        </p:nvSpPr>
        <p:spPr>
          <a:xfrm>
            <a:off x="457200" y="1600200"/>
            <a:ext cx="7643813" cy="4873625"/>
          </a:xfrm>
        </p:spPr>
        <p:txBody>
          <a:bodyPr vert="horz" wrap="square" lIns="91440" tIns="45720" rIns="91440" bIns="45720" numCol="1" anchor="t" anchorCtr="0" compatLnSpc="1">
            <a:normAutofit lnSpcReduction="10000"/>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将软件的功能需求分为三个层次（除此之外，还包括非功能需求）：</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业务需求（</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business requirement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）：反映了组织机构或客户对系统、产品高层次的目标要求，它们在项目视图与范围文档中予以说明。</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（需求分析的首要任务：确定系统的范围和边界，将系统内部元素和外部事物分开）</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用户需求（</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user requirement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）：描述了用户使用产品必须要完成的任务和具备的功能，这在用例文档或方案脚本说明中予以说明。</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功能（系统）需求（</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functional requirement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）：定义了开发人员必须实现的软件功能，使得用户能完成他们的任务，从而满足其业务需求。</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6144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600200"/>
            <a:ext cx="7715250" cy="4873625"/>
          </a:xfrm>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OOA</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步骤</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获取客户对</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系统的需求，即标识场景（</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scenario</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）或使用用例（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use case</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建造静态结构模型（对象</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关系模型）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使用基本的需求作为指引来选择类和对象。</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为每个系统对象标识属性和操作。</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定义组织类的结构和层次。</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建造动态结构模型（对象</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行为模型） 。</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建造功能模型。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用使用用例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场景来复审</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OOA</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反复、迭代、渐增（</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4</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624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463675"/>
            <a:ext cx="7570788" cy="5060950"/>
          </a:xfrm>
        </p:spPr>
        <p:txBody>
          <a:bodyPr vert="horz" wrap="square" lIns="91440" tIns="45720" rIns="91440" bIns="45720" numCol="1" anchor="t" anchorCtr="0" compatLnSpc="1">
            <a:no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确定系统需求，建造需求模型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阶段：</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第一步是理解应用域（简称域）</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一旦开发小组成员达到了对该域的充分理解，就可以建造一个初始模型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该初始模型用来确定客户的初始需求，然后应用迭代法</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初始需求：</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需求是动态的</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需求是迭代的</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功能性需求和非功能性需求的处理</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6349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64515" name="内容占位符 2"/>
          <p:cNvSpPr>
            <a:spLocks noGrp="1"/>
          </p:cNvSpPr>
          <p:nvPr>
            <p:ph sz="quarter" idx="1"/>
          </p:nvPr>
        </p:nvSpPr>
        <p:spPr>
          <a:xfrm>
            <a:off x="539750" y="1484313"/>
            <a:ext cx="7488238" cy="4873625"/>
          </a:xfrm>
        </p:spPr>
        <p:txBody>
          <a:bodyPr vert="horz" wrap="square" lIns="91440" tIns="45720" rIns="91440" bIns="45720" anchor="t" anchorCtr="0"/>
          <a:lstStyle/>
          <a:p>
            <a:pPr marL="457200" indent="-457200" eaLnBrk="1" hangingPunct="1">
              <a:buSzPct val="70000"/>
              <a:buFontTx/>
              <a:buAutoNum type="circleNumDbPlain"/>
            </a:pPr>
            <a:r>
              <a:rPr lang="zh-CN" altLang="en-US" kern="1200" dirty="0">
                <a:latin typeface="+mn-lt"/>
                <a:ea typeface="宋体" panose="02010600030101010101" pitchFamily="2" charset="-122"/>
                <a:cs typeface="+mn-cs"/>
              </a:rPr>
              <a:t>发现客户需求的过程被称为需求获取（或称为需求启发、需求捕获、需求引导）</a:t>
            </a:r>
            <a:r>
              <a:rPr lang="en-US" altLang="zh-CN" kern="1200" dirty="0">
                <a:latin typeface="+mn-lt"/>
                <a:ea typeface="宋体" panose="02010600030101010101" pitchFamily="2" charset="-122"/>
                <a:cs typeface="+mn-cs"/>
              </a:rPr>
              <a:t> ——</a:t>
            </a:r>
            <a:r>
              <a:rPr lang="zh-CN" altLang="en-US" kern="1200" dirty="0">
                <a:latin typeface="+mn-lt"/>
                <a:ea typeface="宋体" panose="02010600030101010101" pitchFamily="2" charset="-122"/>
                <a:cs typeface="+mn-cs"/>
              </a:rPr>
              <a:t>理解应用域</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从人、文档或者环境当中获取需求的过程</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尽快熟悉应用域，或聘请领域专家</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需求工程师必须要利用各种方法和技术来“发现”需求 </a:t>
            </a:r>
            <a:endParaRPr lang="en-US" altLang="zh-CN" kern="1200" dirty="0">
              <a:latin typeface="+mn-lt"/>
              <a:ea typeface="宋体" panose="02010600030101010101" pitchFamily="2" charset="-122"/>
              <a:cs typeface="+mn-cs"/>
            </a:endParaRPr>
          </a:p>
          <a:p>
            <a:pPr lvl="2" eaLnBrk="1" hangingPunct="1">
              <a:buClr>
                <a:srgbClr val="E0752F"/>
              </a:buClr>
              <a:buSzPct val="60000"/>
            </a:pPr>
            <a:r>
              <a:rPr lang="zh-CN" altLang="en-US" kern="1200" dirty="0">
                <a:latin typeface="+mn-lt"/>
                <a:ea typeface="宋体" panose="02010600030101010101" pitchFamily="2" charset="-122"/>
                <a:cs typeface="+mn-cs"/>
              </a:rPr>
              <a:t>面谈</a:t>
            </a:r>
            <a:endParaRPr lang="en-US" altLang="zh-CN" kern="1200" dirty="0">
              <a:latin typeface="+mn-lt"/>
              <a:ea typeface="宋体" panose="02010600030101010101" pitchFamily="2" charset="-122"/>
              <a:cs typeface="+mn-cs"/>
            </a:endParaRPr>
          </a:p>
          <a:p>
            <a:pPr lvl="2" eaLnBrk="1" hangingPunct="1">
              <a:buClr>
                <a:srgbClr val="E0752F"/>
              </a:buClr>
              <a:buSzPct val="60000"/>
            </a:pPr>
            <a:r>
              <a:rPr lang="zh-CN" altLang="en-US" kern="1200" dirty="0">
                <a:latin typeface="+mn-lt"/>
                <a:ea typeface="宋体" panose="02010600030101010101" pitchFamily="2" charset="-122"/>
                <a:cs typeface="+mn-cs"/>
              </a:rPr>
              <a:t>其他技术：发放调查问卷；检查客户在业务上使用的各种表格（硬数据分析、文档检查）；对用户直接观察；集体获取方法 ：头脑风暴（</a:t>
            </a:r>
            <a:r>
              <a:rPr lang="en-US" altLang="zh-CN" kern="1200" dirty="0">
                <a:latin typeface="+mn-lt"/>
                <a:ea typeface="宋体" panose="02010600030101010101" pitchFamily="2" charset="-122"/>
                <a:cs typeface="+mn-cs"/>
              </a:rPr>
              <a:t>Brainstorming</a:t>
            </a:r>
            <a:r>
              <a:rPr lang="zh-CN" altLang="en-US" kern="1200" dirty="0">
                <a:latin typeface="+mn-lt"/>
                <a:ea typeface="宋体" panose="02010600030101010101" pitchFamily="2" charset="-122"/>
                <a:cs typeface="+mn-cs"/>
              </a:rPr>
              <a:t>）、专题讨论会（</a:t>
            </a:r>
            <a:r>
              <a:rPr lang="en-US" altLang="zh-CN" kern="1200" dirty="0">
                <a:latin typeface="+mn-lt"/>
                <a:ea typeface="宋体" panose="02010600030101010101" pitchFamily="2" charset="-122"/>
                <a:cs typeface="+mn-cs"/>
              </a:rPr>
              <a:t>Workshop</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p:txBody>
      </p:sp>
      <p:sp>
        <p:nvSpPr>
          <p:cNvPr id="645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65539" name="内容占位符 2"/>
          <p:cNvSpPr>
            <a:spLocks noGrp="1"/>
          </p:cNvSpPr>
          <p:nvPr>
            <p:ph sz="quarter" idx="1"/>
          </p:nvPr>
        </p:nvSpPr>
        <p:spPr>
          <a:xfrm>
            <a:off x="457200" y="1600200"/>
            <a:ext cx="7615238" cy="4873625"/>
          </a:xfrm>
        </p:spPr>
        <p:txBody>
          <a:bodyPr vert="horz" wrap="square" lIns="91440" tIns="45720" rIns="91440" bIns="45720" anchor="t" anchorCtr="0"/>
          <a:lstStyle/>
          <a:p>
            <a:pPr>
              <a:buSzPct val="70000"/>
            </a:pPr>
            <a:r>
              <a:rPr lang="zh-CN" altLang="en-US" kern="1200" dirty="0">
                <a:latin typeface="+mn-lt"/>
                <a:ea typeface="宋体" panose="02010600030101010101" pitchFamily="2" charset="-122"/>
                <a:cs typeface="+mn-cs"/>
              </a:rPr>
              <a:t>采用用例来收集客户需求的技术：</a:t>
            </a:r>
            <a:endParaRPr lang="zh-CN" altLang="en-US" kern="1200" dirty="0">
              <a:latin typeface="+mn-lt"/>
              <a:ea typeface="宋体" panose="02010600030101010101" pitchFamily="2" charset="-122"/>
              <a:cs typeface="+mn-cs"/>
            </a:endParaRPr>
          </a:p>
          <a:p>
            <a:pPr lvl="1">
              <a:buSzPct val="80000"/>
            </a:pPr>
            <a:r>
              <a:rPr lang="zh-CN" altLang="en-US" kern="1200" dirty="0">
                <a:latin typeface="+mn-lt"/>
                <a:ea typeface="宋体" panose="02010600030101010101" pitchFamily="2" charset="-122"/>
                <a:cs typeface="+mn-cs"/>
              </a:rPr>
              <a:t>分析员先标识使用该系统的不同的执行者（</a:t>
            </a:r>
            <a:r>
              <a:rPr lang="en-US" altLang="zh-CN" kern="1200" dirty="0">
                <a:latin typeface="+mn-lt"/>
                <a:ea typeface="宋体" panose="02010600030101010101" pitchFamily="2" charset="-122"/>
                <a:cs typeface="+mn-cs"/>
              </a:rPr>
              <a:t>actor</a:t>
            </a:r>
            <a:r>
              <a:rPr lang="zh-CN" altLang="en-US" kern="1200" dirty="0">
                <a:latin typeface="+mn-lt"/>
                <a:ea typeface="宋体" panose="02010600030101010101" pitchFamily="2" charset="-122"/>
                <a:cs typeface="+mn-cs"/>
              </a:rPr>
              <a:t>），代表使用该系统的不同的角色。每个执行者可以叙述他如何使用系统，或者说他需要系统提供什么功能。执行者提出的每一个使用场景（或功能）都是系统的一个用例的实例，一个用例描述了系统的一种用法（或一个功能），所有执行者提出的所有用例构成系统的完整的需求。</a:t>
            </a:r>
            <a:endParaRPr lang="zh-CN" altLang="en-US" kern="1200" dirty="0">
              <a:latin typeface="+mn-lt"/>
              <a:ea typeface="宋体" panose="02010600030101010101" pitchFamily="2" charset="-122"/>
              <a:cs typeface="+mn-cs"/>
            </a:endParaRPr>
          </a:p>
          <a:p>
            <a:pPr lvl="1">
              <a:buSzPct val="80000"/>
            </a:pPr>
            <a:r>
              <a:rPr lang="zh-CN" altLang="en-US" kern="1200" dirty="0">
                <a:latin typeface="+mn-lt"/>
                <a:ea typeface="宋体" panose="02010600030101010101" pitchFamily="2" charset="-122"/>
                <a:cs typeface="+mn-cs"/>
              </a:rPr>
              <a:t>注意，执行者与用户是不同的两个概念，一个用户可以扮演几个角色（执行者），一个执行者可以是用户，也可以是其他系统（应用程序或设备）。得到的用例必须进行复审，以使需求完整。</a:t>
            </a:r>
            <a:endParaRPr lang="zh-CN" altLang="en-US" kern="1200" dirty="0">
              <a:latin typeface="+mn-lt"/>
              <a:ea typeface="宋体" panose="02010600030101010101" pitchFamily="2" charset="-122"/>
              <a:cs typeface="+mn-cs"/>
            </a:endParaRPr>
          </a:p>
        </p:txBody>
      </p:sp>
      <p:sp>
        <p:nvSpPr>
          <p:cNvPr id="6554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539750" y="1600200"/>
            <a:ext cx="7385050" cy="4873625"/>
          </a:xfrm>
        </p:spPr>
        <p:txBody>
          <a:bodyPr vert="horz" wrap="square" lIns="91440" tIns="45720" rIns="91440" bIns="45720" numCol="1" anchor="t" anchorCtr="0" compatLnSpc="1">
            <a:normAutofit/>
          </a:bodyPr>
          <a:lstStyle/>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startAt="2"/>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一旦提出了最初的需求，推敲和扩充的过程被称为需求分析</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建立初始模型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建模来整合各种信息，以使得人们更好的理解问题</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为问题定义出一个需求集合，这个集合能够为问题界定一个有效的解决方案</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标识具体的功能、场景（</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scenario</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）、用例（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use case</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需求获取和需求分析是交织在一起的</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6656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67587" name="内容占位符 2"/>
          <p:cNvSpPr>
            <a:spLocks noGrp="1"/>
          </p:cNvSpPr>
          <p:nvPr>
            <p:ph sz="quarter" idx="1"/>
          </p:nvPr>
        </p:nvSpPr>
        <p:spPr/>
        <p:txBody>
          <a:bodyPr vert="horz" wrap="square" lIns="91440" tIns="45720" rIns="91440" bIns="45720" anchor="t" anchorCtr="0"/>
          <a:lstStyle/>
          <a:p>
            <a:pPr>
              <a:buSzPct val="70000"/>
            </a:pPr>
            <a:r>
              <a:rPr lang="zh-CN" altLang="en-US" kern="1200" dirty="0">
                <a:latin typeface="+mn-lt"/>
                <a:ea typeface="宋体" panose="02010600030101010101" pitchFamily="2" charset="-122"/>
                <a:cs typeface="+mn-cs"/>
              </a:rPr>
              <a:t>基本的</a:t>
            </a:r>
            <a:r>
              <a:rPr lang="en-US" altLang="zh-CN" kern="1200" dirty="0">
                <a:latin typeface="+mn-lt"/>
                <a:ea typeface="宋体" panose="02010600030101010101" pitchFamily="2" charset="-122"/>
                <a:cs typeface="+mn-cs"/>
              </a:rPr>
              <a:t>OOA</a:t>
            </a:r>
            <a:r>
              <a:rPr lang="zh-CN" altLang="en-US" kern="1200" dirty="0">
                <a:latin typeface="+mn-lt"/>
                <a:ea typeface="宋体" panose="02010600030101010101" pitchFamily="2" charset="-122"/>
                <a:cs typeface="+mn-cs"/>
              </a:rPr>
              <a:t>模型由</a:t>
            </a:r>
            <a:r>
              <a:rPr lang="en-US" altLang="zh-CN" kern="1200" dirty="0">
                <a:latin typeface="+mn-lt"/>
                <a:ea typeface="宋体" panose="02010600030101010101" pitchFamily="2" charset="-122"/>
                <a:cs typeface="+mn-cs"/>
              </a:rPr>
              <a:t>3</a:t>
            </a:r>
            <a:r>
              <a:rPr lang="zh-CN" altLang="en-US" kern="1200" dirty="0">
                <a:latin typeface="+mn-lt"/>
                <a:ea typeface="宋体" panose="02010600030101010101" pitchFamily="2" charset="-122"/>
                <a:cs typeface="+mn-cs"/>
              </a:rPr>
              <a:t>个层次构成：</a:t>
            </a:r>
            <a:endParaRPr lang="en-US" altLang="zh-CN" kern="1200" dirty="0">
              <a:latin typeface="+mn-lt"/>
              <a:ea typeface="宋体" panose="02010600030101010101" pitchFamily="2" charset="-122"/>
              <a:cs typeface="+mn-cs"/>
            </a:endParaRPr>
          </a:p>
          <a:p>
            <a:pPr lvl="1">
              <a:buSzPct val="80000"/>
            </a:pPr>
            <a:r>
              <a:rPr lang="zh-CN" altLang="en-US" kern="1200" dirty="0">
                <a:solidFill>
                  <a:srgbClr val="0070C0"/>
                </a:solidFill>
                <a:latin typeface="+mn-lt"/>
                <a:ea typeface="宋体" panose="02010600030101010101" pitchFamily="2" charset="-122"/>
                <a:cs typeface="+mn-cs"/>
              </a:rPr>
              <a:t>对象层</a:t>
            </a:r>
            <a:r>
              <a:rPr lang="zh-CN" altLang="en-US" kern="1200" dirty="0">
                <a:latin typeface="+mn-lt"/>
                <a:ea typeface="宋体" panose="02010600030101010101" pitchFamily="2" charset="-122"/>
                <a:cs typeface="+mn-cs"/>
              </a:rPr>
              <a:t>：发现对象类</a:t>
            </a:r>
            <a:endParaRPr lang="en-US" altLang="zh-CN" kern="1200" dirty="0">
              <a:latin typeface="+mn-lt"/>
              <a:ea typeface="宋体" panose="02010600030101010101" pitchFamily="2" charset="-122"/>
              <a:cs typeface="+mn-cs"/>
            </a:endParaRPr>
          </a:p>
          <a:p>
            <a:pPr lvl="1">
              <a:buSzPct val="80000"/>
            </a:pPr>
            <a:r>
              <a:rPr lang="zh-CN" altLang="en-US" kern="1200" dirty="0">
                <a:solidFill>
                  <a:srgbClr val="0070C0"/>
                </a:solidFill>
                <a:latin typeface="+mn-lt"/>
                <a:ea typeface="宋体" panose="02010600030101010101" pitchFamily="2" charset="-122"/>
                <a:cs typeface="+mn-cs"/>
              </a:rPr>
              <a:t>特征层</a:t>
            </a:r>
            <a:r>
              <a:rPr lang="zh-CN" altLang="en-US" kern="1200" dirty="0">
                <a:latin typeface="+mn-lt"/>
                <a:ea typeface="宋体" panose="02010600030101010101" pitchFamily="2" charset="-122"/>
                <a:cs typeface="+mn-cs"/>
              </a:rPr>
              <a:t>：定义属性和服务</a:t>
            </a:r>
            <a:endParaRPr lang="en-US" altLang="zh-CN" kern="1200" dirty="0">
              <a:latin typeface="+mn-lt"/>
              <a:ea typeface="宋体" panose="02010600030101010101" pitchFamily="2" charset="-122"/>
              <a:cs typeface="+mn-cs"/>
            </a:endParaRPr>
          </a:p>
          <a:p>
            <a:pPr lvl="1">
              <a:buSzPct val="80000"/>
            </a:pPr>
            <a:r>
              <a:rPr lang="zh-CN" altLang="en-US" kern="1200" dirty="0">
                <a:solidFill>
                  <a:srgbClr val="0070C0"/>
                </a:solidFill>
                <a:latin typeface="+mn-lt"/>
                <a:ea typeface="宋体" panose="02010600030101010101" pitchFamily="2" charset="-122"/>
                <a:cs typeface="+mn-cs"/>
              </a:rPr>
              <a:t>关系层</a:t>
            </a:r>
            <a:r>
              <a:rPr lang="zh-CN" altLang="en-US" kern="1200" dirty="0">
                <a:latin typeface="+mn-lt"/>
                <a:ea typeface="宋体" panose="02010600030101010101" pitchFamily="2" charset="-122"/>
                <a:cs typeface="+mn-cs"/>
              </a:rPr>
              <a:t>：定义对象类之间的关系</a:t>
            </a:r>
            <a:endParaRPr lang="en-US" altLang="zh-CN" kern="1200" dirty="0">
              <a:latin typeface="+mn-lt"/>
              <a:ea typeface="宋体" panose="02010600030101010101" pitchFamily="2" charset="-122"/>
              <a:cs typeface="+mn-cs"/>
            </a:endParaRPr>
          </a:p>
        </p:txBody>
      </p:sp>
      <p:sp>
        <p:nvSpPr>
          <p:cNvPr id="6758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68611" name="内容占位符 2"/>
          <p:cNvSpPr>
            <a:spLocks noGrp="1"/>
          </p:cNvSpPr>
          <p:nvPr>
            <p:ph sz="quarter" idx="1"/>
          </p:nvPr>
        </p:nvSpPr>
        <p:spPr>
          <a:xfrm>
            <a:off x="457200" y="1412875"/>
            <a:ext cx="7931150" cy="5060950"/>
          </a:xfrm>
        </p:spPr>
        <p:txBody>
          <a:bodyPr vert="horz" wrap="square" lIns="91440" tIns="45720" rIns="91440" bIns="45720" anchor="t" anchorCtr="0"/>
          <a:lstStyle/>
          <a:p>
            <a:pPr>
              <a:buSzPct val="70000"/>
            </a:pPr>
            <a:r>
              <a:rPr lang="zh-CN" altLang="en-US" kern="1200" dirty="0">
                <a:latin typeface="+mn-lt"/>
                <a:ea typeface="宋体" panose="02010600030101010101" pitchFamily="2" charset="-122"/>
                <a:cs typeface="+mn-cs"/>
              </a:rPr>
              <a:t>类</a:t>
            </a:r>
            <a:r>
              <a:rPr lang="en-US" altLang="zh-CN" kern="1200" dirty="0">
                <a:latin typeface="+mn-lt"/>
                <a:ea typeface="宋体" panose="02010600030101010101" pitchFamily="2" charset="-122"/>
                <a:cs typeface="+mn-cs"/>
              </a:rPr>
              <a:t>-</a:t>
            </a:r>
            <a:r>
              <a:rPr lang="zh-CN" altLang="en-US" kern="1200" dirty="0">
                <a:latin typeface="+mn-lt"/>
                <a:ea typeface="宋体" panose="02010600030101010101" pitchFamily="2" charset="-122"/>
                <a:cs typeface="+mn-cs"/>
              </a:rPr>
              <a:t>责任</a:t>
            </a:r>
            <a:r>
              <a:rPr lang="en-US" altLang="zh-CN" kern="1200" dirty="0">
                <a:latin typeface="+mn-lt"/>
                <a:ea typeface="宋体" panose="02010600030101010101" pitchFamily="2" charset="-122"/>
                <a:cs typeface="+mn-cs"/>
              </a:rPr>
              <a:t>-</a:t>
            </a:r>
            <a:r>
              <a:rPr lang="zh-CN" altLang="en-US" kern="1200" dirty="0">
                <a:latin typeface="+mn-lt"/>
                <a:ea typeface="宋体" panose="02010600030101010101" pitchFamily="2" charset="-122"/>
                <a:cs typeface="+mn-cs"/>
              </a:rPr>
              <a:t>协作者（</a:t>
            </a:r>
            <a:r>
              <a:rPr lang="en-US" altLang="zh-CN" kern="1200" dirty="0">
                <a:latin typeface="+mn-lt"/>
                <a:ea typeface="宋体" panose="02010600030101010101" pitchFamily="2" charset="-122"/>
                <a:cs typeface="+mn-cs"/>
              </a:rPr>
              <a:t>Class-Responsibility-Collaborator</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CRC</a:t>
            </a:r>
            <a:r>
              <a:rPr lang="zh-CN" altLang="en-US" kern="1200" dirty="0">
                <a:latin typeface="+mn-lt"/>
                <a:ea typeface="宋体" panose="02010600030101010101" pitchFamily="2" charset="-122"/>
                <a:cs typeface="+mn-cs"/>
              </a:rPr>
              <a:t>）技术</a:t>
            </a:r>
            <a:endParaRPr lang="en-US" altLang="zh-CN" kern="1200" dirty="0">
              <a:latin typeface="+mn-lt"/>
              <a:ea typeface="宋体" panose="02010600030101010101" pitchFamily="2" charset="-122"/>
              <a:cs typeface="+mn-cs"/>
            </a:endParaRPr>
          </a:p>
          <a:p>
            <a:pPr lvl="1">
              <a:buSzPct val="80000"/>
            </a:pPr>
            <a:r>
              <a:rPr lang="zh-CN" altLang="en-US" kern="1200" dirty="0">
                <a:latin typeface="+mn-lt"/>
                <a:ea typeface="宋体" panose="02010600030101010101" pitchFamily="2" charset="-122"/>
                <a:cs typeface="+mn-cs"/>
              </a:rPr>
              <a:t>索引卡片，有组织的类的表示法，包括</a:t>
            </a:r>
            <a:r>
              <a:rPr lang="en-US" altLang="zh-CN" kern="1200" dirty="0">
                <a:latin typeface="+mn-lt"/>
                <a:ea typeface="宋体" panose="02010600030101010101" pitchFamily="2" charset="-122"/>
                <a:cs typeface="+mn-cs"/>
              </a:rPr>
              <a:t>3</a:t>
            </a:r>
            <a:r>
              <a:rPr lang="zh-CN" altLang="en-US" kern="1200" dirty="0">
                <a:latin typeface="+mn-lt"/>
                <a:ea typeface="宋体" panose="02010600030101010101" pitchFamily="2" charset="-122"/>
                <a:cs typeface="+mn-cs"/>
              </a:rPr>
              <a:t>部分内容：</a:t>
            </a:r>
            <a:endParaRPr lang="en-US" altLang="zh-CN" kern="1200" dirty="0">
              <a:latin typeface="+mn-lt"/>
              <a:ea typeface="宋体" panose="02010600030101010101" pitchFamily="2" charset="-122"/>
              <a:cs typeface="+mn-cs"/>
            </a:endParaRPr>
          </a:p>
          <a:p>
            <a:pPr lvl="2">
              <a:buClr>
                <a:srgbClr val="E0752F"/>
              </a:buClr>
              <a:buSzPct val="60000"/>
            </a:pPr>
            <a:r>
              <a:rPr lang="zh-CN" altLang="en-US" kern="1200" dirty="0">
                <a:latin typeface="+mn-lt"/>
                <a:ea typeface="宋体" panose="02010600030101010101" pitchFamily="2" charset="-122"/>
                <a:cs typeface="+mn-cs"/>
              </a:rPr>
              <a:t>类名描述</a:t>
            </a:r>
            <a:endParaRPr lang="en-US" altLang="zh-CN" kern="1200" dirty="0">
              <a:latin typeface="+mn-lt"/>
              <a:ea typeface="宋体" panose="02010600030101010101" pitchFamily="2" charset="-122"/>
              <a:cs typeface="+mn-cs"/>
            </a:endParaRPr>
          </a:p>
          <a:p>
            <a:pPr lvl="2">
              <a:buClr>
                <a:srgbClr val="E0752F"/>
              </a:buClr>
              <a:buSzPct val="60000"/>
            </a:pPr>
            <a:r>
              <a:rPr lang="zh-CN" altLang="en-US" kern="1200" dirty="0">
                <a:latin typeface="+mn-lt"/>
                <a:ea typeface="宋体" panose="02010600030101010101" pitchFamily="2" charset="-122"/>
                <a:cs typeface="+mn-cs"/>
              </a:rPr>
              <a:t>类的责任描述（属性、操作）</a:t>
            </a:r>
            <a:endParaRPr lang="en-US" altLang="zh-CN" kern="1200" dirty="0">
              <a:latin typeface="+mn-lt"/>
              <a:ea typeface="宋体" panose="02010600030101010101" pitchFamily="2" charset="-122"/>
              <a:cs typeface="+mn-cs"/>
            </a:endParaRPr>
          </a:p>
          <a:p>
            <a:pPr lvl="2">
              <a:buClr>
                <a:srgbClr val="E0752F"/>
              </a:buClr>
              <a:buSzPct val="60000"/>
            </a:pPr>
            <a:r>
              <a:rPr lang="zh-CN" altLang="en-US" kern="1200" dirty="0">
                <a:latin typeface="+mn-lt"/>
                <a:ea typeface="宋体" panose="02010600030101010101" pitchFamily="2" charset="-122"/>
                <a:cs typeface="+mn-cs"/>
              </a:rPr>
              <a:t>类的协作者描述（为完成该类责任而提供信息的其他相关的类）</a:t>
            </a:r>
            <a:endParaRPr lang="zh-CN" altLang="en-US" kern="1200" dirty="0">
              <a:latin typeface="+mn-lt"/>
              <a:ea typeface="宋体" panose="02010600030101010101" pitchFamily="2" charset="-122"/>
              <a:cs typeface="+mn-cs"/>
            </a:endParaRPr>
          </a:p>
        </p:txBody>
      </p:sp>
      <p:sp>
        <p:nvSpPr>
          <p:cNvPr id="6861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68613" name="Picture 5"/>
          <p:cNvPicPr>
            <a:picLocks noChangeAspect="1"/>
          </p:cNvPicPr>
          <p:nvPr/>
        </p:nvPicPr>
        <p:blipFill>
          <a:blip r:embed="rId1"/>
          <a:stretch>
            <a:fillRect/>
          </a:stretch>
        </p:blipFill>
        <p:spPr>
          <a:xfrm>
            <a:off x="1633538" y="4365625"/>
            <a:ext cx="5602287" cy="2341563"/>
          </a:xfrm>
          <a:prstGeom prst="rect">
            <a:avLst/>
          </a:prstGeom>
          <a:noFill/>
          <a:ln w="9525">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70659" name="内容占位符 2"/>
          <p:cNvSpPr>
            <a:spLocks noGrp="1"/>
          </p:cNvSpPr>
          <p:nvPr>
            <p:ph sz="quarter" idx="1"/>
          </p:nvPr>
        </p:nvSpPr>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定义类和对象</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确定对象类</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发现潜在对象：陈述中的名词或名词短语是可能的潜在对象</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1098550" marR="0" lvl="2" indent="-457200" algn="l" defTabSz="914400" rtl="0" eaLnBrk="1" fontAlgn="base" latinLnBrk="0" hangingPunct="1">
              <a:lnSpc>
                <a:spcPct val="100000"/>
              </a:lnSpc>
              <a:spcBef>
                <a:spcPct val="20000"/>
              </a:spcBef>
              <a:spcAft>
                <a:spcPct val="0"/>
              </a:spcAft>
              <a:buClr>
                <a:srgbClr val="E0752F"/>
              </a:buClr>
              <a:buSzPct val="6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与系统交互的角色。</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8550" marR="0" lvl="2" indent="-457200" algn="l" defTabSz="914400" rtl="0" eaLnBrk="1" fontAlgn="base" latinLnBrk="0" hangingPunct="1">
              <a:lnSpc>
                <a:spcPct val="100000"/>
              </a:lnSpc>
              <a:spcBef>
                <a:spcPct val="20000"/>
              </a:spcBef>
              <a:spcAft>
                <a:spcPct val="0"/>
              </a:spcAft>
              <a:buClr>
                <a:srgbClr val="E0752F"/>
              </a:buClr>
              <a:buSzPct val="6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系统的工作环境场所。</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8550" marR="0" lvl="2" indent="-457200" algn="l" defTabSz="914400" rtl="0" eaLnBrk="1" fontAlgn="base" latinLnBrk="0" hangingPunct="1">
              <a:lnSpc>
                <a:spcPct val="100000"/>
              </a:lnSpc>
              <a:spcBef>
                <a:spcPct val="20000"/>
              </a:spcBef>
              <a:spcAft>
                <a:spcPct val="0"/>
              </a:spcAft>
              <a:buClr>
                <a:srgbClr val="E0752F"/>
              </a:buClr>
              <a:buSzPct val="6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概念实体、发生的事件或事情。</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8550" marR="0" lvl="2" indent="-457200" algn="l" defTabSz="914400" rtl="0" eaLnBrk="1" fontAlgn="base" latinLnBrk="0" hangingPunct="1">
              <a:lnSpc>
                <a:spcPct val="100000"/>
              </a:lnSpc>
              <a:spcBef>
                <a:spcPct val="20000"/>
              </a:spcBef>
              <a:spcAft>
                <a:spcPct val="0"/>
              </a:spcAft>
              <a:buClr>
                <a:srgbClr val="E0752F"/>
              </a:buClr>
              <a:buSzPct val="6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部门和设备。</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1098550" marR="0" lvl="2" indent="-457200" algn="l" defTabSz="914400" rtl="0" eaLnBrk="1" fontAlgn="base" latinLnBrk="0" hangingPunct="1">
              <a:lnSpc>
                <a:spcPct val="100000"/>
              </a:lnSpc>
              <a:spcBef>
                <a:spcPct val="20000"/>
              </a:spcBef>
              <a:spcAft>
                <a:spcPct val="0"/>
              </a:spcAft>
              <a:buClr>
                <a:srgbClr val="E0752F"/>
              </a:buClr>
              <a:buSzPct val="6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与系统有关的外部实体。</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6963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70659" name="内容占位符 2"/>
          <p:cNvSpPr>
            <a:spLocks noGrp="1"/>
          </p:cNvSpPr>
          <p:nvPr>
            <p:ph sz="quarter" idx="1"/>
          </p:nvPr>
        </p:nvSpPr>
        <p:spPr>
          <a:xfrm>
            <a:off x="457200" y="1600200"/>
            <a:ext cx="7786688" cy="4873625"/>
          </a:xfrm>
        </p:spPr>
        <p:txBody>
          <a:bodyPr vert="horz" wrap="square" lIns="91440" tIns="45720" rIns="91440" bIns="45720" anchor="t" anchorCtr="0"/>
          <a:lstStyle/>
          <a:p>
            <a:pPr marL="824230" lvl="1" indent="-457200" eaLnBrk="1" hangingPunct="1">
              <a:buSzPct val="80000"/>
              <a:buFontTx/>
              <a:buAutoNum type="circleNumDbPlain" startAt="2"/>
            </a:pPr>
            <a:r>
              <a:rPr lang="zh-CN" altLang="en-US" kern="1200" dirty="0">
                <a:latin typeface="+mn-lt"/>
                <a:ea typeface="宋体" panose="02010600030101010101" pitchFamily="2" charset="-122"/>
                <a:cs typeface="+mn-cs"/>
              </a:rPr>
              <a:t>筛选对象：可以用以下选择特征来确定最终的对象</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关键性。 </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可操作性。 </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信息含量。 </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公共属性 。</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公共操作。 </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关键外部信息。</a:t>
            </a:r>
            <a:endParaRPr lang="zh-CN" altLang="en-US" kern="1200" dirty="0">
              <a:latin typeface="+mn-lt"/>
              <a:ea typeface="宋体" panose="02010600030101010101" pitchFamily="2" charset="-122"/>
              <a:cs typeface="+mn-cs"/>
            </a:endParaRPr>
          </a:p>
        </p:txBody>
      </p:sp>
      <p:sp>
        <p:nvSpPr>
          <p:cNvPr id="7066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71683" name="内容占位符 2"/>
          <p:cNvSpPr>
            <a:spLocks noGrp="1"/>
          </p:cNvSpPr>
          <p:nvPr>
            <p:ph sz="quarter" idx="1"/>
          </p:nvPr>
        </p:nvSpPr>
        <p:spPr>
          <a:xfrm>
            <a:off x="457200" y="1700213"/>
            <a:ext cx="7467600" cy="4773612"/>
          </a:xfrm>
        </p:spPr>
        <p:txBody>
          <a:bodyPr vert="horz" wrap="square" lIns="91440" tIns="45720" rIns="91440" bIns="45720" anchor="t" anchorCtr="0"/>
          <a:lstStyle/>
          <a:p>
            <a:pPr marL="824230" lvl="1" indent="-457200" eaLnBrk="1" hangingPunct="1">
              <a:buSzPct val="80000"/>
              <a:buFontTx/>
              <a:buAutoNum type="circleNumDbPlain" startAt="3"/>
            </a:pPr>
            <a:r>
              <a:rPr lang="zh-CN" altLang="en-US" kern="1200" dirty="0">
                <a:latin typeface="+mn-lt"/>
                <a:ea typeface="宋体" panose="02010600030101010101" pitchFamily="2" charset="-122"/>
                <a:cs typeface="+mn-cs"/>
              </a:rPr>
              <a:t>标识对象名：命名原则</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使用单个名词或名词短语标识对象名；</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对象名称必须有意义、简洁明了、含义明确、易于理解；</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尽量使用用户熟悉的行业标准术语。 </a:t>
            </a:r>
            <a:endParaRPr lang="en-US" altLang="zh-CN" kern="1200" dirty="0">
              <a:latin typeface="+mn-lt"/>
              <a:ea typeface="宋体" panose="02010600030101010101" pitchFamily="2" charset="-122"/>
              <a:cs typeface="+mn-cs"/>
            </a:endParaRPr>
          </a:p>
          <a:p>
            <a:pPr marL="824230" lvl="1" indent="-457200" eaLnBrk="1" hangingPunct="1">
              <a:buSzPct val="80000"/>
              <a:buFontTx/>
              <a:buAutoNum type="circleNumDbPlain" startAt="3"/>
            </a:pPr>
            <a:r>
              <a:rPr lang="zh-CN" altLang="en-US" kern="1200" dirty="0">
                <a:latin typeface="+mn-lt"/>
                <a:ea typeface="宋体" panose="02010600030101010101" pitchFamily="2" charset="-122"/>
                <a:cs typeface="+mn-cs"/>
              </a:rPr>
              <a:t>为对象分类：</a:t>
            </a:r>
            <a:r>
              <a:rPr lang="zh-CN" altLang="en-US" kern="1200" dirty="0">
                <a:latin typeface="Times New Roman" panose="02020603050405020304" pitchFamily="18" charset="0"/>
                <a:ea typeface="宋体" panose="02010600030101010101" pitchFamily="2" charset="-122"/>
                <a:cs typeface="+mn-cs"/>
              </a:rPr>
              <a:t>按以下特征进行分类</a:t>
            </a:r>
            <a:endParaRPr lang="en-US" altLang="zh-CN"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有形性。</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包含性。 </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顺序性。 </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持久性。 </a:t>
            </a:r>
            <a:endParaRPr lang="zh-CN" altLang="en-US" kern="1200" dirty="0">
              <a:latin typeface="+mn-lt"/>
              <a:ea typeface="宋体" panose="02010600030101010101" pitchFamily="2" charset="-122"/>
              <a:cs typeface="+mn-cs"/>
            </a:endParaRPr>
          </a:p>
          <a:p>
            <a:pPr marL="1098550" lvl="2" indent="-457200" eaLnBrk="1" hangingPunct="1">
              <a:buClr>
                <a:srgbClr val="E0752F"/>
              </a:buClr>
              <a:buSzPct val="60000"/>
            </a:pPr>
            <a:r>
              <a:rPr lang="zh-CN" altLang="en-US" kern="1200" dirty="0">
                <a:latin typeface="+mn-lt"/>
                <a:ea typeface="宋体" panose="02010600030101010101" pitchFamily="2" charset="-122"/>
                <a:cs typeface="+mn-cs"/>
              </a:rPr>
              <a:t>完整性。</a:t>
            </a:r>
            <a:endParaRPr lang="zh-CN" altLang="en-US" kern="1200" dirty="0">
              <a:latin typeface="+mn-lt"/>
              <a:ea typeface="宋体" panose="02010600030101010101" pitchFamily="2" charset="-122"/>
              <a:cs typeface="+mn-cs"/>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a:noFill/>
          <a:ln>
            <a:noFill/>
          </a:ln>
        </p:spPr>
        <p:txBody>
          <a:bodyPr vert="horz" wrap="square" lIns="91440" tIns="45720" rIns="91440" bIns="45720" anchor="b" anchorCtr="0"/>
          <a:lstStyle/>
          <a:p>
            <a:pPr>
              <a:buNone/>
            </a:pPr>
            <a:r>
              <a:rPr lang="en-US" altLang="zh-CN" kern="1200" dirty="0">
                <a:latin typeface="Times New Roman" panose="02020603050405020304" pitchFamily="18" charset="0"/>
                <a:ea typeface="华文楷体" panose="02010600040101010101" charset="-122"/>
                <a:cs typeface="+mj-cs"/>
              </a:rPr>
              <a:t>1.4 </a:t>
            </a:r>
            <a:r>
              <a:rPr lang="zh-CN" altLang="en-US" kern="1200" dirty="0">
                <a:latin typeface="Times New Roman" panose="02020603050405020304" pitchFamily="18" charset="0"/>
                <a:ea typeface="华文楷体" panose="02010600040101010101" charset="-122"/>
                <a:cs typeface="+mj-cs"/>
              </a:rPr>
              <a:t>面向对象分析</a:t>
            </a:r>
            <a:endParaRPr lang="zh-CN" altLang="en-US" kern="1200" dirty="0">
              <a:latin typeface="Times New Roman" panose="02020603050405020304" pitchFamily="18" charset="0"/>
              <a:ea typeface="华文楷体" panose="02010600040101010101" charset="-122"/>
              <a:cs typeface="+mj-cs"/>
            </a:endParaRPr>
          </a:p>
        </p:txBody>
      </p:sp>
      <p:sp>
        <p:nvSpPr>
          <p:cNvPr id="72707" name="Rectangle 3"/>
          <p:cNvSpPr>
            <a:spLocks noGrp="1"/>
          </p:cNvSpPr>
          <p:nvPr>
            <p:ph type="body" idx="4294967295"/>
          </p:nvPr>
        </p:nvSpPr>
        <p:spPr/>
        <p:txBody>
          <a:bodyPr vert="horz" wrap="square" lIns="91440" tIns="45720" rIns="91440" bIns="45720" anchor="t" anchorCtr="0"/>
          <a:lstStyle/>
          <a:p>
            <a:pPr marL="457200" indent="-457200" eaLnBrk="1" hangingPunct="1">
              <a:buFontTx/>
              <a:buAutoNum type="arabicPeriod" startAt="2"/>
            </a:pPr>
            <a:r>
              <a:rPr lang="zh-CN" altLang="en-US" dirty="0">
                <a:ea typeface="宋体" panose="02010600030101010101" pitchFamily="2" charset="-122"/>
              </a:rPr>
              <a:t>标识对象类的属性：静态特征，</a:t>
            </a:r>
            <a:r>
              <a:rPr lang="zh-CN" altLang="en-US" dirty="0">
                <a:latin typeface="Times New Roman" panose="02020603050405020304" pitchFamily="18" charset="0"/>
                <a:ea typeface="宋体" panose="02010600030101010101" pitchFamily="2" charset="-122"/>
              </a:rPr>
              <a:t>即为了完成客户规定的目标所必须保存的类的信息，一般可以从问题陈述中提取出或通过对类的理解而辨识出属性。</a:t>
            </a:r>
            <a:endParaRPr lang="en-US" altLang="zh-CN" dirty="0">
              <a:ea typeface="宋体" panose="02010600030101010101" pitchFamily="2" charset="-122"/>
            </a:endParaRPr>
          </a:p>
          <a:p>
            <a:pPr marL="824230" lvl="1" indent="-457200" eaLnBrk="1" hangingPunct="1">
              <a:spcBef>
                <a:spcPts val="600"/>
              </a:spcBef>
              <a:buFontTx/>
              <a:buAutoNum type="circleNumDbPlain"/>
            </a:pPr>
            <a:r>
              <a:rPr lang="zh-CN" altLang="en-US" dirty="0">
                <a:ea typeface="宋体" panose="02010600030101010101" pitchFamily="2" charset="-122"/>
              </a:rPr>
              <a:t>发现潜在属性</a:t>
            </a:r>
            <a:endParaRPr lang="en-US" altLang="zh-CN" dirty="0">
              <a:ea typeface="宋体" panose="02010600030101010101" pitchFamily="2" charset="-122"/>
            </a:endParaRPr>
          </a:p>
          <a:p>
            <a:pPr marL="824230" lvl="1" indent="-457200" eaLnBrk="1" hangingPunct="1">
              <a:spcBef>
                <a:spcPts val="600"/>
              </a:spcBef>
              <a:buFontTx/>
              <a:buAutoNum type="circleNumDbPlain"/>
            </a:pPr>
            <a:r>
              <a:rPr lang="zh-CN" altLang="en-US" dirty="0">
                <a:ea typeface="宋体" panose="02010600030101010101" pitchFamily="2" charset="-122"/>
              </a:rPr>
              <a:t>筛选属性</a:t>
            </a:r>
            <a:endParaRPr lang="en-US" altLang="zh-CN" dirty="0">
              <a:ea typeface="宋体" panose="02010600030101010101" pitchFamily="2" charset="-122"/>
            </a:endParaRPr>
          </a:p>
          <a:p>
            <a:pPr marL="824230" lvl="1" indent="-457200" eaLnBrk="1" hangingPunct="1">
              <a:spcBef>
                <a:spcPts val="600"/>
              </a:spcBef>
              <a:buFontTx/>
              <a:buAutoNum type="circleNumDbPlain"/>
            </a:pPr>
            <a:r>
              <a:rPr lang="zh-CN" altLang="en-US" dirty="0">
                <a:ea typeface="宋体" panose="02010600030101010101" pitchFamily="2" charset="-122"/>
              </a:rPr>
              <a:t>标识属性名：命名原则</a:t>
            </a:r>
            <a:endParaRPr lang="en-US" altLang="zh-CN" dirty="0">
              <a:ea typeface="宋体" panose="02010600030101010101" pitchFamily="2" charset="-122"/>
            </a:endParaRPr>
          </a:p>
          <a:p>
            <a:pPr marL="824230" lvl="1" indent="-457200" eaLnBrk="1" hangingPunct="1">
              <a:spcBef>
                <a:spcPts val="600"/>
              </a:spcBef>
              <a:buFontTx/>
              <a:buAutoNum type="circleNumDbPlain"/>
            </a:pPr>
            <a:r>
              <a:rPr lang="zh-CN" altLang="en-US" dirty="0">
                <a:ea typeface="宋体" panose="02010600030101010101" pitchFamily="2" charset="-122"/>
              </a:rPr>
              <a:t>属性说明</a:t>
            </a:r>
            <a:endParaRPr lang="zh-CN" altLang="en-US" dirty="0">
              <a:ea typeface="宋体" panose="02010600030101010101" pitchFamily="2" charset="-122"/>
            </a:endParaRPr>
          </a:p>
          <a:p>
            <a:pPr marL="457200" indent="-457200">
              <a:buFont typeface="Wingdings" panose="05000000000000000000" pitchFamily="2" charset="2"/>
              <a:buAutoNum type="circleNumDbPlain"/>
            </a:pPr>
            <a:endParaRPr lang="zh-CN" altLang="en-US" dirty="0">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71683" name="内容占位符 2"/>
          <p:cNvSpPr>
            <a:spLocks noGrp="1"/>
          </p:cNvSpPr>
          <p:nvPr>
            <p:ph sz="quarter" idx="1"/>
          </p:nvPr>
        </p:nvSpPr>
        <p:spPr/>
        <p:txBody>
          <a:bodyPr vert="horz" wrap="square" lIns="91440" tIns="45720" rIns="91440" bIns="45720" numCol="1" anchor="t" anchorCtr="0" compatLnSpc="1">
            <a:normAutofit/>
          </a:bodyPr>
          <a:lstStyle/>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startAt="3"/>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标识对象类的操作：动态特征，</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定义了对象的行为并以某种方式修改对象的属性值。操作可以通过对系统的过程叙述的分析提取出来，通常叙述中的动词可作为候选的操作。类所选择的每个操作展示了类的某种行为。</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发现潜在操作</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筛选操作</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标识操作名：命名原则</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操作说明</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7373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72707" name="内容占位符 2"/>
          <p:cNvSpPr>
            <a:spLocks noGrp="1"/>
          </p:cNvSpPr>
          <p:nvPr>
            <p:ph sz="quarter" idx="1"/>
          </p:nvPr>
        </p:nvSpPr>
        <p:spPr>
          <a:xfrm>
            <a:off x="457200" y="1600200"/>
            <a:ext cx="6346825" cy="4873625"/>
          </a:xfrm>
        </p:spPr>
        <p:txBody>
          <a:bodyPr vert="horz" wrap="square" lIns="91440" tIns="45720" rIns="91440" bIns="45720" numCol="1" anchor="t" anchorCtr="0" compatLnSpc="1">
            <a:normAutofit/>
          </a:bodyPr>
          <a:lstStyle/>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startAt="4"/>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标识对象类之间的关联（协作）</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协作实际上标识了类间的关系。</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整体</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部分关系（即对象之间的组成关系），用</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整体</a:t>
            </a:r>
            <a:r>
              <a:rPr kumimoji="0" lang="en-US" altLang="zh-CN" sz="2400" b="1" i="0" u="none" strike="noStrike" kern="1200" cap="none" spc="0" normalizeH="0" baseline="0" noProof="0" dirty="0">
                <a:ln>
                  <a:noFill/>
                </a:ln>
                <a:solidFill>
                  <a:srgbClr val="0070C0"/>
                </a:solidFill>
                <a:effectLst/>
                <a:uLnTx/>
                <a:uFillTx/>
                <a:latin typeface="+mn-lt"/>
                <a:ea typeface="+mn-ea"/>
                <a:cs typeface="+mn-cs"/>
              </a:rPr>
              <a:t>-</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部分结构</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表示。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has a</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继承关系（即对象类之间的一般</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特殊关系），用</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一般</a:t>
            </a:r>
            <a:r>
              <a:rPr kumimoji="0" lang="en-US" altLang="zh-CN" sz="2400" b="1" i="0" u="none" strike="noStrike" kern="1200" cap="none" spc="0" normalizeH="0" baseline="0" noProof="0" dirty="0">
                <a:ln>
                  <a:noFill/>
                </a:ln>
                <a:solidFill>
                  <a:srgbClr val="0070C0"/>
                </a:solidFill>
                <a:effectLst/>
                <a:uLnTx/>
                <a:uFillTx/>
                <a:latin typeface="+mn-lt"/>
                <a:ea typeface="+mn-ea"/>
                <a:cs typeface="+mn-cs"/>
              </a:rPr>
              <a:t>-</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特殊结构</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表示。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is a</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对象之间的静态联系（即通对象属性反映的联系），用</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实例连接</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表示。</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对象之间的动态联系（即对象行为之间的依赖关系），用</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消息连接</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表示。</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7475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5" name="右大括号 4"/>
          <p:cNvSpPr/>
          <p:nvPr/>
        </p:nvSpPr>
        <p:spPr>
          <a:xfrm>
            <a:off x="6804025" y="2571750"/>
            <a:ext cx="339725" cy="142875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6" name="TextBox 5"/>
          <p:cNvSpPr txBox="1">
            <a:spLocks noChangeArrowheads="1"/>
          </p:cNvSpPr>
          <p:nvPr/>
        </p:nvSpPr>
        <p:spPr bwMode="auto">
          <a:xfrm>
            <a:off x="7132638" y="3043238"/>
            <a:ext cx="1511300" cy="457200"/>
          </a:xfrm>
          <a:prstGeom prst="rect">
            <a:avLst/>
          </a:prstGeom>
          <a:noFill/>
          <a:ln w="9525">
            <a:noFill/>
            <a:miter lim="800000"/>
          </a:ln>
        </p:spPr>
        <p:txBody>
          <a:bodyPr>
            <a:spAutoFit/>
          </a:bodyPr>
          <a:lstStyle/>
          <a:p>
            <a:pPr marR="0" defTabSz="914400">
              <a:buClrTx/>
              <a:buSzTx/>
              <a:buFontTx/>
              <a:buNone/>
              <a:defRPr/>
            </a:pPr>
            <a:r>
              <a:rPr kumimoji="1" lang="zh-CN" altLang="en-US" sz="2400" b="1" kern="1200" cap="none" spc="0" normalizeH="0" baseline="0" noProof="0" dirty="0">
                <a:latin typeface="+mn-ea"/>
                <a:ea typeface="+mn-ea"/>
                <a:cs typeface="+mn-cs"/>
              </a:rPr>
              <a:t>层次关系</a:t>
            </a:r>
            <a:endParaRPr kumimoji="1" lang="zh-CN" altLang="en-US" sz="2400" b="1" kern="1200" cap="none" spc="0" normalizeH="0" baseline="0" noProof="0" dirty="0">
              <a:latin typeface="+mn-ea"/>
              <a:ea typeface="+mn-ea"/>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75779" name="内容占位符 2"/>
          <p:cNvSpPr>
            <a:spLocks noGrp="1"/>
          </p:cNvSpPr>
          <p:nvPr>
            <p:ph sz="quarter" idx="1"/>
          </p:nvPr>
        </p:nvSpPr>
        <p:spPr>
          <a:xfrm>
            <a:off x="250825" y="1484313"/>
            <a:ext cx="8148638" cy="5040313"/>
          </a:xfrm>
        </p:spPr>
        <p:txBody>
          <a:bodyPr vert="horz" wrap="square" lIns="91440" tIns="45720" rIns="91440" bIns="45720" numCol="1" anchor="t" anchorCtr="0" compatLnSpc="1">
            <a:normAutofit lnSpcReduction="10000"/>
          </a:bodyPr>
          <a:lstStyle/>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Century Schoolbook" panose="02040604050505020304" pitchFamily="18" charset="0"/>
              <a:buAutoNum type="arabicPeriod" startAt="5"/>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复审类的定义</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复审</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CRC</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卡片，复审应由客户和软件分析员参加，复审方法如下：</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Tx/>
              <a:buAutoNum type="circleNumDbPlain"/>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参加复审的人，每人拿</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CRC</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卡片的一个子集。注意，有协作关系的卡片要分开，即，没有一个人持有两张有协作关系的卡片。</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Tx/>
              <a:buAutoNum type="circleNumDbPlain"/>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将所有用例</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场景分类。</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Tx/>
              <a:buAutoNum type="circleNumDbPlain"/>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复审负责人仔细阅读用例，当读到一个命名的对象时，将令牌（</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token</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）传送给持有对应类的卡片的人员。</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Tx/>
              <a:buAutoNum type="circleNumDbPlain"/>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收到令牌的类卡片持有者要描述卡片上记录的责任，复审小组将确定该类的一个或多个责任是否满足用例的需求。当某个责任需要协作时，将令牌传给协作者，并重复⑷。</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Tx/>
              <a:buAutoNum type="circleNumDbPlain"/>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如果卡片上的责任和协作不能适应用例，则需对卡片进行修改，这可能导致定义新的类，或在现有的卡片上刻画新的或修正的责任及协作者。</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这种做法持续至所有的用例都完成为止。 </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7578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72707" name="内容占位符 2"/>
          <p:cNvSpPr>
            <a:spLocks noGrp="1"/>
          </p:cNvSpPr>
          <p:nvPr>
            <p:ph sz="quarter" idx="1"/>
          </p:nvPr>
        </p:nvSpPr>
        <p:spPr>
          <a:xfrm>
            <a:off x="457200" y="1484313"/>
            <a:ext cx="7786688" cy="4989513"/>
          </a:xfrm>
        </p:spPr>
        <p:txBody>
          <a:bodyPr vert="horz" wrap="square" lIns="91440" tIns="45720" rIns="91440" bIns="45720" numCol="1" anchor="t" anchorCtr="0" compatLnSpc="1">
            <a:normAutofit fontScale="77500" lnSpcReduction="20000"/>
          </a:bodyPr>
          <a:lstStyle/>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600" b="1" i="0" u="none" strike="noStrike" kern="1200" cap="none" spc="0" normalizeH="0" baseline="0" noProof="0" dirty="0">
                <a:ln>
                  <a:noFill/>
                </a:ln>
                <a:solidFill>
                  <a:schemeClr val="tx1"/>
                </a:solidFill>
                <a:effectLst/>
                <a:uLnTx/>
                <a:uFillTx/>
                <a:latin typeface="+mn-lt"/>
                <a:ea typeface="+mn-ea"/>
                <a:cs typeface="+mn-cs"/>
              </a:rPr>
              <a:t>复杂系统的</a:t>
            </a:r>
            <a:r>
              <a:rPr kumimoji="0" lang="en-US" altLang="zh-CN" sz="2600" b="1" i="0" u="none" strike="noStrike" kern="1200" cap="none" spc="0" normalizeH="0" baseline="0" noProof="0" dirty="0">
                <a:ln>
                  <a:noFill/>
                </a:ln>
                <a:solidFill>
                  <a:schemeClr val="tx1"/>
                </a:solidFill>
                <a:effectLst/>
                <a:uLnTx/>
                <a:uFillTx/>
                <a:latin typeface="+mn-lt"/>
                <a:ea typeface="+mn-ea"/>
                <a:cs typeface="+mn-cs"/>
              </a:rPr>
              <a:t>OOA</a:t>
            </a:r>
            <a:r>
              <a:rPr kumimoji="0" lang="zh-CN" altLang="en-US" sz="2600" b="1" i="0" u="none" strike="noStrike" kern="1200" cap="none" spc="0" normalizeH="0" baseline="0" noProof="0" dirty="0">
                <a:ln>
                  <a:noFill/>
                </a:ln>
                <a:solidFill>
                  <a:schemeClr val="tx1"/>
                </a:solidFill>
                <a:effectLst/>
                <a:uLnTx/>
                <a:uFillTx/>
                <a:latin typeface="+mn-lt"/>
                <a:ea typeface="+mn-ea"/>
                <a:cs typeface="+mn-cs"/>
              </a:rPr>
              <a:t>模型由</a:t>
            </a:r>
            <a:r>
              <a:rPr kumimoji="0" lang="en-US" altLang="zh-CN" sz="2600" b="1" i="0" u="none" strike="noStrike" kern="1200" cap="none" spc="0" normalizeH="0" baseline="0" noProof="0" dirty="0">
                <a:ln>
                  <a:noFill/>
                </a:ln>
                <a:solidFill>
                  <a:schemeClr val="tx1"/>
                </a:solidFill>
                <a:effectLst/>
                <a:uLnTx/>
                <a:uFillTx/>
                <a:latin typeface="+mn-lt"/>
                <a:ea typeface="+mn-ea"/>
                <a:cs typeface="+mn-cs"/>
              </a:rPr>
              <a:t>5</a:t>
            </a:r>
            <a:r>
              <a:rPr kumimoji="0" lang="zh-CN" altLang="en-US" sz="2600" b="1" i="0" u="none" strike="noStrike" kern="1200" cap="none" spc="0" normalizeH="0" baseline="0" noProof="0" dirty="0">
                <a:ln>
                  <a:noFill/>
                </a:ln>
                <a:solidFill>
                  <a:schemeClr val="tx1"/>
                </a:solidFill>
                <a:effectLst/>
                <a:uLnTx/>
                <a:uFillTx/>
                <a:latin typeface="+mn-lt"/>
                <a:ea typeface="+mn-ea"/>
                <a:cs typeface="+mn-cs"/>
              </a:rPr>
              <a:t>个层次构成：</a:t>
            </a:r>
            <a:endParaRPr kumimoji="0" lang="en-US" altLang="zh-CN" sz="26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0" fontAlgn="base" latinLnBrk="0" hangingPunct="0">
              <a:lnSpc>
                <a:spcPct val="120000"/>
              </a:lnSpc>
              <a:spcBef>
                <a:spcPct val="20000"/>
              </a:spcBef>
              <a:spcAft>
                <a:spcPct val="0"/>
              </a:spcAft>
              <a:buClr>
                <a:schemeClr val="accent1"/>
              </a:buClr>
              <a:buSzPct val="80000"/>
              <a:buFont typeface="Wingdings 2" panose="05020102010507070707" pitchFamily="18" charset="2"/>
              <a:buChar char=""/>
              <a:defRPr/>
            </a:pPr>
            <a:r>
              <a:rPr kumimoji="0" lang="zh-CN" altLang="en-US" sz="3100" b="1" i="0" u="none" strike="noStrike" kern="1200" cap="none" spc="0" normalizeH="0" baseline="0" noProof="0" dirty="0">
                <a:ln>
                  <a:noFill/>
                </a:ln>
                <a:solidFill>
                  <a:srgbClr val="0070C0"/>
                </a:solidFill>
                <a:effectLst/>
                <a:uLnTx/>
                <a:uFillTx/>
                <a:latin typeface="+mn-lt"/>
                <a:ea typeface="+mn-ea"/>
                <a:cs typeface="+mn-cs"/>
              </a:rPr>
              <a:t>类和对象层</a:t>
            </a:r>
            <a:endParaRPr kumimoji="0" lang="en-US" altLang="zh-CN" sz="3100" b="1" i="0" u="none" strike="noStrike" kern="1200" cap="none" spc="0" normalizeH="0" baseline="0" noProof="0" dirty="0">
              <a:ln>
                <a:noFill/>
              </a:ln>
              <a:solidFill>
                <a:srgbClr val="0070C0"/>
              </a:solidFill>
              <a:effectLst/>
              <a:uLnTx/>
              <a:uFillTx/>
              <a:latin typeface="+mn-lt"/>
              <a:ea typeface="+mn-ea"/>
              <a:cs typeface="+mn-cs"/>
            </a:endParaRPr>
          </a:p>
          <a:p>
            <a:pPr marL="640080" marR="0" lvl="1" indent="-273050" algn="l" defTabSz="914400" rtl="0" eaLnBrk="0" fontAlgn="base" latinLnBrk="0" hangingPunct="0">
              <a:lnSpc>
                <a:spcPct val="120000"/>
              </a:lnSpc>
              <a:spcBef>
                <a:spcPct val="20000"/>
              </a:spcBef>
              <a:spcAft>
                <a:spcPct val="0"/>
              </a:spcAft>
              <a:buClr>
                <a:schemeClr val="accent1"/>
              </a:buClr>
              <a:buSzPct val="80000"/>
              <a:buFont typeface="Wingdings 2" panose="05020102010507070707" pitchFamily="18" charset="2"/>
              <a:buChar char=""/>
              <a:defRPr/>
            </a:pPr>
            <a:r>
              <a:rPr kumimoji="0" lang="zh-CN" altLang="en-US" sz="3100" b="1" i="0" u="none" strike="noStrike" kern="1200" cap="none" spc="0" normalizeH="0" baseline="0" noProof="0" dirty="0">
                <a:ln>
                  <a:noFill/>
                </a:ln>
                <a:solidFill>
                  <a:srgbClr val="0070C0"/>
                </a:solidFill>
                <a:effectLst/>
                <a:uLnTx/>
                <a:uFillTx/>
                <a:latin typeface="+mn-lt"/>
                <a:ea typeface="+mn-ea"/>
                <a:cs typeface="+mn-cs"/>
              </a:rPr>
              <a:t>属性层</a:t>
            </a:r>
            <a:endParaRPr kumimoji="0" lang="en-US" altLang="zh-CN" sz="3100" b="1" i="0" u="none" strike="noStrike" kern="1200" cap="none" spc="0" normalizeH="0" baseline="0" noProof="0" dirty="0">
              <a:ln>
                <a:noFill/>
              </a:ln>
              <a:solidFill>
                <a:srgbClr val="0070C0"/>
              </a:solidFill>
              <a:effectLst/>
              <a:uLnTx/>
              <a:uFillTx/>
              <a:latin typeface="+mn-lt"/>
              <a:ea typeface="+mn-ea"/>
              <a:cs typeface="+mn-cs"/>
            </a:endParaRPr>
          </a:p>
          <a:p>
            <a:pPr marL="640080" marR="0" lvl="1" indent="-273050" algn="l" defTabSz="914400" rtl="0" eaLnBrk="0" fontAlgn="base" latinLnBrk="0" hangingPunct="0">
              <a:lnSpc>
                <a:spcPct val="120000"/>
              </a:lnSpc>
              <a:spcBef>
                <a:spcPct val="20000"/>
              </a:spcBef>
              <a:spcAft>
                <a:spcPct val="0"/>
              </a:spcAft>
              <a:buClr>
                <a:schemeClr val="accent1"/>
              </a:buClr>
              <a:buSzPct val="80000"/>
              <a:buFont typeface="Wingdings 2" panose="05020102010507070707" pitchFamily="18" charset="2"/>
              <a:buChar char=""/>
              <a:defRPr/>
            </a:pPr>
            <a:r>
              <a:rPr kumimoji="0" lang="zh-CN" altLang="en-US" sz="3100" b="1" i="0" u="none" strike="noStrike" kern="1200" cap="none" spc="0" normalizeH="0" baseline="0" noProof="0" dirty="0">
                <a:ln>
                  <a:noFill/>
                </a:ln>
                <a:solidFill>
                  <a:srgbClr val="0070C0"/>
                </a:solidFill>
                <a:effectLst/>
                <a:uLnTx/>
                <a:uFillTx/>
                <a:latin typeface="+mn-lt"/>
                <a:ea typeface="+mn-ea"/>
                <a:cs typeface="+mn-cs"/>
              </a:rPr>
              <a:t>服务层</a:t>
            </a:r>
            <a:endParaRPr kumimoji="0" lang="en-US" altLang="zh-CN" sz="3100" b="1" i="0" u="none" strike="noStrike" kern="1200" cap="none" spc="0" normalizeH="0" baseline="0" noProof="0" dirty="0">
              <a:ln>
                <a:noFill/>
              </a:ln>
              <a:solidFill>
                <a:srgbClr val="0070C0"/>
              </a:solidFill>
              <a:effectLst/>
              <a:uLnTx/>
              <a:uFillTx/>
              <a:latin typeface="+mn-lt"/>
              <a:ea typeface="+mn-ea"/>
              <a:cs typeface="+mn-cs"/>
            </a:endParaRPr>
          </a:p>
          <a:p>
            <a:pPr marL="640080" marR="0" lvl="1" indent="-273050" algn="l" defTabSz="914400" rtl="0" eaLnBrk="0" fontAlgn="base" latinLnBrk="0" hangingPunct="0">
              <a:lnSpc>
                <a:spcPct val="120000"/>
              </a:lnSpc>
              <a:spcBef>
                <a:spcPct val="20000"/>
              </a:spcBef>
              <a:spcAft>
                <a:spcPct val="0"/>
              </a:spcAft>
              <a:buClr>
                <a:schemeClr val="accent1"/>
              </a:buClr>
              <a:buSzPct val="80000"/>
              <a:buFont typeface="Wingdings 2" panose="05020102010507070707" pitchFamily="18" charset="2"/>
              <a:buChar char=""/>
              <a:defRPr/>
            </a:pPr>
            <a:r>
              <a:rPr kumimoji="0" lang="zh-CN" altLang="en-US" sz="3100" b="1" i="0" u="none" strike="noStrike" kern="1200" cap="none" spc="0" normalizeH="0" baseline="0" noProof="0" dirty="0">
                <a:ln>
                  <a:noFill/>
                </a:ln>
                <a:solidFill>
                  <a:srgbClr val="0070C0"/>
                </a:solidFill>
                <a:effectLst/>
                <a:uLnTx/>
                <a:uFillTx/>
                <a:latin typeface="+mn-lt"/>
                <a:ea typeface="+mn-ea"/>
                <a:cs typeface="+mn-cs"/>
              </a:rPr>
              <a:t>结构层</a:t>
            </a:r>
            <a:endParaRPr kumimoji="0" lang="en-US" altLang="zh-CN" sz="3100" b="1" i="0" u="none" strike="noStrike" kern="1200" cap="none" spc="0" normalizeH="0" baseline="0" noProof="0" dirty="0">
              <a:ln>
                <a:noFill/>
              </a:ln>
              <a:solidFill>
                <a:srgbClr val="0070C0"/>
              </a:solidFill>
              <a:effectLst/>
              <a:uLnTx/>
              <a:uFillTx/>
              <a:latin typeface="+mn-lt"/>
              <a:ea typeface="+mn-ea"/>
              <a:cs typeface="+mn-cs"/>
            </a:endParaRPr>
          </a:p>
          <a:p>
            <a:pPr marL="640080" marR="0" lvl="1" indent="-273050" algn="l" defTabSz="914400" rtl="0" eaLnBrk="0" fontAlgn="base" latinLnBrk="0" hangingPunct="0">
              <a:lnSpc>
                <a:spcPct val="120000"/>
              </a:lnSpc>
              <a:spcBef>
                <a:spcPct val="20000"/>
              </a:spcBef>
              <a:spcAft>
                <a:spcPct val="0"/>
              </a:spcAft>
              <a:buClr>
                <a:schemeClr val="accent1"/>
              </a:buClr>
              <a:buSzPct val="80000"/>
              <a:buFont typeface="Wingdings 2" panose="05020102010507070707" pitchFamily="18" charset="2"/>
              <a:buChar char=""/>
              <a:defRPr/>
            </a:pPr>
            <a:r>
              <a:rPr kumimoji="0" lang="zh-CN" altLang="en-US" sz="3100" b="1" i="0" u="none" strike="noStrike" kern="1200" cap="none" spc="0" normalizeH="0" baseline="0" noProof="0" dirty="0">
                <a:ln>
                  <a:noFill/>
                </a:ln>
                <a:solidFill>
                  <a:srgbClr val="0070C0"/>
                </a:solidFill>
                <a:effectLst/>
                <a:uLnTx/>
                <a:uFillTx/>
                <a:latin typeface="+mn-lt"/>
                <a:ea typeface="+mn-ea"/>
                <a:cs typeface="+mn-cs"/>
              </a:rPr>
              <a:t>主题层</a:t>
            </a:r>
            <a:r>
              <a:rPr kumimoji="0" lang="zh-CN" altLang="en-US" sz="3100" b="1" i="0" u="none" strike="noStrike" kern="1200" cap="none" spc="0" normalizeH="0" baseline="0" noProof="0" dirty="0">
                <a:ln>
                  <a:noFill/>
                </a:ln>
                <a:solidFill>
                  <a:schemeClr val="tx1"/>
                </a:solidFill>
                <a:effectLst/>
                <a:uLnTx/>
                <a:uFillTx/>
                <a:latin typeface="+mn-lt"/>
                <a:ea typeface="+mn-ea"/>
                <a:cs typeface="+mn-cs"/>
              </a:rPr>
              <a:t>：把一些具有较强联系的类组织在一起构成类集合。</a:t>
            </a:r>
            <a:endParaRPr kumimoji="0" lang="en-US" altLang="zh-CN" sz="3100" b="1" i="0" u="none" strike="noStrike" kern="1200" cap="none" spc="0" normalizeH="0" baseline="0" noProof="0" dirty="0">
              <a:ln>
                <a:noFill/>
              </a:ln>
              <a:solidFill>
                <a:schemeClr val="tx1"/>
              </a:solidFill>
              <a:effectLst/>
              <a:uLnTx/>
              <a:uFillTx/>
              <a:latin typeface="+mn-lt"/>
              <a:ea typeface="+mn-ea"/>
              <a:cs typeface="+mn-cs"/>
            </a:endParaRPr>
          </a:p>
          <a:p>
            <a:pPr marL="914400" marR="0" lvl="2" indent="-182880" algn="l" defTabSz="914400" rtl="0" eaLnBrk="0" fontAlgn="base" latinLnBrk="0" hangingPunct="0">
              <a:lnSpc>
                <a:spcPct val="120000"/>
              </a:lnSpc>
              <a:spcBef>
                <a:spcPct val="20000"/>
              </a:spcBef>
              <a:spcAft>
                <a:spcPct val="0"/>
              </a:spcAft>
              <a:buClr>
                <a:srgbClr val="E0752F"/>
              </a:buClr>
              <a:buSzPct val="6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有的面向对象方法中，把互相协作以完成一组紧密结合在一起的责任的类的集合定义为主题（</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subject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）或子系统（</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subsystem</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主题和子系统都是一种抽象，从外界观察系统时，主题或子系统可看作黑盒，它有自己的一组责任和协作者，观察者不必关心其细节。观察一个主题或子系统的内部时，观察者可以把注意力集中在系统的某一个方面。因此，主题或子系统实际上是系统更高抽象层次上的一种描述。</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7680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5" name="右大括号 4"/>
          <p:cNvSpPr/>
          <p:nvPr/>
        </p:nvSpPr>
        <p:spPr>
          <a:xfrm>
            <a:off x="2268538" y="2420938"/>
            <a:ext cx="142875" cy="6477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6" name="TextBox 5"/>
          <p:cNvSpPr txBox="1">
            <a:spLocks noChangeArrowheads="1"/>
          </p:cNvSpPr>
          <p:nvPr/>
        </p:nvSpPr>
        <p:spPr bwMode="auto">
          <a:xfrm>
            <a:off x="2555875" y="2466975"/>
            <a:ext cx="863600" cy="457200"/>
          </a:xfrm>
          <a:prstGeom prst="rect">
            <a:avLst/>
          </a:prstGeom>
          <a:noFill/>
          <a:ln w="9525">
            <a:noFill/>
            <a:miter lim="800000"/>
          </a:ln>
        </p:spPr>
        <p:txBody>
          <a:bodyPr>
            <a:spAutoFit/>
          </a:bodyPr>
          <a:lstStyle/>
          <a:p>
            <a:pPr marR="0" defTabSz="914400">
              <a:buClrTx/>
              <a:buSzTx/>
              <a:buFontTx/>
              <a:buNone/>
              <a:defRPr/>
            </a:pPr>
            <a:r>
              <a:rPr kumimoji="1" lang="zh-CN" altLang="en-US" sz="2400" b="1" kern="1200" cap="none" spc="0" normalizeH="0" baseline="0" noProof="0" dirty="0">
                <a:latin typeface="+mn-ea"/>
                <a:ea typeface="+mn-ea"/>
                <a:cs typeface="+mn-cs"/>
              </a:rPr>
              <a:t>特征</a:t>
            </a:r>
            <a:endParaRPr kumimoji="1" lang="zh-CN" altLang="en-US" sz="2400" b="1" kern="1200" cap="none" spc="0" normalizeH="0" baseline="0" noProof="0" dirty="0">
              <a:latin typeface="+mn-ea"/>
              <a:ea typeface="+mn-ea"/>
              <a:cs typeface="+mn-c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1.4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面向对象分析</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77827"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zh-CN" kern="1200" dirty="0">
                <a:latin typeface="+mn-lt"/>
                <a:ea typeface="宋体" panose="02010600030101010101" pitchFamily="2" charset="-122"/>
                <a:cs typeface="+mn-cs"/>
              </a:rPr>
              <a:t>面向对象系统分析阶段建立的系统模型</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建造</a:t>
            </a:r>
            <a:r>
              <a:rPr lang="en-US" altLang="zh-CN" kern="1200" dirty="0">
                <a:latin typeface="+mn-lt"/>
                <a:ea typeface="宋体" panose="02010600030101010101" pitchFamily="2" charset="-122"/>
                <a:cs typeface="+mn-cs"/>
              </a:rPr>
              <a:t>OOA</a:t>
            </a:r>
            <a:r>
              <a:rPr lang="zh-CN" altLang="en-US" kern="1200" dirty="0">
                <a:latin typeface="+mn-lt"/>
                <a:ea typeface="宋体" panose="02010600030101010101" pitchFamily="2" charset="-122"/>
                <a:cs typeface="+mn-cs"/>
              </a:rPr>
              <a:t>静态结构模型</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建造</a:t>
            </a:r>
            <a:r>
              <a:rPr lang="en-US" altLang="zh-CN" kern="1200" dirty="0">
                <a:latin typeface="+mn-lt"/>
                <a:ea typeface="宋体" panose="02010600030101010101" pitchFamily="2" charset="-122"/>
                <a:cs typeface="+mn-cs"/>
              </a:rPr>
              <a:t>OOA</a:t>
            </a:r>
            <a:r>
              <a:rPr lang="zh-CN" altLang="en-US" kern="1200" dirty="0">
                <a:latin typeface="+mn-lt"/>
                <a:ea typeface="宋体" panose="02010600030101010101" pitchFamily="2" charset="-122"/>
                <a:cs typeface="+mn-cs"/>
              </a:rPr>
              <a:t>动态结构模型</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建造</a:t>
            </a:r>
            <a:r>
              <a:rPr lang="en-US" altLang="zh-CN" kern="1200" dirty="0">
                <a:latin typeface="+mn-lt"/>
                <a:ea typeface="宋体" panose="02010600030101010101" pitchFamily="2" charset="-122"/>
                <a:cs typeface="+mn-cs"/>
              </a:rPr>
              <a:t>OOA</a:t>
            </a:r>
            <a:r>
              <a:rPr lang="zh-CN" altLang="en-US" kern="1200" dirty="0">
                <a:latin typeface="+mn-lt"/>
                <a:ea typeface="宋体" panose="02010600030101010101" pitchFamily="2" charset="-122"/>
                <a:cs typeface="+mn-cs"/>
              </a:rPr>
              <a:t>功能处理模型</a:t>
            </a:r>
            <a:endParaRPr lang="zh-CN" altLang="en-US" kern="1200" dirty="0">
              <a:latin typeface="+mn-lt"/>
              <a:ea typeface="宋体" panose="02010600030101010101" pitchFamily="2" charset="-122"/>
              <a:cs typeface="+mn-cs"/>
            </a:endParaRPr>
          </a:p>
        </p:txBody>
      </p:sp>
      <p:sp>
        <p:nvSpPr>
          <p:cNvPr id="7782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1.5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面向对象设计</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78851" name="内容占位符 2"/>
          <p:cNvSpPr>
            <a:spLocks noGrp="1"/>
          </p:cNvSpPr>
          <p:nvPr>
            <p:ph sz="quarter" idx="1"/>
          </p:nvPr>
        </p:nvSpPr>
        <p:spPr>
          <a:xfrm>
            <a:off x="457200" y="1600200"/>
            <a:ext cx="7354888" cy="4873625"/>
          </a:xfrm>
        </p:spPr>
        <p:txBody>
          <a:bodyPr vert="horz" wrap="square" lIns="91440" tIns="45720" rIns="91440" bIns="45720" anchor="t" anchorCtr="0"/>
          <a:lstStyle/>
          <a:p>
            <a:pPr eaLnBrk="1" hangingPunct="1">
              <a:buSzPct val="70000"/>
            </a:pPr>
            <a:r>
              <a:rPr lang="zh-CN" altLang="en-US" kern="1200" dirty="0">
                <a:solidFill>
                  <a:srgbClr val="0070C0"/>
                </a:solidFill>
                <a:latin typeface="+mn-lt"/>
                <a:ea typeface="宋体" panose="02010600030101010101" pitchFamily="2" charset="-122"/>
                <a:cs typeface="+mn-cs"/>
              </a:rPr>
              <a:t>面向对象设计</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Object-Oriented Design</a:t>
            </a:r>
            <a:r>
              <a:rPr lang="zh-CN" altLang="en-US" kern="1200" dirty="0">
                <a:latin typeface="+mn-lt"/>
                <a:ea typeface="宋体" panose="02010600030101010101" pitchFamily="2" charset="-122"/>
                <a:cs typeface="+mn-cs"/>
              </a:rPr>
              <a:t>，</a:t>
            </a:r>
            <a:r>
              <a:rPr lang="en-US" altLang="zh-CN" kern="1200" dirty="0">
                <a:solidFill>
                  <a:srgbClr val="FF0000"/>
                </a:solidFill>
                <a:latin typeface="+mn-lt"/>
                <a:ea typeface="宋体" panose="02010600030101010101" pitchFamily="2" charset="-122"/>
                <a:cs typeface="+mn-cs"/>
              </a:rPr>
              <a:t>OOD</a:t>
            </a:r>
            <a:r>
              <a:rPr lang="zh-CN" altLang="en-US" kern="1200" dirty="0">
                <a:latin typeface="+mn-lt"/>
                <a:ea typeface="宋体" panose="02010600030101010101" pitchFamily="2" charset="-122"/>
                <a:cs typeface="+mn-cs"/>
              </a:rPr>
              <a:t>） </a:t>
            </a:r>
            <a:r>
              <a:rPr lang="en-US" altLang="zh-CN" kern="1200" dirty="0">
                <a:solidFill>
                  <a:srgbClr val="FF0000"/>
                </a:solidFill>
                <a:latin typeface="+mn-lt"/>
                <a:ea typeface="宋体" panose="02010600030101010101" pitchFamily="2" charset="-122"/>
                <a:cs typeface="+mn-cs"/>
              </a:rPr>
              <a:t>how</a:t>
            </a:r>
            <a:r>
              <a:rPr lang="zh-CN" altLang="en-US" kern="1200" dirty="0">
                <a:solidFill>
                  <a:srgbClr val="FF0000"/>
                </a:solidFill>
                <a:latin typeface="+mn-lt"/>
                <a:ea typeface="宋体" panose="02010600030101010101" pitchFamily="2" charset="-122"/>
                <a:cs typeface="+mn-cs"/>
              </a:rPr>
              <a:t>？</a:t>
            </a:r>
            <a:endParaRPr lang="en-US" altLang="zh-CN" kern="1200" dirty="0">
              <a:solidFill>
                <a:srgbClr val="FF0000"/>
              </a:solidFill>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将</a:t>
            </a:r>
            <a:r>
              <a:rPr lang="en-US" altLang="zh-CN" kern="1200" dirty="0">
                <a:latin typeface="+mn-lt"/>
                <a:ea typeface="宋体" panose="02010600030101010101" pitchFamily="2" charset="-122"/>
                <a:cs typeface="+mn-cs"/>
              </a:rPr>
              <a:t>OOA</a:t>
            </a:r>
            <a:r>
              <a:rPr lang="zh-CN" altLang="en-US" kern="1200" dirty="0">
                <a:latin typeface="+mn-lt"/>
                <a:ea typeface="宋体" panose="02010600030101010101" pitchFamily="2" charset="-122"/>
                <a:cs typeface="+mn-cs"/>
              </a:rPr>
              <a:t>模型转化为</a:t>
            </a:r>
            <a:r>
              <a:rPr lang="en-US" altLang="zh-CN" kern="1200" dirty="0">
                <a:latin typeface="+mn-lt"/>
                <a:ea typeface="宋体" panose="02010600030101010101" pitchFamily="2" charset="-122"/>
                <a:cs typeface="+mn-cs"/>
              </a:rPr>
              <a:t>OOD</a:t>
            </a:r>
            <a:r>
              <a:rPr lang="zh-CN" altLang="en-US" kern="1200" dirty="0">
                <a:latin typeface="+mn-lt"/>
                <a:ea typeface="宋体" panose="02010600030101010101" pitchFamily="2" charset="-122"/>
                <a:cs typeface="+mn-cs"/>
              </a:rPr>
              <a:t>模型，两者没有明显分界</a:t>
            </a: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与传统的开发方法不同，</a:t>
            </a:r>
            <a:r>
              <a:rPr lang="en-US" altLang="zh-CN" kern="1200" dirty="0">
                <a:latin typeface="+mn-lt"/>
                <a:ea typeface="宋体" panose="02010600030101010101" pitchFamily="2" charset="-122"/>
                <a:cs typeface="+mn-cs"/>
              </a:rPr>
              <a:t>OOA</a:t>
            </a:r>
            <a:r>
              <a:rPr lang="zh-CN" altLang="en-US" kern="1200" dirty="0">
                <a:latin typeface="+mn-lt"/>
                <a:ea typeface="宋体" panose="02010600030101010101" pitchFamily="2" charset="-122"/>
                <a:cs typeface="+mn-cs"/>
              </a:rPr>
              <a:t>和</a:t>
            </a:r>
            <a:r>
              <a:rPr lang="en-US" altLang="zh-CN" kern="1200" dirty="0">
                <a:latin typeface="+mn-lt"/>
                <a:ea typeface="宋体" panose="02010600030101010101" pitchFamily="2" charset="-122"/>
                <a:cs typeface="+mn-cs"/>
              </a:rPr>
              <a:t>OOD</a:t>
            </a:r>
            <a:r>
              <a:rPr lang="zh-CN" altLang="en-US" kern="1200" dirty="0">
                <a:latin typeface="+mn-lt"/>
                <a:ea typeface="宋体" panose="02010600030101010101" pitchFamily="2" charset="-122"/>
                <a:cs typeface="+mn-cs"/>
              </a:rPr>
              <a:t>没有明显的分界线，采用相同的符号表示，往往反复迭代地进行。</a:t>
            </a:r>
            <a:endParaRPr lang="en-US" altLang="zh-CN" kern="1200" dirty="0">
              <a:latin typeface="+mn-lt"/>
              <a:ea typeface="宋体" panose="02010600030101010101" pitchFamily="2" charset="-122"/>
              <a:cs typeface="+mn-cs"/>
            </a:endParaRPr>
          </a:p>
          <a:p>
            <a:pPr eaLnBrk="1" hangingPunct="1">
              <a:buSzPct val="70000"/>
            </a:pPr>
            <a:r>
              <a:rPr lang="zh-CN" altLang="en-US" kern="1200" dirty="0">
                <a:latin typeface="+mn-lt"/>
                <a:ea typeface="宋体" panose="02010600030101010101" pitchFamily="2" charset="-122"/>
                <a:cs typeface="+mn-cs"/>
              </a:rPr>
              <a:t>过程包括：系统设计、对象设计、模式设计</a:t>
            </a:r>
            <a:endParaRPr lang="en-US" altLang="zh-CN" kern="1200" dirty="0">
              <a:latin typeface="+mn-lt"/>
              <a:ea typeface="宋体" panose="02010600030101010101" pitchFamily="2" charset="-122"/>
              <a:cs typeface="+mn-cs"/>
            </a:endParaRPr>
          </a:p>
          <a:p>
            <a:pPr eaLnBrk="1" hangingPunct="1">
              <a:buSzPct val="70000"/>
              <a:buFont typeface="Wingdings" panose="05000000000000000000" pitchFamily="2" charset="2"/>
              <a:buNone/>
            </a:pPr>
            <a:endParaRPr lang="en-US" altLang="zh-CN"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p:txBody>
      </p:sp>
      <p:sp>
        <p:nvSpPr>
          <p:cNvPr id="7885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1.5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面向对象设计</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79875" name="内容占位符 2"/>
          <p:cNvSpPr>
            <a:spLocks noGrp="1"/>
          </p:cNvSpPr>
          <p:nvPr>
            <p:ph sz="quarter" idx="1"/>
          </p:nvPr>
        </p:nvSpPr>
        <p:spPr/>
        <p:txBody>
          <a:bodyPr vert="horz" wrap="square" lIns="91440" tIns="45720" rIns="91440" bIns="45720" anchor="t" anchorCtr="0"/>
          <a:lstStyle/>
          <a:p>
            <a:pPr eaLnBrk="1" hangingPunct="1">
              <a:buSzPct val="70000"/>
            </a:pPr>
            <a:r>
              <a:rPr lang="en-US" altLang="zh-CN" kern="1200" dirty="0">
                <a:latin typeface="+mn-lt"/>
                <a:ea typeface="宋体" panose="02010600030101010101" pitchFamily="2" charset="-122"/>
                <a:cs typeface="+mn-cs"/>
              </a:rPr>
              <a:t>OOD</a:t>
            </a:r>
            <a:r>
              <a:rPr lang="zh-CN" altLang="en-US" kern="1200" dirty="0">
                <a:latin typeface="+mn-lt"/>
                <a:ea typeface="宋体" panose="02010600030101010101" pitchFamily="2" charset="-122"/>
                <a:cs typeface="+mn-cs"/>
              </a:rPr>
              <a:t>步骤</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solidFill>
                  <a:srgbClr val="0070C0"/>
                </a:solidFill>
                <a:latin typeface="+mn-lt"/>
                <a:ea typeface="宋体" panose="02010600030101010101" pitchFamily="2" charset="-122"/>
                <a:cs typeface="+mn-cs"/>
              </a:rPr>
              <a:t>系统体系结构设计</a:t>
            </a:r>
            <a:r>
              <a:rPr lang="zh-CN" altLang="en-US" kern="1200" dirty="0">
                <a:latin typeface="+mn-lt"/>
                <a:ea typeface="宋体" panose="02010600030101010101" pitchFamily="2" charset="-122"/>
                <a:cs typeface="+mn-cs"/>
              </a:rPr>
              <a:t>（高层设计）：系统环境选择，系统的体系结构设计</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solidFill>
                  <a:srgbClr val="0070C0"/>
                </a:solidFill>
                <a:latin typeface="+mn-lt"/>
                <a:ea typeface="宋体" panose="02010600030101010101" pitchFamily="2" charset="-122"/>
                <a:cs typeface="+mn-cs"/>
              </a:rPr>
              <a:t>系统对象设计</a:t>
            </a:r>
            <a:r>
              <a:rPr lang="zh-CN" altLang="en-US" kern="1200" dirty="0">
                <a:latin typeface="+mn-lt"/>
                <a:ea typeface="宋体" panose="02010600030101010101" pitchFamily="2" charset="-122"/>
                <a:cs typeface="+mn-cs"/>
              </a:rPr>
              <a:t>（低层设计）：集中于类的详细设计，建立系统整体结构并确认接口</a:t>
            </a:r>
            <a:endParaRPr lang="zh-CN" altLang="en-US" kern="1200" dirty="0">
              <a:latin typeface="+mn-lt"/>
              <a:ea typeface="宋体" panose="02010600030101010101" pitchFamily="2" charset="-122"/>
              <a:cs typeface="+mn-cs"/>
            </a:endParaRPr>
          </a:p>
          <a:p>
            <a:pPr eaLnBrk="1" hangingPunct="1">
              <a:buSzPct val="70000"/>
            </a:pPr>
            <a:endParaRPr lang="zh-CN" altLang="en-US" kern="1200" dirty="0">
              <a:latin typeface="+mn-lt"/>
              <a:ea typeface="宋体" panose="02010600030101010101" pitchFamily="2" charset="-122"/>
              <a:cs typeface="+mn-cs"/>
            </a:endParaRPr>
          </a:p>
        </p:txBody>
      </p:sp>
      <p:sp>
        <p:nvSpPr>
          <p:cNvPr id="7987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1.5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面向对象设计</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79875" name="内容占位符 2"/>
          <p:cNvSpPr>
            <a:spLocks noGrp="1"/>
          </p:cNvSpPr>
          <p:nvPr>
            <p:ph sz="quarter" idx="1"/>
          </p:nvPr>
        </p:nvSpPr>
        <p:spPr/>
        <p:txBody>
          <a:bodyPr vert="horz" wrap="square" lIns="91440" tIns="45720" rIns="91440" bIns="45720" numCol="1" anchor="t" anchorCtr="0" compatLnSpc="1">
            <a:normAutofit lnSpcReduction="10000"/>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系统对象设计</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对象接口设计：</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加入接口对象，建立对象的静态、动态模型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协议描述：描述对象的接口</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实现描述：描述传送给对象的消息所蕴含的每个操作的实现细节</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设计算法和数据结构</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确认子系统：</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确定子系统</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建立系统整体结构图</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子系统间的通信</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合约：类型、协作者、类、操作、消息格式</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8090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1.5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面向对象设计</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80899" name="内容占位符 2"/>
          <p:cNvSpPr>
            <a:spLocks noGrp="1"/>
          </p:cNvSpPr>
          <p:nvPr>
            <p:ph sz="quarter" idx="1"/>
          </p:nvPr>
        </p:nvSpPr>
        <p:spPr/>
        <p:txBody>
          <a:bodyPr vert="horz" wrap="square" lIns="91440" tIns="45720" rIns="91440" bIns="45720" numCol="1" anchor="t" anchorCtr="0" compatLnSpc="1">
            <a:no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系统体系结构设计</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任务管理</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主从结构设计。</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分布式结构设计。</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数据管理</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定义数据类型。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设计数据管理。数据管理设计提供了持久对象的基本结构。 </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人机界面</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8192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1.5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面向对象设计</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82947"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设计模式（</a:t>
            </a:r>
            <a:r>
              <a:rPr lang="en-US" altLang="zh-CN" kern="1200" dirty="0">
                <a:latin typeface="+mn-lt"/>
                <a:ea typeface="宋体" panose="02010600030101010101" pitchFamily="2" charset="-122"/>
                <a:cs typeface="+mn-cs"/>
              </a:rPr>
              <a:t>Design Pattern</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在许多面向对象系统中，存在一些类和通信对象的重复出现的模式。这些模式求解特定的设计问题，使面向对象设计更灵活，并最终可复用。这些模式帮助设计者复用以前成功的设计，设计者可把这些模式应用到新的设计中。</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设计模式：模式名、应用条件、模式的特征、应用结果</a:t>
            </a:r>
            <a:endParaRPr lang="zh-CN" altLang="en-US" kern="1200" dirty="0">
              <a:latin typeface="+mn-lt"/>
              <a:ea typeface="宋体" panose="02010600030101010101" pitchFamily="2" charset="-122"/>
              <a:cs typeface="+mn-cs"/>
            </a:endParaRPr>
          </a:p>
        </p:txBody>
      </p:sp>
      <p:sp>
        <p:nvSpPr>
          <p:cNvPr id="8294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1.6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面向对象实现、测试和维护</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83971"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mn-lt"/>
                <a:ea typeface="宋体" panose="02010600030101010101" pitchFamily="2" charset="-122"/>
                <a:cs typeface="+mn-cs"/>
              </a:rPr>
              <a:t>软件工程每个阶段都需保存完善的文档资料。</a:t>
            </a:r>
            <a:endParaRPr lang="en-US" altLang="zh-CN" kern="1200" dirty="0">
              <a:latin typeface="+mn-lt"/>
              <a:ea typeface="宋体" panose="02010600030101010101" pitchFamily="2" charset="-122"/>
              <a:cs typeface="+mn-cs"/>
            </a:endParaRPr>
          </a:p>
          <a:p>
            <a:pPr eaLnBrk="1" hangingPunct="1">
              <a:buSzPct val="70000"/>
            </a:pPr>
            <a:r>
              <a:rPr lang="en-US" altLang="zh-CN" kern="1200" dirty="0">
                <a:latin typeface="+mn-lt"/>
                <a:ea typeface="宋体" panose="02010600030101010101" pitchFamily="2" charset="-122"/>
                <a:cs typeface="+mn-cs"/>
              </a:rPr>
              <a:t>OOA&amp;OOD</a:t>
            </a:r>
            <a:r>
              <a:rPr lang="zh-CN" altLang="en-US" kern="1200" dirty="0">
                <a:latin typeface="+mn-lt"/>
                <a:ea typeface="宋体" panose="02010600030101010101" pitchFamily="2" charset="-122"/>
                <a:cs typeface="+mn-cs"/>
              </a:rPr>
              <a:t>阶段之后提供的文档：</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solidFill>
                  <a:srgbClr val="0070C0"/>
                </a:solidFill>
                <a:latin typeface="+mn-lt"/>
                <a:ea typeface="宋体" panose="02010600030101010101" pitchFamily="2" charset="-122"/>
                <a:cs typeface="+mn-cs"/>
              </a:rPr>
              <a:t>用户文档</a:t>
            </a:r>
            <a:r>
              <a:rPr lang="zh-CN" altLang="en-US" kern="1200" dirty="0">
                <a:latin typeface="+mn-lt"/>
                <a:ea typeface="宋体" panose="02010600030101010101" pitchFamily="2" charset="-122"/>
                <a:cs typeface="+mn-cs"/>
              </a:rPr>
              <a:t>：面向用户</a:t>
            </a:r>
            <a:endParaRPr lang="en-US" altLang="zh-CN" kern="1200" dirty="0">
              <a:latin typeface="+mn-lt"/>
              <a:ea typeface="宋体" panose="02010600030101010101" pitchFamily="2" charset="-122"/>
              <a:cs typeface="+mn-cs"/>
            </a:endParaRPr>
          </a:p>
          <a:p>
            <a:pPr lvl="2" eaLnBrk="1" hangingPunct="1">
              <a:buClr>
                <a:srgbClr val="E0752F"/>
              </a:buClr>
              <a:buSzPct val="60000"/>
            </a:pPr>
            <a:r>
              <a:rPr lang="zh-CN" altLang="en-US" kern="1200" dirty="0">
                <a:solidFill>
                  <a:srgbClr val="0070C0"/>
                </a:solidFill>
                <a:latin typeface="+mn-lt"/>
                <a:ea typeface="宋体" panose="02010600030101010101" pitchFamily="2" charset="-122"/>
                <a:cs typeface="+mn-cs"/>
              </a:rPr>
              <a:t>场景</a:t>
            </a:r>
            <a:r>
              <a:rPr lang="en-US" altLang="zh-CN" kern="1200" dirty="0">
                <a:solidFill>
                  <a:srgbClr val="0070C0"/>
                </a:solidFill>
                <a:latin typeface="+mn-lt"/>
                <a:ea typeface="宋体" panose="02010600030101010101" pitchFamily="2" charset="-122"/>
                <a:cs typeface="+mn-cs"/>
              </a:rPr>
              <a:t>/</a:t>
            </a:r>
            <a:r>
              <a:rPr lang="zh-CN" altLang="en-US" kern="1200" dirty="0">
                <a:solidFill>
                  <a:srgbClr val="0070C0"/>
                </a:solidFill>
                <a:latin typeface="+mn-lt"/>
                <a:ea typeface="宋体" panose="02010600030101010101" pitchFamily="2" charset="-122"/>
                <a:cs typeface="+mn-cs"/>
              </a:rPr>
              <a:t>用例图、系统功能处理模型图</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solidFill>
                  <a:srgbClr val="0070C0"/>
                </a:solidFill>
                <a:latin typeface="+mn-lt"/>
                <a:ea typeface="宋体" panose="02010600030101010101" pitchFamily="2" charset="-122"/>
                <a:cs typeface="+mn-cs"/>
              </a:rPr>
              <a:t>系统文档</a:t>
            </a:r>
            <a:r>
              <a:rPr lang="zh-CN" altLang="en-US" kern="1200" dirty="0">
                <a:latin typeface="+mn-lt"/>
                <a:ea typeface="宋体" panose="02010600030101010101" pitchFamily="2" charset="-122"/>
                <a:cs typeface="+mn-cs"/>
              </a:rPr>
              <a:t>：面向开发者</a:t>
            </a:r>
            <a:endParaRPr lang="en-US" altLang="zh-CN" kern="1200" dirty="0">
              <a:latin typeface="+mn-lt"/>
              <a:ea typeface="宋体" panose="02010600030101010101" pitchFamily="2" charset="-122"/>
              <a:cs typeface="+mn-cs"/>
            </a:endParaRPr>
          </a:p>
          <a:p>
            <a:pPr lvl="2" eaLnBrk="1" hangingPunct="1">
              <a:buClr>
                <a:srgbClr val="E0752F"/>
              </a:buClr>
              <a:buSzPct val="60000"/>
            </a:pPr>
            <a:r>
              <a:rPr lang="zh-CN" altLang="en-US" kern="1200" dirty="0">
                <a:latin typeface="+mn-lt"/>
                <a:ea typeface="宋体" panose="02010600030101010101" pitchFamily="2" charset="-122"/>
                <a:cs typeface="+mn-cs"/>
              </a:rPr>
              <a:t>增加</a:t>
            </a:r>
            <a:r>
              <a:rPr lang="zh-CN" altLang="en-US" kern="1200" dirty="0">
                <a:solidFill>
                  <a:srgbClr val="0070C0"/>
                </a:solidFill>
                <a:latin typeface="+mn-lt"/>
                <a:ea typeface="宋体" panose="02010600030101010101" pitchFamily="2" charset="-122"/>
                <a:cs typeface="+mn-cs"/>
              </a:rPr>
              <a:t>对象静态模型、对象动态模型、系统设计、体系结构模型</a:t>
            </a:r>
            <a:r>
              <a:rPr lang="zh-CN" altLang="en-US" kern="1200" dirty="0">
                <a:latin typeface="+mn-lt"/>
                <a:ea typeface="宋体" panose="02010600030101010101" pitchFamily="2" charset="-122"/>
                <a:cs typeface="+mn-cs"/>
              </a:rPr>
              <a:t>。</a:t>
            </a:r>
            <a:endParaRPr lang="zh-CN" altLang="en-US" kern="1200" dirty="0">
              <a:latin typeface="+mn-lt"/>
              <a:ea typeface="宋体" panose="02010600030101010101" pitchFamily="2" charset="-122"/>
              <a:cs typeface="+mn-cs"/>
            </a:endParaRPr>
          </a:p>
        </p:txBody>
      </p:sp>
      <p:sp>
        <p:nvSpPr>
          <p:cNvPr id="8397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1.6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面向对象实现、测试和维护</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84995" name="内容占位符 2"/>
          <p:cNvSpPr>
            <a:spLocks noGrp="1"/>
          </p:cNvSpPr>
          <p:nvPr>
            <p:ph sz="quarter" idx="1"/>
          </p:nvPr>
        </p:nvSpPr>
        <p:spPr/>
        <p:txBody>
          <a:bodyPr vert="horz" wrap="square" lIns="91440" tIns="45720" rIns="91440" bIns="45720" anchor="t" anchorCtr="0"/>
          <a:lstStyle/>
          <a:p>
            <a:pPr>
              <a:buSzPct val="70000"/>
            </a:pPr>
            <a:r>
              <a:rPr lang="zh-CN" altLang="en-US" kern="1200" dirty="0">
                <a:latin typeface="+mn-lt"/>
                <a:ea typeface="宋体" panose="02010600030101010101" pitchFamily="2" charset="-122"/>
                <a:cs typeface="+mn-cs"/>
              </a:rPr>
              <a:t>面向对象系统的实现（</a:t>
            </a:r>
            <a:r>
              <a:rPr lang="en-US" altLang="zh-CN" kern="1200" dirty="0">
                <a:latin typeface="+mn-lt"/>
                <a:ea typeface="宋体" panose="02010600030101010101" pitchFamily="2" charset="-122"/>
                <a:cs typeface="+mn-cs"/>
              </a:rPr>
              <a:t> Object-Oriented Implementation</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OOI</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a:buSzPct val="70000"/>
            </a:pPr>
            <a:r>
              <a:rPr lang="zh-CN" altLang="en-US" kern="1200" dirty="0">
                <a:latin typeface="+mn-lt"/>
                <a:ea typeface="宋体" panose="02010600030101010101" pitchFamily="2" charset="-122"/>
                <a:cs typeface="+mn-cs"/>
              </a:rPr>
              <a:t>计算机辅助软件开发工具</a:t>
            </a:r>
            <a:r>
              <a:rPr lang="en-US" altLang="zh-CN" kern="1200" dirty="0">
                <a:latin typeface="+mn-lt"/>
                <a:ea typeface="宋体" panose="02010600030101010101" pitchFamily="2" charset="-122"/>
                <a:cs typeface="+mn-cs"/>
              </a:rPr>
              <a:t>CASE</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lvl="1">
              <a:buSzPct val="80000"/>
            </a:pPr>
            <a:r>
              <a:rPr lang="en-US" altLang="zh-CN" kern="1200" dirty="0">
                <a:latin typeface="+mn-lt"/>
                <a:ea typeface="宋体" panose="02010600030101010101" pitchFamily="2" charset="-122"/>
                <a:cs typeface="+mn-cs"/>
              </a:rPr>
              <a:t>Rational Rose</a:t>
            </a:r>
            <a:r>
              <a:rPr lang="zh-CN" altLang="en-US" kern="1200" dirty="0">
                <a:latin typeface="+mn-lt"/>
                <a:ea typeface="宋体" panose="02010600030101010101" pitchFamily="2" charset="-122"/>
                <a:cs typeface="+mn-cs"/>
              </a:rPr>
              <a:t>，支持</a:t>
            </a:r>
            <a:r>
              <a:rPr lang="en-US" altLang="zh-CN" kern="1200" dirty="0">
                <a:latin typeface="+mn-lt"/>
                <a:ea typeface="宋体" panose="02010600030101010101" pitchFamily="2" charset="-122"/>
                <a:cs typeface="+mn-cs"/>
              </a:rPr>
              <a:t>UML</a:t>
            </a:r>
            <a:r>
              <a:rPr lang="zh-CN" altLang="en-US" kern="1200" dirty="0">
                <a:latin typeface="+mn-lt"/>
                <a:ea typeface="宋体" panose="02010600030101010101" pitchFamily="2" charset="-122"/>
                <a:cs typeface="+mn-cs"/>
              </a:rPr>
              <a:t>的</a:t>
            </a:r>
            <a:r>
              <a:rPr lang="en-US" altLang="zh-CN" kern="1200" dirty="0">
                <a:latin typeface="+mn-lt"/>
                <a:ea typeface="宋体" panose="02010600030101010101" pitchFamily="2" charset="-122"/>
                <a:cs typeface="+mn-cs"/>
              </a:rPr>
              <a:t>CASE</a:t>
            </a:r>
            <a:r>
              <a:rPr lang="zh-CN" altLang="en-US" kern="1200" dirty="0">
                <a:latin typeface="+mn-lt"/>
                <a:ea typeface="宋体" panose="02010600030101010101" pitchFamily="2" charset="-122"/>
                <a:cs typeface="+mn-cs"/>
              </a:rPr>
              <a:t>工具</a:t>
            </a:r>
            <a:endParaRPr lang="en-US" altLang="zh-CN" kern="1200" dirty="0">
              <a:latin typeface="+mn-lt"/>
              <a:ea typeface="宋体" panose="02010600030101010101" pitchFamily="2" charset="-122"/>
              <a:cs typeface="+mn-cs"/>
            </a:endParaRPr>
          </a:p>
          <a:p>
            <a:pPr>
              <a:buSzPct val="70000"/>
            </a:pPr>
            <a:r>
              <a:rPr lang="zh-CN" altLang="en-US" kern="1200" dirty="0">
                <a:latin typeface="+mn-lt"/>
                <a:ea typeface="宋体" panose="02010600030101010101" pitchFamily="2" charset="-122"/>
                <a:cs typeface="+mn-cs"/>
              </a:rPr>
              <a:t>程序设计语言的选择</a:t>
            </a:r>
            <a:endParaRPr lang="en-US" altLang="zh-CN" kern="1200" dirty="0">
              <a:latin typeface="+mn-lt"/>
              <a:ea typeface="宋体" panose="02010600030101010101" pitchFamily="2" charset="-122"/>
              <a:cs typeface="+mn-cs"/>
            </a:endParaRPr>
          </a:p>
          <a:p>
            <a:pPr lvl="1">
              <a:buSzPct val="80000"/>
            </a:pPr>
            <a:r>
              <a:rPr lang="en-US" altLang="zh-CN" kern="1200" dirty="0">
                <a:latin typeface="Times New Roman" panose="02020603050405020304" pitchFamily="18" charset="0"/>
                <a:ea typeface="宋体" panose="02010600030101010101" pitchFamily="2" charset="-122"/>
                <a:cs typeface="+mn-cs"/>
              </a:rPr>
              <a:t>Smalltalk</a:t>
            </a:r>
            <a:endParaRPr lang="en-US" altLang="zh-CN" kern="1200" dirty="0">
              <a:latin typeface="Times New Roman" panose="02020603050405020304" pitchFamily="18" charset="0"/>
              <a:ea typeface="宋体" panose="02010600030101010101" pitchFamily="2" charset="-122"/>
              <a:cs typeface="+mn-cs"/>
            </a:endParaRPr>
          </a:p>
          <a:p>
            <a:pPr lvl="1">
              <a:buSzPct val="80000"/>
            </a:pPr>
            <a:r>
              <a:rPr lang="en-US" altLang="zh-CN" kern="1200" dirty="0">
                <a:latin typeface="Times New Roman" panose="02020603050405020304" pitchFamily="18" charset="0"/>
                <a:ea typeface="宋体" panose="02010600030101010101" pitchFamily="2" charset="-122"/>
                <a:cs typeface="+mn-cs"/>
              </a:rPr>
              <a:t>C++</a:t>
            </a:r>
            <a:endParaRPr lang="en-US" altLang="zh-CN" kern="1200" dirty="0">
              <a:latin typeface="Times New Roman" panose="02020603050405020304" pitchFamily="18" charset="0"/>
              <a:ea typeface="宋体" panose="02010600030101010101" pitchFamily="2" charset="-122"/>
              <a:cs typeface="+mn-cs"/>
            </a:endParaRPr>
          </a:p>
          <a:p>
            <a:pPr lvl="1">
              <a:buSzPct val="80000"/>
            </a:pPr>
            <a:r>
              <a:rPr lang="en-US" altLang="zh-CN" kern="1200" dirty="0">
                <a:latin typeface="Times New Roman" panose="02020603050405020304" pitchFamily="18" charset="0"/>
                <a:ea typeface="宋体" panose="02010600030101010101" pitchFamily="2" charset="-122"/>
                <a:cs typeface="+mn-cs"/>
              </a:rPr>
              <a:t>Java</a:t>
            </a:r>
            <a:endParaRPr lang="en-US" altLang="zh-CN" kern="1200" dirty="0">
              <a:latin typeface="Times New Roman" panose="02020603050405020304" pitchFamily="18" charset="0"/>
              <a:ea typeface="宋体" panose="02010600030101010101" pitchFamily="2" charset="-122"/>
              <a:cs typeface="+mn-cs"/>
            </a:endParaRPr>
          </a:p>
          <a:p>
            <a:pPr lvl="1">
              <a:buSzPct val="80000"/>
            </a:pPr>
            <a:r>
              <a:rPr lang="en-US" altLang="zh-CN" kern="1200" dirty="0">
                <a:latin typeface="Times New Roman" panose="02020603050405020304" pitchFamily="18" charset="0"/>
                <a:ea typeface="宋体" panose="02010600030101010101" pitchFamily="2" charset="-122"/>
                <a:cs typeface="+mn-cs"/>
              </a:rPr>
              <a:t>C#</a:t>
            </a:r>
            <a:endParaRPr lang="en-US" altLang="zh-CN" kern="1200" dirty="0">
              <a:latin typeface="Times New Roman" panose="02020603050405020304" pitchFamily="18" charset="0"/>
              <a:ea typeface="宋体" panose="02010600030101010101" pitchFamily="2" charset="-122"/>
              <a:cs typeface="+mn-cs"/>
            </a:endParaRPr>
          </a:p>
          <a:p>
            <a:pPr lvl="1">
              <a:buSzPct val="80000"/>
            </a:pPr>
            <a:r>
              <a:rPr lang="en-US" altLang="zh-CN" kern="1200" dirty="0">
                <a:latin typeface="Times New Roman" panose="02020603050405020304" pitchFamily="18" charset="0"/>
                <a:ea typeface="宋体" panose="02010600030101010101" pitchFamily="2" charset="-122"/>
                <a:cs typeface="+mn-cs"/>
              </a:rPr>
              <a:t>…</a:t>
            </a:r>
            <a:endParaRPr lang="en-US" altLang="zh-CN" kern="1200" dirty="0">
              <a:latin typeface="Times New Roman" panose="02020603050405020304" pitchFamily="18" charset="0"/>
              <a:ea typeface="宋体" panose="02010600030101010101" pitchFamily="2" charset="-122"/>
              <a:cs typeface="+mn-cs"/>
            </a:endParaRPr>
          </a:p>
          <a:p>
            <a:pPr>
              <a:buSzPct val="70000"/>
            </a:pPr>
            <a:endParaRPr lang="zh-CN" altLang="en-US" kern="1200" dirty="0">
              <a:latin typeface="+mn-lt"/>
              <a:ea typeface="宋体" panose="02010600030101010101" pitchFamily="2" charset="-122"/>
              <a:cs typeface="+mn-cs"/>
            </a:endParaRPr>
          </a:p>
        </p:txBody>
      </p:sp>
      <p:sp>
        <p:nvSpPr>
          <p:cNvPr id="8499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1.6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面向对象实现、测试和维护</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面向对象系统的测试（</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Object-Oriented Testing</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0" fontAlgn="base" latinLnBrk="0" hangingPunct="0">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测试</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OOA</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OOD</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OOA</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和</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OOD</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模型的复审是特别有用的，因为相同的语义结构（如类、属性、操作、消息）出现在分析、设计和代码阶段。</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所有面向对象模型应该被测试，以保证在模型的语法、语义和语用的语境内的正确性、完整性和一致性。</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860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1.6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面向对象实现、测试和维护</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87043" name="内容占位符 2"/>
          <p:cNvSpPr>
            <a:spLocks noGrp="1"/>
          </p:cNvSpPr>
          <p:nvPr>
            <p:ph sz="quarter" idx="1"/>
          </p:nvPr>
        </p:nvSpPr>
        <p:spPr/>
        <p:txBody>
          <a:bodyPr vert="horz" wrap="square" lIns="91440" tIns="45720" rIns="91440" bIns="45720" anchor="t" anchorCtr="0"/>
          <a:lstStyle/>
          <a:p>
            <a:pPr marL="457200" indent="-457200">
              <a:buSzPct val="70000"/>
              <a:buFont typeface="Century Schoolbook" panose="02040604050505020304" pitchFamily="18" charset="0"/>
              <a:buAutoNum type="arabicPeriod" startAt="2"/>
            </a:pPr>
            <a:r>
              <a:rPr lang="zh-CN" altLang="en-US" kern="1200" dirty="0">
                <a:latin typeface="+mn-lt"/>
                <a:ea typeface="宋体" panose="02010600030101010101" pitchFamily="2" charset="-122"/>
                <a:cs typeface="+mn-cs"/>
              </a:rPr>
              <a:t>单元测试</a:t>
            </a:r>
            <a:endParaRPr lang="en-US" altLang="zh-CN" kern="1200" dirty="0">
              <a:latin typeface="+mn-lt"/>
              <a:ea typeface="宋体" panose="02010600030101010101" pitchFamily="2" charset="-122"/>
              <a:cs typeface="+mn-cs"/>
            </a:endParaRPr>
          </a:p>
          <a:p>
            <a:pPr lvl="1">
              <a:buSzPct val="80000"/>
            </a:pPr>
            <a:r>
              <a:rPr lang="zh-CN" altLang="en-US" kern="1200" dirty="0">
                <a:latin typeface="+mn-lt"/>
                <a:ea typeface="宋体" panose="02010600030101010101" pitchFamily="2" charset="-122"/>
                <a:cs typeface="+mn-cs"/>
              </a:rPr>
              <a:t>单元的概念：当考虑面向对象软件时，最小的可测试单位是封装的类或对象，类包含一组不同的操作，并且某特殊操作可能作为一组不同类的一部分存在。</a:t>
            </a:r>
            <a:endParaRPr lang="en-US" altLang="zh-CN" kern="1200" dirty="0">
              <a:latin typeface="+mn-lt"/>
              <a:ea typeface="宋体" panose="02010600030101010101" pitchFamily="2" charset="-122"/>
              <a:cs typeface="+mn-cs"/>
            </a:endParaRPr>
          </a:p>
          <a:p>
            <a:pPr lvl="1">
              <a:buSzPct val="80000"/>
            </a:pPr>
            <a:r>
              <a:rPr lang="zh-CN" altLang="en-US" kern="1200" dirty="0">
                <a:latin typeface="+mn-lt"/>
                <a:ea typeface="宋体" panose="02010600030101010101" pitchFamily="2" charset="-122"/>
                <a:cs typeface="+mn-cs"/>
              </a:rPr>
              <a:t>不再孤立地测试单个操作，而是将操作作为类的一部分。</a:t>
            </a:r>
            <a:endParaRPr lang="en-US" altLang="zh-CN" kern="1200" dirty="0">
              <a:latin typeface="+mn-lt"/>
              <a:ea typeface="宋体" panose="02010600030101010101" pitchFamily="2" charset="-122"/>
              <a:cs typeface="+mn-cs"/>
            </a:endParaRPr>
          </a:p>
          <a:p>
            <a:pPr lvl="1">
              <a:buSzPct val="80000"/>
            </a:pPr>
            <a:r>
              <a:rPr lang="zh-CN" altLang="en-US" kern="1200" dirty="0">
                <a:latin typeface="+mn-lt"/>
                <a:ea typeface="宋体" panose="02010600030101010101" pitchFamily="2" charset="-122"/>
                <a:cs typeface="+mn-cs"/>
              </a:rPr>
              <a:t>对</a:t>
            </a:r>
            <a:r>
              <a:rPr lang="en-US" altLang="zh-CN" kern="1200" dirty="0">
                <a:latin typeface="+mn-lt"/>
                <a:ea typeface="宋体" panose="02010600030101010101" pitchFamily="2" charset="-122"/>
                <a:cs typeface="+mn-cs"/>
              </a:rPr>
              <a:t>OO</a:t>
            </a:r>
            <a:r>
              <a:rPr lang="zh-CN" altLang="en-US" kern="1200" dirty="0">
                <a:latin typeface="+mn-lt"/>
                <a:ea typeface="宋体" panose="02010600030101010101" pitchFamily="2" charset="-122"/>
                <a:cs typeface="+mn-cs"/>
              </a:rPr>
              <a:t>软件的类测试等价于传统软件的单元测试。和传统软件的单元测试不一样，</a:t>
            </a:r>
            <a:r>
              <a:rPr lang="en-US" altLang="zh-CN" kern="1200" dirty="0">
                <a:latin typeface="+mn-lt"/>
                <a:ea typeface="宋体" panose="02010600030101010101" pitchFamily="2" charset="-122"/>
                <a:cs typeface="+mn-cs"/>
              </a:rPr>
              <a:t>OO</a:t>
            </a:r>
            <a:r>
              <a:rPr lang="zh-CN" altLang="en-US" kern="1200" dirty="0">
                <a:latin typeface="+mn-lt"/>
                <a:ea typeface="宋体" panose="02010600030101010101" pitchFamily="2" charset="-122"/>
                <a:cs typeface="+mn-cs"/>
              </a:rPr>
              <a:t>软件的类测试往往关注模块的算法细节和模块接口间流动的数据，它是由封装在类中的操作和类的状态行为所驱动的。</a:t>
            </a:r>
            <a:endParaRPr lang="en-US" altLang="zh-CN" kern="1200" dirty="0">
              <a:latin typeface="+mn-lt"/>
              <a:ea typeface="宋体" panose="02010600030101010101" pitchFamily="2" charset="-122"/>
              <a:cs typeface="+mn-cs"/>
            </a:endParaRPr>
          </a:p>
        </p:txBody>
      </p:sp>
      <p:sp>
        <p:nvSpPr>
          <p:cNvPr id="8704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1.6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面向对象实现、测试和维护</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457200" marR="0" lvl="0" indent="-457200" algn="l" defTabSz="914400" rtl="0" eaLnBrk="0" fontAlgn="base" latinLnBrk="0" hangingPunct="0">
              <a:lnSpc>
                <a:spcPct val="100000"/>
              </a:lnSpc>
              <a:spcBef>
                <a:spcPts val="600"/>
              </a:spcBef>
              <a:spcAft>
                <a:spcPct val="0"/>
              </a:spcAft>
              <a:buClr>
                <a:schemeClr val="accent1"/>
              </a:buClr>
              <a:buSzPct val="70000"/>
              <a:buFont typeface="+mj-lt"/>
              <a:buAutoNum type="arabicPeriod" startAt="3"/>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集成测试</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两种策略</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0" fontAlgn="base" latinLnBrk="0" hangingPunct="0">
              <a:lnSpc>
                <a:spcPct val="100000"/>
              </a:lnSpc>
              <a:spcBef>
                <a:spcPct val="20000"/>
              </a:spcBef>
              <a:spcAft>
                <a:spcPct val="0"/>
              </a:spcAft>
              <a:buClr>
                <a:schemeClr val="accent1"/>
              </a:buClr>
              <a:buSzPct val="80000"/>
              <a:buFontTx/>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基于线程的测试：集成对回应系统的一个输入或事件所需的一组类，每个线程被集成并分别测试，应用回归测试以保证不产生副作用。</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0" fontAlgn="base" latinLnBrk="0" hangingPunct="0">
              <a:lnSpc>
                <a:spcPct val="100000"/>
              </a:lnSpc>
              <a:spcBef>
                <a:spcPct val="20000"/>
              </a:spcBef>
              <a:spcAft>
                <a:spcPct val="0"/>
              </a:spcAft>
              <a:buClr>
                <a:schemeClr val="accent1"/>
              </a:buClr>
              <a:buSzPct val="80000"/>
              <a:buFontTx/>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基于使用的测试：通过测试那些几乎不使用服务器类的类（称为独立类）而开始构造系统，在独立类测试完成后，下一层使用独立类的类（即依赖类）被测试。这个依赖类层次的测试序列一直持续到构造完整个系统。和传统集成不同，要尽可能避免使用驱动程序和桩模块作为替代操作。</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880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1.6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面向对象实现、测试和维护</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457200" marR="0" lvl="0" indent="-457200" algn="l" defTabSz="914400" rtl="0" eaLnBrk="0" fontAlgn="base" latinLnBrk="0" hangingPunct="0">
              <a:lnSpc>
                <a:spcPct val="100000"/>
              </a:lnSpc>
              <a:spcBef>
                <a:spcPts val="600"/>
              </a:spcBef>
              <a:spcAft>
                <a:spcPct val="0"/>
              </a:spcAft>
              <a:buClr>
                <a:schemeClr val="accent1"/>
              </a:buClr>
              <a:buSzPct val="70000"/>
              <a:buFont typeface="+mj-lt"/>
              <a:buAutoNum type="arabicPeriod" startAt="4"/>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有效性测试（用例测试）</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软件的有效性集中在用户可见的动作和用户可识别的系统输出。</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用例提供了在用户交互需求中很可能发现错误的一个场景。传统的黑盒测试方法可被用于驱动有效性测试。测试用例可以从对象</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行为模型和作为</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OOA</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的一部分的事件流图中导出。</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8909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1.6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面向对象实现、测试和维护</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90115" name="内容占位符 2"/>
          <p:cNvSpPr>
            <a:spLocks noGrp="1"/>
          </p:cNvSpPr>
          <p:nvPr>
            <p:ph sz="quarter" idx="1"/>
          </p:nvPr>
        </p:nvSpPr>
        <p:spPr/>
        <p:txBody>
          <a:bodyPr vert="horz" wrap="square" lIns="91440" tIns="45720" rIns="91440" bIns="45720" anchor="t" anchorCtr="0"/>
          <a:lstStyle/>
          <a:p>
            <a:pPr>
              <a:buSzPct val="70000"/>
            </a:pPr>
            <a:r>
              <a:rPr lang="zh-CN" altLang="en-US" kern="1200" dirty="0">
                <a:latin typeface="+mn-lt"/>
                <a:ea typeface="宋体" panose="02010600030101010101" pitchFamily="2" charset="-122"/>
                <a:cs typeface="+mn-cs"/>
              </a:rPr>
              <a:t>移交测试（验收测试，确认测试）</a:t>
            </a:r>
            <a:endParaRPr lang="en-US" altLang="zh-CN" kern="1200" dirty="0">
              <a:latin typeface="+mn-lt"/>
              <a:ea typeface="宋体" panose="02010600030101010101" pitchFamily="2" charset="-122"/>
              <a:cs typeface="+mn-cs"/>
            </a:endParaRPr>
          </a:p>
          <a:p>
            <a:pPr lvl="1">
              <a:buSzPct val="80000"/>
            </a:pPr>
            <a:r>
              <a:rPr lang="zh-CN" altLang="en-US" kern="1200" dirty="0">
                <a:latin typeface="+mn-lt"/>
                <a:ea typeface="宋体" panose="02010600030101010101" pitchFamily="2" charset="-122"/>
                <a:cs typeface="+mn-cs"/>
              </a:rPr>
              <a:t>以用户为主的测试，强调用户的参与。</a:t>
            </a:r>
            <a:endParaRPr lang="en-US" altLang="zh-CN" kern="1200" dirty="0">
              <a:latin typeface="+mn-lt"/>
              <a:ea typeface="宋体" panose="02010600030101010101" pitchFamily="2" charset="-122"/>
              <a:cs typeface="+mn-cs"/>
            </a:endParaRPr>
          </a:p>
          <a:p>
            <a:pPr lvl="1" eaLnBrk="1" hangingPunct="1">
              <a:buSzPct val="80000"/>
            </a:pPr>
            <a:r>
              <a:rPr lang="zh-CN" altLang="en-US" kern="1200" dirty="0">
                <a:latin typeface="+mn-lt"/>
                <a:ea typeface="宋体" panose="02010600030101010101" pitchFamily="2" charset="-122"/>
                <a:cs typeface="+mn-cs"/>
              </a:rPr>
              <a:t>两种形式：</a:t>
            </a:r>
            <a:endParaRPr lang="en-US" altLang="zh-CN" kern="1200" dirty="0">
              <a:latin typeface="+mn-lt"/>
              <a:ea typeface="宋体" panose="02010600030101010101" pitchFamily="2" charset="-122"/>
              <a:cs typeface="+mn-cs"/>
            </a:endParaRPr>
          </a:p>
          <a:p>
            <a:pPr lvl="2" eaLnBrk="1" hangingPunct="1">
              <a:buClr>
                <a:srgbClr val="E0752F"/>
              </a:buClr>
              <a:buSzPct val="60000"/>
            </a:pPr>
            <a:r>
              <a:rPr lang="en-US" altLang="zh-CN" kern="1200" dirty="0">
                <a:latin typeface="+mn-lt"/>
                <a:ea typeface="宋体" panose="02010600030101010101" pitchFamily="2" charset="-122"/>
                <a:cs typeface="+mn-cs"/>
              </a:rPr>
              <a:t>Alpha</a:t>
            </a:r>
            <a:r>
              <a:rPr lang="zh-CN" altLang="en-US" kern="1200" dirty="0">
                <a:latin typeface="+mn-lt"/>
                <a:ea typeface="宋体" panose="02010600030101010101" pitchFamily="2" charset="-122"/>
                <a:cs typeface="+mn-cs"/>
              </a:rPr>
              <a:t>测试（</a:t>
            </a:r>
            <a:r>
              <a:rPr lang="en-US" altLang="zh-CN" kern="1200" dirty="0">
                <a:latin typeface="+mn-lt"/>
                <a:ea typeface="宋体" panose="02010600030101010101" pitchFamily="2" charset="-122"/>
                <a:cs typeface="+mn-cs"/>
              </a:rPr>
              <a:t> α</a:t>
            </a:r>
            <a:r>
              <a:rPr lang="zh-CN" altLang="en-US" kern="1200" dirty="0">
                <a:latin typeface="+mn-lt"/>
                <a:ea typeface="宋体" panose="02010600030101010101" pitchFamily="2" charset="-122"/>
                <a:cs typeface="+mn-cs"/>
              </a:rPr>
              <a:t>测试）：早期的、不稳定的软件版本所进行的验收测试，受控的实验室测试</a:t>
            </a:r>
            <a:endParaRPr lang="en-US" altLang="zh-CN" kern="1200" dirty="0">
              <a:latin typeface="+mn-lt"/>
              <a:ea typeface="宋体" panose="02010600030101010101" pitchFamily="2" charset="-122"/>
              <a:cs typeface="+mn-cs"/>
            </a:endParaRPr>
          </a:p>
          <a:p>
            <a:pPr lvl="2" eaLnBrk="1" hangingPunct="1">
              <a:buClr>
                <a:srgbClr val="E0752F"/>
              </a:buClr>
              <a:buSzPct val="60000"/>
            </a:pPr>
            <a:r>
              <a:rPr lang="en-US" altLang="zh-CN" kern="1200" dirty="0">
                <a:latin typeface="+mn-lt"/>
                <a:ea typeface="宋体" panose="02010600030101010101" pitchFamily="2" charset="-122"/>
                <a:cs typeface="+mn-cs"/>
              </a:rPr>
              <a:t>Beta</a:t>
            </a:r>
            <a:r>
              <a:rPr lang="zh-CN" altLang="en-US" kern="1200" dirty="0">
                <a:latin typeface="+mn-lt"/>
                <a:ea typeface="宋体" panose="02010600030101010101" pitchFamily="2" charset="-122"/>
                <a:cs typeface="+mn-cs"/>
              </a:rPr>
              <a:t>测试（</a:t>
            </a:r>
            <a:r>
              <a:rPr lang="en-US" altLang="zh-CN" kern="1200" dirty="0">
                <a:latin typeface="+mn-lt"/>
                <a:ea typeface="宋体" panose="02010600030101010101" pitchFamily="2" charset="-122"/>
                <a:cs typeface="+mn-cs"/>
              </a:rPr>
              <a:t> β</a:t>
            </a:r>
            <a:r>
              <a:rPr lang="zh-CN" altLang="en-US" kern="1200" dirty="0">
                <a:latin typeface="+mn-lt"/>
                <a:ea typeface="宋体" panose="02010600030101010101" pitchFamily="2" charset="-122"/>
                <a:cs typeface="+mn-cs"/>
              </a:rPr>
              <a:t>测试）：晚期的、更加稳定的软件版本所进行的验收测试，不受控的非实验室测试</a:t>
            </a:r>
            <a:endParaRPr lang="en-US" altLang="zh-CN" kern="1200" dirty="0">
              <a:latin typeface="+mn-lt"/>
              <a:ea typeface="宋体" panose="02010600030101010101" pitchFamily="2" charset="-122"/>
              <a:cs typeface="+mn-cs"/>
            </a:endParaRPr>
          </a:p>
          <a:p>
            <a:pPr>
              <a:buSzPct val="70000"/>
            </a:pPr>
            <a:endParaRPr lang="zh-CN" altLang="en-US" kern="1200" dirty="0">
              <a:latin typeface="+mn-lt"/>
              <a:ea typeface="宋体" panose="02010600030101010101" pitchFamily="2" charset="-122"/>
              <a:cs typeface="+mn-cs"/>
            </a:endParaRPr>
          </a:p>
        </p:txBody>
      </p:sp>
      <p:sp>
        <p:nvSpPr>
          <p:cNvPr id="901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1.6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面向对象实现、测试和维护</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395288" y="1412875"/>
            <a:ext cx="7848600" cy="5060950"/>
          </a:xfrm>
        </p:spPr>
        <p:txBody>
          <a:bodyPr vert="horz" wrap="square" lIns="91440" tIns="45720" rIns="91440" bIns="45720" numCol="1" anchor="t" anchorCtr="0" compatLnSpc="1">
            <a:normAutofit lnSpcReduction="10000"/>
          </a:bodyPr>
          <a:lstStyle/>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面向对象系统的维护（</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Object-Oriented Maintenance</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OOM</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改正性维护</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。在软件开发阶段，由于测试技术的局限性，必然会有某些错误未被发现一些隐藏下来的错误在运行过程中，在特定的条件下就会显现出来被用户发现。针对这种错误进行修改的维护就是改正性维护。</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适应性维护</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。软件运行的软硬件环境随着计算机技术的飞速发展也日新月异。为适应这种环境的改变而进行的维护就是适应性维护。</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完善性维护</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。在软件的使用过程中，用户对软件功能和性能的要求总是不断变化的。例如快捷键的修改、界面风格的修改。为了满足这类要求进行的维护就是完善性维护。</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9114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1.7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几种典型的面向对象方法简介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92163" name="内容占位符 2"/>
          <p:cNvSpPr>
            <a:spLocks noGrp="1"/>
          </p:cNvSpPr>
          <p:nvPr>
            <p:ph sz="quarter" idx="1"/>
          </p:nvPr>
        </p:nvSpPr>
        <p:spPr/>
        <p:txBody>
          <a:bodyPr vert="horz" wrap="square" lIns="91440" tIns="45720" rIns="91440" bIns="45720" anchor="t" anchorCtr="0"/>
          <a:lstStyle/>
          <a:p>
            <a:pPr eaLnBrk="1" hangingPunct="1">
              <a:buSzPct val="70000"/>
            </a:pPr>
            <a:r>
              <a:rPr lang="en-US" altLang="zh-CN" kern="1200" dirty="0">
                <a:latin typeface="+mn-lt"/>
                <a:ea typeface="宋体" panose="02010600030101010101" pitchFamily="2" charset="-122"/>
                <a:cs typeface="+mn-cs"/>
              </a:rPr>
              <a:t>OMT </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James Rumbaugh</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eaLnBrk="1" hangingPunct="1">
              <a:buSzPct val="70000"/>
            </a:pPr>
            <a:r>
              <a:rPr lang="en-US" altLang="zh-CN" kern="1200" dirty="0">
                <a:latin typeface="+mn-lt"/>
                <a:ea typeface="宋体" panose="02010600030101010101" pitchFamily="2" charset="-122"/>
                <a:cs typeface="+mn-cs"/>
              </a:rPr>
              <a:t>Booch</a:t>
            </a:r>
            <a:r>
              <a:rPr lang="zh-CN" altLang="en-US" kern="1200" dirty="0">
                <a:latin typeface="+mn-lt"/>
                <a:ea typeface="宋体" panose="02010600030101010101" pitchFamily="2" charset="-122"/>
                <a:cs typeface="+mn-cs"/>
              </a:rPr>
              <a:t>方法（</a:t>
            </a:r>
            <a:r>
              <a:rPr lang="en-US" altLang="zh-CN" kern="1200" dirty="0">
                <a:latin typeface="+mn-lt"/>
                <a:ea typeface="宋体" panose="02010600030101010101" pitchFamily="2" charset="-122"/>
                <a:cs typeface="+mn-cs"/>
              </a:rPr>
              <a:t>Grady Booch</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eaLnBrk="1" hangingPunct="1">
              <a:buSzPct val="70000"/>
            </a:pPr>
            <a:r>
              <a:rPr lang="en-US" altLang="zh-CN" kern="1200" dirty="0">
                <a:latin typeface="+mn-lt"/>
                <a:ea typeface="宋体" panose="02010600030101010101" pitchFamily="2" charset="-122"/>
                <a:cs typeface="+mn-cs"/>
              </a:rPr>
              <a:t>OOSE </a:t>
            </a:r>
            <a:r>
              <a:rPr lang="zh-CN" altLang="en-US" kern="1200" dirty="0">
                <a:latin typeface="+mn-lt"/>
                <a:ea typeface="宋体" panose="02010600030101010101" pitchFamily="2" charset="-122"/>
                <a:cs typeface="+mn-cs"/>
              </a:rPr>
              <a:t>（</a:t>
            </a:r>
            <a:r>
              <a:rPr lang="en-US" altLang="zh-CN" kern="1200" dirty="0">
                <a:latin typeface="+mn-lt"/>
                <a:ea typeface="宋体" panose="02010600030101010101" pitchFamily="2" charset="-122"/>
                <a:cs typeface="+mn-cs"/>
              </a:rPr>
              <a:t>Ivar Jacobson</a:t>
            </a:r>
            <a:r>
              <a:rPr lang="zh-CN" altLang="en-US"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eaLnBrk="1" hangingPunct="1">
              <a:buSzPct val="70000"/>
            </a:pPr>
            <a:r>
              <a:rPr lang="en-US" altLang="zh-CN" kern="1200" dirty="0">
                <a:latin typeface="+mn-lt"/>
                <a:ea typeface="宋体" panose="02010600030101010101" pitchFamily="2" charset="-122"/>
                <a:cs typeface="+mn-cs"/>
              </a:rPr>
              <a:t>Coad-Yourdon</a:t>
            </a:r>
            <a:endParaRPr lang="en-US" altLang="zh-CN" kern="1200" dirty="0">
              <a:latin typeface="+mn-lt"/>
              <a:ea typeface="宋体" panose="02010600030101010101" pitchFamily="2" charset="-122"/>
              <a:cs typeface="+mn-cs"/>
            </a:endParaRPr>
          </a:p>
          <a:p>
            <a:pPr eaLnBrk="1" hangingPunct="1">
              <a:buSzPct val="70000"/>
            </a:pPr>
            <a:r>
              <a:rPr lang="en-US" altLang="zh-CN" kern="1200" dirty="0">
                <a:latin typeface="+mn-lt"/>
                <a:ea typeface="宋体" panose="02010600030101010101" pitchFamily="2" charset="-122"/>
                <a:cs typeface="+mn-cs"/>
              </a:rPr>
              <a:t>Shlaer-Mellor</a:t>
            </a:r>
            <a:endParaRPr lang="en-US" altLang="zh-CN" kern="1200" dirty="0">
              <a:latin typeface="+mn-lt"/>
              <a:ea typeface="宋体" panose="02010600030101010101" pitchFamily="2" charset="-122"/>
              <a:cs typeface="+mn-cs"/>
            </a:endParaRPr>
          </a:p>
          <a:p>
            <a:pPr eaLnBrk="1" hangingPunct="1">
              <a:buSzPct val="70000"/>
            </a:pPr>
            <a:r>
              <a:rPr lang="en-US" altLang="zh-CN" kern="1200" dirty="0">
                <a:latin typeface="+mn-lt"/>
                <a:ea typeface="宋体" panose="02010600030101010101" pitchFamily="2" charset="-122"/>
                <a:cs typeface="+mn-cs"/>
              </a:rPr>
              <a:t>Martin/Odell</a:t>
            </a:r>
            <a:endParaRPr lang="en-US" altLang="zh-CN" kern="1200" dirty="0">
              <a:latin typeface="+mn-lt"/>
              <a:ea typeface="宋体" panose="02010600030101010101" pitchFamily="2" charset="-122"/>
              <a:cs typeface="+mn-cs"/>
            </a:endParaRPr>
          </a:p>
          <a:p>
            <a:pPr eaLnBrk="1" hangingPunct="1">
              <a:buSzPct val="70000"/>
            </a:pPr>
            <a:r>
              <a:rPr lang="en-US" altLang="zh-CN" kern="1200" dirty="0">
                <a:latin typeface="+mn-lt"/>
                <a:ea typeface="宋体" panose="02010600030101010101" pitchFamily="2" charset="-122"/>
                <a:cs typeface="+mn-cs"/>
              </a:rPr>
              <a:t>Fusion</a:t>
            </a:r>
            <a:endParaRPr lang="en-US" altLang="zh-CN" kern="1200" dirty="0">
              <a:latin typeface="+mn-lt"/>
              <a:ea typeface="宋体" panose="02010600030101010101" pitchFamily="2" charset="-122"/>
              <a:cs typeface="+mn-cs"/>
            </a:endParaRPr>
          </a:p>
          <a:p>
            <a:pPr eaLnBrk="1" hangingPunct="1">
              <a:buSzPct val="70000"/>
            </a:pPr>
            <a:r>
              <a:rPr lang="en-US" altLang="zh-CN" kern="1200" dirty="0">
                <a:latin typeface="+mn-lt"/>
                <a:ea typeface="宋体" panose="02010600030101010101" pitchFamily="2" charset="-122"/>
                <a:cs typeface="+mn-cs"/>
              </a:rPr>
              <a:t>…</a:t>
            </a:r>
            <a:endParaRPr lang="en-US" altLang="zh-CN" kern="1200" dirty="0">
              <a:latin typeface="+mn-lt"/>
              <a:ea typeface="宋体" panose="02010600030101010101" pitchFamily="2" charset="-122"/>
              <a:cs typeface="+mn-cs"/>
            </a:endParaRPr>
          </a:p>
          <a:p>
            <a:pPr>
              <a:buSzPct val="70000"/>
            </a:pPr>
            <a:endParaRPr lang="zh-CN" altLang="en-US" kern="1200" dirty="0">
              <a:latin typeface="+mn-lt"/>
              <a:ea typeface="宋体" panose="02010600030101010101" pitchFamily="2" charset="-122"/>
              <a:cs typeface="+mn-cs"/>
            </a:endParaRPr>
          </a:p>
        </p:txBody>
      </p:sp>
      <p:sp>
        <p:nvSpPr>
          <p:cNvPr id="9216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1.7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几种典型的面向对象方法简介</a:t>
            </a:r>
            <a:endParaRPr kumimoji="0" lang="zh-CN" altLang="en-US" sz="3600" b="1" i="0" u="none" strike="noStrike" kern="1200" cap="small" spc="0" normalizeH="0" baseline="0" noProof="0" dirty="0">
              <a:ln>
                <a:noFill/>
              </a:ln>
              <a:solidFill>
                <a:schemeClr val="tx2"/>
              </a:solidFill>
              <a:effectLst/>
              <a:uLnTx/>
              <a:uFillTx/>
              <a:latin typeface="+mj-ea"/>
              <a:ea typeface="+mj-ea"/>
              <a:cs typeface="+mj-cs"/>
            </a:endParaRPr>
          </a:p>
        </p:txBody>
      </p:sp>
      <p:sp>
        <p:nvSpPr>
          <p:cNvPr id="329731" name="Rectangle 3"/>
          <p:cNvSpPr>
            <a:spLocks noGrp="1" noChangeArrowheads="1"/>
          </p:cNvSpPr>
          <p:nvPr>
            <p:ph sz="quarter" idx="1"/>
          </p:nvPr>
        </p:nvSpPr>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90000"/>
              </a:lnSpc>
              <a:spcBef>
                <a:spcPts val="600"/>
              </a:spcBef>
              <a:spcAft>
                <a:spcPct val="0"/>
              </a:spcAft>
              <a:buClr>
                <a:schemeClr val="accent1"/>
              </a:buClr>
              <a:buSzPct val="70000"/>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err="1">
                <a:ln>
                  <a:noFill/>
                </a:ln>
                <a:solidFill>
                  <a:schemeClr val="tx1"/>
                </a:solidFill>
                <a:effectLst/>
                <a:uLnTx/>
                <a:uFillTx/>
                <a:latin typeface="+mn-lt"/>
                <a:ea typeface="+mn-ea"/>
                <a:cs typeface="+mn-cs"/>
              </a:rPr>
              <a:t>Booch</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面向对象方法</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9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首先提出面向对象分析与设计，认为软件开发是一个螺旋上升的过程，强调过程的多次重复</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90000"/>
              </a:lnSpc>
              <a:spcBef>
                <a:spcPts val="600"/>
              </a:spcBef>
              <a:spcAft>
                <a:spcPct val="0"/>
              </a:spcAft>
              <a:buClr>
                <a:schemeClr val="accent1"/>
              </a:buClr>
              <a:buSzPct val="70000"/>
              <a:buFont typeface="+mj-ea"/>
              <a:buAutoNum type="circleNumDbPlain"/>
              <a:defRPr/>
            </a:pPr>
            <a:r>
              <a:rPr kumimoji="0" lang="en-US" altLang="zh-CN" sz="2400" b="1" i="0" u="none" strike="noStrike" kern="1200" cap="none" spc="0" normalizeH="0" baseline="0" noProof="0" dirty="0" err="1">
                <a:ln>
                  <a:noFill/>
                </a:ln>
                <a:solidFill>
                  <a:schemeClr val="tx1"/>
                </a:solidFill>
                <a:effectLst/>
                <a:uLnTx/>
                <a:uFillTx/>
                <a:latin typeface="+mn-lt"/>
                <a:ea typeface="+mn-ea"/>
                <a:cs typeface="+mn-cs"/>
              </a:rPr>
              <a:t>Booch</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方法的基本开发模型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9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逻辑模型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9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物理模型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9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静态模型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9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动态模型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90000"/>
              </a:lnSpc>
              <a:spcBef>
                <a:spcPts val="600"/>
              </a:spcBef>
              <a:spcAft>
                <a:spcPct val="0"/>
              </a:spcAft>
              <a:buClr>
                <a:schemeClr val="accent1"/>
              </a:buClr>
              <a:buSzPct val="70000"/>
              <a:buFont typeface="+mj-ea"/>
              <a:buAutoNum type="circleNumDbPlain"/>
              <a:defRPr/>
            </a:pPr>
            <a:r>
              <a:rPr kumimoji="0" lang="en-US" altLang="zh-CN" sz="2400" b="1" i="0" u="none" strike="noStrike" kern="1200" cap="none" spc="0" normalizeH="0" baseline="0" noProof="0" dirty="0" err="1">
                <a:ln>
                  <a:noFill/>
                </a:ln>
                <a:solidFill>
                  <a:schemeClr val="tx1"/>
                </a:solidFill>
                <a:effectLst/>
                <a:uLnTx/>
                <a:uFillTx/>
                <a:latin typeface="+mn-lt"/>
                <a:ea typeface="+mn-ea"/>
                <a:cs typeface="+mn-cs"/>
              </a:rPr>
              <a:t>Booch</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方法的一般过程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9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技术层开发</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9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管理层开发</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93188"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1.7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几种典型的面向对象方法简介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30755" name="Rectangle 3"/>
          <p:cNvSpPr>
            <a:spLocks noGrp="1" noChangeArrowheads="1"/>
          </p:cNvSpPr>
          <p:nvPr>
            <p:ph sz="quarter" idx="1"/>
          </p:nvPr>
        </p:nvSpPr>
        <p:spPr/>
        <p:txBody>
          <a:bodyPr vert="horz" wrap="square" lIns="91440" tIns="45720" rIns="91440" bIns="45720" numCol="1" anchor="t" anchorCtr="0" compatLnSpc="1">
            <a:normAutofit/>
          </a:bodyPr>
          <a:lstStyle/>
          <a:p>
            <a:pPr marL="457200" marR="0" lvl="0" indent="-457200" algn="l" defTabSz="914400" rtl="0" eaLnBrk="1" fontAlgn="base" latinLnBrk="0" hangingPunct="1">
              <a:lnSpc>
                <a:spcPct val="90000"/>
              </a:lnSpc>
              <a:spcBef>
                <a:spcPts val="600"/>
              </a:spcBef>
              <a:spcAft>
                <a:spcPct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系统技术层开发步骤</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9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发现类与对象。</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9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确定类和对象的语义。</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9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标识类和对象间的关系。</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9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系统管理层开发步骤</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强调团队技术管理。</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明确用户关键需求。</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建立系统分析模型。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完善设计系统结构。</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系统实现。</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软件交付。</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ts val="600"/>
              </a:spcBef>
              <a:spcAft>
                <a:spcPts val="0"/>
              </a:spcAft>
              <a:buClr>
                <a:schemeClr val="accent1"/>
              </a:buClr>
              <a:buSzPct val="70000"/>
              <a:buFontTx/>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	</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94212"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1.7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几种典型的面向对象方法简介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90000"/>
              </a:lnSpc>
              <a:spcBef>
                <a:spcPts val="600"/>
              </a:spcBef>
              <a:spcAft>
                <a:spcPts val="0"/>
              </a:spcAft>
              <a:buClr>
                <a:schemeClr val="accent1"/>
              </a:buClr>
              <a:buSzPct val="70000"/>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Jacobson</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的面向对象软件工程（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OOSE</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ts val="600"/>
              </a:spcBef>
              <a:spcAft>
                <a:spcPts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利用用例进行驱动的面向对象方法</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9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建立面向对象分析模型（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OOA</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）的过程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建造用户需求模型。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建造系统分析模型。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建立面向对象设计模型（</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OOD</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）的过程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创建模块作为主要的设计对象。</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创建一个显示激励如何在模块间传送的交互图。</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把模块组织成子系统。</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复审设计工作。</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ts val="600"/>
              </a:spcBef>
              <a:spcAft>
                <a:spcPts val="0"/>
              </a:spcAft>
              <a:buClr>
                <a:schemeClr val="accent1"/>
              </a:buClr>
              <a:buSzPct val="70000"/>
              <a:buFontTx/>
              <a:buNone/>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9523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1.7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几种典型的面向对象方法简介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331779" name="Rectangle 3"/>
          <p:cNvSpPr>
            <a:spLocks noGrp="1" noChangeArrowheads="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90000"/>
              </a:lnSpc>
              <a:spcBef>
                <a:spcPts val="600"/>
              </a:spcBef>
              <a:spcAft>
                <a:spcPts val="0"/>
              </a:spcAft>
              <a:buClr>
                <a:schemeClr val="accent1"/>
              </a:buClr>
              <a:buSzPct val="70000"/>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3</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err="1">
                <a:ln>
                  <a:noFill/>
                </a:ln>
                <a:solidFill>
                  <a:schemeClr val="tx1"/>
                </a:solidFill>
                <a:effectLst/>
                <a:uLnTx/>
                <a:uFillTx/>
                <a:latin typeface="+mn-lt"/>
                <a:ea typeface="+mn-ea"/>
                <a:cs typeface="+mn-cs"/>
              </a:rPr>
              <a:t>Coad</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-Yourdon</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的面向对象方法论</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9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面向对象分析（</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OOA</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）步骤</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81380" marR="0" lvl="1" indent="-51435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类及对象层。</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81380" marR="0" lvl="1" indent="-51435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结构层。</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81380" marR="0" lvl="1" indent="-51435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主题层。</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81380" marR="0" lvl="1" indent="-51435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属性层。</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81380" marR="0" lvl="1" indent="-51435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服务层。</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9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面向对象设计（</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OOD</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）步骤</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问题领域部件模型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人机接口部件模型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任务管理部件模型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auto" latinLnBrk="0" hangingPunct="1">
              <a:lnSpc>
                <a:spcPct val="90000"/>
              </a:lnSpc>
              <a:spcBef>
                <a:spcPct val="20000"/>
              </a:spcBef>
              <a:spcAft>
                <a:spcPts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数据管理部件模型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96260"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1.7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几种典型的面向对象方法简介</a:t>
            </a:r>
            <a:endParaRPr kumimoji="0" lang="zh-CN" altLang="en-US" sz="3600" b="1" i="0" u="none" strike="noStrike" kern="1200" cap="small" spc="0" normalizeH="0" baseline="0" noProof="0" dirty="0">
              <a:ln>
                <a:noFill/>
              </a:ln>
              <a:solidFill>
                <a:schemeClr val="tx2"/>
              </a:solidFill>
              <a:effectLst/>
              <a:uLnTx/>
              <a:uFillTx/>
              <a:latin typeface="+mj-lt"/>
              <a:ea typeface="+mj-ea"/>
              <a:cs typeface="+mj-cs"/>
            </a:endParaRPr>
          </a:p>
        </p:txBody>
      </p:sp>
      <p:sp>
        <p:nvSpPr>
          <p:cNvPr id="88067" name="Rectangle 3"/>
          <p:cNvSpPr>
            <a:spLocks noGrp="1" noChangeArrowheads="1"/>
          </p:cNvSpPr>
          <p:nvPr>
            <p:ph sz="quarter" idx="1"/>
          </p:nvPr>
        </p:nvSpPr>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Tx/>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4</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James </a:t>
            </a:r>
            <a:r>
              <a:rPr kumimoji="0" lang="en-US" altLang="zh-CN" sz="2400" b="1" i="0" u="none" strike="noStrike" kern="1200" cap="none" spc="0" normalizeH="0" baseline="0" noProof="0" dirty="0" err="1">
                <a:ln>
                  <a:noFill/>
                </a:ln>
                <a:solidFill>
                  <a:schemeClr val="tx1"/>
                </a:solidFill>
                <a:effectLst/>
                <a:uLnTx/>
                <a:uFillTx/>
                <a:latin typeface="+mn-lt"/>
                <a:ea typeface="+mn-ea"/>
                <a:cs typeface="+mn-cs"/>
              </a:rPr>
              <a:t>Rumbaugh</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的面向对象方法（</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OMT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对象模型。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动态模型。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功能模型。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OOA</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步骤：</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需求分析</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系统分析：建造对象模型、动态模型、功能模型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OOD</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步骤：</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系统设计</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对象设计</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97284" name="灯片编号占位符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PP_MARK_KEY" val="af99ae26-fc3e-4c81-a6fa-5090138d2e7f"/>
  <p:tag name="COMMONDATA" val="eyJoZGlkIjoiMWJmYmVhMGQ2YWQwOTc0ZDFkYmVkZTE0NzFkNThlYz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15233</Words>
  <Application>WPS 演示</Application>
  <PresentationFormat>全屏显示(4:3)</PresentationFormat>
  <Paragraphs>1138</Paragraphs>
  <Slides>105</Slides>
  <Notes>24</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vt:i4>
      </vt:variant>
      <vt:variant>
        <vt:lpstr>幻灯片标题</vt:lpstr>
      </vt:variant>
      <vt:variant>
        <vt:i4>105</vt:i4>
      </vt:variant>
    </vt:vector>
  </HeadingPairs>
  <TitlesOfParts>
    <vt:vector size="126" baseType="lpstr">
      <vt:lpstr>Arial</vt:lpstr>
      <vt:lpstr>宋体</vt:lpstr>
      <vt:lpstr>Wingdings</vt:lpstr>
      <vt:lpstr>楷体_GB2312</vt:lpstr>
      <vt:lpstr>新宋体</vt:lpstr>
      <vt:lpstr>Century Schoolbook</vt:lpstr>
      <vt:lpstr>Wingdings 2</vt:lpstr>
      <vt:lpstr>Wingdings</vt:lpstr>
      <vt:lpstr>Times New Roman</vt:lpstr>
      <vt:lpstr>黑体</vt:lpstr>
      <vt:lpstr>仿宋_GB2312</vt:lpstr>
      <vt:lpstr>仿宋</vt:lpstr>
      <vt:lpstr>微软雅黑</vt:lpstr>
      <vt:lpstr>Arial Unicode MS</vt:lpstr>
      <vt:lpstr>华文楷体</vt:lpstr>
      <vt:lpstr>Helvetica</vt:lpstr>
      <vt:lpstr>Wingdings 2</vt:lpstr>
      <vt:lpstr>Calibri</vt:lpstr>
      <vt:lpstr>凸显</vt:lpstr>
      <vt:lpstr>Visio.Drawing.11</vt:lpstr>
      <vt:lpstr>Visio.Drawing.11</vt:lpstr>
      <vt:lpstr>软件系统分析与设计 Software System Analysis and Design</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第1章 软件工程概述</vt:lpstr>
      <vt:lpstr>1.1 软件开发过程模型</vt:lpstr>
      <vt:lpstr>1.1 软件开发过程模型</vt:lpstr>
      <vt:lpstr>1.1 软件开发过程模型</vt:lpstr>
      <vt:lpstr>1.1 软件开发过程模型</vt:lpstr>
      <vt:lpstr>1.1 软件开发过程模型</vt:lpstr>
      <vt:lpstr>1.1 软件开发过程模型</vt:lpstr>
      <vt:lpstr>1.1 软件开发过程模型</vt:lpstr>
      <vt:lpstr>1.1 软件开发过程模型</vt:lpstr>
      <vt:lpstr>1.1 软件开发过程模型</vt:lpstr>
      <vt:lpstr>1.1 软件开发过程模型</vt:lpstr>
      <vt:lpstr>1.1 软件开发过程模型</vt:lpstr>
      <vt:lpstr>1.2 软件生存周期模型</vt:lpstr>
      <vt:lpstr>1.1 软件开发过程模型</vt:lpstr>
      <vt:lpstr>1.1 软件开发过程模型</vt:lpstr>
      <vt:lpstr>1.1 软件开发过程模型</vt:lpstr>
      <vt:lpstr>1.2 软件生存周期模型</vt:lpstr>
      <vt:lpstr>1.2 软件生存周期模型</vt:lpstr>
      <vt:lpstr>1.2 软件生存周期模型</vt:lpstr>
      <vt:lpstr>1.2 软件生存周期模型</vt:lpstr>
      <vt:lpstr>1.2 软件生存周期模型</vt:lpstr>
      <vt:lpstr>1.2 软件生存周期模型</vt:lpstr>
      <vt:lpstr>1.1 软件开发方法概述</vt:lpstr>
      <vt:lpstr>1.1 软件开发方法概述</vt:lpstr>
      <vt:lpstr>1.1 软件开发方法概述</vt:lpstr>
      <vt:lpstr>1.1 软件开发方法概述</vt:lpstr>
      <vt:lpstr>1.1 软件开发方法概述</vt:lpstr>
      <vt:lpstr>1.1 软件开发方法概述</vt:lpstr>
      <vt:lpstr>1.1 软件开发方法概述</vt:lpstr>
      <vt:lpstr>1.1 软件开发方法概述</vt:lpstr>
      <vt:lpstr>1.1 软件开发方法概述</vt:lpstr>
      <vt:lpstr>1.1 软件开发方法概述</vt:lpstr>
      <vt:lpstr>1.1 软件开发方法概述</vt:lpstr>
      <vt:lpstr>1.1 软件开发方法概述</vt:lpstr>
      <vt:lpstr>1.3  面向对象的基本概念</vt:lpstr>
      <vt:lpstr>1.3  面向对象的基本概念</vt:lpstr>
      <vt:lpstr>1.3  面向对象的基本概念</vt:lpstr>
      <vt:lpstr>1.3  面向对象的基本概念</vt:lpstr>
      <vt:lpstr>1.3  面向对象的基本概念</vt:lpstr>
      <vt:lpstr>1.3  面向对象的基本概念</vt:lpstr>
      <vt:lpstr>1.3  面向对象的基本概念</vt:lpstr>
      <vt:lpstr>1.3  面向对象的基本概念</vt:lpstr>
      <vt:lpstr>1.3  面向对象的基本概念</vt:lpstr>
      <vt:lpstr>1.3  面向对象的基本概念</vt:lpstr>
      <vt:lpstr>1.3  面向对象的基本概念</vt:lpstr>
      <vt:lpstr>1.3  面向对象的基本概念</vt:lpstr>
      <vt:lpstr>1.3  面向对象的基本概念</vt:lpstr>
      <vt:lpstr>1.3  面向对象的基本概念</vt:lpstr>
      <vt:lpstr>1.3  面向对象的基本概念</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1.4 面向对象分析</vt:lpstr>
      <vt:lpstr>1.5 面向对象设计</vt:lpstr>
      <vt:lpstr>1.5 面向对象设计</vt:lpstr>
      <vt:lpstr>1.5 面向对象设计</vt:lpstr>
      <vt:lpstr>1.5 面向对象设计</vt:lpstr>
      <vt:lpstr>1.5 面向对象设计</vt:lpstr>
      <vt:lpstr>1.6 面向对象实现、测试和维护</vt:lpstr>
      <vt:lpstr>1.6 面向对象实现、测试和维护</vt:lpstr>
      <vt:lpstr>1.6 面向对象实现、测试和维护</vt:lpstr>
      <vt:lpstr>1.6 面向对象实现、测试和维护</vt:lpstr>
      <vt:lpstr>1.6 面向对象实现、测试和维护</vt:lpstr>
      <vt:lpstr>1.6 面向对象实现、测试和维护</vt:lpstr>
      <vt:lpstr>1.6 面向对象实现、测试和维护</vt:lpstr>
      <vt:lpstr>1.6 面向对象实现、测试和维护</vt:lpstr>
      <vt:lpstr>1.7 几种典型的面向对象方法简介</vt:lpstr>
      <vt:lpstr>1.7 几种典型的面向对象方法简介</vt:lpstr>
      <vt:lpstr>1.7 几种典型的面向对象方法简介</vt:lpstr>
      <vt:lpstr>1.7 几种典型的面向对象方法简介</vt:lpstr>
      <vt:lpstr>1.7 几种典型的面向对象方法简介</vt:lpstr>
      <vt:lpstr>1.7 几种典型的面向对象方法简介</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65187</cp:lastModifiedBy>
  <cp:revision>774</cp:revision>
  <cp:lastPrinted>1998-01-12T01:00:00Z</cp:lastPrinted>
  <dcterms:created xsi:type="dcterms:W3CDTF">2001-09-23T11:05:00Z</dcterms:created>
  <dcterms:modified xsi:type="dcterms:W3CDTF">2024-03-06T06:53:21Z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E35F20B3AD384AE49649C83924AE4084_12</vt:lpwstr>
  </property>
  <property fmtid="{D5CDD505-2E9C-101B-9397-08002B2CF9AE}" pid="3" name="KSOProductBuildVer">
    <vt:lpwstr>2052-11.1.0.12155</vt:lpwstr>
  </property>
</Properties>
</file>