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7"/>
  </p:handoutMasterIdLst>
  <p:sldIdLst>
    <p:sldId id="293" r:id="rId4"/>
    <p:sldId id="295" r:id="rId6"/>
    <p:sldId id="300" r:id="rId7"/>
    <p:sldId id="301" r:id="rId8"/>
    <p:sldId id="302" r:id="rId9"/>
    <p:sldId id="316" r:id="rId10"/>
    <p:sldId id="349" r:id="rId11"/>
    <p:sldId id="355" r:id="rId12"/>
    <p:sldId id="350" r:id="rId13"/>
    <p:sldId id="354" r:id="rId14"/>
    <p:sldId id="351" r:id="rId15"/>
    <p:sldId id="394" r:id="rId16"/>
    <p:sldId id="356" r:id="rId17"/>
    <p:sldId id="309" r:id="rId18"/>
    <p:sldId id="310" r:id="rId19"/>
    <p:sldId id="348" r:id="rId20"/>
    <p:sldId id="312" r:id="rId21"/>
    <p:sldId id="313" r:id="rId22"/>
    <p:sldId id="353" r:id="rId23"/>
    <p:sldId id="314" r:id="rId24"/>
    <p:sldId id="317" r:id="rId25"/>
    <p:sldId id="318" r:id="rId26"/>
    <p:sldId id="319" r:id="rId27"/>
    <p:sldId id="323" r:id="rId28"/>
    <p:sldId id="324" r:id="rId29"/>
    <p:sldId id="468" r:id="rId30"/>
    <p:sldId id="328" r:id="rId31"/>
    <p:sldId id="342" r:id="rId32"/>
    <p:sldId id="346" r:id="rId33"/>
    <p:sldId id="343" r:id="rId34"/>
    <p:sldId id="344" r:id="rId35"/>
    <p:sldId id="332" r:id="rId36"/>
  </p:sldIdLst>
  <p:sldSz cx="9144000" cy="6858000" type="screen4x3"/>
  <p:notesSz cx="6858000" cy="9144000"/>
  <p:custDataLst>
    <p:tags r:id="rId4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A8C9EA"/>
    <a:srgbClr val="CCFF66"/>
    <a:srgbClr val="FFFFCC"/>
    <a:srgbClr val="F9DF9F"/>
    <a:srgbClr val="FFFF66"/>
    <a:srgbClr val="CCECFF"/>
    <a:srgbClr val="0A0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485"/>
    <p:restoredTop sz="94682"/>
  </p:normalViewPr>
  <p:slideViewPr>
    <p:cSldViewPr showGuides="1">
      <p:cViewPr varScale="1">
        <p:scale>
          <a:sx n="104" d="100"/>
          <a:sy n="104" d="100"/>
        </p:scale>
        <p:origin x="-102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0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 sz="1400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kumimoji="0" lang="zh-CN" altLang="en-US" b="1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kumimoji="0" lang="zh-CN" altLang="en-US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4" name="直接连接符 23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31" name="灯片编号占位符 28"/>
          <p:cNvSpPr>
            <a:spLocks noGrp="1"/>
          </p:cNvSpPr>
          <p:nvPr>
            <p:ph type="sldNum" sz="quarter" idx="4"/>
          </p:nvPr>
        </p:nvSpPr>
        <p:spPr bwMode="auto">
          <a:xfrm>
            <a:off x="1325563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直接连接符 29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1339850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148" name="直接连接符 14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直接连接符 16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矩形 16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1" name="直接连接符 18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椭圆 18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0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2" name="直接连接符 14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矩形 14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直接连接符 17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176" name="直接连接符 19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0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4" name="直接连接符 23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31" name="灯片编号占位符 28"/>
          <p:cNvSpPr>
            <a:spLocks noGrp="1"/>
          </p:cNvSpPr>
          <p:nvPr>
            <p:ph type="sldNum" sz="quarter" idx="4"/>
          </p:nvPr>
        </p:nvSpPr>
        <p:spPr bwMode="auto">
          <a:xfrm>
            <a:off x="1325563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直接连接符 29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1339850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148" name="直接连接符 14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直接连接符 16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矩形 16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1" name="直接连接符 18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椭圆 18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0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2" name="直接连接符 14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矩形 14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直接连接符 17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176" name="直接连接符 19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0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30" name="直接连接符 8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2" name="直接连接符 10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椭圆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small">
          <a:solidFill>
            <a:schemeClr val="tx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400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-182880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87450" indent="-182880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462405" indent="-182880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30" name="直接连接符 8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2" name="直接连接符 10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椭圆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small">
          <a:solidFill>
            <a:schemeClr val="tx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400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-182880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87450" indent="-182880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462405" indent="-182880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2060575"/>
            <a:ext cx="6172200" cy="2165350"/>
          </a:xfrm>
        </p:spPr>
        <p:txBody>
          <a:bodyPr vert="horz" anchor="b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软件系统分析与设计</a:t>
            </a:r>
            <a:b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Software System Analysis and Design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5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1325563" y="5013325"/>
            <a:ext cx="609600" cy="5175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chemeClr val="bg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第</a:t>
            </a: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章</a:t>
            </a: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动态建模（一）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动态建模用来描述系统的动态行为，显示对象在系统运行期间不同时刻的动态交互。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en-US" altLang="zh-CN" dirty="0">
                <a:ea typeface="宋体" panose="02010600030101010101" pitchFamily="2" charset="-122"/>
              </a:rPr>
              <a:t>UML</a:t>
            </a:r>
            <a:r>
              <a:rPr lang="zh-CN" altLang="en-US" dirty="0">
                <a:ea typeface="宋体" panose="02010600030101010101" pitchFamily="2" charset="-122"/>
              </a:rPr>
              <a:t>中用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状态图 、活动图、时序图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协作图</a:t>
            </a:r>
            <a:r>
              <a:rPr lang="zh-CN" altLang="en-US" dirty="0">
                <a:ea typeface="宋体" panose="02010600030101010101" pitchFamily="2" charset="-122"/>
              </a:rPr>
              <a:t>来建立动态模型。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时序图和协作图常常用来描述一个用例的行为，显示该用例中所涉及的对象和这些对象之间的消息传递情况。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时序图着重描述对象按照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时间顺序</a:t>
            </a:r>
            <a:r>
              <a:rPr lang="zh-CN" altLang="en-US" dirty="0">
                <a:ea typeface="宋体" panose="02010600030101010101" pitchFamily="2" charset="-122"/>
              </a:rPr>
              <a:t>的消息交换。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协作图着重描述系统成分如何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协同工作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时序图和协作图从不同的角度表达了系统中的交互和系统的行为，它们之间可以相互转化。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5.1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sz="quarter" idx="1"/>
          </p:nvPr>
        </p:nvSpPr>
        <p:spPr>
          <a:xfrm>
            <a:off x="395288" y="1557338"/>
            <a:ext cx="7859712" cy="49164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时序图描述对象间的交互行为。注重消息的时间顺序，即对象间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消息的发送和接收的顺序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时序图揭示了一个特定场景的交互，即系统执行期间发生在某个时间点的对象之间的特定交互（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单个用例</a:t>
            </a:r>
            <a:r>
              <a:rPr lang="zh-CN" altLang="en-US" dirty="0">
                <a:ea typeface="宋体" panose="02010600030101010101" pitchFamily="2" charset="-122"/>
              </a:rPr>
              <a:t>的典型场景），它适合于描述实时系统中的时间特性和时间约束。 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注意：描述的是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对象之间</a:t>
            </a:r>
            <a:r>
              <a:rPr lang="zh-CN" altLang="en-US" dirty="0">
                <a:ea typeface="宋体" panose="02010600030101010101" pitchFamily="2" charset="-122"/>
              </a:rPr>
              <a:t>的消息发送关系，而不是类之间的关系。在时序图中并不包括系统中的所有类的对象。也有可能某些对象属于同一个类。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时序图有两个坐标，垂直坐标表示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时间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从上到下</a:t>
            </a:r>
            <a:r>
              <a:rPr lang="zh-CN" altLang="en-US" dirty="0">
                <a:ea typeface="宋体" panose="02010600030101010101" pitchFamily="2" charset="-122"/>
              </a:rPr>
              <a:t>），水平坐标表示一组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对象</a:t>
            </a:r>
            <a:r>
              <a:rPr lang="zh-CN" altLang="en-US" dirty="0">
                <a:ea typeface="宋体" panose="02010600030101010101" pitchFamily="2" charset="-122"/>
              </a:rPr>
              <a:t>（包括行为者）。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5.1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84313"/>
            <a:ext cx="7643813" cy="4989512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图符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：时序图中所包含的每个对象用一个对象框（短式）表示，对象名需带下划线。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生存线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（生命线）：对象框下画的一条垂直虚线，称为该对象的生存线，表示对象的生存时间。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激活期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：对象生存线上的一个细长方形框，表示该对象的激活时间段，即活动期。（相对于休眠期）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：对象之间消息的发送和接收用两个对象生存线（激活期）之间的消息箭头线表示。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269" name="Group 5"/>
          <p:cNvGrpSpPr/>
          <p:nvPr/>
        </p:nvGrpSpPr>
        <p:grpSpPr>
          <a:xfrm>
            <a:off x="1116013" y="5373688"/>
            <a:ext cx="5824537" cy="1023937"/>
            <a:chOff x="480" y="3312"/>
            <a:chExt cx="4568" cy="945"/>
          </a:xfrm>
        </p:grpSpPr>
        <p:grpSp>
          <p:nvGrpSpPr>
            <p:cNvPr id="11270" name="Group 6"/>
            <p:cNvGrpSpPr/>
            <p:nvPr/>
          </p:nvGrpSpPr>
          <p:grpSpPr>
            <a:xfrm>
              <a:off x="2208" y="3312"/>
              <a:ext cx="1200" cy="945"/>
              <a:chOff x="2208" y="3312"/>
              <a:chExt cx="1200" cy="945"/>
            </a:xfrm>
          </p:grpSpPr>
          <p:sp>
            <p:nvSpPr>
              <p:cNvPr id="11277" name="Text Box 7"/>
              <p:cNvSpPr txBox="1"/>
              <p:nvPr/>
            </p:nvSpPr>
            <p:spPr>
              <a:xfrm>
                <a:off x="2256" y="3888"/>
                <a:ext cx="1076" cy="3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rIns="0">
                <a:spAutoFit/>
              </a:bodyPr>
              <a:p>
                <a:r>
                  <a:rPr lang="zh-CN" altLang="en-US" sz="20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只显示类名</a:t>
                </a:r>
                <a:endParaRPr lang="zh-CN" altLang="en-US" sz="2000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pic>
            <p:nvPicPr>
              <p:cNvPr id="11278" name="Picture 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208" y="3312"/>
                <a:ext cx="1200" cy="47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1271" name="Group 9"/>
            <p:cNvGrpSpPr/>
            <p:nvPr/>
          </p:nvGrpSpPr>
          <p:grpSpPr>
            <a:xfrm>
              <a:off x="480" y="3312"/>
              <a:ext cx="1754" cy="945"/>
              <a:chOff x="480" y="3312"/>
              <a:chExt cx="1754" cy="945"/>
            </a:xfrm>
          </p:grpSpPr>
          <p:sp>
            <p:nvSpPr>
              <p:cNvPr id="11275" name="Text Box 10"/>
              <p:cNvSpPr txBox="1"/>
              <p:nvPr/>
            </p:nvSpPr>
            <p:spPr>
              <a:xfrm>
                <a:off x="480" y="3888"/>
                <a:ext cx="1754" cy="3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显示对象名和类名</a:t>
                </a:r>
                <a:endParaRPr lang="zh-CN" altLang="en-US" sz="2000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pic>
            <p:nvPicPr>
              <p:cNvPr id="11276" name="Picture 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2" y="3312"/>
                <a:ext cx="1200" cy="46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1272" name="Group 12"/>
            <p:cNvGrpSpPr/>
            <p:nvPr/>
          </p:nvGrpSpPr>
          <p:grpSpPr>
            <a:xfrm>
              <a:off x="3696" y="3312"/>
              <a:ext cx="1352" cy="945"/>
              <a:chOff x="3696" y="3312"/>
              <a:chExt cx="1352" cy="945"/>
            </a:xfrm>
          </p:grpSpPr>
          <p:sp>
            <p:nvSpPr>
              <p:cNvPr id="11273" name="Text Box 13"/>
              <p:cNvSpPr txBox="1"/>
              <p:nvPr/>
            </p:nvSpPr>
            <p:spPr>
              <a:xfrm>
                <a:off x="3696" y="3888"/>
                <a:ext cx="1352" cy="3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只显示对象名</a:t>
                </a:r>
                <a:endParaRPr lang="zh-CN" altLang="en-US" sz="2000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pic>
            <p:nvPicPr>
              <p:cNvPr id="11274" name="Picture 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6" y="3312"/>
                <a:ext cx="1248" cy="48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5.1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latin typeface="楷体_GB2312" pitchFamily="49" charset="-122"/>
                <a:ea typeface="宋体" panose="02010600030101010101" pitchFamily="2" charset="-122"/>
              </a:rPr>
              <a:t>按垂直坐标从上到下的次序读时序图，可以观察到随时间的前进消息通信的顺序。</a:t>
            </a:r>
            <a:endParaRPr lang="zh-CN" altLang="en-US" dirty="0">
              <a:latin typeface="楷体_GB2312" pitchFamily="49" charset="-122"/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93" name="Object 4"/>
          <p:cNvGraphicFramePr>
            <a:graphicFrameLocks noChangeAspect="1"/>
          </p:cNvGraphicFramePr>
          <p:nvPr/>
        </p:nvGraphicFramePr>
        <p:xfrm>
          <a:off x="611188" y="2565400"/>
          <a:ext cx="7202487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435090" imgH="3086735" progId="Visio.Drawing.11">
                  <p:embed/>
                </p:oleObj>
              </mc:Choice>
              <mc:Fallback>
                <p:oleObj name="" r:id="rId1" imgW="6435090" imgH="308673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1188" y="2565400"/>
                        <a:ext cx="7202487" cy="3455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5.1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6" name="Picture 2"/>
          <p:cNvPicPr>
            <a:picLocks noGrp="1" noChangeAspect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33413" y="1916113"/>
            <a:ext cx="7467600" cy="3871912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28775"/>
            <a:ext cx="7467600" cy="484505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消息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zh-CN" altLang="zh-CN" dirty="0">
                <a:ea typeface="宋体" panose="02010600030101010101" pitchFamily="2" charset="-122"/>
              </a:rPr>
              <a:t>面向对象系统中实现对象之间的通信和请求任务的操作。</a:t>
            </a:r>
            <a:r>
              <a:rPr lang="zh-CN" altLang="en-US" dirty="0">
                <a:ea typeface="宋体" panose="02010600030101010101" pitchFamily="2" charset="-122"/>
              </a:rPr>
              <a:t>一个对象通过向另一个对象发送消息来请求其服务。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消息内容标识的格式为：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序号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][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警戒条件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]*[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重复次数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][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回送值表：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= ]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操作名（参数表）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使用规则：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Tx/>
              <a:buAutoNum type="circleNumDbPlain"/>
            </a:pPr>
            <a:r>
              <a:rPr lang="zh-CN" altLang="en-US" dirty="0">
                <a:ea typeface="宋体" panose="02010600030101010101" pitchFamily="2" charset="-122"/>
              </a:rPr>
              <a:t>序号：可选项，表示消息在对象间交互的时间顺序号。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顺序消息</a:t>
            </a:r>
            <a:r>
              <a:rPr lang="zh-CN" altLang="en-US" dirty="0">
                <a:ea typeface="宋体" panose="02010600030101010101" pitchFamily="2" charset="-122"/>
              </a:rPr>
              <a:t>：如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3 ……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嵌套消息</a:t>
            </a:r>
            <a:r>
              <a:rPr lang="zh-CN" altLang="en-US" dirty="0">
                <a:ea typeface="宋体" panose="02010600030101010101" pitchFamily="2" charset="-122"/>
              </a:rPr>
              <a:t>：如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1.1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1.2 ……</a:t>
            </a:r>
            <a:r>
              <a:rPr lang="zh-CN" altLang="en-US" dirty="0">
                <a:ea typeface="宋体" panose="02010600030101010101" pitchFamily="2" charset="-122"/>
              </a:rPr>
              <a:t>描绘了消息的顺序和嵌套关系。如果是同步消息，则嵌套地调用操作并返回。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并发消息</a:t>
            </a:r>
            <a:r>
              <a:rPr lang="zh-CN" altLang="en-US" dirty="0">
                <a:ea typeface="宋体" panose="02010600030101010101" pitchFamily="2" charset="-122"/>
              </a:rPr>
              <a:t>：如</a:t>
            </a:r>
            <a:r>
              <a:rPr lang="en-US" altLang="zh-CN" dirty="0">
                <a:ea typeface="宋体" panose="02010600030101010101" pitchFamily="2" charset="-122"/>
              </a:rPr>
              <a:t>1.2a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1.2b</a:t>
            </a:r>
            <a:r>
              <a:rPr lang="zh-CN" altLang="en-US" dirty="0">
                <a:ea typeface="宋体" panose="02010600030101010101" pitchFamily="2" charset="-122"/>
              </a:rPr>
              <a:t>等。是并行发送的并发消息。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缺省：在协作图中必不可少，在时序图中可缺省</a:t>
            </a:r>
            <a:endParaRPr lang="zh-CN" altLang="en-US" dirty="0">
              <a:ea typeface="宋体" panose="02010600030101010101" pitchFamily="2" charset="-122"/>
            </a:endParaRPr>
          </a:p>
          <a:p>
            <a:pPr>
              <a:buClr>
                <a:schemeClr val="accent1"/>
              </a:buClr>
              <a:buSzPct val="70000"/>
              <a:buFont typeface="Wingdings" panose="05000000000000000000" pitchFamily="2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</a:rPr>
            </a:fld>
            <a:endParaRPr lang="zh-CN" alt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sz="quarter" idx="1"/>
          </p:nvPr>
        </p:nvSpPr>
        <p:spPr>
          <a:xfrm>
            <a:off x="395288" y="1463675"/>
            <a:ext cx="7715250" cy="5205413"/>
          </a:xfrm>
        </p:spPr>
        <p:txBody>
          <a:bodyPr vert="horz" wrap="square" lIns="91440" tIns="45720" rIns="91440" bIns="45720" anchor="t" anchorCtr="0"/>
          <a:p>
            <a:pPr marL="457200" indent="-457200" eaLnBrk="1" hangingPunct="1">
              <a:buClr>
                <a:schemeClr val="accent1"/>
              </a:buClr>
              <a:buSzPct val="70000"/>
              <a:buFontTx/>
              <a:buAutoNum type="circleNumDbPlain" startAt="2"/>
            </a:pPr>
            <a:r>
              <a:rPr lang="en-US" altLang="zh-CN" dirty="0">
                <a:ea typeface="宋体" panose="02010600030101010101" pitchFamily="2" charset="-122"/>
              </a:rPr>
              <a:t>[</a:t>
            </a:r>
            <a:r>
              <a:rPr lang="zh-CN" altLang="en-US" dirty="0">
                <a:ea typeface="宋体" panose="02010600030101010101" pitchFamily="2" charset="-122"/>
              </a:rPr>
              <a:t>警戒条件</a:t>
            </a:r>
            <a:r>
              <a:rPr lang="en-US" altLang="zh-CN" dirty="0">
                <a:ea typeface="宋体" panose="02010600030101010101" pitchFamily="2" charset="-122"/>
              </a:rPr>
              <a:t>]</a:t>
            </a:r>
            <a:r>
              <a:rPr lang="zh-CN" altLang="en-US" dirty="0">
                <a:ea typeface="宋体" panose="02010600030101010101" pitchFamily="2" charset="-122"/>
              </a:rPr>
              <a:t>：可选项，布尔条件表达式。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满足警戒条件时才能发送消息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条件发送消息</a:t>
            </a:r>
            <a:r>
              <a:rPr lang="zh-CN" altLang="en-US" dirty="0">
                <a:ea typeface="宋体" panose="02010600030101010101" pitchFamily="2" charset="-122"/>
              </a:rPr>
              <a:t>：仅执行条件为真的分支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缺省时表示消息无条件发送</a:t>
            </a:r>
            <a:endParaRPr lang="zh-CN" altLang="en-US" dirty="0">
              <a:ea typeface="宋体" panose="02010600030101010101" pitchFamily="2" charset="-122"/>
            </a:endParaRPr>
          </a:p>
          <a:p>
            <a:pPr marL="457200" indent="-457200" eaLnBrk="1" hangingPunct="1">
              <a:buClr>
                <a:schemeClr val="accent1"/>
              </a:buClr>
              <a:buSzPct val="70000"/>
              <a:buFontTx/>
              <a:buAutoNum type="circleNumDbPlain" startAt="2"/>
            </a:pPr>
            <a:r>
              <a:rPr lang="zh-CN" altLang="en-US" dirty="0">
                <a:ea typeface="宋体" panose="02010600030101010101" pitchFamily="2" charset="-122"/>
              </a:rPr>
              <a:t>*</a:t>
            </a:r>
            <a:r>
              <a:rPr lang="en-US" altLang="zh-CN" dirty="0">
                <a:ea typeface="宋体" panose="02010600030101010101" pitchFamily="2" charset="-122"/>
              </a:rPr>
              <a:t>[</a:t>
            </a:r>
            <a:r>
              <a:rPr lang="zh-CN" altLang="en-US" dirty="0">
                <a:ea typeface="宋体" panose="02010600030101010101" pitchFamily="2" charset="-122"/>
              </a:rPr>
              <a:t>重复次数</a:t>
            </a:r>
            <a:r>
              <a:rPr lang="en-US" altLang="zh-CN" dirty="0">
                <a:ea typeface="宋体" panose="02010600030101010101" pitchFamily="2" charset="-122"/>
              </a:rPr>
              <a:t>]</a:t>
            </a:r>
            <a:r>
              <a:rPr lang="zh-CN" altLang="en-US" dirty="0">
                <a:ea typeface="宋体" panose="02010600030101010101" pitchFamily="2" charset="-122"/>
              </a:rPr>
              <a:t>：可选项，表示消息重复发送的次数。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可用正整数表示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只有*号，表示消息多次发生，次数未定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循环发送消息</a:t>
            </a:r>
            <a:r>
              <a:rPr lang="zh-CN" altLang="en-US" dirty="0">
                <a:ea typeface="宋体" panose="02010600030101010101" pitchFamily="2" charset="-122"/>
              </a:rPr>
              <a:t>：*</a:t>
            </a:r>
            <a:r>
              <a:rPr lang="en-US" altLang="zh-CN" dirty="0">
                <a:ea typeface="宋体" panose="02010600030101010101" pitchFamily="2" charset="-122"/>
              </a:rPr>
              <a:t>[</a:t>
            </a:r>
            <a:r>
              <a:rPr lang="zh-CN" altLang="en-US" dirty="0">
                <a:ea typeface="宋体" panose="02010600030101010101" pitchFamily="2" charset="-122"/>
              </a:rPr>
              <a:t>循环执行条件</a:t>
            </a:r>
            <a:r>
              <a:rPr lang="en-US" altLang="zh-CN" dirty="0">
                <a:ea typeface="宋体" panose="02010600030101010101" pitchFamily="2" charset="-122"/>
              </a:rPr>
              <a:t>]</a:t>
            </a:r>
            <a:r>
              <a:rPr lang="zh-CN" altLang="en-US" dirty="0">
                <a:ea typeface="宋体" panose="02010600030101010101" pitchFamily="2" charset="-122"/>
              </a:rPr>
              <a:t>。有条件的循环执行。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822325" lvl="1" indent="-457200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缺省表示只发送一次</a:t>
            </a:r>
            <a:endParaRPr lang="zh-CN" altLang="en-US" dirty="0">
              <a:ea typeface="宋体" panose="02010600030101010101" pitchFamily="2" charset="-122"/>
            </a:endParaRPr>
          </a:p>
          <a:p>
            <a:pPr marL="457200" indent="-457200" eaLnBrk="1" hangingPunct="1">
              <a:buClr>
                <a:schemeClr val="accent1"/>
              </a:buClr>
              <a:buSzPct val="70000"/>
              <a:buFontTx/>
              <a:buChar char="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marL="457200" indent="-457200" eaLnBrk="1" hangingPunct="1">
              <a:buClr>
                <a:schemeClr val="accent1"/>
              </a:buClr>
              <a:buSzPct val="70000"/>
              <a:buFontTx/>
              <a:buAutoNum type="circleNumDbPlain" startAt="4"/>
            </a:pPr>
            <a:r>
              <a:rPr lang="zh-CN" altLang="en-US" dirty="0">
                <a:ea typeface="宋体" panose="02010600030101010101" pitchFamily="2" charset="-122"/>
              </a:rPr>
              <a:t>回送值表：可选项，以“，”隔开的返回值列表，分别表示完成指定操作后返回的值。可缺省。</a:t>
            </a:r>
            <a:endParaRPr lang="zh-CN" altLang="en-US" dirty="0">
              <a:ea typeface="宋体" panose="02010600030101010101" pitchFamily="2" charset="-122"/>
            </a:endParaRPr>
          </a:p>
          <a:p>
            <a:pPr marL="457200" indent="-457200" eaLnBrk="1" hangingPunct="1">
              <a:buClr>
                <a:schemeClr val="accent1"/>
              </a:buClr>
              <a:buSzPct val="70000"/>
              <a:buFontTx/>
              <a:buAutoNum type="circleNumDbPlain" startAt="4"/>
            </a:pPr>
            <a:r>
              <a:rPr lang="zh-CN" altLang="en-US" dirty="0">
                <a:ea typeface="宋体" panose="02010600030101010101" pitchFamily="2" charset="-122"/>
              </a:rPr>
              <a:t>操作名：必选项，接收该消息的对象类中的操作名。</a:t>
            </a:r>
            <a:endParaRPr lang="zh-CN" altLang="en-US" dirty="0">
              <a:ea typeface="宋体" panose="02010600030101010101" pitchFamily="2" charset="-122"/>
            </a:endParaRPr>
          </a:p>
          <a:p>
            <a:pPr marL="457200" indent="-457200" eaLnBrk="1" hangingPunct="1">
              <a:buClr>
                <a:schemeClr val="accent1"/>
              </a:buClr>
              <a:buSzPct val="70000"/>
              <a:buFontTx/>
              <a:buAutoNum type="circleNumDbPlain" startAt="4"/>
            </a:pPr>
            <a:r>
              <a:rPr lang="zh-CN" altLang="en-US" dirty="0">
                <a:ea typeface="宋体" panose="02010600030101010101" pitchFamily="2" charset="-122"/>
              </a:rPr>
              <a:t>（）内的参数表：可选项，以“，”号隔开的实参表，传送给接收消息的对象中的操作。要求与形参一致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消息的分类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按消息触发的动作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创建一个对象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释放一个对象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调用另一个对象的操作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调用本对象的操作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发送消息给另一个对象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返回值给调用者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857375"/>
            <a:ext cx="7931150" cy="44513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按消息的控制流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简单消息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：表示控制流</a:t>
            </a:r>
            <a:r>
              <a:rPr kumimoji="0" lang="zh-CN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如何从一个对象传递到另一个对象，但不描述任何通信的细节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。（叉形箭头、实线）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同步消息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：完成同步操作的嵌套的控制流。 （实心三角箭头、实线）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异步消息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：异步请求一个操作的非嵌套控制流。 （半叉箭头、实线）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返回消息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：表示控制流从过程调用的返回。 （叉形箭头、虚线）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递归消息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Times New Roman" panose="02020603050405020304" pitchFamily="18" charset="0"/>
              </a:rPr>
              <a:t>：即一个对象发消息给自身，这种消息通常是同步的。 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其它消息类型：如阻止消息，超时消息等，为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UML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核心的扩充。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260350"/>
            <a:ext cx="4143375" cy="1944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5.2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消息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12875"/>
            <a:ext cx="7467600" cy="506095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en-US" altLang="zh-CN" dirty="0">
                <a:ea typeface="宋体" panose="02010600030101010101" pitchFamily="2" charset="-122"/>
              </a:rPr>
              <a:t>Rose</a:t>
            </a:r>
            <a:r>
              <a:rPr lang="zh-CN" altLang="en-US" dirty="0">
                <a:ea typeface="宋体" panose="02010600030101010101" pitchFamily="2" charset="-122"/>
              </a:rPr>
              <a:t>中的消息类型：分简单消息，同步消息，阻止消息，超时消息，调用消息，异步消息和返回消息。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可在消息的</a:t>
            </a:r>
            <a:r>
              <a:rPr lang="en-US" altLang="zh-CN" dirty="0">
                <a:ea typeface="宋体" panose="02010600030101010101" pitchFamily="2" charset="-122"/>
              </a:rPr>
              <a:t>specification</a:t>
            </a:r>
            <a:r>
              <a:rPr lang="zh-CN" altLang="en-US" dirty="0">
                <a:ea typeface="宋体" panose="02010600030101010101" pitchFamily="2" charset="-122"/>
              </a:rPr>
              <a:t>窗口中指定消息的类型。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708275"/>
            <a:ext cx="3373437" cy="368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25" y="2782888"/>
            <a:ext cx="3748088" cy="3525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6627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时序图的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种描述形式：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一般形式：描述一个场景中所有可能的选择，可包含条件、分支和循环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实例形式：描述一个特定的场景，即一次可能的交互，没有条件、分支和循环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43813" cy="487362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带</a:t>
            </a: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条件和分支</a:t>
            </a:r>
            <a:r>
              <a:rPr lang="zh-CN" altLang="en-US" dirty="0">
                <a:ea typeface="宋体" panose="02010600030101010101" pitchFamily="2" charset="-122"/>
              </a:rPr>
              <a:t>的时序图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消息的条件发送：消息上可附加条件，当条件为真时消息才被发送或接收。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分支：从一个对象的同一个时间点发出多个消息，每一条消息都有条件描述。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buClr>
                <a:srgbClr val="E0752F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条件分支</a:t>
            </a:r>
            <a:r>
              <a:rPr lang="zh-CN" altLang="en-US" dirty="0">
                <a:ea typeface="宋体" panose="02010600030101010101" pitchFamily="2" charset="-122"/>
              </a:rPr>
              <a:t>：当几个消息箭头上的条件互斥时，表示某一时刻只有一个消息被发送。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buClr>
                <a:srgbClr val="E0752F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并发分支</a:t>
            </a:r>
            <a:r>
              <a:rPr lang="zh-CN" altLang="en-US" dirty="0">
                <a:ea typeface="宋体" panose="02010600030101010101" pitchFamily="2" charset="-122"/>
              </a:rPr>
              <a:t>：如果条件不是互斥的，则消息会并行地发出。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8675" name="内容占位符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条件分支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7" name="内容占位符 4"/>
          <p:cNvPicPr/>
          <p:nvPr/>
        </p:nvPicPr>
        <p:blipFill>
          <a:blip r:embed="rId1">
            <a:lum contrast="18000"/>
          </a:blip>
          <a:stretch>
            <a:fillRect/>
          </a:stretch>
        </p:blipFill>
        <p:spPr>
          <a:xfrm>
            <a:off x="910590" y="2153920"/>
            <a:ext cx="7109460" cy="39357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46393"/>
            <a:ext cx="7467600" cy="1143000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9699" name="内容占位符 4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并发分支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701" name="Picture 5"/>
          <p:cNvPicPr>
            <a:picLocks noChangeAspect="1"/>
          </p:cNvPicPr>
          <p:nvPr/>
        </p:nvPicPr>
        <p:blipFill>
          <a:blip r:embed="rId1"/>
          <a:srcRect l="17361" t="23299" r="21872" b="37869"/>
          <a:stretch>
            <a:fillRect/>
          </a:stretch>
        </p:blipFill>
        <p:spPr>
          <a:xfrm>
            <a:off x="255905" y="2183130"/>
            <a:ext cx="8218170" cy="3815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内容占位符 5"/>
          <p:cNvSpPr>
            <a:spLocks noGrp="1"/>
          </p:cNvSpPr>
          <p:nvPr>
            <p:ph sz="quarter" idx="1"/>
          </p:nvPr>
        </p:nvSpPr>
        <p:spPr>
          <a:xfrm>
            <a:off x="457200" y="1412875"/>
            <a:ext cx="7467600" cy="506095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带</a:t>
            </a: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循环</a:t>
            </a:r>
            <a:r>
              <a:rPr lang="zh-CN" altLang="en-US" dirty="0">
                <a:ea typeface="宋体" panose="02010600030101010101" pitchFamily="2" charset="-122"/>
              </a:rPr>
              <a:t>标记的时序图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图符：用矩形框和其包含的一组消息表示，循环条件用方括号围起，标识在矩形框的底线内侧边上；或用在发送方竖立的虚线代替方框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072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373" y="2992438"/>
            <a:ext cx="5976937" cy="3481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内容占位符 5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约束标记的使用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1749" name="Picture 5"/>
          <p:cNvPicPr>
            <a:picLocks noChangeAspect="1"/>
          </p:cNvPicPr>
          <p:nvPr/>
        </p:nvPicPr>
        <p:blipFill>
          <a:blip r:embed="rId1"/>
          <a:srcRect l="15192" t="18121" r="32722" b="37869"/>
          <a:stretch>
            <a:fillRect/>
          </a:stretch>
        </p:blipFill>
        <p:spPr>
          <a:xfrm>
            <a:off x="971550" y="2492375"/>
            <a:ext cx="6497638" cy="3816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0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时序图的描述形式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内容占位符 5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对象的</a:t>
            </a: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创建</a:t>
            </a:r>
            <a:r>
              <a:rPr lang="zh-CN" altLang="en-US" dirty="0">
                <a:ea typeface="宋体" panose="02010600030101010101" pitchFamily="2" charset="-122"/>
              </a:rPr>
              <a:t>和对象的</a:t>
            </a: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消亡</a:t>
            </a:r>
            <a:endParaRPr lang="zh-CN" altLang="en-US" dirty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一个对象可以通过一条消息创建另一个对象，被创建的对象可在创建它的地方（垂直时间轴上）画一个对象符号。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完成使命的对象可以被销毁</a:t>
            </a:r>
            <a:r>
              <a:rPr lang="zh-CN" altLang="en-US" dirty="0">
                <a:ea typeface="宋体" panose="02010600030101010101" pitchFamily="2" charset="-122"/>
              </a:rPr>
              <a:t>。当对象消亡时，在图中用一个</a:t>
            </a:r>
            <a:r>
              <a:rPr lang="en-US" altLang="zh-CN" dirty="0">
                <a:ea typeface="宋体" panose="02010600030101010101" pitchFamily="2" charset="-122"/>
              </a:rPr>
              <a:t>×</a:t>
            </a:r>
            <a:r>
              <a:rPr lang="zh-CN" altLang="en-US" dirty="0">
                <a:ea typeface="宋体" panose="02010600030101010101" pitchFamily="2" charset="-122"/>
              </a:rPr>
              <a:t>符号表示。此时对象的生命线仅画到消亡的点上。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协作图可以用来描述系统对象之间的动态协作关系，强调消息的交换和对象之间的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连接关系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marL="273050" lvl="1" eaLnBrk="1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</a:pPr>
            <a:r>
              <a:rPr lang="zh-CN" altLang="en-US" dirty="0">
                <a:ea typeface="宋体" panose="02010600030101010101" pitchFamily="2" charset="-122"/>
              </a:rPr>
              <a:t>通常描述的是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单个用例</a:t>
            </a:r>
            <a:r>
              <a:rPr lang="zh-CN" altLang="en-US" dirty="0">
                <a:ea typeface="宋体" panose="02010600030101010101" pitchFamily="2" charset="-122"/>
              </a:rPr>
              <a:t>的典型场景。描述的是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对象之间</a:t>
            </a:r>
            <a:r>
              <a:rPr lang="zh-CN" altLang="en-US" dirty="0">
                <a:ea typeface="宋体" panose="02010600030101010101" pitchFamily="2" charset="-122"/>
              </a:rPr>
              <a:t>的消息发送关系。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协作图清晰地展示了对象间的静态链接关系和动态协作关系，但消息顺序和并发线程必须通过顺序号来指明。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图符：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对象</a:t>
            </a:r>
            <a:r>
              <a:rPr lang="zh-CN" altLang="en-US" dirty="0">
                <a:ea typeface="宋体" panose="02010600030101010101" pitchFamily="2" charset="-122"/>
              </a:rPr>
              <a:t>：用短式表示的对象框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链接</a:t>
            </a:r>
            <a:r>
              <a:rPr lang="zh-CN" altLang="en-US" dirty="0">
                <a:ea typeface="宋体" panose="02010600030101010101" pitchFamily="2" charset="-122"/>
              </a:rPr>
              <a:t>：用连接两个对象的实线表示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buClr>
                <a:srgbClr val="E0752F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多重性：链接的两端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buClr>
                <a:srgbClr val="E0752F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角色：链接的两端。缺省表示匿名链接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buClr>
                <a:srgbClr val="E0752F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对角色的约束：用</a:t>
            </a:r>
            <a:r>
              <a:rPr lang="en-US" altLang="zh-CN" dirty="0">
                <a:ea typeface="宋体" panose="02010600030101010101" pitchFamily="2" charset="-122"/>
              </a:rPr>
              <a:t>{}</a:t>
            </a:r>
            <a:r>
              <a:rPr lang="zh-CN" altLang="en-US" dirty="0">
                <a:ea typeface="宋体" panose="02010600030101010101" pitchFamily="2" charset="-122"/>
              </a:rPr>
              <a:t>表示，包括：</a:t>
            </a:r>
            <a:endParaRPr lang="zh-CN" altLang="en-US" dirty="0">
              <a:ea typeface="宋体" panose="02010600030101010101" pitchFamily="2" charset="-122"/>
            </a:endParaRPr>
          </a:p>
          <a:p>
            <a:pPr lvl="3" eaLnBrk="1" hangingPunct="1">
              <a:buClr>
                <a:srgbClr val="E0752F"/>
              </a:buClr>
              <a:buSzPct val="60000"/>
              <a:buFont typeface="Wingdings" panose="05000000000000000000" charset="0"/>
              <a:buChar char="p"/>
            </a:pPr>
            <a:r>
              <a:rPr lang="zh-CN" altLang="en-US" sz="2000" dirty="0">
                <a:ea typeface="宋体" panose="02010600030101010101" pitchFamily="2" charset="-122"/>
              </a:rPr>
              <a:t>全局性（</a:t>
            </a:r>
            <a:r>
              <a:rPr lang="en-US" altLang="zh-CN" sz="2000" dirty="0">
                <a:ea typeface="宋体" panose="02010600030101010101" pitchFamily="2" charset="-122"/>
              </a:rPr>
              <a:t>Global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lvl="3" eaLnBrk="1" hangingPunct="1">
              <a:buClr>
                <a:srgbClr val="E0752F"/>
              </a:buClr>
              <a:buSzPct val="60000"/>
              <a:buFont typeface="Wingdings" panose="05000000000000000000" charset="0"/>
              <a:buChar char="p"/>
            </a:pPr>
            <a:r>
              <a:rPr lang="zh-CN" altLang="en-US" sz="2000" dirty="0">
                <a:ea typeface="宋体" panose="02010600030101010101" pitchFamily="2" charset="-122"/>
              </a:rPr>
              <a:t>局部性（</a:t>
            </a:r>
            <a:r>
              <a:rPr lang="en-US" altLang="zh-CN" sz="2000" dirty="0">
                <a:ea typeface="宋体" panose="02010600030101010101" pitchFamily="2" charset="-122"/>
              </a:rPr>
              <a:t>Local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lvl="3" eaLnBrk="1" hangingPunct="1">
              <a:buClr>
                <a:srgbClr val="E0752F"/>
              </a:buClr>
              <a:buSzPct val="60000"/>
              <a:buFont typeface="Wingdings" panose="05000000000000000000" charset="0"/>
              <a:buChar char="p"/>
            </a:pPr>
            <a:r>
              <a:rPr lang="zh-CN" altLang="en-US" sz="2000" dirty="0">
                <a:ea typeface="宋体" panose="02010600030101010101" pitchFamily="2" charset="-122"/>
              </a:rPr>
              <a:t>参数性（</a:t>
            </a:r>
            <a:r>
              <a:rPr lang="en-US" altLang="zh-CN" sz="2000" dirty="0">
                <a:ea typeface="宋体" panose="02010600030101010101" pitchFamily="2" charset="-122"/>
              </a:rPr>
              <a:t>Parameter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lvl="3" eaLnBrk="1" hangingPunct="1">
              <a:buClr>
                <a:srgbClr val="E0752F"/>
              </a:buClr>
              <a:buSzPct val="60000"/>
              <a:buFont typeface="Wingdings" panose="05000000000000000000" charset="0"/>
              <a:buChar char="p"/>
            </a:pPr>
            <a:r>
              <a:rPr lang="zh-CN" altLang="en-US" sz="2000" dirty="0">
                <a:ea typeface="宋体" panose="02010600030101010101" pitchFamily="2" charset="-122"/>
              </a:rPr>
              <a:t>自我性（</a:t>
            </a:r>
            <a:r>
              <a:rPr lang="en-US" altLang="zh-CN" sz="2000" dirty="0">
                <a:ea typeface="宋体" panose="02010600030101010101" pitchFamily="2" charset="-122"/>
              </a:rPr>
              <a:t>Self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lvl="3" eaLnBrk="1" hangingPunct="1">
              <a:buClr>
                <a:srgbClr val="E0752F"/>
              </a:buClr>
              <a:buSzPct val="60000"/>
              <a:buFont typeface="Wingdings" panose="05000000000000000000" charset="0"/>
              <a:buChar char="p"/>
            </a:pPr>
            <a:r>
              <a:rPr lang="zh-CN" altLang="en-US" sz="2000" dirty="0">
                <a:ea typeface="宋体" panose="02010600030101010101" pitchFamily="2" charset="-122"/>
              </a:rPr>
              <a:t>表决性（</a:t>
            </a:r>
            <a:r>
              <a:rPr lang="en-US" altLang="zh-CN" sz="2000" dirty="0">
                <a:ea typeface="宋体" panose="02010600030101010101" pitchFamily="2" charset="-122"/>
              </a:rPr>
              <a:t>Vote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lvl="3" eaLnBrk="1" hangingPunct="1">
              <a:buClr>
                <a:srgbClr val="E0752F"/>
              </a:buClr>
              <a:buSzPct val="60000"/>
              <a:buFont typeface="Wingdings" panose="05000000000000000000" charset="0"/>
              <a:buChar char="p"/>
            </a:pPr>
            <a:r>
              <a:rPr lang="zh-CN" altLang="en-US" sz="2000" dirty="0">
                <a:ea typeface="宋体" panose="02010600030101010101" pitchFamily="2" charset="-122"/>
              </a:rPr>
              <a:t>广播性（</a:t>
            </a:r>
            <a:r>
              <a:rPr lang="en-US" altLang="zh-CN" sz="2000" dirty="0">
                <a:ea typeface="宋体" panose="02010600030101010101" pitchFamily="2" charset="-122"/>
              </a:rPr>
              <a:t>Broadcast</a:t>
            </a:r>
            <a:r>
              <a:rPr lang="zh-CN" altLang="en-US" sz="2000" dirty="0">
                <a:ea typeface="宋体" panose="02010600030101010101" pitchFamily="2" charset="-122"/>
              </a:rPr>
              <a:t>）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消息：用带箭头的直线表示消息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marR="0" lvl="2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60000"/>
              <a:buFont typeface="Wingdings" panose="05000000000000000000"/>
              <a:buChar char="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箭头方向表示消息发送的方向，而消息执行的顺序则由消息的编号（顺序号）来表示。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400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协作图中对象的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生存期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：在对象框中用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{}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marR="0" lvl="2" indent="-182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对象创建：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{new}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，该对象在协作期间被创建；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marR="0" lvl="2" indent="-182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对象消亡：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{destroyed}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，表示该对象在协作期间消亡；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marR="0" lvl="2" indent="-182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对象创建并消亡：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{transient}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，表示对象在同一个协作期间被创建并消亡。 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>
                  <a:shade val="75000"/>
                </a:schemeClr>
              </a:buClr>
              <a:buSzPct val="70000"/>
              <a:buFont typeface="Wingdings" panose="05000000000000000000"/>
              <a:buChar char=""/>
              <a:defRPr/>
            </a:pP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8915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嵌套消息表示法</a:t>
            </a:r>
            <a:r>
              <a:rPr lang="zh-CN" altLang="en-US" dirty="0">
                <a:ea typeface="宋体" panose="02010600030101010101" pitchFamily="2" charset="-122"/>
              </a:rPr>
              <a:t>：能表示消息的层次关系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917" name="Picture 5"/>
          <p:cNvPicPr>
            <a:picLocks noChangeAspect="1"/>
          </p:cNvPicPr>
          <p:nvPr/>
        </p:nvPicPr>
        <p:blipFill>
          <a:blip r:embed="rId1"/>
          <a:srcRect l="19533" t="16728" r="17531" b="23730"/>
          <a:stretch>
            <a:fillRect/>
          </a:stretch>
        </p:blipFill>
        <p:spPr>
          <a:xfrm>
            <a:off x="899160" y="2204403"/>
            <a:ext cx="6308725" cy="4105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9939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顺序消息表示法</a:t>
            </a:r>
            <a:r>
              <a:rPr lang="zh-CN" altLang="en-US" dirty="0">
                <a:ea typeface="宋体" panose="02010600030101010101" pitchFamily="2" charset="-122"/>
              </a:rPr>
              <a:t>：不能表示消息的层次关系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941" name="Picture 5"/>
          <p:cNvPicPr>
            <a:picLocks noChangeAspect="1"/>
          </p:cNvPicPr>
          <p:nvPr/>
        </p:nvPicPr>
        <p:blipFill>
          <a:blip r:embed="rId1"/>
          <a:srcRect l="19533" t="18121" r="17531" b="22337"/>
          <a:stretch>
            <a:fillRect/>
          </a:stretch>
        </p:blipFill>
        <p:spPr>
          <a:xfrm>
            <a:off x="1042988" y="2178050"/>
            <a:ext cx="6157912" cy="4275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1987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协作图中的</a:t>
            </a: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回调</a:t>
            </a:r>
            <a:endParaRPr lang="en-US" altLang="zh-CN" dirty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消息的接收对象向消息的发送对象发送消息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回调都是异步消息，可以并发运行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989" name="Picture 5"/>
          <p:cNvPicPr>
            <a:picLocks noChangeAspect="1"/>
          </p:cNvPicPr>
          <p:nvPr/>
        </p:nvPicPr>
        <p:blipFill>
          <a:blip r:embed="rId1"/>
          <a:srcRect l="23872" t="38832" r="26212" b="48224"/>
          <a:stretch>
            <a:fillRect/>
          </a:stretch>
        </p:blipFill>
        <p:spPr>
          <a:xfrm>
            <a:off x="827088" y="3213100"/>
            <a:ext cx="6985000" cy="145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5.4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协作图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3011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协作图中的循环发送</a:t>
            </a: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消息</a:t>
            </a:r>
            <a:endParaRPr lang="en-US" altLang="zh-CN" dirty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循环发送同一个重复消息，可有警戒条件判定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01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2781300"/>
            <a:ext cx="6697662" cy="2447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5.5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总结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4035" name="内容占位符 2"/>
          <p:cNvSpPr>
            <a:spLocks noGrp="1"/>
          </p:cNvSpPr>
          <p:nvPr>
            <p:ph sz="quarter" idx="1"/>
          </p:nvPr>
        </p:nvSpPr>
        <p:spPr>
          <a:xfrm>
            <a:off x="357188" y="1428750"/>
            <a:ext cx="7959725" cy="504507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作用：时序图用来描述对象之间的交互行为，它注重消息的时间顺序，即对象间消息发送和接收的顺序。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特点：时序图是按时间顺序对控制流建模，可以有效的帮助人们观察系统的顺序行为。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协作图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作用：协作图描述对象间的联系（链接）和传递的消息 ，用于描述一个操作的实现。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特点：是按对象组织对控制流建模，可以帮助开发者进行过程设计。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时序图着重于有协作关系的对象之间消息的传递先后次序，协作图强调对象之间的交互和链接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403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5.5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总结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5059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交互图：包含时序图、协作图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作用：交互图描述系统中对象的交互行为 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特点：每一个交互都有发送者和接收者，它们可以是整个系统、一个子系统、一个用例、一个对象类或一个操作。 交互图可用来描述一个用例所涉及的若干对象的行为。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5.5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总结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绘制时序图的步骤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首先确定交互及设计的对象；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时序图中对象排列的原则：</a:t>
            </a:r>
            <a:r>
              <a:rPr lang="zh-CN" altLang="zh-CN" dirty="0">
                <a:ea typeface="宋体" panose="02010600030101010101" pitchFamily="2" charset="-122"/>
              </a:rPr>
              <a:t>最重要的对象在最左边，交互密切的对象尽可能相邻。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绘制消息：按时间顺序从上到下在对象的生命线之间传递；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消息箭头上标注消息的内容、约束和构造型；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发送接收消息的对象生命线必须在激活期；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交互中对象的创建和销毁必须绘出构造型和标记；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zh-CN" dirty="0">
                <a:ea typeface="宋体" panose="02010600030101010101" pitchFamily="2" charset="-122"/>
              </a:rPr>
              <a:t>区别同步消息和异步消息的图标。</a:t>
            </a:r>
            <a:endParaRPr lang="zh-CN" altLang="zh-CN" dirty="0">
              <a:ea typeface="宋体" panose="02010600030101010101" pitchFamily="2" charset="-122"/>
            </a:endParaRPr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5.5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总结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7107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lang="zh-CN" altLang="en-US" dirty="0">
                <a:ea typeface="宋体" panose="02010600030101010101" pitchFamily="2" charset="-122"/>
              </a:rPr>
              <a:t>绘制协作图的步骤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首先确定交互及涉及的对象；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协作图中对象排列的原则：最重要的对象在图中央，与其有直接交互的对象放置在临近。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然后选择初始对象；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表明对象之间的链接，标明消息的序号； 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标注消息标签的内容、约束或构造型；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 区别同步消息和异步消息的图标表示符；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accent1"/>
              </a:buClr>
              <a:buSzPct val="80000"/>
              <a:buFont typeface="Wingdings 2" panose="05020102010507070707" pitchFamily="18" charset="2"/>
            </a:pPr>
            <a:r>
              <a:rPr lang="zh-CN" altLang="en-US" dirty="0">
                <a:ea typeface="宋体" panose="02010600030101010101" pitchFamily="2" charset="-122"/>
              </a:rPr>
              <a:t> 协作图从初始对象开始，到中止对象结束。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5.5 </a:t>
            </a:r>
            <a:r>
              <a:rPr kumimoji="0" lang="zh-CN" altLang="en-US" sz="36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总结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时序图建模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确定交互和涉及的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对象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+mj-lt"/>
              <a:buAutoNum type="arabicPeriod" startAt="2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时序图中对象排列的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原则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对象横向排列在时序图的顶部；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最重要的对象在最左边（如对全局进行初始的对象）；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交互密切的对象尽可能相邻；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交互中创建的对象，应放置在其创建的时间点上；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每个对象有一个下垂的生命线。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1" dirty="0">
                <a:solidFill>
                  <a:srgbClr val="FFFFFF"/>
                </a:solidFill>
                <a:cs typeface="Times New Roman" panose="02020603050405020304" pitchFamily="18" charset="0"/>
              </a:rPr>
            </a:fld>
            <a:endParaRPr lang="zh-CN" altLang="en-US" sz="1400" b="1" dirty="0">
              <a:solidFill>
                <a:srgbClr val="FFFF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Y2NzBjNDUzZjAyN2ZkZDE4YTFlYWIyZDBjMWQwODQifQ=="/>
  <p:tag name="KSO_WPP_MARK_KEY" val="996b3861-4dda-4416-868a-d84c1eac2758"/>
  <p:tag name="COMMONDATA" val="eyJoZGlkIjoiMWJmYmVhMGQ2YWQwOTc0ZDFkYmVkZTE0NzFkNThlYz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3458</Words>
  <Application>WPS 演示</Application>
  <PresentationFormat>全屏显示(4:3)</PresentationFormat>
  <Paragraphs>309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楷体_GB2312</vt:lpstr>
      <vt:lpstr>新宋体</vt:lpstr>
      <vt:lpstr>Times New Roman</vt:lpstr>
      <vt:lpstr>Wingdings 2</vt:lpstr>
      <vt:lpstr>Wingdings</vt:lpstr>
      <vt:lpstr>Century Schoolbook</vt:lpstr>
      <vt:lpstr>微软雅黑</vt:lpstr>
      <vt:lpstr>Arial Unicode MS</vt:lpstr>
      <vt:lpstr>华文楷体</vt:lpstr>
      <vt:lpstr>Wingdings</vt:lpstr>
      <vt:lpstr>Wingdings 2</vt:lpstr>
      <vt:lpstr>凸显</vt:lpstr>
      <vt:lpstr>1_凸显</vt:lpstr>
      <vt:lpstr>Visio.Drawing.11</vt:lpstr>
      <vt:lpstr>软件系统分析与设计 Software System Analysis and Design</vt:lpstr>
      <vt:lpstr>第5章 动态建模（一）</vt:lpstr>
      <vt:lpstr>5.1 时序图</vt:lpstr>
      <vt:lpstr>5.1 时序图</vt:lpstr>
      <vt:lpstr>5.1 时序图</vt:lpstr>
      <vt:lpstr>5.1 时序图</vt:lpstr>
      <vt:lpstr>5.2 消息</vt:lpstr>
      <vt:lpstr>5.2 消息</vt:lpstr>
      <vt:lpstr>5.2 消息</vt:lpstr>
      <vt:lpstr>5.2 消息</vt:lpstr>
      <vt:lpstr>5.2 消息</vt:lpstr>
      <vt:lpstr>5.2 消息</vt:lpstr>
      <vt:lpstr>5.2 消息</vt:lpstr>
      <vt:lpstr>5.3 时序图的描述形式</vt:lpstr>
      <vt:lpstr>5.3 时序图的描述形式</vt:lpstr>
      <vt:lpstr>5.3 时序图的描述形式</vt:lpstr>
      <vt:lpstr>5.3 时序图的描述形式</vt:lpstr>
      <vt:lpstr>5.3 时序图的描述形式</vt:lpstr>
      <vt:lpstr>5.3 时序图的描述形式</vt:lpstr>
      <vt:lpstr>5.3 时序图的描述形式</vt:lpstr>
      <vt:lpstr>5.4 协作图</vt:lpstr>
      <vt:lpstr>5.4 协作图</vt:lpstr>
      <vt:lpstr>5.4 协作图</vt:lpstr>
      <vt:lpstr>5.4 协作图</vt:lpstr>
      <vt:lpstr>5.4 协作图</vt:lpstr>
      <vt:lpstr>5.4 协作图</vt:lpstr>
      <vt:lpstr>5.4 协作图</vt:lpstr>
      <vt:lpstr>5.5 总结</vt:lpstr>
      <vt:lpstr>5.5 总结</vt:lpstr>
      <vt:lpstr>5.5 总结</vt:lpstr>
      <vt:lpstr>5.5 总结</vt:lpstr>
      <vt:lpstr>5.5 总结</vt:lpstr>
    </vt:vector>
  </TitlesOfParts>
  <Company>elite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 1.1  程序设计与程序设计语言</dc:title>
  <dc:creator>shasha</dc:creator>
  <cp:lastModifiedBy>WPS_1648341868</cp:lastModifiedBy>
  <cp:revision>538</cp:revision>
  <cp:lastPrinted>1998-01-12T01:00:00Z</cp:lastPrinted>
  <dcterms:created xsi:type="dcterms:W3CDTF">2001-09-23T11:05:00Z</dcterms:created>
  <dcterms:modified xsi:type="dcterms:W3CDTF">2025-07-01T17:23:07Z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5ECB3F19C53146F0AE7CD502362EA3A2_12</vt:lpwstr>
  </property>
  <property fmtid="{D5CDD505-2E9C-101B-9397-08002B2CF9AE}" pid="3" name="KSOProductBuildVer">
    <vt:lpwstr>2052-12.1.0.21915</vt:lpwstr>
  </property>
</Properties>
</file>