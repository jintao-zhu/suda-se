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4.webp" ContentType="image/webp"/>
  <Override PartName="/ppt/media/image15.webp" ContentType="image/webp"/>
  <Override PartName="/ppt/media/image16.webp" ContentType="image/webp"/>
  <Override PartName="/ppt/media/image17.webp" ContentType="image/webp"/>
  <Override PartName="/ppt/media/image18.webp" ContentType="image/webp"/>
  <Override PartName="/ppt/media/image19.webp" ContentType="image/webp"/>
  <Override PartName="/ppt/media/image20.webp" ContentType="image/webp"/>
  <Override PartName="/ppt/media/image21.webp" ContentType="image/webp"/>
  <Override PartName="/ppt/media/image22.webp" ContentType="image/webp"/>
  <Override PartName="/ppt/media/image23.webp" ContentType="image/webp"/>
  <Override PartName="/ppt/media/image24.webp" ContentType="image/webp"/>
  <Override PartName="/ppt/media/image25.webp" ContentType="image/webp"/>
  <Override PartName="/ppt/media/image26.webp" ContentType="image/webp"/>
  <Override PartName="/ppt/media/image27.webp" ContentType="image/webp"/>
  <Override PartName="/ppt/media/image28.webp" ContentType="image/webp"/>
  <Override PartName="/ppt/media/image29.webp" ContentType="image/webp"/>
  <Override PartName="/ppt/media/image30.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handoutMasterIdLst>
    <p:handoutMasterId r:id="rId68"/>
  </p:handoutMasterIdLst>
  <p:sldIdLst>
    <p:sldId id="302" r:id="rId4"/>
    <p:sldId id="304" r:id="rId5"/>
    <p:sldId id="361" r:id="rId7"/>
    <p:sldId id="305" r:id="rId8"/>
    <p:sldId id="362" r:id="rId9"/>
    <p:sldId id="306" r:id="rId10"/>
    <p:sldId id="308" r:id="rId11"/>
    <p:sldId id="309" r:id="rId12"/>
    <p:sldId id="310" r:id="rId13"/>
    <p:sldId id="312" r:id="rId14"/>
    <p:sldId id="363" r:id="rId15"/>
    <p:sldId id="313" r:id="rId16"/>
    <p:sldId id="364" r:id="rId17"/>
    <p:sldId id="365" r:id="rId18"/>
    <p:sldId id="366" r:id="rId19"/>
    <p:sldId id="436" r:id="rId20"/>
    <p:sldId id="369" r:id="rId21"/>
    <p:sldId id="367" r:id="rId22"/>
    <p:sldId id="315" r:id="rId23"/>
    <p:sldId id="317" r:id="rId24"/>
    <p:sldId id="316" r:id="rId25"/>
    <p:sldId id="319" r:id="rId26"/>
    <p:sldId id="323" r:id="rId27"/>
    <p:sldId id="324" r:id="rId28"/>
    <p:sldId id="325" r:id="rId29"/>
    <p:sldId id="327" r:id="rId30"/>
    <p:sldId id="329" r:id="rId31"/>
    <p:sldId id="330" r:id="rId32"/>
    <p:sldId id="338" r:id="rId33"/>
    <p:sldId id="342" r:id="rId34"/>
    <p:sldId id="343" r:id="rId35"/>
    <p:sldId id="355" r:id="rId36"/>
    <p:sldId id="345" r:id="rId37"/>
    <p:sldId id="346" r:id="rId38"/>
    <p:sldId id="347" r:id="rId39"/>
    <p:sldId id="356" r:id="rId40"/>
    <p:sldId id="437" r:id="rId41"/>
    <p:sldId id="403" r:id="rId42"/>
    <p:sldId id="404" r:id="rId43"/>
    <p:sldId id="405" r:id="rId44"/>
    <p:sldId id="406" r:id="rId45"/>
    <p:sldId id="407" r:id="rId46"/>
    <p:sldId id="408" r:id="rId47"/>
    <p:sldId id="409" r:id="rId48"/>
    <p:sldId id="410" r:id="rId49"/>
    <p:sldId id="411" r:id="rId50"/>
    <p:sldId id="412" r:id="rId51"/>
    <p:sldId id="413" r:id="rId52"/>
    <p:sldId id="414" r:id="rId53"/>
    <p:sldId id="415" r:id="rId54"/>
    <p:sldId id="416" r:id="rId55"/>
    <p:sldId id="417" r:id="rId56"/>
    <p:sldId id="418" r:id="rId57"/>
    <p:sldId id="419" r:id="rId58"/>
    <p:sldId id="420" r:id="rId59"/>
    <p:sldId id="421" r:id="rId60"/>
    <p:sldId id="422" r:id="rId61"/>
    <p:sldId id="423" r:id="rId62"/>
    <p:sldId id="424" r:id="rId63"/>
    <p:sldId id="425" r:id="rId64"/>
    <p:sldId id="426" r:id="rId65"/>
    <p:sldId id="428" r:id="rId66"/>
    <p:sldId id="429" r:id="rId67"/>
  </p:sldIdLst>
  <p:sldSz cx="9144000" cy="6858000" type="screen4x3"/>
  <p:notesSz cx="6858000" cy="9144000"/>
  <p:custDataLst>
    <p:tags r:id="rId72"/>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C9EA"/>
    <a:srgbClr val="CCFF66"/>
    <a:srgbClr val="FFFFCC"/>
    <a:srgbClr val="F9DF9F"/>
    <a:srgbClr val="FFFF66"/>
    <a:srgbClr val="FF0000"/>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6070"/>
    <p:restoredTop sz="94660"/>
  </p:normalViewPr>
  <p:slideViewPr>
    <p:cSldViewPr showGuides="1">
      <p:cViewPr varScale="1">
        <p:scale>
          <a:sx n="114" d="100"/>
          <a:sy n="114" d="100"/>
        </p:scale>
        <p:origin x="-155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2" Type="http://schemas.openxmlformats.org/officeDocument/2006/relationships/tags" Target="tags/tag1.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3.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eaLnBrk="1" hangingPunct="1"/>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50000"/>
              </a:lnSpc>
              <a:buFont typeface="Wingdings" panose="05000000000000000000" charset="0"/>
              <a:buNone/>
            </a:pPr>
            <a:endParaRPr lang="zh-CN" altLang="en-US" dirty="0">
              <a:latin typeface="楷体" panose="02010609060101010101" charset="-122"/>
              <a:ea typeface="楷体" panose="02010609060101010101" charset="-122"/>
              <a:sym typeface="+mn-ea"/>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gn="just" eaLnBrk="1" hangingPunct="1">
              <a:lnSpc>
                <a:spcPct val="100000"/>
              </a:lnSpc>
              <a:buFont typeface="Wingdings" panose="05000000000000000000" charset="0"/>
              <a:buChar char="n"/>
            </a:pPr>
            <a:endParaRPr lang="zh-CN" altLang="en-US" dirty="0">
              <a:sym typeface="+mn-ea"/>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lgn="just" eaLnBrk="1" hangingPunct="1">
              <a:lnSpc>
                <a:spcPct val="100000"/>
              </a:lnSpc>
              <a:buFont typeface="Wingdings" panose="05000000000000000000" charset="0"/>
              <a:buNone/>
            </a:pPr>
            <a:endParaRPr lang="zh-CN" altLang="en-US" dirty="0">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smtClean="0"/>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smtClean="0"/>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smtClean="0"/>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smtClean="0"/>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8" name="内容占位符 17"/>
          <p:cNvSpPr>
            <a:spLocks noGrp="1"/>
          </p:cNvSpPr>
          <p:nvPr>
            <p:ph sz="quarter" idx="1"/>
          </p:nvPr>
        </p:nvSpPr>
        <p:spPr>
          <a:xfrm>
            <a:off x="304800" y="274320"/>
            <a:ext cx="5638800" cy="632764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smtClean="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smtClean="0"/>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smtClean="0"/>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smtClean="0"/>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smtClean="0"/>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8" name="内容占位符 17"/>
          <p:cNvSpPr>
            <a:spLocks noGrp="1"/>
          </p:cNvSpPr>
          <p:nvPr>
            <p:ph sz="quarter" idx="1"/>
          </p:nvPr>
        </p:nvSpPr>
        <p:spPr>
          <a:xfrm>
            <a:off x="304800" y="274320"/>
            <a:ext cx="5638800" cy="632764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smtClean="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4.webp"/></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5.webp"/></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17.webp"/><Relationship Id="rId1" Type="http://schemas.openxmlformats.org/officeDocument/2006/relationships/image" Target="../media/image16.webp"/></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8.webp"/></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20.webp"/><Relationship Id="rId1" Type="http://schemas.openxmlformats.org/officeDocument/2006/relationships/image" Target="../media/image19.webp"/></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1.webp"/></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23.webp"/><Relationship Id="rId1" Type="http://schemas.openxmlformats.org/officeDocument/2006/relationships/image" Target="../media/image22.webp"/></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24.webp"/></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26.webp"/><Relationship Id="rId1" Type="http://schemas.openxmlformats.org/officeDocument/2006/relationships/image" Target="../media/image25.webp"/></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7.webp"/></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28.webp"/></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9.webp"/></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30.webp"/></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xfrm>
            <a:off x="1325563" y="5013325"/>
            <a:ext cx="609600" cy="517525"/>
          </a:xfrm>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chemeClr val="bg1"/>
                </a:solidFill>
                <a:latin typeface="Arial" panose="020B0604020202020204" pitchFamily="34" charset="0"/>
                <a:ea typeface="楷体_GB2312" pitchFamily="49" charset="-122"/>
              </a:rPr>
            </a:fld>
            <a:endParaRPr lang="zh-CN" altLang="en-US" sz="1400" dirty="0">
              <a:solidFill>
                <a:schemeClr val="bg1"/>
              </a:solidFill>
              <a:latin typeface="Arial" panose="020B0604020202020204" pitchFamily="34" charset="0"/>
              <a:ea typeface="楷体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19" name="内容占位符 2"/>
          <p:cNvSpPr>
            <a:spLocks noGrp="1"/>
          </p:cNvSpPr>
          <p:nvPr>
            <p:ph sz="quarter" idx="1"/>
          </p:nvPr>
        </p:nvSpPr>
        <p:spPr/>
        <p:txBody>
          <a:bodyPr vert="horz" wrap="square" lIns="91440" tIns="45720" rIns="91440" bIns="45720" anchor="t" anchorCtr="0"/>
          <a:p>
            <a:pPr eaLnBrk="1" hangingPunct="1">
              <a:lnSpc>
                <a:spcPct val="200000"/>
              </a:lnSpc>
            </a:pPr>
            <a:r>
              <a:rPr lang="zh-CN" altLang="zh-CN" dirty="0">
                <a:sym typeface="+mn-ea"/>
              </a:rPr>
              <a:t>了解面向对象方法的分析和设计之间的关系</a:t>
            </a:r>
            <a:endParaRPr lang="zh-CN" altLang="zh-CN" b="1" dirty="0"/>
          </a:p>
          <a:p>
            <a:pPr eaLnBrk="1" hangingPunct="1">
              <a:lnSpc>
                <a:spcPct val="200000"/>
              </a:lnSpc>
            </a:pPr>
            <a:r>
              <a:rPr lang="zh-CN" altLang="zh-CN" dirty="0">
                <a:sym typeface="+mn-ea"/>
              </a:rPr>
              <a:t>掌握</a:t>
            </a:r>
            <a:r>
              <a:rPr lang="en-US" altLang="zh-CN" dirty="0">
                <a:sym typeface="+mn-ea"/>
              </a:rPr>
              <a:t>UML</a:t>
            </a:r>
            <a:r>
              <a:rPr lang="zh-CN" altLang="zh-CN" dirty="0">
                <a:sym typeface="+mn-ea"/>
              </a:rPr>
              <a:t>中类图的描述方法</a:t>
            </a:r>
            <a:endParaRPr lang="zh-CN" altLang="zh-CN" b="1" dirty="0"/>
          </a:p>
          <a:p>
            <a:pPr eaLnBrk="1" hangingPunct="1">
              <a:lnSpc>
                <a:spcPct val="200000"/>
              </a:lnSpc>
            </a:pPr>
            <a:r>
              <a:rPr lang="zh-CN" altLang="zh-CN" dirty="0">
                <a:sym typeface="+mn-ea"/>
              </a:rPr>
              <a:t>掌握类之间的关系</a:t>
            </a:r>
            <a:endParaRPr lang="zh-CN" altLang="zh-CN" b="1" dirty="0"/>
          </a:p>
          <a:p>
            <a:pPr eaLnBrk="1" hangingPunct="1">
              <a:lnSpc>
                <a:spcPct val="200000"/>
              </a:lnSpc>
            </a:pPr>
            <a:r>
              <a:rPr lang="zh-CN" altLang="zh-CN" dirty="0">
                <a:sym typeface="+mn-ea"/>
              </a:rPr>
              <a:t>掌握</a:t>
            </a:r>
            <a:r>
              <a:rPr lang="en-US" altLang="zh-CN" dirty="0">
                <a:sym typeface="+mn-ea"/>
              </a:rPr>
              <a:t>UML</a:t>
            </a:r>
            <a:r>
              <a:rPr lang="zh-CN" altLang="zh-CN" dirty="0">
                <a:sym typeface="+mn-ea"/>
              </a:rPr>
              <a:t>中对象图的描述方法</a:t>
            </a:r>
            <a:endParaRPr lang="zh-CN" altLang="zh-CN" b="1" dirty="0"/>
          </a:p>
          <a:p>
            <a:pPr eaLnBrk="1" hangingPunct="1">
              <a:lnSpc>
                <a:spcPct val="200000"/>
              </a:lnSpc>
            </a:pPr>
            <a:r>
              <a:rPr lang="zh-CN" altLang="zh-CN" dirty="0">
                <a:sym typeface="+mn-ea"/>
              </a:rPr>
              <a:t>掌握接口和包图的描述方法</a:t>
            </a:r>
            <a:endParaRPr lang="zh-CN" altLang="en-US" dirty="0">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19"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静态建模是指对象之间通过属性互相联系，而这些关系不随时间而转移。</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的静态建模机制包括：类图、对象图、（包图）、构件图 、配置图。</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类和对象的建模，是</a:t>
            </a:r>
            <a:r>
              <a:rPr lang="en-US" altLang="zh-CN" dirty="0">
                <a:ea typeface="宋体" panose="02010600030101010101" pitchFamily="2" charset="-122"/>
              </a:rPr>
              <a:t>UML</a:t>
            </a:r>
            <a:r>
              <a:rPr lang="zh-CN" altLang="en-US" dirty="0">
                <a:ea typeface="宋体" panose="02010600030101010101" pitchFamily="2" charset="-122"/>
              </a:rPr>
              <a:t>建模的基础。系统中的类和对象模型描述了系统的</a:t>
            </a:r>
            <a:r>
              <a:rPr lang="zh-CN" altLang="en-US" dirty="0">
                <a:solidFill>
                  <a:srgbClr val="FF0000"/>
                </a:solidFill>
                <a:ea typeface="宋体" panose="02010600030101010101" pitchFamily="2" charset="-122"/>
              </a:rPr>
              <a:t>静态</a:t>
            </a:r>
            <a:r>
              <a:rPr lang="zh-CN" altLang="en-US" dirty="0">
                <a:ea typeface="宋体" panose="02010600030101010101" pitchFamily="2" charset="-122"/>
              </a:rPr>
              <a:t>结构，在</a:t>
            </a:r>
            <a:r>
              <a:rPr lang="en-US" altLang="zh-CN" dirty="0">
                <a:ea typeface="宋体" panose="02010600030101010101" pitchFamily="2" charset="-122"/>
              </a:rPr>
              <a:t>UML</a:t>
            </a:r>
            <a:r>
              <a:rPr lang="zh-CN" altLang="en-US" dirty="0">
                <a:ea typeface="宋体" panose="02010600030101010101" pitchFamily="2" charset="-122"/>
              </a:rPr>
              <a:t>中用类图和对象图来表示。 </a:t>
            </a:r>
            <a:endParaRPr lang="zh-CN" altLang="en-US" dirty="0">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0243"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类图</a:t>
            </a:r>
            <a:r>
              <a:rPr lang="zh-CN" altLang="en-US" dirty="0">
                <a:ea typeface="宋体" panose="02010600030101010101" pitchFamily="2" charset="-122"/>
              </a:rPr>
              <a:t>由系统中使用的类以及它们之间的关系组成。</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类图是一种静态模型，是其它图的基础。</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一个系统可以有多张类图，一个类也可出现在几张类图中。</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对象图</a:t>
            </a:r>
            <a:r>
              <a:rPr lang="zh-CN" altLang="en-US" dirty="0">
                <a:ea typeface="宋体" panose="02010600030101010101" pitchFamily="2" charset="-122"/>
              </a:rPr>
              <a:t>是类图的一个实例，它描述某一时刻类图中类的特定实例以及这些实例之间的特定链接。</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对象图使用了与类图相同的符号，只是在对象名下附加下划线，对象名后可接以冒号和类名，即</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    </a:t>
            </a:r>
            <a:r>
              <a:rPr lang="en-US" altLang="zh-CN" u="sng" dirty="0">
                <a:solidFill>
                  <a:srgbClr val="FF0000"/>
                </a:solidFill>
                <a:ea typeface="宋体" panose="02010600030101010101" pitchFamily="2" charset="-122"/>
              </a:rPr>
              <a:t>object-name:class-name</a:t>
            </a:r>
            <a:endParaRPr lang="zh-CN" altLang="en-US" dirty="0">
              <a:ea typeface="宋体" panose="02010600030101010101" pitchFamily="2" charset="-122"/>
            </a:endParaRPr>
          </a:p>
        </p:txBody>
      </p:sp>
      <p:sp>
        <p:nvSpPr>
          <p:cNvPr id="1024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024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21509" name="Rectangle 3"/>
          <p:cNvSpPr>
            <a:spLocks noGrp="1"/>
          </p:cNvSpPr>
          <p:nvPr>
            <p:ph idx="1"/>
          </p:nvPr>
        </p:nvSpPr>
        <p:spPr>
          <a:xfrm>
            <a:off x="539750" y="1700530"/>
            <a:ext cx="7735888" cy="4114800"/>
          </a:xfrm>
        </p:spPr>
        <p:txBody>
          <a:bodyPr vert="horz" wrap="square" lIns="91440" tIns="45720" rIns="91440" bIns="45720" anchor="t" anchorCtr="0"/>
          <a:p>
            <a:pPr lvl="1" eaLnBrk="1" hangingPunct="1">
              <a:lnSpc>
                <a:spcPct val="90000"/>
              </a:lnSpc>
              <a:spcBef>
                <a:spcPct val="25000"/>
              </a:spcBef>
            </a:pPr>
            <a:r>
              <a:rPr lang="zh-CN" altLang="en-US" sz="2000" b="1" dirty="0"/>
              <a:t>名称</a:t>
            </a:r>
            <a:r>
              <a:rPr lang="en-US" altLang="zh-CN" sz="2000" b="1" dirty="0"/>
              <a:t>:</a:t>
            </a:r>
            <a:endParaRPr lang="en-US" altLang="zh-CN" sz="2000" b="1" dirty="0"/>
          </a:p>
          <a:p>
            <a:pPr lvl="2" eaLnBrk="1" hangingPunct="1">
              <a:lnSpc>
                <a:spcPct val="90000"/>
              </a:lnSpc>
              <a:spcBef>
                <a:spcPct val="25000"/>
              </a:spcBef>
            </a:pPr>
            <a:r>
              <a:rPr lang="zh-CN" altLang="en-US" sz="1800" b="1" dirty="0"/>
              <a:t>类：类名是一个有意义的标识符</a:t>
            </a:r>
            <a:endParaRPr lang="zh-CN" altLang="en-US" sz="1800" b="1" dirty="0"/>
          </a:p>
          <a:p>
            <a:pPr lvl="2" eaLnBrk="1" hangingPunct="1">
              <a:lnSpc>
                <a:spcPct val="90000"/>
              </a:lnSpc>
              <a:spcBef>
                <a:spcPct val="25000"/>
              </a:spcBef>
            </a:pPr>
            <a:r>
              <a:rPr lang="zh-CN" altLang="en-US" sz="1800" b="1" dirty="0"/>
              <a:t>对象：对象名加下划线，对象名后面可以接冒号和类名</a:t>
            </a:r>
            <a:endParaRPr lang="zh-CN" altLang="en-US" sz="1800" b="1" dirty="0"/>
          </a:p>
          <a:p>
            <a:pPr lvl="2" eaLnBrk="1" hangingPunct="1">
              <a:lnSpc>
                <a:spcPct val="90000"/>
              </a:lnSpc>
              <a:spcBef>
                <a:spcPct val="25000"/>
              </a:spcBef>
            </a:pPr>
            <a:endParaRPr lang="zh-CN" altLang="en-US" sz="1800" b="1" dirty="0"/>
          </a:p>
          <a:p>
            <a:pPr lvl="1" eaLnBrk="1" hangingPunct="1">
              <a:lnSpc>
                <a:spcPct val="90000"/>
              </a:lnSpc>
              <a:spcBef>
                <a:spcPct val="25000"/>
              </a:spcBef>
            </a:pPr>
            <a:r>
              <a:rPr lang="zh-CN" altLang="en-US" sz="2000" b="1" dirty="0"/>
              <a:t>属性</a:t>
            </a:r>
            <a:endParaRPr lang="zh-CN" altLang="en-US" sz="2000" b="1" dirty="0"/>
          </a:p>
          <a:p>
            <a:pPr lvl="2" eaLnBrk="1" hangingPunct="1">
              <a:lnSpc>
                <a:spcPct val="90000"/>
              </a:lnSpc>
              <a:spcBef>
                <a:spcPct val="25000"/>
              </a:spcBef>
            </a:pPr>
            <a:r>
              <a:rPr lang="zh-CN" altLang="en-US" sz="1800" b="1" dirty="0"/>
              <a:t>类：定义属性的类型和属性名</a:t>
            </a:r>
            <a:endParaRPr lang="zh-CN" altLang="en-US" sz="1800" b="1" dirty="0"/>
          </a:p>
          <a:p>
            <a:pPr lvl="2" eaLnBrk="1" hangingPunct="1">
              <a:lnSpc>
                <a:spcPct val="90000"/>
              </a:lnSpc>
              <a:spcBef>
                <a:spcPct val="25000"/>
              </a:spcBef>
            </a:pPr>
            <a:r>
              <a:rPr lang="zh-CN" altLang="en-US" sz="1800" b="1" dirty="0"/>
              <a:t>对象：与类的属性名相同，但是有具体值</a:t>
            </a:r>
            <a:endParaRPr lang="zh-CN" altLang="en-US" sz="1800" b="1" dirty="0"/>
          </a:p>
          <a:p>
            <a:pPr lvl="2" eaLnBrk="1" hangingPunct="1">
              <a:lnSpc>
                <a:spcPct val="90000"/>
              </a:lnSpc>
              <a:spcBef>
                <a:spcPct val="25000"/>
              </a:spcBef>
            </a:pPr>
            <a:endParaRPr lang="zh-CN" altLang="en-US" sz="1800" b="1" dirty="0"/>
          </a:p>
          <a:p>
            <a:pPr lvl="1" eaLnBrk="1" hangingPunct="1">
              <a:lnSpc>
                <a:spcPct val="90000"/>
              </a:lnSpc>
              <a:spcBef>
                <a:spcPct val="25000"/>
              </a:spcBef>
            </a:pPr>
            <a:r>
              <a:rPr lang="zh-CN" altLang="en-US" sz="2000" b="1" dirty="0"/>
              <a:t>操作（方法）</a:t>
            </a:r>
            <a:endParaRPr lang="zh-CN" altLang="en-US" sz="2000" b="1" dirty="0"/>
          </a:p>
          <a:p>
            <a:pPr lvl="2" eaLnBrk="1" hangingPunct="1">
              <a:lnSpc>
                <a:spcPct val="90000"/>
              </a:lnSpc>
              <a:spcBef>
                <a:spcPct val="25000"/>
              </a:spcBef>
            </a:pPr>
            <a:r>
              <a:rPr lang="zh-CN" altLang="en-US" sz="1800" b="1" dirty="0"/>
              <a:t>类：定义操作（函数）</a:t>
            </a:r>
            <a:r>
              <a:rPr lang="en-US" altLang="zh-CN" sz="1800" b="1" dirty="0"/>
              <a:t>——</a:t>
            </a:r>
            <a:r>
              <a:rPr lang="zh-CN" altLang="en-US" sz="1800" b="1" dirty="0"/>
              <a:t>返回类型、操作名、传递参数。</a:t>
            </a:r>
            <a:endParaRPr lang="zh-CN" altLang="en-US" sz="1800" b="1" dirty="0"/>
          </a:p>
          <a:p>
            <a:pPr lvl="2" eaLnBrk="1" hangingPunct="1">
              <a:lnSpc>
                <a:spcPct val="90000"/>
              </a:lnSpc>
              <a:spcBef>
                <a:spcPct val="25000"/>
              </a:spcBef>
            </a:pPr>
            <a:r>
              <a:rPr lang="zh-CN" altLang="en-US" sz="1800" b="1" dirty="0"/>
              <a:t>对象：与类中的操作定义相同</a:t>
            </a:r>
            <a:endParaRPr lang="zh-CN" altLang="en-US" sz="1800" b="1" dirty="0"/>
          </a:p>
          <a:p>
            <a:pPr eaLnBrk="1" hangingPunct="1">
              <a:lnSpc>
                <a:spcPct val="90000"/>
              </a:lnSpc>
              <a:spcBef>
                <a:spcPct val="25000"/>
              </a:spcBef>
              <a:buNone/>
            </a:pPr>
            <a:endParaRPr lang="en-US" altLang="zh-CN" sz="21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1267"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1268" name="Group 3"/>
          <p:cNvGrpSpPr/>
          <p:nvPr/>
        </p:nvGrpSpPr>
        <p:grpSpPr>
          <a:xfrm>
            <a:off x="1331913" y="1628775"/>
            <a:ext cx="5903912" cy="4464050"/>
            <a:chOff x="816" y="528"/>
            <a:chExt cx="4320" cy="3168"/>
          </a:xfrm>
        </p:grpSpPr>
        <p:grpSp>
          <p:nvGrpSpPr>
            <p:cNvPr id="11269" name="Group 4"/>
            <p:cNvGrpSpPr/>
            <p:nvPr/>
          </p:nvGrpSpPr>
          <p:grpSpPr>
            <a:xfrm>
              <a:off x="816" y="2352"/>
              <a:ext cx="1728" cy="1104"/>
              <a:chOff x="3780" y="2064"/>
              <a:chExt cx="1260" cy="1404"/>
            </a:xfrm>
          </p:grpSpPr>
          <p:sp>
            <p:nvSpPr>
              <p:cNvPr id="11295" name="Rectangle 5"/>
              <p:cNvSpPr/>
              <p:nvPr/>
            </p:nvSpPr>
            <p:spPr>
              <a:xfrm>
                <a:off x="3780" y="2064"/>
                <a:ext cx="1260" cy="468"/>
              </a:xfrm>
              <a:prstGeom prst="rect">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ct val="0"/>
                  </a:spcBef>
                  <a:buClrTx/>
                  <a:buSzTx/>
                  <a:buFontTx/>
                  <a:buNone/>
                </a:pPr>
                <a:r>
                  <a:rPr lang="en-US" altLang="zh-CN" b="0" dirty="0">
                    <a:latin typeface="Arial" panose="020B0604020202020204" pitchFamily="34" charset="0"/>
                    <a:ea typeface="楷体_GB2312" pitchFamily="49" charset="-122"/>
                  </a:rPr>
                  <a:t> </a:t>
                </a:r>
                <a:r>
                  <a:rPr lang="zh-CN" altLang="en-US" b="0" u="sng" dirty="0">
                    <a:latin typeface="Arial" panose="020B0604020202020204" pitchFamily="34" charset="0"/>
                    <a:ea typeface="楷体_GB2312" pitchFamily="49" charset="-122"/>
                  </a:rPr>
                  <a:t>对象名 ：类名</a:t>
                </a:r>
                <a:endParaRPr lang="zh-CN" altLang="en-US" b="0" u="sng" dirty="0">
                  <a:latin typeface="Arial" panose="020B0604020202020204" pitchFamily="34" charset="0"/>
                  <a:ea typeface="楷体_GB2312" pitchFamily="49" charset="-122"/>
                </a:endParaRPr>
              </a:p>
            </p:txBody>
          </p:sp>
          <p:sp>
            <p:nvSpPr>
              <p:cNvPr id="11296" name="Rectangle 6"/>
              <p:cNvSpPr/>
              <p:nvPr/>
            </p:nvSpPr>
            <p:spPr>
              <a:xfrm>
                <a:off x="3780" y="2532"/>
                <a:ext cx="1260" cy="468"/>
              </a:xfrm>
              <a:prstGeom prst="rect">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ct val="0"/>
                  </a:spcBef>
                  <a:buClrTx/>
                  <a:buSzTx/>
                  <a:buFontTx/>
                  <a:buNone/>
                </a:pPr>
                <a:r>
                  <a:rPr lang="zh-CN" altLang="en-US" b="0" dirty="0">
                    <a:latin typeface="Arial" panose="020B0604020202020204" pitchFamily="34" charset="0"/>
                    <a:ea typeface="楷体_GB2312" pitchFamily="49" charset="-122"/>
                  </a:rPr>
                  <a:t>属性名 </a:t>
                </a:r>
                <a:r>
                  <a:rPr lang="en-US" altLang="zh-CN" b="0" dirty="0">
                    <a:latin typeface="Arial" panose="020B0604020202020204" pitchFamily="34" charset="0"/>
                    <a:ea typeface="楷体_GB2312" pitchFamily="49" charset="-122"/>
                  </a:rPr>
                  <a:t>= </a:t>
                </a:r>
                <a:r>
                  <a:rPr lang="zh-CN" altLang="en-US" b="0" dirty="0">
                    <a:latin typeface="Arial" panose="020B0604020202020204" pitchFamily="34" charset="0"/>
                    <a:ea typeface="楷体_GB2312" pitchFamily="49" charset="-122"/>
                  </a:rPr>
                  <a:t>值</a:t>
                </a:r>
                <a:endParaRPr lang="zh-CN" altLang="en-US" b="0" dirty="0">
                  <a:latin typeface="Arial" panose="020B0604020202020204" pitchFamily="34" charset="0"/>
                  <a:ea typeface="楷体_GB2312" pitchFamily="49" charset="-122"/>
                </a:endParaRPr>
              </a:p>
            </p:txBody>
          </p:sp>
          <p:sp>
            <p:nvSpPr>
              <p:cNvPr id="11297" name="Rectangle 7"/>
              <p:cNvSpPr/>
              <p:nvPr/>
            </p:nvSpPr>
            <p:spPr>
              <a:xfrm>
                <a:off x="3780" y="3000"/>
                <a:ext cx="1260" cy="468"/>
              </a:xfrm>
              <a:prstGeom prst="rect">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ct val="0"/>
                  </a:spcBef>
                  <a:buClrTx/>
                  <a:buSzTx/>
                  <a:buFontTx/>
                  <a:buNone/>
                </a:pPr>
                <a:r>
                  <a:rPr lang="zh-CN" altLang="en-US" b="0" dirty="0">
                    <a:latin typeface="Arial" panose="020B0604020202020204" pitchFamily="34" charset="0"/>
                    <a:ea typeface="楷体_GB2312" pitchFamily="49" charset="-122"/>
                  </a:rPr>
                  <a:t>操作</a:t>
                </a:r>
                <a:endParaRPr lang="zh-CN" altLang="en-US" b="0" dirty="0">
                  <a:latin typeface="Arial" panose="020B0604020202020204" pitchFamily="34" charset="0"/>
                  <a:ea typeface="楷体_GB2312" pitchFamily="49" charset="-122"/>
                </a:endParaRPr>
              </a:p>
            </p:txBody>
          </p:sp>
        </p:grpSp>
        <p:grpSp>
          <p:nvGrpSpPr>
            <p:cNvPr id="11270" name="Group 8"/>
            <p:cNvGrpSpPr/>
            <p:nvPr/>
          </p:nvGrpSpPr>
          <p:grpSpPr>
            <a:xfrm>
              <a:off x="816" y="672"/>
              <a:ext cx="1728" cy="1104"/>
              <a:chOff x="3780" y="2064"/>
              <a:chExt cx="1260" cy="1404"/>
            </a:xfrm>
          </p:grpSpPr>
          <p:sp>
            <p:nvSpPr>
              <p:cNvPr id="11292" name="Rectangle 9"/>
              <p:cNvSpPr/>
              <p:nvPr/>
            </p:nvSpPr>
            <p:spPr>
              <a:xfrm>
                <a:off x="3780" y="2064"/>
                <a:ext cx="1260" cy="468"/>
              </a:xfrm>
              <a:prstGeom prst="rect">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ct val="0"/>
                  </a:spcBef>
                  <a:buClrTx/>
                  <a:buSzTx/>
                  <a:buFontTx/>
                  <a:buNone/>
                </a:pPr>
                <a:r>
                  <a:rPr lang="zh-CN" altLang="en-US" b="0" dirty="0">
                    <a:latin typeface="Arial" panose="020B0604020202020204" pitchFamily="34" charset="0"/>
                    <a:ea typeface="楷体_GB2312" pitchFamily="49" charset="-122"/>
                  </a:rPr>
                  <a:t>类名</a:t>
                </a:r>
                <a:endParaRPr lang="zh-CN" altLang="en-US" b="0" dirty="0">
                  <a:latin typeface="Arial" panose="020B0604020202020204" pitchFamily="34" charset="0"/>
                  <a:ea typeface="楷体_GB2312" pitchFamily="49" charset="-122"/>
                </a:endParaRPr>
              </a:p>
            </p:txBody>
          </p:sp>
          <p:sp>
            <p:nvSpPr>
              <p:cNvPr id="11293" name="Rectangle 10"/>
              <p:cNvSpPr/>
              <p:nvPr/>
            </p:nvSpPr>
            <p:spPr>
              <a:xfrm>
                <a:off x="3780" y="2532"/>
                <a:ext cx="1260" cy="468"/>
              </a:xfrm>
              <a:prstGeom prst="rect">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ct val="0"/>
                  </a:spcBef>
                  <a:buClrTx/>
                  <a:buSzTx/>
                  <a:buFontTx/>
                  <a:buNone/>
                </a:pPr>
                <a:r>
                  <a:rPr lang="zh-CN" altLang="en-US" b="0" dirty="0">
                    <a:latin typeface="Arial" panose="020B0604020202020204" pitchFamily="34" charset="0"/>
                    <a:ea typeface="楷体_GB2312" pitchFamily="49" charset="-122"/>
                  </a:rPr>
                  <a:t>属性名 ：类型</a:t>
                </a:r>
                <a:endParaRPr lang="zh-CN" altLang="en-US" b="0" dirty="0">
                  <a:latin typeface="Arial" panose="020B0604020202020204" pitchFamily="34" charset="0"/>
                  <a:ea typeface="楷体_GB2312" pitchFamily="49" charset="-122"/>
                </a:endParaRPr>
              </a:p>
            </p:txBody>
          </p:sp>
          <p:sp>
            <p:nvSpPr>
              <p:cNvPr id="11294" name="Rectangle 11"/>
              <p:cNvSpPr/>
              <p:nvPr/>
            </p:nvSpPr>
            <p:spPr>
              <a:xfrm>
                <a:off x="3780" y="3000"/>
                <a:ext cx="1260" cy="468"/>
              </a:xfrm>
              <a:prstGeom prst="rect">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ct val="0"/>
                  </a:spcBef>
                  <a:buClrTx/>
                  <a:buSzTx/>
                  <a:buFontTx/>
                  <a:buNone/>
                </a:pPr>
                <a:r>
                  <a:rPr lang="zh-CN" altLang="en-US" b="0" dirty="0">
                    <a:latin typeface="Arial" panose="020B0604020202020204" pitchFamily="34" charset="0"/>
                    <a:ea typeface="楷体_GB2312" pitchFamily="49" charset="-122"/>
                  </a:rPr>
                  <a:t>操作</a:t>
                </a:r>
                <a:endParaRPr lang="zh-CN" altLang="en-US" b="0" dirty="0">
                  <a:latin typeface="Arial" panose="020B0604020202020204" pitchFamily="34" charset="0"/>
                  <a:ea typeface="楷体_GB2312" pitchFamily="49" charset="-122"/>
                </a:endParaRPr>
              </a:p>
            </p:txBody>
          </p:sp>
        </p:grpSp>
        <p:grpSp>
          <p:nvGrpSpPr>
            <p:cNvPr id="11271" name="Group 12"/>
            <p:cNvGrpSpPr/>
            <p:nvPr/>
          </p:nvGrpSpPr>
          <p:grpSpPr>
            <a:xfrm>
              <a:off x="3168" y="528"/>
              <a:ext cx="1968" cy="3168"/>
              <a:chOff x="3168" y="528"/>
              <a:chExt cx="1968" cy="3168"/>
            </a:xfrm>
          </p:grpSpPr>
          <p:sp>
            <p:nvSpPr>
              <p:cNvPr id="11272" name="Text Box 13"/>
              <p:cNvSpPr txBox="1"/>
              <p:nvPr/>
            </p:nvSpPr>
            <p:spPr>
              <a:xfrm>
                <a:off x="3168" y="1104"/>
                <a:ext cx="1152" cy="336"/>
              </a:xfrm>
              <a:prstGeom prst="rect">
                <a:avLst/>
              </a:prstGeom>
              <a:noFill/>
              <a:ln w="38100">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ts val="300"/>
                  </a:spcBef>
                  <a:buClrTx/>
                  <a:buSzTx/>
                  <a:buFontTx/>
                  <a:buNone/>
                </a:pPr>
                <a:r>
                  <a:rPr lang="zh-CN" altLang="en-US" b="0" dirty="0">
                    <a:latin typeface="Arial" panose="020B0604020202020204" pitchFamily="34" charset="0"/>
                    <a:ea typeface="楷体_GB2312" pitchFamily="49" charset="-122"/>
                  </a:rPr>
                  <a:t>聚集</a:t>
                </a:r>
                <a:endParaRPr lang="zh-CN" altLang="en-US" b="0" dirty="0">
                  <a:latin typeface="Arial" panose="020B0604020202020204" pitchFamily="34" charset="0"/>
                  <a:ea typeface="楷体_GB2312" pitchFamily="49" charset="-122"/>
                </a:endParaRPr>
              </a:p>
            </p:txBody>
          </p:sp>
          <p:grpSp>
            <p:nvGrpSpPr>
              <p:cNvPr id="11273" name="Group 14"/>
              <p:cNvGrpSpPr/>
              <p:nvPr/>
            </p:nvGrpSpPr>
            <p:grpSpPr>
              <a:xfrm>
                <a:off x="4320" y="1200"/>
                <a:ext cx="816" cy="144"/>
                <a:chOff x="4224" y="960"/>
                <a:chExt cx="654" cy="74"/>
              </a:xfrm>
            </p:grpSpPr>
            <p:sp>
              <p:nvSpPr>
                <p:cNvPr id="11290" name="AutoShape 15"/>
                <p:cNvSpPr/>
                <p:nvPr/>
              </p:nvSpPr>
              <p:spPr>
                <a:xfrm>
                  <a:off x="4796" y="960"/>
                  <a:ext cx="82" cy="74"/>
                </a:xfrm>
                <a:prstGeom prst="diamond">
                  <a:avLst/>
                </a:prstGeom>
                <a:solidFill>
                  <a:srgbClr val="FFFFFF"/>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b="0" dirty="0">
                    <a:latin typeface="Arial" panose="020B0604020202020204" pitchFamily="34" charset="0"/>
                    <a:ea typeface="楷体_GB2312" pitchFamily="49" charset="-122"/>
                  </a:endParaRPr>
                </a:p>
              </p:txBody>
            </p:sp>
            <p:sp>
              <p:nvSpPr>
                <p:cNvPr id="11291" name="Line 16"/>
                <p:cNvSpPr/>
                <p:nvPr/>
              </p:nvSpPr>
              <p:spPr>
                <a:xfrm>
                  <a:off x="4224" y="1008"/>
                  <a:ext cx="579" cy="0"/>
                </a:xfrm>
                <a:prstGeom prst="line">
                  <a:avLst/>
                </a:prstGeom>
                <a:ln w="38100" cap="flat" cmpd="sng">
                  <a:solidFill>
                    <a:srgbClr val="000000"/>
                  </a:solidFill>
                  <a:prstDash val="solid"/>
                  <a:headEnd type="none" w="med" len="med"/>
                  <a:tailEnd type="none" w="med" len="med"/>
                </a:ln>
              </p:spPr>
            </p:sp>
          </p:grpSp>
          <p:grpSp>
            <p:nvGrpSpPr>
              <p:cNvPr id="11274" name="Group 17"/>
              <p:cNvGrpSpPr/>
              <p:nvPr/>
            </p:nvGrpSpPr>
            <p:grpSpPr>
              <a:xfrm>
                <a:off x="4320" y="1776"/>
                <a:ext cx="816" cy="96"/>
                <a:chOff x="4224" y="960"/>
                <a:chExt cx="654" cy="74"/>
              </a:xfrm>
            </p:grpSpPr>
            <p:sp>
              <p:nvSpPr>
                <p:cNvPr id="11288" name="AutoShape 18"/>
                <p:cNvSpPr/>
                <p:nvPr/>
              </p:nvSpPr>
              <p:spPr>
                <a:xfrm>
                  <a:off x="4796" y="960"/>
                  <a:ext cx="82" cy="74"/>
                </a:xfrm>
                <a:prstGeom prst="diamond">
                  <a:avLst/>
                </a:prstGeom>
                <a:solidFill>
                  <a:schemeClr val="tx1"/>
                </a:solidFill>
                <a:ln w="38100" cap="flat" cmpd="sng">
                  <a:solidFill>
                    <a:srgbClr val="000000"/>
                  </a:solidFill>
                  <a:prstDash val="solid"/>
                  <a:miter/>
                  <a:headEnd type="none" w="med" len="med"/>
                  <a:tailEnd type="none" w="med" len="med"/>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b="0" dirty="0">
                    <a:latin typeface="Arial" panose="020B0604020202020204" pitchFamily="34" charset="0"/>
                    <a:ea typeface="楷体_GB2312" pitchFamily="49" charset="-122"/>
                  </a:endParaRPr>
                </a:p>
              </p:txBody>
            </p:sp>
            <p:sp>
              <p:nvSpPr>
                <p:cNvPr id="11289" name="Line 19"/>
                <p:cNvSpPr/>
                <p:nvPr/>
              </p:nvSpPr>
              <p:spPr>
                <a:xfrm>
                  <a:off x="4224" y="1008"/>
                  <a:ext cx="579" cy="0"/>
                </a:xfrm>
                <a:prstGeom prst="line">
                  <a:avLst/>
                </a:prstGeom>
                <a:ln w="38100" cap="flat" cmpd="sng">
                  <a:solidFill>
                    <a:srgbClr val="000000"/>
                  </a:solidFill>
                  <a:prstDash val="solid"/>
                  <a:headEnd type="none" w="med" len="med"/>
                  <a:tailEnd type="none" w="med" len="med"/>
                </a:ln>
              </p:spPr>
            </p:sp>
          </p:grpSp>
          <p:sp>
            <p:nvSpPr>
              <p:cNvPr id="11275" name="Text Box 20"/>
              <p:cNvSpPr txBox="1"/>
              <p:nvPr/>
            </p:nvSpPr>
            <p:spPr>
              <a:xfrm>
                <a:off x="3168" y="1632"/>
                <a:ext cx="1152" cy="336"/>
              </a:xfrm>
              <a:prstGeom prst="rect">
                <a:avLst/>
              </a:prstGeom>
              <a:noFill/>
              <a:ln w="38100">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ts val="300"/>
                  </a:spcBef>
                  <a:buClrTx/>
                  <a:buSzTx/>
                  <a:buFontTx/>
                  <a:buNone/>
                </a:pPr>
                <a:r>
                  <a:rPr lang="zh-CN" altLang="en-US" b="0" dirty="0">
                    <a:latin typeface="Arial" panose="020B0604020202020204" pitchFamily="34" charset="0"/>
                    <a:ea typeface="楷体_GB2312" pitchFamily="49" charset="-122"/>
                  </a:rPr>
                  <a:t>组合</a:t>
                </a:r>
                <a:endParaRPr lang="zh-CN" altLang="en-US" b="0" dirty="0">
                  <a:latin typeface="Arial" panose="020B0604020202020204" pitchFamily="34" charset="0"/>
                  <a:ea typeface="楷体_GB2312" pitchFamily="49" charset="-122"/>
                </a:endParaRPr>
              </a:p>
            </p:txBody>
          </p:sp>
          <p:sp>
            <p:nvSpPr>
              <p:cNvPr id="11276" name="Line 21"/>
              <p:cNvSpPr/>
              <p:nvPr/>
            </p:nvSpPr>
            <p:spPr>
              <a:xfrm>
                <a:off x="4320" y="672"/>
                <a:ext cx="816" cy="0"/>
              </a:xfrm>
              <a:prstGeom prst="line">
                <a:avLst/>
              </a:prstGeom>
              <a:ln w="38100" cap="flat" cmpd="sng">
                <a:solidFill>
                  <a:srgbClr val="000000"/>
                </a:solidFill>
                <a:prstDash val="solid"/>
                <a:headEnd type="none" w="med" len="med"/>
                <a:tailEnd type="none" w="med" len="med"/>
              </a:ln>
            </p:spPr>
          </p:sp>
          <p:sp>
            <p:nvSpPr>
              <p:cNvPr id="11277" name="Text Box 22"/>
              <p:cNvSpPr txBox="1"/>
              <p:nvPr/>
            </p:nvSpPr>
            <p:spPr>
              <a:xfrm>
                <a:off x="3168" y="528"/>
                <a:ext cx="1152" cy="336"/>
              </a:xfrm>
              <a:prstGeom prst="rect">
                <a:avLst/>
              </a:prstGeom>
              <a:noFill/>
              <a:ln w="38100">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ts val="300"/>
                  </a:spcBef>
                  <a:buClrTx/>
                  <a:buSzTx/>
                  <a:buFontTx/>
                  <a:buNone/>
                </a:pPr>
                <a:r>
                  <a:rPr lang="zh-CN" altLang="en-US" b="0" dirty="0">
                    <a:latin typeface="Arial" panose="020B0604020202020204" pitchFamily="34" charset="0"/>
                    <a:ea typeface="楷体_GB2312" pitchFamily="49" charset="-122"/>
                  </a:rPr>
                  <a:t>关联</a:t>
                </a:r>
                <a:endParaRPr lang="zh-CN" altLang="en-US" b="0" dirty="0">
                  <a:latin typeface="Arial" panose="020B0604020202020204" pitchFamily="34" charset="0"/>
                  <a:ea typeface="楷体_GB2312" pitchFamily="49" charset="-122"/>
                </a:endParaRPr>
              </a:p>
            </p:txBody>
          </p:sp>
          <p:grpSp>
            <p:nvGrpSpPr>
              <p:cNvPr id="11278" name="Group 23"/>
              <p:cNvGrpSpPr/>
              <p:nvPr/>
            </p:nvGrpSpPr>
            <p:grpSpPr>
              <a:xfrm>
                <a:off x="4320" y="2352"/>
                <a:ext cx="816" cy="144"/>
                <a:chOff x="3582" y="11842"/>
                <a:chExt cx="1526" cy="105"/>
              </a:xfrm>
            </p:grpSpPr>
            <p:sp>
              <p:nvSpPr>
                <p:cNvPr id="11286" name="AutoShape 24"/>
                <p:cNvSpPr/>
                <p:nvPr/>
              </p:nvSpPr>
              <p:spPr>
                <a:xfrm rot="5400000" flipH="1">
                  <a:off x="4977" y="11816"/>
                  <a:ext cx="105" cy="156"/>
                </a:xfrm>
                <a:prstGeom prst="triangle">
                  <a:avLst>
                    <a:gd name="adj" fmla="val 50000"/>
                  </a:avLst>
                </a:prstGeom>
                <a:solidFill>
                  <a:srgbClr val="FFFFFF"/>
                </a:solidFill>
                <a:ln w="38100" cap="flat" cmpd="sng">
                  <a:solidFill>
                    <a:srgbClr val="000000"/>
                  </a:solidFill>
                  <a:prstDash val="solid"/>
                  <a:miter/>
                  <a:headEnd type="none" w="med" len="med"/>
                  <a:tailEnd type="none" w="med" len="med"/>
                </a:ln>
              </p:spPr>
              <p:txBody>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b="0" dirty="0">
                    <a:latin typeface="Arial" panose="020B0604020202020204" pitchFamily="34" charset="0"/>
                    <a:ea typeface="楷体_GB2312" pitchFamily="49" charset="-122"/>
                  </a:endParaRPr>
                </a:p>
              </p:txBody>
            </p:sp>
            <p:sp>
              <p:nvSpPr>
                <p:cNvPr id="11287" name="Line 25"/>
                <p:cNvSpPr/>
                <p:nvPr/>
              </p:nvSpPr>
              <p:spPr>
                <a:xfrm>
                  <a:off x="3582" y="11892"/>
                  <a:ext cx="1365" cy="0"/>
                </a:xfrm>
                <a:prstGeom prst="line">
                  <a:avLst/>
                </a:prstGeom>
                <a:ln w="38100" cap="flat" cmpd="sng">
                  <a:solidFill>
                    <a:srgbClr val="000000"/>
                  </a:solidFill>
                  <a:prstDash val="solid"/>
                  <a:headEnd type="none" w="med" len="med"/>
                  <a:tailEnd type="none" w="med" len="med"/>
                </a:ln>
              </p:spPr>
            </p:sp>
          </p:grpSp>
          <p:sp>
            <p:nvSpPr>
              <p:cNvPr id="11279" name="Text Box 26"/>
              <p:cNvSpPr txBox="1"/>
              <p:nvPr/>
            </p:nvSpPr>
            <p:spPr>
              <a:xfrm>
                <a:off x="3168" y="2256"/>
                <a:ext cx="1152" cy="336"/>
              </a:xfrm>
              <a:prstGeom prst="rect">
                <a:avLst/>
              </a:prstGeom>
              <a:noFill/>
              <a:ln w="38100">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r>
                  <a:rPr lang="zh-CN" altLang="en-US" b="0" dirty="0">
                    <a:latin typeface="Arial" panose="020B0604020202020204" pitchFamily="34" charset="0"/>
                    <a:ea typeface="楷体_GB2312" pitchFamily="49" charset="-122"/>
                  </a:rPr>
                  <a:t>泛化</a:t>
                </a:r>
                <a:endParaRPr lang="zh-CN" altLang="en-US" b="0" dirty="0">
                  <a:latin typeface="Arial" panose="020B0604020202020204" pitchFamily="34" charset="0"/>
                  <a:ea typeface="楷体_GB2312" pitchFamily="49" charset="-122"/>
                </a:endParaRPr>
              </a:p>
            </p:txBody>
          </p:sp>
          <p:sp>
            <p:nvSpPr>
              <p:cNvPr id="11280" name="Line 27"/>
              <p:cNvSpPr/>
              <p:nvPr/>
            </p:nvSpPr>
            <p:spPr>
              <a:xfrm>
                <a:off x="4320" y="2976"/>
                <a:ext cx="816" cy="0"/>
              </a:xfrm>
              <a:prstGeom prst="line">
                <a:avLst/>
              </a:prstGeom>
              <a:ln w="38100" cap="flat" cmpd="sng">
                <a:solidFill>
                  <a:srgbClr val="000000"/>
                </a:solidFill>
                <a:prstDash val="sysDot"/>
                <a:headEnd type="none" w="med" len="med"/>
                <a:tailEnd type="arrow" w="med" len="med"/>
              </a:ln>
            </p:spPr>
          </p:sp>
          <p:sp>
            <p:nvSpPr>
              <p:cNvPr id="11281" name="Text Box 28"/>
              <p:cNvSpPr txBox="1"/>
              <p:nvPr/>
            </p:nvSpPr>
            <p:spPr>
              <a:xfrm>
                <a:off x="3168" y="2832"/>
                <a:ext cx="1152" cy="336"/>
              </a:xfrm>
              <a:prstGeom prst="rect">
                <a:avLst/>
              </a:prstGeom>
              <a:noFill/>
              <a:ln w="38100">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ts val="300"/>
                  </a:spcBef>
                  <a:buClrTx/>
                  <a:buSzTx/>
                  <a:buFontTx/>
                  <a:buNone/>
                </a:pPr>
                <a:r>
                  <a:rPr lang="zh-CN" altLang="en-US" b="0" dirty="0">
                    <a:latin typeface="Arial" panose="020B0604020202020204" pitchFamily="34" charset="0"/>
                    <a:ea typeface="楷体_GB2312" pitchFamily="49" charset="-122"/>
                  </a:rPr>
                  <a:t>依赖</a:t>
                </a:r>
                <a:endParaRPr lang="zh-CN" altLang="en-US" b="0" dirty="0">
                  <a:latin typeface="Arial" panose="020B0604020202020204" pitchFamily="34" charset="0"/>
                  <a:ea typeface="楷体_GB2312" pitchFamily="49" charset="-122"/>
                </a:endParaRPr>
              </a:p>
            </p:txBody>
          </p:sp>
          <p:grpSp>
            <p:nvGrpSpPr>
              <p:cNvPr id="11282" name="Group 29"/>
              <p:cNvGrpSpPr/>
              <p:nvPr/>
            </p:nvGrpSpPr>
            <p:grpSpPr>
              <a:xfrm>
                <a:off x="4320" y="3456"/>
                <a:ext cx="816" cy="144"/>
                <a:chOff x="3648" y="2544"/>
                <a:chExt cx="768" cy="48"/>
              </a:xfrm>
            </p:grpSpPr>
            <p:sp>
              <p:nvSpPr>
                <p:cNvPr id="11284" name="AutoShape 30"/>
                <p:cNvSpPr/>
                <p:nvPr/>
              </p:nvSpPr>
              <p:spPr>
                <a:xfrm rot="5400000" flipH="1">
                  <a:off x="4352" y="2528"/>
                  <a:ext cx="48" cy="79"/>
                </a:xfrm>
                <a:prstGeom prst="triangle">
                  <a:avLst>
                    <a:gd name="adj" fmla="val 50000"/>
                  </a:avLst>
                </a:prstGeom>
                <a:solidFill>
                  <a:srgbClr val="FFFFFF"/>
                </a:solidFill>
                <a:ln w="38100" cap="flat" cmpd="sng">
                  <a:solidFill>
                    <a:srgbClr val="000000"/>
                  </a:solidFill>
                  <a:prstDash val="solid"/>
                  <a:miter/>
                  <a:headEnd type="none" w="med" len="med"/>
                  <a:tailEnd type="none" w="med" len="med"/>
                </a:ln>
              </p:spPr>
              <p:txBody>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b="0" dirty="0">
                    <a:latin typeface="Arial" panose="020B0604020202020204" pitchFamily="34" charset="0"/>
                    <a:ea typeface="楷体_GB2312" pitchFamily="49" charset="-122"/>
                  </a:endParaRPr>
                </a:p>
              </p:txBody>
            </p:sp>
            <p:sp>
              <p:nvSpPr>
                <p:cNvPr id="11285" name="Line 31"/>
                <p:cNvSpPr/>
                <p:nvPr/>
              </p:nvSpPr>
              <p:spPr>
                <a:xfrm>
                  <a:off x="3648" y="2567"/>
                  <a:ext cx="687" cy="0"/>
                </a:xfrm>
                <a:prstGeom prst="line">
                  <a:avLst/>
                </a:prstGeom>
                <a:ln w="38100" cap="flat" cmpd="sng">
                  <a:solidFill>
                    <a:srgbClr val="000000"/>
                  </a:solidFill>
                  <a:prstDash val="sysDot"/>
                  <a:headEnd type="none" w="med" len="med"/>
                  <a:tailEnd type="none" w="med" len="med"/>
                </a:ln>
              </p:spPr>
            </p:sp>
          </p:grpSp>
          <p:sp>
            <p:nvSpPr>
              <p:cNvPr id="11283" name="Text Box 32"/>
              <p:cNvSpPr txBox="1"/>
              <p:nvPr/>
            </p:nvSpPr>
            <p:spPr>
              <a:xfrm>
                <a:off x="3168" y="3360"/>
                <a:ext cx="1152" cy="336"/>
              </a:xfrm>
              <a:prstGeom prst="rect">
                <a:avLst/>
              </a:prstGeom>
              <a:noFill/>
              <a:ln w="38100">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lnSpc>
                    <a:spcPct val="88000"/>
                  </a:lnSpc>
                  <a:spcBef>
                    <a:spcPts val="300"/>
                  </a:spcBef>
                  <a:buClrTx/>
                  <a:buSzTx/>
                  <a:buFontTx/>
                  <a:buNone/>
                </a:pPr>
                <a:r>
                  <a:rPr lang="zh-CN" altLang="en-US" b="0" dirty="0">
                    <a:latin typeface="Arial" panose="020B0604020202020204" pitchFamily="34" charset="0"/>
                    <a:ea typeface="楷体_GB2312" pitchFamily="49" charset="-122"/>
                  </a:rPr>
                  <a:t>实现</a:t>
                </a:r>
                <a:endParaRPr lang="zh-CN" altLang="en-US" b="0" dirty="0">
                  <a:latin typeface="Arial" panose="020B0604020202020204" pitchFamily="34" charset="0"/>
                  <a:ea typeface="楷体_GB2312" pitchFamily="49" charset="-122"/>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5" name="内容占位符 2"/>
          <p:cNvSpPr>
            <a:spLocks noGrp="1"/>
          </p:cNvSpPr>
          <p:nvPr>
            <p:ph sz="quarter" idx="1"/>
          </p:nvPr>
        </p:nvSpPr>
        <p:spPr/>
        <p:txBody>
          <a:bodyPr vert="horz" wrap="square" lIns="91440" tIns="45720" rIns="91440" bIns="45720" anchor="t" anchorCtr="0"/>
          <a:p>
            <a:pPr marL="457200" indent="-457200" eaLnBrk="1" hangingPunct="1">
              <a:buClr>
                <a:schemeClr val="accent1"/>
              </a:buClr>
              <a:buSzPct val="70000"/>
              <a:buFont typeface="Century Schoolbook" panose="02040604050505020304" pitchFamily="18" charset="0"/>
              <a:buAutoNum type="arabicPeriod"/>
            </a:pPr>
            <a:r>
              <a:rPr lang="zh-CN" altLang="en-US" dirty="0">
                <a:ea typeface="宋体" panose="02010600030101010101" pitchFamily="2" charset="-122"/>
              </a:rPr>
              <a:t>确定和标识类：</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包括发现潜在对象、筛选对象、为对象分类，最后将同类型的对象抽象为类。</a:t>
            </a:r>
            <a:endParaRPr lang="en-US" altLang="zh-CN" dirty="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ea typeface="宋体" panose="02010600030101010101" pitchFamily="2" charset="-122"/>
              </a:rPr>
              <a:t>定义属性</a:t>
            </a:r>
            <a:endParaRPr lang="en-US" altLang="zh-CN" dirty="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ea typeface="宋体" panose="02010600030101010101" pitchFamily="2" charset="-122"/>
              </a:rPr>
              <a:t>定义操作</a:t>
            </a:r>
            <a:endParaRPr lang="zh-CN" altLang="en-US" dirty="0">
              <a:ea typeface="宋体" panose="02010600030101010101" pitchFamily="2" charset="-122"/>
            </a:endParaRPr>
          </a:p>
        </p:txBody>
      </p:sp>
      <p:sp>
        <p:nvSpPr>
          <p:cNvPr id="1331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a:xfrm>
            <a:off x="457200" y="1600200"/>
            <a:ext cx="7715250" cy="4873625"/>
          </a:xfrm>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定义属性</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语法格式：</a:t>
            </a:r>
            <a:r>
              <a:rPr lang="zh-CN" altLang="en-US" dirty="0">
                <a:solidFill>
                  <a:srgbClr val="FF0000"/>
                </a:solidFill>
                <a:ea typeface="宋体" panose="02010600030101010101" pitchFamily="2" charset="-122"/>
              </a:rPr>
              <a:t>可见性  属性名</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多重性</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：类型</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初始值</a:t>
            </a:r>
            <a:r>
              <a:rPr lang="en-US" altLang="zh-CN" dirty="0">
                <a:solidFill>
                  <a:srgbClr val="FF0000"/>
                </a:solidFill>
                <a:ea typeface="宋体" panose="02010600030101010101" pitchFamily="2" charset="-122"/>
              </a:rPr>
              <a:t>]</a:t>
            </a:r>
            <a:endParaRPr lang="en-US" altLang="zh-CN" dirty="0">
              <a:solidFill>
                <a:srgbClr val="FF000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规则：</a:t>
            </a:r>
            <a:endParaRPr lang="zh-CN" altLang="en-US" dirty="0">
              <a:ea typeface="宋体" panose="02010600030101010101" pitchFamily="2" charset="-122"/>
            </a:endParaRPr>
          </a:p>
          <a:p>
            <a:pPr eaLnBrk="1" hangingPunct="1">
              <a:buClr>
                <a:schemeClr val="accent1"/>
              </a:buClr>
              <a:buSzPct val="70000"/>
              <a:buFontTx/>
              <a:buAutoNum type="circleNumDbPlain"/>
            </a:pPr>
            <a:r>
              <a:rPr lang="zh-CN" altLang="en-US" dirty="0">
                <a:solidFill>
                  <a:srgbClr val="FF0000"/>
                </a:solidFill>
                <a:ea typeface="宋体" panose="02010600030101010101" pitchFamily="2" charset="-122"/>
              </a:rPr>
              <a:t>可见性</a:t>
            </a:r>
            <a:r>
              <a:rPr lang="zh-CN" altLang="en-US" dirty="0">
                <a:ea typeface="宋体" panose="02010600030101010101" pitchFamily="2" charset="-122"/>
              </a:rPr>
              <a:t>：可选项，描述了该属性在哪些范围内可以使用。</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en-US" altLang="zh-CN" sz="2000" dirty="0">
                <a:ea typeface="宋体" panose="02010600030101010101" pitchFamily="2" charset="-122"/>
              </a:rPr>
              <a:t>+</a:t>
            </a:r>
            <a:r>
              <a:rPr lang="zh-CN" altLang="en-US" sz="2000" dirty="0">
                <a:ea typeface="宋体" panose="02010600030101010101" pitchFamily="2" charset="-122"/>
              </a:rPr>
              <a:t>：表示</a:t>
            </a:r>
            <a:r>
              <a:rPr lang="zh-CN" altLang="en-US" sz="2000" dirty="0">
                <a:solidFill>
                  <a:srgbClr val="FF0000"/>
                </a:solidFill>
                <a:ea typeface="宋体" panose="02010600030101010101" pitchFamily="2" charset="-122"/>
              </a:rPr>
              <a:t>公有</a:t>
            </a:r>
            <a:r>
              <a:rPr lang="zh-CN" altLang="en-US" sz="2000" dirty="0">
                <a:ea typeface="宋体" panose="02010600030101010101" pitchFamily="2" charset="-122"/>
              </a:rPr>
              <a:t>属性，其它类可以访问（可见）；</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en-US" altLang="zh-CN" sz="2000" dirty="0">
                <a:ea typeface="宋体" panose="02010600030101010101" pitchFamily="2" charset="-122"/>
              </a:rPr>
              <a:t>-</a:t>
            </a:r>
            <a:r>
              <a:rPr lang="zh-CN" altLang="en-US" sz="2000" dirty="0">
                <a:ea typeface="宋体" panose="02010600030101010101" pitchFamily="2" charset="-122"/>
              </a:rPr>
              <a:t>：表示</a:t>
            </a:r>
            <a:r>
              <a:rPr lang="zh-CN" altLang="en-US" sz="2000" dirty="0">
                <a:solidFill>
                  <a:srgbClr val="FF0000"/>
                </a:solidFill>
                <a:ea typeface="宋体" panose="02010600030101010101" pitchFamily="2" charset="-122"/>
              </a:rPr>
              <a:t>私有</a:t>
            </a:r>
            <a:r>
              <a:rPr lang="zh-CN" altLang="en-US" sz="2000" dirty="0">
                <a:ea typeface="宋体" panose="02010600030101010101" pitchFamily="2" charset="-122"/>
              </a:rPr>
              <a:t>属性，不能被其他类访问（不可见），可缺省；</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en-US" altLang="zh-CN" sz="2000" dirty="0">
                <a:ea typeface="宋体" panose="02010600030101010101" pitchFamily="2" charset="-122"/>
              </a:rPr>
              <a:t>#</a:t>
            </a:r>
            <a:r>
              <a:rPr lang="zh-CN" altLang="en-US" sz="2000" dirty="0">
                <a:ea typeface="宋体" panose="02010600030101010101" pitchFamily="2" charset="-122"/>
              </a:rPr>
              <a:t>：表示</a:t>
            </a:r>
            <a:r>
              <a:rPr lang="zh-CN" altLang="en-US" sz="2000" dirty="0">
                <a:solidFill>
                  <a:srgbClr val="FF0000"/>
                </a:solidFill>
                <a:ea typeface="宋体" panose="02010600030101010101" pitchFamily="2" charset="-122"/>
              </a:rPr>
              <a:t>保护</a:t>
            </a:r>
            <a:r>
              <a:rPr lang="zh-CN" altLang="en-US" sz="2000" dirty="0">
                <a:ea typeface="宋体" panose="02010600030101010101" pitchFamily="2" charset="-122"/>
              </a:rPr>
              <a:t>属性，一般用于继承，只能被本类及派生类使用。</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en-US" altLang="zh-CN" sz="2000" dirty="0">
                <a:ea typeface="宋体" panose="02010600030101010101" pitchFamily="2" charset="-122"/>
                <a:sym typeface="Symbol" panose="05050102010706020507" pitchFamily="18" charset="2"/>
              </a:rPr>
              <a:t></a:t>
            </a:r>
            <a:r>
              <a:rPr lang="zh-CN" altLang="en-US" sz="2000" dirty="0">
                <a:ea typeface="宋体" panose="02010600030101010101" pitchFamily="2" charset="-122"/>
                <a:sym typeface="Symbol" panose="05050102010706020507" pitchFamily="18" charset="2"/>
              </a:rPr>
              <a:t>：</a:t>
            </a:r>
            <a:r>
              <a:rPr lang="zh-CN" altLang="en-US" sz="2000" dirty="0">
                <a:ea typeface="宋体" panose="02010600030101010101" pitchFamily="2" charset="-122"/>
              </a:rPr>
              <a:t>在同一个包中的任何类能看到该属性 </a:t>
            </a:r>
            <a:endParaRPr lang="en-US" altLang="zh-CN" sz="2000" dirty="0">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属性名：代表属性的一个标识符。</a:t>
            </a:r>
            <a:endParaRPr lang="zh-CN" altLang="en-US" dirty="0">
              <a:ea typeface="宋体" panose="02010600030101010101" pitchFamily="2" charset="-122"/>
            </a:endParaRPr>
          </a:p>
        </p:txBody>
      </p:sp>
      <p:sp>
        <p:nvSpPr>
          <p:cNvPr id="1434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内容占位符 2"/>
          <p:cNvSpPr>
            <a:spLocks noGrp="1"/>
          </p:cNvSpPr>
          <p:nvPr>
            <p:ph sz="quarter" idx="1"/>
          </p:nvPr>
        </p:nvSpPr>
        <p:spPr>
          <a:xfrm>
            <a:off x="395288" y="1700213"/>
            <a:ext cx="7786687" cy="4897437"/>
          </a:xfrm>
        </p:spPr>
        <p:txBody>
          <a:bodyPr vert="horz" wrap="square" lIns="91440" tIns="45720" rIns="91440" bIns="45720" anchor="t" anchorCtr="0"/>
          <a:p>
            <a:pPr marL="457200" indent="-457200" eaLnBrk="1" hangingPunct="1">
              <a:buClr>
                <a:schemeClr val="accent1"/>
              </a:buClr>
              <a:buSzPct val="70000"/>
              <a:buFontTx/>
              <a:buAutoNum type="circleNumDbPlain" startAt="3"/>
            </a:pPr>
            <a:r>
              <a:rPr lang="zh-CN" altLang="en-US" dirty="0">
                <a:ea typeface="宋体" panose="02010600030101010101" pitchFamily="2" charset="-122"/>
              </a:rPr>
              <a:t>多重性：可选项，用多值表达式表示，格式：</a:t>
            </a:r>
            <a:r>
              <a:rPr lang="zh-CN" altLang="en-US" dirty="0">
                <a:solidFill>
                  <a:srgbClr val="FF0000"/>
                </a:solidFill>
                <a:ea typeface="宋体" panose="02010600030101010101" pitchFamily="2" charset="-122"/>
              </a:rPr>
              <a:t>低值</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高值</a:t>
            </a:r>
            <a:r>
              <a:rPr lang="zh-CN" altLang="en-US" dirty="0">
                <a:ea typeface="宋体" panose="02010600030101010101" pitchFamily="2" charset="-122"/>
              </a:rPr>
              <a:t>。</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低值、高值为正整数，表示该类的实例对象的属性个数；</a:t>
            </a:r>
            <a:endParaRPr lang="zh-CN" altLang="en-US" sz="2000"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高值中*表示“无限”，</a:t>
            </a:r>
            <a:r>
              <a:rPr lang="en-US" altLang="zh-CN" sz="2000" dirty="0">
                <a:ea typeface="宋体" panose="02010600030101010101" pitchFamily="2" charset="-122"/>
              </a:rPr>
              <a:t>0..*</a:t>
            </a:r>
            <a:r>
              <a:rPr lang="zh-CN" altLang="en-US" sz="2000" dirty="0">
                <a:ea typeface="宋体" panose="02010600030101010101" pitchFamily="2" charset="-122"/>
              </a:rPr>
              <a:t>表示从</a:t>
            </a:r>
            <a:r>
              <a:rPr lang="en-US" altLang="zh-CN" sz="2000" dirty="0">
                <a:ea typeface="宋体" panose="02010600030101010101" pitchFamily="2" charset="-122"/>
              </a:rPr>
              <a:t>0</a:t>
            </a:r>
            <a:r>
              <a:rPr lang="zh-CN" altLang="en-US" sz="2000" dirty="0">
                <a:ea typeface="宋体" panose="02010600030101010101" pitchFamily="2" charset="-122"/>
              </a:rPr>
              <a:t>个到无限多个；</a:t>
            </a:r>
            <a:endParaRPr lang="en-US" altLang="zh-CN" sz="2000"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当值的个数是单一值（如</a:t>
            </a:r>
            <a:r>
              <a:rPr lang="en-US" altLang="zh-CN" sz="2000" dirty="0">
                <a:ea typeface="宋体" panose="02010600030101010101" pitchFamily="2" charset="-122"/>
              </a:rPr>
              <a:t>3</a:t>
            </a:r>
            <a:r>
              <a:rPr lang="zh-CN" altLang="en-US" sz="2000" dirty="0">
                <a:ea typeface="宋体" panose="02010600030101010101" pitchFamily="2" charset="-122"/>
              </a:rPr>
              <a:t>）时，可写成</a:t>
            </a:r>
            <a:r>
              <a:rPr lang="en-US" altLang="zh-CN" sz="2000" dirty="0">
                <a:ea typeface="宋体" panose="02010600030101010101" pitchFamily="2" charset="-122"/>
              </a:rPr>
              <a:t>3..3</a:t>
            </a:r>
            <a:r>
              <a:rPr lang="zh-CN" altLang="en-US" sz="2000" dirty="0">
                <a:ea typeface="宋体" panose="02010600030101010101" pitchFamily="2" charset="-122"/>
              </a:rPr>
              <a:t>或简写成</a:t>
            </a:r>
            <a:r>
              <a:rPr lang="en-US" altLang="zh-CN" sz="2000" dirty="0">
                <a:ea typeface="宋体" panose="02010600030101010101" pitchFamily="2" charset="-122"/>
              </a:rPr>
              <a:t>3 </a:t>
            </a:r>
            <a:r>
              <a:rPr lang="zh-CN" altLang="en-US" sz="2000" dirty="0">
                <a:ea typeface="宋体" panose="02010600030101010101" pitchFamily="2" charset="-122"/>
              </a:rPr>
              <a:t>。</a:t>
            </a:r>
            <a:endParaRPr lang="zh-CN" altLang="en-US" sz="2000"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 可缺省，表示</a:t>
            </a:r>
            <a:r>
              <a:rPr lang="en-US" altLang="zh-CN" sz="2000" dirty="0">
                <a:ea typeface="宋体" panose="02010600030101010101" pitchFamily="2" charset="-122"/>
              </a:rPr>
              <a:t>1..1</a:t>
            </a:r>
            <a:r>
              <a:rPr lang="zh-CN" altLang="en-US" sz="2000" dirty="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隐含表示重数为</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 </a:t>
            </a:r>
            <a:endParaRPr lang="en-US" altLang="zh-CN" sz="2000" dirty="0">
              <a:ea typeface="宋体" panose="02010600030101010101" pitchFamily="2" charset="-122"/>
            </a:endParaRPr>
          </a:p>
          <a:p>
            <a:pPr marL="457200" indent="-457200" eaLnBrk="1" hangingPunct="1">
              <a:buClr>
                <a:schemeClr val="accent1"/>
              </a:buClr>
              <a:buSzPct val="70000"/>
              <a:buFontTx/>
              <a:buAutoNum type="circleNumDbPlain" startAt="3"/>
            </a:pPr>
            <a:r>
              <a:rPr lang="zh-CN" altLang="en-US" dirty="0">
                <a:ea typeface="宋体" panose="02010600030101010101" pitchFamily="2" charset="-122"/>
              </a:rPr>
              <a:t>类型：可以是系统固有的类型，也可以是用户自定义的类型。</a:t>
            </a:r>
            <a:endParaRPr lang="zh-CN" altLang="en-US" dirty="0">
              <a:ea typeface="宋体" panose="02010600030101010101" pitchFamily="2" charset="-122"/>
            </a:endParaRPr>
          </a:p>
          <a:p>
            <a:pPr marL="457200" indent="-457200" eaLnBrk="1" hangingPunct="1">
              <a:buClr>
                <a:schemeClr val="accent1"/>
              </a:buClr>
              <a:buSzPct val="70000"/>
              <a:buFontTx/>
              <a:buAutoNum type="circleNumDbPlain" startAt="3"/>
            </a:pPr>
            <a:r>
              <a:rPr lang="en-US" altLang="zh-CN" dirty="0">
                <a:ea typeface="宋体" panose="02010600030101010101" pitchFamily="2" charset="-122"/>
              </a:rPr>
              <a:t>=</a:t>
            </a:r>
            <a:r>
              <a:rPr lang="zh-CN" altLang="en-US" dirty="0">
                <a:ea typeface="宋体" panose="02010600030101010101" pitchFamily="2" charset="-122"/>
              </a:rPr>
              <a:t>初始值：可选项，初值可作为创建该类对象时这个属性的默认值。</a:t>
            </a:r>
            <a:endParaRPr lang="zh-CN" altLang="en-US" dirty="0">
              <a:ea typeface="宋体" panose="02010600030101010101" pitchFamily="2" charset="-122"/>
            </a:endParaRPr>
          </a:p>
        </p:txBody>
      </p:sp>
      <p:sp>
        <p:nvSpPr>
          <p:cNvPr id="1536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7411" name="内容占位符 2"/>
          <p:cNvSpPr>
            <a:spLocks noGrp="1"/>
          </p:cNvSpPr>
          <p:nvPr>
            <p:ph sz="quarter" idx="1"/>
          </p:nvPr>
        </p:nvSpPr>
        <p:spPr>
          <a:xfrm>
            <a:off x="468313" y="1484313"/>
            <a:ext cx="7920037" cy="4873625"/>
          </a:xfrm>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定义操作</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语法格式：</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    </a:t>
            </a:r>
            <a:r>
              <a:rPr lang="zh-CN" altLang="en-US" dirty="0">
                <a:solidFill>
                  <a:srgbClr val="FF0000"/>
                </a:solidFill>
                <a:ea typeface="宋体" panose="02010600030101010101" pitchFamily="2" charset="-122"/>
              </a:rPr>
              <a:t>可见性  操作名（</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参数表</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）：返回列表</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特征描述</a:t>
            </a:r>
            <a:r>
              <a:rPr lang="en-US" altLang="zh-CN" dirty="0">
                <a:solidFill>
                  <a:srgbClr val="FF0000"/>
                </a:solidFill>
                <a:ea typeface="宋体" panose="02010600030101010101" pitchFamily="2" charset="-122"/>
              </a:rPr>
              <a:t>}]</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规则：</a:t>
            </a:r>
            <a:endParaRPr lang="zh-CN" altLang="en-US" dirty="0">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可见性：可选项</a:t>
            </a:r>
            <a:endParaRPr lang="zh-CN" altLang="en-US" dirty="0">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参数表：用逗号分隔的形式参数序列</a:t>
            </a:r>
            <a:endParaRPr lang="en-US" altLang="zh-CN"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格式：</a:t>
            </a:r>
            <a:r>
              <a:rPr lang="zh-CN" altLang="en-US" dirty="0">
                <a:solidFill>
                  <a:srgbClr val="FF0000"/>
                </a:solidFill>
                <a:ea typeface="宋体" panose="02010600030101010101" pitchFamily="2" charset="-122"/>
              </a:rPr>
              <a:t>参数名：类型</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初值</a:t>
            </a:r>
            <a:r>
              <a:rPr lang="en-US" altLang="zh-CN" dirty="0">
                <a:solidFill>
                  <a:srgbClr val="FF0000"/>
                </a:solidFill>
                <a:ea typeface="宋体" panose="02010600030101010101" pitchFamily="2" charset="-122"/>
              </a:rPr>
              <a:t>]</a:t>
            </a:r>
            <a:endParaRPr lang="zh-CN" altLang="en-US" dirty="0">
              <a:solidFill>
                <a:srgbClr val="FF0000"/>
              </a:solidFill>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返回列表：回送调用对象消息的类型</a:t>
            </a:r>
            <a:endParaRPr lang="en-US" altLang="zh-CN"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格式：</a:t>
            </a:r>
            <a:r>
              <a:rPr lang="zh-CN" altLang="en-US" dirty="0">
                <a:solidFill>
                  <a:srgbClr val="FF0000"/>
                </a:solidFill>
                <a:ea typeface="宋体" panose="02010600030101010101" pitchFamily="2" charset="-122"/>
              </a:rPr>
              <a:t>返回类型</a:t>
            </a:r>
            <a:r>
              <a:rPr lang="zh-CN" altLang="en-US" dirty="0">
                <a:ea typeface="宋体" panose="02010600030101010101" pitchFamily="2" charset="-122"/>
              </a:rPr>
              <a:t>或</a:t>
            </a:r>
            <a:r>
              <a:rPr lang="zh-CN" altLang="en-US" dirty="0">
                <a:solidFill>
                  <a:srgbClr val="FF0000"/>
                </a:solidFill>
                <a:ea typeface="宋体" panose="02010600030101010101" pitchFamily="2" charset="-122"/>
              </a:rPr>
              <a:t>返回名</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类型，</a:t>
            </a:r>
            <a:r>
              <a:rPr lang="en-US" altLang="zh-CN" dirty="0">
                <a:solidFill>
                  <a:srgbClr val="FF0000"/>
                </a:solidFill>
                <a:ea typeface="宋体" panose="02010600030101010101" pitchFamily="2" charset="-122"/>
              </a:rPr>
              <a:t>……</a:t>
            </a:r>
            <a:endParaRPr lang="en-US" altLang="zh-CN" dirty="0">
              <a:solidFill>
                <a:srgbClr val="FF0000"/>
              </a:solidFill>
              <a:ea typeface="宋体" panose="02010600030101010101" pitchFamily="2" charset="-122"/>
            </a:endParaRPr>
          </a:p>
          <a:p>
            <a:pPr eaLnBrk="1" hangingPunct="1">
              <a:buClr>
                <a:schemeClr val="accent1"/>
              </a:buClr>
              <a:buSzPct val="70000"/>
              <a:buFont typeface="Wingdings" panose="05000000000000000000" pitchFamily="2" charset="2"/>
              <a:buNone/>
            </a:pPr>
            <a:endParaRPr lang="zh-CN" altLang="en-US" dirty="0">
              <a:ea typeface="宋体" panose="02010600030101010101" pitchFamily="2" charset="-122"/>
            </a:endParaRPr>
          </a:p>
        </p:txBody>
      </p:sp>
      <p:sp>
        <p:nvSpPr>
          <p:cNvPr id="1741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7411" name="内容占位符 2"/>
          <p:cNvSpPr>
            <a:spLocks noGrp="1"/>
          </p:cNvSpPr>
          <p:nvPr>
            <p:ph sz="quarter" idx="1"/>
          </p:nvPr>
        </p:nvSpPr>
        <p:spPr>
          <a:xfrm>
            <a:off x="468313" y="1484313"/>
            <a:ext cx="7920037" cy="4873625"/>
          </a:xfrm>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定义操作</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语法格式：</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    </a:t>
            </a:r>
            <a:r>
              <a:rPr lang="zh-CN" altLang="en-US" dirty="0">
                <a:solidFill>
                  <a:srgbClr val="FF0000"/>
                </a:solidFill>
                <a:ea typeface="宋体" panose="02010600030101010101" pitchFamily="2" charset="-122"/>
              </a:rPr>
              <a:t>可见性  操作名（</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参数表</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）：返回列表</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特征描述</a:t>
            </a:r>
            <a:r>
              <a:rPr lang="en-US" altLang="zh-CN" dirty="0">
                <a:solidFill>
                  <a:srgbClr val="FF0000"/>
                </a:solidFill>
                <a:ea typeface="宋体" panose="02010600030101010101" pitchFamily="2" charset="-122"/>
              </a:rPr>
              <a:t>}]</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规则：</a:t>
            </a:r>
            <a:endParaRPr lang="zh-CN" altLang="en-US" dirty="0">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可见性：可选项</a:t>
            </a:r>
            <a:endParaRPr lang="zh-CN" altLang="en-US" dirty="0">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参数表：用逗号分隔的形式参数序列</a:t>
            </a:r>
            <a:endParaRPr lang="en-US" altLang="zh-CN"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格式：</a:t>
            </a:r>
            <a:r>
              <a:rPr lang="zh-CN" altLang="en-US" dirty="0">
                <a:solidFill>
                  <a:srgbClr val="FF0000"/>
                </a:solidFill>
                <a:ea typeface="宋体" panose="02010600030101010101" pitchFamily="2" charset="-122"/>
              </a:rPr>
              <a:t>参数名：类型</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初值</a:t>
            </a:r>
            <a:r>
              <a:rPr lang="en-US" altLang="zh-CN" dirty="0">
                <a:solidFill>
                  <a:srgbClr val="FF0000"/>
                </a:solidFill>
                <a:ea typeface="宋体" panose="02010600030101010101" pitchFamily="2" charset="-122"/>
              </a:rPr>
              <a:t>]</a:t>
            </a:r>
            <a:endParaRPr lang="zh-CN" altLang="en-US" dirty="0">
              <a:solidFill>
                <a:srgbClr val="FF0000"/>
              </a:solidFill>
              <a:ea typeface="宋体" panose="02010600030101010101" pitchFamily="2" charset="-122"/>
            </a:endParaRPr>
          </a:p>
          <a:p>
            <a:pPr eaLnBrk="1" hangingPunct="1">
              <a:buClr>
                <a:schemeClr val="accent1"/>
              </a:buClr>
              <a:buSzPct val="70000"/>
              <a:buFontTx/>
              <a:buAutoNum type="circleNumDbPlain"/>
            </a:pPr>
            <a:r>
              <a:rPr lang="zh-CN" altLang="en-US" dirty="0">
                <a:ea typeface="宋体" panose="02010600030101010101" pitchFamily="2" charset="-122"/>
              </a:rPr>
              <a:t>返回列表：回送调用对象消息的类型</a:t>
            </a:r>
            <a:endParaRPr lang="en-US" altLang="zh-CN"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格式：</a:t>
            </a:r>
            <a:r>
              <a:rPr lang="zh-CN" altLang="en-US" dirty="0">
                <a:solidFill>
                  <a:srgbClr val="FF0000"/>
                </a:solidFill>
                <a:ea typeface="宋体" panose="02010600030101010101" pitchFamily="2" charset="-122"/>
              </a:rPr>
              <a:t>返回类型</a:t>
            </a:r>
            <a:r>
              <a:rPr lang="zh-CN" altLang="en-US" dirty="0">
                <a:ea typeface="宋体" panose="02010600030101010101" pitchFamily="2" charset="-122"/>
              </a:rPr>
              <a:t>或</a:t>
            </a:r>
            <a:r>
              <a:rPr lang="zh-CN" altLang="en-US" dirty="0">
                <a:solidFill>
                  <a:srgbClr val="FF0000"/>
                </a:solidFill>
                <a:ea typeface="宋体" panose="02010600030101010101" pitchFamily="2" charset="-122"/>
              </a:rPr>
              <a:t>返回名</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类型，</a:t>
            </a:r>
            <a:r>
              <a:rPr lang="en-US" altLang="zh-CN" dirty="0">
                <a:solidFill>
                  <a:srgbClr val="FF0000"/>
                </a:solidFill>
                <a:ea typeface="宋体" panose="02010600030101010101" pitchFamily="2" charset="-122"/>
              </a:rPr>
              <a:t>……</a:t>
            </a:r>
            <a:endParaRPr lang="en-US" altLang="zh-CN" dirty="0">
              <a:solidFill>
                <a:srgbClr val="FF0000"/>
              </a:solidFill>
              <a:ea typeface="宋体" panose="02010600030101010101" pitchFamily="2" charset="-122"/>
            </a:endParaRPr>
          </a:p>
          <a:p>
            <a:pPr eaLnBrk="1" hangingPunct="1">
              <a:buClr>
                <a:schemeClr val="accent1"/>
              </a:buClr>
              <a:buSzPct val="70000"/>
              <a:buFont typeface="Wingdings" panose="05000000000000000000" pitchFamily="2" charset="2"/>
              <a:buNone/>
            </a:pPr>
            <a:endParaRPr lang="zh-CN" altLang="en-US" dirty="0">
              <a:ea typeface="宋体" panose="02010600030101010101" pitchFamily="2" charset="-122"/>
            </a:endParaRPr>
          </a:p>
        </p:txBody>
      </p:sp>
      <p:sp>
        <p:nvSpPr>
          <p:cNvPr id="1741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nvPicPr>
        <p:blipFill>
          <a:blip r:embed="rId1"/>
          <a:stretch>
            <a:fillRect/>
          </a:stretch>
        </p:blipFill>
        <p:spPr>
          <a:xfrm>
            <a:off x="612140" y="1340485"/>
            <a:ext cx="7776210" cy="2393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anchor="t" anchorCtr="0"/>
          <a:p>
            <a:pPr marL="457200" indent="-457200" eaLnBrk="1" hangingPunct="1">
              <a:buClr>
                <a:schemeClr val="accent1"/>
              </a:buClr>
              <a:buSzPct val="70000"/>
              <a:buFontTx/>
              <a:buAutoNum type="circleNumDbPlain" startAt="4"/>
            </a:pPr>
            <a:r>
              <a:rPr lang="en-US" altLang="zh-CN" dirty="0">
                <a:ea typeface="宋体" panose="02010600030101010101" pitchFamily="2" charset="-122"/>
              </a:rPr>
              <a:t>[{</a:t>
            </a:r>
            <a:r>
              <a:rPr lang="zh-CN" altLang="en-US" dirty="0">
                <a:ea typeface="宋体" panose="02010600030101010101" pitchFamily="2" charset="-122"/>
              </a:rPr>
              <a:t>特征描述</a:t>
            </a:r>
            <a:r>
              <a:rPr lang="en-US" altLang="zh-CN" dirty="0">
                <a:ea typeface="宋体" panose="02010600030101010101" pitchFamily="2" charset="-122"/>
              </a:rPr>
              <a:t>}]</a:t>
            </a:r>
            <a:r>
              <a:rPr lang="zh-CN" altLang="en-US" dirty="0">
                <a:ea typeface="宋体" panose="02010600030101010101" pitchFamily="2" charset="-122"/>
              </a:rPr>
              <a:t>：任选项，描述该操作的特征</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前置条件：满足该条件（为真）调用本操作；</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后置条件：执行本操作后该条件为真；</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某算法指定执行该操作；</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用特征（操作名、回送型、参数表）来指定该操作。</a:t>
            </a:r>
            <a:endParaRPr lang="en-US" altLang="zh-CN" dirty="0">
              <a:ea typeface="宋体" panose="02010600030101010101" pitchFamily="2" charset="-122"/>
            </a:endParaRPr>
          </a:p>
          <a:p>
            <a:pPr marL="457200" indent="-457200" eaLnBrk="1" hangingPunct="1">
              <a:buClr>
                <a:schemeClr val="accent1"/>
              </a:buClr>
              <a:buSzPct val="70000"/>
              <a:buFontTx/>
              <a:buAutoNum type="circleNumDbPlain" startAt="4"/>
            </a:pPr>
            <a:r>
              <a:rPr lang="zh-CN" altLang="en-US" dirty="0">
                <a:ea typeface="宋体" panose="02010600030101010101" pitchFamily="2" charset="-122"/>
              </a:rPr>
              <a:t>类操作</a:t>
            </a:r>
            <a:endParaRPr lang="zh-CN" altLang="en-US" dirty="0">
              <a:ea typeface="宋体" panose="02010600030101010101" pitchFamily="2" charset="-122"/>
            </a:endParaRPr>
          </a:p>
          <a:p>
            <a:pPr marL="457200" indent="-457200" eaLnBrk="1" hangingPunct="1">
              <a:buClr>
                <a:schemeClr val="accent1"/>
              </a:buClr>
              <a:buSzPct val="70000"/>
              <a:buFont typeface="Wingdings" panose="05000000000000000000" pitchFamily="2" charset="2"/>
            </a:pPr>
            <a:r>
              <a:rPr lang="zh-CN" altLang="en-US" dirty="0">
                <a:ea typeface="宋体" panose="02010600030101010101" pitchFamily="2" charset="-122"/>
              </a:rPr>
              <a:t>描述操作时，操作名和返回类型是必须的，其他部分都任选。</a:t>
            </a:r>
            <a:endParaRPr lang="zh-CN" altLang="en-US" dirty="0">
              <a:ea typeface="宋体" panose="02010600030101010101" pitchFamily="2" charset="-122"/>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内容占位符 2"/>
          <p:cNvSpPr>
            <a:spLocks noGrp="1"/>
          </p:cNvSpPr>
          <p:nvPr>
            <p:ph sz="quarter" idx="1"/>
          </p:nvPr>
        </p:nvSpPr>
        <p:spPr/>
        <p:txBody>
          <a:bodyPr vert="horz" wrap="square" lIns="91440" tIns="45720" rIns="91440" bIns="45720" anchor="t" anchorCtr="0"/>
          <a:p>
            <a:pPr marL="0" indent="0" eaLnBrk="1" hangingPunct="1">
              <a:buClr>
                <a:schemeClr val="accent1"/>
              </a:buClr>
              <a:buSzPct val="70000"/>
              <a:buFontTx/>
              <a:buNone/>
            </a:pPr>
            <a:r>
              <a:rPr lang="zh-CN" altLang="en-US" dirty="0">
                <a:ea typeface="宋体" panose="02010600030101010101" pitchFamily="2" charset="-122"/>
              </a:rPr>
              <a:t>类的分类</a:t>
            </a:r>
            <a:endParaRPr lang="zh-CN" altLang="en-US" dirty="0">
              <a:ea typeface="宋体" panose="02010600030101010101" pitchFamily="2" charset="-122"/>
            </a:endParaRPr>
          </a:p>
          <a:p>
            <a:pPr marL="0" indent="0" eaLnBrk="1" hangingPunct="1">
              <a:buClr>
                <a:schemeClr val="accent1"/>
              </a:buClr>
              <a:buSzPct val="70000"/>
              <a:buFontTx/>
              <a:buNone/>
            </a:pPr>
            <a:endParaRPr lang="zh-CN" altLang="en-US" dirty="0">
              <a:ea typeface="宋体" panose="02010600030101010101" pitchFamily="2" charset="-122"/>
            </a:endParaRPr>
          </a:p>
          <a:p>
            <a:pPr marL="0" indent="0" eaLnBrk="1" hangingPunct="1">
              <a:buClr>
                <a:schemeClr val="accent1"/>
              </a:buClr>
              <a:buSzPct val="70000"/>
              <a:buFontTx/>
              <a:buNone/>
            </a:pPr>
            <a:r>
              <a:rPr lang="en-US" altLang="zh-CN" dirty="0">
                <a:ea typeface="宋体" panose="02010600030101010101" pitchFamily="2" charset="-122"/>
              </a:rPr>
              <a:t>1. </a:t>
            </a:r>
            <a:r>
              <a:rPr lang="zh-CN" altLang="en-US" dirty="0">
                <a:ea typeface="宋体" panose="02010600030101010101" pitchFamily="2" charset="-122"/>
              </a:rPr>
              <a:t>实体类</a:t>
            </a:r>
            <a:endParaRPr lang="zh-CN" altLang="en-US" dirty="0">
              <a:ea typeface="宋体" panose="02010600030101010101" pitchFamily="2" charset="-122"/>
            </a:endParaRPr>
          </a:p>
          <a:p>
            <a:pPr marL="0" indent="0" eaLnBrk="1" hangingPunct="1">
              <a:buClr>
                <a:schemeClr val="accent1"/>
              </a:buClr>
              <a:buSzPct val="70000"/>
              <a:buFontTx/>
              <a:buNone/>
            </a:pPr>
            <a:endParaRPr lang="zh-CN" altLang="en-US" dirty="0">
              <a:ea typeface="宋体" panose="02010600030101010101" pitchFamily="2" charset="-122"/>
            </a:endParaRPr>
          </a:p>
          <a:p>
            <a:pPr marL="0" indent="0" eaLnBrk="1" hangingPunct="1">
              <a:buClr>
                <a:schemeClr val="accent1"/>
              </a:buClr>
              <a:buSzPct val="70000"/>
              <a:buFontTx/>
              <a:buNone/>
            </a:pPr>
            <a:r>
              <a:rPr lang="en-US" altLang="zh-CN" dirty="0">
                <a:ea typeface="宋体" panose="02010600030101010101" pitchFamily="2" charset="-122"/>
              </a:rPr>
              <a:t>2. </a:t>
            </a:r>
            <a:r>
              <a:rPr lang="zh-CN" altLang="en-US" dirty="0">
                <a:ea typeface="宋体" panose="02010600030101010101" pitchFamily="2" charset="-122"/>
              </a:rPr>
              <a:t>控制类</a:t>
            </a:r>
            <a:endParaRPr lang="zh-CN" altLang="en-US" dirty="0">
              <a:ea typeface="宋体" panose="02010600030101010101" pitchFamily="2" charset="-122"/>
            </a:endParaRPr>
          </a:p>
          <a:p>
            <a:pPr marL="0" indent="0" eaLnBrk="1" hangingPunct="1">
              <a:buClr>
                <a:schemeClr val="accent1"/>
              </a:buClr>
              <a:buSzPct val="70000"/>
              <a:buFontTx/>
              <a:buNone/>
            </a:pPr>
            <a:endParaRPr lang="zh-CN" altLang="en-US" dirty="0">
              <a:ea typeface="宋体" panose="02010600030101010101" pitchFamily="2" charset="-122"/>
            </a:endParaRPr>
          </a:p>
          <a:p>
            <a:pPr marL="0" indent="0" eaLnBrk="1" hangingPunct="1">
              <a:buClr>
                <a:schemeClr val="accent1"/>
              </a:buClr>
              <a:buSzPct val="70000"/>
              <a:buFontTx/>
              <a:buNone/>
            </a:pPr>
            <a:r>
              <a:rPr lang="en-US" altLang="zh-CN" dirty="0">
                <a:ea typeface="宋体" panose="02010600030101010101" pitchFamily="2" charset="-122"/>
              </a:rPr>
              <a:t>3. </a:t>
            </a:r>
            <a:r>
              <a:rPr lang="zh-CN" altLang="en-US" dirty="0">
                <a:ea typeface="宋体" panose="02010600030101010101" pitchFamily="2" charset="-122"/>
              </a:rPr>
              <a:t>边界</a:t>
            </a:r>
            <a:r>
              <a:rPr lang="zh-CN" altLang="en-US" dirty="0">
                <a:ea typeface="宋体" panose="02010600030101010101" pitchFamily="2" charset="-122"/>
              </a:rPr>
              <a:t>类</a:t>
            </a:r>
            <a:endParaRPr lang="zh-CN" altLang="en-US" dirty="0">
              <a:ea typeface="宋体" panose="02010600030101010101" pitchFamily="2" charset="-122"/>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9941" name="Picture 2"/>
          <p:cNvPicPr>
            <a:picLocks noChangeAspect="1"/>
          </p:cNvPicPr>
          <p:nvPr/>
        </p:nvPicPr>
        <p:blipFill>
          <a:blip r:embed="rId1"/>
          <a:srcRect l="13235" r="10047"/>
          <a:stretch>
            <a:fillRect/>
          </a:stretch>
        </p:blipFill>
        <p:spPr>
          <a:xfrm>
            <a:off x="1979295" y="1700530"/>
            <a:ext cx="6346825" cy="379603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0963" name="内容占位符 2"/>
          <p:cNvSpPr>
            <a:spLocks noGrp="1"/>
          </p:cNvSpPr>
          <p:nvPr>
            <p:ph idx="1"/>
          </p:nvPr>
        </p:nvSpPr>
        <p:spPr>
          <a:xfrm>
            <a:off x="323850" y="1557338"/>
            <a:ext cx="7704138" cy="4608512"/>
          </a:xfrm>
        </p:spPr>
        <p:txBody>
          <a:bodyPr vert="horz" wrap="square" lIns="91440" tIns="45720" rIns="91440" bIns="45720" anchor="t" anchorCtr="0"/>
          <a:p>
            <a:pPr algn="just" eaLnBrk="1" hangingPunct="1"/>
            <a:r>
              <a:rPr lang="zh-CN" altLang="zh-CN" dirty="0">
                <a:solidFill>
                  <a:srgbClr val="0070C0"/>
                </a:solidFill>
              </a:rPr>
              <a:t>实体类</a:t>
            </a:r>
            <a:r>
              <a:rPr lang="zh-CN" altLang="zh-CN" dirty="0"/>
              <a:t>是用于对必须存储的信息和相关行为建模的类。它主要是作为数据管理和业务逻辑处理层面上存在的类别。</a:t>
            </a:r>
            <a:endParaRPr lang="en-US" altLang="zh-CN" dirty="0"/>
          </a:p>
          <a:p>
            <a:pPr algn="just" eaLnBrk="1" hangingPunct="1"/>
            <a:r>
              <a:rPr lang="zh-CN" altLang="zh-CN" dirty="0"/>
              <a:t>实体类的主要职责是存储和管理系统内部的信息，它也可以有行为</a:t>
            </a:r>
            <a:r>
              <a:rPr lang="zh-CN" altLang="en-US" dirty="0"/>
              <a:t>。</a:t>
            </a:r>
            <a:r>
              <a:rPr lang="zh-CN" altLang="zh-CN" dirty="0"/>
              <a:t>实体对象经常是被动和永久性的。</a:t>
            </a:r>
            <a:endParaRPr lang="zh-CN" altLang="zh-CN" dirty="0"/>
          </a:p>
          <a:p>
            <a:pPr algn="just" eaLnBrk="1" hangingPunct="1"/>
            <a:r>
              <a:rPr lang="zh-CN" altLang="zh-CN" dirty="0"/>
              <a:t>我们经常是从词汇表（在需求阶段制定）和业务领域模型（如果进行了业务建模，则在业务建模阶段中建立）中找寻到实体类的。</a:t>
            </a:r>
            <a:endParaRPr lang="zh-CN" altLang="zh-CN" dirty="0"/>
          </a:p>
          <a:p>
            <a:pPr algn="just" eaLnBrk="1" hangingPunct="1"/>
            <a:endParaRPr lang="zh-CN"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1987" name="内容占位符 2"/>
          <p:cNvSpPr>
            <a:spLocks noGrp="1"/>
          </p:cNvSpPr>
          <p:nvPr>
            <p:ph idx="1"/>
          </p:nvPr>
        </p:nvSpPr>
        <p:spPr>
          <a:xfrm>
            <a:off x="323850" y="1412240"/>
            <a:ext cx="8153400" cy="4752975"/>
          </a:xfrm>
        </p:spPr>
        <p:txBody>
          <a:bodyPr vert="horz" wrap="square" lIns="91440" tIns="45720" rIns="91440" bIns="45720" anchor="t" anchorCtr="0"/>
          <a:p>
            <a:pPr algn="just" eaLnBrk="1" hangingPunct="1"/>
            <a:r>
              <a:rPr lang="zh-CN" altLang="zh-CN" dirty="0">
                <a:solidFill>
                  <a:srgbClr val="0070C0"/>
                </a:solidFill>
              </a:rPr>
              <a:t>控制类</a:t>
            </a:r>
            <a:r>
              <a:rPr lang="zh-CN" altLang="zh-CN" dirty="0"/>
              <a:t>用于对一个或几个用例所具有的事件流的控制行为进行建模，控制一个用例中的事件顺序。</a:t>
            </a:r>
            <a:endParaRPr lang="en-US" altLang="zh-CN" dirty="0"/>
          </a:p>
          <a:p>
            <a:pPr algn="just" eaLnBrk="1" hangingPunct="1"/>
            <a:r>
              <a:rPr lang="zh-CN" altLang="zh-CN" dirty="0"/>
              <a:t>控制类用于在系统中协调行为。</a:t>
            </a:r>
            <a:r>
              <a:rPr lang="zh-CN" altLang="en-US" dirty="0"/>
              <a:t>简单情况下，</a:t>
            </a:r>
            <a:r>
              <a:rPr lang="zh-CN" altLang="zh-CN" dirty="0"/>
              <a:t>系统可以在没有控制对象的情况下执行某些用例（仅使用实体对象和边界对象）</a:t>
            </a:r>
            <a:r>
              <a:rPr lang="zh-CN" altLang="en-US" dirty="0"/>
              <a:t>。但是</a:t>
            </a:r>
            <a:r>
              <a:rPr lang="zh-CN" altLang="zh-CN" dirty="0"/>
              <a:t>较复杂的用例一般都需要一个或多个控制类来协调系统中其他对象的行为。</a:t>
            </a:r>
            <a:endParaRPr lang="en-US" altLang="zh-CN" dirty="0"/>
          </a:p>
          <a:p>
            <a:pPr algn="just" eaLnBrk="1" hangingPunct="1"/>
            <a:r>
              <a:rPr lang="zh-CN" altLang="zh-CN" dirty="0"/>
              <a:t>控制类有效地将边界对象与实体对象分开，让系统更能适应其边界内发生的变更。</a:t>
            </a:r>
            <a:endParaRPr lang="en-US" altLang="zh-CN" dirty="0"/>
          </a:p>
          <a:p>
            <a:pPr algn="just" eaLnBrk="1" hangingPunct="1"/>
            <a:r>
              <a:rPr lang="zh-CN" altLang="zh-CN" dirty="0"/>
              <a:t>控制类还将用例所特有的行为与实体对象分开，使实体对象在用例和系统中具有更高的复用性。</a:t>
            </a:r>
            <a:endParaRPr lang="zh-CN"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3011" name="内容占位符 2"/>
          <p:cNvSpPr>
            <a:spLocks noGrp="1"/>
          </p:cNvSpPr>
          <p:nvPr>
            <p:ph idx="1"/>
          </p:nvPr>
        </p:nvSpPr>
        <p:spPr>
          <a:xfrm>
            <a:off x="395288" y="1628775"/>
            <a:ext cx="7848600" cy="4411663"/>
          </a:xfrm>
        </p:spPr>
        <p:txBody>
          <a:bodyPr vert="horz" wrap="square" lIns="91440" tIns="45720" rIns="91440" bIns="45720" anchor="t" anchorCtr="0"/>
          <a:p>
            <a:pPr algn="just" eaLnBrk="1" hangingPunct="1"/>
            <a:r>
              <a:rPr lang="zh-CN" altLang="zh-CN" dirty="0">
                <a:solidFill>
                  <a:srgbClr val="0070C0"/>
                </a:solidFill>
              </a:rPr>
              <a:t>边界类</a:t>
            </a:r>
            <a:r>
              <a:rPr lang="zh-CN" altLang="zh-CN" dirty="0"/>
              <a:t>是对系统外部环境与其内部运作之间的交互进行建模。这种交互包括转换事件，并记录系统表示方式（例如接口）中的变更。边界类描述外部参与者与系统之间的交互，识别边界类可以帮助开发人员识别出用户对界面的需求。</a:t>
            </a:r>
            <a:endParaRPr lang="zh-CN" altLang="zh-CN" dirty="0"/>
          </a:p>
          <a:p>
            <a:pPr algn="just" eaLnBrk="1" hangingPunct="1"/>
            <a:r>
              <a:rPr lang="zh-CN" altLang="zh-CN" dirty="0"/>
              <a:t>边界对象将系统与其外部环境的变更（与其他系统的接口的变更、用户需求的变更等）分隔开，使这些变更不会对系统的其他部分造成影响。</a:t>
            </a:r>
            <a:endParaRPr lang="zh-CN" altLang="zh-CN" dirty="0"/>
          </a:p>
          <a:p>
            <a:pPr algn="just" eaLnBrk="1" hangingPunct="1"/>
            <a:r>
              <a:rPr lang="zh-CN" altLang="zh-CN" dirty="0"/>
              <a:t>一个系统可能会有多种边界类比如：用户界面类、系统接口类、设备接口类等。</a:t>
            </a:r>
            <a:endParaRPr lang="zh-CN" altLang="zh-CN" dirty="0"/>
          </a:p>
          <a:p>
            <a:pPr algn="just" eaLnBrk="1" hangingPunct="1"/>
            <a:endParaRPr lang="zh-CN"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定义对象类</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3011" name="内容占位符 2"/>
          <p:cNvSpPr>
            <a:spLocks noGrp="1"/>
          </p:cNvSpPr>
          <p:nvPr>
            <p:ph idx="1"/>
          </p:nvPr>
        </p:nvSpPr>
        <p:spPr>
          <a:xfrm>
            <a:off x="395288" y="1628775"/>
            <a:ext cx="7848600" cy="4411663"/>
          </a:xfrm>
        </p:spPr>
        <p:txBody>
          <a:bodyPr vert="horz" wrap="square" lIns="91440" tIns="45720" rIns="91440" bIns="45720" anchor="t" anchorCtr="0"/>
          <a:p>
            <a:pPr eaLnBrk="1" hangingPunct="1"/>
            <a:r>
              <a:rPr lang="zh-CN" altLang="zh-CN" sz="2000" dirty="0"/>
              <a:t>假设我们正在设计一个学生管理系统，系统中需要包含学生信息的录入、查询和修改等功能。在这个系统中，我们可以将“学生”作为一个</a:t>
            </a:r>
            <a:r>
              <a:rPr lang="zh-CN" altLang="zh-CN" sz="2000" dirty="0">
                <a:solidFill>
                  <a:srgbClr val="0070C0"/>
                </a:solidFill>
              </a:rPr>
              <a:t>实体类</a:t>
            </a:r>
            <a:r>
              <a:rPr lang="zh-CN" altLang="zh-CN" sz="2000" dirty="0"/>
              <a:t>，表示系统中的学生对象。学生类可以包含一些属性，如姓名、学号、性别、年龄等，以及一些方法，如录入学生信息、查询学生信息、修改学生信息等。</a:t>
            </a:r>
            <a:endParaRPr lang="zh-CN" altLang="zh-CN" sz="2000" dirty="0"/>
          </a:p>
          <a:p>
            <a:pPr eaLnBrk="1" hangingPunct="1"/>
            <a:r>
              <a:rPr lang="zh-CN" altLang="zh-CN" sz="2000" dirty="0"/>
              <a:t>同时，我们还需要一个</a:t>
            </a:r>
            <a:r>
              <a:rPr lang="zh-CN" altLang="zh-CN" sz="2000" dirty="0">
                <a:solidFill>
                  <a:srgbClr val="0070C0"/>
                </a:solidFill>
              </a:rPr>
              <a:t>控制类</a:t>
            </a:r>
            <a:r>
              <a:rPr lang="zh-CN" altLang="zh-CN" sz="2000" dirty="0"/>
              <a:t>来协调和控制系统中各个对象之间的交互和协作，比如一个“学生管理器”类。学生管理器类可以包含一些方法，如添加学生、删除学生、查询学生等，用于执行业务逻辑和处理系统事件。</a:t>
            </a:r>
            <a:endParaRPr lang="zh-CN" altLang="zh-CN" sz="2000" dirty="0"/>
          </a:p>
          <a:p>
            <a:pPr eaLnBrk="1" hangingPunct="1"/>
            <a:r>
              <a:rPr lang="zh-CN" altLang="zh-CN" sz="2000" dirty="0"/>
              <a:t>最后，我们还需要一个</a:t>
            </a:r>
            <a:r>
              <a:rPr lang="zh-CN" altLang="zh-CN" sz="2000" dirty="0">
                <a:solidFill>
                  <a:srgbClr val="0070C0"/>
                </a:solidFill>
              </a:rPr>
              <a:t>边界类</a:t>
            </a:r>
            <a:r>
              <a:rPr lang="zh-CN" altLang="zh-CN" sz="2000" dirty="0"/>
              <a:t>来表示系统与外部世界之间的交互界面，如一个“学生信息界面”类。学生信息界面类可以包含一些方法，如显示学生信息、录入学生信息、修改学生信息等，用于接收和发送数据，以及与外部世界进行交互。</a:t>
            </a:r>
            <a:endParaRPr lang="zh-CN" altLang="zh-CN" sz="2000" dirty="0"/>
          </a:p>
          <a:p>
            <a:pPr eaLnBrk="1" hangingPunct="1"/>
            <a:endParaRPr lang="zh-CN" altLang="zh-CN"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539750" y="1628775"/>
            <a:ext cx="7632700" cy="467995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关联</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：表示两个或多个类之间的</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结构关系。</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常规关联</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association</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图符：在两个类之间用一条</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实线</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连接，直线上写上关联名。</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关联名</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：唯一标识符</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方向</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导航</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导引：关联名所指的方向，表示为实心三角。关联通常是双向的。</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角色名</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：关联的两端</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9460" name="灯片编号占位符 3"/>
          <p:cNvSpPr txBox="1">
            <a:spLocks noGrp="1"/>
          </p:cNvSpPr>
          <p:nvPr>
            <p:ph type="sldNum" sz="quarter" idx="4"/>
          </p:nvPr>
        </p:nvSpPr>
        <p:spPr>
          <a:xfrm>
            <a:off x="8058150" y="5567363"/>
            <a:ext cx="609600" cy="520700"/>
          </a:xfrm>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9461" name="Picture 2"/>
          <p:cNvPicPr>
            <a:picLocks noChangeAspect="1"/>
          </p:cNvPicPr>
          <p:nvPr/>
        </p:nvPicPr>
        <p:blipFill>
          <a:blip r:embed="rId1"/>
          <a:stretch>
            <a:fillRect/>
          </a:stretch>
        </p:blipFill>
        <p:spPr>
          <a:xfrm>
            <a:off x="4095750" y="5013325"/>
            <a:ext cx="3429000" cy="10477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0483" name="内容占位符 2"/>
          <p:cNvSpPr>
            <a:spLocks noGrp="1"/>
          </p:cNvSpPr>
          <p:nvPr>
            <p:ph sz="quarter" idx="1"/>
          </p:nvPr>
        </p:nvSpPr>
        <p:spPr>
          <a:xfrm>
            <a:off x="457200" y="1484313"/>
            <a:ext cx="7467600" cy="4989512"/>
          </a:xfrm>
        </p:spPr>
        <p:txBody>
          <a:bodyPr vert="horz" wrap="square" lIns="91440" tIns="45720" rIns="91440" bIns="45720" anchor="t" anchorCtr="0"/>
          <a:p>
            <a:pPr eaLnBrk="1" hangingPunct="1">
              <a:spcBef>
                <a:spcPct val="0"/>
              </a:spcBef>
              <a:buClr>
                <a:schemeClr val="accent1"/>
              </a:buClr>
              <a:buSzPct val="70000"/>
              <a:buFont typeface="Wingdings" panose="05000000000000000000" pitchFamily="2" charset="2"/>
            </a:pPr>
            <a:r>
              <a:rPr lang="zh-CN" altLang="en-US" dirty="0">
                <a:ea typeface="宋体" panose="02010600030101010101" pitchFamily="2" charset="-122"/>
              </a:rPr>
              <a:t>关联的</a:t>
            </a:r>
            <a:r>
              <a:rPr lang="zh-CN" altLang="en-US" dirty="0">
                <a:solidFill>
                  <a:srgbClr val="0070C0"/>
                </a:solidFill>
                <a:ea typeface="宋体" panose="02010600030101010101" pitchFamily="2" charset="-122"/>
              </a:rPr>
              <a:t>重数</a:t>
            </a:r>
            <a:endParaRPr lang="en-US" altLang="zh-CN" dirty="0">
              <a:solidFill>
                <a:srgbClr val="0070C0"/>
              </a:solidFill>
              <a:ea typeface="宋体" panose="02010600030101010101" pitchFamily="2" charset="-122"/>
            </a:endParaRPr>
          </a:p>
          <a:p>
            <a:pPr lvl="1" eaLnBrk="1" hangingPunct="1">
              <a:spcBef>
                <a:spcPct val="0"/>
              </a:spcBef>
              <a:buClr>
                <a:schemeClr val="accent1"/>
              </a:buClr>
              <a:buSzPct val="80000"/>
              <a:buFont typeface="Wingdings 2" panose="05020102010507070707" pitchFamily="18" charset="2"/>
            </a:pPr>
            <a:r>
              <a:rPr lang="zh-CN" altLang="en-US" sz="2000" dirty="0">
                <a:ea typeface="宋体" panose="02010600030101010101" pitchFamily="2" charset="-122"/>
              </a:rPr>
              <a:t>最大重数：对关系中另一个类的对象，该类对象可能参与关系的最大数量</a:t>
            </a:r>
            <a:endParaRPr lang="zh-CN" altLang="en-US" sz="2000" dirty="0">
              <a:ea typeface="宋体" panose="02010600030101010101" pitchFamily="2" charset="-122"/>
            </a:endParaRPr>
          </a:p>
          <a:p>
            <a:pPr lvl="1" eaLnBrk="1" hangingPunct="1">
              <a:spcBef>
                <a:spcPct val="0"/>
              </a:spcBef>
              <a:buClr>
                <a:schemeClr val="accent1"/>
              </a:buClr>
              <a:buSzPct val="80000"/>
              <a:buFont typeface="Wingdings 2" panose="05020102010507070707" pitchFamily="18" charset="2"/>
            </a:pPr>
            <a:r>
              <a:rPr lang="zh-CN" altLang="en-US" sz="2000" dirty="0">
                <a:ea typeface="宋体" panose="02010600030101010101" pitchFamily="2" charset="-122"/>
              </a:rPr>
              <a:t>最小重数：对关系中另一个类的对象，该类对象可能参与关系的最小数量</a:t>
            </a:r>
            <a:endParaRPr lang="en-US" altLang="zh-CN" sz="2000" dirty="0">
              <a:ea typeface="宋体" panose="02010600030101010101" pitchFamily="2" charset="-122"/>
            </a:endParaRPr>
          </a:p>
          <a:p>
            <a:pPr eaLnBrk="1" hangingPunct="1">
              <a:spcBef>
                <a:spcPct val="0"/>
              </a:spcBef>
              <a:buClr>
                <a:schemeClr val="accent1"/>
              </a:buClr>
              <a:buSzPct val="70000"/>
              <a:buFont typeface="Wingdings" panose="05000000000000000000" pitchFamily="2" charset="2"/>
            </a:pPr>
            <a:r>
              <a:rPr lang="zh-CN" altLang="en-US" dirty="0">
                <a:ea typeface="宋体" panose="02010600030101010101" pitchFamily="2" charset="-122"/>
              </a:rPr>
              <a:t>表示与简写</a:t>
            </a:r>
            <a:endParaRPr lang="en-US" altLang="zh-CN" dirty="0">
              <a:ea typeface="宋体" panose="02010600030101010101" pitchFamily="2" charset="-122"/>
            </a:endParaRPr>
          </a:p>
          <a:p>
            <a:pPr lvl="2" eaLnBrk="1" hangingPunct="1">
              <a:spcBef>
                <a:spcPct val="0"/>
              </a:spcBef>
              <a:buClr>
                <a:srgbClr val="E0752F"/>
              </a:buClr>
              <a:buSzPct val="60000"/>
              <a:buFont typeface="Wingdings" panose="05000000000000000000" pitchFamily="2" charset="2"/>
            </a:pPr>
            <a:r>
              <a:rPr lang="en-US" altLang="zh-CN" sz="2000" dirty="0">
                <a:ea typeface="宋体" panose="02010600030101010101" pitchFamily="2" charset="-122"/>
              </a:rPr>
              <a:t>0..1</a:t>
            </a:r>
            <a:r>
              <a:rPr lang="zh-CN" altLang="en-US" sz="2000" dirty="0">
                <a:ea typeface="宋体" panose="02010600030101010101" pitchFamily="2" charset="-122"/>
              </a:rPr>
              <a:t> ：表示“</a:t>
            </a:r>
            <a:r>
              <a:rPr lang="en-US" altLang="zh-CN" sz="2000" dirty="0">
                <a:ea typeface="宋体" panose="02010600030101010101" pitchFamily="2" charset="-122"/>
              </a:rPr>
              <a:t>0</a:t>
            </a:r>
            <a:r>
              <a:rPr lang="zh-CN" altLang="en-US" sz="2000" dirty="0">
                <a:ea typeface="宋体" panose="02010600030101010101" pitchFamily="2" charset="-122"/>
              </a:rPr>
              <a:t>或</a:t>
            </a:r>
            <a:r>
              <a:rPr lang="en-US" altLang="zh-CN" sz="2000" dirty="0">
                <a:ea typeface="宋体" panose="02010600030101010101" pitchFamily="2" charset="-122"/>
              </a:rPr>
              <a:t>1”</a:t>
            </a:r>
            <a:r>
              <a:rPr lang="zh-CN" altLang="en-US" sz="2000" dirty="0">
                <a:ea typeface="宋体" panose="02010600030101010101" pitchFamily="2" charset="-122"/>
              </a:rPr>
              <a:t>；</a:t>
            </a:r>
            <a:endParaRPr lang="en-US" altLang="zh-CN" sz="2000" dirty="0">
              <a:ea typeface="宋体" panose="02010600030101010101" pitchFamily="2" charset="-122"/>
            </a:endParaRPr>
          </a:p>
          <a:p>
            <a:pPr lvl="2" eaLnBrk="1" hangingPunct="1">
              <a:spcBef>
                <a:spcPct val="0"/>
              </a:spcBef>
              <a:buClr>
                <a:srgbClr val="E0752F"/>
              </a:buClr>
              <a:buSzPct val="60000"/>
              <a:buFont typeface="Wingdings" panose="05000000000000000000" pitchFamily="2" charset="2"/>
            </a:pPr>
            <a:r>
              <a:rPr lang="en-US" altLang="zh-CN" sz="2000" dirty="0">
                <a:ea typeface="宋体" panose="02010600030101010101" pitchFamily="2" charset="-122"/>
              </a:rPr>
              <a:t>0..*/*</a:t>
            </a:r>
            <a:r>
              <a:rPr lang="zh-CN" altLang="en-US" sz="2000" dirty="0">
                <a:ea typeface="宋体" panose="02010600030101010101" pitchFamily="2" charset="-122"/>
              </a:rPr>
              <a:t> ：表示“</a:t>
            </a:r>
            <a:r>
              <a:rPr lang="en-US" altLang="zh-CN" sz="2000" dirty="0">
                <a:ea typeface="宋体" panose="02010600030101010101" pitchFamily="2" charset="-122"/>
              </a:rPr>
              <a:t>0</a:t>
            </a:r>
            <a:r>
              <a:rPr lang="zh-CN" altLang="en-US" sz="2000" dirty="0">
                <a:ea typeface="宋体" panose="02010600030101010101" pitchFamily="2" charset="-122"/>
              </a:rPr>
              <a:t>或多”；</a:t>
            </a:r>
            <a:endParaRPr lang="en-US" altLang="zh-CN" sz="2000" dirty="0">
              <a:ea typeface="宋体" panose="02010600030101010101" pitchFamily="2" charset="-122"/>
            </a:endParaRPr>
          </a:p>
          <a:p>
            <a:pPr lvl="2" eaLnBrk="1" hangingPunct="1">
              <a:spcBef>
                <a:spcPct val="0"/>
              </a:spcBef>
              <a:buClr>
                <a:srgbClr val="E0752F"/>
              </a:buClr>
              <a:buSzPct val="60000"/>
              <a:buFont typeface="Wingdings" panose="05000000000000000000" pitchFamily="2" charset="2"/>
            </a:pPr>
            <a:r>
              <a:rPr lang="en-US" altLang="zh-CN" sz="2000" dirty="0">
                <a:ea typeface="宋体" panose="02010600030101010101" pitchFamily="2" charset="-122"/>
              </a:rPr>
              <a:t>1</a:t>
            </a:r>
            <a:r>
              <a:rPr lang="zh-CN" altLang="en-US" sz="2000" dirty="0">
                <a:ea typeface="宋体" panose="02010600030101010101" pitchFamily="2" charset="-122"/>
              </a:rPr>
              <a:t>：简写“</a:t>
            </a:r>
            <a:r>
              <a:rPr lang="en-US" altLang="zh-CN" sz="2000" dirty="0">
                <a:ea typeface="宋体" panose="02010600030101010101" pitchFamily="2" charset="-122"/>
              </a:rPr>
              <a:t>1..1</a:t>
            </a:r>
            <a:r>
              <a:rPr lang="zh-CN" altLang="en-US" sz="2000" dirty="0">
                <a:ea typeface="宋体" panose="02010600030101010101" pitchFamily="2" charset="-122"/>
              </a:rPr>
              <a:t>”；</a:t>
            </a:r>
            <a:endParaRPr lang="en-US" altLang="zh-CN" sz="2000" dirty="0">
              <a:ea typeface="宋体" panose="02010600030101010101" pitchFamily="2" charset="-122"/>
            </a:endParaRPr>
          </a:p>
          <a:p>
            <a:pPr lvl="2" eaLnBrk="1" hangingPunct="1">
              <a:spcBef>
                <a:spcPct val="0"/>
              </a:spcBef>
              <a:buClr>
                <a:srgbClr val="E0752F"/>
              </a:buClr>
              <a:buSzPct val="60000"/>
              <a:buFont typeface="Wingdings" panose="05000000000000000000" pitchFamily="2" charset="2"/>
            </a:pPr>
            <a:r>
              <a:rPr lang="en-US" altLang="zh-CN" sz="2000" dirty="0">
                <a:ea typeface="宋体" panose="02010600030101010101" pitchFamily="2" charset="-122"/>
              </a:rPr>
              <a:t>1.. *</a:t>
            </a:r>
            <a:r>
              <a:rPr lang="zh-CN" altLang="en-US" sz="2000" dirty="0">
                <a:ea typeface="宋体" panose="02010600030101010101" pitchFamily="2" charset="-122"/>
              </a:rPr>
              <a:t>：表示“</a:t>
            </a:r>
            <a:r>
              <a:rPr lang="en-US" altLang="zh-CN" sz="2000" dirty="0">
                <a:ea typeface="宋体" panose="02010600030101010101" pitchFamily="2" charset="-122"/>
              </a:rPr>
              <a:t>1</a:t>
            </a:r>
            <a:r>
              <a:rPr lang="zh-CN" altLang="en-US" sz="2000" dirty="0">
                <a:ea typeface="宋体" panose="02010600030101010101" pitchFamily="2" charset="-122"/>
              </a:rPr>
              <a:t>或多”；</a:t>
            </a:r>
            <a:endParaRPr lang="en-US" altLang="zh-CN" sz="2000" dirty="0">
              <a:ea typeface="宋体" panose="02010600030101010101" pitchFamily="2" charset="-122"/>
            </a:endParaRPr>
          </a:p>
          <a:p>
            <a:pPr lvl="2" eaLnBrk="1" hangingPunct="1">
              <a:spcBef>
                <a:spcPct val="0"/>
              </a:spcBef>
              <a:buClr>
                <a:srgbClr val="E0752F"/>
              </a:buClr>
              <a:buSzPct val="60000"/>
              <a:buFont typeface="Wingdings" panose="05000000000000000000" pitchFamily="2" charset="2"/>
            </a:pPr>
            <a:r>
              <a:rPr lang="zh-CN" altLang="en-US" sz="2000" dirty="0">
                <a:ea typeface="宋体" panose="02010600030101010101" pitchFamily="2" charset="-122"/>
              </a:rPr>
              <a:t>范围型</a:t>
            </a:r>
            <a:r>
              <a:rPr lang="en-US" altLang="zh-CN" sz="2000" dirty="0">
                <a:ea typeface="宋体" panose="02010600030101010101" pitchFamily="2" charset="-122"/>
              </a:rPr>
              <a:t>5..11</a:t>
            </a:r>
            <a:r>
              <a:rPr lang="zh-CN" altLang="en-US" sz="2000" dirty="0">
                <a:ea typeface="宋体" panose="02010600030101010101" pitchFamily="2" charset="-122"/>
              </a:rPr>
              <a:t>”：表示“</a:t>
            </a:r>
            <a:r>
              <a:rPr lang="en-US" altLang="zh-CN" sz="2000" dirty="0">
                <a:ea typeface="宋体" panose="02010600030101010101" pitchFamily="2" charset="-122"/>
              </a:rPr>
              <a:t>5</a:t>
            </a:r>
            <a:r>
              <a:rPr lang="zh-CN" altLang="en-US" sz="2000" dirty="0">
                <a:ea typeface="宋体" panose="02010600030101010101" pitchFamily="2" charset="-122"/>
              </a:rPr>
              <a:t>至</a:t>
            </a:r>
            <a:r>
              <a:rPr lang="en-US" altLang="zh-CN" sz="2000" dirty="0">
                <a:ea typeface="宋体" panose="02010600030101010101" pitchFamily="2" charset="-122"/>
              </a:rPr>
              <a:t>11”</a:t>
            </a:r>
            <a:r>
              <a:rPr lang="zh-CN" altLang="en-US" sz="2000" dirty="0">
                <a:ea typeface="宋体" panose="02010600030101010101" pitchFamily="2" charset="-122"/>
              </a:rPr>
              <a:t>；</a:t>
            </a:r>
            <a:endParaRPr lang="en-US" altLang="zh-CN" sz="2000" dirty="0">
              <a:ea typeface="宋体" panose="02010600030101010101" pitchFamily="2" charset="-122"/>
            </a:endParaRPr>
          </a:p>
          <a:p>
            <a:pPr lvl="2" eaLnBrk="1" hangingPunct="1">
              <a:spcBef>
                <a:spcPct val="0"/>
              </a:spcBef>
              <a:buClr>
                <a:srgbClr val="E0752F"/>
              </a:buClr>
              <a:buSzPct val="60000"/>
              <a:buFont typeface="Wingdings" panose="05000000000000000000" pitchFamily="2" charset="2"/>
            </a:pPr>
            <a:r>
              <a:rPr lang="zh-CN" altLang="en-US" sz="2000" dirty="0">
                <a:ea typeface="宋体" panose="02010600030101010101" pitchFamily="2" charset="-122"/>
              </a:rPr>
              <a:t>枚举型“</a:t>
            </a:r>
            <a:r>
              <a:rPr lang="en-US" altLang="zh-CN" sz="2000" dirty="0">
                <a:ea typeface="宋体" panose="02010600030101010101" pitchFamily="2" charset="-122"/>
              </a:rPr>
              <a:t>1</a:t>
            </a:r>
            <a:r>
              <a:rPr lang="zh-CN" altLang="en-US" sz="2000" dirty="0">
                <a:ea typeface="宋体" panose="02010600030101010101" pitchFamily="2" charset="-122"/>
              </a:rPr>
              <a:t>，</a:t>
            </a:r>
            <a:r>
              <a:rPr lang="en-US" altLang="zh-CN" sz="2000" dirty="0">
                <a:ea typeface="宋体" panose="02010600030101010101" pitchFamily="2" charset="-122"/>
              </a:rPr>
              <a:t>3</a:t>
            </a:r>
            <a:r>
              <a:rPr lang="zh-CN" altLang="en-US" sz="2000" dirty="0">
                <a:ea typeface="宋体" panose="02010600030101010101" pitchFamily="2" charset="-122"/>
              </a:rPr>
              <a:t>，</a:t>
            </a:r>
            <a:r>
              <a:rPr lang="en-US" altLang="zh-CN" sz="2000" dirty="0">
                <a:ea typeface="宋体" panose="02010600030101010101" pitchFamily="2" charset="-122"/>
              </a:rPr>
              <a:t>8</a:t>
            </a:r>
            <a:r>
              <a:rPr lang="zh-CN" altLang="en-US" sz="2000" dirty="0">
                <a:ea typeface="宋体" panose="02010600030101010101" pitchFamily="2" charset="-122"/>
              </a:rPr>
              <a:t>”： 表示“</a:t>
            </a:r>
            <a:r>
              <a:rPr lang="en-US" altLang="zh-CN" sz="2000" dirty="0">
                <a:ea typeface="宋体" panose="02010600030101010101" pitchFamily="2" charset="-122"/>
              </a:rPr>
              <a:t>1</a:t>
            </a:r>
            <a:r>
              <a:rPr lang="zh-CN" altLang="en-US" sz="2000" dirty="0">
                <a:ea typeface="宋体" panose="02010600030101010101" pitchFamily="2" charset="-122"/>
              </a:rPr>
              <a:t>或</a:t>
            </a:r>
            <a:r>
              <a:rPr lang="en-US" altLang="zh-CN" sz="2000" dirty="0">
                <a:ea typeface="宋体" panose="02010600030101010101" pitchFamily="2" charset="-122"/>
              </a:rPr>
              <a:t>3</a:t>
            </a:r>
            <a:r>
              <a:rPr lang="zh-CN" altLang="en-US" sz="2000" dirty="0">
                <a:ea typeface="宋体" panose="02010600030101010101" pitchFamily="2" charset="-122"/>
              </a:rPr>
              <a:t>或</a:t>
            </a:r>
            <a:r>
              <a:rPr lang="en-US" altLang="zh-CN" sz="2000" dirty="0">
                <a:ea typeface="宋体" panose="02010600030101010101" pitchFamily="2" charset="-122"/>
              </a:rPr>
              <a:t>8”</a:t>
            </a:r>
            <a:r>
              <a:rPr lang="zh-CN" altLang="en-US" sz="2000" dirty="0">
                <a:ea typeface="宋体" panose="02010600030101010101" pitchFamily="2" charset="-122"/>
              </a:rPr>
              <a:t>。</a:t>
            </a:r>
            <a:endParaRPr lang="en-US" altLang="zh-CN" sz="2000" dirty="0">
              <a:ea typeface="宋体" panose="02010600030101010101" pitchFamily="2" charset="-122"/>
            </a:endParaRPr>
          </a:p>
          <a:p>
            <a:pPr eaLnBrk="1" hangingPunct="1">
              <a:spcBef>
                <a:spcPct val="0"/>
              </a:spcBef>
              <a:buClr>
                <a:schemeClr val="accent1"/>
              </a:buClr>
              <a:buSzPct val="70000"/>
              <a:buFont typeface="Wingdings" panose="05000000000000000000" pitchFamily="2" charset="2"/>
            </a:pPr>
            <a:r>
              <a:rPr lang="zh-CN" altLang="en-US" sz="2000" dirty="0">
                <a:ea typeface="宋体" panose="02010600030101010101" pitchFamily="2" charset="-122"/>
              </a:rPr>
              <a:t>重数的具体值根据实际问题中的说明来确定。</a:t>
            </a:r>
            <a:endParaRPr lang="en-US" altLang="zh-CN" sz="2000" dirty="0">
              <a:ea typeface="宋体" panose="02010600030101010101" pitchFamily="2" charset="-122"/>
            </a:endParaRPr>
          </a:p>
          <a:p>
            <a:pPr eaLnBrk="1" hangingPunct="1">
              <a:spcBef>
                <a:spcPct val="0"/>
              </a:spcBef>
              <a:buClr>
                <a:schemeClr val="accent1"/>
              </a:buClr>
              <a:buSzPct val="70000"/>
              <a:buFont typeface="Wingdings" panose="05000000000000000000" pitchFamily="2" charset="2"/>
            </a:pPr>
            <a:r>
              <a:rPr lang="zh-CN" altLang="en-US" sz="2000" dirty="0">
                <a:ea typeface="宋体" panose="02010600030101010101" pitchFamily="2" charset="-122"/>
              </a:rPr>
              <a:t>重数的默认值为</a:t>
            </a:r>
            <a:r>
              <a:rPr lang="en-US" altLang="zh-CN" sz="2000" dirty="0">
                <a:ea typeface="宋体" panose="02010600030101010101" pitchFamily="2" charset="-122"/>
              </a:rPr>
              <a:t>1</a:t>
            </a:r>
            <a:r>
              <a:rPr lang="zh-CN" altLang="en-US" sz="2000" dirty="0">
                <a:ea typeface="宋体" panose="02010600030101010101" pitchFamily="2" charset="-122"/>
              </a:rPr>
              <a:t>。</a:t>
            </a:r>
            <a:endParaRPr lang="en-US" altLang="zh-CN" sz="2000" dirty="0">
              <a:ea typeface="宋体" panose="02010600030101010101" pitchFamily="2" charset="-122"/>
            </a:endParaRPr>
          </a:p>
          <a:p>
            <a:pPr eaLnBrk="1" hangingPunct="1">
              <a:spcBef>
                <a:spcPct val="0"/>
              </a:spcBef>
              <a:buClr>
                <a:schemeClr val="accent1"/>
              </a:buClr>
              <a:buSzPct val="70000"/>
              <a:buFont typeface="Wingdings" panose="05000000000000000000" pitchFamily="2" charset="2"/>
            </a:pPr>
            <a:r>
              <a:rPr lang="zh-CN" altLang="en-US" sz="2000" dirty="0">
                <a:ea typeface="宋体" panose="02010600030101010101" pitchFamily="2" charset="-122"/>
              </a:rPr>
              <a:t>一对一（</a:t>
            </a:r>
            <a:r>
              <a:rPr lang="en-US" altLang="zh-CN" sz="2000" dirty="0">
                <a:ea typeface="宋体" panose="02010600030101010101" pitchFamily="2" charset="-122"/>
              </a:rPr>
              <a:t>1:1</a:t>
            </a:r>
            <a:r>
              <a:rPr lang="zh-CN" altLang="en-US" sz="2000" dirty="0">
                <a:ea typeface="宋体" panose="02010600030101010101" pitchFamily="2" charset="-122"/>
              </a:rPr>
              <a:t>）、一对多（</a:t>
            </a:r>
            <a:r>
              <a:rPr lang="en-US" altLang="zh-CN" sz="2000" dirty="0">
                <a:ea typeface="宋体" panose="02010600030101010101" pitchFamily="2" charset="-122"/>
              </a:rPr>
              <a:t>1:n</a:t>
            </a:r>
            <a:r>
              <a:rPr lang="zh-CN" altLang="en-US" sz="2000" dirty="0">
                <a:ea typeface="宋体" panose="02010600030101010101" pitchFamily="2" charset="-122"/>
              </a:rPr>
              <a:t>）、多对多（</a:t>
            </a:r>
            <a:r>
              <a:rPr lang="en-US" altLang="zh-CN" sz="2000" dirty="0">
                <a:ea typeface="宋体" panose="02010600030101010101" pitchFamily="2" charset="-122"/>
              </a:rPr>
              <a:t>n:m</a:t>
            </a:r>
            <a:r>
              <a:rPr lang="zh-CN" altLang="en-US" sz="2000" dirty="0">
                <a:ea typeface="宋体" panose="02010600030101010101" pitchFamily="2" charset="-122"/>
              </a:rPr>
              <a:t>）</a:t>
            </a:r>
            <a:endParaRPr lang="zh-CN" altLang="en-US" sz="2000" dirty="0">
              <a:ea typeface="宋体" panose="02010600030101010101" pitchFamily="2" charset="-122"/>
            </a:endParaRPr>
          </a:p>
        </p:txBody>
      </p:sp>
      <p:sp>
        <p:nvSpPr>
          <p:cNvPr id="2048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1507" name="内容占位符 2"/>
          <p:cNvSpPr>
            <a:spLocks noGrp="1"/>
          </p:cNvSpPr>
          <p:nvPr>
            <p:ph sz="quarter" idx="1"/>
          </p:nvPr>
        </p:nvSpPr>
        <p:spPr>
          <a:xfrm>
            <a:off x="457200" y="1484313"/>
            <a:ext cx="7467600" cy="4989512"/>
          </a:xfrm>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在具体程序编码的实施中，关联关系可以通过在自己类的属性和操作定义中将相关联的类作为对象成员使用而体现出来。</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150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21509" name="Picture 2"/>
          <p:cNvPicPr>
            <a:picLocks noChangeAspect="1"/>
          </p:cNvPicPr>
          <p:nvPr/>
        </p:nvPicPr>
        <p:blipFill>
          <a:blip r:embed="rId1"/>
          <a:stretch>
            <a:fillRect/>
          </a:stretch>
        </p:blipFill>
        <p:spPr>
          <a:xfrm>
            <a:off x="1692275" y="2708275"/>
            <a:ext cx="5200650" cy="384492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2531"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22532" name="内容占位符 5"/>
          <p:cNvSpPr>
            <a:spLocks noGrp="1"/>
          </p:cNvSpPr>
          <p:nvPr>
            <p:ph sz="quarter" idx="1"/>
          </p:nvPr>
        </p:nvSpPr>
        <p:spPr>
          <a:xfrm>
            <a:off x="457200" y="1412875"/>
            <a:ext cx="7467600" cy="5060950"/>
          </a:xfrm>
        </p:spPr>
        <p:txBody>
          <a:bodyPr vert="horz" wrap="square" lIns="91440" tIns="45720" rIns="91440" bIns="45720" anchor="t" anchorCtr="0"/>
          <a:p>
            <a:pPr marL="457200" indent="-457200"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关联类</a:t>
            </a:r>
            <a:endParaRPr lang="en-US" altLang="zh-CN" dirty="0">
              <a:solidFill>
                <a:srgbClr val="0070C0"/>
              </a:solidFill>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把类之间的关联定义成类，称为关联类。该关联的每个链接都是这个类的实例 </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关联类也有属性、操作并可与其他的类关联。</a:t>
            </a:r>
            <a:endParaRPr lang="en-US" altLang="zh-CN"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图符：关联类和关联之间由一条虚线连接，关联名就是关联类的名字。</a:t>
            </a:r>
            <a:endParaRPr lang="en-US" altLang="zh-CN" dirty="0">
              <a:ea typeface="宋体" panose="02010600030101010101" pitchFamily="2" charset="-122"/>
            </a:endParaRPr>
          </a:p>
        </p:txBody>
      </p:sp>
      <p:pic>
        <p:nvPicPr>
          <p:cNvPr id="22533" name="Picture 3"/>
          <p:cNvPicPr>
            <a:picLocks noChangeAspect="1"/>
          </p:cNvPicPr>
          <p:nvPr/>
        </p:nvPicPr>
        <p:blipFill>
          <a:blip r:embed="rId1"/>
          <a:stretch>
            <a:fillRect/>
          </a:stretch>
        </p:blipFill>
        <p:spPr>
          <a:xfrm>
            <a:off x="1116013" y="4149725"/>
            <a:ext cx="6142037" cy="20891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3555" name="内容占位符 2"/>
          <p:cNvSpPr>
            <a:spLocks noGrp="1"/>
          </p:cNvSpPr>
          <p:nvPr>
            <p:ph sz="quarter" idx="1"/>
          </p:nvPr>
        </p:nvSpPr>
        <p:spPr/>
        <p:txBody>
          <a:bodyPr vert="horz" wrap="square" lIns="91440" tIns="45720" rIns="91440" bIns="45720" anchor="t" anchorCtr="0"/>
          <a:p>
            <a:pPr marL="457200" indent="-457200" eaLnBrk="1" hangingPunct="1">
              <a:buClr>
                <a:schemeClr val="accent1"/>
              </a:buClr>
              <a:buSzPct val="70000"/>
              <a:buFontTx/>
              <a:buAutoNum type="circleNumDbPlain" startAt="2"/>
            </a:pPr>
            <a:r>
              <a:rPr lang="zh-CN" altLang="en-US" dirty="0">
                <a:solidFill>
                  <a:srgbClr val="0070C0"/>
                </a:solidFill>
                <a:ea typeface="宋体" panose="02010600030101010101" pitchFamily="2" charset="-122"/>
              </a:rPr>
              <a:t>多重关联</a:t>
            </a:r>
            <a:r>
              <a:rPr lang="zh-CN" altLang="en-US" dirty="0">
                <a:ea typeface="宋体" panose="02010600030101010101" pitchFamily="2" charset="-122"/>
              </a:rPr>
              <a:t>（多元关联）</a:t>
            </a:r>
            <a:endParaRPr lang="en-US" altLang="zh-CN" dirty="0">
              <a:ea typeface="宋体" panose="02010600030101010101" pitchFamily="2" charset="-122"/>
            </a:endParaRPr>
          </a:p>
          <a:p>
            <a:pPr marL="457200" indent="-457200" eaLnBrk="1" hangingPunct="1">
              <a:buClr>
                <a:schemeClr val="accent1"/>
              </a:buClr>
              <a:buSzPct val="70000"/>
              <a:buFont typeface="Wingdings" panose="05000000000000000000" pitchFamily="2" charset="2"/>
            </a:pPr>
            <a:r>
              <a:rPr lang="zh-CN" altLang="en-US" dirty="0">
                <a:ea typeface="宋体" panose="02010600030101010101" pitchFamily="2" charset="-122"/>
              </a:rPr>
              <a:t>两个以上的类之间也可以互相关联。</a:t>
            </a:r>
            <a:endParaRPr lang="en-US" altLang="zh-CN" dirty="0">
              <a:ea typeface="宋体" panose="02010600030101010101" pitchFamily="2" charset="-122"/>
            </a:endParaRPr>
          </a:p>
          <a:p>
            <a:pPr marL="457200" indent="-457200"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度数</a:t>
            </a:r>
            <a:r>
              <a:rPr lang="zh-CN" altLang="en-US" dirty="0">
                <a:ea typeface="宋体" panose="02010600030101010101" pitchFamily="2" charset="-122"/>
              </a:rPr>
              <a:t>：二元关联（</a:t>
            </a:r>
            <a:r>
              <a:rPr lang="en-US" altLang="zh-CN" dirty="0">
                <a:ea typeface="宋体" panose="02010600030101010101" pitchFamily="2" charset="-122"/>
              </a:rPr>
              <a:t>binary</a:t>
            </a:r>
            <a:r>
              <a:rPr lang="zh-CN" altLang="en-US" dirty="0">
                <a:ea typeface="宋体" panose="02010600030101010101" pitchFamily="2" charset="-122"/>
              </a:rPr>
              <a:t>）、三元关联（</a:t>
            </a:r>
            <a:r>
              <a:rPr lang="en-US" altLang="zh-CN" dirty="0">
                <a:ea typeface="宋体" panose="02010600030101010101" pitchFamily="2" charset="-122"/>
              </a:rPr>
              <a:t>ternary</a:t>
            </a:r>
            <a:r>
              <a:rPr lang="zh-CN" altLang="en-US" dirty="0">
                <a:ea typeface="宋体" panose="02010600030101010101" pitchFamily="2" charset="-122"/>
              </a:rPr>
              <a:t>）、多元关联（</a:t>
            </a:r>
            <a:r>
              <a:rPr lang="en-US" altLang="zh-CN" dirty="0">
                <a:ea typeface="宋体" panose="02010600030101010101" pitchFamily="2" charset="-122"/>
              </a:rPr>
              <a:t>higher order</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2355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23557" name="Picture 4"/>
          <p:cNvPicPr>
            <a:picLocks noChangeAspect="1"/>
          </p:cNvPicPr>
          <p:nvPr/>
        </p:nvPicPr>
        <p:blipFill>
          <a:blip r:embed="rId1"/>
          <a:stretch>
            <a:fillRect/>
          </a:stretch>
        </p:blipFill>
        <p:spPr>
          <a:xfrm>
            <a:off x="1692275" y="3716338"/>
            <a:ext cx="4967288" cy="1820862"/>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5"/>
              <a:defRPr/>
            </a:pP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递归关联</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（自返关联）</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允许一个类与自身关联</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662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26629" name="Picture 2"/>
          <p:cNvPicPr>
            <a:picLocks noChangeAspect="1"/>
          </p:cNvPicPr>
          <p:nvPr/>
        </p:nvPicPr>
        <p:blipFill>
          <a:blip r:embed="rId1"/>
          <a:stretch>
            <a:fillRect/>
          </a:stretch>
        </p:blipFill>
        <p:spPr>
          <a:xfrm>
            <a:off x="2411413" y="2852738"/>
            <a:ext cx="3168650" cy="1846262"/>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聚集</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：一种特殊的二元关联，表示类之间的“整体</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部分”关系。</a:t>
            </a:r>
            <a:r>
              <a:rPr kumimoji="0" lang="en-US" altLang="zh-CN" sz="2400" b="1" i="0" u="none" strike="noStrike" kern="1200" cap="none" spc="0" normalizeH="0" baseline="0" noProof="0" dirty="0" smtClean="0">
                <a:ln>
                  <a:noFill/>
                </a:ln>
                <a:solidFill>
                  <a:srgbClr val="FF0000"/>
                </a:solidFill>
                <a:effectLst/>
                <a:uLnTx/>
                <a:uFillTx/>
                <a:latin typeface="+mn-lt"/>
                <a:ea typeface="+mn-ea"/>
                <a:cs typeface="+mn-cs"/>
              </a:rPr>
              <a:t>has a</a:t>
            </a:r>
            <a:endParaRPr kumimoji="0" lang="en-US" altLang="zh-CN" sz="2400" b="1" i="0" u="none" strike="noStrike" kern="1200" cap="none" spc="0" normalizeH="0" baseline="0" noProof="0" dirty="0" smtClean="0">
              <a:ln>
                <a:noFill/>
              </a:ln>
              <a:solidFill>
                <a:srgbClr val="FF0000"/>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共享聚集</a:t>
            </a:r>
            <a:r>
              <a:rPr kumimoji="0" lang="en-US" altLang="zh-CN" sz="2400" b="1" i="0" u="none" strike="noStrike" kern="1200" cap="none" spc="0" normalizeH="0" baseline="0" noProof="0" dirty="0">
                <a:ln>
                  <a:noFill/>
                </a:ln>
                <a:solidFill>
                  <a:srgbClr val="0070C0"/>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聚合</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aggregation</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：表示整体</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部分关系的一种关联， “部分”对象可以是任意“整体”对象的一部分，表示事物的整体</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部分关系较弱的情况。</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图符：空心菱形，在代表整体的一端</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765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27653" name="Picture 2"/>
          <p:cNvPicPr>
            <a:picLocks noChangeAspect="1"/>
          </p:cNvPicPr>
          <p:nvPr/>
        </p:nvPicPr>
        <p:blipFill>
          <a:blip r:embed="rId1"/>
          <a:stretch>
            <a:fillRect/>
          </a:stretch>
        </p:blipFill>
        <p:spPr>
          <a:xfrm>
            <a:off x="1547813" y="4365625"/>
            <a:ext cx="4770437" cy="709613"/>
          </a:xfrm>
          <a:prstGeom prst="rect">
            <a:avLst/>
          </a:prstGeom>
          <a:noFill/>
          <a:ln w="9525">
            <a:noFill/>
          </a:ln>
        </p:spPr>
      </p:pic>
      <p:grpSp>
        <p:nvGrpSpPr>
          <p:cNvPr id="27654" name="组合 14"/>
          <p:cNvGrpSpPr/>
          <p:nvPr/>
        </p:nvGrpSpPr>
        <p:grpSpPr>
          <a:xfrm>
            <a:off x="6300788" y="3644900"/>
            <a:ext cx="1522412" cy="228600"/>
            <a:chOff x="1258888" y="2781300"/>
            <a:chExt cx="1521942" cy="228600"/>
          </a:xfrm>
        </p:grpSpPr>
        <p:sp>
          <p:nvSpPr>
            <p:cNvPr id="27655" name="AutoShape 17"/>
            <p:cNvSpPr/>
            <p:nvPr/>
          </p:nvSpPr>
          <p:spPr>
            <a:xfrm>
              <a:off x="1258888" y="2781300"/>
              <a:ext cx="457200" cy="228600"/>
            </a:xfrm>
            <a:prstGeom prst="flowChartDecision">
              <a:avLst/>
            </a:prstGeom>
            <a:solidFill>
              <a:schemeClr val="bg1"/>
            </a:solidFill>
            <a:ln w="12700" cap="sq" cmpd="sng">
              <a:solidFill>
                <a:schemeClr val="tx1"/>
              </a:solidFill>
              <a:prstDash val="solid"/>
              <a:miter/>
              <a:headEnd type="none" w="sm" len="sm"/>
              <a:tailEnd type="none" w="sm" len="sm"/>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b="0" dirty="0">
                <a:latin typeface="Arial" panose="020B0604020202020204" pitchFamily="34" charset="0"/>
                <a:ea typeface="楷体_GB2312" pitchFamily="49" charset="-122"/>
              </a:endParaRPr>
            </a:p>
          </p:txBody>
        </p:sp>
        <p:sp>
          <p:nvSpPr>
            <p:cNvPr id="27656" name="Line 18"/>
            <p:cNvSpPr/>
            <p:nvPr/>
          </p:nvSpPr>
          <p:spPr>
            <a:xfrm>
              <a:off x="1714030" y="2896629"/>
              <a:ext cx="1066800" cy="0"/>
            </a:xfrm>
            <a:prstGeom prst="line">
              <a:avLst/>
            </a:prstGeom>
            <a:ln w="12700" cap="sq" cmpd="sng">
              <a:solidFill>
                <a:schemeClr val="tx1"/>
              </a:solidFill>
              <a:prstDash val="solid"/>
              <a:headEnd type="none" w="sm" len="sm"/>
              <a:tailEnd type="none" w="sm" len="sm"/>
            </a:ln>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组合聚集</a:t>
            </a:r>
            <a:r>
              <a:rPr kumimoji="0" lang="en-US" altLang="zh-CN" sz="2400" b="1" i="0" u="none" strike="noStrike" kern="1200" cap="none" spc="0" normalizeH="0" baseline="0" noProof="0" dirty="0">
                <a:ln>
                  <a:noFill/>
                </a:ln>
                <a:solidFill>
                  <a:srgbClr val="0070C0"/>
                </a:solidFill>
                <a:effectLst/>
                <a:uLnTx/>
                <a:uFillTx/>
                <a:latin typeface="+mn-lt"/>
                <a:ea typeface="+mn-ea"/>
                <a:cs typeface="+mn-cs"/>
              </a:rPr>
              <a:t>/</a:t>
            </a:r>
            <a:r>
              <a:rPr kumimoji="0" lang="zh-CN" altLang="en-US" sz="2400" b="1" i="0" u="none" strike="noStrike" kern="1200" cap="none" spc="0" normalizeH="0" baseline="0" noProof="0" dirty="0" smtClean="0">
                <a:ln>
                  <a:noFill/>
                </a:ln>
                <a:solidFill>
                  <a:srgbClr val="0070C0"/>
                </a:solidFill>
                <a:effectLst/>
                <a:uLnTx/>
                <a:uFillTx/>
                <a:latin typeface="+mn-lt"/>
                <a:ea typeface="+mn-ea"/>
                <a:cs typeface="+mn-cs"/>
              </a:rPr>
              <a:t>组合</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composition</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rPr>
              <a:t>一种更强形式的关联，代表整体的组合对象有管理它的部分对象的特有责任，如部分对象的分配和解除分配。</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 整体拥有各部分，部分与整体共存，如整体不存在了，部分也会随之消失。</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rPr>
              <a:t>图符：实心菱形</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，在代表整体的一端</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整体的重数必须是</a:t>
            </a:r>
            <a:r>
              <a:rPr kumimoji="0" lang="en-US" altLang="zh-CN" sz="2400" b="1" i="0" u="none" strike="noStrike" kern="1200" cap="none" spc="0" normalizeH="0" baseline="0" noProof="0" dirty="0" smtClean="0">
                <a:ln>
                  <a:noFill/>
                </a:ln>
                <a:solidFill>
                  <a:srgbClr val="FF0000"/>
                </a:solidFill>
                <a:effectLst/>
                <a:uLnTx/>
                <a:uFillTx/>
                <a:latin typeface="+mn-lt"/>
                <a:ea typeface="+mn-ea"/>
                <a:cs typeface="+mn-cs"/>
              </a:rPr>
              <a:t>0</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或者是</a:t>
            </a:r>
            <a:r>
              <a:rPr kumimoji="0" lang="en-US" altLang="zh-CN" sz="2400" b="1" i="0" u="none" strike="noStrike" kern="1200" cap="none" spc="0" normalizeH="0" baseline="0" noProof="0" dirty="0" smtClean="0">
                <a:ln>
                  <a:noFill/>
                </a:ln>
                <a:solidFill>
                  <a:srgbClr val="FF0000"/>
                </a:solidFill>
                <a:effectLst/>
                <a:uLnTx/>
                <a:uFillTx/>
                <a:latin typeface="+mn-lt"/>
                <a:ea typeface="+mn-ea"/>
                <a:cs typeface="+mn-cs"/>
              </a:rPr>
              <a:t>1</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，部分的重数可以任意的</a:t>
            </a:r>
            <a:endParaRPr kumimoji="0" lang="en-US" altLang="zh-CN" sz="2400" b="1" i="0" u="none" strike="noStrike" kern="1200" cap="none" spc="0" normalizeH="0" baseline="0" noProof="0" dirty="0" smtClean="0">
              <a:ln>
                <a:noFill/>
              </a:ln>
              <a:solidFill>
                <a:srgbClr val="FF0000"/>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867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28677" name="Picture 2"/>
          <p:cNvPicPr>
            <a:picLocks noChangeAspect="1"/>
          </p:cNvPicPr>
          <p:nvPr/>
        </p:nvPicPr>
        <p:blipFill>
          <a:blip r:embed="rId1"/>
          <a:stretch>
            <a:fillRect/>
          </a:stretch>
        </p:blipFill>
        <p:spPr>
          <a:xfrm>
            <a:off x="1476375" y="5054600"/>
            <a:ext cx="5256213" cy="809625"/>
          </a:xfrm>
          <a:prstGeom prst="rect">
            <a:avLst/>
          </a:prstGeom>
          <a:noFill/>
          <a:ln w="9525">
            <a:noFill/>
          </a:ln>
        </p:spPr>
      </p:pic>
      <p:grpSp>
        <p:nvGrpSpPr>
          <p:cNvPr id="28678" name="组合 15"/>
          <p:cNvGrpSpPr/>
          <p:nvPr/>
        </p:nvGrpSpPr>
        <p:grpSpPr>
          <a:xfrm>
            <a:off x="6372225" y="3213100"/>
            <a:ext cx="1447800" cy="228600"/>
            <a:chOff x="1331913" y="4437063"/>
            <a:chExt cx="1447800" cy="228600"/>
          </a:xfrm>
        </p:grpSpPr>
        <p:sp>
          <p:nvSpPr>
            <p:cNvPr id="28679" name="AutoShape 5"/>
            <p:cNvSpPr/>
            <p:nvPr/>
          </p:nvSpPr>
          <p:spPr>
            <a:xfrm>
              <a:off x="1331913" y="4437063"/>
              <a:ext cx="457200" cy="228600"/>
            </a:xfrm>
            <a:prstGeom prst="flowChartDecision">
              <a:avLst/>
            </a:prstGeom>
            <a:solidFill>
              <a:schemeClr val="tx1"/>
            </a:solidFill>
            <a:ln w="12700" cap="sq" cmpd="sng">
              <a:solidFill>
                <a:schemeClr val="tx1"/>
              </a:solidFill>
              <a:prstDash val="solid"/>
              <a:miter/>
              <a:headEnd type="none" w="sm" len="sm"/>
              <a:tailEnd type="none" w="sm" len="sm"/>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b="0" dirty="0">
                <a:latin typeface="Arial" panose="020B0604020202020204" pitchFamily="34" charset="0"/>
                <a:ea typeface="楷体_GB2312" pitchFamily="49" charset="-122"/>
              </a:endParaRPr>
            </a:p>
          </p:txBody>
        </p:sp>
        <p:sp>
          <p:nvSpPr>
            <p:cNvPr id="28680" name="Line 20"/>
            <p:cNvSpPr/>
            <p:nvPr/>
          </p:nvSpPr>
          <p:spPr>
            <a:xfrm>
              <a:off x="1789113" y="4562691"/>
              <a:ext cx="990600" cy="0"/>
            </a:xfrm>
            <a:prstGeom prst="line">
              <a:avLst/>
            </a:prstGeom>
            <a:ln w="12700" cap="sq" cmpd="sng">
              <a:solidFill>
                <a:schemeClr val="tx1"/>
              </a:solidFill>
              <a:prstDash val="solid"/>
              <a:headEnd type="none" w="sm" len="sm"/>
              <a:tailEnd type="none" w="sm" len="sm"/>
            </a:ln>
          </p:spPr>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9699" name="内容占位符 2"/>
          <p:cNvSpPr>
            <a:spLocks noGrp="1"/>
          </p:cNvSpPr>
          <p:nvPr>
            <p:ph sz="quarter" idx="1"/>
          </p:nvPr>
        </p:nvSpPr>
        <p:spPr>
          <a:xfrm>
            <a:off x="457200" y="1600200"/>
            <a:ext cx="8282305" cy="4873625"/>
          </a:xfrm>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3</a:t>
            </a:r>
            <a:r>
              <a:rPr lang="zh-CN" altLang="en-US" dirty="0">
                <a:ea typeface="宋体" panose="02010600030101010101" pitchFamily="2" charset="-122"/>
              </a:rPr>
              <a:t>、</a:t>
            </a:r>
            <a:r>
              <a:rPr lang="zh-CN" altLang="en-US" dirty="0">
                <a:solidFill>
                  <a:srgbClr val="0070C0"/>
                </a:solidFill>
                <a:ea typeface="宋体" panose="02010600030101010101" pitchFamily="2" charset="-122"/>
              </a:rPr>
              <a:t>继承</a:t>
            </a:r>
            <a:r>
              <a:rPr lang="en-US" altLang="zh-CN" dirty="0">
                <a:solidFill>
                  <a:srgbClr val="0070C0"/>
                </a:solidFill>
                <a:ea typeface="宋体" panose="02010600030101010101" pitchFamily="2" charset="-122"/>
              </a:rPr>
              <a:t>/</a:t>
            </a:r>
            <a:r>
              <a:rPr lang="zh-CN" altLang="en-US" dirty="0">
                <a:solidFill>
                  <a:srgbClr val="0070C0"/>
                </a:solidFill>
                <a:ea typeface="宋体" panose="02010600030101010101" pitchFamily="2" charset="-122"/>
              </a:rPr>
              <a:t>泛化</a:t>
            </a:r>
            <a:r>
              <a:rPr lang="zh-CN" altLang="en-US" dirty="0">
                <a:ea typeface="宋体" panose="02010600030101010101" pitchFamily="2" charset="-122"/>
              </a:rPr>
              <a:t>（</a:t>
            </a:r>
            <a:r>
              <a:rPr lang="en-US" altLang="zh-CN" dirty="0">
                <a:ea typeface="宋体" panose="02010600030101010101" pitchFamily="2" charset="-122"/>
              </a:rPr>
              <a:t>generalization</a:t>
            </a:r>
            <a:r>
              <a:rPr lang="zh-CN" altLang="en-US" dirty="0">
                <a:ea typeface="宋体" panose="02010600030101010101" pitchFamily="2" charset="-122"/>
              </a:rPr>
              <a:t>）：类之间的“一般</a:t>
            </a:r>
            <a:r>
              <a:rPr lang="en-US" altLang="zh-CN" dirty="0">
                <a:ea typeface="宋体" panose="02010600030101010101" pitchFamily="2" charset="-122"/>
              </a:rPr>
              <a:t>-</a:t>
            </a:r>
            <a:r>
              <a:rPr lang="zh-CN" altLang="en-US" dirty="0">
                <a:ea typeface="宋体" panose="02010600030101010101" pitchFamily="2" charset="-122"/>
              </a:rPr>
              <a:t>特殊”关系。</a:t>
            </a:r>
            <a:r>
              <a:rPr lang="en-US" altLang="zh-CN" dirty="0">
                <a:solidFill>
                  <a:srgbClr val="FF0000"/>
                </a:solidFill>
                <a:ea typeface="宋体" panose="02010600030101010101" pitchFamily="2" charset="-122"/>
              </a:rPr>
              <a:t>is a</a:t>
            </a:r>
            <a:endParaRPr lang="en-US" altLang="zh-CN" dirty="0">
              <a:solidFill>
                <a:srgbClr val="FF000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一般类定义了它的特殊类的公共属性和操作。对一般类扩展一些属性和</a:t>
            </a:r>
            <a:r>
              <a:rPr lang="en-US" altLang="zh-CN" dirty="0">
                <a:ea typeface="宋体" panose="02010600030101010101" pitchFamily="2" charset="-122"/>
              </a:rPr>
              <a:t>/</a:t>
            </a:r>
            <a:r>
              <a:rPr lang="zh-CN" altLang="en-US" dirty="0">
                <a:ea typeface="宋体" panose="02010600030101010101" pitchFamily="2" charset="-122"/>
              </a:rPr>
              <a:t>或操作后，可以特化（</a:t>
            </a:r>
            <a:r>
              <a:rPr lang="en-US" altLang="zh-CN" dirty="0">
                <a:ea typeface="宋体" panose="02010600030101010101" pitchFamily="2" charset="-122"/>
              </a:rPr>
              <a:t>specialize</a:t>
            </a:r>
            <a:r>
              <a:rPr lang="zh-CN" altLang="en-US" dirty="0">
                <a:ea typeface="宋体" panose="02010600030101010101" pitchFamily="2" charset="-122"/>
              </a:rPr>
              <a:t>）成特殊类。特殊类可以继承一般类的属性和操作。特殊类可以定义自己的属性和操作，也可重新定义一般类中的操作，但重新定义的操作必须与父类具有相同的操作特征。</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一般类是特殊类的父类，特殊类是一般类的子类</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图符：</a:t>
            </a:r>
            <a:r>
              <a:rPr lang="zh-CN" altLang="zh-CN" dirty="0">
                <a:ea typeface="宋体" panose="02010600030101010101" pitchFamily="2" charset="-122"/>
              </a:rPr>
              <a:t>一端是</a:t>
            </a:r>
            <a:r>
              <a:rPr lang="zh-CN" altLang="zh-CN" dirty="0">
                <a:solidFill>
                  <a:srgbClr val="FF0000"/>
                </a:solidFill>
                <a:ea typeface="宋体" panose="02010600030101010101" pitchFamily="2" charset="-122"/>
              </a:rPr>
              <a:t>空心三角</a:t>
            </a:r>
            <a:r>
              <a:rPr lang="zh-CN" altLang="zh-CN" dirty="0">
                <a:ea typeface="宋体" panose="02010600030101010101" pitchFamily="2" charset="-122"/>
              </a:rPr>
              <a:t>的</a:t>
            </a:r>
            <a:r>
              <a:rPr lang="zh-CN" altLang="zh-CN" dirty="0">
                <a:solidFill>
                  <a:srgbClr val="FF0000"/>
                </a:solidFill>
                <a:ea typeface="宋体" panose="02010600030101010101" pitchFamily="2" charset="-122"/>
              </a:rPr>
              <a:t>实线</a:t>
            </a:r>
            <a:endParaRPr lang="en-US" altLang="zh-CN" dirty="0">
              <a:solidFill>
                <a:srgbClr val="FF000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继承关系的鉴别符</a:t>
            </a:r>
            <a:endParaRPr lang="zh-CN" altLang="en-US" dirty="0">
              <a:ea typeface="宋体" panose="02010600030101010101" pitchFamily="2" charset="-122"/>
            </a:endParaRPr>
          </a:p>
        </p:txBody>
      </p:sp>
      <p:sp>
        <p:nvSpPr>
          <p:cNvPr id="2970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29701" name="组合 13"/>
          <p:cNvGrpSpPr/>
          <p:nvPr/>
        </p:nvGrpSpPr>
        <p:grpSpPr>
          <a:xfrm>
            <a:off x="5003800" y="5300663"/>
            <a:ext cx="1295400" cy="152400"/>
            <a:chOff x="1066800" y="5029200"/>
            <a:chExt cx="1295400" cy="152400"/>
          </a:xfrm>
        </p:grpSpPr>
        <p:sp>
          <p:nvSpPr>
            <p:cNvPr id="29702" name="Line 21"/>
            <p:cNvSpPr/>
            <p:nvPr/>
          </p:nvSpPr>
          <p:spPr>
            <a:xfrm>
              <a:off x="1066800" y="5105400"/>
              <a:ext cx="1143000" cy="0"/>
            </a:xfrm>
            <a:prstGeom prst="line">
              <a:avLst/>
            </a:prstGeom>
            <a:ln w="12700" cap="sq" cmpd="sng">
              <a:solidFill>
                <a:schemeClr val="tx1"/>
              </a:solidFill>
              <a:prstDash val="solid"/>
              <a:headEnd type="none" w="sm" len="sm"/>
              <a:tailEnd type="none" w="sm" len="sm"/>
            </a:ln>
          </p:spPr>
        </p:sp>
        <p:sp>
          <p:nvSpPr>
            <p:cNvPr id="29703" name="Line 22"/>
            <p:cNvSpPr/>
            <p:nvPr/>
          </p:nvSpPr>
          <p:spPr>
            <a:xfrm flipV="1">
              <a:off x="2209800" y="5029200"/>
              <a:ext cx="0" cy="152400"/>
            </a:xfrm>
            <a:prstGeom prst="line">
              <a:avLst/>
            </a:prstGeom>
            <a:ln w="12700" cap="sq" cmpd="sng">
              <a:solidFill>
                <a:schemeClr val="tx1"/>
              </a:solidFill>
              <a:prstDash val="solid"/>
              <a:headEnd type="none" w="sm" len="sm"/>
              <a:tailEnd type="none" w="sm" len="sm"/>
            </a:ln>
          </p:spPr>
        </p:sp>
        <p:sp>
          <p:nvSpPr>
            <p:cNvPr id="29704" name="Line 23"/>
            <p:cNvSpPr/>
            <p:nvPr/>
          </p:nvSpPr>
          <p:spPr>
            <a:xfrm flipV="1">
              <a:off x="2209800" y="5105400"/>
              <a:ext cx="152400" cy="76200"/>
            </a:xfrm>
            <a:prstGeom prst="line">
              <a:avLst/>
            </a:prstGeom>
            <a:ln w="12700" cap="sq" cmpd="sng">
              <a:solidFill>
                <a:schemeClr val="tx1"/>
              </a:solidFill>
              <a:prstDash val="solid"/>
              <a:headEnd type="none" w="sm" len="sm"/>
              <a:tailEnd type="none" w="sm" len="sm"/>
            </a:ln>
          </p:spPr>
        </p:sp>
        <p:sp>
          <p:nvSpPr>
            <p:cNvPr id="29705" name="Line 24"/>
            <p:cNvSpPr/>
            <p:nvPr/>
          </p:nvSpPr>
          <p:spPr>
            <a:xfrm>
              <a:off x="2209800" y="5029200"/>
              <a:ext cx="152400" cy="76200"/>
            </a:xfrm>
            <a:prstGeom prst="line">
              <a:avLst/>
            </a:prstGeom>
            <a:ln w="12700" cap="sq" cmpd="sng">
              <a:solidFill>
                <a:schemeClr val="tx1"/>
              </a:solidFill>
              <a:prstDash val="solid"/>
              <a:headEnd type="none" w="sm" len="sm"/>
              <a:tailEnd type="none" w="sm" len="sm"/>
            </a:ln>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0723"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4</a:t>
            </a:r>
            <a:r>
              <a:rPr lang="zh-CN" altLang="en-US" dirty="0">
                <a:ea typeface="宋体" panose="02010600030101010101" pitchFamily="2" charset="-122"/>
              </a:rPr>
              <a:t>、</a:t>
            </a:r>
            <a:r>
              <a:rPr lang="zh-CN" altLang="en-US" dirty="0">
                <a:solidFill>
                  <a:srgbClr val="0070C0"/>
                </a:solidFill>
                <a:ea typeface="宋体" panose="02010600030101010101" pitchFamily="2" charset="-122"/>
              </a:rPr>
              <a:t>依赖</a:t>
            </a:r>
            <a:r>
              <a:rPr lang="zh-CN" altLang="en-US" dirty="0">
                <a:ea typeface="宋体" panose="02010600030101010101" pitchFamily="2" charset="-122"/>
              </a:rPr>
              <a:t>（</a:t>
            </a:r>
            <a:r>
              <a:rPr lang="en-US" altLang="zh-CN" dirty="0">
                <a:ea typeface="宋体" panose="02010600030101010101" pitchFamily="2" charset="-122"/>
              </a:rPr>
              <a:t>depending</a:t>
            </a:r>
            <a:r>
              <a:rPr lang="zh-CN" altLang="en-US"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指出两个或多个模型元素之间语义上的关系。它表示被依赖元素的变化会要求或指示依赖元素的改变。</a:t>
            </a:r>
            <a:endParaRPr lang="zh-CN" altLang="en-US" dirty="0">
              <a:latin typeface="Times New Roman" panose="02020603050405020304" pitchFamily="18" charset="0"/>
              <a:ea typeface="宋体" panose="02010600030101010101" pitchFamily="2" charset="-122"/>
            </a:endParaRPr>
          </a:p>
          <a:p>
            <a:pPr algn="just" eaLnBrk="1" hangingPunct="1">
              <a:lnSpc>
                <a:spcPct val="110000"/>
              </a:lnSpc>
              <a:buClr>
                <a:schemeClr val="accent1"/>
              </a:buClr>
              <a:buSzPct val="70000"/>
              <a:buFont typeface="Wingdings" panose="05000000000000000000" pitchFamily="2" charset="2"/>
            </a:pPr>
            <a:r>
              <a:rPr lang="zh-CN" altLang="en-US" dirty="0">
                <a:latin typeface="Times New Roman" panose="02020603050405020304" pitchFamily="18" charset="0"/>
                <a:ea typeface="宋体" panose="02010600030101010101" pitchFamily="2" charset="-122"/>
              </a:rPr>
              <a:t>图符：用一个虚线箭头表示，箭头上可附加含关键字的构造型，关键字用来指明依赖的种类。</a:t>
            </a:r>
            <a:endParaRPr lang="zh-CN" altLang="en-US" dirty="0">
              <a:latin typeface="Times New Roman" panose="02020603050405020304" pitchFamily="18" charset="0"/>
              <a:ea typeface="宋体" panose="02010600030101010101" pitchFamily="2" charset="-122"/>
            </a:endParaRPr>
          </a:p>
          <a:p>
            <a:pPr eaLnBrk="1" hangingPunct="1">
              <a:buClr>
                <a:schemeClr val="accent1"/>
              </a:buClr>
              <a:buSzPct val="70000"/>
              <a:buFont typeface="Wingdings" panose="05000000000000000000" pitchFamily="2" charset="2"/>
              <a:buNone/>
            </a:pP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072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30725" name="Line 4"/>
          <p:cNvSpPr/>
          <p:nvPr/>
        </p:nvSpPr>
        <p:spPr>
          <a:xfrm>
            <a:off x="6084888" y="3429000"/>
            <a:ext cx="1219200" cy="0"/>
          </a:xfrm>
          <a:prstGeom prst="line">
            <a:avLst/>
          </a:prstGeom>
          <a:ln w="12700" cap="flat" cmpd="sng">
            <a:solidFill>
              <a:schemeClr val="tx1"/>
            </a:solidFill>
            <a:prstDash val="dash"/>
            <a:headEnd type="none" w="sm" len="sm"/>
            <a:tailEnd type="triangle" w="lg" len="lg"/>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定义类的关联</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1747" name="内容占位符 2"/>
          <p:cNvSpPr>
            <a:spLocks noGrp="1"/>
          </p:cNvSpPr>
          <p:nvPr>
            <p:ph sz="quarter" idx="1"/>
          </p:nvPr>
        </p:nvSpPr>
        <p:spPr>
          <a:xfrm>
            <a:off x="684213" y="1600200"/>
            <a:ext cx="7240587" cy="4873625"/>
          </a:xfrm>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5</a:t>
            </a:r>
            <a:r>
              <a:rPr lang="zh-CN" altLang="en-US" dirty="0">
                <a:ea typeface="宋体" panose="02010600030101010101" pitchFamily="2" charset="-122"/>
              </a:rPr>
              <a:t>、</a:t>
            </a:r>
            <a:r>
              <a:rPr lang="zh-CN" altLang="en-US" dirty="0">
                <a:solidFill>
                  <a:srgbClr val="0070C0"/>
                </a:solidFill>
                <a:ea typeface="宋体" panose="02010600030101010101" pitchFamily="2" charset="-122"/>
              </a:rPr>
              <a:t>实现</a:t>
            </a:r>
            <a:r>
              <a:rPr lang="zh-CN" altLang="en-US" dirty="0">
                <a:ea typeface="宋体" panose="02010600030101010101" pitchFamily="2" charset="-122"/>
              </a:rPr>
              <a:t>（</a:t>
            </a:r>
            <a:r>
              <a:rPr lang="en-US" altLang="zh-CN" dirty="0">
                <a:ea typeface="宋体" panose="02010600030101010101" pitchFamily="2" charset="-122"/>
              </a:rPr>
              <a:t>realization</a:t>
            </a:r>
            <a:r>
              <a:rPr lang="zh-CN" altLang="en-US" dirty="0">
                <a:ea typeface="宋体" panose="02010600030101010101" pitchFamily="2" charset="-122"/>
              </a:rPr>
              <a:t>）：是一种类与接口的关系，表示类是接口所有特征和行为的实现</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图符：带三角箭头的虚线，箭头指向接口</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buNone/>
            </a:pPr>
            <a:endParaRPr lang="en-US" altLang="zh-CN" dirty="0">
              <a:ea typeface="宋体" panose="02010600030101010101" pitchFamily="2" charset="-122"/>
            </a:endParaRPr>
          </a:p>
        </p:txBody>
      </p:sp>
      <p:sp>
        <p:nvSpPr>
          <p:cNvPr id="3174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接口</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2771"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接口</a:t>
            </a:r>
            <a:r>
              <a:rPr lang="zh-CN" altLang="en-US" dirty="0">
                <a:ea typeface="宋体" panose="02010600030101010101" pitchFamily="2" charset="-122"/>
              </a:rPr>
              <a:t>（</a:t>
            </a:r>
            <a:r>
              <a:rPr lang="en-US" altLang="zh-CN" dirty="0">
                <a:ea typeface="宋体" panose="02010600030101010101" pitchFamily="2" charset="-122"/>
              </a:rPr>
              <a:t>Interface</a:t>
            </a:r>
            <a:r>
              <a:rPr lang="zh-CN" altLang="en-US" dirty="0">
                <a:ea typeface="宋体" panose="02010600030101010101" pitchFamily="2" charset="-122"/>
              </a:rPr>
              <a:t>）：</a:t>
            </a:r>
            <a:r>
              <a:rPr lang="zh-CN" altLang="zh-CN" dirty="0">
                <a:ea typeface="宋体" panose="02010600030101010101" pitchFamily="2" charset="-122"/>
              </a:rPr>
              <a:t>定义了一组提供给外界的操作。</a:t>
            </a:r>
            <a:r>
              <a:rPr lang="zh-CN" altLang="en-US" dirty="0">
                <a:ea typeface="宋体" panose="02010600030101010101" pitchFamily="2" charset="-122"/>
              </a:rPr>
              <a:t>间接访问</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将一个模型元素（如类）连接到另一个模型元素（如接口），后者（如接口）是行为的规约，而不是结构，前者（如类）必须至少支持（通过继承或直接声明）后者的所有操作。可以认为前者是后者的实现。</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zh-CN" dirty="0">
                <a:ea typeface="宋体" panose="02010600030101010101" pitchFamily="2" charset="-122"/>
              </a:rPr>
              <a:t>接口是一个特殊的抽象类，没有属性，只有抽象操作</a:t>
            </a:r>
            <a:r>
              <a:rPr lang="zh-CN" altLang="en-US" dirty="0">
                <a:ea typeface="宋体" panose="02010600030101010101" pitchFamily="2" charset="-122"/>
              </a:rPr>
              <a:t>（</a:t>
            </a:r>
            <a:r>
              <a:rPr lang="zh-CN" altLang="zh-CN" dirty="0">
                <a:ea typeface="宋体" panose="02010600030101010101" pitchFamily="2" charset="-122"/>
              </a:rPr>
              <a:t>只有操作名，没有具体实现</a:t>
            </a:r>
            <a:r>
              <a:rPr lang="zh-CN" altLang="en-US" dirty="0">
                <a:ea typeface="宋体" panose="02010600030101010101" pitchFamily="2" charset="-122"/>
              </a:rPr>
              <a:t>），加上构造型</a:t>
            </a:r>
            <a:r>
              <a:rPr lang="en-US" altLang="zh-CN" dirty="0">
                <a:ea typeface="宋体" panose="02010600030101010101" pitchFamily="2" charset="-122"/>
              </a:rPr>
              <a:t>&lt;&lt;interface&gt;&gt;</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3277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包与子系统</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a:xfrm>
            <a:off x="457200" y="1628775"/>
            <a:ext cx="7570788" cy="496887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包</a:t>
            </a:r>
            <a:r>
              <a:rPr lang="zh-CN" altLang="en-US" dirty="0">
                <a:ea typeface="宋体" panose="02010600030101010101" pitchFamily="2" charset="-122"/>
              </a:rPr>
              <a:t>（</a:t>
            </a:r>
            <a:r>
              <a:rPr lang="en-US" altLang="zh-CN" dirty="0">
                <a:ea typeface="宋体" panose="02010600030101010101" pitchFamily="2" charset="-122"/>
              </a:rPr>
              <a:t>Package</a:t>
            </a:r>
            <a:r>
              <a:rPr lang="zh-CN" altLang="en-US" dirty="0">
                <a:ea typeface="宋体" panose="02010600030101010101" pitchFamily="2" charset="-122"/>
              </a:rPr>
              <a:t>）：当对大型系统进行建模时，把那些语义相近并倾向于一起变化的元素组织起来加入同一包，这样方便理解和处理整个模型，同时也便于轻松地控制这些元素的可见性。</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solidFill>
                  <a:srgbClr val="FF0000"/>
                </a:solidFill>
                <a:ea typeface="宋体" panose="02010600030101010101" pitchFamily="2" charset="-122"/>
              </a:rPr>
              <a:t>优点</a:t>
            </a:r>
            <a:r>
              <a:rPr lang="zh-CN" altLang="en-US" dirty="0">
                <a:ea typeface="宋体" panose="02010600030101010101" pitchFamily="2" charset="-122"/>
              </a:rPr>
              <a:t>：</a:t>
            </a:r>
            <a:r>
              <a:rPr lang="zh-CN" altLang="zh-CN" dirty="0">
                <a:ea typeface="宋体" panose="02010600030101010101" pitchFamily="2" charset="-122"/>
              </a:rPr>
              <a:t>用包</a:t>
            </a:r>
            <a:r>
              <a:rPr lang="zh-CN" altLang="en-US" dirty="0">
                <a:ea typeface="宋体" panose="02010600030101010101" pitchFamily="2" charset="-122"/>
              </a:rPr>
              <a:t>（</a:t>
            </a:r>
            <a:r>
              <a:rPr lang="zh-CN" altLang="zh-CN" dirty="0">
                <a:ea typeface="宋体" panose="02010600030101010101" pitchFamily="2" charset="-122"/>
              </a:rPr>
              <a:t>子系统</a:t>
            </a:r>
            <a:r>
              <a:rPr lang="zh-CN" altLang="en-US" dirty="0">
                <a:ea typeface="宋体" panose="02010600030101010101" pitchFamily="2" charset="-122"/>
              </a:rPr>
              <a:t>）</a:t>
            </a:r>
            <a:r>
              <a:rPr lang="zh-CN" altLang="zh-CN" dirty="0">
                <a:ea typeface="宋体" panose="02010600030101010101" pitchFamily="2" charset="-122"/>
              </a:rPr>
              <a:t>建模，可以清晰、简洁的描述一个复杂的系统 ，形成一个描述系统的结构层次 ，将复杂问题简单化，这是一种解决复杂问题的有效方法 。</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系统体系结构的基本单元</a:t>
            </a:r>
            <a:r>
              <a:rPr lang="en-US" altLang="zh-CN" dirty="0">
                <a:ea typeface="宋体" panose="02010600030101010101" pitchFamily="2" charset="-122"/>
              </a:rPr>
              <a:t>——</a:t>
            </a:r>
            <a:r>
              <a:rPr lang="zh-CN" altLang="en-US" dirty="0">
                <a:ea typeface="宋体" panose="02010600030101010101" pitchFamily="2" charset="-122"/>
              </a:rPr>
              <a:t>包（子系统）</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注意：依赖产生耦合，应该尽量将依赖性减少到最低程度。设计良好的包是高内聚、低耦合的，并且对其内容的访问具有严密的控制。</a:t>
            </a:r>
            <a:endParaRPr lang="zh-CN" altLang="en-US" dirty="0">
              <a:ea typeface="宋体" panose="02010600030101010101" pitchFamily="2" charset="-122"/>
            </a:endParaRPr>
          </a:p>
        </p:txBody>
      </p:sp>
      <p:sp>
        <p:nvSpPr>
          <p:cNvPr id="3379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包与子系统</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4819" name="内容占位符 2"/>
          <p:cNvSpPr>
            <a:spLocks noGrp="1"/>
          </p:cNvSpPr>
          <p:nvPr>
            <p:ph sz="quarter" idx="1"/>
          </p:nvPr>
        </p:nvSpPr>
        <p:spPr>
          <a:xfrm>
            <a:off x="457200" y="1484313"/>
            <a:ext cx="7715250" cy="4989512"/>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包图</a:t>
            </a:r>
            <a:r>
              <a:rPr lang="zh-CN" altLang="en-US" dirty="0">
                <a:ea typeface="宋体" panose="02010600030101010101" pitchFamily="2" charset="-122"/>
              </a:rPr>
              <a:t>：由包和包之间的联系构成，它是维护和控制系统总体结构的重要建模工具。</a:t>
            </a:r>
            <a:endParaRPr lang="en-US" altLang="zh-CN"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包是模型元素的分组机制，它把模型元素划分成若干个子集。包可以拥有</a:t>
            </a:r>
            <a:r>
              <a:rPr lang="en-US" altLang="zh-CN" dirty="0">
                <a:ea typeface="宋体" panose="02010600030101010101" pitchFamily="2" charset="-122"/>
              </a:rPr>
              <a:t>UML</a:t>
            </a:r>
            <a:r>
              <a:rPr lang="zh-CN" altLang="en-US" dirty="0">
                <a:ea typeface="宋体" panose="02010600030101010101" pitchFamily="2" charset="-122"/>
              </a:rPr>
              <a:t>中的其他元素，包括类、接口、构件、节点、协作、用例和图，包甚至还可以包含其他包。</a:t>
            </a:r>
            <a:endParaRPr lang="en-US" altLang="zh-CN"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包与子系统</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5843"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命名：每个包都必须有一个区别于其他与其他包的名字。模型包是名字是一个字符串，它可分为简单名（</a:t>
            </a:r>
            <a:r>
              <a:rPr lang="en-US" altLang="zh-CN" dirty="0">
                <a:ea typeface="宋体" panose="02010600030101010101" pitchFamily="2" charset="-122"/>
              </a:rPr>
              <a:t>simple name</a:t>
            </a:r>
            <a:r>
              <a:rPr lang="zh-CN" altLang="en-US" dirty="0">
                <a:ea typeface="宋体" panose="02010600030101010101" pitchFamily="2" charset="-122"/>
              </a:rPr>
              <a:t>）和路径名（</a:t>
            </a:r>
            <a:r>
              <a:rPr lang="en-US" altLang="zh-CN" dirty="0">
                <a:ea typeface="宋体" panose="02010600030101010101" pitchFamily="2" charset="-122"/>
              </a:rPr>
              <a:t>path name</a:t>
            </a:r>
            <a:r>
              <a:rPr lang="zh-CN" altLang="en-US" dirty="0">
                <a:ea typeface="宋体" panose="02010600030101010101" pitchFamily="2" charset="-122"/>
              </a:rPr>
              <a:t>）。简单名是指包仅含一个简单的名称，路径名是指以包所位于的外围包的名字作为前缀的包名。以</a:t>
            </a:r>
            <a:r>
              <a:rPr lang="en-US" altLang="zh-CN" dirty="0">
                <a:ea typeface="宋体" panose="02010600030101010101" pitchFamily="2" charset="-122"/>
              </a:rPr>
              <a:t>::</a:t>
            </a:r>
            <a:r>
              <a:rPr lang="zh-CN" altLang="en-US" dirty="0">
                <a:ea typeface="宋体" panose="02010600030101010101" pitchFamily="2" charset="-122"/>
              </a:rPr>
              <a:t>连接，加构造型</a:t>
            </a:r>
            <a:r>
              <a:rPr lang="en-US" altLang="zh-CN" dirty="0">
                <a:ea typeface="宋体" panose="02010600030101010101" pitchFamily="2" charset="-122"/>
              </a:rPr>
              <a:t>&lt;&lt;subsystem&gt;&gt;</a:t>
            </a:r>
            <a:r>
              <a:rPr lang="zh-CN" altLang="en-US" dirty="0">
                <a:ea typeface="宋体" panose="02010600030101010101" pitchFamily="2" charset="-122"/>
              </a:rPr>
              <a:t>。</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en-US" altLang="zh-CN"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图符：带有标签的文件夹。</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584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3" name="组合 10"/>
          <p:cNvGrpSpPr/>
          <p:nvPr/>
        </p:nvGrpSpPr>
        <p:grpSpPr bwMode="auto">
          <a:xfrm>
            <a:off x="5286380" y="4437112"/>
            <a:ext cx="1371600" cy="685800"/>
            <a:chOff x="1066800" y="4267200"/>
            <a:chExt cx="1371600" cy="685800"/>
          </a:xfrm>
          <a:noFill/>
        </p:grpSpPr>
        <p:sp>
          <p:nvSpPr>
            <p:cNvPr id="6" name="Rectangle 7"/>
            <p:cNvSpPr>
              <a:spLocks noChangeArrowheads="1"/>
            </p:cNvSpPr>
            <p:nvPr/>
          </p:nvSpPr>
          <p:spPr bwMode="auto">
            <a:xfrm>
              <a:off x="1066800" y="4495800"/>
              <a:ext cx="1371600" cy="457200"/>
            </a:xfrm>
            <a:prstGeom prst="rect">
              <a:avLst/>
            </a:prstGeom>
            <a:grpFill/>
            <a:ln w="12700" cap="sq">
              <a:solidFill>
                <a:schemeClr val="tx1"/>
              </a:solidFill>
              <a:miter lim="800000"/>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Package</a:t>
              </a:r>
              <a:endParaRPr kumimoji="1" lang="en-US" altLang="zh-CN" sz="16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 name="Rectangle 8"/>
            <p:cNvSpPr>
              <a:spLocks noChangeArrowheads="1"/>
            </p:cNvSpPr>
            <p:nvPr/>
          </p:nvSpPr>
          <p:spPr bwMode="auto">
            <a:xfrm>
              <a:off x="1066800" y="4267200"/>
              <a:ext cx="381000" cy="228600"/>
            </a:xfrm>
            <a:prstGeom prst="rect">
              <a:avLst/>
            </a:prstGeom>
            <a:grpFill/>
            <a:ln w="12700" cap="sq">
              <a:solidFill>
                <a:schemeClr val="tx1"/>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包与子系统</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a:xfrm>
            <a:off x="323850" y="1600200"/>
            <a:ext cx="8135938" cy="4873625"/>
          </a:xfrm>
        </p:spPr>
        <p:txBody>
          <a:bodyPr vert="horz" wrap="square" lIns="91440" tIns="45720" rIns="91440" bIns="45720" anchor="t" anchorCtr="0"/>
          <a:p>
            <a:pPr>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中对包预定义的构造型有：</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&lt;&lt;system&gt;&gt;</a:t>
            </a:r>
            <a:r>
              <a:rPr lang="zh-CN" altLang="en-US" dirty="0">
                <a:ea typeface="宋体" panose="02010600030101010101" pitchFamily="2" charset="-122"/>
              </a:rPr>
              <a:t>：系统模型。</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&lt;&lt;subsystem&gt;&gt;</a:t>
            </a:r>
            <a:r>
              <a:rPr lang="zh-CN" altLang="en-US" dirty="0">
                <a:ea typeface="宋体" panose="02010600030101010101" pitchFamily="2" charset="-122"/>
              </a:rPr>
              <a:t>：子系统模型。</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&lt;&lt;facade&gt;&gt;</a:t>
            </a:r>
            <a:r>
              <a:rPr lang="zh-CN" altLang="en-US" dirty="0">
                <a:ea typeface="宋体" panose="02010600030101010101" pitchFamily="2" charset="-122"/>
              </a:rPr>
              <a:t>：仅仅是其他包的某一个视图，如业务模型中有关产品的信息。</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&lt;&lt;stub&gt;&gt;</a:t>
            </a:r>
            <a:r>
              <a:rPr lang="zh-CN" altLang="en-US" dirty="0">
                <a:ea typeface="宋体" panose="02010600030101010101" pitchFamily="2" charset="-122"/>
              </a:rPr>
              <a:t>：另一个包公共内容的服务代理（存根）。</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&lt;&lt;framework&gt;&gt;</a:t>
            </a:r>
            <a:r>
              <a:rPr lang="zh-CN" altLang="en-US" dirty="0">
                <a:ea typeface="宋体" panose="02010600030101010101" pitchFamily="2" charset="-122"/>
              </a:rPr>
              <a:t>：模型的体系结构。</a:t>
            </a:r>
            <a:endParaRPr lang="zh-CN" altLang="en-US" dirty="0">
              <a:ea typeface="宋体" panose="02010600030101010101" pitchFamily="2" charset="-122"/>
            </a:endParaRPr>
          </a:p>
        </p:txBody>
      </p:sp>
      <p:sp>
        <p:nvSpPr>
          <p:cNvPr id="3686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包与子系统</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7891" name="内容占位符 2"/>
          <p:cNvSpPr>
            <a:spLocks noGrp="1"/>
          </p:cNvSpPr>
          <p:nvPr>
            <p:ph sz="quarter" idx="1"/>
          </p:nvPr>
        </p:nvSpPr>
        <p:spPr>
          <a:xfrm>
            <a:off x="457200" y="1700213"/>
            <a:ext cx="3106738" cy="4773612"/>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包的嵌套</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内嵌式表示法：可表示包之间的关系</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树形层次结构表示法：</a:t>
            </a:r>
            <a:r>
              <a:rPr lang="zh-CN" altLang="en-US" dirty="0">
                <a:solidFill>
                  <a:srgbClr val="FF0000"/>
                </a:solidFill>
                <a:ea typeface="宋体" panose="02010600030101010101" pitchFamily="2" charset="-122"/>
              </a:rPr>
              <a:t>无法表示包之间的关系</a:t>
            </a:r>
            <a:endParaRPr lang="zh-CN" altLang="en-US" dirty="0">
              <a:solidFill>
                <a:srgbClr val="FF0000"/>
              </a:solidFill>
              <a:ea typeface="宋体" panose="02010600030101010101" pitchFamily="2" charset="-122"/>
            </a:endParaRPr>
          </a:p>
        </p:txBody>
      </p:sp>
      <p:sp>
        <p:nvSpPr>
          <p:cNvPr id="3789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7893" name="Picture 4"/>
          <p:cNvPicPr>
            <a:picLocks noChangeAspect="1"/>
          </p:cNvPicPr>
          <p:nvPr/>
        </p:nvPicPr>
        <p:blipFill>
          <a:blip r:embed="rId1"/>
          <a:stretch>
            <a:fillRect/>
          </a:stretch>
        </p:blipFill>
        <p:spPr>
          <a:xfrm>
            <a:off x="3635375" y="1700213"/>
            <a:ext cx="4124325" cy="1800225"/>
          </a:xfrm>
          <a:prstGeom prst="rect">
            <a:avLst/>
          </a:prstGeom>
          <a:noFill/>
          <a:ln w="9525">
            <a:noFill/>
          </a:ln>
        </p:spPr>
      </p:pic>
      <p:pic>
        <p:nvPicPr>
          <p:cNvPr id="37894" name="Picture 5"/>
          <p:cNvPicPr>
            <a:picLocks noChangeAspect="1"/>
          </p:cNvPicPr>
          <p:nvPr/>
        </p:nvPicPr>
        <p:blipFill>
          <a:blip r:embed="rId2"/>
          <a:stretch>
            <a:fillRect/>
          </a:stretch>
        </p:blipFill>
        <p:spPr>
          <a:xfrm>
            <a:off x="3492500" y="3716338"/>
            <a:ext cx="5257800" cy="178117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包与子系统</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8915"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包之间的关系。</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依赖：两个包中的对象类之间有依赖，则两个包有依赖；包的依赖关系是不传递的。</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继承：包之间的继承关系描述了系统的接口。</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891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8917" name="Picture 2"/>
          <p:cNvPicPr>
            <a:picLocks noChangeAspect="1"/>
          </p:cNvPicPr>
          <p:nvPr/>
        </p:nvPicPr>
        <p:blipFill>
          <a:blip r:embed="rId1"/>
          <a:stretch>
            <a:fillRect/>
          </a:stretch>
        </p:blipFill>
        <p:spPr>
          <a:xfrm>
            <a:off x="2195513" y="3429000"/>
            <a:ext cx="3814762" cy="3046413"/>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noFill/>
          <a:ln>
            <a:noFill/>
          </a:ln>
        </p:spPr>
        <p:txBody>
          <a:bodyPr vert="horz" wrap="square" lIns="91440" tIns="45720" rIns="91440" bIns="45720" anchor="b" anchorCtr="0"/>
          <a:p>
            <a:pPr eaLnBrk="1" hangingPunct="1"/>
            <a:r>
              <a:rPr lang="en-US" altLang="zh-CN" dirty="0">
                <a:ea typeface="华文楷体" panose="02010600040101010101" charset="-122"/>
              </a:rPr>
              <a:t>4.5 </a:t>
            </a:r>
            <a:r>
              <a:rPr lang="zh-CN" altLang="en-US" dirty="0">
                <a:ea typeface="华文楷体" panose="02010600040101010101" charset="-122"/>
              </a:rPr>
              <a:t>包与子系统</a:t>
            </a:r>
            <a:endParaRPr lang="zh-CN" altLang="en-US" dirty="0">
              <a:ea typeface="华文楷体" panose="02010600040101010101" charset="-122"/>
            </a:endParaRPr>
          </a:p>
        </p:txBody>
      </p:sp>
      <p:sp>
        <p:nvSpPr>
          <p:cNvPr id="39939" name="Rectangle 3"/>
          <p:cNvSpPr>
            <a:spLocks noGrp="1"/>
          </p:cNvSpPr>
          <p:nvPr>
            <p:ph type="body"/>
          </p:nvPr>
        </p:nvSpPr>
        <p:spPr>
          <a:xfrm>
            <a:off x="611188" y="1600200"/>
            <a:ext cx="7313612" cy="4873625"/>
          </a:xfrm>
        </p:spPr>
        <p:txBody>
          <a:bodyPr vert="horz" wrap="square" lIns="91440" tIns="45720" rIns="91440" bIns="45720" anchor="t" anchorCtr="0"/>
          <a:p>
            <a:pPr eaLnBrk="1" hangingPunct="1"/>
            <a:r>
              <a:rPr lang="zh-CN" altLang="en-US" dirty="0">
                <a:latin typeface="Times New Roman" panose="02020603050405020304" pitchFamily="18" charset="0"/>
                <a:ea typeface="宋体" panose="02010600030101010101" pitchFamily="2" charset="-122"/>
              </a:rPr>
              <a:t>包图的适用情况：</a:t>
            </a:r>
            <a:endParaRPr lang="zh-CN" altLang="en-US" dirty="0">
              <a:latin typeface="Times New Roman" panose="02020603050405020304" pitchFamily="18" charset="0"/>
              <a:ea typeface="宋体" panose="02010600030101010101" pitchFamily="2" charset="-122"/>
            </a:endParaRPr>
          </a:p>
          <a:p>
            <a:pPr lvl="1" eaLnBrk="1" hangingPunct="1"/>
            <a:r>
              <a:rPr lang="zh-CN" altLang="en-US" dirty="0">
                <a:latin typeface="Times New Roman" panose="02020603050405020304" pitchFamily="18" charset="0"/>
                <a:ea typeface="宋体" panose="02010600030101010101" pitchFamily="2" charset="-122"/>
              </a:rPr>
              <a:t>在复杂大型项目中，包图是一种重要工具。系统体系结构的基本单元</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包（子系统）</a:t>
            </a:r>
            <a:endParaRPr lang="en-US" altLang="zh-CN" dirty="0">
              <a:latin typeface="Times New Roman" panose="02020603050405020304" pitchFamily="18" charset="0"/>
              <a:ea typeface="宋体" panose="02010600030101010101" pitchFamily="2" charset="-122"/>
            </a:endParaRPr>
          </a:p>
          <a:p>
            <a:pPr lvl="1" eaLnBrk="1" hangingPunct="1"/>
            <a:r>
              <a:rPr lang="zh-CN" altLang="en-US" dirty="0">
                <a:latin typeface="Times New Roman" panose="02020603050405020304" pitchFamily="18" charset="0"/>
                <a:ea typeface="宋体" panose="02010600030101010101" pitchFamily="2" charset="-122"/>
              </a:rPr>
              <a:t>包的概念对测试也特别有用。</a:t>
            </a:r>
            <a:endParaRPr lang="en-US" altLang="zh-CN" dirty="0">
              <a:latin typeface="Times New Roman" panose="02020603050405020304" pitchFamily="18" charset="0"/>
              <a:ea typeface="宋体" panose="02010600030101010101" pitchFamily="2" charset="-122"/>
            </a:endParaRPr>
          </a:p>
          <a:p>
            <a:pPr eaLnBrk="1" hangingPunct="1"/>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依赖关系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是类与类之间的连接，表示一个类依赖于另一个类的定义。只要是在类中用到了对方，那么他们之间就存在依赖关系。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2" name="图片 101"/>
          <p:cNvPicPr/>
          <p:nvPr/>
        </p:nvPicPr>
        <p:blipFill>
          <a:blip r:embed="rId1"/>
          <a:srcRect r="29757" b="13450"/>
          <a:stretch>
            <a:fillRect/>
          </a:stretch>
        </p:blipFill>
        <p:spPr>
          <a:xfrm>
            <a:off x="288290" y="2780665"/>
            <a:ext cx="8325485" cy="3623945"/>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依赖关系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是类与类之间的连接，表示一个类依赖于另一个类的定义。只要是在类中用到了对方，那么他们之间就存在依赖关系。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3" name="图片 102"/>
          <p:cNvPicPr/>
          <p:nvPr/>
        </p:nvPicPr>
        <p:blipFill>
          <a:blip r:embed="rId1"/>
          <a:srcRect l="3649" r="11828" b="12238"/>
          <a:stretch>
            <a:fillRect/>
          </a:stretch>
        </p:blipFill>
        <p:spPr>
          <a:xfrm>
            <a:off x="1043940" y="2996565"/>
            <a:ext cx="6633845" cy="346075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泛化关系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泛化关系实际上就是继承关系，它是依赖关系的特例</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如果A类继承了B类，我们就说A和B存在泛化关系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4" name="图片 103"/>
          <p:cNvPicPr/>
          <p:nvPr/>
        </p:nvPicPr>
        <p:blipFill>
          <a:blip r:embed="rId1"/>
          <a:srcRect r="64208"/>
          <a:stretch>
            <a:fillRect/>
          </a:stretch>
        </p:blipFill>
        <p:spPr>
          <a:xfrm>
            <a:off x="395605" y="3288030"/>
            <a:ext cx="3272790" cy="2966720"/>
          </a:xfrm>
          <a:prstGeom prst="rect">
            <a:avLst/>
          </a:prstGeom>
          <a:noFill/>
          <a:ln w="9525">
            <a:noFill/>
          </a:ln>
        </p:spPr>
      </p:pic>
      <p:pic>
        <p:nvPicPr>
          <p:cNvPr id="105" name="图片 104"/>
          <p:cNvPicPr/>
          <p:nvPr/>
        </p:nvPicPr>
        <p:blipFill>
          <a:blip r:embed="rId2"/>
          <a:srcRect r="50736"/>
          <a:stretch>
            <a:fillRect/>
          </a:stretch>
        </p:blipFill>
        <p:spPr>
          <a:xfrm>
            <a:off x="4211955" y="3860800"/>
            <a:ext cx="4504690" cy="1731010"/>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泛化关系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泛化关系实际上就是继承关系，它是依赖关系的特例</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如果A类继承了B类，我们就说A和B存在泛化关系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6" name="图片 105"/>
          <p:cNvPicPr/>
          <p:nvPr/>
        </p:nvPicPr>
        <p:blipFill>
          <a:blip r:embed="rId1"/>
          <a:srcRect l="35431" t="16645" r="40062" b="21778"/>
          <a:stretch>
            <a:fillRect/>
          </a:stretch>
        </p:blipFill>
        <p:spPr>
          <a:xfrm>
            <a:off x="2532380" y="3030855"/>
            <a:ext cx="3642360" cy="3496945"/>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实现关系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实现关系实际上就是A类实现B接口，他是依赖关系的特例</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7" name="图片 106"/>
          <p:cNvPicPr/>
          <p:nvPr/>
        </p:nvPicPr>
        <p:blipFill>
          <a:blip r:embed="rId1"/>
          <a:srcRect r="68236"/>
          <a:stretch>
            <a:fillRect/>
          </a:stretch>
        </p:blipFill>
        <p:spPr>
          <a:xfrm>
            <a:off x="323850" y="3068955"/>
            <a:ext cx="3488690" cy="2450465"/>
          </a:xfrm>
          <a:prstGeom prst="rect">
            <a:avLst/>
          </a:prstGeom>
          <a:noFill/>
          <a:ln w="9525">
            <a:noFill/>
          </a:ln>
        </p:spPr>
      </p:pic>
      <p:pic>
        <p:nvPicPr>
          <p:cNvPr id="108" name="图片 107"/>
          <p:cNvPicPr/>
          <p:nvPr/>
        </p:nvPicPr>
        <p:blipFill>
          <a:blip r:embed="rId2"/>
          <a:srcRect r="50299"/>
          <a:stretch>
            <a:fillRect/>
          </a:stretch>
        </p:blipFill>
        <p:spPr>
          <a:xfrm>
            <a:off x="3996055" y="3213100"/>
            <a:ext cx="4806315" cy="230632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实现关系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实现关系实际上就是A类实现B接口，他是依赖关系的特例</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9" name="图片 108"/>
          <p:cNvPicPr/>
          <p:nvPr/>
        </p:nvPicPr>
        <p:blipFill>
          <a:blip r:embed="rId1"/>
          <a:srcRect l="37972" t="14648" r="39007" b="20041"/>
          <a:stretch>
            <a:fillRect/>
          </a:stretch>
        </p:blipFill>
        <p:spPr>
          <a:xfrm>
            <a:off x="2700020" y="2708910"/>
            <a:ext cx="3323590" cy="363537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关联关系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关联关系实际上就是类与类之间的联系，</a:t>
            </a:r>
            <a:r>
              <a:rPr lang="zh-CN" altLang="en-US" dirty="0">
                <a:ea typeface="宋体" panose="02010600030101010101" pitchFamily="2" charset="-122"/>
                <a:sym typeface="+mn-ea"/>
              </a:rPr>
              <a:t>它使一个类知道另一个类的属性和方法。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关联具有导航性：即双向关系或</a:t>
            </a:r>
            <a:r>
              <a:rPr lang="zh-CN" altLang="en-US" dirty="0">
                <a:solidFill>
                  <a:srgbClr val="FF0000"/>
                </a:solidFill>
                <a:ea typeface="宋体" panose="02010600030101010101" pitchFamily="2" charset="-122"/>
              </a:rPr>
              <a:t>单向关系</a:t>
            </a:r>
            <a:endParaRPr lang="zh-CN" altLang="en-US" dirty="0">
              <a:solidFill>
                <a:srgbClr val="FF0000"/>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0" name="图片 109"/>
          <p:cNvPicPr/>
          <p:nvPr/>
        </p:nvPicPr>
        <p:blipFill>
          <a:blip r:embed="rId1"/>
          <a:srcRect r="61674"/>
          <a:stretch>
            <a:fillRect/>
          </a:stretch>
        </p:blipFill>
        <p:spPr>
          <a:xfrm>
            <a:off x="323850" y="3429000"/>
            <a:ext cx="4488180" cy="2915285"/>
          </a:xfrm>
          <a:prstGeom prst="rect">
            <a:avLst/>
          </a:prstGeom>
          <a:noFill/>
          <a:ln w="9525">
            <a:noFill/>
          </a:ln>
        </p:spPr>
      </p:pic>
      <p:pic>
        <p:nvPicPr>
          <p:cNvPr id="111" name="图片 110"/>
          <p:cNvPicPr/>
          <p:nvPr/>
        </p:nvPicPr>
        <p:blipFill>
          <a:blip r:embed="rId2"/>
          <a:srcRect r="69986"/>
          <a:stretch>
            <a:fillRect/>
          </a:stretch>
        </p:blipFill>
        <p:spPr>
          <a:xfrm>
            <a:off x="5076190" y="3573145"/>
            <a:ext cx="3586480" cy="2680970"/>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关联关系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关联关系实际上就是类与类之间的联系，</a:t>
            </a:r>
            <a:r>
              <a:rPr lang="zh-CN" altLang="en-US" dirty="0">
                <a:ea typeface="宋体" panose="02010600030101010101" pitchFamily="2" charset="-122"/>
                <a:sym typeface="+mn-ea"/>
              </a:rPr>
              <a:t>它使一个类知道另一个类的属性和方法。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关联具有导航性：即双向关系或</a:t>
            </a:r>
            <a:r>
              <a:rPr lang="zh-CN" altLang="en-US" dirty="0">
                <a:solidFill>
                  <a:srgbClr val="FF0000"/>
                </a:solidFill>
                <a:ea typeface="宋体" panose="02010600030101010101" pitchFamily="2" charset="-122"/>
              </a:rPr>
              <a:t>单向关系</a:t>
            </a:r>
            <a:endParaRPr lang="zh-CN" altLang="en-US" dirty="0">
              <a:solidFill>
                <a:srgbClr val="FF0000"/>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2" name="图片 111"/>
          <p:cNvPicPr/>
          <p:nvPr/>
        </p:nvPicPr>
        <p:blipFill>
          <a:blip r:embed="rId1"/>
          <a:srcRect l="20069" t="25864" r="29528" b="36986"/>
          <a:stretch>
            <a:fillRect/>
          </a:stretch>
        </p:blipFill>
        <p:spPr>
          <a:xfrm>
            <a:off x="1331595" y="3356610"/>
            <a:ext cx="6236335" cy="280924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关联关系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关联关系实际上就是类与类之间的联系，</a:t>
            </a:r>
            <a:r>
              <a:rPr lang="zh-CN" altLang="en-US" dirty="0">
                <a:ea typeface="宋体" panose="02010600030101010101" pitchFamily="2" charset="-122"/>
                <a:sym typeface="+mn-ea"/>
              </a:rPr>
              <a:t>它使一个类知道另一个类的属性和方法。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关联具有导航性：即</a:t>
            </a:r>
            <a:r>
              <a:rPr lang="zh-CN" altLang="en-US" dirty="0">
                <a:solidFill>
                  <a:srgbClr val="FF0000"/>
                </a:solidFill>
                <a:ea typeface="宋体" panose="02010600030101010101" pitchFamily="2" charset="-122"/>
              </a:rPr>
              <a:t>双向关系</a:t>
            </a:r>
            <a:r>
              <a:rPr lang="zh-CN" altLang="en-US" dirty="0">
                <a:solidFill>
                  <a:schemeClr val="tx1"/>
                </a:solidFill>
                <a:ea typeface="宋体" panose="02010600030101010101" pitchFamily="2" charset="-122"/>
              </a:rPr>
              <a:t>或单向关系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3" name="图片 112"/>
          <p:cNvPicPr/>
          <p:nvPr/>
        </p:nvPicPr>
        <p:blipFill>
          <a:blip r:embed="rId1"/>
          <a:srcRect r="67889"/>
          <a:stretch>
            <a:fillRect/>
          </a:stretch>
        </p:blipFill>
        <p:spPr>
          <a:xfrm>
            <a:off x="323850" y="3429000"/>
            <a:ext cx="3693795" cy="3044190"/>
          </a:xfrm>
          <a:prstGeom prst="rect">
            <a:avLst/>
          </a:prstGeom>
          <a:noFill/>
          <a:ln w="9525">
            <a:noFill/>
          </a:ln>
        </p:spPr>
      </p:pic>
      <p:pic>
        <p:nvPicPr>
          <p:cNvPr id="114" name="图片 113"/>
          <p:cNvPicPr/>
          <p:nvPr/>
        </p:nvPicPr>
        <p:blipFill>
          <a:blip r:embed="rId2"/>
          <a:srcRect r="70597"/>
          <a:stretch>
            <a:fillRect/>
          </a:stretch>
        </p:blipFill>
        <p:spPr>
          <a:xfrm>
            <a:off x="4284345" y="3429000"/>
            <a:ext cx="3808730" cy="304419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关联关系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关联关系实际上就是类与类之间的联系，</a:t>
            </a:r>
            <a:r>
              <a:rPr lang="zh-CN" altLang="en-US" dirty="0">
                <a:ea typeface="宋体" panose="02010600030101010101" pitchFamily="2" charset="-122"/>
                <a:sym typeface="+mn-ea"/>
              </a:rPr>
              <a:t>它使一个类知道另一个类的属性和方法。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关联具有导航性：即</a:t>
            </a:r>
            <a:r>
              <a:rPr lang="zh-CN" altLang="en-US" dirty="0">
                <a:solidFill>
                  <a:srgbClr val="FF0000"/>
                </a:solidFill>
                <a:ea typeface="宋体" panose="02010600030101010101" pitchFamily="2" charset="-122"/>
              </a:rPr>
              <a:t>双向关系</a:t>
            </a:r>
            <a:r>
              <a:rPr lang="zh-CN" altLang="en-US" dirty="0">
                <a:solidFill>
                  <a:schemeClr val="tx1"/>
                </a:solidFill>
                <a:ea typeface="宋体" panose="02010600030101010101" pitchFamily="2" charset="-122"/>
              </a:rPr>
              <a:t>或单向关系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5" name="图片 114"/>
          <p:cNvPicPr/>
          <p:nvPr/>
        </p:nvPicPr>
        <p:blipFill>
          <a:blip r:embed="rId1"/>
          <a:srcRect l="24014" t="17362" r="32681" b="44572"/>
          <a:stretch>
            <a:fillRect/>
          </a:stretch>
        </p:blipFill>
        <p:spPr>
          <a:xfrm>
            <a:off x="1217930" y="3356610"/>
            <a:ext cx="5946140" cy="2681605"/>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8201660"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聚合关系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ea typeface="宋体" panose="02010600030101010101" pitchFamily="2" charset="-122"/>
              </a:rPr>
              <a:t>聚合关系（Aggregation）表示的是整体和部分的关系，整体与部分可以分开。</a:t>
            </a:r>
            <a:endParaRPr lang="zh-CN" altLang="en-US" dirty="0">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latin typeface="楷体" panose="02010609060101010101" charset="-122"/>
                <a:ea typeface="楷体" panose="02010609060101010101" charset="-122"/>
              </a:rPr>
              <a:t>如电脑和鼠标是整体和部分的关系，鼠标离开电脑仍然可以存在。</a:t>
            </a:r>
            <a:endParaRPr lang="zh-CN" altLang="en-US" dirty="0">
              <a:latin typeface="楷体" panose="02010609060101010101" charset="-122"/>
              <a:ea typeface="楷体" panose="02010609060101010101"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6" name="图片 115"/>
          <p:cNvPicPr/>
          <p:nvPr/>
        </p:nvPicPr>
        <p:blipFill>
          <a:blip r:embed="rId1"/>
          <a:srcRect r="38403"/>
          <a:stretch>
            <a:fillRect/>
          </a:stretch>
        </p:blipFill>
        <p:spPr>
          <a:xfrm>
            <a:off x="828040" y="3500755"/>
            <a:ext cx="7278370" cy="325247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8201660"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聚合关系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ea typeface="宋体" panose="02010600030101010101" pitchFamily="2" charset="-122"/>
              </a:rPr>
              <a:t>聚合关系（Aggregation）表示的是整体和部分的关系，整体与部分可以分开。</a:t>
            </a:r>
            <a:endParaRPr lang="zh-CN" altLang="en-US" dirty="0">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latin typeface="楷体" panose="02010609060101010101" charset="-122"/>
                <a:ea typeface="楷体" panose="02010609060101010101" charset="-122"/>
              </a:rPr>
              <a:t>如电脑和鼠标是整体和部分的关系，鼠标离开电脑仍然可以存在。</a:t>
            </a:r>
            <a:endParaRPr lang="zh-CN" altLang="en-US" dirty="0">
              <a:latin typeface="楷体" panose="02010609060101010101" charset="-122"/>
              <a:ea typeface="楷体" panose="02010609060101010101"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7" name="图片 116"/>
          <p:cNvPicPr/>
          <p:nvPr/>
        </p:nvPicPr>
        <p:blipFill>
          <a:blip r:embed="rId1"/>
          <a:srcRect l="23618" t="16006" r="29132" b="31179"/>
          <a:stretch>
            <a:fillRect/>
          </a:stretch>
        </p:blipFill>
        <p:spPr>
          <a:xfrm>
            <a:off x="1619885" y="3500755"/>
            <a:ext cx="5789930" cy="2889250"/>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8201660"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组合关系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ea typeface="宋体" panose="02010600030101010101" pitchFamily="2" charset="-122"/>
              </a:rPr>
              <a:t>组合关系也是整体与部分的关系，但是整体与部分不可以分开，部分不能离开整体而单独存在。</a:t>
            </a:r>
            <a:endParaRPr lang="zh-CN" altLang="en-US" dirty="0">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latin typeface="楷体" panose="02010609060101010101" charset="-122"/>
                <a:ea typeface="楷体" panose="02010609060101010101" charset="-122"/>
              </a:rPr>
              <a:t>如公司和部门是整体和部分的关系，没有公司就不存在部门。</a:t>
            </a:r>
            <a:endParaRPr lang="zh-CN" altLang="en-US" dirty="0">
              <a:latin typeface="楷体" panose="02010609060101010101" charset="-122"/>
              <a:ea typeface="楷体" panose="02010609060101010101"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18" name="图片 117"/>
          <p:cNvPicPr/>
          <p:nvPr/>
        </p:nvPicPr>
        <p:blipFill>
          <a:blip r:embed="rId1"/>
          <a:srcRect r="39097"/>
          <a:stretch>
            <a:fillRect/>
          </a:stretch>
        </p:blipFill>
        <p:spPr>
          <a:xfrm>
            <a:off x="402590" y="3252470"/>
            <a:ext cx="7727950" cy="3442970"/>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340485"/>
            <a:ext cx="8201660"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chemeClr val="tx1"/>
                </a:solidFill>
                <a:ea typeface="宋体" panose="02010600030101010101" pitchFamily="2" charset="-122"/>
              </a:rPr>
              <a:t>类图中的关系</a:t>
            </a: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组合关系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ea typeface="宋体" panose="02010600030101010101" pitchFamily="2" charset="-122"/>
              </a:rPr>
              <a:t>组合关系也是整体与部分的关系，但是整体与部分不可以分开，部分不能离开整体而单独存在。</a:t>
            </a:r>
            <a:endParaRPr lang="zh-CN" altLang="en-US" dirty="0">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latin typeface="楷体" panose="02010609060101010101" charset="-122"/>
                <a:ea typeface="楷体" panose="02010609060101010101" charset="-122"/>
              </a:rPr>
              <a:t>如公司和部门是整体和部分的关系，没有公司就不存在部门。</a:t>
            </a:r>
            <a:endParaRPr lang="zh-CN" altLang="en-US" dirty="0">
              <a:latin typeface="楷体" panose="02010609060101010101" charset="-122"/>
              <a:ea typeface="楷体" panose="02010609060101010101"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547495" y="3213100"/>
            <a:ext cx="5359400" cy="352933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50000"/>
              </a:lnSpc>
              <a:buFont typeface="Wingdings" panose="05000000000000000000" charset="0"/>
              <a:buChar char="n"/>
            </a:pPr>
            <a:r>
              <a:rPr lang="zh-CN" altLang="en-US" dirty="0">
                <a:solidFill>
                  <a:srgbClr val="FF0000"/>
                </a:solidFill>
                <a:ea typeface="宋体" panose="02010600030101010101" pitchFamily="2" charset="-122"/>
              </a:rPr>
              <a:t>如何识别类？</a:t>
            </a:r>
            <a:endParaRPr lang="zh-CN" altLang="en-US" dirty="0">
              <a:solidFill>
                <a:srgbClr val="FF0000"/>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名词识别法；</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根据用例描述确定类；</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使用CRC分析法；</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根据边界类、控制类、实体类的划分来帮助分析系统中的类；</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参考设计模式确定类；</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对领域进行分析或利用已有领域分析结果得到类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名词识别法；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这种方法的关键是识别系统问题域中的实体。对系统进行描述，描述应该使用问题域中的概念和命名，从系统描述中标识名词及名词短语，其中的名词往往可以标识为对象，复数名词往往可以标识为类。</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名词识别法；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基本思路如下所示。</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(1)将用例事件滚作为输入、找出事件流中的名词或名词性短语(可采用下画线标注出来)、这些名词形成了实体类的初始候选列表。</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(2)合并那些含义相同的名词、因为事件流描述的可能不准确，所以相同的概念可能采用了不同的名词、需要将达曲不同的名词进行统一定义，并重新确定合适的名称。</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(3)删除那些系统不需要处理的名词。有些名词可能只是用例中的描述信息，并不需要处理、这些名词也不会作为实体类存在。属性的名词。有些名词可能只简单地描述一个值，这些单一的值一般也不作为类存在，而会作为其他类的属性。</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名词识别法；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基本思路如下所示。</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(4)删除作为参与者的名词。因为参与者是在系统范围外的，所以在当前用例中不作为实体类被定义。不过、由于大部分系统都会维护那些用户类型的参与者，因此这些用户信息将会在其他的用例(如登录、管理用户等用例)中被定义为实体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(5)删除与实现相关的名词。分析阶段不考虑系统实现方案，因此与实现相关的内容也不会作为实体类存在。</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名词识别法；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基本思路如下所示。</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(6)删除那些作为其他实体类属性的名词。有些名词可能只简单地描述一个值，这些单一的值一般也不作为类存在，而会作为其他类的属性。</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(7)对剩余的名词，综合考虑它们在当前用例及整个系统中的含义、作用和职责，并基于此确定合适的名称，从而将这些名词作为初始的实体类存在。</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从用例中识别类：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ea typeface="宋体" panose="02010600030101010101" pitchFamily="2" charset="-122"/>
                <a:sym typeface="+mn-ea"/>
              </a:rPr>
              <a:t>用例图实质上是一种系统描述的形式，可以根据用例描述来识别类。针对各个用例，可以提如下的问题辅助识别：</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ea typeface="宋体" panose="02010600030101010101" pitchFamily="2" charset="-122"/>
                <a:sym typeface="+mn-ea"/>
              </a:rPr>
              <a:t>用例描述中出现了那些实体？</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ea typeface="宋体" panose="02010600030101010101" pitchFamily="2" charset="-122"/>
                <a:sym typeface="+mn-ea"/>
              </a:rPr>
              <a:t>用例的完成需要哪些实体合作？</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ea typeface="宋体" panose="02010600030101010101" pitchFamily="2" charset="-122"/>
                <a:sym typeface="+mn-ea"/>
              </a:rPr>
              <a:t>用例执行过程中会产生并存储哪些信息？</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ea typeface="宋体" panose="02010600030101010101" pitchFamily="2" charset="-122"/>
                <a:sym typeface="+mn-ea"/>
              </a:rPr>
              <a:t>用例要求与之关联的每个角色的输入是什么？</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ea typeface="宋体" panose="02010600030101010101" pitchFamily="2" charset="-122"/>
                <a:sym typeface="+mn-ea"/>
              </a:rPr>
              <a:t>用例反馈与之关联的每个角色的输出是什么？</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ea typeface="宋体" panose="02010600030101010101" pitchFamily="2" charset="-122"/>
                <a:sym typeface="+mn-ea"/>
              </a:rPr>
              <a:t>用例需要操作哪些硬设备？</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使用CRC分析法：</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CRC （Class,Responsibilities,Collaboration）卡的最大价值在于把人们从思考过程模式中脱离出来，更充分的专注于对象技术。CRC卡允许整个项目组对设计做出贡献。参与系统设计的人越多，能够收集到的好主意也就越多。因为CRC会议是大家全力参与的，通常只需要很少的有类名的卡片，实际上没有写出完整的卡片。CRC会议进行中，一些人模拟系统和对象交流，把消息传给其他的对象。通过一步步处理，问题很容易地被解决。</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它由三 部分组成：类(Class)、职责(Responsibility)、协作(Collaborator)。下面是一个CRC卡的示例：</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使用CRC分析法：</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1" name="图片 100"/>
          <p:cNvPicPr/>
          <p:nvPr/>
        </p:nvPicPr>
        <p:blipFill>
          <a:blip r:embed="rId1">
            <a:lum bright="-6000" contrast="24000"/>
          </a:blip>
          <a:srcRect t="4622" b="1062"/>
          <a:stretch>
            <a:fillRect/>
          </a:stretch>
        </p:blipFill>
        <p:spPr>
          <a:xfrm>
            <a:off x="869950" y="2258060"/>
            <a:ext cx="7054850" cy="400367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使用CRC分析法：</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00" name="图片 99"/>
          <p:cNvPicPr/>
          <p:nvPr/>
        </p:nvPicPr>
        <p:blipFill>
          <a:blip r:embed="rId1"/>
          <a:stretch>
            <a:fillRect/>
          </a:stretch>
        </p:blipFill>
        <p:spPr>
          <a:xfrm>
            <a:off x="1547495" y="2205355"/>
            <a:ext cx="5788025" cy="3780790"/>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使用CRC分析法：</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职责是类需要知道或做的任何事物。这些职责是类自身所知的知识，或类在执行时所需的知识。协作是指为获取消息，或协助执行活动的其他类。创建CRC模型需要下面的步骤。</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1)     建立团队，包括客户、设计人员、分析人员和一个导引者。如果没有那么多人，那么可以是客户和你自己两个人。</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2)     找出需求中存在的名词和名词词组，特别注意复数（通常是集合），他们对应的单数才是。把你第一次想到的所有概念都写在白板或纸上。不管看起来这些概念是如何荒谬，把他们都写下来。</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3)     筛选。把对象分为三类，核心对象（必须首先实现），可选的（目前不能确定），以及不需要的对象。这之前最好确定一下你的项目范围。可以加入对分析、设计模式的考虑和应用。</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4)     建卡。取出CRC卡，把核心类写在每一张卡上，把可选的类和排除的类分别写在不同的纸上。</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5)     角色扮演。最好是一个团队执行，一个人很难做。每个人负责几个类。对每一个Use case其中的情景。导引者指定从某一个人的类开始，某一个人看一看自己能够独立完成，如果不能完成，大家看一看手中的类，谁能完成，就站起来，宣布自己 能够完成，以致继续这个过程，每个人完成自己的职责就坐下。在这过程中不断修改类的责任，并写下协作者的名字。</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根据边界类、控制类、实体类帮助分析系统中的类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UML中类有三种主要的</a:t>
            </a:r>
            <a:r>
              <a:rPr lang="zh-CN" altLang="en-US" dirty="0">
                <a:solidFill>
                  <a:schemeClr val="tx1"/>
                </a:solidFill>
                <a:ea typeface="宋体" panose="02010600030101010101" pitchFamily="2" charset="-122"/>
              </a:rPr>
              <a:t>类型：边界类、控制类和实体类。引入边界类、控制类及实体类的概念有助于分析和设计人员确定系统中的类。</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solidFill>
                  <a:srgbClr val="FF0000"/>
                </a:solidFill>
                <a:latin typeface="楷体" panose="02010609060101010101" charset="-122"/>
                <a:ea typeface="楷体" panose="02010609060101010101" charset="-122"/>
                <a:cs typeface="楷体" panose="02010609060101010101" charset="-122"/>
              </a:rPr>
              <a:t>边界类</a:t>
            </a:r>
            <a:r>
              <a:rPr lang="zh-CN" altLang="en-US" dirty="0">
                <a:solidFill>
                  <a:schemeClr val="tx1"/>
                </a:solidFill>
                <a:latin typeface="楷体" panose="02010609060101010101" charset="-122"/>
                <a:ea typeface="楷体" panose="02010609060101010101" charset="-122"/>
                <a:cs typeface="楷体" panose="02010609060101010101" charset="-122"/>
              </a:rPr>
              <a:t>位于系统与外界的交界处，窗体、报表、以及表示通讯协议的类、直接与外部设备交互的类、直接与外部系统交互的类等都是边界类。通过用例图可以确定需要的边界类，每个Actor/Use Case对至少要一个边界类，但并非每个Actor/Use Case对要唯一的边界类。</a:t>
            </a:r>
            <a:endParaRPr lang="zh-CN" altLang="en-US" dirty="0">
              <a:solidFill>
                <a:schemeClr val="tx1"/>
              </a:solidFill>
              <a:latin typeface="楷体" panose="02010609060101010101" charset="-122"/>
              <a:ea typeface="楷体" panose="02010609060101010101" charset="-122"/>
              <a:cs typeface="楷体" panose="02010609060101010101" charset="-122"/>
            </a:endParaRPr>
          </a:p>
          <a:p>
            <a:pPr algn="just" eaLnBrk="1" hangingPunct="1">
              <a:lnSpc>
                <a:spcPct val="100000"/>
              </a:lnSpc>
              <a:buFont typeface="Wingdings" panose="05000000000000000000" charset="0"/>
              <a:buChar char="ü"/>
            </a:pPr>
            <a:r>
              <a:rPr lang="zh-CN" altLang="en-US" dirty="0">
                <a:solidFill>
                  <a:srgbClr val="FF0000"/>
                </a:solidFill>
                <a:latin typeface="楷体" panose="02010609060101010101" charset="-122"/>
                <a:ea typeface="楷体" panose="02010609060101010101" charset="-122"/>
                <a:cs typeface="楷体" panose="02010609060101010101" charset="-122"/>
              </a:rPr>
              <a:t>实体类</a:t>
            </a:r>
            <a:r>
              <a:rPr lang="zh-CN" altLang="en-US" dirty="0">
                <a:solidFill>
                  <a:schemeClr val="tx1"/>
                </a:solidFill>
                <a:latin typeface="楷体" panose="02010609060101010101" charset="-122"/>
                <a:ea typeface="楷体" panose="02010609060101010101" charset="-122"/>
                <a:cs typeface="楷体" panose="02010609060101010101" charset="-122"/>
              </a:rPr>
              <a:t>保存要放进持久存储体的信息。持久存储体就是数据库、文件等可以永久存储数据的介质。实体类可以通过事件流和交互图发现。通常每个实体类在数据库中有相应的表，实体类中的属性对应数据库表中的字段。</a:t>
            </a:r>
            <a:endParaRPr lang="zh-CN" altLang="en-US" dirty="0">
              <a:solidFill>
                <a:schemeClr val="tx1"/>
              </a:solidFill>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sz="quarter" idx="1"/>
          </p:nvPr>
        </p:nvSpPr>
        <p:spPr>
          <a:xfrm>
            <a:off x="457200" y="1600200"/>
            <a:ext cx="7987665" cy="4873625"/>
          </a:xfrm>
        </p:spPr>
        <p:txBody>
          <a:bodyPr vert="horz" wrap="square" lIns="91440" tIns="45720" rIns="91440" bIns="45720" anchor="t" anchorCtr="0"/>
          <a:p>
            <a:pPr algn="just" eaLnBrk="1" hangingPunct="1">
              <a:lnSpc>
                <a:spcPct val="100000"/>
              </a:lnSpc>
              <a:buFont typeface="Wingdings" panose="05000000000000000000" charset="0"/>
              <a:buChar char="n"/>
            </a:pPr>
            <a:r>
              <a:rPr lang="zh-CN" altLang="en-US" dirty="0">
                <a:solidFill>
                  <a:schemeClr val="tx1"/>
                </a:solidFill>
                <a:ea typeface="宋体" panose="02010600030101010101" pitchFamily="2" charset="-122"/>
              </a:rPr>
              <a:t>根据边界类、控制类、实体类帮助分析系统中的类</a:t>
            </a:r>
            <a:endParaRPr lang="zh-CN" altLang="en-US" dirty="0">
              <a:solidFill>
                <a:schemeClr val="tx1"/>
              </a:solidFill>
              <a:ea typeface="宋体" panose="02010600030101010101" pitchFamily="2" charset="-122"/>
            </a:endParaRPr>
          </a:p>
          <a:p>
            <a:pPr marL="0" indent="0" algn="just" eaLnBrk="1" hangingPunct="1">
              <a:lnSpc>
                <a:spcPct val="100000"/>
              </a:lnSpc>
              <a:buFont typeface="Wingdings" panose="05000000000000000000" charset="0"/>
              <a:buNone/>
            </a:pPr>
            <a:r>
              <a:rPr lang="zh-CN" altLang="en-US" dirty="0">
                <a:solidFill>
                  <a:schemeClr val="tx1"/>
                </a:solidFill>
                <a:ea typeface="宋体" panose="02010600030101010101" pitchFamily="2" charset="-122"/>
              </a:rPr>
              <a:t>UML中类有三种主要的</a:t>
            </a:r>
            <a:r>
              <a:rPr lang="zh-CN" altLang="en-US" dirty="0">
                <a:solidFill>
                  <a:schemeClr val="tx1"/>
                </a:solidFill>
                <a:ea typeface="宋体" panose="02010600030101010101" pitchFamily="2" charset="-122"/>
              </a:rPr>
              <a:t>类型：边界类、控制类和实体类。引入边界类、控制类及实体类的概念有助于分析和设计人员确定系统中的类。</a:t>
            </a: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n"/>
            </a:pPr>
            <a:endParaRPr lang="zh-CN" altLang="en-US" dirty="0">
              <a:solidFill>
                <a:schemeClr val="tx1"/>
              </a:solidFill>
              <a:ea typeface="宋体" panose="02010600030101010101" pitchFamily="2" charset="-122"/>
            </a:endParaRPr>
          </a:p>
          <a:p>
            <a:pPr algn="just" eaLnBrk="1" hangingPunct="1">
              <a:lnSpc>
                <a:spcPct val="100000"/>
              </a:lnSpc>
              <a:buFont typeface="Wingdings" panose="05000000000000000000" charset="0"/>
              <a:buChar char="ü"/>
            </a:pPr>
            <a:r>
              <a:rPr lang="zh-CN" altLang="en-US" dirty="0">
                <a:solidFill>
                  <a:srgbClr val="FF0000"/>
                </a:solidFill>
                <a:latin typeface="楷体" panose="02010609060101010101" charset="-122"/>
                <a:ea typeface="楷体" panose="02010609060101010101" charset="-122"/>
              </a:rPr>
              <a:t>控制类</a:t>
            </a:r>
            <a:r>
              <a:rPr lang="zh-CN" altLang="en-US" dirty="0">
                <a:solidFill>
                  <a:schemeClr val="tx1"/>
                </a:solidFill>
                <a:latin typeface="楷体" panose="02010609060101010101" charset="-122"/>
                <a:ea typeface="楷体" panose="02010609060101010101" charset="-122"/>
              </a:rPr>
              <a:t>是控制其他类工作的类。每个用例通常有一个控制类，控制用例中的事件顺序，控制类也可以在多个用例间共用。其他类并不向控制类发送很多消息，而是由控制类发出很多消息。</a:t>
            </a:r>
            <a:endParaRPr lang="zh-CN" altLang="en-US" dirty="0">
              <a:solidFill>
                <a:schemeClr val="tx1"/>
              </a:solidFill>
              <a:latin typeface="楷体" panose="02010609060101010101" charset="-122"/>
              <a:ea typeface="楷体" panose="02010609060101010101"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标题 3"/>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类图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PP_MARK_KEY" val="a8459f1f-6818-4d4c-ac9d-cae9dfc010f1"/>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8085</Words>
  <Application>WPS 演示</Application>
  <PresentationFormat>全屏显示(4:3)</PresentationFormat>
  <Paragraphs>605</Paragraphs>
  <Slides>63</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63</vt:i4>
      </vt:variant>
    </vt:vector>
  </HeadingPairs>
  <TitlesOfParts>
    <vt:vector size="81" baseType="lpstr">
      <vt:lpstr>Arial</vt:lpstr>
      <vt:lpstr>宋体</vt:lpstr>
      <vt:lpstr>Wingdings</vt:lpstr>
      <vt:lpstr>楷体_GB2312</vt:lpstr>
      <vt:lpstr>新宋体</vt:lpstr>
      <vt:lpstr>Times New Roman</vt:lpstr>
      <vt:lpstr>Wingdings 2</vt:lpstr>
      <vt:lpstr>Wingdings</vt:lpstr>
      <vt:lpstr>仿宋</vt:lpstr>
      <vt:lpstr>Century Schoolbook</vt:lpstr>
      <vt:lpstr>Symbol</vt:lpstr>
      <vt:lpstr>微软雅黑</vt:lpstr>
      <vt:lpstr>Arial Unicode MS</vt:lpstr>
      <vt:lpstr>华文楷体</vt:lpstr>
      <vt:lpstr>Wingdings</vt:lpstr>
      <vt:lpstr>楷体</vt:lpstr>
      <vt:lpstr>凸显</vt:lpstr>
      <vt:lpstr>1_凸显</vt:lpstr>
      <vt:lpstr>软件系统分析与设计 Software System Analysis and Design</vt:lpstr>
      <vt:lpstr>4.1 引言</vt:lpstr>
      <vt:lpstr>4.1 引言</vt:lpstr>
      <vt:lpstr>4.1 引言</vt:lpstr>
      <vt:lpstr>4.1 引言</vt:lpstr>
      <vt:lpstr>4.1 引言</vt:lpstr>
      <vt:lpstr>4.2 定义对象类</vt:lpstr>
      <vt:lpstr>4.2 定义对象类</vt:lpstr>
      <vt:lpstr>4.2 定义对象类</vt:lpstr>
      <vt:lpstr>4.2 定义对象类</vt:lpstr>
      <vt:lpstr>4.2 定义对象类</vt:lpstr>
      <vt:lpstr>4.2 定义对象类</vt:lpstr>
      <vt:lpstr>4.2 定义对象类</vt:lpstr>
      <vt:lpstr>4.2 定义对象类</vt:lpstr>
      <vt:lpstr>4.2 定义对象类</vt:lpstr>
      <vt:lpstr>4.2 定义对象类</vt:lpstr>
      <vt:lpstr>4.2 定义对象类</vt:lpstr>
      <vt:lpstr>4.3 定义类的关联</vt:lpstr>
      <vt:lpstr>4.3 定义类的关联</vt:lpstr>
      <vt:lpstr>4.3 定义类的关联</vt:lpstr>
      <vt:lpstr>4.3 定义类的关联</vt:lpstr>
      <vt:lpstr>4.3 定义类的关联</vt:lpstr>
      <vt:lpstr>4.3 定义类的关联</vt:lpstr>
      <vt:lpstr>4.3 定义类的关联</vt:lpstr>
      <vt:lpstr>4.3 定义类的关联</vt:lpstr>
      <vt:lpstr>4.3 定义类的关联</vt:lpstr>
      <vt:lpstr>4.3 定义类的关联</vt:lpstr>
      <vt:lpstr>4.3 定义类的关联</vt:lpstr>
      <vt:lpstr>4.4 接口</vt:lpstr>
      <vt:lpstr>4.5 包与子系统</vt:lpstr>
      <vt:lpstr>4.5 包与子系统</vt:lpstr>
      <vt:lpstr>4.5 包与子系统</vt:lpstr>
      <vt:lpstr>4.5 包与子系统</vt:lpstr>
      <vt:lpstr>4.5 包与子系统</vt:lpstr>
      <vt:lpstr>4.5 包与子系统</vt:lpstr>
      <vt:lpstr>4.5 包与子系统</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lpstr>3 类图</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小兔子乖乖</cp:lastModifiedBy>
  <cp:revision>620</cp:revision>
  <cp:lastPrinted>2023-10-27T11:17:00Z</cp:lastPrinted>
  <dcterms:created xsi:type="dcterms:W3CDTF">2023-10-27T11:17:00Z</dcterms:created>
  <dcterms:modified xsi:type="dcterms:W3CDTF">2025-04-28T09:44:17Z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6708048CA4B01C82CE603B6588C2F8B9_43</vt:lpwstr>
  </property>
  <property fmtid="{D5CDD505-2E9C-101B-9397-08002B2CF9AE}" pid="3" name="KSOProductBuildVer">
    <vt:lpwstr>2052-11.1.0.12165</vt:lpwstr>
  </property>
</Properties>
</file>