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1"/>
  </p:handoutMasterIdLst>
  <p:sldIdLst>
    <p:sldId id="303" r:id="rId3"/>
    <p:sldId id="359" r:id="rId5"/>
    <p:sldId id="654" r:id="rId6"/>
    <p:sldId id="655" r:id="rId7"/>
    <p:sldId id="656" r:id="rId8"/>
    <p:sldId id="657" r:id="rId9"/>
    <p:sldId id="658" r:id="rId10"/>
    <p:sldId id="659" r:id="rId11"/>
    <p:sldId id="660" r:id="rId12"/>
    <p:sldId id="661" r:id="rId13"/>
    <p:sldId id="662" r:id="rId14"/>
    <p:sldId id="663" r:id="rId15"/>
    <p:sldId id="697" r:id="rId16"/>
    <p:sldId id="664" r:id="rId17"/>
    <p:sldId id="665" r:id="rId18"/>
    <p:sldId id="666" r:id="rId19"/>
    <p:sldId id="667" r:id="rId20"/>
    <p:sldId id="696" r:id="rId21"/>
    <p:sldId id="360" r:id="rId22"/>
    <p:sldId id="361" r:id="rId23"/>
    <p:sldId id="362" r:id="rId24"/>
    <p:sldId id="742" r:id="rId25"/>
    <p:sldId id="670" r:id="rId26"/>
    <p:sldId id="671" r:id="rId27"/>
    <p:sldId id="672" r:id="rId28"/>
    <p:sldId id="673" r:id="rId29"/>
    <p:sldId id="674" r:id="rId30"/>
    <p:sldId id="675" r:id="rId31"/>
    <p:sldId id="676" r:id="rId32"/>
    <p:sldId id="677" r:id="rId33"/>
    <p:sldId id="678" r:id="rId34"/>
    <p:sldId id="726" r:id="rId35"/>
    <p:sldId id="727" r:id="rId36"/>
    <p:sldId id="728" r:id="rId37"/>
    <p:sldId id="729" r:id="rId38"/>
    <p:sldId id="679" r:id="rId39"/>
    <p:sldId id="680" r:id="rId40"/>
    <p:sldId id="681" r:id="rId41"/>
    <p:sldId id="682" r:id="rId42"/>
    <p:sldId id="683" r:id="rId43"/>
    <p:sldId id="684" r:id="rId44"/>
    <p:sldId id="685" r:id="rId45"/>
    <p:sldId id="686" r:id="rId46"/>
    <p:sldId id="687" r:id="rId47"/>
    <p:sldId id="688" r:id="rId48"/>
    <p:sldId id="376" r:id="rId49"/>
    <p:sldId id="731" r:id="rId50"/>
  </p:sldIdLst>
  <p:sldSz cx="9144000" cy="6858000" type="screen4x3"/>
  <p:notesSz cx="6858000" cy="9144000"/>
  <p:custDataLst>
    <p:tags r:id="rId55"/>
  </p:custDataLst>
  <p:defaultTextStyle>
    <a:defPPr>
      <a:defRPr lang="en-US"/>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23" userDrawn="1">
          <p15:clr>
            <a:srgbClr val="A4A3A4"/>
          </p15:clr>
        </p15:guide>
        <p15:guide id="2" pos="2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A8C9EA"/>
    <a:srgbClr val="CCFF66"/>
    <a:srgbClr val="FFFFCC"/>
    <a:srgbClr val="F9DF9F"/>
    <a:srgbClr val="FFFF66"/>
    <a:srgbClr val="CCECFF"/>
    <a:srgbClr val="0A06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4" autoAdjust="0"/>
    <p:restoredTop sz="50046" autoAdjust="0"/>
  </p:normalViewPr>
  <p:slideViewPr>
    <p:cSldViewPr showGuides="1">
      <p:cViewPr varScale="1">
        <p:scale>
          <a:sx n="37" d="100"/>
          <a:sy n="37" d="100"/>
        </p:scale>
        <p:origin x="2130" y="24"/>
      </p:cViewPr>
      <p:guideLst>
        <p:guide orient="horz" pos="2123"/>
        <p:guide pos="283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gs" Target="tags/tag1.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97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base" latinLnBrk="0" hangingPunct="1">
              <a:lnSpc>
                <a:spcPct val="105000"/>
              </a:lnSpc>
              <a:spcBef>
                <a:spcPct val="10000"/>
              </a:spcBef>
              <a:spcAft>
                <a:spcPct val="0"/>
              </a:spcAft>
              <a:buClr>
                <a:srgbClr val="990099"/>
              </a:buClr>
              <a:buSzPct val="70000"/>
              <a:buFont typeface="Wingdings" panose="05000000000000000000" pitchFamily="2" charset="2"/>
              <a:buNone/>
              <a:defRPr/>
            </a:pP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indent="0" eaLnBrk="1" hangingPunct="1">
              <a:lnSpc>
                <a:spcPct val="105000"/>
              </a:lnSpc>
              <a:spcBef>
                <a:spcPct val="10000"/>
              </a:spcBef>
              <a:buClr>
                <a:srgbClr val="FF0000"/>
              </a:buClr>
              <a:buFont typeface="Wingdings" panose="05000000000000000000" pitchFamily="2" charset="2"/>
              <a:buNone/>
            </a:pP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indent="0" eaLnBrk="1" hangingPunct="1">
              <a:lnSpc>
                <a:spcPct val="105000"/>
              </a:lnSpc>
              <a:spcBef>
                <a:spcPct val="10000"/>
              </a:spcBef>
              <a:buClr>
                <a:srgbClr val="FF0000"/>
              </a:buClr>
              <a:buFont typeface="Wingdings" panose="05000000000000000000" pitchFamily="2" charset="2"/>
              <a:buNone/>
            </a:pP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indent="0" eaLnBrk="1" hangingPunct="1">
              <a:lnSpc>
                <a:spcPct val="105000"/>
              </a:lnSpc>
              <a:spcBef>
                <a:spcPct val="10000"/>
              </a:spcBef>
              <a:buClr>
                <a:srgbClr val="FF0000"/>
              </a:buClr>
              <a:buFont typeface="Wingdings" panose="05000000000000000000" pitchFamily="2" charset="2"/>
              <a:buNone/>
            </a:pP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indent="0" eaLnBrk="1" hangingPunct="1">
              <a:lnSpc>
                <a:spcPct val="105000"/>
              </a:lnSpc>
              <a:spcBef>
                <a:spcPct val="10000"/>
              </a:spcBef>
              <a:buClr>
                <a:srgbClr val="FF0000"/>
              </a:buClr>
              <a:buFont typeface="Wingdings" panose="05000000000000000000" pitchFamily="2" charset="2"/>
              <a:buNone/>
            </a:pP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609600" indent="-609600" eaLnBrk="1" hangingPunct="1">
              <a:lnSpc>
                <a:spcPct val="105000"/>
              </a:lnSpc>
              <a:spcBef>
                <a:spcPct val="10000"/>
              </a:spcBef>
              <a:buClr>
                <a:srgbClr val="FF0000"/>
              </a:buClr>
              <a:buFont typeface="Wingdings" panose="05000000000000000000" pitchFamily="2" charset="2"/>
              <a:buAutoNum type="arabicParenBoth"/>
            </a:pP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buClrTx/>
              <a:buFontTx/>
            </a:pP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609600" indent="-609600" eaLnBrk="1" hangingPunct="1">
              <a:lnSpc>
                <a:spcPct val="105000"/>
              </a:lnSpc>
              <a:spcBef>
                <a:spcPct val="10000"/>
              </a:spcBef>
              <a:buClr>
                <a:srgbClr val="FF0000"/>
              </a:buClr>
              <a:buFont typeface="Wingdings" panose="05000000000000000000" pitchFamily="2" charset="2"/>
              <a:buAutoNum type="arabicParenBoth"/>
            </a:pP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609600" indent="-609600" eaLnBrk="1" hangingPunct="1">
              <a:lnSpc>
                <a:spcPct val="105000"/>
              </a:lnSpc>
              <a:spcBef>
                <a:spcPct val="10000"/>
              </a:spcBef>
              <a:buClr>
                <a:srgbClr val="FF0000"/>
              </a:buClr>
              <a:buFont typeface="Wingdings" panose="05000000000000000000" pitchFamily="2" charset="2"/>
              <a:buAutoNum type="arabicParenBoth"/>
            </a:pP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indent="0" eaLnBrk="1" hangingPunct="1">
              <a:lnSpc>
                <a:spcPct val="105000"/>
              </a:lnSpc>
              <a:spcBef>
                <a:spcPct val="10000"/>
              </a:spcBef>
              <a:buClr>
                <a:srgbClr val="FF0000"/>
              </a:buClr>
              <a:buFont typeface="Wingdings" panose="05000000000000000000" pitchFamily="2" charset="2"/>
              <a:buNone/>
            </a:pP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eaLnBrk="1" hangingPunct="1">
              <a:buClr>
                <a:schemeClr val="accent1"/>
              </a:buClr>
              <a:buSzPct val="70000"/>
              <a:buFont typeface="Wingdings" panose="05000000000000000000" pitchFamily="2" charset="2"/>
              <a:buNone/>
            </a:pP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eaLnBrk="1" hangingPunct="1">
              <a:buClr>
                <a:schemeClr val="accent1"/>
              </a:buClr>
              <a:buSzPct val="70000"/>
              <a:buFont typeface="Wingdings" panose="05000000000000000000" pitchFamily="2" charset="2"/>
              <a:buNone/>
            </a:pPr>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eaLnBrk="1" hangingPunct="1">
              <a:buClr>
                <a:schemeClr val="accent1"/>
              </a:buClr>
              <a:buSzPct val="70000"/>
              <a:buFont typeface="Wingdings" panose="05000000000000000000" pitchFamily="2" charset="2"/>
              <a:buNone/>
            </a:pPr>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eaLnBrk="1" hangingPunct="1">
              <a:buClr>
                <a:schemeClr val="accent1"/>
              </a:buClr>
              <a:buSzPct val="70000"/>
              <a:buFont typeface="Wingdings" panose="05000000000000000000" pitchFamily="2" charset="2"/>
              <a:buNone/>
            </a:pP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eaLnBrk="1" hangingPunct="1">
              <a:buClr>
                <a:schemeClr val="accent1"/>
              </a:buClr>
              <a:buSzPct val="70000"/>
              <a:buFont typeface="Wingdings" panose="05000000000000000000" pitchFamily="2" charset="2"/>
              <a:buNone/>
            </a:pPr>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eaLnBrk="1" hangingPunct="1">
              <a:buClr>
                <a:schemeClr val="accent1"/>
              </a:buClr>
              <a:buSzPct val="70000"/>
              <a:buFont typeface="Wingdings" panose="05000000000000000000" pitchFamily="2" charset="2"/>
              <a:buNone/>
            </a:pPr>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gn="just" eaLnBrk="1" hangingPunct="1">
              <a:buClr>
                <a:schemeClr val="accent1"/>
              </a:buClr>
              <a:buSzPct val="70000"/>
              <a:buFont typeface="Wingdings" panose="05000000000000000000" pitchFamily="2" charset="2"/>
              <a:buNone/>
            </a:pPr>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18" name="内容占位符 17"/>
          <p:cNvSpPr>
            <a:spLocks noGrp="1"/>
          </p:cNvSpPr>
          <p:nvPr>
            <p:ph sz="quarter" idx="1"/>
          </p:nvPr>
        </p:nvSpPr>
        <p:spPr>
          <a:xfrm>
            <a:off x="304800" y="274320"/>
            <a:ext cx="5638800" cy="632764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685800" y="890588"/>
            <a:ext cx="7772400" cy="52054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1" name="灯片编号占位符 4"/>
          <p:cNvSpPr>
            <a:spLocks noGrp="1"/>
          </p:cNvSpPr>
          <p:nvPr>
            <p:ph type="sldNum" sz="quarter" idx="4"/>
          </p:nvPr>
        </p:nvSpPr>
        <p:spPr>
          <a:xfrm>
            <a:off x="6580188" y="6313488"/>
            <a:ext cx="1905000" cy="457200"/>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lstStyle/>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b="1">
                <a:solidFill>
                  <a:srgbClr val="FFFFFF"/>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3600" kern="1200" cap="small">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Century Schoolbook" panose="02040604050505020304" pitchFamily="18" charset="0"/>
        </a:defRPr>
      </a:lvl2pPr>
      <a:lvl3pPr algn="l" rtl="0" eaLnBrk="0" fontAlgn="base" hangingPunct="0">
        <a:spcBef>
          <a:spcPct val="0"/>
        </a:spcBef>
        <a:spcAft>
          <a:spcPct val="0"/>
        </a:spcAft>
        <a:defRPr sz="3600">
          <a:solidFill>
            <a:schemeClr val="tx2"/>
          </a:solidFill>
          <a:latin typeface="Century Schoolbook" panose="02040604050505020304" pitchFamily="18" charset="0"/>
        </a:defRPr>
      </a:lvl3pPr>
      <a:lvl4pPr algn="l" rtl="0" eaLnBrk="0" fontAlgn="base" hangingPunct="0">
        <a:spcBef>
          <a:spcPct val="0"/>
        </a:spcBef>
        <a:spcAft>
          <a:spcPct val="0"/>
        </a:spcAft>
        <a:defRPr sz="3600">
          <a:solidFill>
            <a:schemeClr val="tx2"/>
          </a:solidFill>
          <a:latin typeface="Century Schoolbook" panose="02040604050505020304" pitchFamily="18" charset="0"/>
        </a:defRPr>
      </a:lvl4pPr>
      <a:lvl5pPr algn="l" rtl="0" eaLnBrk="0" fontAlgn="base" hangingPunct="0">
        <a:spcBef>
          <a:spcPct val="0"/>
        </a:spcBef>
        <a:spcAft>
          <a:spcPct val="0"/>
        </a:spcAft>
        <a:defRPr sz="3600">
          <a:solidFill>
            <a:schemeClr val="tx2"/>
          </a:solidFill>
          <a:latin typeface="Century Schoolbook" panose="02040604050505020304" pitchFamily="18" charset="0"/>
        </a:defRPr>
      </a:lvl5pPr>
      <a:lvl6pPr marL="457200" algn="l" rtl="0" fontAlgn="base">
        <a:spcBef>
          <a:spcPct val="0"/>
        </a:spcBef>
        <a:spcAft>
          <a:spcPct val="0"/>
        </a:spcAft>
        <a:defRPr sz="3600">
          <a:solidFill>
            <a:schemeClr val="tx2"/>
          </a:solidFill>
          <a:latin typeface="Century Schoolbook" panose="02040604050505020304" pitchFamily="18" charset="0"/>
        </a:defRPr>
      </a:lvl6pPr>
      <a:lvl7pPr marL="914400" algn="l" rtl="0" fontAlgn="base">
        <a:spcBef>
          <a:spcPct val="0"/>
        </a:spcBef>
        <a:spcAft>
          <a:spcPct val="0"/>
        </a:spcAft>
        <a:defRPr sz="3600">
          <a:solidFill>
            <a:schemeClr val="tx2"/>
          </a:solidFill>
          <a:latin typeface="Century Schoolbook" panose="02040604050505020304" pitchFamily="18" charset="0"/>
        </a:defRPr>
      </a:lvl7pPr>
      <a:lvl8pPr marL="1371600" algn="l" rtl="0" fontAlgn="base">
        <a:spcBef>
          <a:spcPct val="0"/>
        </a:spcBef>
        <a:spcAft>
          <a:spcPct val="0"/>
        </a:spcAft>
        <a:defRPr sz="3600">
          <a:solidFill>
            <a:schemeClr val="tx2"/>
          </a:solidFill>
          <a:latin typeface="Century Schoolbook" panose="02040604050505020304" pitchFamily="18" charset="0"/>
        </a:defRPr>
      </a:lvl8pPr>
      <a:lvl9pPr marL="1828800" algn="l" rtl="0" fontAlgn="base">
        <a:spcBef>
          <a:spcPct val="0"/>
        </a:spcBef>
        <a:spcAft>
          <a:spcPct val="0"/>
        </a:spcAft>
        <a:defRPr sz="3600">
          <a:solidFill>
            <a:schemeClr val="tx2"/>
          </a:solidFill>
          <a:latin typeface="Century Schoolbook" panose="020406040505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mn-lt"/>
          <a:ea typeface="+mn-ea"/>
          <a:cs typeface="+mn-cs"/>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mn-lt"/>
          <a:ea typeface="+mn-ea"/>
          <a:cs typeface="+mn-cs"/>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mn-lt"/>
          <a:ea typeface="+mn-ea"/>
          <a:cs typeface="+mn-cs"/>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ctrTitle"/>
          </p:nvPr>
        </p:nvSpPr>
        <p:spPr>
          <a:xfrm>
            <a:off x="2339975" y="2060575"/>
            <a:ext cx="6172200" cy="216535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软件系统分析与设计</a:t>
            </a:r>
            <a:b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Software System Analysis and Design</a:t>
            </a:r>
            <a:endPar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19" name="灯片编号占位符 5"/>
          <p:cNvSpPr txBox="1">
            <a:spLocks noGrp="1"/>
          </p:cNvSpPr>
          <p:nvPr>
            <p:ph type="sldNum" sz="quarter" idx="4"/>
          </p:nvPr>
        </p:nvSpPr>
        <p:spPr>
          <a:xfrm>
            <a:off x="1325563" y="5013325"/>
            <a:ext cx="609600" cy="517525"/>
          </a:xfrm>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chemeClr val="bg1"/>
                </a:solidFill>
                <a:latin typeface="Arial" panose="020B0604020202020204" pitchFamily="34" charset="0"/>
                <a:ea typeface="楷体_GB2312" pitchFamily="49" charset="-122"/>
              </a:rPr>
            </a:fld>
            <a:endParaRPr lang="zh-CN" altLang="en-US" sz="1400" dirty="0">
              <a:solidFill>
                <a:schemeClr val="bg1"/>
              </a:solidFill>
              <a:latin typeface="Arial" panose="020B0604020202020204" pitchFamily="34" charset="0"/>
              <a:ea typeface="楷体_GB2312"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en-US" altLang="zh-CN" dirty="0">
                <a:ea typeface="宋体" panose="02010600030101010101" pitchFamily="2" charset="-122"/>
              </a:rPr>
              <a:t>UML</a:t>
            </a:r>
            <a:r>
              <a:rPr lang="zh-CN" altLang="en-US" dirty="0">
                <a:ea typeface="宋体" panose="02010600030101010101" pitchFamily="2" charset="-122"/>
              </a:rPr>
              <a:t>是一种建模语言，独立于软件开发过程，即没有描述使用语言的过程和方法。</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en-US" altLang="zh-CN" dirty="0">
                <a:ea typeface="宋体" panose="02010600030101010101" pitchFamily="2" charset="-122"/>
              </a:rPr>
              <a:t>UML</a:t>
            </a:r>
            <a:r>
              <a:rPr lang="zh-CN" altLang="en-US" dirty="0">
                <a:ea typeface="宋体" panose="02010600030101010101" pitchFamily="2" charset="-122"/>
              </a:rPr>
              <a:t>的创建者</a:t>
            </a:r>
            <a:r>
              <a:rPr lang="en-US" altLang="zh-CN" dirty="0">
                <a:ea typeface="宋体" panose="02010600030101010101" pitchFamily="2" charset="-122"/>
              </a:rPr>
              <a:t>Booch</a:t>
            </a:r>
            <a:r>
              <a:rPr lang="zh-CN" altLang="en-US" dirty="0">
                <a:ea typeface="宋体" panose="02010600030101010101" pitchFamily="2" charset="-122"/>
              </a:rPr>
              <a:t>、</a:t>
            </a:r>
            <a:r>
              <a:rPr lang="en-US" altLang="zh-CN" dirty="0">
                <a:ea typeface="宋体" panose="02010600030101010101" pitchFamily="2" charset="-122"/>
              </a:rPr>
              <a:t>Jacobson</a:t>
            </a:r>
            <a:r>
              <a:rPr lang="zh-CN" altLang="en-US" dirty="0">
                <a:ea typeface="宋体" panose="02010600030101010101" pitchFamily="2" charset="-122"/>
              </a:rPr>
              <a:t>和</a:t>
            </a:r>
            <a:r>
              <a:rPr lang="en-US" altLang="zh-CN" dirty="0">
                <a:ea typeface="宋体" panose="02010600030101010101" pitchFamily="2" charset="-122"/>
              </a:rPr>
              <a:t>Rumbaugh</a:t>
            </a:r>
            <a:r>
              <a:rPr lang="zh-CN" altLang="en-US" dirty="0">
                <a:ea typeface="宋体" panose="02010600030101010101" pitchFamily="2" charset="-122"/>
              </a:rPr>
              <a:t>在创建</a:t>
            </a:r>
            <a:r>
              <a:rPr lang="en-US" altLang="zh-CN" dirty="0">
                <a:ea typeface="宋体" panose="02010600030101010101" pitchFamily="2" charset="-122"/>
              </a:rPr>
              <a:t>UML</a:t>
            </a:r>
            <a:r>
              <a:rPr lang="zh-CN" altLang="en-US" dirty="0">
                <a:ea typeface="宋体" panose="02010600030101010101" pitchFamily="2" charset="-122"/>
              </a:rPr>
              <a:t>的同时，于</a:t>
            </a:r>
            <a:r>
              <a:rPr lang="en-US" altLang="zh-CN" dirty="0">
                <a:ea typeface="宋体" panose="02010600030101010101" pitchFamily="2" charset="-122"/>
              </a:rPr>
              <a:t>1998</a:t>
            </a:r>
            <a:r>
              <a:rPr lang="zh-CN" altLang="en-US" dirty="0">
                <a:ea typeface="宋体" panose="02010600030101010101" pitchFamily="2" charset="-122"/>
              </a:rPr>
              <a:t>年提出了与之配套的软件开发的统一过程，将核心过程模型化。（将两者结合）</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软件开发统一过程</a:t>
            </a:r>
            <a:r>
              <a:rPr lang="en-US" altLang="zh-CN" dirty="0">
                <a:ea typeface="宋体" panose="02010600030101010101" pitchFamily="2" charset="-122"/>
              </a:rPr>
              <a:t>/</a:t>
            </a:r>
            <a:r>
              <a:rPr lang="zh-CN" altLang="en-US" dirty="0">
                <a:ea typeface="宋体" panose="02010600030101010101" pitchFamily="2" charset="-122"/>
              </a:rPr>
              <a:t>统一软件过程（（</a:t>
            </a:r>
            <a:r>
              <a:rPr lang="en-US" altLang="zh-CN" dirty="0">
                <a:ea typeface="宋体" panose="02010600030101010101" pitchFamily="2" charset="-122"/>
              </a:rPr>
              <a:t>Rational</a:t>
            </a:r>
            <a:r>
              <a:rPr lang="zh-CN" altLang="en-US" dirty="0">
                <a:ea typeface="宋体" panose="02010600030101010101" pitchFamily="2" charset="-122"/>
              </a:rPr>
              <a:t>）</a:t>
            </a:r>
            <a:r>
              <a:rPr lang="en-US" altLang="zh-CN" dirty="0">
                <a:ea typeface="宋体" panose="02010600030101010101" pitchFamily="2" charset="-122"/>
              </a:rPr>
              <a:t> </a:t>
            </a:r>
            <a:r>
              <a:rPr lang="en-US" altLang="zh-CN" dirty="0">
                <a:solidFill>
                  <a:srgbClr val="0070C0"/>
                </a:solidFill>
                <a:ea typeface="宋体" panose="02010600030101010101" pitchFamily="2" charset="-122"/>
              </a:rPr>
              <a:t>Unified Process</a:t>
            </a:r>
            <a:r>
              <a:rPr lang="zh-CN" altLang="en-US" dirty="0">
                <a:ea typeface="宋体" panose="02010600030101010101" pitchFamily="2" charset="-122"/>
              </a:rPr>
              <a:t>，</a:t>
            </a:r>
            <a:r>
              <a:rPr lang="en-US" altLang="zh-CN" dirty="0">
                <a:solidFill>
                  <a:srgbClr val="0070C0"/>
                </a:solidFill>
                <a:ea typeface="宋体" panose="02010600030101010101" pitchFamily="2" charset="-122"/>
              </a:rPr>
              <a:t>UP</a:t>
            </a:r>
            <a:r>
              <a:rPr lang="en-US" altLang="zh-CN" dirty="0">
                <a:ea typeface="宋体" panose="02010600030101010101" pitchFamily="2" charset="-122"/>
              </a:rPr>
              <a:t>/RUP</a:t>
            </a:r>
            <a:r>
              <a:rPr lang="zh-CN" altLang="en-US" dirty="0">
                <a:ea typeface="宋体" panose="02010600030101010101" pitchFamily="2" charset="-122"/>
              </a:rPr>
              <a:t>）</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buNone/>
            </a:pP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46393"/>
            <a:ext cx="7467600" cy="114300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743710"/>
            <a:ext cx="8146415" cy="4873625"/>
          </a:xfrm>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en-US" altLang="zh-CN" dirty="0">
                <a:ea typeface="宋体" panose="02010600030101010101" pitchFamily="2" charset="-122"/>
              </a:rPr>
              <a:t>RUP</a:t>
            </a:r>
            <a:r>
              <a:rPr lang="zh-CN" altLang="en-US" dirty="0">
                <a:ea typeface="宋体" panose="02010600030101010101" pitchFamily="2" charset="-122"/>
              </a:rPr>
              <a:t>的核心是为软件开发团队提供指南文档模板和工具。使整个团队能最有效地利用现有的软件开发经验。</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en-US" altLang="zh-CN" dirty="0">
                <a:ea typeface="宋体" panose="02010600030101010101" pitchFamily="2" charset="-122"/>
              </a:rPr>
              <a:t>RUP</a:t>
            </a:r>
            <a:r>
              <a:rPr lang="zh-CN" altLang="en-US" dirty="0">
                <a:ea typeface="宋体" panose="02010600030101010101" pitchFamily="2" charset="-122"/>
              </a:rPr>
              <a:t>的目标是按照预先制定的时间计划和经费预算，开发高质量的软件产品以满足最终用户的需要。</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统一</a:t>
            </a:r>
            <a:r>
              <a:rPr lang="zh-CN" altLang="en-US" dirty="0">
                <a:ea typeface="宋体" panose="02010600030101010101" pitchFamily="2" charset="-122"/>
              </a:rPr>
              <a:t>体现在：</a:t>
            </a:r>
            <a:endParaRPr lang="zh-CN" altLang="en-US" dirty="0">
              <a:ea typeface="宋体" panose="02010600030101010101" pitchFamily="2" charset="-122"/>
            </a:endParaRPr>
          </a:p>
          <a:p>
            <a:pPr lvl="1" eaLnBrk="1" hangingPunct="1">
              <a:buClr>
                <a:schemeClr val="accent1"/>
              </a:buClr>
              <a:buSzPct val="70000"/>
              <a:buFont typeface="Wingdings" panose="05000000000000000000" pitchFamily="2" charset="2"/>
            </a:pPr>
            <a:r>
              <a:rPr lang="zh-CN" altLang="en-US" dirty="0">
                <a:ea typeface="宋体" panose="02010600030101010101" pitchFamily="2" charset="-122"/>
              </a:rPr>
              <a:t>提供在开发组织中分派任务和责任的纪律化方法，确保进度和成本的前提下，高质量地满足用户需求，方法统一；</a:t>
            </a:r>
            <a:endParaRPr lang="zh-CN" altLang="en-US" dirty="0">
              <a:ea typeface="宋体" panose="02010600030101010101" pitchFamily="2" charset="-122"/>
            </a:endParaRPr>
          </a:p>
          <a:p>
            <a:pPr lvl="1" eaLnBrk="1" hangingPunct="1">
              <a:buClr>
                <a:schemeClr val="accent1"/>
              </a:buClr>
              <a:buSzPct val="70000"/>
              <a:buFont typeface="Wingdings" panose="05000000000000000000" pitchFamily="2" charset="2"/>
            </a:pPr>
            <a:r>
              <a:rPr lang="zh-CN" altLang="en-US" dirty="0">
                <a:ea typeface="宋体" panose="02010600030101010101" pitchFamily="2" charset="-122"/>
              </a:rPr>
              <a:t>对所有的关键开发活动，为所有团队成员提供了使用准则、模板和工具指导，知识统一；</a:t>
            </a:r>
            <a:endParaRPr lang="zh-CN" altLang="en-US" dirty="0">
              <a:ea typeface="宋体" panose="02010600030101010101" pitchFamily="2" charset="-122"/>
            </a:endParaRPr>
          </a:p>
          <a:p>
            <a:pPr lvl="1" eaLnBrk="1" hangingPunct="1">
              <a:buClr>
                <a:schemeClr val="accent1"/>
              </a:buClr>
              <a:buSzPct val="70000"/>
              <a:buFont typeface="Wingdings" panose="05000000000000000000" pitchFamily="2" charset="2"/>
            </a:pPr>
            <a:r>
              <a:rPr lang="zh-CN" altLang="en-US" dirty="0">
                <a:ea typeface="宋体" panose="02010600030101010101" pitchFamily="2" charset="-122"/>
              </a:rPr>
              <a:t>在项目建设过程中，确保全体成员对相同基础知识有一致的理解，共享相同的知识、过程和开发软件的视图，思想和见解统一。</a:t>
            </a: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4873625"/>
          </a:xfrm>
        </p:spPr>
        <p:txBody>
          <a:bodyPr vert="horz" wrap="square" lIns="91440" tIns="45720" rIns="91440" bIns="45720" anchor="t" anchorCtr="0"/>
          <a:lstStyle/>
          <a:p>
            <a:pPr marL="533400" indent="-533400" eaLnBrk="1" hangingPunct="1">
              <a:lnSpc>
                <a:spcPct val="110000"/>
              </a:lnSpc>
              <a:spcBef>
                <a:spcPct val="5000"/>
              </a:spcBef>
            </a:pPr>
            <a:r>
              <a:rPr lang="zh-CN" altLang="en-US" dirty="0">
                <a:sym typeface="+mn-ea"/>
              </a:rPr>
              <a:t>软件开发项目多种多样，但都存在不同的不足或缺陷。导致软件项目“出局”的原因，总结起来，有以下几个方面：</a:t>
            </a:r>
            <a:endParaRPr lang="zh-CN" altLang="en-US" dirty="0"/>
          </a:p>
          <a:p>
            <a:pPr marL="533400" indent="-533400" eaLnBrk="1" hangingPunct="1">
              <a:lnSpc>
                <a:spcPct val="110000"/>
              </a:lnSpc>
              <a:spcBef>
                <a:spcPct val="5000"/>
              </a:spcBef>
            </a:pPr>
            <a:endParaRPr lang="zh-CN" altLang="en-US" dirty="0"/>
          </a:p>
          <a:p>
            <a:pPr marL="990600" lvl="1" indent="-645795" eaLnBrk="1" hangingPunct="1">
              <a:lnSpc>
                <a:spcPct val="110000"/>
              </a:lnSpc>
              <a:spcBef>
                <a:spcPct val="5000"/>
              </a:spcBef>
              <a:buClr>
                <a:srgbClr val="FF0000"/>
              </a:buClr>
              <a:buSzTx/>
              <a:buFont typeface="Wingdings" panose="05000000000000000000" pitchFamily="2" charset="2"/>
              <a:buAutoNum type="arabicParenR"/>
            </a:pPr>
            <a:r>
              <a:rPr lang="zh-CN" altLang="en-US" dirty="0">
                <a:sym typeface="+mn-ea"/>
              </a:rPr>
              <a:t>对于最终用户提出的要求理解不够精确；</a:t>
            </a:r>
            <a:endParaRPr lang="zh-CN" altLang="en-US" dirty="0"/>
          </a:p>
          <a:p>
            <a:pPr marL="990600" lvl="1" indent="-645795" eaLnBrk="1" hangingPunct="1">
              <a:lnSpc>
                <a:spcPct val="110000"/>
              </a:lnSpc>
              <a:spcBef>
                <a:spcPct val="5000"/>
              </a:spcBef>
              <a:buClr>
                <a:srgbClr val="FF0000"/>
              </a:buClr>
              <a:buSzTx/>
              <a:buFont typeface="Wingdings" panose="05000000000000000000" pitchFamily="2" charset="2"/>
              <a:buAutoNum type="arabicParenR"/>
            </a:pPr>
            <a:endParaRPr lang="zh-CN" altLang="en-US" dirty="0"/>
          </a:p>
          <a:p>
            <a:pPr marL="990600" lvl="1" indent="-645795" eaLnBrk="1" hangingPunct="1">
              <a:lnSpc>
                <a:spcPct val="110000"/>
              </a:lnSpc>
              <a:spcBef>
                <a:spcPct val="5000"/>
              </a:spcBef>
              <a:buClr>
                <a:srgbClr val="FF0000"/>
              </a:buClr>
              <a:buSzTx/>
              <a:buFont typeface="Wingdings" panose="05000000000000000000" pitchFamily="2" charset="2"/>
              <a:buAutoNum type="arabicParenR"/>
            </a:pPr>
            <a:r>
              <a:rPr lang="zh-CN" altLang="en-US" dirty="0">
                <a:sym typeface="+mn-ea"/>
              </a:rPr>
              <a:t>对需求变更采取的对策不适当；</a:t>
            </a:r>
            <a:endParaRPr lang="zh-CN" altLang="en-US" dirty="0"/>
          </a:p>
          <a:p>
            <a:pPr marL="990600" lvl="1" indent="-645795" eaLnBrk="1" hangingPunct="1">
              <a:lnSpc>
                <a:spcPct val="110000"/>
              </a:lnSpc>
              <a:spcBef>
                <a:spcPct val="5000"/>
              </a:spcBef>
              <a:buClr>
                <a:srgbClr val="FF0000"/>
              </a:buClr>
              <a:buSzTx/>
              <a:buFont typeface="Wingdings" panose="05000000000000000000" pitchFamily="2" charset="2"/>
              <a:buAutoNum type="arabicParenR"/>
            </a:pPr>
            <a:endParaRPr lang="zh-CN" altLang="en-US" dirty="0"/>
          </a:p>
          <a:p>
            <a:pPr marL="990600" lvl="1" indent="-645795" eaLnBrk="1" hangingPunct="1">
              <a:lnSpc>
                <a:spcPct val="110000"/>
              </a:lnSpc>
              <a:spcBef>
                <a:spcPct val="5000"/>
              </a:spcBef>
              <a:buClr>
                <a:srgbClr val="FF0000"/>
              </a:buClr>
              <a:buSzTx/>
              <a:buFont typeface="Wingdings" panose="05000000000000000000" pitchFamily="2" charset="2"/>
              <a:buAutoNum type="arabicParenR"/>
            </a:pPr>
            <a:r>
              <a:rPr lang="zh-CN" altLang="en-US" dirty="0">
                <a:sym typeface="+mn-ea"/>
              </a:rPr>
              <a:t>程序块之间不兼容；</a:t>
            </a:r>
            <a:endParaRPr lang="zh-CN" altLang="en-US" dirty="0"/>
          </a:p>
          <a:p>
            <a:pPr marL="990600" lvl="1" indent="-645795" eaLnBrk="1" hangingPunct="1">
              <a:lnSpc>
                <a:spcPct val="110000"/>
              </a:lnSpc>
              <a:spcBef>
                <a:spcPct val="5000"/>
              </a:spcBef>
              <a:buClr>
                <a:srgbClr val="FF0000"/>
              </a:buClr>
              <a:buSzTx/>
              <a:buFont typeface="Wingdings" panose="05000000000000000000" pitchFamily="2" charset="2"/>
              <a:buAutoNum type="arabicParenR"/>
            </a:pPr>
            <a:endParaRPr lang="zh-CN" altLang="en-US" dirty="0"/>
          </a:p>
          <a:p>
            <a:pPr marL="990600" lvl="1" indent="-645795" eaLnBrk="1" hangingPunct="1">
              <a:lnSpc>
                <a:spcPct val="110000"/>
              </a:lnSpc>
              <a:spcBef>
                <a:spcPct val="5000"/>
              </a:spcBef>
              <a:buClr>
                <a:srgbClr val="FF0000"/>
              </a:buClr>
              <a:buSzTx/>
              <a:buFont typeface="Wingdings" panose="05000000000000000000" pitchFamily="2" charset="2"/>
              <a:buAutoNum type="arabicParenR"/>
            </a:pPr>
            <a:r>
              <a:rPr lang="zh-CN" altLang="en-US" dirty="0">
                <a:sym typeface="+mn-ea"/>
              </a:rPr>
              <a:t>软件不易维护，不易扩充；</a:t>
            </a:r>
            <a:endParaRPr lang="zh-CN" altLang="en-US" dirty="0"/>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4873625"/>
          </a:xfrm>
        </p:spPr>
        <p:txBody>
          <a:bodyPr vert="horz" wrap="square" lIns="91440" tIns="45720" rIns="91440" bIns="45720" anchor="t" anchorCtr="0"/>
          <a:lstStyle/>
          <a:p>
            <a:pPr marL="990600" lvl="1" indent="-645795" eaLnBrk="1" hangingPunct="1">
              <a:lnSpc>
                <a:spcPct val="110000"/>
              </a:lnSpc>
              <a:spcBef>
                <a:spcPct val="5000"/>
              </a:spcBef>
              <a:buClr>
                <a:srgbClr val="FF0000"/>
              </a:buClr>
              <a:buFont typeface="Wingdings" panose="05000000000000000000" pitchFamily="2" charset="2"/>
              <a:buAutoNum type="arabicParenR" startAt="5"/>
            </a:pPr>
            <a:r>
              <a:rPr lang="zh-CN" altLang="en-US" dirty="0">
                <a:sym typeface="+mn-ea"/>
              </a:rPr>
              <a:t>对项目中的严重缺陷发现得太迟；</a:t>
            </a:r>
            <a:endParaRPr lang="zh-CN" altLang="en-US" dirty="0"/>
          </a:p>
          <a:p>
            <a:pPr marL="990600" lvl="1" indent="-645795" eaLnBrk="1" hangingPunct="1">
              <a:lnSpc>
                <a:spcPct val="110000"/>
              </a:lnSpc>
              <a:spcBef>
                <a:spcPct val="5000"/>
              </a:spcBef>
              <a:buClr>
                <a:srgbClr val="FF0000"/>
              </a:buClr>
              <a:buFont typeface="Wingdings" panose="05000000000000000000" pitchFamily="2" charset="2"/>
              <a:buAutoNum type="arabicParenR" startAt="5"/>
            </a:pPr>
            <a:endParaRPr lang="zh-CN" altLang="en-US" dirty="0"/>
          </a:p>
          <a:p>
            <a:pPr marL="990600" lvl="1" indent="-645795" eaLnBrk="1" hangingPunct="1">
              <a:lnSpc>
                <a:spcPct val="110000"/>
              </a:lnSpc>
              <a:spcBef>
                <a:spcPct val="5000"/>
              </a:spcBef>
              <a:buClr>
                <a:srgbClr val="FF0000"/>
              </a:buClr>
              <a:buFont typeface="Wingdings" panose="05000000000000000000" pitchFamily="2" charset="2"/>
              <a:buAutoNum type="arabicParenR" startAt="5"/>
            </a:pPr>
            <a:r>
              <a:rPr lang="zh-CN" altLang="en-US" dirty="0">
                <a:sym typeface="+mn-ea"/>
              </a:rPr>
              <a:t>软件质量低劣；</a:t>
            </a:r>
            <a:endParaRPr lang="zh-CN" altLang="en-US" dirty="0"/>
          </a:p>
          <a:p>
            <a:pPr marL="990600" lvl="1" indent="-645795" eaLnBrk="1" hangingPunct="1">
              <a:lnSpc>
                <a:spcPct val="110000"/>
              </a:lnSpc>
              <a:spcBef>
                <a:spcPct val="5000"/>
              </a:spcBef>
              <a:buClr>
                <a:srgbClr val="FF0000"/>
              </a:buClr>
              <a:buFont typeface="Wingdings" panose="05000000000000000000" pitchFamily="2" charset="2"/>
              <a:buAutoNum type="arabicParenR" startAt="5"/>
            </a:pPr>
            <a:endParaRPr lang="zh-CN" altLang="en-US" dirty="0"/>
          </a:p>
          <a:p>
            <a:pPr marL="990600" lvl="1" indent="-645795" eaLnBrk="1" hangingPunct="1">
              <a:lnSpc>
                <a:spcPct val="110000"/>
              </a:lnSpc>
              <a:spcBef>
                <a:spcPct val="5000"/>
              </a:spcBef>
              <a:buClr>
                <a:srgbClr val="FF0000"/>
              </a:buClr>
              <a:buFont typeface="Wingdings" panose="05000000000000000000" pitchFamily="2" charset="2"/>
              <a:buAutoNum type="arabicParenR" startAt="5"/>
            </a:pPr>
            <a:r>
              <a:rPr lang="zh-CN" altLang="en-US" dirty="0">
                <a:sym typeface="+mn-ea"/>
              </a:rPr>
              <a:t>软件性能差到令人无法接受；</a:t>
            </a:r>
            <a:endParaRPr lang="zh-CN" altLang="en-US" dirty="0"/>
          </a:p>
          <a:p>
            <a:pPr marL="990600" lvl="1" indent="-645795" eaLnBrk="1" hangingPunct="1">
              <a:lnSpc>
                <a:spcPct val="110000"/>
              </a:lnSpc>
              <a:spcBef>
                <a:spcPct val="5000"/>
              </a:spcBef>
              <a:buClr>
                <a:srgbClr val="FF0000"/>
              </a:buClr>
              <a:buFont typeface="Wingdings" panose="05000000000000000000" pitchFamily="2" charset="2"/>
              <a:buAutoNum type="arabicParenR" startAt="5"/>
            </a:pPr>
            <a:endParaRPr lang="zh-CN" altLang="en-US" dirty="0"/>
          </a:p>
          <a:p>
            <a:pPr marL="990600" lvl="1" indent="-645795" eaLnBrk="1" hangingPunct="1">
              <a:lnSpc>
                <a:spcPct val="110000"/>
              </a:lnSpc>
              <a:spcBef>
                <a:spcPct val="5000"/>
              </a:spcBef>
              <a:buClr>
                <a:srgbClr val="FF0000"/>
              </a:buClr>
              <a:buFont typeface="Wingdings" panose="05000000000000000000" pitchFamily="2" charset="2"/>
              <a:buAutoNum type="arabicParenR" startAt="5"/>
            </a:pPr>
            <a:r>
              <a:rPr lang="zh-CN" altLang="en-US" dirty="0">
                <a:sym typeface="+mn-ea"/>
              </a:rPr>
              <a:t>开发组每个人按各自方式进行开发，当某人修改了部分软件，则很难与其他部分集成；</a:t>
            </a:r>
            <a:endParaRPr lang="zh-CN" altLang="en-US" dirty="0"/>
          </a:p>
          <a:p>
            <a:pPr marL="990600" lvl="1" indent="-645795" eaLnBrk="1" hangingPunct="1">
              <a:lnSpc>
                <a:spcPct val="110000"/>
              </a:lnSpc>
              <a:spcBef>
                <a:spcPct val="5000"/>
              </a:spcBef>
              <a:buClr>
                <a:srgbClr val="FF0000"/>
              </a:buClr>
              <a:buFont typeface="Wingdings" panose="05000000000000000000" pitchFamily="2" charset="2"/>
              <a:buAutoNum type="arabicParenR" startAt="5"/>
            </a:pPr>
            <a:endParaRPr lang="zh-CN" altLang="en-US" dirty="0"/>
          </a:p>
          <a:p>
            <a:pPr marL="990600" lvl="1" indent="-645795" eaLnBrk="1" hangingPunct="1">
              <a:lnSpc>
                <a:spcPct val="110000"/>
              </a:lnSpc>
              <a:spcBef>
                <a:spcPct val="5000"/>
              </a:spcBef>
              <a:buClr>
                <a:srgbClr val="FF0000"/>
              </a:buClr>
              <a:buFont typeface="Wingdings" panose="05000000000000000000" pitchFamily="2" charset="2"/>
              <a:buAutoNum type="arabicParenR" startAt="5"/>
            </a:pPr>
            <a:r>
              <a:rPr lang="zh-CN" altLang="en-US" dirty="0">
                <a:sym typeface="+mn-ea"/>
              </a:rPr>
              <a:t>一个不可靠的实现和发布过程。</a:t>
            </a:r>
            <a:endParaRPr lang="zh-CN" altLang="en-US" dirty="0"/>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4873625"/>
          </a:xfrm>
        </p:spPr>
        <p:txBody>
          <a:bodyPr vert="horz" wrap="square" lIns="91440" tIns="45720" rIns="91440" bIns="45720" anchor="t" anchorCtr="0"/>
          <a:lstStyle/>
          <a:p>
            <a:pPr marL="609600" marR="0" lvl="0" indent="-609600" algn="l" defTabSz="914400" rtl="0" eaLnBrk="1" fontAlgn="base" latinLnBrk="0" hangingPunct="1">
              <a:lnSpc>
                <a:spcPct val="110000"/>
              </a:lnSpc>
              <a:spcBef>
                <a:spcPct val="5000"/>
              </a:spcBef>
              <a:spcAft>
                <a:spcPct val="0"/>
              </a:spcAft>
              <a:buClr>
                <a:schemeClr val="tx2"/>
              </a:buClr>
              <a:buSzPct val="70000"/>
              <a:buFont typeface="Wingdings" panose="05000000000000000000" pitchFamily="2" charset="2"/>
              <a:buChar char="l"/>
              <a:defRPr/>
            </a:pPr>
            <a:r>
              <a:rPr lang="zh-CN" altLang="en-US" b="0" kern="0" noProof="0" dirty="0">
                <a:ln>
                  <a:noFill/>
                </a:ln>
                <a:effectLst/>
                <a:uLnTx/>
                <a:uFillTx/>
                <a:ea typeface="宋体" panose="02010600030101010101" pitchFamily="2" charset="-122"/>
                <a:sym typeface="+mn-ea"/>
              </a:rPr>
              <a:t>尽管不同项目失败的方式各不相同，但究其原因，可能是以下几方面的问题造成的：</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447800" marR="0" lvl="2" indent="-754380" algn="l" defTabSz="914400" rtl="0" eaLnBrk="1" fontAlgn="base" latinLnBrk="0" hangingPunct="1">
              <a:lnSpc>
                <a:spcPct val="110000"/>
              </a:lnSpc>
              <a:spcBef>
                <a:spcPct val="5000"/>
              </a:spcBef>
              <a:spcAft>
                <a:spcPct val="0"/>
              </a:spcAft>
              <a:buClr>
                <a:srgbClr val="FF0000"/>
              </a:buClr>
              <a:buSzTx/>
              <a:buFont typeface="Wingdings" panose="05000000000000000000" pitchFamily="2" charset="2"/>
              <a:buAutoNum type="arabicParenR"/>
              <a:defRPr/>
            </a:pPr>
            <a:r>
              <a:rPr lang="zh-CN" altLang="en-US" b="0" kern="0" noProof="0" dirty="0">
                <a:ln>
                  <a:noFill/>
                </a:ln>
                <a:effectLst/>
                <a:uLnTx/>
                <a:uFillTx/>
                <a:ea typeface="宋体" panose="02010600030101010101" pitchFamily="2" charset="-122"/>
                <a:cs typeface="+mn-ea"/>
                <a:sym typeface="+mn-ea"/>
              </a:rPr>
              <a:t>需求管理不规范</a:t>
            </a:r>
            <a:r>
              <a:rPr lang="zh-CN" altLang="en-US" kern="0" noProof="0" dirty="0">
                <a:ln>
                  <a:noFill/>
                </a:ln>
                <a:effectLst>
                  <a:outerShdw blurRad="38100" dist="38100" dir="2700000" algn="tl">
                    <a:srgbClr val="C0C0C0"/>
                  </a:outerShdw>
                </a:effectLst>
                <a:uLnTx/>
                <a:uFillTx/>
                <a:ea typeface="宋体" panose="02010600030101010101" pitchFamily="2" charset="-122"/>
                <a:cs typeface="+mn-ea"/>
                <a:sym typeface="+mn-ea"/>
              </a:rPr>
              <a:t>；</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宋体" panose="02010600030101010101" pitchFamily="2" charset="-122"/>
              <a:cs typeface="+mn-ea"/>
            </a:endParaRPr>
          </a:p>
          <a:p>
            <a:pPr marL="1447800" marR="0" lvl="2" indent="-754380" algn="l" defTabSz="914400" rtl="0" eaLnBrk="1" fontAlgn="base" latinLnBrk="0" hangingPunct="1">
              <a:lnSpc>
                <a:spcPct val="110000"/>
              </a:lnSpc>
              <a:spcBef>
                <a:spcPct val="5000"/>
              </a:spcBef>
              <a:spcAft>
                <a:spcPct val="0"/>
              </a:spcAft>
              <a:buClr>
                <a:srgbClr val="FF0000"/>
              </a:buClr>
              <a:buSzTx/>
              <a:buFont typeface="Wingdings" panose="05000000000000000000" pitchFamily="2" charset="2"/>
              <a:buAutoNum type="arabicParenR" startAt="2"/>
              <a:defRPr/>
            </a:pPr>
            <a:r>
              <a:rPr lang="zh-CN" altLang="en-US" b="0" kern="0" noProof="0" dirty="0">
                <a:ln>
                  <a:noFill/>
                </a:ln>
                <a:effectLst/>
                <a:uLnTx/>
                <a:uFillTx/>
                <a:ea typeface="宋体" panose="02010600030101010101" pitchFamily="2" charset="-122"/>
                <a:cs typeface="+mn-ea"/>
                <a:sym typeface="+mn-ea"/>
              </a:rPr>
              <a:t>沟通不通畅，沟通信息模糊或不精确；</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447800" marR="0" lvl="2" indent="-754380" algn="l" defTabSz="914400" rtl="0" eaLnBrk="1" fontAlgn="base" latinLnBrk="0" hangingPunct="1">
              <a:lnSpc>
                <a:spcPct val="110000"/>
              </a:lnSpc>
              <a:spcBef>
                <a:spcPct val="5000"/>
              </a:spcBef>
              <a:spcAft>
                <a:spcPct val="0"/>
              </a:spcAft>
              <a:buClr>
                <a:srgbClr val="FF0000"/>
              </a:buClr>
              <a:buSzTx/>
              <a:buFont typeface="Wingdings" panose="05000000000000000000" pitchFamily="2" charset="2"/>
              <a:buAutoNum type="arabicParenR" startAt="2"/>
              <a:defRPr/>
            </a:pPr>
            <a:r>
              <a:rPr lang="zh-CN" altLang="en-US" b="0" kern="0" noProof="0" dirty="0">
                <a:ln>
                  <a:noFill/>
                </a:ln>
                <a:effectLst/>
                <a:uLnTx/>
                <a:uFillTx/>
                <a:ea typeface="宋体" panose="02010600030101010101" pitchFamily="2" charset="-122"/>
                <a:cs typeface="+mn-ea"/>
                <a:sym typeface="+mn-ea"/>
              </a:rPr>
              <a:t>软件体系结构脆弱、不稳定；</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447800" marR="0" lvl="2" indent="-754380" algn="l" defTabSz="914400" rtl="0" eaLnBrk="1" fontAlgn="base" latinLnBrk="0" hangingPunct="1">
              <a:lnSpc>
                <a:spcPct val="110000"/>
              </a:lnSpc>
              <a:spcBef>
                <a:spcPct val="5000"/>
              </a:spcBef>
              <a:spcAft>
                <a:spcPct val="0"/>
              </a:spcAft>
              <a:buClr>
                <a:srgbClr val="FF0000"/>
              </a:buClr>
              <a:buSzTx/>
              <a:buFont typeface="Wingdings" panose="05000000000000000000" pitchFamily="2" charset="2"/>
              <a:buAutoNum type="arabicParenR" startAt="2"/>
              <a:defRPr/>
            </a:pPr>
            <a:r>
              <a:rPr lang="zh-CN" altLang="en-US" b="0" kern="0" noProof="0" dirty="0">
                <a:ln>
                  <a:noFill/>
                </a:ln>
                <a:effectLst/>
                <a:uLnTx/>
                <a:uFillTx/>
                <a:ea typeface="宋体" panose="02010600030101010101" pitchFamily="2" charset="-122"/>
                <a:cs typeface="+mn-ea"/>
                <a:sym typeface="+mn-ea"/>
              </a:rPr>
              <a:t>软件过度复杂；</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447800" marR="0" lvl="2" indent="-754380" algn="l" defTabSz="914400" rtl="0" eaLnBrk="1" fontAlgn="base" latinLnBrk="0" hangingPunct="1">
              <a:lnSpc>
                <a:spcPct val="110000"/>
              </a:lnSpc>
              <a:spcBef>
                <a:spcPct val="5000"/>
              </a:spcBef>
              <a:spcAft>
                <a:spcPct val="0"/>
              </a:spcAft>
              <a:buClr>
                <a:srgbClr val="FF0000"/>
              </a:buClr>
              <a:buSzTx/>
              <a:buFont typeface="Wingdings" panose="05000000000000000000" pitchFamily="2" charset="2"/>
              <a:buAutoNum type="arabicParenR" startAt="2"/>
              <a:defRPr/>
            </a:pPr>
            <a:r>
              <a:rPr lang="zh-CN" altLang="en-US" b="0" kern="0" noProof="0" dirty="0">
                <a:ln>
                  <a:noFill/>
                </a:ln>
                <a:effectLst/>
                <a:uLnTx/>
                <a:uFillTx/>
                <a:ea typeface="宋体" panose="02010600030101010101" pitchFamily="2" charset="-122"/>
                <a:cs typeface="+mn-ea"/>
                <a:sym typeface="+mn-ea"/>
              </a:rPr>
              <a:t>需求、设计与实现之间不一致；</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447800" marR="0" lvl="2" indent="-754380" algn="l" defTabSz="914400" rtl="0" eaLnBrk="1" fontAlgn="base" latinLnBrk="0" hangingPunct="1">
              <a:lnSpc>
                <a:spcPct val="110000"/>
              </a:lnSpc>
              <a:spcBef>
                <a:spcPct val="5000"/>
              </a:spcBef>
              <a:spcAft>
                <a:spcPct val="0"/>
              </a:spcAft>
              <a:buClr>
                <a:srgbClr val="FF0000"/>
              </a:buClr>
              <a:buSzTx/>
              <a:buFont typeface="Wingdings" panose="05000000000000000000" pitchFamily="2" charset="2"/>
              <a:buAutoNum type="arabicParenR" startAt="2"/>
              <a:defRPr/>
            </a:pPr>
            <a:r>
              <a:rPr lang="zh-CN" altLang="en-US" b="0" kern="0" noProof="0" dirty="0">
                <a:ln>
                  <a:noFill/>
                </a:ln>
                <a:effectLst/>
                <a:uLnTx/>
                <a:uFillTx/>
                <a:ea typeface="宋体" panose="02010600030101010101" pitchFamily="2" charset="-122"/>
                <a:cs typeface="+mn-ea"/>
                <a:sym typeface="+mn-ea"/>
              </a:rPr>
              <a:t>测试不够；</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447800" marR="0" lvl="2" indent="-754380" algn="l" defTabSz="914400" rtl="0" eaLnBrk="1" fontAlgn="base" latinLnBrk="0" hangingPunct="1">
              <a:lnSpc>
                <a:spcPct val="110000"/>
              </a:lnSpc>
              <a:spcBef>
                <a:spcPct val="5000"/>
              </a:spcBef>
              <a:spcAft>
                <a:spcPct val="0"/>
              </a:spcAft>
              <a:buClr>
                <a:srgbClr val="FF0000"/>
              </a:buClr>
              <a:buSzTx/>
              <a:buFont typeface="Wingdings" panose="05000000000000000000" pitchFamily="2" charset="2"/>
              <a:buAutoNum type="arabicParenR" startAt="2"/>
              <a:defRPr/>
            </a:pPr>
            <a:r>
              <a:rPr lang="zh-CN" altLang="en-US" b="0" kern="0" noProof="0" dirty="0">
                <a:ln>
                  <a:noFill/>
                </a:ln>
                <a:effectLst/>
                <a:uLnTx/>
                <a:uFillTx/>
                <a:ea typeface="宋体" panose="02010600030101010101" pitchFamily="2" charset="-122"/>
                <a:cs typeface="+mn-ea"/>
                <a:sym typeface="+mn-ea"/>
              </a:rPr>
              <a:t>对于项目状况的估计过于主观；</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447800" marR="0" lvl="2" indent="-754380" algn="l" defTabSz="914400" rtl="0" eaLnBrk="1" fontAlgn="base" latinLnBrk="0" hangingPunct="1">
              <a:lnSpc>
                <a:spcPct val="110000"/>
              </a:lnSpc>
              <a:spcBef>
                <a:spcPct val="5000"/>
              </a:spcBef>
              <a:spcAft>
                <a:spcPct val="0"/>
              </a:spcAft>
              <a:buClr>
                <a:srgbClr val="FF0000"/>
              </a:buClr>
              <a:buSzTx/>
              <a:buFont typeface="Wingdings" panose="05000000000000000000" pitchFamily="2" charset="2"/>
              <a:buAutoNum type="arabicParenR" startAt="2"/>
              <a:defRPr/>
            </a:pPr>
            <a:r>
              <a:rPr lang="zh-CN" altLang="en-US" b="0" kern="0" noProof="0" dirty="0">
                <a:ln>
                  <a:noFill/>
                </a:ln>
                <a:effectLst/>
                <a:uLnTx/>
                <a:uFillTx/>
                <a:ea typeface="宋体" panose="02010600030101010101" pitchFamily="2" charset="-122"/>
                <a:cs typeface="+mn-ea"/>
                <a:sym typeface="+mn-ea"/>
              </a:rPr>
              <a:t>未解决存在的风险；</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447800" marR="0" lvl="2" indent="-754380" algn="l" defTabSz="914400" rtl="0" eaLnBrk="1" fontAlgn="base" latinLnBrk="0" hangingPunct="1">
              <a:lnSpc>
                <a:spcPct val="110000"/>
              </a:lnSpc>
              <a:spcBef>
                <a:spcPct val="5000"/>
              </a:spcBef>
              <a:spcAft>
                <a:spcPct val="0"/>
              </a:spcAft>
              <a:buClr>
                <a:srgbClr val="FF0000"/>
              </a:buClr>
              <a:buSzTx/>
              <a:buFont typeface="Wingdings" panose="05000000000000000000" pitchFamily="2" charset="2"/>
              <a:buAutoNum type="arabicParenR" startAt="2"/>
              <a:defRPr/>
            </a:pPr>
            <a:r>
              <a:rPr lang="zh-CN" altLang="en-US" b="0" kern="0" noProof="0" dirty="0">
                <a:ln>
                  <a:noFill/>
                </a:ln>
                <a:effectLst/>
                <a:uLnTx/>
                <a:uFillTx/>
                <a:ea typeface="宋体" panose="02010600030101010101" pitchFamily="2" charset="-122"/>
                <a:cs typeface="+mn-ea"/>
                <a:sym typeface="+mn-ea"/>
              </a:rPr>
              <a:t>无法控制变化的产生和传播；</a:t>
            </a:r>
            <a:endParaRPr kumimoji="0" lang="zh-CN" altLang="en-US" b="0" i="0" u="none" strike="noStrike" kern="0" cap="none" spc="0" normalizeH="0" baseline="0" noProof="0" dirty="0">
              <a:ln>
                <a:noFill/>
              </a:ln>
              <a:solidFill>
                <a:schemeClr val="tx1"/>
              </a:solidFill>
              <a:effectLst/>
              <a:uLnTx/>
              <a:uFillTx/>
              <a:latin typeface="+mn-lt"/>
              <a:ea typeface="宋体" panose="02010600030101010101" pitchFamily="2" charset="-122"/>
              <a:cs typeface="+mn-ea"/>
            </a:endParaRPr>
          </a:p>
          <a:p>
            <a:pPr marL="1447800" marR="0" lvl="2" indent="-754380" algn="l" defTabSz="914400" rtl="0" eaLnBrk="1" fontAlgn="base" latinLnBrk="0" hangingPunct="1">
              <a:lnSpc>
                <a:spcPct val="110000"/>
              </a:lnSpc>
              <a:spcBef>
                <a:spcPct val="5000"/>
              </a:spcBef>
              <a:spcAft>
                <a:spcPct val="0"/>
              </a:spcAft>
              <a:buClr>
                <a:srgbClr val="FF0000"/>
              </a:buClr>
              <a:buSzTx/>
              <a:buFont typeface="Wingdings" panose="05000000000000000000" pitchFamily="2" charset="2"/>
              <a:buAutoNum type="arabicParenR" startAt="2"/>
              <a:defRPr/>
            </a:pPr>
            <a:r>
              <a:rPr lang="zh-CN" altLang="en-US" b="0" kern="0" noProof="0" dirty="0">
                <a:ln>
                  <a:noFill/>
                </a:ln>
                <a:effectLst/>
                <a:uLnTx/>
                <a:uFillTx/>
                <a:ea typeface="宋体" panose="02010600030101010101" pitchFamily="2" charset="-122"/>
                <a:cs typeface="+mn-ea"/>
                <a:sym typeface="+mn-ea"/>
              </a:rPr>
              <a:t>自动控制不足</a:t>
            </a:r>
            <a:r>
              <a:rPr lang="zh-CN" altLang="en-US" kern="0" noProof="0" dirty="0">
                <a:ln>
                  <a:noFill/>
                </a:ln>
                <a:effectLst>
                  <a:outerShdw blurRad="38100" dist="38100" dir="2700000" algn="tl">
                    <a:srgbClr val="C0C0C0"/>
                  </a:outerShdw>
                </a:effectLst>
                <a:uLnTx/>
                <a:uFillTx/>
                <a:ea typeface="宋体" panose="02010600030101010101" pitchFamily="2" charset="-122"/>
                <a:cs typeface="+mn-ea"/>
                <a:sym typeface="+mn-ea"/>
              </a:rPr>
              <a:t>。</a:t>
            </a:r>
            <a:endParaRPr kumimoji="0" lang="zh-CN" altLang="en-US"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宋体" panose="02010600030101010101" pitchFamily="2" charset="-122"/>
              <a:cs typeface="+mn-ea"/>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4873625"/>
          </a:xfrm>
        </p:spPr>
        <p:txBody>
          <a:bodyPr vert="horz" wrap="square" lIns="91440" tIns="45720" rIns="91440" bIns="45720" anchor="t" anchorCtr="0"/>
          <a:lstStyle/>
          <a:p>
            <a:pPr marL="609600" indent="-609600" eaLnBrk="1" hangingPunct="1">
              <a:lnSpc>
                <a:spcPct val="80000"/>
              </a:lnSpc>
              <a:spcBef>
                <a:spcPct val="5000"/>
              </a:spcBef>
            </a:pPr>
            <a:r>
              <a:rPr lang="zh-CN" altLang="en-US" dirty="0">
                <a:sym typeface="+mn-ea"/>
              </a:rPr>
              <a:t>为解决这些问题，需要以一种更好的、迭代的、可预测的方式开发软件产品，这就是软件开发中的最佳实践。</a:t>
            </a:r>
            <a:endParaRPr lang="zh-CN" altLang="en-US" dirty="0"/>
          </a:p>
          <a:p>
            <a:pPr marL="609600" indent="-609600" eaLnBrk="1" hangingPunct="1">
              <a:lnSpc>
                <a:spcPct val="80000"/>
              </a:lnSpc>
              <a:spcBef>
                <a:spcPct val="5000"/>
              </a:spcBef>
            </a:pPr>
            <a:endParaRPr lang="zh-CN" altLang="en-US" dirty="0"/>
          </a:p>
          <a:p>
            <a:pPr marL="609600" indent="-609600" eaLnBrk="1" hangingPunct="1">
              <a:lnSpc>
                <a:spcPct val="80000"/>
              </a:lnSpc>
              <a:spcBef>
                <a:spcPct val="5000"/>
              </a:spcBef>
            </a:pPr>
            <a:r>
              <a:rPr lang="zh-CN" altLang="en-US" dirty="0">
                <a:sym typeface="+mn-ea"/>
              </a:rPr>
              <a:t>最佳实践包括：</a:t>
            </a:r>
            <a:endParaRPr lang="zh-CN" altLang="en-US" dirty="0"/>
          </a:p>
          <a:p>
            <a:pPr marL="990600" lvl="1" indent="-645795" eaLnBrk="1" hangingPunct="1">
              <a:lnSpc>
                <a:spcPct val="80000"/>
              </a:lnSpc>
              <a:spcBef>
                <a:spcPct val="5000"/>
              </a:spcBef>
              <a:buClr>
                <a:srgbClr val="FF0000"/>
              </a:buClr>
              <a:buSzTx/>
              <a:buFont typeface="Wingdings" panose="05000000000000000000" pitchFamily="2" charset="2"/>
              <a:buAutoNum type="arabicParenR"/>
            </a:pPr>
            <a:endParaRPr lang="zh-CN" altLang="en-US" b="1" dirty="0">
              <a:solidFill>
                <a:srgbClr val="8F0F34"/>
              </a:solidFill>
            </a:endParaRPr>
          </a:p>
          <a:p>
            <a:pPr marL="990600" lvl="1" indent="-645795" eaLnBrk="1" hangingPunct="1">
              <a:lnSpc>
                <a:spcPct val="80000"/>
              </a:lnSpc>
              <a:spcBef>
                <a:spcPct val="5000"/>
              </a:spcBef>
              <a:buClr>
                <a:srgbClr val="FF0000"/>
              </a:buClr>
              <a:buSzTx/>
              <a:buFont typeface="Wingdings" panose="05000000000000000000" pitchFamily="2" charset="2"/>
              <a:buAutoNum type="arabicParenR"/>
            </a:pPr>
            <a:r>
              <a:rPr lang="zh-CN" altLang="en-US" dirty="0">
                <a:solidFill>
                  <a:srgbClr val="8F0F34"/>
                </a:solidFill>
                <a:sym typeface="+mn-ea"/>
              </a:rPr>
              <a:t>迭代式软件开发；</a:t>
            </a:r>
            <a:endParaRPr lang="zh-CN" altLang="en-US" b="1" dirty="0">
              <a:solidFill>
                <a:srgbClr val="8F0F34"/>
              </a:solidFill>
            </a:endParaRPr>
          </a:p>
          <a:p>
            <a:pPr marL="990600" lvl="1" indent="-645795" eaLnBrk="1" hangingPunct="1">
              <a:lnSpc>
                <a:spcPct val="80000"/>
              </a:lnSpc>
              <a:spcBef>
                <a:spcPct val="5000"/>
              </a:spcBef>
              <a:buClr>
                <a:srgbClr val="FF0000"/>
              </a:buClr>
              <a:buSzTx/>
              <a:buFont typeface="Wingdings" panose="05000000000000000000" pitchFamily="2" charset="2"/>
              <a:buAutoNum type="arabicParenR"/>
            </a:pPr>
            <a:endParaRPr lang="zh-CN" altLang="en-US" b="1" dirty="0">
              <a:solidFill>
                <a:srgbClr val="8F0F34"/>
              </a:solidFill>
            </a:endParaRPr>
          </a:p>
          <a:p>
            <a:pPr marL="990600" lvl="1" indent="-645795" eaLnBrk="1" hangingPunct="1">
              <a:lnSpc>
                <a:spcPct val="80000"/>
              </a:lnSpc>
              <a:spcBef>
                <a:spcPct val="5000"/>
              </a:spcBef>
              <a:buClr>
                <a:srgbClr val="FF0000"/>
              </a:buClr>
              <a:buSzTx/>
              <a:buFont typeface="Wingdings" panose="05000000000000000000" pitchFamily="2" charset="2"/>
              <a:buAutoNum type="arabicParenR"/>
            </a:pPr>
            <a:r>
              <a:rPr lang="zh-CN" altLang="en-US" dirty="0">
                <a:solidFill>
                  <a:srgbClr val="8F0F34"/>
                </a:solidFill>
                <a:sym typeface="+mn-ea"/>
              </a:rPr>
              <a:t>需求管理；</a:t>
            </a:r>
            <a:endParaRPr lang="zh-CN" altLang="en-US" b="1" dirty="0">
              <a:solidFill>
                <a:srgbClr val="8F0F34"/>
              </a:solidFill>
            </a:endParaRPr>
          </a:p>
          <a:p>
            <a:pPr marL="990600" lvl="1" indent="-645795" eaLnBrk="1" hangingPunct="1">
              <a:lnSpc>
                <a:spcPct val="80000"/>
              </a:lnSpc>
              <a:spcBef>
                <a:spcPct val="5000"/>
              </a:spcBef>
              <a:buClr>
                <a:srgbClr val="FF0000"/>
              </a:buClr>
              <a:buSzTx/>
              <a:buFont typeface="Wingdings" panose="05000000000000000000" pitchFamily="2" charset="2"/>
              <a:buAutoNum type="arabicParenR"/>
            </a:pPr>
            <a:endParaRPr lang="zh-CN" altLang="en-US" b="1" dirty="0">
              <a:solidFill>
                <a:srgbClr val="8F0F34"/>
              </a:solidFill>
            </a:endParaRPr>
          </a:p>
          <a:p>
            <a:pPr marL="990600" lvl="1" indent="-645795" eaLnBrk="1" hangingPunct="1">
              <a:lnSpc>
                <a:spcPct val="80000"/>
              </a:lnSpc>
              <a:spcBef>
                <a:spcPct val="5000"/>
              </a:spcBef>
              <a:buClr>
                <a:srgbClr val="FF0000"/>
              </a:buClr>
              <a:buSzTx/>
              <a:buFont typeface="Wingdings" panose="05000000000000000000" pitchFamily="2" charset="2"/>
              <a:buAutoNum type="arabicParenR"/>
            </a:pPr>
            <a:r>
              <a:rPr lang="zh-CN" altLang="en-US" dirty="0">
                <a:solidFill>
                  <a:srgbClr val="8F0F34"/>
                </a:solidFill>
                <a:sym typeface="+mn-ea"/>
              </a:rPr>
              <a:t>基于构件的软件体系结构；</a:t>
            </a:r>
            <a:endParaRPr lang="zh-CN" altLang="en-US" b="1" dirty="0">
              <a:solidFill>
                <a:srgbClr val="8F0F34"/>
              </a:solidFill>
            </a:endParaRPr>
          </a:p>
          <a:p>
            <a:pPr marL="990600" lvl="1" indent="-645795" eaLnBrk="1" hangingPunct="1">
              <a:lnSpc>
                <a:spcPct val="80000"/>
              </a:lnSpc>
              <a:spcBef>
                <a:spcPct val="5000"/>
              </a:spcBef>
              <a:buClr>
                <a:srgbClr val="FF0000"/>
              </a:buClr>
              <a:buSzTx/>
              <a:buFont typeface="Wingdings" panose="05000000000000000000" pitchFamily="2" charset="2"/>
              <a:buAutoNum type="arabicParenR"/>
            </a:pPr>
            <a:endParaRPr lang="zh-CN" altLang="en-US" b="1" dirty="0">
              <a:solidFill>
                <a:srgbClr val="8F0F34"/>
              </a:solidFill>
            </a:endParaRPr>
          </a:p>
          <a:p>
            <a:pPr marL="990600" lvl="1" indent="-645795" eaLnBrk="1" hangingPunct="1">
              <a:lnSpc>
                <a:spcPct val="80000"/>
              </a:lnSpc>
              <a:spcBef>
                <a:spcPct val="5000"/>
              </a:spcBef>
              <a:buClr>
                <a:srgbClr val="FF0000"/>
              </a:buClr>
              <a:buSzTx/>
              <a:buFont typeface="Wingdings" panose="05000000000000000000" pitchFamily="2" charset="2"/>
              <a:buAutoNum type="arabicParenR"/>
            </a:pPr>
            <a:r>
              <a:rPr lang="zh-CN" altLang="en-US" dirty="0">
                <a:solidFill>
                  <a:srgbClr val="8F0F34"/>
                </a:solidFill>
                <a:sym typeface="+mn-ea"/>
              </a:rPr>
              <a:t>建立软件可视化模型；</a:t>
            </a:r>
            <a:endParaRPr lang="zh-CN" altLang="en-US" b="1" dirty="0">
              <a:solidFill>
                <a:srgbClr val="8F0F34"/>
              </a:solidFill>
            </a:endParaRPr>
          </a:p>
          <a:p>
            <a:pPr marL="990600" lvl="1" indent="-645795" eaLnBrk="1" hangingPunct="1">
              <a:lnSpc>
                <a:spcPct val="80000"/>
              </a:lnSpc>
              <a:spcBef>
                <a:spcPct val="5000"/>
              </a:spcBef>
              <a:buClr>
                <a:srgbClr val="FF0000"/>
              </a:buClr>
              <a:buSzTx/>
              <a:buFont typeface="Wingdings" panose="05000000000000000000" pitchFamily="2" charset="2"/>
              <a:buAutoNum type="arabicParenR"/>
            </a:pPr>
            <a:endParaRPr lang="zh-CN" altLang="en-US" b="1" dirty="0">
              <a:solidFill>
                <a:srgbClr val="8F0F34"/>
              </a:solidFill>
            </a:endParaRPr>
          </a:p>
          <a:p>
            <a:pPr marL="990600" lvl="1" indent="-645795" eaLnBrk="1" hangingPunct="1">
              <a:lnSpc>
                <a:spcPct val="80000"/>
              </a:lnSpc>
              <a:spcBef>
                <a:spcPct val="5000"/>
              </a:spcBef>
              <a:buClr>
                <a:srgbClr val="FF0000"/>
              </a:buClr>
              <a:buSzTx/>
              <a:buFont typeface="Wingdings" panose="05000000000000000000" pitchFamily="2" charset="2"/>
              <a:buAutoNum type="arabicParenR"/>
            </a:pPr>
            <a:r>
              <a:rPr lang="zh-CN" altLang="en-US" dirty="0">
                <a:solidFill>
                  <a:srgbClr val="8F0F34"/>
                </a:solidFill>
                <a:sym typeface="+mn-ea"/>
              </a:rPr>
              <a:t>不断验证软件质量；</a:t>
            </a:r>
            <a:endParaRPr lang="zh-CN" altLang="en-US" b="1" dirty="0">
              <a:solidFill>
                <a:srgbClr val="8F0F34"/>
              </a:solidFill>
            </a:endParaRPr>
          </a:p>
          <a:p>
            <a:pPr marL="990600" lvl="1" indent="-645795" eaLnBrk="1" hangingPunct="1">
              <a:lnSpc>
                <a:spcPct val="80000"/>
              </a:lnSpc>
              <a:spcBef>
                <a:spcPct val="5000"/>
              </a:spcBef>
              <a:buClr>
                <a:srgbClr val="FF0000"/>
              </a:buClr>
              <a:buSzTx/>
              <a:buFont typeface="Wingdings" panose="05000000000000000000" pitchFamily="2" charset="2"/>
              <a:buAutoNum type="arabicParenR"/>
            </a:pPr>
            <a:endParaRPr lang="zh-CN" altLang="en-US" b="1" dirty="0">
              <a:solidFill>
                <a:srgbClr val="8F0F34"/>
              </a:solidFill>
            </a:endParaRPr>
          </a:p>
          <a:p>
            <a:pPr marL="990600" lvl="1" indent="-645795" eaLnBrk="1" hangingPunct="1">
              <a:lnSpc>
                <a:spcPct val="80000"/>
              </a:lnSpc>
              <a:spcBef>
                <a:spcPct val="5000"/>
              </a:spcBef>
              <a:buClr>
                <a:srgbClr val="FF0000"/>
              </a:buClr>
              <a:buSzTx/>
              <a:buFont typeface="Wingdings" panose="05000000000000000000" pitchFamily="2" charset="2"/>
              <a:buAutoNum type="arabicParenR"/>
            </a:pPr>
            <a:r>
              <a:rPr lang="zh-CN" altLang="en-US" dirty="0">
                <a:solidFill>
                  <a:srgbClr val="8F0F34"/>
                </a:solidFill>
                <a:sym typeface="+mn-ea"/>
              </a:rPr>
              <a:t>控制变更。</a:t>
            </a:r>
            <a:endParaRPr lang="zh-CN" altLang="en-US" b="1" dirty="0">
              <a:solidFill>
                <a:srgbClr val="8F0F34"/>
              </a:solidFill>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9030" name="Group 4"/>
          <p:cNvGrpSpPr/>
          <p:nvPr/>
        </p:nvGrpSpPr>
        <p:grpSpPr>
          <a:xfrm>
            <a:off x="1244600" y="3429000"/>
            <a:ext cx="6389370" cy="3068677"/>
            <a:chOff x="411" y="2111"/>
            <a:chExt cx="3618" cy="1650"/>
          </a:xfrm>
        </p:grpSpPr>
        <p:sp>
          <p:nvSpPr>
            <p:cNvPr id="129031" name="AutoShape 5"/>
            <p:cNvSpPr/>
            <p:nvPr/>
          </p:nvSpPr>
          <p:spPr>
            <a:xfrm flipV="1">
              <a:off x="3070" y="3267"/>
              <a:ext cx="516" cy="494"/>
            </a:xfrm>
            <a:custGeom>
              <a:avLst/>
              <a:gdLst/>
              <a:ahLst/>
              <a:cxnLst>
                <a:cxn ang="17694720">
                  <a:pos x="0" y="0"/>
                </a:cxn>
                <a:cxn ang="5898240">
                  <a:pos x="0" y="0"/>
                </a:cxn>
                <a:cxn ang="5898240">
                  <a:pos x="0" y="0"/>
                </a:cxn>
                <a:cxn ang="0">
                  <a:pos x="0" y="0"/>
                </a:cxn>
              </a:cxnLst>
              <a:rect l="0" t="0" r="0" b="0"/>
              <a:pathLst>
                <a:path w="21600" h="21600">
                  <a:moveTo>
                    <a:pt x="21600" y="6079"/>
                  </a:moveTo>
                  <a:lnTo>
                    <a:pt x="15106" y="0"/>
                  </a:lnTo>
                  <a:lnTo>
                    <a:pt x="15106" y="2936"/>
                  </a:lnTo>
                  <a:lnTo>
                    <a:pt x="12427" y="2936"/>
                  </a:lnTo>
                  <a:cubicBezTo>
                    <a:pt x="5564" y="2936"/>
                    <a:pt x="0" y="7065"/>
                    <a:pt x="0" y="12158"/>
                  </a:cubicBezTo>
                  <a:lnTo>
                    <a:pt x="0" y="21600"/>
                  </a:lnTo>
                  <a:lnTo>
                    <a:pt x="6425" y="21600"/>
                  </a:lnTo>
                  <a:lnTo>
                    <a:pt x="6425" y="12158"/>
                  </a:lnTo>
                  <a:cubicBezTo>
                    <a:pt x="6425" y="10536"/>
                    <a:pt x="9112" y="9222"/>
                    <a:pt x="12427" y="9222"/>
                  </a:cubicBezTo>
                  <a:lnTo>
                    <a:pt x="15106" y="9222"/>
                  </a:lnTo>
                  <a:lnTo>
                    <a:pt x="15106" y="12158"/>
                  </a:lnTo>
                  <a:lnTo>
                    <a:pt x="21600" y="6079"/>
                  </a:lnTo>
                  <a:close/>
                </a:path>
              </a:pathLst>
            </a:custGeom>
            <a:solidFill>
              <a:srgbClr val="008080"/>
            </a:solidFill>
            <a:ln w="9525" cap="flat" cmpd="sng">
              <a:solidFill>
                <a:srgbClr val="008080"/>
              </a:solidFill>
              <a:prstDash val="solid"/>
              <a:miter/>
              <a:headEnd type="none" w="med" len="med"/>
              <a:tailEnd type="none" w="med" len="med"/>
            </a:ln>
            <a:effectLst>
              <a:outerShdw dist="35921" dir="2699999" algn="ctr" rotWithShape="0">
                <a:schemeClr val="bg2"/>
              </a:outerShdw>
            </a:effectLst>
          </p:spPr>
          <p:txBody>
            <a:bodyPr/>
            <a:lstStyle/>
            <a:p>
              <a:endParaRPr lang="zh-CN" altLang="en-US"/>
            </a:p>
          </p:txBody>
        </p:sp>
        <p:sp>
          <p:nvSpPr>
            <p:cNvPr id="129032" name="AutoShape 6"/>
            <p:cNvSpPr/>
            <p:nvPr/>
          </p:nvSpPr>
          <p:spPr>
            <a:xfrm>
              <a:off x="2302" y="2273"/>
              <a:ext cx="516" cy="494"/>
            </a:xfrm>
            <a:custGeom>
              <a:avLst/>
              <a:gdLst/>
              <a:ahLst/>
              <a:cxnLst>
                <a:cxn ang="17694720">
                  <a:pos x="0" y="0"/>
                </a:cxn>
                <a:cxn ang="5898240">
                  <a:pos x="0" y="0"/>
                </a:cxn>
                <a:cxn ang="5898240">
                  <a:pos x="0" y="0"/>
                </a:cxn>
                <a:cxn ang="0">
                  <a:pos x="0" y="0"/>
                </a:cxn>
              </a:cxnLst>
              <a:rect l="0" t="0" r="0" b="0"/>
              <a:pathLst>
                <a:path w="21600" h="21600">
                  <a:moveTo>
                    <a:pt x="21600" y="6079"/>
                  </a:moveTo>
                  <a:lnTo>
                    <a:pt x="15106" y="0"/>
                  </a:lnTo>
                  <a:lnTo>
                    <a:pt x="15106" y="2936"/>
                  </a:lnTo>
                  <a:lnTo>
                    <a:pt x="12427" y="2936"/>
                  </a:lnTo>
                  <a:cubicBezTo>
                    <a:pt x="5564" y="2936"/>
                    <a:pt x="0" y="7065"/>
                    <a:pt x="0" y="12158"/>
                  </a:cubicBezTo>
                  <a:lnTo>
                    <a:pt x="0" y="21600"/>
                  </a:lnTo>
                  <a:lnTo>
                    <a:pt x="6425" y="21600"/>
                  </a:lnTo>
                  <a:lnTo>
                    <a:pt x="6425" y="12158"/>
                  </a:lnTo>
                  <a:cubicBezTo>
                    <a:pt x="6425" y="10536"/>
                    <a:pt x="9112" y="9222"/>
                    <a:pt x="12427" y="9222"/>
                  </a:cubicBezTo>
                  <a:lnTo>
                    <a:pt x="15106" y="9222"/>
                  </a:lnTo>
                  <a:lnTo>
                    <a:pt x="15106" y="12158"/>
                  </a:lnTo>
                  <a:lnTo>
                    <a:pt x="21600" y="6079"/>
                  </a:lnTo>
                  <a:close/>
                </a:path>
              </a:pathLst>
            </a:custGeom>
            <a:solidFill>
              <a:srgbClr val="008080"/>
            </a:solidFill>
            <a:ln w="9525" cap="flat" cmpd="sng">
              <a:solidFill>
                <a:srgbClr val="008080"/>
              </a:solidFill>
              <a:prstDash val="solid"/>
              <a:miter/>
              <a:headEnd type="none" w="med" len="med"/>
              <a:tailEnd type="none" w="med" len="med"/>
            </a:ln>
            <a:effectLst>
              <a:outerShdw dist="35921" dir="2699999" algn="ctr" rotWithShape="0">
                <a:schemeClr val="bg2"/>
              </a:outerShdw>
            </a:effectLst>
          </p:spPr>
          <p:txBody>
            <a:bodyPr/>
            <a:lstStyle/>
            <a:p>
              <a:endParaRPr lang="zh-CN" altLang="en-US"/>
            </a:p>
          </p:txBody>
        </p:sp>
        <p:sp>
          <p:nvSpPr>
            <p:cNvPr id="129033" name="AutoShape 7"/>
            <p:cNvSpPr/>
            <p:nvPr/>
          </p:nvSpPr>
          <p:spPr>
            <a:xfrm rot="5400000">
              <a:off x="2883" y="2322"/>
              <a:ext cx="524" cy="530"/>
            </a:xfrm>
            <a:custGeom>
              <a:avLst/>
              <a:gdLst/>
              <a:ahLst/>
              <a:cxnLst>
                <a:cxn ang="17694720">
                  <a:pos x="0" y="0"/>
                </a:cxn>
                <a:cxn ang="5898240">
                  <a:pos x="0" y="0"/>
                </a:cxn>
                <a:cxn ang="5898240">
                  <a:pos x="0" y="0"/>
                </a:cxn>
                <a:cxn ang="0">
                  <a:pos x="0" y="0"/>
                </a:cxn>
              </a:cxnLst>
              <a:rect l="0" t="0" r="0" b="0"/>
              <a:pathLst>
                <a:path w="21600" h="21600">
                  <a:moveTo>
                    <a:pt x="21600" y="6079"/>
                  </a:moveTo>
                  <a:lnTo>
                    <a:pt x="15106" y="0"/>
                  </a:lnTo>
                  <a:lnTo>
                    <a:pt x="15106" y="2936"/>
                  </a:lnTo>
                  <a:lnTo>
                    <a:pt x="12427" y="2936"/>
                  </a:lnTo>
                  <a:cubicBezTo>
                    <a:pt x="5564" y="2936"/>
                    <a:pt x="0" y="7065"/>
                    <a:pt x="0" y="12158"/>
                  </a:cubicBezTo>
                  <a:lnTo>
                    <a:pt x="0" y="21600"/>
                  </a:lnTo>
                  <a:lnTo>
                    <a:pt x="6425" y="21600"/>
                  </a:lnTo>
                  <a:lnTo>
                    <a:pt x="6425" y="12158"/>
                  </a:lnTo>
                  <a:cubicBezTo>
                    <a:pt x="6425" y="10536"/>
                    <a:pt x="9112" y="9222"/>
                    <a:pt x="12427" y="9222"/>
                  </a:cubicBezTo>
                  <a:lnTo>
                    <a:pt x="15106" y="9222"/>
                  </a:lnTo>
                  <a:lnTo>
                    <a:pt x="15106" y="12158"/>
                  </a:lnTo>
                  <a:lnTo>
                    <a:pt x="21600" y="6079"/>
                  </a:lnTo>
                  <a:close/>
                </a:path>
              </a:pathLst>
            </a:custGeom>
            <a:solidFill>
              <a:srgbClr val="008080"/>
            </a:solidFill>
            <a:ln w="9525" cap="flat" cmpd="sng">
              <a:solidFill>
                <a:srgbClr val="008080"/>
              </a:solidFill>
              <a:prstDash val="solid"/>
              <a:miter/>
              <a:headEnd type="none" w="med" len="med"/>
              <a:tailEnd type="none" w="med" len="med"/>
            </a:ln>
            <a:effectLst>
              <a:outerShdw dist="35921" dir="2699999" algn="ctr" rotWithShape="0">
                <a:schemeClr val="bg2"/>
              </a:outerShdw>
            </a:effectLst>
          </p:spPr>
          <p:txBody>
            <a:bodyPr/>
            <a:lstStyle/>
            <a:p>
              <a:endParaRPr lang="zh-CN" altLang="en-US"/>
            </a:p>
          </p:txBody>
        </p:sp>
        <p:sp>
          <p:nvSpPr>
            <p:cNvPr id="129034" name="AutoShape 8"/>
            <p:cNvSpPr/>
            <p:nvPr/>
          </p:nvSpPr>
          <p:spPr>
            <a:xfrm rot="-5400000">
              <a:off x="2226" y="2846"/>
              <a:ext cx="524" cy="486"/>
            </a:xfrm>
            <a:custGeom>
              <a:avLst/>
              <a:gdLst/>
              <a:ahLst/>
              <a:cxnLst>
                <a:cxn ang="17694720">
                  <a:pos x="0" y="0"/>
                </a:cxn>
                <a:cxn ang="5898240">
                  <a:pos x="0" y="0"/>
                </a:cxn>
                <a:cxn ang="5898240">
                  <a:pos x="0" y="0"/>
                </a:cxn>
                <a:cxn ang="0">
                  <a:pos x="0" y="0"/>
                </a:cxn>
              </a:cxnLst>
              <a:rect l="0" t="0" r="0" b="0"/>
              <a:pathLst>
                <a:path w="21600" h="21600">
                  <a:moveTo>
                    <a:pt x="21600" y="6079"/>
                  </a:moveTo>
                  <a:lnTo>
                    <a:pt x="15106" y="0"/>
                  </a:lnTo>
                  <a:lnTo>
                    <a:pt x="15106" y="2936"/>
                  </a:lnTo>
                  <a:lnTo>
                    <a:pt x="12427" y="2936"/>
                  </a:lnTo>
                  <a:cubicBezTo>
                    <a:pt x="5564" y="2936"/>
                    <a:pt x="0" y="7065"/>
                    <a:pt x="0" y="12158"/>
                  </a:cubicBezTo>
                  <a:lnTo>
                    <a:pt x="0" y="21600"/>
                  </a:lnTo>
                  <a:lnTo>
                    <a:pt x="6425" y="21600"/>
                  </a:lnTo>
                  <a:lnTo>
                    <a:pt x="6425" y="12158"/>
                  </a:lnTo>
                  <a:cubicBezTo>
                    <a:pt x="6425" y="10536"/>
                    <a:pt x="9112" y="9222"/>
                    <a:pt x="12427" y="9222"/>
                  </a:cubicBezTo>
                  <a:lnTo>
                    <a:pt x="15106" y="9222"/>
                  </a:lnTo>
                  <a:lnTo>
                    <a:pt x="15106" y="12158"/>
                  </a:lnTo>
                  <a:lnTo>
                    <a:pt x="21600" y="6079"/>
                  </a:lnTo>
                  <a:close/>
                </a:path>
              </a:pathLst>
            </a:custGeom>
            <a:solidFill>
              <a:srgbClr val="008080"/>
            </a:solidFill>
            <a:ln w="9525" cap="flat" cmpd="sng">
              <a:solidFill>
                <a:srgbClr val="008080"/>
              </a:solidFill>
              <a:prstDash val="solid"/>
              <a:miter/>
              <a:headEnd type="none" w="med" len="med"/>
              <a:tailEnd type="none" w="med" len="med"/>
            </a:ln>
            <a:effectLst>
              <a:outerShdw dist="35921" dir="2699999" algn="ctr" rotWithShape="0">
                <a:schemeClr val="bg2"/>
              </a:outerShdw>
            </a:effectLst>
          </p:spPr>
          <p:txBody>
            <a:bodyPr/>
            <a:lstStyle/>
            <a:p>
              <a:endParaRPr lang="zh-CN" altLang="en-US"/>
            </a:p>
          </p:txBody>
        </p:sp>
        <p:sp>
          <p:nvSpPr>
            <p:cNvPr id="129035" name="AutoShape 9"/>
            <p:cNvSpPr/>
            <p:nvPr/>
          </p:nvSpPr>
          <p:spPr>
            <a:xfrm rot="10800000">
              <a:off x="2824" y="2912"/>
              <a:ext cx="509" cy="494"/>
            </a:xfrm>
            <a:custGeom>
              <a:avLst/>
              <a:gdLst/>
              <a:ahLst/>
              <a:cxnLst>
                <a:cxn ang="17694720">
                  <a:pos x="0" y="0"/>
                </a:cxn>
                <a:cxn ang="5898240">
                  <a:pos x="0" y="0"/>
                </a:cxn>
                <a:cxn ang="5898240">
                  <a:pos x="0" y="0"/>
                </a:cxn>
                <a:cxn ang="0">
                  <a:pos x="0" y="0"/>
                </a:cxn>
              </a:cxnLst>
              <a:rect l="0" t="0" r="0" b="0"/>
              <a:pathLst>
                <a:path w="21600" h="21600">
                  <a:moveTo>
                    <a:pt x="21600" y="6079"/>
                  </a:moveTo>
                  <a:lnTo>
                    <a:pt x="15106" y="0"/>
                  </a:lnTo>
                  <a:lnTo>
                    <a:pt x="15106" y="2936"/>
                  </a:lnTo>
                  <a:lnTo>
                    <a:pt x="12427" y="2936"/>
                  </a:lnTo>
                  <a:cubicBezTo>
                    <a:pt x="5564" y="2936"/>
                    <a:pt x="0" y="7065"/>
                    <a:pt x="0" y="12158"/>
                  </a:cubicBezTo>
                  <a:lnTo>
                    <a:pt x="0" y="21600"/>
                  </a:lnTo>
                  <a:lnTo>
                    <a:pt x="6425" y="21600"/>
                  </a:lnTo>
                  <a:lnTo>
                    <a:pt x="6425" y="12158"/>
                  </a:lnTo>
                  <a:cubicBezTo>
                    <a:pt x="6425" y="10536"/>
                    <a:pt x="9112" y="9222"/>
                    <a:pt x="12427" y="9222"/>
                  </a:cubicBezTo>
                  <a:lnTo>
                    <a:pt x="15106" y="9222"/>
                  </a:lnTo>
                  <a:lnTo>
                    <a:pt x="15106" y="12158"/>
                  </a:lnTo>
                  <a:lnTo>
                    <a:pt x="21600" y="6079"/>
                  </a:lnTo>
                  <a:close/>
                </a:path>
              </a:pathLst>
            </a:custGeom>
            <a:solidFill>
              <a:srgbClr val="008080"/>
            </a:solidFill>
            <a:ln w="9525" cap="flat" cmpd="sng">
              <a:solidFill>
                <a:srgbClr val="008080"/>
              </a:solidFill>
              <a:prstDash val="solid"/>
              <a:miter/>
              <a:headEnd type="none" w="med" len="med"/>
              <a:tailEnd type="none" w="med" len="med"/>
            </a:ln>
            <a:effectLst>
              <a:outerShdw dist="35921" dir="2699999" algn="ctr" rotWithShape="0">
                <a:schemeClr val="bg2"/>
              </a:outerShdw>
            </a:effectLst>
          </p:spPr>
          <p:txBody>
            <a:bodyPr/>
            <a:lstStyle/>
            <a:p>
              <a:endParaRPr lang="zh-CN" altLang="en-US"/>
            </a:p>
          </p:txBody>
        </p:sp>
        <p:sp>
          <p:nvSpPr>
            <p:cNvPr id="129036" name="AutoShape 10"/>
            <p:cNvSpPr/>
            <p:nvPr/>
          </p:nvSpPr>
          <p:spPr>
            <a:xfrm flipV="1">
              <a:off x="1659" y="2466"/>
              <a:ext cx="516" cy="494"/>
            </a:xfrm>
            <a:custGeom>
              <a:avLst/>
              <a:gdLst/>
              <a:ahLst/>
              <a:cxnLst>
                <a:cxn ang="17694720">
                  <a:pos x="0" y="0"/>
                </a:cxn>
                <a:cxn ang="5898240">
                  <a:pos x="0" y="0"/>
                </a:cxn>
                <a:cxn ang="5898240">
                  <a:pos x="0" y="0"/>
                </a:cxn>
                <a:cxn ang="0">
                  <a:pos x="0" y="0"/>
                </a:cxn>
              </a:cxnLst>
              <a:rect l="0" t="0" r="0" b="0"/>
              <a:pathLst>
                <a:path w="21600" h="21600">
                  <a:moveTo>
                    <a:pt x="21600" y="6079"/>
                  </a:moveTo>
                  <a:lnTo>
                    <a:pt x="15106" y="0"/>
                  </a:lnTo>
                  <a:lnTo>
                    <a:pt x="15106" y="2936"/>
                  </a:lnTo>
                  <a:lnTo>
                    <a:pt x="12427" y="2936"/>
                  </a:lnTo>
                  <a:cubicBezTo>
                    <a:pt x="5564" y="2936"/>
                    <a:pt x="0" y="7065"/>
                    <a:pt x="0" y="12158"/>
                  </a:cubicBezTo>
                  <a:lnTo>
                    <a:pt x="0" y="21600"/>
                  </a:lnTo>
                  <a:lnTo>
                    <a:pt x="6425" y="21600"/>
                  </a:lnTo>
                  <a:lnTo>
                    <a:pt x="6425" y="12158"/>
                  </a:lnTo>
                  <a:cubicBezTo>
                    <a:pt x="6425" y="10536"/>
                    <a:pt x="9112" y="9222"/>
                    <a:pt x="12427" y="9222"/>
                  </a:cubicBezTo>
                  <a:lnTo>
                    <a:pt x="15106" y="9222"/>
                  </a:lnTo>
                  <a:lnTo>
                    <a:pt x="15106" y="12158"/>
                  </a:lnTo>
                  <a:lnTo>
                    <a:pt x="21600" y="6079"/>
                  </a:lnTo>
                  <a:close/>
                </a:path>
              </a:pathLst>
            </a:custGeom>
            <a:solidFill>
              <a:srgbClr val="008080"/>
            </a:solidFill>
            <a:ln w="9525" cap="flat" cmpd="sng">
              <a:solidFill>
                <a:srgbClr val="008080"/>
              </a:solidFill>
              <a:prstDash val="solid"/>
              <a:miter/>
              <a:headEnd type="none" w="med" len="med"/>
              <a:tailEnd type="none" w="med" len="med"/>
            </a:ln>
            <a:effectLst>
              <a:outerShdw dist="35921" dir="2699999" algn="ctr" rotWithShape="0">
                <a:schemeClr val="bg2"/>
              </a:outerShdw>
            </a:effectLst>
          </p:spPr>
          <p:txBody>
            <a:bodyPr/>
            <a:lstStyle/>
            <a:p>
              <a:endParaRPr lang="zh-CN" altLang="en-US"/>
            </a:p>
          </p:txBody>
        </p:sp>
        <p:sp>
          <p:nvSpPr>
            <p:cNvPr id="129037" name="Text Box 11"/>
            <p:cNvSpPr txBox="1"/>
            <p:nvPr/>
          </p:nvSpPr>
          <p:spPr>
            <a:xfrm>
              <a:off x="1879" y="2425"/>
              <a:ext cx="413" cy="214"/>
            </a:xfrm>
            <a:prstGeom prst="rect">
              <a:avLst/>
            </a:prstGeom>
            <a:noFill/>
            <a:ln w="9525">
              <a:noFill/>
            </a:ln>
          </p:spPr>
          <p:txBody>
            <a:bodyPr wrap="square" anchor="t" anchorCtr="0">
              <a:spAutoFit/>
            </a:bodyPr>
            <a:lstStyle/>
            <a:p>
              <a:pPr>
                <a:buClrTx/>
                <a:buFontTx/>
              </a:pPr>
              <a:r>
                <a:rPr lang="zh-CN" altLang="en-US" sz="2000" b="1" dirty="0">
                  <a:solidFill>
                    <a:schemeClr val="hlink"/>
                  </a:solidFill>
                  <a:latin typeface="Times New Roman" panose="02020603050405020304" pitchFamily="18" charset="0"/>
                  <a:ea typeface="仿宋_GB2312" pitchFamily="49" charset="-122"/>
                </a:rPr>
                <a:t>计划</a:t>
              </a:r>
              <a:endParaRPr lang="zh-CN" altLang="en-US" sz="2000" b="1" dirty="0">
                <a:solidFill>
                  <a:schemeClr val="hlink"/>
                </a:solidFill>
                <a:latin typeface="Times New Roman" panose="02020603050405020304" pitchFamily="18" charset="0"/>
                <a:ea typeface="仿宋_GB2312" pitchFamily="49" charset="-122"/>
              </a:endParaRPr>
            </a:p>
          </p:txBody>
        </p:sp>
        <p:sp>
          <p:nvSpPr>
            <p:cNvPr id="129038" name="Text Box 12"/>
            <p:cNvSpPr txBox="1"/>
            <p:nvPr/>
          </p:nvSpPr>
          <p:spPr>
            <a:xfrm>
              <a:off x="2138" y="2111"/>
              <a:ext cx="413" cy="214"/>
            </a:xfrm>
            <a:prstGeom prst="rect">
              <a:avLst/>
            </a:prstGeom>
            <a:noFill/>
            <a:ln w="9525">
              <a:noFill/>
            </a:ln>
          </p:spPr>
          <p:txBody>
            <a:bodyPr wrap="square" anchor="t" anchorCtr="0">
              <a:spAutoFit/>
            </a:bodyPr>
            <a:lstStyle/>
            <a:p>
              <a:pPr>
                <a:buClrTx/>
                <a:buFontTx/>
              </a:pPr>
              <a:r>
                <a:rPr lang="zh-CN" altLang="en-US" sz="2000" b="1" dirty="0">
                  <a:solidFill>
                    <a:schemeClr val="hlink"/>
                  </a:solidFill>
                  <a:latin typeface="Times New Roman" panose="02020603050405020304" pitchFamily="18" charset="0"/>
                  <a:ea typeface="仿宋_GB2312" pitchFamily="49" charset="-122"/>
                </a:rPr>
                <a:t>需求</a:t>
              </a:r>
              <a:endParaRPr lang="zh-CN" altLang="en-US" sz="2000" b="1" dirty="0">
                <a:solidFill>
                  <a:schemeClr val="hlink"/>
                </a:solidFill>
                <a:latin typeface="Times New Roman" panose="02020603050405020304" pitchFamily="18" charset="0"/>
                <a:ea typeface="仿宋_GB2312" pitchFamily="49" charset="-122"/>
              </a:endParaRPr>
            </a:p>
          </p:txBody>
        </p:sp>
        <p:sp>
          <p:nvSpPr>
            <p:cNvPr id="129039" name="Text Box 13"/>
            <p:cNvSpPr txBox="1"/>
            <p:nvPr/>
          </p:nvSpPr>
          <p:spPr>
            <a:xfrm>
              <a:off x="1929" y="3074"/>
              <a:ext cx="413" cy="214"/>
            </a:xfrm>
            <a:prstGeom prst="rect">
              <a:avLst/>
            </a:prstGeom>
            <a:noFill/>
            <a:ln w="9525">
              <a:noFill/>
            </a:ln>
          </p:spPr>
          <p:txBody>
            <a:bodyPr wrap="square" anchor="t" anchorCtr="0">
              <a:spAutoFit/>
            </a:bodyPr>
            <a:lstStyle/>
            <a:p>
              <a:pPr>
                <a:buClrTx/>
                <a:buFontTx/>
              </a:pPr>
              <a:r>
                <a:rPr lang="zh-CN" altLang="en-US" sz="2000" b="1" dirty="0">
                  <a:solidFill>
                    <a:schemeClr val="hlink"/>
                  </a:solidFill>
                  <a:latin typeface="Times New Roman" panose="02020603050405020304" pitchFamily="18" charset="0"/>
                  <a:ea typeface="仿宋_GB2312" pitchFamily="49" charset="-122"/>
                </a:rPr>
                <a:t>评价</a:t>
              </a:r>
              <a:endParaRPr lang="zh-CN" altLang="en-US" sz="2000" b="1" dirty="0">
                <a:solidFill>
                  <a:schemeClr val="hlink"/>
                </a:solidFill>
                <a:latin typeface="Times New Roman" panose="02020603050405020304" pitchFamily="18" charset="0"/>
                <a:ea typeface="仿宋_GB2312" pitchFamily="49" charset="-122"/>
              </a:endParaRPr>
            </a:p>
          </p:txBody>
        </p:sp>
        <p:sp>
          <p:nvSpPr>
            <p:cNvPr id="129040" name="Text Box 14"/>
            <p:cNvSpPr txBox="1"/>
            <p:nvPr/>
          </p:nvSpPr>
          <p:spPr>
            <a:xfrm>
              <a:off x="3161" y="2111"/>
              <a:ext cx="868" cy="214"/>
            </a:xfrm>
            <a:prstGeom prst="rect">
              <a:avLst/>
            </a:prstGeom>
            <a:noFill/>
            <a:ln w="9525">
              <a:noFill/>
            </a:ln>
          </p:spPr>
          <p:txBody>
            <a:bodyPr wrap="square" anchor="t" anchorCtr="0">
              <a:spAutoFit/>
            </a:bodyPr>
            <a:lstStyle/>
            <a:p>
              <a:pPr>
                <a:buClrTx/>
                <a:buFontTx/>
              </a:pPr>
              <a:r>
                <a:rPr lang="zh-CN" altLang="en-US" sz="2000" b="1" dirty="0">
                  <a:solidFill>
                    <a:schemeClr val="hlink"/>
                  </a:solidFill>
                  <a:latin typeface="Times New Roman" panose="02020603050405020304" pitchFamily="18" charset="0"/>
                  <a:ea typeface="仿宋_GB2312" pitchFamily="49" charset="-122"/>
                </a:rPr>
                <a:t>分析与设计</a:t>
              </a:r>
              <a:endParaRPr lang="zh-CN" altLang="en-US" sz="2000" b="1" dirty="0">
                <a:solidFill>
                  <a:schemeClr val="hlink"/>
                </a:solidFill>
                <a:latin typeface="Times New Roman" panose="02020603050405020304" pitchFamily="18" charset="0"/>
                <a:ea typeface="仿宋_GB2312" pitchFamily="49" charset="-122"/>
              </a:endParaRPr>
            </a:p>
          </p:txBody>
        </p:sp>
        <p:sp>
          <p:nvSpPr>
            <p:cNvPr id="129041" name="Text Box 15"/>
            <p:cNvSpPr txBox="1"/>
            <p:nvPr/>
          </p:nvSpPr>
          <p:spPr>
            <a:xfrm>
              <a:off x="920" y="2397"/>
              <a:ext cx="716" cy="214"/>
            </a:xfrm>
            <a:prstGeom prst="rect">
              <a:avLst/>
            </a:prstGeom>
            <a:noFill/>
            <a:ln w="9525">
              <a:noFill/>
            </a:ln>
          </p:spPr>
          <p:txBody>
            <a:bodyPr wrap="square" anchor="t" anchorCtr="0">
              <a:spAutoFit/>
            </a:bodyPr>
            <a:lstStyle/>
            <a:p>
              <a:pPr>
                <a:buClrTx/>
                <a:buFontTx/>
              </a:pPr>
              <a:r>
                <a:rPr lang="zh-CN" altLang="en-US" sz="2000" b="1" dirty="0">
                  <a:solidFill>
                    <a:schemeClr val="hlink"/>
                  </a:solidFill>
                  <a:latin typeface="Times New Roman" panose="02020603050405020304" pitchFamily="18" charset="0"/>
                  <a:ea typeface="仿宋_GB2312" pitchFamily="49" charset="-122"/>
                </a:rPr>
                <a:t>初始计划</a:t>
              </a:r>
              <a:endParaRPr lang="zh-CN" altLang="en-US" sz="2000" b="1" dirty="0">
                <a:solidFill>
                  <a:schemeClr val="hlink"/>
                </a:solidFill>
                <a:latin typeface="Times New Roman" panose="02020603050405020304" pitchFamily="18" charset="0"/>
                <a:ea typeface="仿宋_GB2312" pitchFamily="49" charset="-122"/>
              </a:endParaRPr>
            </a:p>
          </p:txBody>
        </p:sp>
        <p:sp>
          <p:nvSpPr>
            <p:cNvPr id="129042" name="Text Box 16"/>
            <p:cNvSpPr txBox="1"/>
            <p:nvPr/>
          </p:nvSpPr>
          <p:spPr>
            <a:xfrm>
              <a:off x="3400" y="2493"/>
              <a:ext cx="413" cy="214"/>
            </a:xfrm>
            <a:prstGeom prst="rect">
              <a:avLst/>
            </a:prstGeom>
            <a:noFill/>
            <a:ln w="9525">
              <a:noFill/>
            </a:ln>
          </p:spPr>
          <p:txBody>
            <a:bodyPr wrap="square" anchor="t" anchorCtr="0">
              <a:spAutoFit/>
            </a:bodyPr>
            <a:lstStyle/>
            <a:p>
              <a:pPr>
                <a:buClrTx/>
                <a:buFontTx/>
              </a:pPr>
              <a:r>
                <a:rPr lang="zh-CN" altLang="en-US" sz="2000" b="1" dirty="0">
                  <a:solidFill>
                    <a:schemeClr val="hlink"/>
                  </a:solidFill>
                  <a:latin typeface="Times New Roman" panose="02020603050405020304" pitchFamily="18" charset="0"/>
                  <a:ea typeface="仿宋_GB2312" pitchFamily="49" charset="-122"/>
                </a:rPr>
                <a:t>实现</a:t>
              </a:r>
              <a:endParaRPr lang="zh-CN" altLang="en-US" sz="2000" b="1" dirty="0">
                <a:solidFill>
                  <a:schemeClr val="hlink"/>
                </a:solidFill>
                <a:latin typeface="Times New Roman" panose="02020603050405020304" pitchFamily="18" charset="0"/>
                <a:ea typeface="仿宋_GB2312" pitchFamily="49" charset="-122"/>
              </a:endParaRPr>
            </a:p>
          </p:txBody>
        </p:sp>
        <p:sp>
          <p:nvSpPr>
            <p:cNvPr id="129043" name="Text Box 17"/>
            <p:cNvSpPr txBox="1"/>
            <p:nvPr/>
          </p:nvSpPr>
          <p:spPr>
            <a:xfrm>
              <a:off x="3382" y="3031"/>
              <a:ext cx="413" cy="214"/>
            </a:xfrm>
            <a:prstGeom prst="rect">
              <a:avLst/>
            </a:prstGeom>
            <a:noFill/>
            <a:ln w="9525">
              <a:noFill/>
            </a:ln>
          </p:spPr>
          <p:txBody>
            <a:bodyPr wrap="square" anchor="t" anchorCtr="0">
              <a:spAutoFit/>
            </a:bodyPr>
            <a:lstStyle/>
            <a:p>
              <a:pPr>
                <a:buClrTx/>
                <a:buFontTx/>
              </a:pPr>
              <a:r>
                <a:rPr lang="zh-CN" altLang="en-US" sz="2000" b="1" dirty="0">
                  <a:solidFill>
                    <a:schemeClr val="hlink"/>
                  </a:solidFill>
                  <a:latin typeface="Times New Roman" panose="02020603050405020304" pitchFamily="18" charset="0"/>
                  <a:ea typeface="仿宋_GB2312" pitchFamily="49" charset="-122"/>
                </a:rPr>
                <a:t>测试</a:t>
              </a:r>
              <a:endParaRPr lang="zh-CN" altLang="en-US" sz="2000" b="1" dirty="0">
                <a:solidFill>
                  <a:schemeClr val="hlink"/>
                </a:solidFill>
                <a:latin typeface="Times New Roman" panose="02020603050405020304" pitchFamily="18" charset="0"/>
                <a:ea typeface="仿宋_GB2312" pitchFamily="49" charset="-122"/>
              </a:endParaRPr>
            </a:p>
          </p:txBody>
        </p:sp>
        <p:sp>
          <p:nvSpPr>
            <p:cNvPr id="129044" name="Text Box 18"/>
            <p:cNvSpPr txBox="1"/>
            <p:nvPr/>
          </p:nvSpPr>
          <p:spPr>
            <a:xfrm>
              <a:off x="3561" y="3380"/>
              <a:ext cx="413" cy="214"/>
            </a:xfrm>
            <a:prstGeom prst="rect">
              <a:avLst/>
            </a:prstGeom>
            <a:noFill/>
            <a:ln w="9525">
              <a:noFill/>
            </a:ln>
          </p:spPr>
          <p:txBody>
            <a:bodyPr wrap="square" anchor="t" anchorCtr="0">
              <a:spAutoFit/>
            </a:bodyPr>
            <a:lstStyle/>
            <a:p>
              <a:pPr>
                <a:buClrTx/>
                <a:buFontTx/>
              </a:pPr>
              <a:r>
                <a:rPr lang="zh-CN" altLang="en-US" sz="2000" b="1" dirty="0">
                  <a:solidFill>
                    <a:schemeClr val="hlink"/>
                  </a:solidFill>
                  <a:latin typeface="Times New Roman" panose="02020603050405020304" pitchFamily="18" charset="0"/>
                  <a:ea typeface="仿宋_GB2312" pitchFamily="49" charset="-122"/>
                </a:rPr>
                <a:t>发布</a:t>
              </a:r>
              <a:endParaRPr lang="zh-CN" altLang="en-US" sz="2000" b="1" dirty="0">
                <a:solidFill>
                  <a:schemeClr val="hlink"/>
                </a:solidFill>
                <a:latin typeface="Times New Roman" panose="02020603050405020304" pitchFamily="18" charset="0"/>
                <a:ea typeface="仿宋_GB2312" pitchFamily="49" charset="-122"/>
              </a:endParaRPr>
            </a:p>
          </p:txBody>
        </p:sp>
        <p:sp>
          <p:nvSpPr>
            <p:cNvPr id="129045" name="AutoShape 19"/>
            <p:cNvSpPr/>
            <p:nvPr/>
          </p:nvSpPr>
          <p:spPr>
            <a:xfrm>
              <a:off x="411" y="3254"/>
              <a:ext cx="1482" cy="464"/>
            </a:xfrm>
            <a:prstGeom prst="wedgeRectCallout">
              <a:avLst>
                <a:gd name="adj1" fmla="val 79014"/>
                <a:gd name="adj2" fmla="val -39870"/>
              </a:avLst>
            </a:prstGeom>
            <a:solidFill>
              <a:schemeClr val="accent1"/>
            </a:solidFill>
            <a:ln w="9525" cap="flat" cmpd="sng">
              <a:solidFill>
                <a:schemeClr val="tx1"/>
              </a:solidFill>
              <a:prstDash val="solid"/>
              <a:miter/>
              <a:headEnd type="none" w="med" len="med"/>
              <a:tailEnd type="none" w="med" len="med"/>
            </a:ln>
          </p:spPr>
          <p:txBody>
            <a:bodyPr anchor="t" anchorCtr="0"/>
            <a:lstStyle/>
            <a:p>
              <a:pPr algn="ctr">
                <a:buClrTx/>
                <a:buFontTx/>
              </a:pPr>
              <a:r>
                <a:rPr lang="zh-CN" altLang="en-US" sz="2000" b="1" dirty="0">
                  <a:solidFill>
                    <a:schemeClr val="tx2"/>
                  </a:solidFill>
                  <a:latin typeface="Times New Roman" panose="02020603050405020304" pitchFamily="18" charset="0"/>
                  <a:ea typeface="仿宋_GB2312" pitchFamily="49" charset="-122"/>
                </a:rPr>
                <a:t>每次迭代产生一个可执行的发布版本</a:t>
              </a:r>
              <a:endParaRPr lang="zh-CN" altLang="en-US" sz="2000" b="1" dirty="0">
                <a:solidFill>
                  <a:schemeClr val="tx2"/>
                </a:solidFill>
                <a:latin typeface="Times New Roman" panose="02020603050405020304" pitchFamily="18" charset="0"/>
                <a:ea typeface="仿宋_GB2312" pitchFamily="49" charset="-122"/>
              </a:endParaRPr>
            </a:p>
          </p:txBody>
        </p:sp>
      </p:grpSp>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4873625"/>
          </a:xfrm>
        </p:spPr>
        <p:txBody>
          <a:bodyPr vert="horz" wrap="square" lIns="91440" tIns="45720" rIns="91440" bIns="45720" anchor="t" anchorCtr="0"/>
          <a:lstStyle/>
          <a:p>
            <a:pPr marL="0" indent="0" eaLnBrk="1" hangingPunct="1">
              <a:buClr>
                <a:schemeClr val="accent1"/>
              </a:buClr>
              <a:buSzPct val="70000"/>
              <a:buFont typeface="Wingdings" panose="05000000000000000000" pitchFamily="2" charset="2"/>
              <a:buNone/>
            </a:pPr>
            <a:r>
              <a:rPr lang="en-US" altLang="zh-CN" dirty="0">
                <a:solidFill>
                  <a:srgbClr val="8F0F34"/>
                </a:solidFill>
                <a:sym typeface="+mn-ea"/>
              </a:rPr>
              <a:t>1</a:t>
            </a:r>
            <a:r>
              <a:rPr lang="zh-CN" altLang="en-US" dirty="0">
                <a:solidFill>
                  <a:srgbClr val="8F0F34"/>
                </a:solidFill>
                <a:sym typeface="+mn-ea"/>
              </a:rPr>
              <a:t>）迭代式软件开发</a:t>
            </a:r>
            <a:endParaRPr lang="zh-CN" altLang="en-US" dirty="0">
              <a:solidFill>
                <a:srgbClr val="8F0F34"/>
              </a:solidFill>
              <a:sym typeface="+mn-ea"/>
            </a:endParaRPr>
          </a:p>
          <a:p>
            <a:pPr eaLnBrk="1" hangingPunct="1">
              <a:lnSpc>
                <a:spcPct val="80000"/>
              </a:lnSpc>
            </a:pPr>
            <a:r>
              <a:rPr lang="zh-CN" altLang="en-US" dirty="0">
                <a:sym typeface="+mn-ea"/>
              </a:rPr>
              <a:t>经典的软件开发过程模型是瀑布模型，它最大的问题是把风险留给了后面的阶段。要想清除早期阶段引入的故障需付出很大的代价。</a:t>
            </a:r>
            <a:endParaRPr lang="zh-CN" altLang="en-US" dirty="0"/>
          </a:p>
          <a:p>
            <a:pPr eaLnBrk="1" hangingPunct="1">
              <a:lnSpc>
                <a:spcPct val="80000"/>
              </a:lnSpc>
            </a:pPr>
            <a:r>
              <a:rPr lang="zh-CN" altLang="en-US" dirty="0">
                <a:sym typeface="+mn-ea"/>
              </a:rPr>
              <a:t>另一种是基于螺旋模型的迭代和增量的过程。</a:t>
            </a:r>
            <a:endParaRPr lang="zh-CN" altLang="en-US" dirty="0"/>
          </a:p>
          <a:p>
            <a:pPr eaLnBrk="1" hangingPunct="1">
              <a:buClr>
                <a:schemeClr val="accent1"/>
              </a:buClr>
              <a:buSzPct val="70000"/>
              <a:buFont typeface="Wingdings" panose="05000000000000000000" pitchFamily="2" charset="2"/>
            </a:pPr>
            <a:endParaRPr lang="zh-CN" altLang="en-US" dirty="0">
              <a:solidFill>
                <a:srgbClr val="8F0F34"/>
              </a:solidFill>
              <a:sym typeface="+mn-ea"/>
            </a:endParaRPr>
          </a:p>
          <a:p>
            <a:pPr lvl="1"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3708400"/>
          </a:xfrm>
        </p:spPr>
        <p:txBody>
          <a:bodyPr vert="horz" wrap="square" lIns="91440" tIns="45720" rIns="91440" bIns="45720" anchor="t" anchorCtr="0"/>
          <a:lstStyle/>
          <a:p>
            <a:pPr marL="0" indent="0" eaLnBrk="1" hangingPunct="1">
              <a:buClr>
                <a:schemeClr val="accent1"/>
              </a:buClr>
              <a:buSzPct val="70000"/>
              <a:buFont typeface="Wingdings" panose="05000000000000000000" pitchFamily="2" charset="2"/>
              <a:buNone/>
            </a:pPr>
            <a:r>
              <a:rPr lang="en-US" altLang="zh-CN" dirty="0">
                <a:solidFill>
                  <a:srgbClr val="8F0F34"/>
                </a:solidFill>
                <a:sym typeface="+mn-ea"/>
              </a:rPr>
              <a:t>1</a:t>
            </a:r>
            <a:r>
              <a:rPr lang="zh-CN" altLang="en-US" dirty="0">
                <a:solidFill>
                  <a:srgbClr val="8F0F34"/>
                </a:solidFill>
                <a:sym typeface="+mn-ea"/>
              </a:rPr>
              <a:t>）迭代式软件开发</a:t>
            </a:r>
            <a:endParaRPr lang="zh-CN" altLang="en-US" dirty="0">
              <a:solidFill>
                <a:srgbClr val="8F0F34"/>
              </a:solidFill>
              <a:sym typeface="+mn-ea"/>
            </a:endParaRPr>
          </a:p>
          <a:p>
            <a:pPr marL="609600" marR="0" lvl="0" indent="-609600" algn="l" defTabSz="914400" rtl="0" eaLnBrk="1" fontAlgn="base" latinLnBrk="0" hangingPunct="1">
              <a:lnSpc>
                <a:spcPct val="105000"/>
              </a:lnSpc>
              <a:spcBef>
                <a:spcPct val="5000"/>
              </a:spcBef>
              <a:spcAft>
                <a:spcPct val="0"/>
              </a:spcAft>
              <a:buClr>
                <a:schemeClr val="tx2"/>
              </a:buClr>
              <a:buSzPct val="70000"/>
              <a:buFont typeface="Wingdings" panose="05000000000000000000" pitchFamily="2" charset="2"/>
              <a:buChar char="l"/>
              <a:defRPr/>
            </a:pPr>
            <a:r>
              <a:rPr lang="zh-CN" altLang="en-US" b="0" kern="0" noProof="0">
                <a:ln>
                  <a:noFill/>
                </a:ln>
                <a:effectLst>
                  <a:outerShdw blurRad="38100" dist="38100" dir="2700000" algn="tl">
                    <a:srgbClr val="C0C0C0"/>
                  </a:outerShdw>
                </a:effectLst>
                <a:uLnTx/>
                <a:uFillTx/>
                <a:ea typeface="宋体" panose="02010600030101010101" pitchFamily="2" charset="-122"/>
                <a:sym typeface="+mn-ea"/>
              </a:rPr>
              <a:t>这种方法是一个连续地发现、创造和实现的过程。</a:t>
            </a:r>
            <a:endParaRPr kumimoji="0" lang="zh-CN" altLang="en-US"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宋体" panose="02010600030101010101" pitchFamily="2" charset="-122"/>
              <a:cs typeface="+mn-cs"/>
            </a:endParaRPr>
          </a:p>
          <a:p>
            <a:pPr marL="990600" marR="0" lvl="1" indent="-646430" algn="l" defTabSz="914400" rtl="0" eaLnBrk="1" fontAlgn="base" latinLnBrk="0" hangingPunct="1">
              <a:lnSpc>
                <a:spcPct val="105000"/>
              </a:lnSpc>
              <a:spcBef>
                <a:spcPct val="5000"/>
              </a:spcBef>
              <a:spcAft>
                <a:spcPct val="0"/>
              </a:spcAft>
              <a:buClr>
                <a:srgbClr val="FF0000"/>
              </a:buClr>
              <a:buSzTx/>
              <a:buFont typeface="Wingdings" panose="05000000000000000000" pitchFamily="2" charset="2"/>
              <a:buAutoNum type="arabicParenR"/>
              <a:defRPr/>
            </a:pPr>
            <a:r>
              <a:rPr lang="zh-CN" altLang="en-US" b="0" kern="0" noProof="0">
                <a:ln>
                  <a:noFill/>
                </a:ln>
                <a:effectLst>
                  <a:outerShdw blurRad="38100" dist="38100" dir="2700000" algn="tl">
                    <a:srgbClr val="C0C0C0"/>
                  </a:outerShdw>
                </a:effectLst>
                <a:uLnTx/>
                <a:uFillTx/>
                <a:ea typeface="宋体" panose="02010600030101010101" pitchFamily="2" charset="-122"/>
                <a:cs typeface="+mn-ea"/>
                <a:sym typeface="+mn-ea"/>
              </a:rPr>
              <a:t>在生存期早期，可以及时发现和改正严重的需求理解错误；</a:t>
            </a:r>
            <a:endParaRPr kumimoji="0" lang="zh-CN" altLang="en-US"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宋体" panose="02010600030101010101" pitchFamily="2" charset="-122"/>
              <a:cs typeface="+mn-ea"/>
            </a:endParaRPr>
          </a:p>
          <a:p>
            <a:pPr marL="990600" marR="0" lvl="1" indent="-646430" algn="l" defTabSz="914400" rtl="0" eaLnBrk="1" fontAlgn="base" latinLnBrk="0" hangingPunct="1">
              <a:lnSpc>
                <a:spcPct val="105000"/>
              </a:lnSpc>
              <a:spcBef>
                <a:spcPct val="5000"/>
              </a:spcBef>
              <a:spcAft>
                <a:spcPct val="0"/>
              </a:spcAft>
              <a:buClr>
                <a:srgbClr val="FF0000"/>
              </a:buClr>
              <a:buSzTx/>
              <a:buFont typeface="Wingdings" panose="05000000000000000000" pitchFamily="2" charset="2"/>
              <a:buAutoNum type="arabicParenR"/>
              <a:defRPr/>
            </a:pPr>
            <a:r>
              <a:rPr lang="zh-CN" altLang="en-US" b="0" kern="0" noProof="0">
                <a:ln>
                  <a:noFill/>
                </a:ln>
                <a:effectLst>
                  <a:outerShdw blurRad="38100" dist="38100" dir="2700000" algn="tl">
                    <a:srgbClr val="C0C0C0"/>
                  </a:outerShdw>
                </a:effectLst>
                <a:uLnTx/>
                <a:uFillTx/>
                <a:ea typeface="宋体" panose="02010600030101010101" pitchFamily="2" charset="-122"/>
                <a:cs typeface="+mn-ea"/>
                <a:sym typeface="+mn-ea"/>
              </a:rPr>
              <a:t>允许和鼓励用户反馈信息，以明确系统的真实需求；</a:t>
            </a:r>
            <a:endParaRPr kumimoji="0" lang="zh-CN" altLang="en-US"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宋体" panose="02010600030101010101" pitchFamily="2" charset="-122"/>
              <a:cs typeface="+mn-ea"/>
            </a:endParaRPr>
          </a:p>
          <a:p>
            <a:pPr marL="990600" marR="0" lvl="1" indent="-646430" algn="l" defTabSz="914400" rtl="0" eaLnBrk="1" fontAlgn="base" latinLnBrk="0" hangingPunct="1">
              <a:lnSpc>
                <a:spcPct val="105000"/>
              </a:lnSpc>
              <a:spcBef>
                <a:spcPct val="5000"/>
              </a:spcBef>
              <a:spcAft>
                <a:spcPct val="0"/>
              </a:spcAft>
              <a:buClr>
                <a:srgbClr val="FF0000"/>
              </a:buClr>
              <a:buSzTx/>
              <a:buFont typeface="Wingdings" panose="05000000000000000000" pitchFamily="2" charset="2"/>
              <a:buAutoNum type="arabicParenR"/>
              <a:defRPr/>
            </a:pPr>
            <a:r>
              <a:rPr lang="zh-CN" altLang="en-US" b="0" kern="0" noProof="0">
                <a:ln>
                  <a:noFill/>
                </a:ln>
                <a:effectLst>
                  <a:outerShdw blurRad="38100" dist="38100" dir="2700000" algn="tl">
                    <a:srgbClr val="C0C0C0"/>
                  </a:outerShdw>
                </a:effectLst>
                <a:uLnTx/>
                <a:uFillTx/>
                <a:ea typeface="宋体" panose="02010600030101010101" pitchFamily="2" charset="-122"/>
                <a:cs typeface="+mn-ea"/>
                <a:sym typeface="+mn-ea"/>
              </a:rPr>
              <a:t>使开发人员重视项目中最关键问题，抓住可能导致项目真实风险的问题；</a:t>
            </a:r>
            <a:endParaRPr kumimoji="0" lang="zh-CN" altLang="en-US"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宋体" panose="02010600030101010101" pitchFamily="2" charset="-122"/>
              <a:cs typeface="+mn-ea"/>
            </a:endParaRPr>
          </a:p>
          <a:p>
            <a:pPr marL="990600" marR="0" lvl="1" indent="-646430" algn="l" defTabSz="914400" rtl="0" eaLnBrk="1" fontAlgn="base" latinLnBrk="0" hangingPunct="1">
              <a:lnSpc>
                <a:spcPct val="105000"/>
              </a:lnSpc>
              <a:spcBef>
                <a:spcPct val="5000"/>
              </a:spcBef>
              <a:spcAft>
                <a:spcPct val="0"/>
              </a:spcAft>
              <a:buClr>
                <a:srgbClr val="FF0000"/>
              </a:buClr>
              <a:buSzTx/>
              <a:buFont typeface="Wingdings" panose="05000000000000000000" pitchFamily="2" charset="2"/>
              <a:buAutoNum type="arabicParenR"/>
              <a:defRPr/>
            </a:pPr>
            <a:r>
              <a:rPr lang="zh-CN" altLang="en-US" b="0" kern="0" noProof="0">
                <a:ln>
                  <a:noFill/>
                </a:ln>
                <a:effectLst>
                  <a:outerShdw blurRad="38100" dist="38100" dir="2700000" algn="tl">
                    <a:srgbClr val="C0C0C0"/>
                  </a:outerShdw>
                </a:effectLst>
                <a:uLnTx/>
                <a:uFillTx/>
                <a:ea typeface="宋体" panose="02010600030101010101" pitchFamily="2" charset="-122"/>
                <a:cs typeface="+mn-ea"/>
                <a:sym typeface="+mn-ea"/>
              </a:rPr>
              <a:t>不断迭代地测试可以给出项目状况的客观评价；</a:t>
            </a:r>
            <a:endParaRPr kumimoji="0" lang="zh-CN" altLang="en-US"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宋体" panose="02010600030101010101" pitchFamily="2" charset="-122"/>
              <a:cs typeface="+mn-ea"/>
            </a:endParaRPr>
          </a:p>
          <a:p>
            <a:pPr marL="990600" marR="0" lvl="1" indent="-646430" algn="l" defTabSz="914400" rtl="0" eaLnBrk="1" fontAlgn="base" latinLnBrk="0" hangingPunct="1">
              <a:lnSpc>
                <a:spcPct val="105000"/>
              </a:lnSpc>
              <a:spcBef>
                <a:spcPct val="5000"/>
              </a:spcBef>
              <a:spcAft>
                <a:spcPct val="0"/>
              </a:spcAft>
              <a:buClr>
                <a:srgbClr val="FF0000"/>
              </a:buClr>
              <a:buSzTx/>
              <a:buFont typeface="Wingdings" panose="05000000000000000000" pitchFamily="2" charset="2"/>
              <a:buAutoNum type="arabicParenR"/>
              <a:defRPr/>
            </a:pPr>
            <a:r>
              <a:rPr lang="zh-CN" altLang="en-US" b="0" kern="0" noProof="0">
                <a:ln>
                  <a:noFill/>
                </a:ln>
                <a:effectLst>
                  <a:outerShdw blurRad="38100" dist="38100" dir="2700000" algn="tl">
                    <a:srgbClr val="C0C0C0"/>
                  </a:outerShdw>
                </a:effectLst>
                <a:uLnTx/>
                <a:uFillTx/>
                <a:ea typeface="宋体" panose="02010600030101010101" pitchFamily="2" charset="-122"/>
                <a:cs typeface="+mn-ea"/>
                <a:sym typeface="+mn-ea"/>
              </a:rPr>
              <a:t>尽早发现需求、设计和实现间的不一致；</a:t>
            </a:r>
            <a:endParaRPr kumimoji="0" lang="zh-CN" altLang="en-US"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宋体" panose="02010600030101010101" pitchFamily="2" charset="-122"/>
              <a:cs typeface="+mn-ea"/>
            </a:endParaRPr>
          </a:p>
          <a:p>
            <a:pPr eaLnBrk="1" hangingPunct="1">
              <a:buClr>
                <a:schemeClr val="accent1"/>
              </a:buClr>
              <a:buSzPct val="70000"/>
              <a:buFont typeface="Wingdings" panose="05000000000000000000" pitchFamily="2" charset="2"/>
            </a:pPr>
            <a:endParaRPr lang="zh-CN" altLang="en-US" dirty="0">
              <a:solidFill>
                <a:srgbClr val="8F0F34"/>
              </a:solidFill>
              <a:sym typeface="+mn-ea"/>
            </a:endParaRPr>
          </a:p>
          <a:p>
            <a:pPr lvl="1"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3708400"/>
          </a:xfrm>
        </p:spPr>
        <p:txBody>
          <a:bodyPr vert="horz" wrap="square" lIns="91440" tIns="45720" rIns="91440" bIns="45720" anchor="t" anchorCtr="0"/>
          <a:lstStyle/>
          <a:p>
            <a:pPr marL="0" marR="0" lvl="0" indent="0" algn="l" defTabSz="914400" rtl="0" eaLnBrk="1" fontAlgn="base" latinLnBrk="0" hangingPunct="1">
              <a:lnSpc>
                <a:spcPct val="105000"/>
              </a:lnSpc>
              <a:spcBef>
                <a:spcPct val="5000"/>
              </a:spcBef>
              <a:spcAft>
                <a:spcPct val="0"/>
              </a:spcAft>
              <a:buClr>
                <a:schemeClr val="tx2"/>
              </a:buClr>
              <a:buSzPct val="70000"/>
              <a:buFont typeface="Wingdings" panose="05000000000000000000" charset="0"/>
              <a:buNone/>
              <a:defRPr/>
            </a:pPr>
            <a:r>
              <a:rPr lang="en-US" altLang="zh-CN" dirty="0">
                <a:solidFill>
                  <a:srgbClr val="8F0F34"/>
                </a:solidFill>
                <a:sym typeface="+mn-ea"/>
              </a:rPr>
              <a:t>2</a:t>
            </a:r>
            <a:r>
              <a:rPr lang="zh-CN" altLang="en-US" dirty="0">
                <a:solidFill>
                  <a:srgbClr val="8F0F34"/>
                </a:solidFill>
                <a:sym typeface="+mn-ea"/>
              </a:rPr>
              <a:t>）需求管理</a:t>
            </a:r>
            <a:endParaRPr lang="zh-CN" altLang="en-US" dirty="0">
              <a:solidFill>
                <a:srgbClr val="8F0F34"/>
              </a:solidFill>
              <a:sym typeface="+mn-ea"/>
            </a:endParaRPr>
          </a:p>
          <a:p>
            <a:pPr marL="609600" indent="-609600" eaLnBrk="1" hangingPunct="1">
              <a:lnSpc>
                <a:spcPct val="105000"/>
              </a:lnSpc>
              <a:spcBef>
                <a:spcPct val="15000"/>
              </a:spcBef>
            </a:pPr>
            <a:r>
              <a:rPr lang="zh-CN" altLang="en-US" dirty="0">
                <a:sym typeface="+mn-ea"/>
              </a:rPr>
              <a:t>需求在整个软件项目生存期中是变化的。</a:t>
            </a:r>
            <a:endParaRPr lang="zh-CN" altLang="en-US" dirty="0"/>
          </a:p>
          <a:p>
            <a:pPr marL="609600" indent="-609600" eaLnBrk="1" hangingPunct="1">
              <a:lnSpc>
                <a:spcPct val="105000"/>
              </a:lnSpc>
              <a:spcBef>
                <a:spcPct val="15000"/>
              </a:spcBef>
            </a:pPr>
            <a:r>
              <a:rPr lang="zh-CN" altLang="en-US" dirty="0">
                <a:sym typeface="+mn-ea"/>
              </a:rPr>
              <a:t>需求是系统必须达到的条件或性能。动态需求管理包括三项活动：</a:t>
            </a:r>
            <a:endParaRPr lang="zh-CN" altLang="en-US" dirty="0"/>
          </a:p>
          <a:p>
            <a:pPr marL="609600" indent="-609600" eaLnBrk="1" hangingPunct="1">
              <a:lnSpc>
                <a:spcPct val="105000"/>
              </a:lnSpc>
              <a:spcBef>
                <a:spcPct val="15000"/>
              </a:spcBef>
            </a:pPr>
            <a:endParaRPr lang="zh-CN" altLang="en-US" dirty="0"/>
          </a:p>
          <a:p>
            <a:pPr marL="990600" lvl="1" indent="-645795" eaLnBrk="1" hangingPunct="1">
              <a:lnSpc>
                <a:spcPct val="105000"/>
              </a:lnSpc>
              <a:spcBef>
                <a:spcPct val="15000"/>
              </a:spcBef>
              <a:buClr>
                <a:srgbClr val="FF0000"/>
              </a:buClr>
              <a:buSzTx/>
              <a:buFont typeface="Wingdings" panose="05000000000000000000" pitchFamily="2" charset="2"/>
              <a:buAutoNum type="arabicParenR"/>
            </a:pPr>
            <a:r>
              <a:rPr lang="zh-CN" altLang="en-US" dirty="0">
                <a:solidFill>
                  <a:srgbClr val="FF0000"/>
                </a:solidFill>
                <a:sym typeface="+mn-ea"/>
              </a:rPr>
              <a:t>获取、组织系统的功能和约束，并记入文档；</a:t>
            </a:r>
            <a:endParaRPr lang="zh-CN" altLang="en-US" dirty="0">
              <a:solidFill>
                <a:srgbClr val="FF0000"/>
              </a:solidFill>
            </a:endParaRPr>
          </a:p>
          <a:p>
            <a:pPr marL="990600" lvl="1" indent="-645795" eaLnBrk="1" hangingPunct="1">
              <a:lnSpc>
                <a:spcPct val="105000"/>
              </a:lnSpc>
              <a:spcBef>
                <a:spcPct val="15000"/>
              </a:spcBef>
              <a:buClr>
                <a:srgbClr val="FF0000"/>
              </a:buClr>
              <a:buSzTx/>
              <a:buFont typeface="Wingdings" panose="05000000000000000000" pitchFamily="2" charset="2"/>
              <a:buAutoNum type="arabicParenR"/>
            </a:pPr>
            <a:r>
              <a:rPr lang="zh-CN" altLang="en-US" dirty="0">
                <a:solidFill>
                  <a:srgbClr val="FF0000"/>
                </a:solidFill>
                <a:sym typeface="+mn-ea"/>
              </a:rPr>
              <a:t>估计需求的变化并评估它们的影响；</a:t>
            </a:r>
            <a:endParaRPr lang="zh-CN" altLang="en-US" dirty="0">
              <a:solidFill>
                <a:srgbClr val="FF0000"/>
              </a:solidFill>
            </a:endParaRPr>
          </a:p>
          <a:p>
            <a:pPr marL="990600" lvl="1" indent="-645795" eaLnBrk="1" hangingPunct="1">
              <a:lnSpc>
                <a:spcPct val="105000"/>
              </a:lnSpc>
              <a:spcBef>
                <a:spcPct val="15000"/>
              </a:spcBef>
              <a:buClr>
                <a:srgbClr val="FF0000"/>
              </a:buClr>
              <a:buSzTx/>
              <a:buFont typeface="Wingdings" panose="05000000000000000000" pitchFamily="2" charset="2"/>
              <a:buAutoNum type="arabicParenR"/>
            </a:pPr>
            <a:r>
              <a:rPr lang="zh-CN" altLang="en-US" dirty="0">
                <a:solidFill>
                  <a:srgbClr val="FF0000"/>
                </a:solidFill>
                <a:sym typeface="+mn-ea"/>
              </a:rPr>
              <a:t>跟踪、记录和权衡所做出的各种决策。</a:t>
            </a:r>
            <a:endParaRPr lang="zh-CN" altLang="en-US" dirty="0">
              <a:solidFill>
                <a:srgbClr val="FF0000"/>
              </a:solidFill>
            </a:endParaRPr>
          </a:p>
          <a:p>
            <a:pPr marL="990600" lvl="1" indent="-645795" eaLnBrk="1" hangingPunct="1">
              <a:lnSpc>
                <a:spcPct val="105000"/>
              </a:lnSpc>
              <a:spcBef>
                <a:spcPct val="15000"/>
              </a:spcBef>
              <a:buClr>
                <a:srgbClr val="FF0000"/>
              </a:buClr>
              <a:buSzTx/>
              <a:buFont typeface="Wingdings" panose="05000000000000000000" pitchFamily="2" charset="2"/>
              <a:buAutoNum type="arabicParenR"/>
            </a:pPr>
            <a:endParaRPr lang="zh-CN" altLang="en-US" dirty="0">
              <a:solidFill>
                <a:schemeClr val="tx2"/>
              </a:solidFill>
            </a:endParaRPr>
          </a:p>
          <a:p>
            <a:pPr eaLnBrk="1" hangingPunct="1">
              <a:buClr>
                <a:schemeClr val="accent1"/>
              </a:buClr>
              <a:buSzPct val="70000"/>
              <a:buFont typeface="Wingdings" panose="05000000000000000000" pitchFamily="2" charset="2"/>
            </a:pPr>
            <a:endParaRPr lang="zh-CN" altLang="en-US" dirty="0">
              <a:solidFill>
                <a:srgbClr val="8F0F34"/>
              </a:solidFill>
              <a:sym typeface="+mn-ea"/>
            </a:endParaRPr>
          </a:p>
          <a:p>
            <a:pPr lvl="1"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3708400"/>
          </a:xfrm>
        </p:spPr>
        <p:txBody>
          <a:bodyPr vert="horz" wrap="square" lIns="91440" tIns="45720" rIns="91440" bIns="45720" anchor="t" anchorCtr="0"/>
          <a:lstStyle/>
          <a:p>
            <a:pPr marL="0" marR="0" lvl="0" indent="0" algn="l" defTabSz="914400" rtl="0" eaLnBrk="1" fontAlgn="base" latinLnBrk="0" hangingPunct="1">
              <a:lnSpc>
                <a:spcPct val="105000"/>
              </a:lnSpc>
              <a:spcBef>
                <a:spcPct val="5000"/>
              </a:spcBef>
              <a:spcAft>
                <a:spcPct val="0"/>
              </a:spcAft>
              <a:buClr>
                <a:schemeClr val="tx2"/>
              </a:buClr>
              <a:buSzPct val="70000"/>
              <a:buFont typeface="Wingdings" panose="05000000000000000000" pitchFamily="2" charset="2"/>
              <a:buNone/>
              <a:defRPr/>
            </a:pPr>
            <a:r>
              <a:rPr lang="en-US" altLang="zh-CN" dirty="0">
                <a:solidFill>
                  <a:srgbClr val="8F0F34"/>
                </a:solidFill>
                <a:sym typeface="+mn-ea"/>
              </a:rPr>
              <a:t>2</a:t>
            </a:r>
            <a:r>
              <a:rPr lang="zh-CN" altLang="en-US" dirty="0">
                <a:solidFill>
                  <a:srgbClr val="8F0F34"/>
                </a:solidFill>
                <a:sym typeface="+mn-ea"/>
              </a:rPr>
              <a:t>）需求管理</a:t>
            </a:r>
            <a:endParaRPr lang="zh-CN" altLang="en-US" dirty="0">
              <a:solidFill>
                <a:srgbClr val="8F0F34"/>
              </a:solidFill>
              <a:sym typeface="+mn-ea"/>
            </a:endParaRPr>
          </a:p>
          <a:p>
            <a:pPr marL="687705" lvl="1" indent="-342900" eaLnBrk="1" hangingPunct="1">
              <a:lnSpc>
                <a:spcPct val="105000"/>
              </a:lnSpc>
              <a:spcBef>
                <a:spcPct val="15000"/>
              </a:spcBef>
              <a:buClr>
                <a:srgbClr val="FF0000"/>
              </a:buClr>
              <a:buSzTx/>
            </a:pPr>
            <a:r>
              <a:rPr lang="zh-CN" altLang="en-US" dirty="0">
                <a:sym typeface="+mn-ea"/>
              </a:rPr>
              <a:t>项目的需求管理提供了一系列方案，用以解决软件开发中所遇到的问题。</a:t>
            </a:r>
            <a:endParaRPr lang="zh-CN" altLang="en-US" dirty="0"/>
          </a:p>
          <a:p>
            <a:pPr marL="687705" lvl="1" indent="-342900" eaLnBrk="1" hangingPunct="1">
              <a:lnSpc>
                <a:spcPct val="105000"/>
              </a:lnSpc>
              <a:spcBef>
                <a:spcPct val="15000"/>
              </a:spcBef>
              <a:buClr>
                <a:srgbClr val="FF0000"/>
              </a:buClr>
              <a:buSzTx/>
            </a:pPr>
            <a:endParaRPr lang="en-US" altLang="zh-CN" dirty="0">
              <a:sym typeface="+mn-ea"/>
            </a:endParaRPr>
          </a:p>
          <a:p>
            <a:pPr marL="687705" lvl="1" indent="-342900" eaLnBrk="1" hangingPunct="1">
              <a:lnSpc>
                <a:spcPct val="105000"/>
              </a:lnSpc>
              <a:spcBef>
                <a:spcPct val="15000"/>
              </a:spcBef>
              <a:buClr>
                <a:srgbClr val="FF0000"/>
              </a:buClr>
              <a:buSzTx/>
            </a:pPr>
            <a:r>
              <a:rPr lang="zh-CN" altLang="en-US" dirty="0">
                <a:sym typeface="+mn-ea"/>
              </a:rPr>
              <a:t>它规定了一系列需求管理的原则性方法；</a:t>
            </a:r>
            <a:endParaRPr lang="zh-CN" altLang="en-US" dirty="0"/>
          </a:p>
          <a:p>
            <a:pPr marL="687705" lvl="1" indent="-342900" eaLnBrk="1" hangingPunct="1">
              <a:lnSpc>
                <a:spcPct val="105000"/>
              </a:lnSpc>
              <a:spcBef>
                <a:spcPct val="15000"/>
              </a:spcBef>
              <a:buClr>
                <a:srgbClr val="FF0000"/>
              </a:buClr>
              <a:buSzTx/>
            </a:pPr>
            <a:r>
              <a:rPr lang="zh-CN" altLang="en-US" dirty="0">
                <a:sym typeface="+mn-ea"/>
              </a:rPr>
              <a:t>人员之间的交流都建立在已定义的需求上；</a:t>
            </a:r>
            <a:endParaRPr lang="zh-CN" altLang="en-US" dirty="0"/>
          </a:p>
          <a:p>
            <a:pPr marL="687705" lvl="1" indent="-342900" eaLnBrk="1" hangingPunct="1">
              <a:lnSpc>
                <a:spcPct val="105000"/>
              </a:lnSpc>
              <a:spcBef>
                <a:spcPct val="15000"/>
              </a:spcBef>
              <a:buClr>
                <a:srgbClr val="FF0000"/>
              </a:buClr>
              <a:buSzTx/>
            </a:pPr>
            <a:r>
              <a:rPr lang="zh-CN" altLang="en-US" dirty="0">
                <a:sym typeface="+mn-ea"/>
              </a:rPr>
              <a:t>规定了需求的优先级，可对它们进行过滤和跟踪；</a:t>
            </a:r>
            <a:endParaRPr lang="zh-CN" altLang="en-US" dirty="0"/>
          </a:p>
          <a:p>
            <a:pPr marL="687705" lvl="1" indent="-342900" eaLnBrk="1" hangingPunct="1">
              <a:lnSpc>
                <a:spcPct val="105000"/>
              </a:lnSpc>
              <a:spcBef>
                <a:spcPct val="15000"/>
              </a:spcBef>
              <a:buClr>
                <a:srgbClr val="FF0000"/>
              </a:buClr>
              <a:buSzTx/>
            </a:pPr>
            <a:r>
              <a:rPr lang="zh-CN" altLang="en-US" dirty="0">
                <a:sym typeface="+mn-ea"/>
              </a:rPr>
              <a:t>对功能和性能可做出尽可能客观的评价；</a:t>
            </a:r>
            <a:endParaRPr lang="zh-CN" altLang="en-US" dirty="0"/>
          </a:p>
          <a:p>
            <a:pPr marL="687705" lvl="1" indent="-342900" eaLnBrk="1" hangingPunct="1">
              <a:lnSpc>
                <a:spcPct val="105000"/>
              </a:lnSpc>
              <a:spcBef>
                <a:spcPct val="15000"/>
              </a:spcBef>
              <a:buClr>
                <a:srgbClr val="FF0000"/>
              </a:buClr>
              <a:buSzTx/>
            </a:pPr>
            <a:r>
              <a:rPr lang="zh-CN" altLang="en-US" dirty="0">
                <a:sym typeface="+mn-ea"/>
              </a:rPr>
              <a:t>易于发现系统中的不一致性。</a:t>
            </a:r>
            <a:endParaRPr lang="zh-CN" altLang="en-US" dirty="0"/>
          </a:p>
          <a:p>
            <a:pPr eaLnBrk="1" hangingPunct="1">
              <a:buClr>
                <a:schemeClr val="accent1"/>
              </a:buClr>
              <a:buSzPct val="70000"/>
              <a:buFont typeface="Wingdings" panose="05000000000000000000" pitchFamily="2" charset="2"/>
            </a:pPr>
            <a:endParaRPr lang="zh-CN" altLang="en-US" dirty="0">
              <a:solidFill>
                <a:srgbClr val="8F0F34"/>
              </a:solidFill>
              <a:sym typeface="+mn-ea"/>
            </a:endParaRPr>
          </a:p>
          <a:p>
            <a:pPr lvl="1"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3708400"/>
          </a:xfrm>
        </p:spPr>
        <p:txBody>
          <a:bodyPr vert="horz" wrap="square" lIns="91440" tIns="45720" rIns="91440" bIns="45720" anchor="t" anchorCtr="0"/>
          <a:lstStyle/>
          <a:p>
            <a:pPr marL="0" marR="0" lvl="0" indent="0" algn="l" defTabSz="914400" rtl="0" eaLnBrk="1" fontAlgn="base" latinLnBrk="0" hangingPunct="1">
              <a:lnSpc>
                <a:spcPct val="105000"/>
              </a:lnSpc>
              <a:spcBef>
                <a:spcPct val="5000"/>
              </a:spcBef>
              <a:spcAft>
                <a:spcPct val="0"/>
              </a:spcAft>
              <a:buClr>
                <a:schemeClr val="tx2"/>
              </a:buClr>
              <a:buSzPct val="70000"/>
              <a:buFont typeface="Wingdings" panose="05000000000000000000" pitchFamily="2" charset="2"/>
              <a:buNone/>
              <a:defRPr/>
            </a:pPr>
            <a:r>
              <a:rPr lang="en-US" altLang="zh-CN" dirty="0">
                <a:solidFill>
                  <a:srgbClr val="8F0F34"/>
                </a:solidFill>
                <a:sym typeface="+mn-ea"/>
              </a:rPr>
              <a:t>3</a:t>
            </a:r>
            <a:r>
              <a:rPr lang="zh-CN" altLang="en-US" dirty="0">
                <a:solidFill>
                  <a:srgbClr val="8F0F34"/>
                </a:solidFill>
                <a:sym typeface="+mn-ea"/>
              </a:rPr>
              <a:t>）使用基于构件的软件体系结构</a:t>
            </a:r>
            <a:endParaRPr lang="zh-CN" altLang="en-US" dirty="0">
              <a:solidFill>
                <a:srgbClr val="8F0F34"/>
              </a:solidFill>
            </a:endParaRPr>
          </a:p>
          <a:p>
            <a:pPr eaLnBrk="1" hangingPunct="1">
              <a:lnSpc>
                <a:spcPct val="105000"/>
              </a:lnSpc>
              <a:spcBef>
                <a:spcPct val="5000"/>
              </a:spcBef>
            </a:pPr>
            <a:r>
              <a:rPr lang="zh-CN" altLang="en-US" dirty="0">
                <a:sym typeface="+mn-ea"/>
              </a:rPr>
              <a:t>构件</a:t>
            </a:r>
            <a:endParaRPr lang="en-US" altLang="zh-CN" dirty="0">
              <a:sym typeface="+mn-ea"/>
            </a:endParaRPr>
          </a:p>
          <a:p>
            <a:pPr eaLnBrk="1" hangingPunct="1">
              <a:lnSpc>
                <a:spcPct val="105000"/>
              </a:lnSpc>
              <a:spcBef>
                <a:spcPct val="5000"/>
              </a:spcBef>
            </a:pPr>
            <a:r>
              <a:rPr lang="zh-CN" altLang="en-US" dirty="0">
                <a:sym typeface="+mn-ea"/>
              </a:rPr>
              <a:t>软件系统中的一个可重用且通常相对独立的软件模块，它负责实现特定的功能。构件是构建大型软件系统的基石，它们可以通过接口与系统中的其他构件进行交互。</a:t>
            </a:r>
            <a:endParaRPr lang="en-US" altLang="zh-CN" dirty="0">
              <a:sym typeface="+mn-ea"/>
            </a:endParaRPr>
          </a:p>
          <a:p>
            <a:pPr eaLnBrk="1" hangingPunct="1">
              <a:lnSpc>
                <a:spcPct val="105000"/>
              </a:lnSpc>
              <a:spcBef>
                <a:spcPct val="5000"/>
              </a:spcBef>
            </a:pPr>
            <a:r>
              <a:rPr lang="zh-CN" altLang="en-US" dirty="0">
                <a:sym typeface="+mn-ea"/>
              </a:rPr>
              <a:t>构件的特点：</a:t>
            </a:r>
            <a:endParaRPr lang="en-US" altLang="zh-CN" dirty="0">
              <a:sym typeface="+mn-ea"/>
            </a:endParaRPr>
          </a:p>
          <a:p>
            <a:pPr eaLnBrk="1" hangingPunct="1">
              <a:lnSpc>
                <a:spcPct val="105000"/>
              </a:lnSpc>
              <a:spcBef>
                <a:spcPct val="5000"/>
              </a:spcBef>
            </a:pPr>
            <a:r>
              <a:rPr lang="zh-CN" altLang="en-US" dirty="0">
                <a:sym typeface="+mn-ea"/>
              </a:rPr>
              <a:t>可重用性；</a:t>
            </a:r>
            <a:endParaRPr lang="en-US" altLang="zh-CN" dirty="0">
              <a:sym typeface="+mn-ea"/>
            </a:endParaRPr>
          </a:p>
          <a:p>
            <a:pPr eaLnBrk="1" hangingPunct="1">
              <a:lnSpc>
                <a:spcPct val="105000"/>
              </a:lnSpc>
              <a:spcBef>
                <a:spcPct val="5000"/>
              </a:spcBef>
            </a:pPr>
            <a:r>
              <a:rPr lang="zh-CN" altLang="en-US" dirty="0">
                <a:sym typeface="+mn-ea"/>
              </a:rPr>
              <a:t>独立性；</a:t>
            </a:r>
            <a:endParaRPr lang="en-US" altLang="zh-CN" dirty="0">
              <a:sym typeface="+mn-ea"/>
            </a:endParaRPr>
          </a:p>
          <a:p>
            <a:pPr eaLnBrk="1" hangingPunct="1">
              <a:lnSpc>
                <a:spcPct val="105000"/>
              </a:lnSpc>
              <a:spcBef>
                <a:spcPct val="5000"/>
              </a:spcBef>
            </a:pPr>
            <a:r>
              <a:rPr lang="zh-CN" altLang="en-US" dirty="0">
                <a:sym typeface="+mn-ea"/>
              </a:rPr>
              <a:t>模块化；</a:t>
            </a:r>
            <a:endParaRPr lang="en-US" altLang="zh-CN" dirty="0">
              <a:sym typeface="+mn-ea"/>
            </a:endParaRPr>
          </a:p>
          <a:p>
            <a:pPr eaLnBrk="1" hangingPunct="1">
              <a:lnSpc>
                <a:spcPct val="105000"/>
              </a:lnSpc>
              <a:spcBef>
                <a:spcPct val="5000"/>
              </a:spcBef>
            </a:pPr>
            <a:r>
              <a:rPr lang="zh-CN" altLang="en-US" dirty="0">
                <a:sym typeface="+mn-ea"/>
              </a:rPr>
              <a:t>接口；</a:t>
            </a:r>
            <a:endParaRPr lang="en-US" altLang="zh-CN" dirty="0">
              <a:sym typeface="+mn-ea"/>
            </a:endParaRPr>
          </a:p>
          <a:p>
            <a:pPr eaLnBrk="1" hangingPunct="1">
              <a:lnSpc>
                <a:spcPct val="105000"/>
              </a:lnSpc>
              <a:spcBef>
                <a:spcPct val="5000"/>
              </a:spcBef>
            </a:pPr>
            <a:r>
              <a:rPr lang="zh-CN" altLang="en-US" dirty="0">
                <a:sym typeface="+mn-ea"/>
              </a:rPr>
              <a:t>可替换性。</a:t>
            </a:r>
            <a:endParaRPr lang="zh-CN" altLang="en-US" dirty="0">
              <a:sym typeface="+mn-ea"/>
            </a:endParaRPr>
          </a:p>
          <a:p>
            <a:pPr lvl="1"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3708400"/>
          </a:xfrm>
        </p:spPr>
        <p:txBody>
          <a:bodyPr vert="horz" wrap="square" lIns="91440" tIns="45720" rIns="91440" bIns="45720" anchor="t" anchorCtr="0"/>
          <a:lstStyle/>
          <a:p>
            <a:pPr marL="0" marR="0" lvl="0" indent="0" algn="l" defTabSz="914400" rtl="0" eaLnBrk="1" fontAlgn="base" latinLnBrk="0" hangingPunct="1">
              <a:lnSpc>
                <a:spcPct val="105000"/>
              </a:lnSpc>
              <a:spcBef>
                <a:spcPct val="5000"/>
              </a:spcBef>
              <a:spcAft>
                <a:spcPct val="0"/>
              </a:spcAft>
              <a:buClr>
                <a:schemeClr val="tx2"/>
              </a:buClr>
              <a:buSzPct val="70000"/>
              <a:buFont typeface="Wingdings" panose="05000000000000000000" pitchFamily="2" charset="2"/>
              <a:buNone/>
              <a:defRPr/>
            </a:pPr>
            <a:r>
              <a:rPr lang="en-US" altLang="zh-CN" dirty="0">
                <a:solidFill>
                  <a:srgbClr val="8F0F34"/>
                </a:solidFill>
                <a:sym typeface="+mn-ea"/>
              </a:rPr>
              <a:t>3</a:t>
            </a:r>
            <a:r>
              <a:rPr lang="zh-CN" altLang="en-US" dirty="0">
                <a:solidFill>
                  <a:srgbClr val="8F0F34"/>
                </a:solidFill>
                <a:sym typeface="+mn-ea"/>
              </a:rPr>
              <a:t>）使用基于构件的软件体系结构</a:t>
            </a:r>
            <a:endParaRPr lang="zh-CN" altLang="en-US" dirty="0">
              <a:solidFill>
                <a:srgbClr val="8F0F34"/>
              </a:solidFill>
            </a:endParaRPr>
          </a:p>
          <a:p>
            <a:pPr eaLnBrk="1" hangingPunct="1">
              <a:lnSpc>
                <a:spcPct val="105000"/>
              </a:lnSpc>
              <a:spcBef>
                <a:spcPct val="5000"/>
              </a:spcBef>
            </a:pPr>
            <a:r>
              <a:rPr lang="zh-CN" altLang="en-US" dirty="0">
                <a:sym typeface="+mn-ea"/>
              </a:rPr>
              <a:t>一个软件体系结构包括一系列重要决策：</a:t>
            </a:r>
            <a:endParaRPr lang="zh-CN" altLang="en-US" dirty="0"/>
          </a:p>
          <a:p>
            <a:pPr lvl="1" eaLnBrk="1" hangingPunct="1">
              <a:lnSpc>
                <a:spcPct val="105000"/>
              </a:lnSpc>
              <a:spcBef>
                <a:spcPct val="5000"/>
              </a:spcBef>
            </a:pPr>
            <a:r>
              <a:rPr lang="zh-CN" altLang="en-US" dirty="0">
                <a:sym typeface="+mn-ea"/>
              </a:rPr>
              <a:t> 确定软件系统的组织；</a:t>
            </a:r>
            <a:endParaRPr lang="zh-CN" altLang="en-US" dirty="0">
              <a:sym typeface="+mn-ea"/>
            </a:endParaRPr>
          </a:p>
          <a:p>
            <a:pPr lvl="1" eaLnBrk="1" hangingPunct="1">
              <a:lnSpc>
                <a:spcPct val="105000"/>
              </a:lnSpc>
              <a:spcBef>
                <a:spcPct val="5000"/>
              </a:spcBef>
            </a:pPr>
            <a:r>
              <a:rPr lang="zh-CN" altLang="en-US" dirty="0">
                <a:sym typeface="+mn-ea"/>
              </a:rPr>
              <a:t> 确定构成系统的结构元素及其接口；</a:t>
            </a:r>
            <a:endParaRPr lang="zh-CN" altLang="en-US" dirty="0">
              <a:sym typeface="+mn-ea"/>
            </a:endParaRPr>
          </a:p>
          <a:p>
            <a:pPr lvl="1" eaLnBrk="1" hangingPunct="1">
              <a:lnSpc>
                <a:spcPct val="105000"/>
              </a:lnSpc>
              <a:spcBef>
                <a:spcPct val="5000"/>
              </a:spcBef>
            </a:pPr>
            <a:r>
              <a:rPr lang="zh-CN" altLang="en-US" dirty="0">
                <a:sym typeface="+mn-ea"/>
              </a:rPr>
              <a:t>用结构元素之间的协作关系说明各个结构元素的行为</a:t>
            </a:r>
            <a:endParaRPr lang="zh-CN" altLang="en-US" dirty="0">
              <a:sym typeface="+mn-ea"/>
            </a:endParaRPr>
          </a:p>
          <a:p>
            <a:pPr lvl="1" eaLnBrk="1" hangingPunct="1">
              <a:lnSpc>
                <a:spcPct val="105000"/>
              </a:lnSpc>
              <a:spcBef>
                <a:spcPct val="5000"/>
              </a:spcBef>
            </a:pPr>
            <a:r>
              <a:rPr lang="zh-CN" altLang="en-US" dirty="0">
                <a:sym typeface="+mn-ea"/>
              </a:rPr>
              <a:t>将这些结构元素及其行为组合为更大的子系统；</a:t>
            </a:r>
            <a:endParaRPr lang="zh-CN" altLang="en-US" dirty="0">
              <a:sym typeface="+mn-ea"/>
            </a:endParaRPr>
          </a:p>
          <a:p>
            <a:pPr lvl="1" eaLnBrk="1" hangingPunct="1">
              <a:lnSpc>
                <a:spcPct val="105000"/>
              </a:lnSpc>
              <a:spcBef>
                <a:spcPct val="5000"/>
              </a:spcBef>
            </a:pPr>
            <a:r>
              <a:rPr lang="zh-CN" altLang="en-US" dirty="0">
                <a:sym typeface="+mn-ea"/>
              </a:rPr>
              <a:t>依据软件体系结构风格约定，指导系统的构建：约定涉及元素和它们的接口、协作和组合。</a:t>
            </a:r>
            <a:endParaRPr lang="zh-CN" altLang="en-US" dirty="0"/>
          </a:p>
          <a:p>
            <a:pPr eaLnBrk="1" hangingPunct="1">
              <a:buClr>
                <a:schemeClr val="accent1"/>
              </a:buClr>
              <a:buSzPct val="70000"/>
              <a:buFont typeface="Wingdings" panose="05000000000000000000" pitchFamily="2" charset="2"/>
            </a:pPr>
            <a:endParaRPr lang="zh-CN" altLang="en-US" dirty="0">
              <a:solidFill>
                <a:srgbClr val="8F0F34"/>
              </a:solidFill>
              <a:sym typeface="+mn-ea"/>
            </a:endParaRPr>
          </a:p>
          <a:p>
            <a:pPr lvl="1"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3708400"/>
          </a:xfrm>
        </p:spPr>
        <p:txBody>
          <a:bodyPr vert="horz" wrap="square" lIns="91440" tIns="45720" rIns="91440" bIns="45720" anchor="t" anchorCtr="0"/>
          <a:lstStyle/>
          <a:p>
            <a:pPr marL="0" marR="0" lvl="0" indent="0" algn="l" defTabSz="914400" rtl="0" eaLnBrk="1" fontAlgn="base" latinLnBrk="0" hangingPunct="1">
              <a:lnSpc>
                <a:spcPct val="105000"/>
              </a:lnSpc>
              <a:spcBef>
                <a:spcPct val="5000"/>
              </a:spcBef>
              <a:spcAft>
                <a:spcPct val="0"/>
              </a:spcAft>
              <a:buClr>
                <a:schemeClr val="tx2"/>
              </a:buClr>
              <a:buSzPct val="70000"/>
              <a:buFont typeface="Wingdings" panose="05000000000000000000" pitchFamily="2" charset="2"/>
              <a:buNone/>
              <a:defRPr/>
            </a:pPr>
            <a:r>
              <a:rPr lang="en-US" altLang="zh-CN" dirty="0">
                <a:solidFill>
                  <a:srgbClr val="8F0F34"/>
                </a:solidFill>
                <a:sym typeface="+mn-ea"/>
              </a:rPr>
              <a:t>4</a:t>
            </a:r>
            <a:r>
              <a:rPr lang="zh-CN" altLang="en-US" dirty="0">
                <a:solidFill>
                  <a:srgbClr val="8F0F34"/>
                </a:solidFill>
                <a:sym typeface="+mn-ea"/>
              </a:rPr>
              <a:t>）建立软件的可视化模型</a:t>
            </a:r>
            <a:endParaRPr lang="zh-CN" altLang="en-US" dirty="0">
              <a:solidFill>
                <a:srgbClr val="8F0F34"/>
              </a:solidFill>
            </a:endParaRPr>
          </a:p>
          <a:p>
            <a:pPr eaLnBrk="1" hangingPunct="1">
              <a:buClr>
                <a:schemeClr val="accent1"/>
              </a:buClr>
              <a:buSzPct val="70000"/>
              <a:buFont typeface="Wingdings" panose="05000000000000000000" pitchFamily="2" charset="2"/>
            </a:pPr>
            <a:r>
              <a:rPr lang="zh-CN" altLang="en-US" dirty="0">
                <a:sym typeface="+mn-ea"/>
              </a:rPr>
              <a:t>模型是现实的简化，它从特定的视角完整地描述一个系统。</a:t>
            </a:r>
            <a:endParaRPr lang="zh-CN" altLang="en-US" dirty="0"/>
          </a:p>
          <a:p>
            <a:pPr eaLnBrk="1" hangingPunct="1">
              <a:lnSpc>
                <a:spcPct val="105000"/>
              </a:lnSpc>
            </a:pPr>
            <a:r>
              <a:rPr lang="zh-CN" altLang="en-US" dirty="0">
                <a:sym typeface="+mn-ea"/>
              </a:rPr>
              <a:t>通过模型化，可将系统体系结构的结构和行为可视化，具体化。应用</a:t>
            </a:r>
            <a:r>
              <a:rPr lang="en-US" altLang="zh-CN" dirty="0">
                <a:sym typeface="+mn-ea"/>
              </a:rPr>
              <a:t>UML</a:t>
            </a:r>
            <a:r>
              <a:rPr lang="zh-CN" altLang="en-US" dirty="0">
                <a:sym typeface="+mn-ea"/>
              </a:rPr>
              <a:t>（统一建模语言），开发人员可以清楚地，无二义性地与其他人交流他们的想法和决定。</a:t>
            </a:r>
            <a:endParaRPr lang="zh-CN" altLang="en-US" dirty="0"/>
          </a:p>
          <a:p>
            <a:pPr eaLnBrk="1" hangingPunct="1">
              <a:lnSpc>
                <a:spcPct val="105000"/>
              </a:lnSpc>
            </a:pPr>
            <a:r>
              <a:rPr lang="zh-CN" altLang="en-US" dirty="0">
                <a:sym typeface="+mn-ea"/>
              </a:rPr>
              <a:t>可视化建模可以</a:t>
            </a:r>
            <a:r>
              <a:rPr lang="zh-CN" altLang="en-US" dirty="0">
                <a:solidFill>
                  <a:srgbClr val="CC0000"/>
                </a:solidFill>
                <a:sym typeface="+mn-ea"/>
              </a:rPr>
              <a:t>帮助开发人员提高管理软件复杂性的能力</a:t>
            </a:r>
            <a:r>
              <a:rPr lang="zh-CN" altLang="en-US" dirty="0">
                <a:sym typeface="+mn-ea"/>
              </a:rPr>
              <a:t>。通过迭代开发实践，还可以展示体系结构的变化，有助于人们评估这些变化，确保在每次迭代过程中协调模型与源代码的一致性。</a:t>
            </a:r>
            <a:endParaRPr lang="zh-CN" altLang="en-US" dirty="0"/>
          </a:p>
          <a:p>
            <a:pPr eaLnBrk="1" hangingPunct="1">
              <a:buClr>
                <a:schemeClr val="accent1"/>
              </a:buClr>
              <a:buSzPct val="70000"/>
              <a:buFont typeface="Wingdings" panose="05000000000000000000" pitchFamily="2" charset="2"/>
            </a:pPr>
            <a:endParaRPr lang="zh-CN" altLang="en-US" dirty="0">
              <a:solidFill>
                <a:srgbClr val="8F0F34"/>
              </a:solidFill>
              <a:sym typeface="+mn-ea"/>
            </a:endParaRPr>
          </a:p>
          <a:p>
            <a:pPr lvl="1"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5076190"/>
          </a:xfrm>
        </p:spPr>
        <p:txBody>
          <a:bodyPr vert="horz" wrap="square" lIns="91440" tIns="45720" rIns="91440" bIns="45720" anchor="t" anchorCtr="0"/>
          <a:lstStyle/>
          <a:p>
            <a:pPr marL="0" marR="0" lvl="0" indent="0" algn="l" defTabSz="914400" rtl="0" eaLnBrk="1" fontAlgn="base" latinLnBrk="0" hangingPunct="1">
              <a:lnSpc>
                <a:spcPct val="105000"/>
              </a:lnSpc>
              <a:spcBef>
                <a:spcPct val="5000"/>
              </a:spcBef>
              <a:spcAft>
                <a:spcPct val="0"/>
              </a:spcAft>
              <a:buClr>
                <a:schemeClr val="tx2"/>
              </a:buClr>
              <a:buSzPct val="70000"/>
              <a:buFont typeface="Wingdings" panose="05000000000000000000" pitchFamily="2" charset="2"/>
              <a:buNone/>
              <a:defRPr/>
            </a:pPr>
            <a:r>
              <a:rPr lang="en-US" altLang="zh-CN" dirty="0">
                <a:solidFill>
                  <a:srgbClr val="8F0F34"/>
                </a:solidFill>
                <a:sym typeface="+mn-ea"/>
              </a:rPr>
              <a:t>4</a:t>
            </a:r>
            <a:r>
              <a:rPr lang="zh-CN" altLang="en-US" dirty="0">
                <a:solidFill>
                  <a:srgbClr val="8F0F34"/>
                </a:solidFill>
                <a:sym typeface="+mn-ea"/>
              </a:rPr>
              <a:t>）建立软件的可视化模型</a:t>
            </a:r>
            <a:endParaRPr lang="zh-CN" altLang="en-US" dirty="0">
              <a:solidFill>
                <a:srgbClr val="8F0F34"/>
              </a:solidFill>
            </a:endParaRPr>
          </a:p>
          <a:p>
            <a:pPr eaLnBrk="1" hangingPunct="1">
              <a:lnSpc>
                <a:spcPct val="105000"/>
              </a:lnSpc>
            </a:pPr>
            <a:r>
              <a:rPr lang="zh-CN" altLang="en-US" dirty="0">
                <a:sym typeface="+mn-ea"/>
              </a:rPr>
              <a:t>软件的可视化建模可以提供一系列方案，用以解决软件开发所遇到的问题：</a:t>
            </a:r>
            <a:endParaRPr lang="zh-CN" altLang="en-US" dirty="0">
              <a:sym typeface="+mn-ea"/>
            </a:endParaRPr>
          </a:p>
          <a:p>
            <a:pPr marL="990600" lvl="1" indent="-645795" eaLnBrk="1" hangingPunct="1">
              <a:lnSpc>
                <a:spcPct val="105000"/>
              </a:lnSpc>
              <a:spcBef>
                <a:spcPct val="15000"/>
              </a:spcBef>
              <a:buClr>
                <a:srgbClr val="FF0000"/>
              </a:buClr>
              <a:buSzTx/>
              <a:buFontTx/>
              <a:buAutoNum type="arabicParenR"/>
            </a:pPr>
            <a:r>
              <a:rPr lang="zh-CN" altLang="en-US" dirty="0">
                <a:sym typeface="+mn-ea"/>
              </a:rPr>
              <a:t>通过用例和场景可以无二义性地详细说明系统的行为；</a:t>
            </a:r>
            <a:endParaRPr lang="zh-CN" altLang="en-US" dirty="0"/>
          </a:p>
          <a:p>
            <a:pPr marL="990600" lvl="1" indent="-645795" eaLnBrk="1" hangingPunct="1">
              <a:lnSpc>
                <a:spcPct val="105000"/>
              </a:lnSpc>
              <a:spcBef>
                <a:spcPct val="15000"/>
              </a:spcBef>
              <a:buClr>
                <a:srgbClr val="FF0000"/>
              </a:buClr>
              <a:buSzTx/>
              <a:buFontTx/>
              <a:buAutoNum type="arabicParenR"/>
            </a:pPr>
            <a:r>
              <a:rPr lang="zh-CN" altLang="en-US" dirty="0">
                <a:sym typeface="+mn-ea"/>
              </a:rPr>
              <a:t>通过模型可以无二义性地理解软件设计；</a:t>
            </a:r>
            <a:endParaRPr lang="zh-CN" altLang="en-US" dirty="0"/>
          </a:p>
          <a:p>
            <a:pPr marL="990600" lvl="1" indent="-645795" eaLnBrk="1" hangingPunct="1">
              <a:lnSpc>
                <a:spcPct val="105000"/>
              </a:lnSpc>
              <a:spcBef>
                <a:spcPct val="15000"/>
              </a:spcBef>
              <a:buClr>
                <a:srgbClr val="FF0000"/>
              </a:buClr>
              <a:buSzTx/>
              <a:buFontTx/>
              <a:buAutoNum type="arabicParenR"/>
            </a:pPr>
            <a:r>
              <a:rPr lang="zh-CN" altLang="en-US" dirty="0">
                <a:sym typeface="+mn-ea"/>
              </a:rPr>
              <a:t>可以发现软件体系结构中不灵活的地方；</a:t>
            </a:r>
            <a:endParaRPr lang="zh-CN" altLang="en-US" dirty="0"/>
          </a:p>
          <a:p>
            <a:pPr marL="990600" lvl="1" indent="-645795" eaLnBrk="1" hangingPunct="1">
              <a:lnSpc>
                <a:spcPct val="105000"/>
              </a:lnSpc>
              <a:spcBef>
                <a:spcPct val="15000"/>
              </a:spcBef>
              <a:buClr>
                <a:srgbClr val="FF0000"/>
              </a:buClr>
              <a:buSzTx/>
              <a:buFontTx/>
              <a:buAutoNum type="arabicParenR"/>
            </a:pPr>
            <a:r>
              <a:rPr lang="zh-CN" altLang="en-US" dirty="0">
                <a:sym typeface="+mn-ea"/>
              </a:rPr>
              <a:t>必要时可以隐藏某些细节；</a:t>
            </a:r>
            <a:endParaRPr lang="zh-CN" altLang="en-US" dirty="0"/>
          </a:p>
          <a:p>
            <a:pPr marL="990600" lvl="1" indent="-645795" eaLnBrk="1" hangingPunct="1">
              <a:lnSpc>
                <a:spcPct val="105000"/>
              </a:lnSpc>
              <a:spcBef>
                <a:spcPct val="15000"/>
              </a:spcBef>
              <a:buClr>
                <a:srgbClr val="FF0000"/>
              </a:buClr>
              <a:buSzTx/>
              <a:buFontTx/>
              <a:buAutoNum type="arabicParenR"/>
            </a:pPr>
            <a:r>
              <a:rPr lang="zh-CN" altLang="en-US" dirty="0">
                <a:sym typeface="+mn-ea"/>
              </a:rPr>
              <a:t>无二义性的设计易于揭示某些不一致性；</a:t>
            </a:r>
            <a:endParaRPr lang="zh-CN" altLang="en-US" dirty="0"/>
          </a:p>
          <a:p>
            <a:pPr marL="990600" lvl="1" indent="-645795" eaLnBrk="1" hangingPunct="1">
              <a:lnSpc>
                <a:spcPct val="105000"/>
              </a:lnSpc>
              <a:spcBef>
                <a:spcPct val="15000"/>
              </a:spcBef>
              <a:buClr>
                <a:srgbClr val="FF0000"/>
              </a:buClr>
              <a:buSzTx/>
              <a:buFontTx/>
              <a:buAutoNum type="arabicParenR"/>
            </a:pPr>
            <a:r>
              <a:rPr lang="zh-CN" altLang="en-US" dirty="0">
                <a:sym typeface="+mn-ea"/>
              </a:rPr>
              <a:t>好的应用程序从好的设计开始；</a:t>
            </a:r>
            <a:endParaRPr lang="zh-CN" altLang="en-US" dirty="0"/>
          </a:p>
          <a:p>
            <a:pPr marL="990600" lvl="1" indent="-645795" eaLnBrk="1" hangingPunct="1">
              <a:lnSpc>
                <a:spcPct val="105000"/>
              </a:lnSpc>
              <a:spcBef>
                <a:spcPct val="15000"/>
              </a:spcBef>
              <a:buClr>
                <a:srgbClr val="FF0000"/>
              </a:buClr>
              <a:buSzTx/>
              <a:buFontTx/>
              <a:buAutoNum type="arabicParenR"/>
            </a:pPr>
            <a:r>
              <a:rPr lang="zh-CN" altLang="en-US" dirty="0">
                <a:sym typeface="+mn-ea"/>
              </a:rPr>
              <a:t>可视化建模工具可以为 </a:t>
            </a:r>
            <a:r>
              <a:rPr lang="en-US" altLang="zh-CN" dirty="0">
                <a:sym typeface="+mn-ea"/>
              </a:rPr>
              <a:t>UML </a:t>
            </a:r>
            <a:r>
              <a:rPr lang="zh-CN" altLang="en-US" dirty="0">
                <a:sym typeface="+mn-ea"/>
              </a:rPr>
              <a:t>建模提供支持。</a:t>
            </a:r>
            <a:endParaRPr lang="zh-CN" altLang="en-US" dirty="0"/>
          </a:p>
          <a:p>
            <a:pPr eaLnBrk="1" hangingPunct="1">
              <a:lnSpc>
                <a:spcPct val="105000"/>
              </a:lnSpc>
            </a:pPr>
            <a:endParaRPr lang="zh-CN" altLang="en-US" dirty="0">
              <a:solidFill>
                <a:srgbClr val="8F0F34"/>
              </a:solidFill>
              <a:sym typeface="+mn-ea"/>
            </a:endParaRPr>
          </a:p>
          <a:p>
            <a:pPr lvl="1"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5076190"/>
          </a:xfrm>
        </p:spPr>
        <p:txBody>
          <a:bodyPr vert="horz" wrap="square" lIns="91440" tIns="45720" rIns="91440" bIns="45720" anchor="t" anchorCtr="0"/>
          <a:lstStyle/>
          <a:p>
            <a:pPr marL="0" marR="0" lvl="0" indent="0" algn="l" defTabSz="914400" rtl="0" eaLnBrk="1" fontAlgn="base" latinLnBrk="0" hangingPunct="1">
              <a:lnSpc>
                <a:spcPct val="105000"/>
              </a:lnSpc>
              <a:spcBef>
                <a:spcPct val="5000"/>
              </a:spcBef>
              <a:spcAft>
                <a:spcPct val="0"/>
              </a:spcAft>
              <a:buClr>
                <a:schemeClr val="tx2"/>
              </a:buClr>
              <a:buSzPct val="70000"/>
              <a:buFont typeface="Wingdings" panose="05000000000000000000" pitchFamily="2" charset="2"/>
              <a:buNone/>
              <a:defRPr/>
            </a:pPr>
            <a:r>
              <a:rPr lang="en-US" altLang="zh-CN" dirty="0">
                <a:solidFill>
                  <a:srgbClr val="8F0F34"/>
                </a:solidFill>
                <a:sym typeface="+mn-ea"/>
              </a:rPr>
              <a:t>5</a:t>
            </a:r>
            <a:r>
              <a:rPr lang="zh-CN" altLang="en-US" dirty="0">
                <a:solidFill>
                  <a:srgbClr val="8F0F34"/>
                </a:solidFill>
                <a:sym typeface="+mn-ea"/>
              </a:rPr>
              <a:t>）不断地验证软件质量</a:t>
            </a:r>
            <a:endParaRPr lang="zh-CN" altLang="en-US" dirty="0">
              <a:solidFill>
                <a:srgbClr val="FF0000"/>
              </a:solidFill>
              <a:latin typeface="华文新魏" panose="02010800040101010101" pitchFamily="2" charset="-122"/>
            </a:endParaRPr>
          </a:p>
          <a:p>
            <a:pPr marL="0" marR="0" lvl="0" indent="0" algn="l" defTabSz="914400" rtl="0" eaLnBrk="1" fontAlgn="base" latinLnBrk="0" hangingPunct="1">
              <a:lnSpc>
                <a:spcPct val="105000"/>
              </a:lnSpc>
              <a:spcBef>
                <a:spcPct val="5000"/>
              </a:spcBef>
              <a:spcAft>
                <a:spcPct val="0"/>
              </a:spcAft>
              <a:buClr>
                <a:schemeClr val="tx2"/>
              </a:buClr>
              <a:buSzPct val="70000"/>
              <a:buFont typeface="Wingdings" panose="05000000000000000000" pitchFamily="2" charset="2"/>
              <a:buNone/>
              <a:defRPr/>
            </a:pPr>
            <a:endParaRPr lang="zh-CN" altLang="en-US" dirty="0">
              <a:solidFill>
                <a:srgbClr val="8F0F34"/>
              </a:solidFill>
            </a:endParaRPr>
          </a:p>
          <a:p>
            <a:pPr eaLnBrk="1" hangingPunct="1">
              <a:lnSpc>
                <a:spcPct val="110000"/>
              </a:lnSpc>
            </a:pPr>
            <a:r>
              <a:rPr lang="zh-CN" altLang="en-US" dirty="0">
                <a:sym typeface="+mn-ea"/>
              </a:rPr>
              <a:t>在软件实施之后再查找和发现软件问题，比在早期就进行这项工作需多花</a:t>
            </a:r>
            <a:r>
              <a:rPr lang="en-US" altLang="zh-CN" dirty="0">
                <a:sym typeface="+mn-ea"/>
              </a:rPr>
              <a:t>10 </a:t>
            </a:r>
            <a:r>
              <a:rPr lang="zh-CN" altLang="en-US" dirty="0">
                <a:sym typeface="+mn-ea"/>
              </a:rPr>
              <a:t>到</a:t>
            </a:r>
            <a:r>
              <a:rPr lang="en-US" altLang="zh-CN" dirty="0">
                <a:sym typeface="+mn-ea"/>
              </a:rPr>
              <a:t>100 </a:t>
            </a:r>
            <a:r>
              <a:rPr lang="zh-CN" altLang="en-US" dirty="0">
                <a:sym typeface="+mn-ea"/>
              </a:rPr>
              <a:t>倍的费用。因此，必须从功能、可靠性、性能等方面不断对软件质量进行评估。</a:t>
            </a:r>
            <a:endParaRPr lang="zh-CN" altLang="en-US" dirty="0"/>
          </a:p>
          <a:p>
            <a:pPr eaLnBrk="1" hangingPunct="1">
              <a:lnSpc>
                <a:spcPct val="110000"/>
              </a:lnSpc>
            </a:pPr>
            <a:endParaRPr lang="zh-CN" altLang="en-US" dirty="0"/>
          </a:p>
          <a:p>
            <a:pPr eaLnBrk="1" hangingPunct="1">
              <a:lnSpc>
                <a:spcPct val="110000"/>
              </a:lnSpc>
            </a:pPr>
            <a:r>
              <a:rPr lang="zh-CN" altLang="en-US" dirty="0">
                <a:sym typeface="+mn-ea"/>
              </a:rPr>
              <a:t>验证系统功能，需要</a:t>
            </a:r>
            <a:r>
              <a:rPr lang="zh-CN" altLang="en-US" dirty="0">
                <a:solidFill>
                  <a:schemeClr val="tx2"/>
                </a:solidFill>
                <a:sym typeface="+mn-ea"/>
              </a:rPr>
              <a:t>对每一个关键场景进行测试</a:t>
            </a:r>
            <a:r>
              <a:rPr lang="zh-CN" altLang="en-US" dirty="0">
                <a:sym typeface="+mn-ea"/>
              </a:rPr>
              <a:t>。场景描述了系统应实现的某一种行为。场景测试检测：哪些场景执行有问题，在什么地方出问题，出现什么问题（有缺陷或未实现）等，从而评估软件功能。</a:t>
            </a:r>
            <a:endParaRPr lang="zh-CN" altLang="en-US" dirty="0"/>
          </a:p>
          <a:p>
            <a:pPr eaLnBrk="1" hangingPunct="1">
              <a:lnSpc>
                <a:spcPct val="105000"/>
              </a:lnSpc>
            </a:pPr>
            <a:endParaRPr lang="zh-CN" altLang="en-US" dirty="0">
              <a:solidFill>
                <a:srgbClr val="8F0F34"/>
              </a:solidFill>
              <a:sym typeface="+mn-ea"/>
            </a:endParaRPr>
          </a:p>
          <a:p>
            <a:pPr lvl="1"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5076190"/>
          </a:xfrm>
        </p:spPr>
        <p:txBody>
          <a:bodyPr vert="horz" wrap="square" lIns="91440" tIns="45720" rIns="91440" bIns="45720" anchor="t" anchorCtr="0"/>
          <a:lstStyle/>
          <a:p>
            <a:pPr marL="0" marR="0" lvl="0" indent="0" algn="l" defTabSz="914400" rtl="0" eaLnBrk="1" fontAlgn="base" latinLnBrk="0" hangingPunct="1">
              <a:lnSpc>
                <a:spcPct val="105000"/>
              </a:lnSpc>
              <a:spcBef>
                <a:spcPct val="5000"/>
              </a:spcBef>
              <a:spcAft>
                <a:spcPct val="0"/>
              </a:spcAft>
              <a:buClr>
                <a:schemeClr val="tx2"/>
              </a:buClr>
              <a:buSzPct val="70000"/>
              <a:buFont typeface="Wingdings" panose="05000000000000000000" pitchFamily="2" charset="2"/>
              <a:buNone/>
              <a:defRPr/>
            </a:pPr>
            <a:r>
              <a:rPr lang="en-US" altLang="zh-CN" dirty="0">
                <a:solidFill>
                  <a:srgbClr val="8F0F34"/>
                </a:solidFill>
                <a:sym typeface="+mn-ea"/>
              </a:rPr>
              <a:t>6</a:t>
            </a:r>
            <a:r>
              <a:rPr lang="zh-CN" altLang="en-US" dirty="0">
                <a:solidFill>
                  <a:srgbClr val="8F0F34"/>
                </a:solidFill>
                <a:sym typeface="+mn-ea"/>
              </a:rPr>
              <a:t>）控制软件的变更</a:t>
            </a:r>
            <a:endParaRPr lang="zh-CN" altLang="en-US" dirty="0">
              <a:solidFill>
                <a:srgbClr val="FF0000"/>
              </a:solidFill>
              <a:latin typeface="华文新魏" panose="02010800040101010101" pitchFamily="2" charset="-122"/>
            </a:endParaRPr>
          </a:p>
          <a:p>
            <a:pPr marL="0" marR="0" lvl="0" indent="0" algn="l" defTabSz="914400" rtl="0" eaLnBrk="1" fontAlgn="base" latinLnBrk="0" hangingPunct="1">
              <a:lnSpc>
                <a:spcPct val="105000"/>
              </a:lnSpc>
              <a:spcBef>
                <a:spcPct val="5000"/>
              </a:spcBef>
              <a:spcAft>
                <a:spcPct val="0"/>
              </a:spcAft>
              <a:buClr>
                <a:schemeClr val="tx2"/>
              </a:buClr>
              <a:buSzPct val="70000"/>
              <a:buFont typeface="Wingdings" panose="05000000000000000000" pitchFamily="2" charset="2"/>
              <a:buNone/>
              <a:defRPr/>
            </a:pPr>
            <a:endParaRPr lang="zh-CN" altLang="en-US" dirty="0">
              <a:solidFill>
                <a:srgbClr val="8F0F34"/>
              </a:solidFill>
            </a:endParaRPr>
          </a:p>
          <a:p>
            <a:pPr eaLnBrk="1" hangingPunct="1">
              <a:lnSpc>
                <a:spcPct val="105000"/>
              </a:lnSpc>
              <a:spcBef>
                <a:spcPct val="15000"/>
              </a:spcBef>
            </a:pPr>
            <a:r>
              <a:rPr lang="zh-CN" altLang="en-US" dirty="0">
                <a:sym typeface="+mn-ea"/>
              </a:rPr>
              <a:t>当软件开发在不同组、不同地点并行进行时，开发人员同时工作于多个迭代过程、发布版本、产品和平台上，如果没有严格的变更控制，开发过程就很容易陷入混乱。</a:t>
            </a:r>
            <a:endParaRPr lang="zh-CN" altLang="en-US" dirty="0"/>
          </a:p>
          <a:p>
            <a:pPr eaLnBrk="1" hangingPunct="1">
              <a:lnSpc>
                <a:spcPct val="105000"/>
              </a:lnSpc>
              <a:spcBef>
                <a:spcPct val="15000"/>
              </a:spcBef>
            </a:pPr>
            <a:endParaRPr lang="zh-CN" altLang="en-US" dirty="0"/>
          </a:p>
          <a:p>
            <a:pPr eaLnBrk="1" hangingPunct="1">
              <a:lnSpc>
                <a:spcPct val="105000"/>
              </a:lnSpc>
              <a:spcBef>
                <a:spcPct val="15000"/>
              </a:spcBef>
            </a:pPr>
            <a:r>
              <a:rPr lang="zh-CN" altLang="en-US" dirty="0">
                <a:sym typeface="+mn-ea"/>
              </a:rPr>
              <a:t>为使软件开发人员、开发组的活动和制品协调一致，必须建立管理软件变更的循环工作流，在迭代过程中，持续监控变更，动态地发现问题并及时反映。</a:t>
            </a:r>
            <a:endParaRPr lang="zh-CN" altLang="en-US" dirty="0"/>
          </a:p>
          <a:p>
            <a:pPr eaLnBrk="1" hangingPunct="1">
              <a:lnSpc>
                <a:spcPct val="105000"/>
              </a:lnSpc>
              <a:spcBef>
                <a:spcPct val="15000"/>
              </a:spcBef>
            </a:pPr>
            <a:endParaRPr lang="zh-CN" altLang="en-US" dirty="0"/>
          </a:p>
          <a:p>
            <a:pPr eaLnBrk="1" hangingPunct="1">
              <a:lnSpc>
                <a:spcPct val="105000"/>
              </a:lnSpc>
              <a:spcBef>
                <a:spcPct val="15000"/>
              </a:spcBef>
            </a:pPr>
            <a:r>
              <a:rPr lang="zh-CN" altLang="en-US" dirty="0">
                <a:sym typeface="+mn-ea"/>
              </a:rPr>
              <a:t>每次迭代过程结束时需建立和发布经过测试的基线，保证迭代过程与发布版本协调一致。</a:t>
            </a:r>
            <a:endParaRPr lang="zh-CN" altLang="en-US" dirty="0"/>
          </a:p>
          <a:p>
            <a:pPr eaLnBrk="1" hangingPunct="1">
              <a:lnSpc>
                <a:spcPct val="105000"/>
              </a:lnSpc>
            </a:pPr>
            <a:endParaRPr lang="zh-CN" altLang="en-US" dirty="0">
              <a:solidFill>
                <a:srgbClr val="8F0F34"/>
              </a:solidFill>
              <a:sym typeface="+mn-ea"/>
            </a:endParaRPr>
          </a:p>
          <a:p>
            <a:pPr lvl="1"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内容占位符 2"/>
          <p:cNvSpPr>
            <a:spLocks noGrp="1"/>
          </p:cNvSpPr>
          <p:nvPr>
            <p:ph sz="quarter" idx="1"/>
          </p:nvPr>
        </p:nvSpPr>
        <p:spPr>
          <a:xfrm>
            <a:off x="457200" y="1600200"/>
            <a:ext cx="8146415" cy="5076190"/>
          </a:xfrm>
        </p:spPr>
        <p:txBody>
          <a:bodyPr vert="horz" wrap="square" lIns="91440" tIns="45720" rIns="91440" bIns="45720" anchor="t" anchorCtr="0"/>
          <a:lstStyle/>
          <a:p>
            <a:pPr eaLnBrk="1" hangingPunct="1">
              <a:lnSpc>
                <a:spcPct val="110000"/>
              </a:lnSpc>
              <a:spcBef>
                <a:spcPct val="15000"/>
              </a:spcBef>
            </a:pPr>
            <a:r>
              <a:rPr lang="zh-CN" altLang="en-US" dirty="0">
                <a:sym typeface="+mn-ea"/>
              </a:rPr>
              <a:t>采用上述的最佳实践活动，以一种可预测的循环方式开发复杂的系统。</a:t>
            </a:r>
            <a:endParaRPr lang="zh-CN" altLang="en-US" dirty="0"/>
          </a:p>
          <a:p>
            <a:pPr eaLnBrk="1" hangingPunct="1">
              <a:lnSpc>
                <a:spcPct val="110000"/>
              </a:lnSpc>
              <a:spcBef>
                <a:spcPct val="15000"/>
              </a:spcBef>
            </a:pPr>
            <a:r>
              <a:rPr lang="zh-CN" altLang="en-US" dirty="0">
                <a:sym typeface="+mn-ea"/>
              </a:rPr>
              <a:t>这样，软件开发组织的能力能够保持稳定，并能随着新项目不断改进，从而提高整个软件开发的效能和生产率。</a:t>
            </a:r>
            <a:endParaRPr lang="zh-CN" altLang="en-US" dirty="0"/>
          </a:p>
          <a:p>
            <a:pPr eaLnBrk="1" hangingPunct="1">
              <a:lnSpc>
                <a:spcPct val="110000"/>
              </a:lnSpc>
              <a:spcBef>
                <a:spcPct val="15000"/>
              </a:spcBef>
            </a:pPr>
            <a:r>
              <a:rPr lang="en-US" altLang="zh-CN" dirty="0">
                <a:sym typeface="+mn-ea"/>
              </a:rPr>
              <a:t>Rational </a:t>
            </a:r>
            <a:r>
              <a:rPr lang="zh-CN" altLang="en-US" dirty="0">
                <a:sym typeface="+mn-ea"/>
              </a:rPr>
              <a:t>统一开发过程正是建立在上述六项最佳实践活动的基础之上，</a:t>
            </a:r>
            <a:r>
              <a:rPr lang="zh-CN" altLang="en-US" dirty="0">
                <a:solidFill>
                  <a:srgbClr val="8F0F34"/>
                </a:solidFill>
                <a:sym typeface="+mn-ea"/>
              </a:rPr>
              <a:t>目的是交付一个定义良好的过程</a:t>
            </a:r>
            <a:r>
              <a:rPr lang="zh-CN" altLang="en-US" dirty="0">
                <a:sym typeface="+mn-ea"/>
              </a:rPr>
              <a:t>。</a:t>
            </a:r>
            <a:endParaRPr lang="zh-CN" altLang="en-US" dirty="0"/>
          </a:p>
          <a:p>
            <a:pPr eaLnBrk="1" hangingPunct="1">
              <a:lnSpc>
                <a:spcPct val="105000"/>
              </a:lnSpc>
            </a:pPr>
            <a:endParaRPr lang="zh-CN" altLang="en-US" dirty="0">
              <a:solidFill>
                <a:srgbClr val="8F0F34"/>
              </a:solidFill>
              <a:sym typeface="+mn-ea"/>
            </a:endParaRPr>
          </a:p>
          <a:p>
            <a:pPr lvl="1"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62468"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3491" name="内容占位符 2"/>
          <p:cNvSpPr>
            <a:spLocks noGrp="1"/>
          </p:cNvSpPr>
          <p:nvPr>
            <p:ph sz="quarter" idx="1"/>
          </p:nvPr>
        </p:nvSpPr>
        <p:spPr>
          <a:xfrm>
            <a:off x="457200" y="1557338"/>
            <a:ext cx="7570788" cy="4916487"/>
          </a:xfrm>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二维生命周期模型</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横轴是时间，将软件开发过程即软件生命周期划分为</a:t>
            </a:r>
            <a:r>
              <a:rPr lang="en-US" altLang="zh-CN" dirty="0">
                <a:ea typeface="宋体" panose="02010600030101010101" pitchFamily="2" charset="-122"/>
              </a:rPr>
              <a:t>4</a:t>
            </a:r>
            <a:r>
              <a:rPr lang="zh-CN" altLang="en-US" dirty="0">
                <a:ea typeface="宋体" panose="02010600030101010101" pitchFamily="2" charset="-122"/>
              </a:rPr>
              <a:t>个阶段（递增），以及一系列的循环重复。</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纵轴是过程成分，即开发过程包括的具体工作内容。</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该方法是一个迭代和递增的开发过程</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每个工作流由一系列步骤组成。为了完成该工作流，重复执行工作流的步骤直至开发小组成员满意地认为，已经有了一个软件产品的精确的</a:t>
            </a:r>
            <a:r>
              <a:rPr lang="en-US" altLang="zh-CN" dirty="0">
                <a:ea typeface="宋体" panose="02010600030101010101" pitchFamily="2" charset="-122"/>
              </a:rPr>
              <a:t>UML</a:t>
            </a:r>
            <a:r>
              <a:rPr lang="zh-CN" altLang="en-US" dirty="0">
                <a:ea typeface="宋体" panose="02010600030101010101" pitchFamily="2" charset="-122"/>
              </a:rPr>
              <a:t>模型。</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软件产品的特性：迭代和递增</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每一次迭代都包含了需求、分析、设计、实现、和测试各个阶段。</a:t>
            </a:r>
            <a:endParaRPr lang="zh-CN" altLang="en-US" dirty="0">
              <a:ea typeface="宋体" panose="02010600030101010101" pitchFamily="2" charset="-122"/>
            </a:endParaRPr>
          </a:p>
        </p:txBody>
      </p:sp>
      <p:sp>
        <p:nvSpPr>
          <p:cNvPr id="63492"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4515"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pic>
        <p:nvPicPr>
          <p:cNvPr id="64516" name="Picture 4"/>
          <p:cNvPicPr>
            <a:picLocks noGrp="1" noChangeAspect="1"/>
          </p:cNvPicPr>
          <p:nvPr>
            <p:ph sz="quarter" idx="1"/>
          </p:nvPr>
        </p:nvPicPr>
        <p:blipFill>
          <a:blip r:embed="rId1"/>
          <a:srcRect/>
          <a:stretch>
            <a:fillRect/>
          </a:stretch>
        </p:blipFill>
        <p:spPr>
          <a:xfrm>
            <a:off x="577850" y="1307465"/>
            <a:ext cx="7396480" cy="5361305"/>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0" indent="0" eaLnBrk="1" hangingPunct="1">
              <a:buNone/>
            </a:pPr>
            <a:r>
              <a:rPr lang="zh-CN" altLang="en-US" dirty="0">
                <a:solidFill>
                  <a:srgbClr val="FF0000"/>
                </a:solidFill>
                <a:latin typeface="华文新魏" panose="02010800040101010101" pitchFamily="2" charset="-122"/>
                <a:sym typeface="+mn-ea"/>
              </a:rPr>
              <a:t>过程的静态描述：过程模型</a:t>
            </a:r>
            <a:endParaRPr lang="zh-CN" altLang="en-US" dirty="0">
              <a:solidFill>
                <a:srgbClr val="FF0000"/>
              </a:solidFill>
              <a:latin typeface="华文新魏" panose="02010800040101010101" pitchFamily="2" charset="-122"/>
              <a:sym typeface="+mn-ea"/>
            </a:endParaRPr>
          </a:p>
          <a:p>
            <a:pPr marL="231775" indent="-231775">
              <a:spcBef>
                <a:spcPct val="5000"/>
              </a:spcBef>
              <a:buClr>
                <a:srgbClr val="800080"/>
              </a:buClr>
              <a:buFont typeface="Wingdings" panose="05000000000000000000" pitchFamily="2" charset="2"/>
              <a:buChar char="§"/>
            </a:pPr>
            <a:r>
              <a:rPr lang="zh-CN" altLang="en-US" dirty="0">
                <a:latin typeface="Times New Roman" panose="02020603050405020304" pitchFamily="18" charset="0"/>
                <a:ea typeface="仿宋_GB2312" pitchFamily="49" charset="-122"/>
                <a:sym typeface="+mn-ea"/>
              </a:rPr>
              <a:t>过程模型中的主要模型元素有 </a:t>
            </a:r>
            <a:r>
              <a:rPr lang="en-US" altLang="zh-CN" dirty="0">
                <a:latin typeface="Times New Roman" panose="02020603050405020304" pitchFamily="18" charset="0"/>
                <a:ea typeface="仿宋_GB2312" pitchFamily="49" charset="-122"/>
                <a:sym typeface="+mn-ea"/>
              </a:rPr>
              <a:t>4 </a:t>
            </a:r>
            <a:r>
              <a:rPr lang="zh-CN" altLang="en-US" dirty="0">
                <a:latin typeface="Times New Roman" panose="02020603050405020304" pitchFamily="18" charset="0"/>
                <a:ea typeface="仿宋_GB2312" pitchFamily="49" charset="-122"/>
                <a:sym typeface="+mn-ea"/>
              </a:rPr>
              <a:t>种：</a:t>
            </a:r>
            <a:endParaRPr lang="zh-CN" altLang="en-US" b="1" dirty="0">
              <a:latin typeface="Times New Roman" panose="02020603050405020304" pitchFamily="18" charset="0"/>
              <a:ea typeface="仿宋_GB2312" pitchFamily="49" charset="-122"/>
            </a:endParaRPr>
          </a:p>
          <a:p>
            <a:pPr marL="630555" lvl="1" indent="-173355" algn="l" rtl="0" eaLnBrk="1" fontAlgn="base" hangingPunct="1">
              <a:spcBef>
                <a:spcPct val="5000"/>
              </a:spcBef>
              <a:spcAft>
                <a:spcPct val="0"/>
              </a:spcAft>
              <a:buClr>
                <a:schemeClr val="tx2"/>
              </a:buClr>
              <a:buSzPct val="85000"/>
              <a:buFont typeface="Wingdings" panose="05000000000000000000" pitchFamily="2" charset="2"/>
              <a:buChar char="v"/>
            </a:pPr>
            <a:r>
              <a:rPr lang="zh-CN" altLang="en-US" dirty="0">
                <a:latin typeface="Times New Roman" panose="02020603050405020304" pitchFamily="18" charset="0"/>
                <a:ea typeface="仿宋_GB2312" pitchFamily="49" charset="-122"/>
                <a:sym typeface="+mn-ea"/>
              </a:rPr>
              <a:t> </a:t>
            </a:r>
            <a:r>
              <a:rPr lang="zh-CN" altLang="en-US" dirty="0">
                <a:solidFill>
                  <a:srgbClr val="FF3300"/>
                </a:solidFill>
                <a:latin typeface="Times New Roman" panose="02020603050405020304" pitchFamily="18" charset="0"/>
                <a:ea typeface="仿宋_GB2312" pitchFamily="49" charset="-122"/>
                <a:sym typeface="+mn-ea"/>
              </a:rPr>
              <a:t>工作人员</a:t>
            </a:r>
            <a:r>
              <a:rPr lang="zh-CN" altLang="en-US" dirty="0">
                <a:latin typeface="Times New Roman" panose="02020603050405020304" pitchFamily="18" charset="0"/>
                <a:ea typeface="仿宋_GB2312" pitchFamily="49" charset="-122"/>
                <a:sym typeface="+mn-ea"/>
              </a:rPr>
              <a:t>：谁做（</a:t>
            </a:r>
            <a:r>
              <a:rPr lang="en-US" altLang="zh-CN" dirty="0">
                <a:solidFill>
                  <a:schemeClr val="hlink"/>
                </a:solidFill>
                <a:latin typeface="Times New Roman" panose="02020603050405020304" pitchFamily="18" charset="0"/>
                <a:ea typeface="仿宋_GB2312" pitchFamily="49" charset="-122"/>
                <a:sym typeface="+mn-ea"/>
              </a:rPr>
              <a:t>who</a:t>
            </a:r>
            <a:r>
              <a:rPr lang="zh-CN" altLang="en-US" dirty="0">
                <a:latin typeface="Times New Roman" panose="02020603050405020304" pitchFamily="18" charset="0"/>
                <a:ea typeface="仿宋_GB2312" pitchFamily="49" charset="-122"/>
                <a:sym typeface="+mn-ea"/>
              </a:rPr>
              <a:t>）</a:t>
            </a:r>
            <a:endParaRPr lang="zh-CN" altLang="en-US" b="1" dirty="0">
              <a:solidFill>
                <a:schemeClr val="tx1"/>
              </a:solidFill>
              <a:latin typeface="Times New Roman" panose="02020603050405020304" pitchFamily="18" charset="0"/>
              <a:ea typeface="仿宋_GB2312" pitchFamily="49" charset="-122"/>
            </a:endParaRPr>
          </a:p>
          <a:p>
            <a:pPr marL="630555" lvl="1" indent="-173355" algn="l" rtl="0" eaLnBrk="1" fontAlgn="base" hangingPunct="1">
              <a:spcBef>
                <a:spcPct val="5000"/>
              </a:spcBef>
              <a:spcAft>
                <a:spcPct val="0"/>
              </a:spcAft>
              <a:buClr>
                <a:schemeClr val="tx2"/>
              </a:buClr>
              <a:buSzPct val="85000"/>
              <a:buFont typeface="Wingdings" panose="05000000000000000000" pitchFamily="2" charset="2"/>
              <a:buChar char="v"/>
            </a:pPr>
            <a:r>
              <a:rPr lang="zh-CN" altLang="en-US" dirty="0">
                <a:solidFill>
                  <a:srgbClr val="FF3300"/>
                </a:solidFill>
                <a:latin typeface="Times New Roman" panose="02020603050405020304" pitchFamily="18" charset="0"/>
                <a:ea typeface="仿宋_GB2312" pitchFamily="49" charset="-122"/>
                <a:sym typeface="+mn-ea"/>
              </a:rPr>
              <a:t> 活动</a:t>
            </a:r>
            <a:r>
              <a:rPr lang="zh-CN" altLang="en-US" dirty="0">
                <a:latin typeface="Times New Roman" panose="02020603050405020304" pitchFamily="18" charset="0"/>
                <a:ea typeface="仿宋_GB2312" pitchFamily="49" charset="-122"/>
                <a:sym typeface="+mn-ea"/>
              </a:rPr>
              <a:t>：怎么做（</a:t>
            </a:r>
            <a:r>
              <a:rPr lang="en-US" altLang="zh-CN" dirty="0">
                <a:solidFill>
                  <a:schemeClr val="hlink"/>
                </a:solidFill>
                <a:latin typeface="Times New Roman" panose="02020603050405020304" pitchFamily="18" charset="0"/>
                <a:ea typeface="仿宋_GB2312" pitchFamily="49" charset="-122"/>
                <a:sym typeface="+mn-ea"/>
              </a:rPr>
              <a:t>how</a:t>
            </a:r>
            <a:r>
              <a:rPr lang="zh-CN" altLang="en-US" dirty="0">
                <a:latin typeface="Times New Roman" panose="02020603050405020304" pitchFamily="18" charset="0"/>
                <a:ea typeface="仿宋_GB2312" pitchFamily="49" charset="-122"/>
                <a:sym typeface="+mn-ea"/>
              </a:rPr>
              <a:t>）</a:t>
            </a:r>
            <a:endParaRPr lang="zh-CN" altLang="en-US" b="1" dirty="0">
              <a:solidFill>
                <a:schemeClr val="tx1"/>
              </a:solidFill>
              <a:latin typeface="Times New Roman" panose="02020603050405020304" pitchFamily="18" charset="0"/>
              <a:ea typeface="仿宋_GB2312" pitchFamily="49" charset="-122"/>
            </a:endParaRPr>
          </a:p>
          <a:p>
            <a:pPr marL="630555" lvl="1" indent="-173355" algn="l" rtl="0" eaLnBrk="1" fontAlgn="base" hangingPunct="1">
              <a:spcBef>
                <a:spcPct val="5000"/>
              </a:spcBef>
              <a:spcAft>
                <a:spcPct val="0"/>
              </a:spcAft>
              <a:buClr>
                <a:schemeClr val="tx2"/>
              </a:buClr>
              <a:buSzPct val="85000"/>
              <a:buFont typeface="Wingdings" panose="05000000000000000000" pitchFamily="2" charset="2"/>
              <a:buChar char="v"/>
            </a:pPr>
            <a:r>
              <a:rPr lang="zh-CN" altLang="en-US" dirty="0">
                <a:solidFill>
                  <a:srgbClr val="FF3300"/>
                </a:solidFill>
                <a:latin typeface="Times New Roman" panose="02020603050405020304" pitchFamily="18" charset="0"/>
                <a:ea typeface="仿宋_GB2312" pitchFamily="49" charset="-122"/>
                <a:sym typeface="+mn-ea"/>
              </a:rPr>
              <a:t> 制品</a:t>
            </a:r>
            <a:r>
              <a:rPr lang="zh-CN" altLang="en-US" dirty="0">
                <a:latin typeface="Times New Roman" panose="02020603050405020304" pitchFamily="18" charset="0"/>
                <a:ea typeface="仿宋_GB2312" pitchFamily="49" charset="-122"/>
                <a:sym typeface="+mn-ea"/>
              </a:rPr>
              <a:t>：做什么（</a:t>
            </a:r>
            <a:r>
              <a:rPr lang="en-US" altLang="zh-CN" dirty="0">
                <a:solidFill>
                  <a:schemeClr val="hlink"/>
                </a:solidFill>
                <a:latin typeface="Times New Roman" panose="02020603050405020304" pitchFamily="18" charset="0"/>
                <a:ea typeface="仿宋_GB2312" pitchFamily="49" charset="-122"/>
                <a:sym typeface="+mn-ea"/>
              </a:rPr>
              <a:t>what</a:t>
            </a:r>
            <a:r>
              <a:rPr lang="zh-CN" altLang="en-US" dirty="0">
                <a:latin typeface="Times New Roman" panose="02020603050405020304" pitchFamily="18" charset="0"/>
                <a:ea typeface="仿宋_GB2312" pitchFamily="49" charset="-122"/>
                <a:sym typeface="+mn-ea"/>
              </a:rPr>
              <a:t>）</a:t>
            </a:r>
            <a:endParaRPr lang="zh-CN" altLang="en-US" b="1" dirty="0">
              <a:solidFill>
                <a:schemeClr val="tx1"/>
              </a:solidFill>
              <a:latin typeface="Times New Roman" panose="02020603050405020304" pitchFamily="18" charset="0"/>
              <a:ea typeface="仿宋_GB2312" pitchFamily="49" charset="-122"/>
            </a:endParaRPr>
          </a:p>
          <a:p>
            <a:pPr marL="630555" lvl="1" indent="-173355" algn="l" rtl="0" eaLnBrk="1" fontAlgn="base" hangingPunct="1">
              <a:spcBef>
                <a:spcPct val="5000"/>
              </a:spcBef>
              <a:spcAft>
                <a:spcPct val="0"/>
              </a:spcAft>
              <a:buClr>
                <a:schemeClr val="tx2"/>
              </a:buClr>
              <a:buSzPct val="85000"/>
              <a:buFont typeface="Wingdings" panose="05000000000000000000" pitchFamily="2" charset="2"/>
              <a:buChar char="v"/>
            </a:pPr>
            <a:r>
              <a:rPr lang="zh-CN" altLang="en-US" dirty="0">
                <a:solidFill>
                  <a:srgbClr val="FF3300"/>
                </a:solidFill>
                <a:latin typeface="Times New Roman" panose="02020603050405020304" pitchFamily="18" charset="0"/>
                <a:ea typeface="仿宋_GB2312" pitchFamily="49" charset="-122"/>
                <a:sym typeface="+mn-ea"/>
              </a:rPr>
              <a:t> 工作流</a:t>
            </a:r>
            <a:r>
              <a:rPr lang="zh-CN" altLang="en-US" dirty="0">
                <a:latin typeface="Times New Roman" panose="02020603050405020304" pitchFamily="18" charset="0"/>
                <a:ea typeface="仿宋_GB2312" pitchFamily="49" charset="-122"/>
                <a:sym typeface="+mn-ea"/>
              </a:rPr>
              <a:t>：何时做（</a:t>
            </a:r>
            <a:r>
              <a:rPr lang="en-US" altLang="zh-CN" dirty="0">
                <a:solidFill>
                  <a:schemeClr val="hlink"/>
                </a:solidFill>
                <a:latin typeface="Times New Roman" panose="02020603050405020304" pitchFamily="18" charset="0"/>
                <a:ea typeface="仿宋_GB2312" pitchFamily="49" charset="-122"/>
                <a:sym typeface="+mn-ea"/>
              </a:rPr>
              <a:t>when</a:t>
            </a:r>
            <a:r>
              <a:rPr lang="zh-CN" altLang="en-US" dirty="0">
                <a:latin typeface="Times New Roman" panose="02020603050405020304" pitchFamily="18" charset="0"/>
                <a:ea typeface="仿宋_GB2312" pitchFamily="49" charset="-122"/>
                <a:sym typeface="+mn-ea"/>
              </a:rPr>
              <a:t>）</a:t>
            </a:r>
            <a:endParaRPr lang="zh-CN" altLang="en-US" b="1" dirty="0">
              <a:solidFill>
                <a:schemeClr val="tx1"/>
              </a:solidFill>
              <a:latin typeface="Times New Roman" panose="02020603050405020304" pitchFamily="18" charset="0"/>
              <a:ea typeface="仿宋_GB2312" pitchFamily="49" charset="-122"/>
            </a:endParaRPr>
          </a:p>
          <a:p>
            <a:pPr eaLnBrk="1" hangingPunct="1">
              <a:lnSpc>
                <a:spcPct val="110000"/>
              </a:lnSpc>
            </a:pPr>
            <a:r>
              <a:rPr lang="zh-CN" altLang="en-US" dirty="0">
                <a:sym typeface="+mn-ea"/>
              </a:rPr>
              <a:t>过程的中心概念是</a:t>
            </a:r>
            <a:r>
              <a:rPr lang="zh-CN" altLang="en-US" dirty="0">
                <a:solidFill>
                  <a:srgbClr val="8F0F34"/>
                </a:solidFill>
                <a:sym typeface="+mn-ea"/>
              </a:rPr>
              <a:t>工作人员</a:t>
            </a:r>
            <a:r>
              <a:rPr lang="zh-CN" altLang="en-US" dirty="0">
                <a:sym typeface="+mn-ea"/>
              </a:rPr>
              <a:t>。工作人员不是指某一个人，而是指完成工作的</a:t>
            </a:r>
            <a:r>
              <a:rPr lang="zh-CN" altLang="en-US" dirty="0">
                <a:solidFill>
                  <a:srgbClr val="8F0F34"/>
                </a:solidFill>
                <a:sym typeface="+mn-ea"/>
              </a:rPr>
              <a:t>角色</a:t>
            </a:r>
            <a:r>
              <a:rPr lang="zh-CN" altLang="en-US" dirty="0">
                <a:sym typeface="+mn-ea"/>
              </a:rPr>
              <a:t>。</a:t>
            </a:r>
            <a:endParaRPr lang="zh-CN" altLang="en-US" dirty="0"/>
          </a:p>
          <a:p>
            <a:pPr eaLnBrk="1" hangingPunct="1">
              <a:lnSpc>
                <a:spcPct val="110000"/>
              </a:lnSpc>
            </a:pPr>
            <a:r>
              <a:rPr lang="zh-CN" altLang="en-US" dirty="0">
                <a:sym typeface="+mn-ea"/>
              </a:rPr>
              <a:t>工作人员定义人们应履行的行为和职责。通常。用活动描述行为，用制品衡量职责。</a:t>
            </a:r>
            <a:endParaRPr lang="zh-CN" altLang="en-US" dirty="0"/>
          </a:p>
          <a:p>
            <a:pPr eaLnBrk="1" hangingPunct="1">
              <a:lnSpc>
                <a:spcPct val="110000"/>
              </a:lnSpc>
            </a:pPr>
            <a:r>
              <a:rPr lang="zh-CN" altLang="en-US" dirty="0">
                <a:sym typeface="+mn-ea"/>
              </a:rPr>
              <a:t>一个人可以扮演一个或多个角色。在过程中，可以是系统分析员、设计师、用例设计师、测试设计师等。</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0" indent="0" eaLnBrk="1" hangingPunct="1">
              <a:buNone/>
            </a:pPr>
            <a:r>
              <a:rPr lang="zh-CN" altLang="en-US" dirty="0">
                <a:solidFill>
                  <a:srgbClr val="FF0000"/>
                </a:solidFill>
                <a:latin typeface="华文新魏" panose="02010800040101010101" pitchFamily="2" charset="-122"/>
                <a:sym typeface="+mn-ea"/>
              </a:rPr>
              <a:t>过程的静态描述：过程模型</a:t>
            </a:r>
            <a:endParaRPr lang="zh-CN" altLang="en-US" dirty="0">
              <a:solidFill>
                <a:srgbClr val="FF0000"/>
              </a:solidFill>
              <a:latin typeface="华文新魏" panose="02010800040101010101" pitchFamily="2" charset="-122"/>
              <a:sym typeface="+mn-ea"/>
            </a:endParaRPr>
          </a:p>
          <a:p>
            <a:pPr marL="231775" indent="-231775">
              <a:spcBef>
                <a:spcPct val="5000"/>
              </a:spcBef>
              <a:buClr>
                <a:srgbClr val="800080"/>
              </a:buClr>
              <a:buFont typeface="Wingdings" panose="05000000000000000000" pitchFamily="2" charset="2"/>
              <a:buChar char="§"/>
            </a:pPr>
            <a:r>
              <a:rPr lang="zh-CN" altLang="en-US" dirty="0">
                <a:latin typeface="Times New Roman" panose="02020603050405020304" pitchFamily="18" charset="0"/>
                <a:ea typeface="仿宋_GB2312" pitchFamily="49" charset="-122"/>
                <a:sym typeface="+mn-ea"/>
              </a:rPr>
              <a:t>过程模型中的主要模型元素有 </a:t>
            </a:r>
            <a:r>
              <a:rPr lang="en-US" altLang="zh-CN" dirty="0">
                <a:latin typeface="Times New Roman" panose="02020603050405020304" pitchFamily="18" charset="0"/>
                <a:ea typeface="仿宋_GB2312" pitchFamily="49" charset="-122"/>
                <a:sym typeface="+mn-ea"/>
              </a:rPr>
              <a:t>4 </a:t>
            </a:r>
            <a:r>
              <a:rPr lang="zh-CN" altLang="en-US" dirty="0">
                <a:latin typeface="Times New Roman" panose="02020603050405020304" pitchFamily="18" charset="0"/>
                <a:ea typeface="仿宋_GB2312" pitchFamily="49" charset="-122"/>
                <a:sym typeface="+mn-ea"/>
              </a:rPr>
              <a:t>种：</a:t>
            </a:r>
            <a:endParaRPr lang="zh-CN" altLang="en-US" b="1" dirty="0">
              <a:latin typeface="Times New Roman" panose="02020603050405020304" pitchFamily="18" charset="0"/>
              <a:ea typeface="仿宋_GB2312" pitchFamily="49" charset="-122"/>
            </a:endParaRPr>
          </a:p>
          <a:p>
            <a:pPr marL="630555" lvl="1" indent="-173355" algn="l" rtl="0" eaLnBrk="1" fontAlgn="base" hangingPunct="1">
              <a:spcBef>
                <a:spcPct val="5000"/>
              </a:spcBef>
              <a:spcAft>
                <a:spcPct val="0"/>
              </a:spcAft>
              <a:buClr>
                <a:schemeClr val="tx2"/>
              </a:buClr>
              <a:buSzPct val="85000"/>
              <a:buFont typeface="Wingdings" panose="05000000000000000000" pitchFamily="2" charset="2"/>
              <a:buChar char="v"/>
            </a:pPr>
            <a:r>
              <a:rPr lang="zh-CN" altLang="en-US" dirty="0">
                <a:latin typeface="Times New Roman" panose="02020603050405020304" pitchFamily="18" charset="0"/>
                <a:ea typeface="仿宋_GB2312" pitchFamily="49" charset="-122"/>
                <a:sym typeface="+mn-ea"/>
              </a:rPr>
              <a:t> </a:t>
            </a:r>
            <a:r>
              <a:rPr lang="zh-CN" altLang="en-US" dirty="0">
                <a:solidFill>
                  <a:srgbClr val="FF3300"/>
                </a:solidFill>
                <a:latin typeface="Times New Roman" panose="02020603050405020304" pitchFamily="18" charset="0"/>
                <a:ea typeface="仿宋_GB2312" pitchFamily="49" charset="-122"/>
                <a:sym typeface="+mn-ea"/>
              </a:rPr>
              <a:t>工作人员</a:t>
            </a:r>
            <a:r>
              <a:rPr lang="zh-CN" altLang="en-US" dirty="0">
                <a:latin typeface="Times New Roman" panose="02020603050405020304" pitchFamily="18" charset="0"/>
                <a:ea typeface="仿宋_GB2312" pitchFamily="49" charset="-122"/>
                <a:sym typeface="+mn-ea"/>
              </a:rPr>
              <a:t>：谁做（</a:t>
            </a:r>
            <a:r>
              <a:rPr lang="en-US" altLang="zh-CN" dirty="0">
                <a:solidFill>
                  <a:schemeClr val="hlink"/>
                </a:solidFill>
                <a:latin typeface="Times New Roman" panose="02020603050405020304" pitchFamily="18" charset="0"/>
                <a:ea typeface="仿宋_GB2312" pitchFamily="49" charset="-122"/>
                <a:sym typeface="+mn-ea"/>
              </a:rPr>
              <a:t>who</a:t>
            </a:r>
            <a:r>
              <a:rPr lang="zh-CN" altLang="en-US" dirty="0">
                <a:latin typeface="Times New Roman" panose="02020603050405020304" pitchFamily="18" charset="0"/>
                <a:ea typeface="仿宋_GB2312" pitchFamily="49" charset="-122"/>
                <a:sym typeface="+mn-ea"/>
              </a:rPr>
              <a:t>）</a:t>
            </a:r>
            <a:endParaRPr lang="zh-CN" altLang="en-US" b="1" dirty="0">
              <a:solidFill>
                <a:schemeClr val="tx1"/>
              </a:solidFill>
              <a:latin typeface="Times New Roman" panose="02020603050405020304" pitchFamily="18" charset="0"/>
              <a:ea typeface="仿宋_GB2312" pitchFamily="49" charset="-122"/>
            </a:endParaRPr>
          </a:p>
          <a:p>
            <a:pPr marL="630555" lvl="1" indent="-173355" algn="l" rtl="0" eaLnBrk="1" fontAlgn="base" hangingPunct="1">
              <a:spcBef>
                <a:spcPct val="5000"/>
              </a:spcBef>
              <a:spcAft>
                <a:spcPct val="0"/>
              </a:spcAft>
              <a:buClr>
                <a:schemeClr val="tx2"/>
              </a:buClr>
              <a:buSzPct val="85000"/>
              <a:buFont typeface="Wingdings" panose="05000000000000000000" pitchFamily="2" charset="2"/>
              <a:buChar char="v"/>
            </a:pPr>
            <a:r>
              <a:rPr lang="zh-CN" altLang="en-US" dirty="0">
                <a:solidFill>
                  <a:srgbClr val="FF3300"/>
                </a:solidFill>
                <a:latin typeface="Times New Roman" panose="02020603050405020304" pitchFamily="18" charset="0"/>
                <a:ea typeface="仿宋_GB2312" pitchFamily="49" charset="-122"/>
                <a:sym typeface="+mn-ea"/>
              </a:rPr>
              <a:t> 活动</a:t>
            </a:r>
            <a:r>
              <a:rPr lang="zh-CN" altLang="en-US" dirty="0">
                <a:latin typeface="Times New Roman" panose="02020603050405020304" pitchFamily="18" charset="0"/>
                <a:ea typeface="仿宋_GB2312" pitchFamily="49" charset="-122"/>
                <a:sym typeface="+mn-ea"/>
              </a:rPr>
              <a:t>：怎么做（</a:t>
            </a:r>
            <a:r>
              <a:rPr lang="en-US" altLang="zh-CN" dirty="0">
                <a:solidFill>
                  <a:schemeClr val="hlink"/>
                </a:solidFill>
                <a:latin typeface="Times New Roman" panose="02020603050405020304" pitchFamily="18" charset="0"/>
                <a:ea typeface="仿宋_GB2312" pitchFamily="49" charset="-122"/>
                <a:sym typeface="+mn-ea"/>
              </a:rPr>
              <a:t>how</a:t>
            </a:r>
            <a:r>
              <a:rPr lang="zh-CN" altLang="en-US" dirty="0">
                <a:latin typeface="Times New Roman" panose="02020603050405020304" pitchFamily="18" charset="0"/>
                <a:ea typeface="仿宋_GB2312" pitchFamily="49" charset="-122"/>
                <a:sym typeface="+mn-ea"/>
              </a:rPr>
              <a:t>）</a:t>
            </a:r>
            <a:endParaRPr lang="zh-CN" altLang="en-US" b="1" dirty="0">
              <a:solidFill>
                <a:schemeClr val="tx1"/>
              </a:solidFill>
              <a:latin typeface="Times New Roman" panose="02020603050405020304" pitchFamily="18" charset="0"/>
              <a:ea typeface="仿宋_GB2312" pitchFamily="49" charset="-122"/>
            </a:endParaRPr>
          </a:p>
          <a:p>
            <a:pPr marL="630555" lvl="1" indent="-173355" algn="l" rtl="0" eaLnBrk="1" fontAlgn="base" hangingPunct="1">
              <a:spcBef>
                <a:spcPct val="5000"/>
              </a:spcBef>
              <a:spcAft>
                <a:spcPct val="0"/>
              </a:spcAft>
              <a:buClr>
                <a:schemeClr val="tx2"/>
              </a:buClr>
              <a:buSzPct val="85000"/>
              <a:buFont typeface="Wingdings" panose="05000000000000000000" pitchFamily="2" charset="2"/>
              <a:buChar char="v"/>
            </a:pPr>
            <a:r>
              <a:rPr lang="zh-CN" altLang="en-US" dirty="0">
                <a:solidFill>
                  <a:srgbClr val="FF3300"/>
                </a:solidFill>
                <a:latin typeface="Times New Roman" panose="02020603050405020304" pitchFamily="18" charset="0"/>
                <a:ea typeface="仿宋_GB2312" pitchFamily="49" charset="-122"/>
                <a:sym typeface="+mn-ea"/>
              </a:rPr>
              <a:t> 制品</a:t>
            </a:r>
            <a:r>
              <a:rPr lang="zh-CN" altLang="en-US" dirty="0">
                <a:latin typeface="Times New Roman" panose="02020603050405020304" pitchFamily="18" charset="0"/>
                <a:ea typeface="仿宋_GB2312" pitchFamily="49" charset="-122"/>
                <a:sym typeface="+mn-ea"/>
              </a:rPr>
              <a:t>：做什么（</a:t>
            </a:r>
            <a:r>
              <a:rPr lang="en-US" altLang="zh-CN" dirty="0">
                <a:solidFill>
                  <a:schemeClr val="hlink"/>
                </a:solidFill>
                <a:latin typeface="Times New Roman" panose="02020603050405020304" pitchFamily="18" charset="0"/>
                <a:ea typeface="仿宋_GB2312" pitchFamily="49" charset="-122"/>
                <a:sym typeface="+mn-ea"/>
              </a:rPr>
              <a:t>what</a:t>
            </a:r>
            <a:r>
              <a:rPr lang="zh-CN" altLang="en-US" dirty="0">
                <a:latin typeface="Times New Roman" panose="02020603050405020304" pitchFamily="18" charset="0"/>
                <a:ea typeface="仿宋_GB2312" pitchFamily="49" charset="-122"/>
                <a:sym typeface="+mn-ea"/>
              </a:rPr>
              <a:t>）</a:t>
            </a:r>
            <a:endParaRPr lang="zh-CN" altLang="en-US" b="1" dirty="0">
              <a:solidFill>
                <a:schemeClr val="tx1"/>
              </a:solidFill>
              <a:latin typeface="Times New Roman" panose="02020603050405020304" pitchFamily="18" charset="0"/>
              <a:ea typeface="仿宋_GB2312" pitchFamily="49" charset="-122"/>
            </a:endParaRPr>
          </a:p>
          <a:p>
            <a:pPr marL="630555" lvl="1" indent="-173355" algn="l" rtl="0" eaLnBrk="1" fontAlgn="base" hangingPunct="1">
              <a:spcBef>
                <a:spcPct val="5000"/>
              </a:spcBef>
              <a:spcAft>
                <a:spcPct val="0"/>
              </a:spcAft>
              <a:buClr>
                <a:schemeClr val="tx2"/>
              </a:buClr>
              <a:buSzPct val="85000"/>
              <a:buFont typeface="Wingdings" panose="05000000000000000000" pitchFamily="2" charset="2"/>
              <a:buChar char="v"/>
            </a:pPr>
            <a:r>
              <a:rPr lang="zh-CN" altLang="en-US" dirty="0">
                <a:solidFill>
                  <a:srgbClr val="FF3300"/>
                </a:solidFill>
                <a:latin typeface="Times New Roman" panose="02020603050405020304" pitchFamily="18" charset="0"/>
                <a:ea typeface="仿宋_GB2312" pitchFamily="49" charset="-122"/>
                <a:sym typeface="+mn-ea"/>
              </a:rPr>
              <a:t> 工作流</a:t>
            </a:r>
            <a:r>
              <a:rPr lang="zh-CN" altLang="en-US" dirty="0">
                <a:latin typeface="Times New Roman" panose="02020603050405020304" pitchFamily="18" charset="0"/>
                <a:ea typeface="仿宋_GB2312" pitchFamily="49" charset="-122"/>
                <a:sym typeface="+mn-ea"/>
              </a:rPr>
              <a:t>：何时做（</a:t>
            </a:r>
            <a:r>
              <a:rPr lang="en-US" altLang="zh-CN" dirty="0">
                <a:solidFill>
                  <a:schemeClr val="hlink"/>
                </a:solidFill>
                <a:latin typeface="Times New Roman" panose="02020603050405020304" pitchFamily="18" charset="0"/>
                <a:ea typeface="仿宋_GB2312" pitchFamily="49" charset="-122"/>
                <a:sym typeface="+mn-ea"/>
              </a:rPr>
              <a:t>when</a:t>
            </a:r>
            <a:r>
              <a:rPr lang="zh-CN" altLang="en-US" dirty="0">
                <a:latin typeface="Times New Roman" panose="02020603050405020304" pitchFamily="18" charset="0"/>
                <a:ea typeface="仿宋_GB2312" pitchFamily="49" charset="-122"/>
                <a:sym typeface="+mn-ea"/>
              </a:rPr>
              <a:t>）</a:t>
            </a:r>
            <a:endParaRPr lang="zh-CN" altLang="en-US" b="1" dirty="0">
              <a:solidFill>
                <a:schemeClr val="tx1"/>
              </a:solidFill>
              <a:latin typeface="Times New Roman" panose="02020603050405020304" pitchFamily="18" charset="0"/>
              <a:ea typeface="仿宋_GB2312" pitchFamily="49" charset="-122"/>
            </a:endParaRPr>
          </a:p>
          <a:p>
            <a:pPr eaLnBrk="1" hangingPunct="1">
              <a:lnSpc>
                <a:spcPct val="110000"/>
              </a:lnSpc>
            </a:pPr>
            <a:r>
              <a:rPr lang="zh-CN" altLang="en-US" dirty="0">
                <a:sym typeface="+mn-ea"/>
              </a:rPr>
              <a:t>过程的中心概念是</a:t>
            </a:r>
            <a:r>
              <a:rPr lang="zh-CN" altLang="en-US" dirty="0">
                <a:solidFill>
                  <a:srgbClr val="8F0F34"/>
                </a:solidFill>
                <a:sym typeface="+mn-ea"/>
              </a:rPr>
              <a:t>工作人员</a:t>
            </a:r>
            <a:r>
              <a:rPr lang="zh-CN" altLang="en-US" dirty="0">
                <a:sym typeface="+mn-ea"/>
              </a:rPr>
              <a:t>。工作人员不是指某一个人，而是指完成工作的</a:t>
            </a:r>
            <a:r>
              <a:rPr lang="zh-CN" altLang="en-US" dirty="0">
                <a:solidFill>
                  <a:srgbClr val="8F0F34"/>
                </a:solidFill>
                <a:sym typeface="+mn-ea"/>
              </a:rPr>
              <a:t>角色</a:t>
            </a:r>
            <a:r>
              <a:rPr lang="zh-CN" altLang="en-US" dirty="0">
                <a:sym typeface="+mn-ea"/>
              </a:rPr>
              <a:t>。</a:t>
            </a:r>
            <a:endParaRPr lang="zh-CN" altLang="en-US" dirty="0"/>
          </a:p>
          <a:p>
            <a:pPr eaLnBrk="1" hangingPunct="1">
              <a:lnSpc>
                <a:spcPct val="110000"/>
              </a:lnSpc>
            </a:pPr>
            <a:r>
              <a:rPr lang="zh-CN" altLang="en-US" dirty="0">
                <a:sym typeface="+mn-ea"/>
              </a:rPr>
              <a:t>工作人员定义人们应履行的行为和职责。通常。用活动描述行为，用制品衡量职责。</a:t>
            </a:r>
            <a:endParaRPr lang="zh-CN" altLang="en-US" dirty="0"/>
          </a:p>
          <a:p>
            <a:pPr eaLnBrk="1" hangingPunct="1">
              <a:lnSpc>
                <a:spcPct val="110000"/>
              </a:lnSpc>
            </a:pPr>
            <a:r>
              <a:rPr lang="zh-CN" altLang="en-US" dirty="0">
                <a:sym typeface="+mn-ea"/>
              </a:rPr>
              <a:t>一个人可以扮演一个或多个角色。在过程中，可以是系统分析员、设计师、用例设计师、测试设计师等。</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0" indent="0" eaLnBrk="1" hangingPunct="1">
              <a:buNone/>
            </a:pPr>
            <a:r>
              <a:rPr lang="zh-CN" altLang="en-US" dirty="0">
                <a:solidFill>
                  <a:srgbClr val="FF0000"/>
                </a:solidFill>
                <a:latin typeface="华文新魏" panose="02010800040101010101" pitchFamily="2" charset="-122"/>
                <a:sym typeface="+mn-ea"/>
              </a:rPr>
              <a:t>过程的静态描述：过程模型</a:t>
            </a:r>
            <a:endParaRPr lang="zh-CN" altLang="en-US" dirty="0">
              <a:solidFill>
                <a:srgbClr val="FF0000"/>
              </a:solidFill>
              <a:latin typeface="华文新魏" panose="02010800040101010101" pitchFamily="2" charset="-122"/>
              <a:sym typeface="+mn-ea"/>
            </a:endParaRPr>
          </a:p>
          <a:p>
            <a:pPr eaLnBrk="1" hangingPunct="1">
              <a:lnSpc>
                <a:spcPct val="105000"/>
              </a:lnSpc>
              <a:spcBef>
                <a:spcPct val="15000"/>
              </a:spcBef>
            </a:pPr>
            <a:r>
              <a:rPr lang="zh-CN" altLang="en-US" dirty="0">
                <a:sym typeface="+mn-ea"/>
              </a:rPr>
              <a:t>活动定义了工作人员所执行的工作。</a:t>
            </a:r>
            <a:endParaRPr lang="zh-CN" altLang="en-US" dirty="0"/>
          </a:p>
          <a:p>
            <a:pPr eaLnBrk="1" hangingPunct="1">
              <a:lnSpc>
                <a:spcPct val="105000"/>
              </a:lnSpc>
              <a:spcBef>
                <a:spcPct val="15000"/>
              </a:spcBef>
            </a:pPr>
            <a:r>
              <a:rPr lang="zh-CN" altLang="en-US" dirty="0">
                <a:solidFill>
                  <a:srgbClr val="FF0000"/>
                </a:solidFill>
                <a:sym typeface="+mn-ea"/>
              </a:rPr>
              <a:t>活动</a:t>
            </a:r>
            <a:r>
              <a:rPr lang="zh-CN" altLang="en-US" dirty="0">
                <a:sym typeface="+mn-ea"/>
              </a:rPr>
              <a:t>有明确的目的，通常是</a:t>
            </a:r>
            <a:r>
              <a:rPr lang="zh-CN" altLang="en-US" dirty="0">
                <a:solidFill>
                  <a:srgbClr val="FF0000"/>
                </a:solidFill>
                <a:sym typeface="+mn-ea"/>
              </a:rPr>
              <a:t>生产制品或更新制品</a:t>
            </a:r>
            <a:r>
              <a:rPr lang="zh-CN" altLang="en-US" dirty="0">
                <a:sym typeface="+mn-ea"/>
              </a:rPr>
              <a:t>（如模型、类或计划）。</a:t>
            </a:r>
            <a:endParaRPr lang="zh-CN" altLang="en-US" dirty="0"/>
          </a:p>
          <a:p>
            <a:pPr eaLnBrk="1" hangingPunct="1">
              <a:lnSpc>
                <a:spcPct val="105000"/>
              </a:lnSpc>
              <a:spcBef>
                <a:spcPct val="15000"/>
              </a:spcBef>
            </a:pPr>
            <a:r>
              <a:rPr lang="zh-CN" altLang="en-US" dirty="0">
                <a:sym typeface="+mn-ea"/>
              </a:rPr>
              <a:t>每一个活动都分配给特定的工作人员。</a:t>
            </a:r>
            <a:endParaRPr lang="zh-CN" altLang="en-US" dirty="0"/>
          </a:p>
          <a:p>
            <a:pPr eaLnBrk="1" hangingPunct="1">
              <a:lnSpc>
                <a:spcPct val="105000"/>
              </a:lnSpc>
              <a:spcBef>
                <a:spcPct val="15000"/>
              </a:spcBef>
            </a:pPr>
            <a:r>
              <a:rPr lang="zh-CN" altLang="en-US" dirty="0">
                <a:sym typeface="+mn-ea"/>
              </a:rPr>
              <a:t>为生成一个制品，可能会多次重复某些活动，特别是从一个迭代过程到下一个迭代过程，可以不断细化和扩展该制品。</a:t>
            </a:r>
            <a:endParaRPr lang="zh-CN" altLang="en-US" dirty="0"/>
          </a:p>
          <a:p>
            <a:pPr eaLnBrk="1" hangingPunct="1">
              <a:lnSpc>
                <a:spcPct val="105000"/>
              </a:lnSpc>
              <a:spcBef>
                <a:spcPct val="15000"/>
              </a:spcBef>
            </a:pPr>
            <a:r>
              <a:rPr lang="zh-CN" altLang="en-US" dirty="0">
                <a:sym typeface="+mn-ea"/>
              </a:rPr>
              <a:t>在面向对象方法中，把工作人员定义为对象，</a:t>
            </a:r>
            <a:r>
              <a:rPr lang="zh-CN" altLang="en-US" dirty="0">
                <a:solidFill>
                  <a:srgbClr val="FF0000"/>
                </a:solidFill>
                <a:sym typeface="+mn-ea"/>
              </a:rPr>
              <a:t>工作人员完成的活动就是对象执行的操作</a:t>
            </a:r>
            <a:r>
              <a:rPr lang="zh-CN" altLang="en-US" dirty="0">
                <a:sym typeface="+mn-ea"/>
              </a:rPr>
              <a:t>。</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eaLnBrk="1" hangingPunct="1">
              <a:lnSpc>
                <a:spcPct val="105000"/>
              </a:lnSpc>
              <a:spcBef>
                <a:spcPct val="10000"/>
              </a:spcBef>
            </a:pPr>
            <a:r>
              <a:rPr lang="zh-CN" altLang="en-US" dirty="0">
                <a:sym typeface="+mn-ea"/>
              </a:rPr>
              <a:t>制品是过程</a:t>
            </a:r>
            <a:r>
              <a:rPr lang="zh-CN" altLang="en-US" dirty="0">
                <a:solidFill>
                  <a:schemeClr val="hlink"/>
                </a:solidFill>
                <a:sym typeface="+mn-ea"/>
              </a:rPr>
              <a:t>生产</a:t>
            </a:r>
            <a:r>
              <a:rPr lang="zh-CN" altLang="en-US" dirty="0">
                <a:sym typeface="+mn-ea"/>
              </a:rPr>
              <a:t>、</a:t>
            </a:r>
            <a:r>
              <a:rPr lang="zh-CN" altLang="en-US" dirty="0">
                <a:solidFill>
                  <a:schemeClr val="hlink"/>
                </a:solidFill>
                <a:sym typeface="+mn-ea"/>
              </a:rPr>
              <a:t>修改</a:t>
            </a:r>
            <a:r>
              <a:rPr lang="zh-CN" altLang="en-US" dirty="0">
                <a:sym typeface="+mn-ea"/>
              </a:rPr>
              <a:t>或</a:t>
            </a:r>
            <a:r>
              <a:rPr lang="zh-CN" altLang="en-US" dirty="0">
                <a:solidFill>
                  <a:schemeClr val="hlink"/>
                </a:solidFill>
                <a:sym typeface="+mn-ea"/>
              </a:rPr>
              <a:t>使用</a:t>
            </a:r>
            <a:r>
              <a:rPr lang="zh-CN" altLang="en-US" dirty="0">
                <a:sym typeface="+mn-ea"/>
              </a:rPr>
              <a:t>的</a:t>
            </a:r>
            <a:r>
              <a:rPr lang="zh-CN" altLang="en-US" dirty="0">
                <a:solidFill>
                  <a:schemeClr val="hlink"/>
                </a:solidFill>
                <a:sym typeface="+mn-ea"/>
              </a:rPr>
              <a:t>一种信息</a:t>
            </a:r>
            <a:r>
              <a:rPr lang="zh-CN" altLang="en-US" dirty="0">
                <a:sym typeface="+mn-ea"/>
              </a:rPr>
              <a:t>。制品可分为输入制品和输出制品。</a:t>
            </a:r>
            <a:endParaRPr lang="zh-CN" altLang="en-US" dirty="0"/>
          </a:p>
          <a:p>
            <a:pPr eaLnBrk="1" hangingPunct="1">
              <a:lnSpc>
                <a:spcPct val="105000"/>
              </a:lnSpc>
              <a:spcBef>
                <a:spcPct val="10000"/>
              </a:spcBef>
            </a:pPr>
            <a:endParaRPr lang="zh-CN" altLang="en-US" dirty="0"/>
          </a:p>
          <a:p>
            <a:pPr eaLnBrk="1" hangingPunct="1">
              <a:lnSpc>
                <a:spcPct val="105000"/>
              </a:lnSpc>
              <a:spcBef>
                <a:spcPct val="10000"/>
              </a:spcBef>
            </a:pPr>
            <a:r>
              <a:rPr lang="zh-CN" altLang="en-US" dirty="0">
                <a:sym typeface="+mn-ea"/>
              </a:rPr>
              <a:t>在面向对象设计中，制品被当作活动的参数。</a:t>
            </a:r>
            <a:endParaRPr lang="zh-CN" altLang="en-US" dirty="0"/>
          </a:p>
          <a:p>
            <a:pPr eaLnBrk="1" hangingPunct="1">
              <a:lnSpc>
                <a:spcPct val="105000"/>
              </a:lnSpc>
              <a:spcBef>
                <a:spcPct val="10000"/>
              </a:spcBef>
            </a:pPr>
            <a:endParaRPr lang="zh-CN" altLang="en-US" dirty="0"/>
          </a:p>
          <a:p>
            <a:pPr eaLnBrk="1" hangingPunct="1">
              <a:lnSpc>
                <a:spcPct val="105000"/>
              </a:lnSpc>
              <a:spcBef>
                <a:spcPct val="10000"/>
              </a:spcBef>
            </a:pPr>
            <a:r>
              <a:rPr lang="zh-CN" altLang="en-US" dirty="0">
                <a:sym typeface="+mn-ea"/>
              </a:rPr>
              <a:t>制品有多种可能的形式，如：</a:t>
            </a:r>
            <a:endParaRPr lang="zh-CN" altLang="en-US" dirty="0"/>
          </a:p>
          <a:p>
            <a:pPr lvl="1" indent="-347345" eaLnBrk="1" hangingPunct="1">
              <a:lnSpc>
                <a:spcPct val="105000"/>
              </a:lnSpc>
              <a:spcBef>
                <a:spcPct val="10000"/>
              </a:spcBef>
              <a:buClr>
                <a:srgbClr val="00CC00"/>
              </a:buClr>
            </a:pPr>
            <a:r>
              <a:rPr lang="zh-CN" altLang="en-US" dirty="0">
                <a:solidFill>
                  <a:schemeClr val="hlink"/>
                </a:solidFill>
                <a:sym typeface="+mn-ea"/>
              </a:rPr>
              <a:t> </a:t>
            </a:r>
            <a:r>
              <a:rPr lang="zh-CN" altLang="en-US" dirty="0">
                <a:solidFill>
                  <a:srgbClr val="FF0000"/>
                </a:solidFill>
                <a:sym typeface="+mn-ea"/>
              </a:rPr>
              <a:t>模型 </a:t>
            </a:r>
            <a:r>
              <a:rPr lang="en-US" altLang="zh-CN" dirty="0">
                <a:sym typeface="+mn-ea"/>
              </a:rPr>
              <a:t>: </a:t>
            </a:r>
            <a:r>
              <a:rPr lang="zh-CN" altLang="en-US" dirty="0">
                <a:sym typeface="+mn-ea"/>
              </a:rPr>
              <a:t>如用例模型或设计模型；</a:t>
            </a:r>
            <a:endParaRPr lang="zh-CN" altLang="en-US" dirty="0"/>
          </a:p>
          <a:p>
            <a:pPr lvl="1" indent="-347345" eaLnBrk="1" hangingPunct="1">
              <a:lnSpc>
                <a:spcPct val="105000"/>
              </a:lnSpc>
              <a:spcBef>
                <a:spcPct val="10000"/>
              </a:spcBef>
              <a:buClr>
                <a:srgbClr val="00CC00"/>
              </a:buClr>
            </a:pPr>
            <a:r>
              <a:rPr lang="zh-CN" altLang="en-US" dirty="0">
                <a:solidFill>
                  <a:schemeClr val="hlink"/>
                </a:solidFill>
                <a:sym typeface="+mn-ea"/>
              </a:rPr>
              <a:t> </a:t>
            </a:r>
            <a:r>
              <a:rPr lang="zh-CN" altLang="en-US" dirty="0">
                <a:solidFill>
                  <a:srgbClr val="FF0000"/>
                </a:solidFill>
                <a:sym typeface="+mn-ea"/>
              </a:rPr>
              <a:t>模型元素</a:t>
            </a:r>
            <a:r>
              <a:rPr lang="zh-CN" altLang="en-US" dirty="0">
                <a:solidFill>
                  <a:schemeClr val="hlink"/>
                </a:solidFill>
                <a:sym typeface="+mn-ea"/>
              </a:rPr>
              <a:t> </a:t>
            </a:r>
            <a:r>
              <a:rPr lang="en-US" altLang="zh-CN" dirty="0">
                <a:sym typeface="+mn-ea"/>
              </a:rPr>
              <a:t>: </a:t>
            </a:r>
            <a:r>
              <a:rPr lang="zh-CN" altLang="en-US" dirty="0">
                <a:sym typeface="+mn-ea"/>
              </a:rPr>
              <a:t>如类、用例或子系统；</a:t>
            </a:r>
            <a:endParaRPr lang="zh-CN" altLang="en-US" dirty="0"/>
          </a:p>
          <a:p>
            <a:pPr lvl="1" indent="-347345" eaLnBrk="1" hangingPunct="1">
              <a:lnSpc>
                <a:spcPct val="105000"/>
              </a:lnSpc>
              <a:spcBef>
                <a:spcPct val="10000"/>
              </a:spcBef>
              <a:buClr>
                <a:srgbClr val="00CC00"/>
              </a:buClr>
            </a:pPr>
            <a:r>
              <a:rPr lang="zh-CN" altLang="en-US" dirty="0">
                <a:solidFill>
                  <a:schemeClr val="hlink"/>
                </a:solidFill>
                <a:sym typeface="+mn-ea"/>
              </a:rPr>
              <a:t> </a:t>
            </a:r>
            <a:r>
              <a:rPr lang="zh-CN" altLang="en-US" dirty="0">
                <a:solidFill>
                  <a:srgbClr val="FF0000"/>
                </a:solidFill>
                <a:sym typeface="+mn-ea"/>
              </a:rPr>
              <a:t>文档</a:t>
            </a:r>
            <a:r>
              <a:rPr lang="zh-CN" altLang="en-US" dirty="0">
                <a:solidFill>
                  <a:schemeClr val="hlink"/>
                </a:solidFill>
                <a:sym typeface="+mn-ea"/>
              </a:rPr>
              <a:t> </a:t>
            </a:r>
            <a:r>
              <a:rPr lang="en-US" altLang="zh-CN" dirty="0">
                <a:sym typeface="+mn-ea"/>
              </a:rPr>
              <a:t>: </a:t>
            </a:r>
            <a:r>
              <a:rPr lang="zh-CN" altLang="en-US" dirty="0">
                <a:sym typeface="+mn-ea"/>
              </a:rPr>
              <a:t>如一个业务用例或体系结构文档；</a:t>
            </a:r>
            <a:endParaRPr lang="zh-CN" altLang="en-US" dirty="0"/>
          </a:p>
          <a:p>
            <a:pPr lvl="1" indent="-347345" eaLnBrk="1" hangingPunct="1">
              <a:lnSpc>
                <a:spcPct val="105000"/>
              </a:lnSpc>
              <a:spcBef>
                <a:spcPct val="10000"/>
              </a:spcBef>
              <a:buClr>
                <a:srgbClr val="00CC00"/>
              </a:buClr>
            </a:pPr>
            <a:r>
              <a:rPr lang="zh-CN" altLang="en-US" dirty="0">
                <a:solidFill>
                  <a:schemeClr val="hlink"/>
                </a:solidFill>
                <a:sym typeface="+mn-ea"/>
              </a:rPr>
              <a:t> </a:t>
            </a:r>
            <a:r>
              <a:rPr lang="zh-CN" altLang="en-US" dirty="0">
                <a:solidFill>
                  <a:srgbClr val="FF0000"/>
                </a:solidFill>
                <a:sym typeface="+mn-ea"/>
              </a:rPr>
              <a:t>源代码</a:t>
            </a:r>
            <a:r>
              <a:rPr lang="zh-CN" altLang="en-US" dirty="0">
                <a:sym typeface="+mn-ea"/>
              </a:rPr>
              <a:t>；</a:t>
            </a:r>
            <a:endParaRPr lang="zh-CN" altLang="en-US" dirty="0"/>
          </a:p>
          <a:p>
            <a:pPr lvl="1" indent="-347345" eaLnBrk="1" hangingPunct="1">
              <a:lnSpc>
                <a:spcPct val="105000"/>
              </a:lnSpc>
              <a:spcBef>
                <a:spcPct val="10000"/>
              </a:spcBef>
              <a:buClr>
                <a:srgbClr val="00CC00"/>
              </a:buClr>
            </a:pPr>
            <a:r>
              <a:rPr lang="zh-CN" altLang="en-US" dirty="0">
                <a:solidFill>
                  <a:schemeClr val="hlink"/>
                </a:solidFill>
                <a:sym typeface="+mn-ea"/>
              </a:rPr>
              <a:t> </a:t>
            </a:r>
            <a:r>
              <a:rPr lang="zh-CN" altLang="en-US" dirty="0">
                <a:solidFill>
                  <a:srgbClr val="FF0000"/>
                </a:solidFill>
                <a:sym typeface="+mn-ea"/>
              </a:rPr>
              <a:t>可执行文件</a:t>
            </a:r>
            <a:r>
              <a:rPr lang="zh-CN" altLang="en-US" dirty="0">
                <a:sym typeface="+mn-ea"/>
              </a:rPr>
              <a:t>。</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609600" indent="-609600" eaLnBrk="1" hangingPunct="1">
              <a:lnSpc>
                <a:spcPct val="105000"/>
              </a:lnSpc>
              <a:spcBef>
                <a:spcPct val="10000"/>
              </a:spcBef>
            </a:pPr>
            <a:r>
              <a:rPr lang="zh-CN" altLang="en-US" dirty="0">
                <a:sym typeface="+mn-ea"/>
              </a:rPr>
              <a:t>工作流用来描述能够生成有用结果的活动序列，用以描述工作人员之间的交互。</a:t>
            </a:r>
            <a:endParaRPr lang="zh-CN" altLang="en-US" dirty="0"/>
          </a:p>
          <a:p>
            <a:pPr marL="609600" indent="-609600" eaLnBrk="1" hangingPunct="1">
              <a:lnSpc>
                <a:spcPct val="105000"/>
              </a:lnSpc>
              <a:spcBef>
                <a:spcPct val="10000"/>
              </a:spcBef>
            </a:pPr>
            <a:r>
              <a:rPr lang="zh-CN" altLang="en-US" dirty="0">
                <a:sym typeface="+mn-ea"/>
              </a:rPr>
              <a:t>一个工作流可以用顺序图、协作图或活动图来描述。</a:t>
            </a:r>
            <a:r>
              <a:rPr lang="en-US" altLang="zh-CN" dirty="0">
                <a:sym typeface="+mn-ea"/>
              </a:rPr>
              <a:t>RUP </a:t>
            </a:r>
            <a:r>
              <a:rPr lang="zh-CN" altLang="en-US" dirty="0">
                <a:sym typeface="+mn-ea"/>
              </a:rPr>
              <a:t>的工作流由下列方式组织：</a:t>
            </a:r>
            <a:endParaRPr lang="zh-CN" altLang="en-US" dirty="0">
              <a:sym typeface="+mn-ea"/>
            </a:endParaRPr>
          </a:p>
          <a:p>
            <a:pPr marL="609600" indent="-609600" eaLnBrk="1" hangingPunct="1">
              <a:lnSpc>
                <a:spcPct val="105000"/>
              </a:lnSpc>
              <a:spcBef>
                <a:spcPct val="10000"/>
              </a:spcBef>
            </a:pPr>
            <a:r>
              <a:rPr lang="en-US" altLang="zh-CN" dirty="0">
                <a:solidFill>
                  <a:srgbClr val="8F0F34"/>
                </a:solidFill>
                <a:latin typeface="Times New Roman" panose="02020603050405020304" pitchFamily="18" charset="0"/>
                <a:ea typeface="仿宋_GB2312" pitchFamily="49" charset="-122"/>
                <a:sym typeface="+mn-ea"/>
              </a:rPr>
              <a:t> </a:t>
            </a:r>
            <a:r>
              <a:rPr lang="zh-CN" altLang="en-US" dirty="0">
                <a:solidFill>
                  <a:srgbClr val="8F0F34"/>
                </a:solidFill>
                <a:latin typeface="Times New Roman" panose="02020603050405020304" pitchFamily="18" charset="0"/>
                <a:ea typeface="仿宋_GB2312" pitchFamily="49" charset="-122"/>
                <a:sym typeface="+mn-ea"/>
              </a:rPr>
              <a:t>核心工作流</a:t>
            </a:r>
            <a:endParaRPr lang="zh-CN" altLang="en-US" dirty="0">
              <a:solidFill>
                <a:srgbClr val="8F0F34"/>
              </a:solidFill>
              <a:latin typeface="Times New Roman" panose="02020603050405020304" pitchFamily="18" charset="0"/>
              <a:ea typeface="仿宋_GB2312" pitchFamily="49" charset="-122"/>
              <a:sym typeface="+mn-ea"/>
            </a:endParaRPr>
          </a:p>
          <a:p>
            <a:pPr marL="609600" indent="-609600" eaLnBrk="1" hangingPunct="1">
              <a:lnSpc>
                <a:spcPct val="105000"/>
              </a:lnSpc>
              <a:spcBef>
                <a:spcPct val="10000"/>
              </a:spcBef>
            </a:pPr>
            <a:r>
              <a:rPr lang="zh-CN" altLang="en-US" dirty="0">
                <a:solidFill>
                  <a:srgbClr val="8F0F34"/>
                </a:solidFill>
                <a:latin typeface="Times New Roman" panose="02020603050405020304" pitchFamily="18" charset="0"/>
                <a:ea typeface="仿宋_GB2312" pitchFamily="49" charset="-122"/>
                <a:sym typeface="+mn-ea"/>
              </a:rPr>
              <a:t> 工作流细节</a:t>
            </a:r>
            <a:endParaRPr lang="zh-CN" altLang="en-US" b="1" dirty="0">
              <a:solidFill>
                <a:srgbClr val="8F0F34"/>
              </a:solidFill>
              <a:latin typeface="Times New Roman" panose="02020603050405020304" pitchFamily="18" charset="0"/>
              <a:ea typeface="仿宋_GB2312" pitchFamily="49" charset="-122"/>
              <a:sym typeface="+mn-ea"/>
            </a:endParaRPr>
          </a:p>
          <a:p>
            <a:pPr marL="609600" indent="-609600" eaLnBrk="1" hangingPunct="1">
              <a:lnSpc>
                <a:spcPct val="105000"/>
              </a:lnSpc>
              <a:spcBef>
                <a:spcPct val="10000"/>
              </a:spcBef>
            </a:pPr>
            <a:r>
              <a:rPr lang="zh-CN" altLang="en-US" dirty="0">
                <a:solidFill>
                  <a:srgbClr val="8F0F34"/>
                </a:solidFill>
                <a:latin typeface="Times New Roman" panose="02020603050405020304" pitchFamily="18" charset="0"/>
                <a:ea typeface="仿宋_GB2312" pitchFamily="49" charset="-122"/>
                <a:sym typeface="+mn-ea"/>
              </a:rPr>
              <a:t> 迭代计划</a:t>
            </a:r>
            <a:endParaRPr lang="zh-CN" altLang="en-US" b="1" dirty="0">
              <a:solidFill>
                <a:srgbClr val="8F0F34"/>
              </a:solidFill>
              <a:latin typeface="Times New Roman" panose="02020603050405020304" pitchFamily="18" charset="0"/>
              <a:ea typeface="仿宋_GB2312" pitchFamily="49" charset="-122"/>
            </a:endParaRPr>
          </a:p>
          <a:p>
            <a:pPr marL="609600" indent="-609600" eaLnBrk="1" hangingPunct="1">
              <a:lnSpc>
                <a:spcPct val="105000"/>
              </a:lnSpc>
              <a:spcBef>
                <a:spcPct val="10000"/>
              </a:spcBef>
            </a:pP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eaLnBrk="1" hangingPunct="1">
              <a:lnSpc>
                <a:spcPct val="110000"/>
              </a:lnSpc>
              <a:spcBef>
                <a:spcPct val="15000"/>
              </a:spcBef>
            </a:pPr>
            <a:r>
              <a:rPr lang="zh-CN" altLang="en-US" dirty="0">
                <a:sym typeface="+mn-ea"/>
              </a:rPr>
              <a:t>在 </a:t>
            </a:r>
            <a:r>
              <a:rPr lang="en-US" altLang="zh-CN" dirty="0">
                <a:sym typeface="+mn-ea"/>
              </a:rPr>
              <a:t>RUP </a:t>
            </a:r>
            <a:r>
              <a:rPr lang="zh-CN" altLang="en-US" dirty="0">
                <a:sym typeface="+mn-ea"/>
              </a:rPr>
              <a:t>中共有 </a:t>
            </a:r>
            <a:r>
              <a:rPr lang="en-US" altLang="zh-CN" dirty="0">
                <a:sym typeface="+mn-ea"/>
              </a:rPr>
              <a:t>9 </a:t>
            </a:r>
            <a:r>
              <a:rPr lang="zh-CN" altLang="en-US" dirty="0">
                <a:sym typeface="+mn-ea"/>
              </a:rPr>
              <a:t>个核心工作流。它们将所有工作人员和活动进行逻辑分组。</a:t>
            </a:r>
            <a:endParaRPr lang="zh-CN" altLang="en-US" dirty="0"/>
          </a:p>
          <a:p>
            <a:pPr eaLnBrk="1" hangingPunct="1">
              <a:lnSpc>
                <a:spcPct val="110000"/>
              </a:lnSpc>
              <a:spcBef>
                <a:spcPct val="15000"/>
              </a:spcBef>
            </a:pPr>
            <a:r>
              <a:rPr lang="zh-CN" altLang="en-US" dirty="0">
                <a:sym typeface="+mn-ea"/>
              </a:rPr>
              <a:t>核心工作流分为 </a:t>
            </a:r>
            <a:r>
              <a:rPr lang="en-US" altLang="zh-CN" dirty="0">
                <a:sym typeface="+mn-ea"/>
              </a:rPr>
              <a:t>6 </a:t>
            </a:r>
            <a:r>
              <a:rPr lang="zh-CN" altLang="en-US" dirty="0">
                <a:sym typeface="+mn-ea"/>
              </a:rPr>
              <a:t>个核心工程工作流和 </a:t>
            </a:r>
            <a:r>
              <a:rPr lang="en-US" altLang="zh-CN" dirty="0">
                <a:sym typeface="+mn-ea"/>
              </a:rPr>
              <a:t>3 </a:t>
            </a:r>
            <a:r>
              <a:rPr lang="zh-CN" altLang="en-US" dirty="0">
                <a:sym typeface="+mn-ea"/>
              </a:rPr>
              <a:t>个核心支持工作流。</a:t>
            </a:r>
            <a:endParaRPr lang="zh-CN" altLang="en-US" dirty="0"/>
          </a:p>
          <a:p>
            <a:pPr eaLnBrk="1" hangingPunct="1">
              <a:lnSpc>
                <a:spcPct val="110000"/>
              </a:lnSpc>
              <a:spcBef>
                <a:spcPct val="15000"/>
              </a:spcBef>
            </a:pPr>
            <a:r>
              <a:rPr lang="zh-CN" altLang="en-US" dirty="0">
                <a:solidFill>
                  <a:srgbClr val="8F0F34"/>
                </a:solidFill>
                <a:sym typeface="+mn-ea"/>
              </a:rPr>
              <a:t>核心工程工作流</a:t>
            </a:r>
            <a:r>
              <a:rPr lang="zh-CN" altLang="en-US" dirty="0">
                <a:sym typeface="+mn-ea"/>
              </a:rPr>
              <a:t>有：业务建模工作流、需求工作流、分析和设计工作流、实现工作流、测试工作流、实施工作流。</a:t>
            </a:r>
            <a:endParaRPr lang="zh-CN" altLang="en-US" dirty="0"/>
          </a:p>
          <a:p>
            <a:pPr eaLnBrk="1" hangingPunct="1">
              <a:lnSpc>
                <a:spcPct val="110000"/>
              </a:lnSpc>
              <a:spcBef>
                <a:spcPct val="15000"/>
              </a:spcBef>
            </a:pPr>
            <a:r>
              <a:rPr lang="zh-CN" altLang="en-US" dirty="0">
                <a:solidFill>
                  <a:srgbClr val="8F0F34"/>
                </a:solidFill>
                <a:sym typeface="+mn-ea"/>
              </a:rPr>
              <a:t>核心支持工作流</a:t>
            </a:r>
            <a:r>
              <a:rPr lang="zh-CN" altLang="en-US" dirty="0">
                <a:sym typeface="+mn-ea"/>
              </a:rPr>
              <a:t>有：项目管理工作流、配置和变更管理工作流、环境工作流。</a:t>
            </a:r>
            <a:endParaRPr lang="zh-CN" altLang="en-US" dirty="0">
              <a:sym typeface="+mn-ea"/>
            </a:endParaRPr>
          </a:p>
          <a:p>
            <a:pPr eaLnBrk="1" hangingPunct="1">
              <a:lnSpc>
                <a:spcPct val="110000"/>
              </a:lnSpc>
              <a:spcBef>
                <a:spcPct val="15000"/>
              </a:spcBef>
            </a:pPr>
            <a:r>
              <a:rPr lang="zh-CN" altLang="en-US" dirty="0">
                <a:latin typeface="Times New Roman" panose="02020603050405020304" pitchFamily="18" charset="0"/>
                <a:ea typeface="仿宋_GB2312" pitchFamily="49" charset="-122"/>
                <a:sym typeface="+mn-ea"/>
              </a:rPr>
              <a:t>在一个项目中这些核心工作流</a:t>
            </a:r>
            <a:r>
              <a:rPr lang="zh-CN" altLang="en-US" dirty="0">
                <a:solidFill>
                  <a:srgbClr val="FF0000"/>
                </a:solidFill>
                <a:latin typeface="Times New Roman" panose="02020603050405020304" pitchFamily="18" charset="0"/>
                <a:ea typeface="仿宋_GB2312" pitchFamily="49" charset="-122"/>
                <a:sym typeface="+mn-ea"/>
              </a:rPr>
              <a:t>在每一次迭代中重复发生</a:t>
            </a:r>
            <a:r>
              <a:rPr lang="zh-CN" altLang="en-US" dirty="0">
                <a:latin typeface="Times New Roman" panose="02020603050405020304" pitchFamily="18" charset="0"/>
                <a:ea typeface="仿宋_GB2312" pitchFamily="49" charset="-122"/>
                <a:sym typeface="+mn-ea"/>
              </a:rPr>
              <a:t>。</a:t>
            </a:r>
            <a:endParaRPr lang="zh-CN" altLang="en-US" b="1" dirty="0">
              <a:latin typeface="Times New Roman" panose="02020603050405020304" pitchFamily="18" charset="0"/>
              <a:ea typeface="仿宋_GB2312" pitchFamily="49" charset="-122"/>
            </a:endParaRPr>
          </a:p>
          <a:p>
            <a:pPr eaLnBrk="1" hangingPunct="1">
              <a:lnSpc>
                <a:spcPct val="110000"/>
              </a:lnSpc>
              <a:spcBef>
                <a:spcPct val="15000"/>
              </a:spcBef>
            </a:pP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0" indent="0" eaLnBrk="1" hangingPunct="1">
              <a:lnSpc>
                <a:spcPct val="105000"/>
              </a:lnSpc>
              <a:buNone/>
            </a:pPr>
            <a:r>
              <a:rPr lang="zh-CN" altLang="en-US" dirty="0">
                <a:sym typeface="+mn-ea"/>
              </a:rPr>
              <a:t>工作流细节</a:t>
            </a:r>
            <a:endParaRPr lang="zh-CN" altLang="en-US" dirty="0">
              <a:sym typeface="+mn-ea"/>
            </a:endParaRPr>
          </a:p>
          <a:p>
            <a:pPr eaLnBrk="1" hangingPunct="1">
              <a:lnSpc>
                <a:spcPct val="105000"/>
              </a:lnSpc>
            </a:pPr>
            <a:r>
              <a:rPr lang="zh-CN" altLang="en-US" dirty="0">
                <a:sym typeface="+mn-ea"/>
              </a:rPr>
              <a:t>每个核心工作流覆盖多个领域。为了将工作流细化， </a:t>
            </a:r>
            <a:r>
              <a:rPr lang="en-US" altLang="zh-CN" dirty="0">
                <a:sym typeface="+mn-ea"/>
              </a:rPr>
              <a:t>RUP </a:t>
            </a:r>
            <a:r>
              <a:rPr lang="zh-CN" altLang="en-US" dirty="0">
                <a:solidFill>
                  <a:srgbClr val="FF0000"/>
                </a:solidFill>
                <a:sym typeface="+mn-ea"/>
              </a:rPr>
              <a:t>用工作流细节描述与工作流联系紧密的一组特定的活动</a:t>
            </a:r>
            <a:r>
              <a:rPr lang="zh-CN" altLang="en-US" dirty="0">
                <a:sym typeface="+mn-ea"/>
              </a:rPr>
              <a:t>。</a:t>
            </a:r>
            <a:endParaRPr lang="zh-CN" altLang="en-US" dirty="0"/>
          </a:p>
          <a:p>
            <a:pPr eaLnBrk="1" hangingPunct="1">
              <a:lnSpc>
                <a:spcPct val="105000"/>
              </a:lnSpc>
            </a:pPr>
            <a:endParaRPr lang="zh-CN" altLang="en-US" dirty="0"/>
          </a:p>
          <a:p>
            <a:pPr eaLnBrk="1" hangingPunct="1">
              <a:lnSpc>
                <a:spcPct val="105000"/>
              </a:lnSpc>
            </a:pPr>
            <a:r>
              <a:rPr lang="zh-CN" altLang="en-US" dirty="0">
                <a:sym typeface="+mn-ea"/>
              </a:rPr>
              <a:t>工作流细节还要描述伴随的</a:t>
            </a:r>
            <a:r>
              <a:rPr lang="zh-CN" altLang="en-US" dirty="0">
                <a:solidFill>
                  <a:srgbClr val="FF0000"/>
                </a:solidFill>
                <a:sym typeface="+mn-ea"/>
              </a:rPr>
              <a:t>信息流</a:t>
            </a:r>
            <a:r>
              <a:rPr lang="zh-CN" altLang="en-US" dirty="0">
                <a:sym typeface="+mn-ea"/>
              </a:rPr>
              <a:t>，即活动的输入或输出制品，给出活动在不同制品之间是如何交互作用的。</a:t>
            </a:r>
            <a:endParaRPr lang="zh-CN" altLang="en-US" dirty="0"/>
          </a:p>
          <a:p>
            <a:pPr eaLnBrk="1" hangingPunct="1">
              <a:lnSpc>
                <a:spcPct val="110000"/>
              </a:lnSpc>
              <a:spcBef>
                <a:spcPct val="15000"/>
              </a:spcBef>
            </a:pP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0" indent="0" eaLnBrk="1" hangingPunct="1">
              <a:lnSpc>
                <a:spcPct val="105000"/>
              </a:lnSpc>
              <a:buNone/>
            </a:pPr>
            <a:r>
              <a:rPr lang="zh-CN" altLang="en-US" dirty="0">
                <a:sym typeface="+mn-ea"/>
              </a:rPr>
              <a:t>迭代计划</a:t>
            </a:r>
            <a:endParaRPr lang="zh-CN" altLang="en-US" dirty="0">
              <a:sym typeface="+mn-ea"/>
            </a:endParaRPr>
          </a:p>
          <a:p>
            <a:pPr eaLnBrk="1" hangingPunct="1">
              <a:lnSpc>
                <a:spcPct val="110000"/>
              </a:lnSpc>
              <a:spcBef>
                <a:spcPct val="5000"/>
              </a:spcBef>
            </a:pPr>
            <a:r>
              <a:rPr lang="zh-CN" altLang="en-US" dirty="0">
                <a:sym typeface="+mn-ea"/>
              </a:rPr>
              <a:t>迭代计划根据某一迭代过程中要完成的典型活动，结合将要处理的问题，更加详细地描述过程。主要内容有：</a:t>
            </a:r>
            <a:endParaRPr lang="zh-CN" altLang="en-US" dirty="0"/>
          </a:p>
          <a:p>
            <a:pPr eaLnBrk="1" hangingPunct="1">
              <a:lnSpc>
                <a:spcPct val="110000"/>
              </a:lnSpc>
              <a:spcBef>
                <a:spcPct val="5000"/>
              </a:spcBef>
            </a:pPr>
            <a:endParaRPr lang="zh-CN" altLang="en-US" dirty="0"/>
          </a:p>
          <a:p>
            <a:pPr lvl="1" indent="-347345" eaLnBrk="1" hangingPunct="1">
              <a:lnSpc>
                <a:spcPct val="110000"/>
              </a:lnSpc>
              <a:spcBef>
                <a:spcPct val="5000"/>
              </a:spcBef>
              <a:buClr>
                <a:srgbClr val="800080"/>
              </a:buClr>
              <a:buBlip>
                <a:blip r:embed="rId1"/>
              </a:buBlip>
            </a:pPr>
            <a:r>
              <a:rPr lang="zh-CN" altLang="en-US" dirty="0">
                <a:solidFill>
                  <a:srgbClr val="FF0000"/>
                </a:solidFill>
                <a:sym typeface="+mn-ea"/>
              </a:rPr>
              <a:t>时间分配</a:t>
            </a:r>
            <a:r>
              <a:rPr lang="zh-CN" altLang="en-US" dirty="0">
                <a:sym typeface="+mn-ea"/>
              </a:rPr>
              <a:t>：迭代进度表；</a:t>
            </a:r>
            <a:endParaRPr lang="zh-CN" altLang="en-US" dirty="0"/>
          </a:p>
          <a:p>
            <a:pPr lvl="1" indent="-347345" eaLnBrk="1" hangingPunct="1">
              <a:lnSpc>
                <a:spcPct val="110000"/>
              </a:lnSpc>
              <a:spcBef>
                <a:spcPct val="5000"/>
              </a:spcBef>
              <a:buClr>
                <a:srgbClr val="800080"/>
              </a:buClr>
              <a:buBlip>
                <a:blip r:embed="rId1"/>
              </a:buBlip>
            </a:pPr>
            <a:r>
              <a:rPr lang="zh-CN" altLang="en-US" dirty="0">
                <a:solidFill>
                  <a:srgbClr val="FF0000"/>
                </a:solidFill>
                <a:sym typeface="+mn-ea"/>
              </a:rPr>
              <a:t>迭代内容</a:t>
            </a:r>
            <a:r>
              <a:rPr lang="zh-CN" altLang="en-US" dirty="0">
                <a:sym typeface="+mn-ea"/>
              </a:rPr>
              <a:t>：分配活动和工作人员：</a:t>
            </a:r>
            <a:endParaRPr lang="zh-CN" altLang="en-US" dirty="0"/>
          </a:p>
          <a:p>
            <a:pPr lvl="2" indent="-293370" eaLnBrk="1" hangingPunct="1">
              <a:lnSpc>
                <a:spcPct val="110000"/>
              </a:lnSpc>
              <a:spcBef>
                <a:spcPct val="5000"/>
              </a:spcBef>
              <a:buClr>
                <a:srgbClr val="800080"/>
              </a:buClr>
              <a:buSzPct val="85000"/>
              <a:buFont typeface="Wingdings" panose="05000000000000000000" pitchFamily="2" charset="2"/>
              <a:buChar char="v"/>
            </a:pPr>
            <a:r>
              <a:rPr lang="zh-CN" altLang="en-US" dirty="0">
                <a:sym typeface="+mn-ea"/>
              </a:rPr>
              <a:t>迭代期间完成哪些用例；</a:t>
            </a:r>
            <a:endParaRPr lang="zh-CN" altLang="en-US" dirty="0"/>
          </a:p>
          <a:p>
            <a:pPr lvl="2" indent="-293370" eaLnBrk="1" hangingPunct="1">
              <a:lnSpc>
                <a:spcPct val="110000"/>
              </a:lnSpc>
              <a:spcBef>
                <a:spcPct val="5000"/>
              </a:spcBef>
              <a:buClr>
                <a:srgbClr val="800080"/>
              </a:buClr>
              <a:buSzPct val="85000"/>
              <a:buFont typeface="Wingdings" panose="05000000000000000000" pitchFamily="2" charset="2"/>
              <a:buChar char="v"/>
            </a:pPr>
            <a:r>
              <a:rPr lang="zh-CN" altLang="en-US" dirty="0">
                <a:sym typeface="+mn-ea"/>
              </a:rPr>
              <a:t>识别技术风险并转化为用例，缓解策略；</a:t>
            </a:r>
            <a:endParaRPr lang="zh-CN" altLang="en-US" dirty="0"/>
          </a:p>
          <a:p>
            <a:pPr lvl="2" indent="-293370" eaLnBrk="1" hangingPunct="1">
              <a:lnSpc>
                <a:spcPct val="110000"/>
              </a:lnSpc>
              <a:spcBef>
                <a:spcPct val="5000"/>
              </a:spcBef>
              <a:buClr>
                <a:srgbClr val="800080"/>
              </a:buClr>
              <a:buSzPct val="85000"/>
              <a:buFont typeface="Wingdings" panose="05000000000000000000" pitchFamily="2" charset="2"/>
              <a:buChar char="v"/>
            </a:pPr>
            <a:r>
              <a:rPr lang="zh-CN" altLang="en-US" dirty="0">
                <a:sym typeface="+mn-ea"/>
              </a:rPr>
              <a:t>部分或完整地实现哪一个子系统。</a:t>
            </a:r>
            <a:endParaRPr lang="zh-CN" altLang="en-US" dirty="0"/>
          </a:p>
          <a:p>
            <a:pPr lvl="1" indent="-347345" eaLnBrk="1" hangingPunct="1">
              <a:lnSpc>
                <a:spcPct val="110000"/>
              </a:lnSpc>
              <a:spcBef>
                <a:spcPct val="5000"/>
              </a:spcBef>
              <a:buClr>
                <a:srgbClr val="800080"/>
              </a:buClr>
              <a:buBlip>
                <a:blip r:embed="rId1"/>
              </a:buBlip>
            </a:pPr>
            <a:r>
              <a:rPr lang="zh-CN" altLang="en-US" dirty="0">
                <a:solidFill>
                  <a:srgbClr val="FF0000"/>
                </a:solidFill>
                <a:sym typeface="+mn-ea"/>
              </a:rPr>
              <a:t>次要里程碑</a:t>
            </a:r>
            <a:r>
              <a:rPr lang="zh-CN" altLang="en-US" dirty="0">
                <a:sym typeface="+mn-ea"/>
              </a:rPr>
              <a:t>：达到预先制定的标准。</a:t>
            </a:r>
            <a:endParaRPr lang="zh-CN" altLang="en-US" dirty="0"/>
          </a:p>
          <a:p>
            <a:pPr eaLnBrk="1" hangingPunct="1">
              <a:lnSpc>
                <a:spcPct val="110000"/>
              </a:lnSpc>
              <a:spcBef>
                <a:spcPct val="15000"/>
              </a:spcBef>
            </a:pP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609600" indent="-609600" eaLnBrk="1" hangingPunct="1">
              <a:lnSpc>
                <a:spcPct val="110000"/>
              </a:lnSpc>
              <a:spcBef>
                <a:spcPct val="10000"/>
              </a:spcBef>
            </a:pPr>
            <a:r>
              <a:rPr lang="zh-CN" altLang="en-US" dirty="0">
                <a:sym typeface="+mn-ea"/>
              </a:rPr>
              <a:t>以往人们常采用</a:t>
            </a:r>
            <a:r>
              <a:rPr lang="zh-CN" altLang="en-US" dirty="0">
                <a:solidFill>
                  <a:srgbClr val="000099"/>
                </a:solidFill>
                <a:sym typeface="+mn-ea"/>
              </a:rPr>
              <a:t>顺序开发过程</a:t>
            </a:r>
            <a:r>
              <a:rPr lang="zh-CN" altLang="en-US" dirty="0">
                <a:sym typeface="+mn-ea"/>
              </a:rPr>
              <a:t>，即瀑布模型，其步骤为：</a:t>
            </a:r>
            <a:endParaRPr lang="zh-CN" altLang="en-US" dirty="0"/>
          </a:p>
          <a:p>
            <a:pPr marL="609600" indent="-609600" eaLnBrk="1" hangingPunct="1">
              <a:lnSpc>
                <a:spcPct val="110000"/>
              </a:lnSpc>
              <a:spcBef>
                <a:spcPct val="10000"/>
              </a:spcBef>
            </a:pPr>
            <a:endParaRPr lang="zh-CN" altLang="en-US" dirty="0"/>
          </a:p>
          <a:p>
            <a:pPr marL="990600" lvl="1" indent="-645795" eaLnBrk="1" hangingPunct="1">
              <a:lnSpc>
                <a:spcPct val="110000"/>
              </a:lnSpc>
              <a:spcBef>
                <a:spcPct val="10000"/>
              </a:spcBef>
              <a:buClr>
                <a:srgbClr val="FF0000"/>
              </a:buClr>
              <a:buSzTx/>
              <a:buFontTx/>
              <a:buAutoNum type="arabicParenR"/>
            </a:pPr>
            <a:r>
              <a:rPr lang="zh-CN" altLang="en-US" dirty="0">
                <a:sym typeface="+mn-ea"/>
              </a:rPr>
              <a:t>完全理解要解决的问题，规定对目标软件的需求和约束，准确描述它们；</a:t>
            </a:r>
            <a:endParaRPr lang="zh-CN" altLang="en-US" dirty="0"/>
          </a:p>
          <a:p>
            <a:pPr marL="990600" lvl="1" indent="-645795" eaLnBrk="1" hangingPunct="1">
              <a:lnSpc>
                <a:spcPct val="110000"/>
              </a:lnSpc>
              <a:spcBef>
                <a:spcPct val="10000"/>
              </a:spcBef>
              <a:buClr>
                <a:srgbClr val="FF0000"/>
              </a:buClr>
              <a:buSzTx/>
              <a:buFontTx/>
              <a:buAutoNum type="arabicParenR"/>
            </a:pPr>
            <a:r>
              <a:rPr lang="zh-CN" altLang="en-US" dirty="0">
                <a:sym typeface="+mn-ea"/>
              </a:rPr>
              <a:t>设计一个能满足所有需求和约束的解决方案，仔细检验这个设计；</a:t>
            </a:r>
            <a:endParaRPr lang="zh-CN" altLang="en-US" dirty="0"/>
          </a:p>
          <a:p>
            <a:pPr marL="990600" lvl="1" indent="-645795" eaLnBrk="1" hangingPunct="1">
              <a:lnSpc>
                <a:spcPct val="110000"/>
              </a:lnSpc>
              <a:spcBef>
                <a:spcPct val="10000"/>
              </a:spcBef>
              <a:buClr>
                <a:srgbClr val="FF0000"/>
              </a:buClr>
              <a:buSzTx/>
              <a:buFontTx/>
              <a:buAutoNum type="arabicParenR"/>
            </a:pPr>
            <a:r>
              <a:rPr lang="zh-CN" altLang="en-US" dirty="0">
                <a:sym typeface="+mn-ea"/>
              </a:rPr>
              <a:t>使用最好的工程技术实现解决方案；</a:t>
            </a:r>
            <a:endParaRPr lang="zh-CN" altLang="en-US" dirty="0"/>
          </a:p>
          <a:p>
            <a:pPr marL="990600" lvl="1" indent="-645795" eaLnBrk="1" hangingPunct="1">
              <a:lnSpc>
                <a:spcPct val="110000"/>
              </a:lnSpc>
              <a:spcBef>
                <a:spcPct val="10000"/>
              </a:spcBef>
              <a:buClr>
                <a:srgbClr val="FF0000"/>
              </a:buClr>
              <a:buSzTx/>
              <a:buFontTx/>
              <a:buAutoNum type="arabicParenR"/>
            </a:pPr>
            <a:r>
              <a:rPr lang="zh-CN" altLang="en-US" dirty="0">
                <a:sym typeface="+mn-ea"/>
              </a:rPr>
              <a:t>验证实现结果是否满足规定的需求；</a:t>
            </a:r>
            <a:endParaRPr lang="zh-CN" altLang="en-US" dirty="0"/>
          </a:p>
          <a:p>
            <a:pPr marL="990600" lvl="1" indent="-645795" eaLnBrk="1" hangingPunct="1">
              <a:lnSpc>
                <a:spcPct val="110000"/>
              </a:lnSpc>
              <a:spcBef>
                <a:spcPct val="10000"/>
              </a:spcBef>
              <a:buClr>
                <a:srgbClr val="FF0000"/>
              </a:buClr>
              <a:buSzTx/>
              <a:buFontTx/>
              <a:buAutoNum type="arabicParenR"/>
            </a:pPr>
            <a:r>
              <a:rPr lang="zh-CN" altLang="en-US" dirty="0">
                <a:sym typeface="+mn-ea"/>
              </a:rPr>
              <a:t>交付产品。</a:t>
            </a:r>
            <a:endParaRPr lang="zh-CN" altLang="en-US" dirty="0"/>
          </a:p>
          <a:p>
            <a:pPr eaLnBrk="1" hangingPunct="1">
              <a:lnSpc>
                <a:spcPct val="110000"/>
              </a:lnSpc>
              <a:spcBef>
                <a:spcPct val="15000"/>
              </a:spcBef>
            </a:pP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533400" indent="-533400" eaLnBrk="1" hangingPunct="1">
              <a:lnSpc>
                <a:spcPct val="105000"/>
              </a:lnSpc>
              <a:spcBef>
                <a:spcPct val="10000"/>
              </a:spcBef>
            </a:pPr>
            <a:r>
              <a:rPr lang="zh-CN" altLang="en-US" dirty="0">
                <a:sym typeface="+mn-ea"/>
              </a:rPr>
              <a:t>但顺序开发过程有它的问题，主要表现为：</a:t>
            </a:r>
            <a:endParaRPr lang="zh-CN" altLang="en-US" dirty="0"/>
          </a:p>
          <a:p>
            <a:pPr marL="990600" lvl="1" indent="-645795" eaLnBrk="1" hangingPunct="1">
              <a:lnSpc>
                <a:spcPct val="105000"/>
              </a:lnSpc>
              <a:spcBef>
                <a:spcPct val="10000"/>
              </a:spcBef>
            </a:pPr>
            <a:endParaRPr lang="zh-CN" altLang="en-US" dirty="0"/>
          </a:p>
          <a:p>
            <a:pPr marL="990600" lvl="1" indent="-645795" eaLnBrk="1" hangingPunct="1">
              <a:lnSpc>
                <a:spcPct val="105000"/>
              </a:lnSpc>
              <a:spcBef>
                <a:spcPct val="10000"/>
              </a:spcBef>
            </a:pPr>
            <a:r>
              <a:rPr lang="zh-CN" altLang="en-US" dirty="0">
                <a:sym typeface="+mn-ea"/>
              </a:rPr>
              <a:t>需求和市场随着时间推移会发生变化。</a:t>
            </a:r>
            <a:endParaRPr lang="zh-CN" altLang="en-US" dirty="0"/>
          </a:p>
          <a:p>
            <a:pPr marL="990600" lvl="1" indent="-645795" eaLnBrk="1" hangingPunct="1">
              <a:lnSpc>
                <a:spcPct val="105000"/>
              </a:lnSpc>
              <a:spcBef>
                <a:spcPct val="10000"/>
              </a:spcBef>
            </a:pPr>
            <a:r>
              <a:rPr lang="zh-CN" altLang="en-US" dirty="0">
                <a:sym typeface="+mn-ea"/>
              </a:rPr>
              <a:t>技术基础随着技术进步也会发生变化。</a:t>
            </a:r>
            <a:endParaRPr lang="zh-CN" altLang="en-US" dirty="0"/>
          </a:p>
          <a:p>
            <a:pPr marL="990600" lvl="1" indent="-645795" eaLnBrk="1" hangingPunct="1">
              <a:lnSpc>
                <a:spcPct val="105000"/>
              </a:lnSpc>
              <a:spcBef>
                <a:spcPct val="10000"/>
              </a:spcBef>
            </a:pPr>
            <a:r>
              <a:rPr lang="zh-CN" altLang="en-US" dirty="0">
                <a:sym typeface="+mn-ea"/>
              </a:rPr>
              <a:t>软件设计不能保证一定是正确的。</a:t>
            </a:r>
            <a:endParaRPr lang="zh-CN" altLang="en-US" dirty="0"/>
          </a:p>
          <a:p>
            <a:pPr marL="990600" lvl="1" indent="-645795" eaLnBrk="1" hangingPunct="1">
              <a:lnSpc>
                <a:spcPct val="105000"/>
              </a:lnSpc>
              <a:spcBef>
                <a:spcPct val="10000"/>
              </a:spcBef>
            </a:pPr>
            <a:r>
              <a:rPr lang="zh-CN" altLang="en-US" dirty="0">
                <a:sym typeface="+mn-ea"/>
              </a:rPr>
              <a:t>对于未知的项目，软件开发充满风险。</a:t>
            </a:r>
            <a:endParaRPr lang="zh-CN" altLang="en-US" dirty="0"/>
          </a:p>
          <a:p>
            <a:pPr marL="990600" lvl="1" indent="-645795" eaLnBrk="1" hangingPunct="1">
              <a:lnSpc>
                <a:spcPct val="105000"/>
              </a:lnSpc>
              <a:spcBef>
                <a:spcPct val="10000"/>
              </a:spcBef>
            </a:pPr>
            <a:r>
              <a:rPr lang="zh-CN" altLang="en-US" dirty="0">
                <a:sym typeface="+mn-ea"/>
              </a:rPr>
              <a:t>软件开发时间长，每一个活动只进行一次，没有学习和自我提高的机会。</a:t>
            </a:r>
            <a:endParaRPr lang="zh-CN" altLang="en-US" dirty="0"/>
          </a:p>
          <a:p>
            <a:pPr marL="990600" lvl="1" indent="-645795" eaLnBrk="1" hangingPunct="1">
              <a:lnSpc>
                <a:spcPct val="105000"/>
              </a:lnSpc>
              <a:spcBef>
                <a:spcPct val="10000"/>
              </a:spcBef>
            </a:pPr>
            <a:r>
              <a:rPr lang="zh-CN" altLang="en-US" dirty="0">
                <a:sym typeface="+mn-ea"/>
              </a:rPr>
              <a:t>开发过程过分强调确定的被认可的文档和冻结的基线，妨碍了以前阶段的反馈。</a:t>
            </a:r>
            <a:endParaRPr lang="zh-CN" altLang="en-US" dirty="0"/>
          </a:p>
          <a:p>
            <a:pPr marL="990600" lvl="1" indent="-645795" eaLnBrk="1" hangingPunct="1">
              <a:lnSpc>
                <a:spcPct val="105000"/>
              </a:lnSpc>
              <a:spcBef>
                <a:spcPct val="10000"/>
              </a:spcBef>
            </a:pPr>
            <a:r>
              <a:rPr lang="zh-CN" altLang="en-US" dirty="0">
                <a:sym typeface="+mn-ea"/>
              </a:rPr>
              <a:t>不适于基于增量的开发。</a:t>
            </a:r>
            <a:endParaRPr lang="zh-CN" altLang="en-US" dirty="0"/>
          </a:p>
          <a:p>
            <a:pPr eaLnBrk="1" hangingPunct="1">
              <a:lnSpc>
                <a:spcPct val="110000"/>
              </a:lnSpc>
              <a:spcBef>
                <a:spcPct val="15000"/>
              </a:spcBef>
            </a:pP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eaLnBrk="1" hangingPunct="1">
              <a:lnSpc>
                <a:spcPct val="105000"/>
              </a:lnSpc>
              <a:spcBef>
                <a:spcPct val="10000"/>
              </a:spcBef>
            </a:pPr>
            <a:r>
              <a:rPr lang="zh-CN" altLang="en-US" dirty="0">
                <a:sym typeface="+mn-ea"/>
              </a:rPr>
              <a:t>解决方案是将一个大型项目分解为</a:t>
            </a:r>
            <a:r>
              <a:rPr lang="zh-CN" altLang="en-US" dirty="0">
                <a:solidFill>
                  <a:schemeClr val="hlink"/>
                </a:solidFill>
                <a:sym typeface="+mn-ea"/>
              </a:rPr>
              <a:t>可连续应用瀑布模型</a:t>
            </a:r>
            <a:r>
              <a:rPr lang="zh-CN" altLang="en-US" dirty="0">
                <a:sym typeface="+mn-ea"/>
              </a:rPr>
              <a:t>的几个小部分。在对一部分进行需求分析和风险、设计、实现并确认之后，再对下一部分进行需求分析、设计、实现和确认。以此进行下去，直到整个项目完成。这就是迭代式开发。</a:t>
            </a:r>
            <a:endParaRPr lang="zh-CN" altLang="en-US" dirty="0"/>
          </a:p>
          <a:p>
            <a:pPr eaLnBrk="1" hangingPunct="1">
              <a:lnSpc>
                <a:spcPct val="105000"/>
              </a:lnSpc>
              <a:spcBef>
                <a:spcPct val="10000"/>
              </a:spcBef>
            </a:pPr>
            <a:r>
              <a:rPr lang="zh-CN" altLang="en-US" dirty="0">
                <a:sym typeface="+mn-ea"/>
              </a:rPr>
              <a:t>在</a:t>
            </a:r>
            <a:r>
              <a:rPr lang="en-US" altLang="zh-CN" dirty="0">
                <a:sym typeface="+mn-ea"/>
              </a:rPr>
              <a:t>RUP</a:t>
            </a:r>
            <a:r>
              <a:rPr lang="zh-CN" altLang="en-US" dirty="0">
                <a:sym typeface="+mn-ea"/>
              </a:rPr>
              <a:t>中，迭代过程分为几个阶段。</a:t>
            </a:r>
            <a:endParaRPr lang="zh-CN" altLang="en-US" dirty="0"/>
          </a:p>
          <a:p>
            <a:pPr eaLnBrk="1" hangingPunct="1">
              <a:lnSpc>
                <a:spcPct val="110000"/>
              </a:lnSpc>
              <a:spcBef>
                <a:spcPct val="15000"/>
              </a:spcBef>
            </a:pP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158725" name="Group 3"/>
          <p:cNvGrpSpPr/>
          <p:nvPr/>
        </p:nvGrpSpPr>
        <p:grpSpPr>
          <a:xfrm>
            <a:off x="1068388" y="4442460"/>
            <a:ext cx="6856412" cy="1595438"/>
            <a:chOff x="727" y="2632"/>
            <a:chExt cx="4306" cy="893"/>
          </a:xfrm>
        </p:grpSpPr>
        <p:grpSp>
          <p:nvGrpSpPr>
            <p:cNvPr id="158726" name="Group 4"/>
            <p:cNvGrpSpPr/>
            <p:nvPr/>
          </p:nvGrpSpPr>
          <p:grpSpPr>
            <a:xfrm>
              <a:off x="937" y="2632"/>
              <a:ext cx="952" cy="296"/>
              <a:chOff x="848" y="2784"/>
              <a:chExt cx="952" cy="296"/>
            </a:xfrm>
          </p:grpSpPr>
          <p:sp>
            <p:nvSpPr>
              <p:cNvPr id="158727" name="Rectangle 5"/>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初始</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28" name="Line 6"/>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grpSp>
          <p:nvGrpSpPr>
            <p:cNvPr id="158729" name="Group 7"/>
            <p:cNvGrpSpPr/>
            <p:nvPr/>
          </p:nvGrpSpPr>
          <p:grpSpPr>
            <a:xfrm>
              <a:off x="1897" y="2632"/>
              <a:ext cx="952" cy="296"/>
              <a:chOff x="848" y="2784"/>
              <a:chExt cx="952" cy="296"/>
            </a:xfrm>
          </p:grpSpPr>
          <p:sp>
            <p:nvSpPr>
              <p:cNvPr id="158730" name="Rectangle 8"/>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细化</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1" name="Line 9"/>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sp>
          <p:nvSpPr>
            <p:cNvPr id="158732" name="Line 10"/>
            <p:cNvSpPr/>
            <p:nvPr/>
          </p:nvSpPr>
          <p:spPr>
            <a:xfrm>
              <a:off x="921" y="3032"/>
              <a:ext cx="4112" cy="0"/>
            </a:xfrm>
            <a:prstGeom prst="line">
              <a:avLst/>
            </a:prstGeom>
            <a:ln w="38100" cap="flat" cmpd="dbl">
              <a:solidFill>
                <a:schemeClr val="tx1"/>
              </a:solidFill>
              <a:prstDash val="solid"/>
              <a:round/>
              <a:headEnd type="none" w="med" len="med"/>
              <a:tailEnd type="triangle" w="med" len="med"/>
            </a:ln>
          </p:spPr>
        </p:sp>
        <p:grpSp>
          <p:nvGrpSpPr>
            <p:cNvPr id="158733" name="Group 11"/>
            <p:cNvGrpSpPr/>
            <p:nvPr/>
          </p:nvGrpSpPr>
          <p:grpSpPr>
            <a:xfrm>
              <a:off x="2857" y="2632"/>
              <a:ext cx="952" cy="296"/>
              <a:chOff x="848" y="2784"/>
              <a:chExt cx="952" cy="296"/>
            </a:xfrm>
          </p:grpSpPr>
          <p:sp>
            <p:nvSpPr>
              <p:cNvPr id="158734" name="Rectangle 12"/>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构造</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5" name="Line 13"/>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grpSp>
          <p:nvGrpSpPr>
            <p:cNvPr id="158736" name="Group 14"/>
            <p:cNvGrpSpPr/>
            <p:nvPr/>
          </p:nvGrpSpPr>
          <p:grpSpPr>
            <a:xfrm>
              <a:off x="3817" y="2632"/>
              <a:ext cx="952" cy="296"/>
              <a:chOff x="848" y="2784"/>
              <a:chExt cx="952" cy="296"/>
            </a:xfrm>
          </p:grpSpPr>
          <p:sp>
            <p:nvSpPr>
              <p:cNvPr id="158737" name="Rectangle 15"/>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移交</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8" name="Line 16"/>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sp>
          <p:nvSpPr>
            <p:cNvPr id="158739" name="Oval 17"/>
            <p:cNvSpPr/>
            <p:nvPr/>
          </p:nvSpPr>
          <p:spPr>
            <a:xfrm>
              <a:off x="4777" y="2688"/>
              <a:ext cx="184" cy="192"/>
            </a:xfrm>
            <a:prstGeom prst="ellipse">
              <a:avLst/>
            </a:prstGeom>
            <a:solidFill>
              <a:srgbClr val="B2B2B2"/>
            </a:solid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nvGrpSpPr>
            <p:cNvPr id="158740" name="Group 18"/>
            <p:cNvGrpSpPr/>
            <p:nvPr/>
          </p:nvGrpSpPr>
          <p:grpSpPr>
            <a:xfrm>
              <a:off x="2073" y="3048"/>
              <a:ext cx="1232" cy="477"/>
              <a:chOff x="1040" y="3160"/>
              <a:chExt cx="1232" cy="477"/>
            </a:xfrm>
          </p:grpSpPr>
          <p:sp>
            <p:nvSpPr>
              <p:cNvPr id="158741" name="AutoShape 19"/>
              <p:cNvSpPr/>
              <p:nvPr/>
            </p:nvSpPr>
            <p:spPr>
              <a:xfrm>
                <a:off x="1552" y="3160"/>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2" name="Text Box 20"/>
              <p:cNvSpPr txBox="1"/>
              <p:nvPr/>
            </p:nvSpPr>
            <p:spPr>
              <a:xfrm>
                <a:off x="1040" y="3278"/>
                <a:ext cx="1232"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生存期</a:t>
                </a:r>
                <a:endParaRPr lang="zh-CN" altLang="en-US" sz="2000" b="1" dirty="0">
                  <a:solidFill>
                    <a:schemeClr val="hlink"/>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体系结构里程碑</a:t>
                </a:r>
                <a:endParaRPr lang="zh-CN" altLang="en-US" sz="2000" b="1" dirty="0">
                  <a:solidFill>
                    <a:schemeClr val="hlink"/>
                  </a:solidFill>
                  <a:latin typeface="Times New Roman" panose="02020603050405020304" pitchFamily="18" charset="0"/>
                  <a:ea typeface="仿宋_GB2312" pitchFamily="49" charset="-122"/>
                </a:endParaRPr>
              </a:p>
            </p:txBody>
          </p:sp>
        </p:grpSp>
        <p:grpSp>
          <p:nvGrpSpPr>
            <p:cNvPr id="158743" name="Group 21"/>
            <p:cNvGrpSpPr/>
            <p:nvPr/>
          </p:nvGrpSpPr>
          <p:grpSpPr>
            <a:xfrm>
              <a:off x="1175" y="3048"/>
              <a:ext cx="913" cy="477"/>
              <a:chOff x="1175" y="3048"/>
              <a:chExt cx="913" cy="477"/>
            </a:xfrm>
          </p:grpSpPr>
          <p:sp>
            <p:nvSpPr>
              <p:cNvPr id="158744" name="AutoShape 22"/>
              <p:cNvSpPr/>
              <p:nvPr/>
            </p:nvSpPr>
            <p:spPr>
              <a:xfrm>
                <a:off x="1617" y="3048"/>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5" name="Text Box 23"/>
              <p:cNvSpPr txBox="1"/>
              <p:nvPr/>
            </p:nvSpPr>
            <p:spPr>
              <a:xfrm>
                <a:off x="1175" y="3166"/>
                <a:ext cx="913"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生存期</a:t>
                </a:r>
                <a:endParaRPr lang="zh-CN" altLang="en-US" sz="2000" b="1" dirty="0">
                  <a:solidFill>
                    <a:srgbClr val="FF0000"/>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目标里程碑</a:t>
                </a:r>
                <a:endParaRPr lang="zh-CN" altLang="en-US" sz="2000" b="1" dirty="0">
                  <a:solidFill>
                    <a:srgbClr val="FF0000"/>
                  </a:solidFill>
                  <a:latin typeface="Times New Roman" panose="02020603050405020304" pitchFamily="18" charset="0"/>
                  <a:ea typeface="仿宋_GB2312" pitchFamily="49" charset="-122"/>
                </a:endParaRPr>
              </a:p>
            </p:txBody>
          </p:sp>
        </p:grpSp>
        <p:grpSp>
          <p:nvGrpSpPr>
            <p:cNvPr id="158746" name="Group 24"/>
            <p:cNvGrpSpPr/>
            <p:nvPr/>
          </p:nvGrpSpPr>
          <p:grpSpPr>
            <a:xfrm>
              <a:off x="3271" y="3048"/>
              <a:ext cx="914" cy="477"/>
              <a:chOff x="3271" y="3048"/>
              <a:chExt cx="914" cy="477"/>
            </a:xfrm>
          </p:grpSpPr>
          <p:sp>
            <p:nvSpPr>
              <p:cNvPr id="158747" name="AutoShape 25"/>
              <p:cNvSpPr/>
              <p:nvPr/>
            </p:nvSpPr>
            <p:spPr>
              <a:xfrm>
                <a:off x="3545" y="3048"/>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8" name="Text Box 26"/>
              <p:cNvSpPr txBox="1"/>
              <p:nvPr/>
            </p:nvSpPr>
            <p:spPr>
              <a:xfrm>
                <a:off x="3271" y="3166"/>
                <a:ext cx="914"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最初运行</a:t>
                </a:r>
                <a:endParaRPr lang="zh-CN" altLang="en-US" sz="2000" b="1" dirty="0">
                  <a:solidFill>
                    <a:srgbClr val="FF0000"/>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能力里程碑</a:t>
                </a:r>
                <a:endParaRPr lang="zh-CN" altLang="en-US" sz="2000" b="1" dirty="0">
                  <a:solidFill>
                    <a:srgbClr val="FF0000"/>
                  </a:solidFill>
                  <a:latin typeface="Times New Roman" panose="02020603050405020304" pitchFamily="18" charset="0"/>
                  <a:ea typeface="仿宋_GB2312" pitchFamily="49" charset="-122"/>
                </a:endParaRPr>
              </a:p>
            </p:txBody>
          </p:sp>
        </p:grpSp>
        <p:grpSp>
          <p:nvGrpSpPr>
            <p:cNvPr id="158749" name="Group 27"/>
            <p:cNvGrpSpPr/>
            <p:nvPr/>
          </p:nvGrpSpPr>
          <p:grpSpPr>
            <a:xfrm>
              <a:off x="4246" y="3048"/>
              <a:ext cx="756" cy="477"/>
              <a:chOff x="1277" y="3160"/>
              <a:chExt cx="756" cy="477"/>
            </a:xfrm>
          </p:grpSpPr>
          <p:sp>
            <p:nvSpPr>
              <p:cNvPr id="158750" name="AutoShape 28"/>
              <p:cNvSpPr/>
              <p:nvPr/>
            </p:nvSpPr>
            <p:spPr>
              <a:xfrm>
                <a:off x="1552" y="3160"/>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51" name="Text Box 29"/>
              <p:cNvSpPr txBox="1"/>
              <p:nvPr/>
            </p:nvSpPr>
            <p:spPr>
              <a:xfrm>
                <a:off x="1277" y="3278"/>
                <a:ext cx="756" cy="359"/>
              </a:xfrm>
              <a:prstGeom prst="rect">
                <a:avLst/>
              </a:prstGeom>
              <a:noFill/>
              <a:ln w="9525">
                <a:noFill/>
              </a:ln>
            </p:spPr>
            <p:txBody>
              <a:bodyPr anchor="t" anchorCtr="0">
                <a:spAutoFit/>
              </a:bodyPr>
              <a:lstStyle/>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产品发布</a:t>
                </a:r>
                <a:endParaRPr lang="zh-CN" altLang="en-US" sz="2000" b="1" dirty="0">
                  <a:solidFill>
                    <a:schemeClr val="hlink"/>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里程碑</a:t>
                </a:r>
                <a:endParaRPr lang="zh-CN" altLang="en-US" sz="2000" b="1" dirty="0">
                  <a:solidFill>
                    <a:schemeClr val="hlink"/>
                  </a:solidFill>
                  <a:latin typeface="Times New Roman" panose="02020603050405020304" pitchFamily="18" charset="0"/>
                  <a:ea typeface="仿宋_GB2312" pitchFamily="49" charset="-122"/>
                </a:endParaRPr>
              </a:p>
            </p:txBody>
          </p:sp>
        </p:grpSp>
        <p:sp>
          <p:nvSpPr>
            <p:cNvPr id="158752" name="Text Box 30"/>
            <p:cNvSpPr txBox="1"/>
            <p:nvPr/>
          </p:nvSpPr>
          <p:spPr>
            <a:xfrm>
              <a:off x="727" y="3030"/>
              <a:ext cx="467" cy="239"/>
            </a:xfrm>
            <a:prstGeom prst="rect">
              <a:avLst/>
            </a:prstGeom>
            <a:noFill/>
            <a:ln w="9525">
              <a:noFill/>
            </a:ln>
          </p:spPr>
          <p:txBody>
            <a:bodyPr wrap="none" anchor="t" anchorCtr="0">
              <a:spAutoFit/>
            </a:bodyPr>
            <a:lstStyle/>
            <a:p>
              <a:pPr algn="ctr">
                <a:buClrTx/>
                <a:buFontTx/>
              </a:pPr>
              <a:r>
                <a:rPr lang="zh-CN" altLang="en-US" sz="2200" b="1" dirty="0">
                  <a:latin typeface="Times New Roman" panose="02020603050405020304" pitchFamily="18" charset="0"/>
                  <a:ea typeface="仿宋_GB2312" pitchFamily="49" charset="-122"/>
                </a:rPr>
                <a:t>时间</a:t>
              </a:r>
              <a:endParaRPr lang="zh-CN" altLang="en-US" sz="2200" b="1" dirty="0">
                <a:latin typeface="Times New Roman" panose="02020603050405020304" pitchFamily="18" charset="0"/>
                <a:ea typeface="仿宋_GB2312" pitchFamily="49" charset="-122"/>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3463925"/>
            <a:ext cx="7820025" cy="3009900"/>
          </a:xfrm>
        </p:spPr>
        <p:txBody>
          <a:bodyPr vert="horz" wrap="square" lIns="91440" tIns="45720" rIns="91440" bIns="45720" anchor="t" anchorCtr="0"/>
          <a:lstStyle/>
          <a:p>
            <a:pPr eaLnBrk="1" hangingPunct="1">
              <a:lnSpc>
                <a:spcPct val="110000"/>
              </a:lnSpc>
              <a:spcBef>
                <a:spcPct val="15000"/>
              </a:spcBef>
            </a:pPr>
            <a:r>
              <a:rPr lang="zh-CN" altLang="en-US" sz="2200" b="0" dirty="0">
                <a:highlight>
                  <a:srgbClr val="FFFF00"/>
                </a:highlight>
                <a:latin typeface="Times New Roman" panose="02020603050405020304" pitchFamily="18" charset="0"/>
                <a:ea typeface="宋体" panose="02010600030101010101" pitchFamily="2" charset="-122"/>
              </a:rPr>
              <a:t>初始阶段</a:t>
            </a:r>
            <a:r>
              <a:rPr lang="zh-CN" altLang="en-US" sz="2200" b="0" dirty="0">
                <a:latin typeface="Times New Roman" panose="02020603050405020304" pitchFamily="18" charset="0"/>
                <a:ea typeface="宋体" panose="02010600030101010101" pitchFamily="2" charset="-122"/>
              </a:rPr>
              <a:t>的目标是为系统建立商业案例并确定项目的边界。为了达到该目的必须识别所有与系统交互的外部实体，在较高层次上定义交互的特性。本阶段具有非常重要的意义，在这个阶段中所关注的是整个项目进行中的业务和需求方面的主要风险。对于建立在原有系统基础上的开发项目来讲，初始阶段可能很短。 初始阶段结束时是第一个重要的里程碑：</a:t>
            </a:r>
            <a:r>
              <a:rPr lang="zh-CN" altLang="en-US" sz="2200" b="0" dirty="0">
                <a:highlight>
                  <a:srgbClr val="FFFF00"/>
                </a:highlight>
                <a:latin typeface="Times New Roman" panose="02020603050405020304" pitchFamily="18" charset="0"/>
                <a:ea typeface="宋体" panose="02010600030101010101" pitchFamily="2" charset="-122"/>
              </a:rPr>
              <a:t>生命周期目标(Lifecycle Objective)里程碑</a:t>
            </a:r>
            <a:r>
              <a:rPr lang="zh-CN" altLang="en-US" sz="2200" b="0" dirty="0">
                <a:latin typeface="Times New Roman" panose="02020603050405020304" pitchFamily="18" charset="0"/>
                <a:ea typeface="宋体" panose="02010600030101010101" pitchFamily="2" charset="-122"/>
              </a:rPr>
              <a:t>。生命周期目标里程碑评价项目基本的生存能力。</a:t>
            </a:r>
            <a:endParaRPr lang="zh-CN" altLang="en-US" sz="2200" b="0"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158725" name="Group 3"/>
          <p:cNvGrpSpPr/>
          <p:nvPr/>
        </p:nvGrpSpPr>
        <p:grpSpPr>
          <a:xfrm>
            <a:off x="693103" y="1628775"/>
            <a:ext cx="6856412" cy="1595438"/>
            <a:chOff x="727" y="2632"/>
            <a:chExt cx="4306" cy="893"/>
          </a:xfrm>
        </p:grpSpPr>
        <p:grpSp>
          <p:nvGrpSpPr>
            <p:cNvPr id="158726" name="Group 4"/>
            <p:cNvGrpSpPr/>
            <p:nvPr/>
          </p:nvGrpSpPr>
          <p:grpSpPr>
            <a:xfrm>
              <a:off x="937" y="2632"/>
              <a:ext cx="952" cy="296"/>
              <a:chOff x="848" y="2784"/>
              <a:chExt cx="952" cy="296"/>
            </a:xfrm>
          </p:grpSpPr>
          <p:sp>
            <p:nvSpPr>
              <p:cNvPr id="158727" name="Rectangle 5"/>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初始</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28" name="Line 6"/>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grpSp>
          <p:nvGrpSpPr>
            <p:cNvPr id="158729" name="Group 7"/>
            <p:cNvGrpSpPr/>
            <p:nvPr/>
          </p:nvGrpSpPr>
          <p:grpSpPr>
            <a:xfrm>
              <a:off x="1897" y="2632"/>
              <a:ext cx="952" cy="296"/>
              <a:chOff x="848" y="2784"/>
              <a:chExt cx="952" cy="296"/>
            </a:xfrm>
          </p:grpSpPr>
          <p:sp>
            <p:nvSpPr>
              <p:cNvPr id="158730" name="Rectangle 8"/>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细化</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1" name="Line 9"/>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sp>
          <p:nvSpPr>
            <p:cNvPr id="158732" name="Line 10"/>
            <p:cNvSpPr/>
            <p:nvPr/>
          </p:nvSpPr>
          <p:spPr>
            <a:xfrm>
              <a:off x="921" y="3032"/>
              <a:ext cx="4112" cy="0"/>
            </a:xfrm>
            <a:prstGeom prst="line">
              <a:avLst/>
            </a:prstGeom>
            <a:ln w="38100" cap="flat" cmpd="dbl">
              <a:solidFill>
                <a:schemeClr val="tx1"/>
              </a:solidFill>
              <a:prstDash val="solid"/>
              <a:round/>
              <a:headEnd type="none" w="med" len="med"/>
              <a:tailEnd type="triangle" w="med" len="med"/>
            </a:ln>
          </p:spPr>
        </p:sp>
        <p:grpSp>
          <p:nvGrpSpPr>
            <p:cNvPr id="158733" name="Group 11"/>
            <p:cNvGrpSpPr/>
            <p:nvPr/>
          </p:nvGrpSpPr>
          <p:grpSpPr>
            <a:xfrm>
              <a:off x="2857" y="2632"/>
              <a:ext cx="952" cy="296"/>
              <a:chOff x="848" y="2784"/>
              <a:chExt cx="952" cy="296"/>
            </a:xfrm>
          </p:grpSpPr>
          <p:sp>
            <p:nvSpPr>
              <p:cNvPr id="158734" name="Rectangle 12"/>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构造</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5" name="Line 13"/>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grpSp>
          <p:nvGrpSpPr>
            <p:cNvPr id="158736" name="Group 14"/>
            <p:cNvGrpSpPr/>
            <p:nvPr/>
          </p:nvGrpSpPr>
          <p:grpSpPr>
            <a:xfrm>
              <a:off x="3817" y="2632"/>
              <a:ext cx="952" cy="296"/>
              <a:chOff x="848" y="2784"/>
              <a:chExt cx="952" cy="296"/>
            </a:xfrm>
          </p:grpSpPr>
          <p:sp>
            <p:nvSpPr>
              <p:cNvPr id="158737" name="Rectangle 15"/>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移交</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8" name="Line 16"/>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sp>
          <p:nvSpPr>
            <p:cNvPr id="158739" name="Oval 17"/>
            <p:cNvSpPr/>
            <p:nvPr/>
          </p:nvSpPr>
          <p:spPr>
            <a:xfrm>
              <a:off x="4777" y="2688"/>
              <a:ext cx="184" cy="192"/>
            </a:xfrm>
            <a:prstGeom prst="ellipse">
              <a:avLst/>
            </a:prstGeom>
            <a:solidFill>
              <a:srgbClr val="B2B2B2"/>
            </a:solid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nvGrpSpPr>
            <p:cNvPr id="158740" name="Group 18"/>
            <p:cNvGrpSpPr/>
            <p:nvPr/>
          </p:nvGrpSpPr>
          <p:grpSpPr>
            <a:xfrm>
              <a:off x="2073" y="3048"/>
              <a:ext cx="1232" cy="477"/>
              <a:chOff x="1040" y="3160"/>
              <a:chExt cx="1232" cy="477"/>
            </a:xfrm>
          </p:grpSpPr>
          <p:sp>
            <p:nvSpPr>
              <p:cNvPr id="158741" name="AutoShape 19"/>
              <p:cNvSpPr/>
              <p:nvPr/>
            </p:nvSpPr>
            <p:spPr>
              <a:xfrm>
                <a:off x="1552" y="3160"/>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2" name="Text Box 20"/>
              <p:cNvSpPr txBox="1"/>
              <p:nvPr/>
            </p:nvSpPr>
            <p:spPr>
              <a:xfrm>
                <a:off x="1040" y="3278"/>
                <a:ext cx="1232"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生存期</a:t>
                </a:r>
                <a:endParaRPr lang="zh-CN" altLang="en-US" sz="2000" b="1" dirty="0">
                  <a:solidFill>
                    <a:schemeClr val="hlink"/>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体系结构里程碑</a:t>
                </a:r>
                <a:endParaRPr lang="zh-CN" altLang="en-US" sz="2000" b="1" dirty="0">
                  <a:solidFill>
                    <a:schemeClr val="hlink"/>
                  </a:solidFill>
                  <a:latin typeface="Times New Roman" panose="02020603050405020304" pitchFamily="18" charset="0"/>
                  <a:ea typeface="仿宋_GB2312" pitchFamily="49" charset="-122"/>
                </a:endParaRPr>
              </a:p>
            </p:txBody>
          </p:sp>
        </p:grpSp>
        <p:grpSp>
          <p:nvGrpSpPr>
            <p:cNvPr id="158743" name="Group 21"/>
            <p:cNvGrpSpPr/>
            <p:nvPr/>
          </p:nvGrpSpPr>
          <p:grpSpPr>
            <a:xfrm>
              <a:off x="1175" y="3048"/>
              <a:ext cx="913" cy="477"/>
              <a:chOff x="1175" y="3048"/>
              <a:chExt cx="913" cy="477"/>
            </a:xfrm>
          </p:grpSpPr>
          <p:sp>
            <p:nvSpPr>
              <p:cNvPr id="158744" name="AutoShape 22"/>
              <p:cNvSpPr/>
              <p:nvPr/>
            </p:nvSpPr>
            <p:spPr>
              <a:xfrm>
                <a:off x="1617" y="3048"/>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5" name="Text Box 23"/>
              <p:cNvSpPr txBox="1"/>
              <p:nvPr/>
            </p:nvSpPr>
            <p:spPr>
              <a:xfrm>
                <a:off x="1175" y="3166"/>
                <a:ext cx="913"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生存期</a:t>
                </a:r>
                <a:endParaRPr lang="zh-CN" altLang="en-US" sz="2000" b="1" dirty="0">
                  <a:solidFill>
                    <a:srgbClr val="FF0000"/>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目标里程碑</a:t>
                </a:r>
                <a:endParaRPr lang="zh-CN" altLang="en-US" sz="2000" b="1" dirty="0">
                  <a:solidFill>
                    <a:srgbClr val="FF0000"/>
                  </a:solidFill>
                  <a:latin typeface="Times New Roman" panose="02020603050405020304" pitchFamily="18" charset="0"/>
                  <a:ea typeface="仿宋_GB2312" pitchFamily="49" charset="-122"/>
                </a:endParaRPr>
              </a:p>
            </p:txBody>
          </p:sp>
        </p:grpSp>
        <p:grpSp>
          <p:nvGrpSpPr>
            <p:cNvPr id="158746" name="Group 24"/>
            <p:cNvGrpSpPr/>
            <p:nvPr/>
          </p:nvGrpSpPr>
          <p:grpSpPr>
            <a:xfrm>
              <a:off x="3271" y="3048"/>
              <a:ext cx="914" cy="477"/>
              <a:chOff x="3271" y="3048"/>
              <a:chExt cx="914" cy="477"/>
            </a:xfrm>
          </p:grpSpPr>
          <p:sp>
            <p:nvSpPr>
              <p:cNvPr id="158747" name="AutoShape 25"/>
              <p:cNvSpPr/>
              <p:nvPr/>
            </p:nvSpPr>
            <p:spPr>
              <a:xfrm>
                <a:off x="3545" y="3048"/>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8" name="Text Box 26"/>
              <p:cNvSpPr txBox="1"/>
              <p:nvPr/>
            </p:nvSpPr>
            <p:spPr>
              <a:xfrm>
                <a:off x="3271" y="3166"/>
                <a:ext cx="914"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最初运行</a:t>
                </a:r>
                <a:endParaRPr lang="zh-CN" altLang="en-US" sz="2000" b="1" dirty="0">
                  <a:solidFill>
                    <a:srgbClr val="FF0000"/>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能力里程碑</a:t>
                </a:r>
                <a:endParaRPr lang="zh-CN" altLang="en-US" sz="2000" b="1" dirty="0">
                  <a:solidFill>
                    <a:srgbClr val="FF0000"/>
                  </a:solidFill>
                  <a:latin typeface="Times New Roman" panose="02020603050405020304" pitchFamily="18" charset="0"/>
                  <a:ea typeface="仿宋_GB2312" pitchFamily="49" charset="-122"/>
                </a:endParaRPr>
              </a:p>
            </p:txBody>
          </p:sp>
        </p:grpSp>
        <p:grpSp>
          <p:nvGrpSpPr>
            <p:cNvPr id="158749" name="Group 27"/>
            <p:cNvGrpSpPr/>
            <p:nvPr/>
          </p:nvGrpSpPr>
          <p:grpSpPr>
            <a:xfrm>
              <a:off x="4246" y="3048"/>
              <a:ext cx="756" cy="477"/>
              <a:chOff x="1277" y="3160"/>
              <a:chExt cx="756" cy="477"/>
            </a:xfrm>
          </p:grpSpPr>
          <p:sp>
            <p:nvSpPr>
              <p:cNvPr id="158750" name="AutoShape 28"/>
              <p:cNvSpPr/>
              <p:nvPr/>
            </p:nvSpPr>
            <p:spPr>
              <a:xfrm>
                <a:off x="1552" y="3160"/>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51" name="Text Box 29"/>
              <p:cNvSpPr txBox="1"/>
              <p:nvPr/>
            </p:nvSpPr>
            <p:spPr>
              <a:xfrm>
                <a:off x="1277" y="3278"/>
                <a:ext cx="756" cy="359"/>
              </a:xfrm>
              <a:prstGeom prst="rect">
                <a:avLst/>
              </a:prstGeom>
              <a:noFill/>
              <a:ln w="9525">
                <a:noFill/>
              </a:ln>
            </p:spPr>
            <p:txBody>
              <a:bodyPr anchor="t" anchorCtr="0">
                <a:spAutoFit/>
              </a:bodyPr>
              <a:lstStyle/>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产品发布</a:t>
                </a:r>
                <a:endParaRPr lang="zh-CN" altLang="en-US" sz="2000" b="1" dirty="0">
                  <a:solidFill>
                    <a:schemeClr val="hlink"/>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里程碑</a:t>
                </a:r>
                <a:endParaRPr lang="zh-CN" altLang="en-US" sz="2000" b="1" dirty="0">
                  <a:solidFill>
                    <a:schemeClr val="hlink"/>
                  </a:solidFill>
                  <a:latin typeface="Times New Roman" panose="02020603050405020304" pitchFamily="18" charset="0"/>
                  <a:ea typeface="仿宋_GB2312" pitchFamily="49" charset="-122"/>
                </a:endParaRPr>
              </a:p>
            </p:txBody>
          </p:sp>
        </p:grpSp>
        <p:sp>
          <p:nvSpPr>
            <p:cNvPr id="158752" name="Text Box 30"/>
            <p:cNvSpPr txBox="1"/>
            <p:nvPr/>
          </p:nvSpPr>
          <p:spPr>
            <a:xfrm>
              <a:off x="727" y="3030"/>
              <a:ext cx="467" cy="239"/>
            </a:xfrm>
            <a:prstGeom prst="rect">
              <a:avLst/>
            </a:prstGeom>
            <a:noFill/>
            <a:ln w="9525">
              <a:noFill/>
            </a:ln>
          </p:spPr>
          <p:txBody>
            <a:bodyPr wrap="none" anchor="t" anchorCtr="0">
              <a:spAutoFit/>
            </a:bodyPr>
            <a:lstStyle/>
            <a:p>
              <a:pPr algn="ctr">
                <a:buClrTx/>
                <a:buFontTx/>
              </a:pPr>
              <a:r>
                <a:rPr lang="zh-CN" altLang="en-US" sz="2200" b="1" dirty="0">
                  <a:latin typeface="Times New Roman" panose="02020603050405020304" pitchFamily="18" charset="0"/>
                  <a:ea typeface="仿宋_GB2312" pitchFamily="49" charset="-122"/>
                </a:rPr>
                <a:t>时间</a:t>
              </a:r>
              <a:endParaRPr lang="zh-CN" altLang="en-US" sz="2200" b="1" dirty="0">
                <a:latin typeface="Times New Roman" panose="02020603050405020304" pitchFamily="18" charset="0"/>
                <a:ea typeface="仿宋_GB2312" pitchFamily="49" charset="-122"/>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3176905"/>
            <a:ext cx="8169910" cy="3009900"/>
          </a:xfrm>
        </p:spPr>
        <p:txBody>
          <a:bodyPr vert="horz" wrap="square" lIns="91440" tIns="45720" rIns="91440" bIns="45720" anchor="t" anchorCtr="0"/>
          <a:lstStyle/>
          <a:p>
            <a:pPr eaLnBrk="1" hangingPunct="1">
              <a:lnSpc>
                <a:spcPct val="110000"/>
              </a:lnSpc>
              <a:spcBef>
                <a:spcPct val="15000"/>
              </a:spcBef>
            </a:pPr>
            <a:r>
              <a:rPr lang="zh-CN" altLang="en-US" sz="2200" b="0" dirty="0">
                <a:highlight>
                  <a:srgbClr val="FFFF00"/>
                </a:highlight>
                <a:latin typeface="Times New Roman" panose="02020603050405020304" pitchFamily="18" charset="0"/>
                <a:ea typeface="宋体" panose="02010600030101010101" pitchFamily="2" charset="-122"/>
              </a:rPr>
              <a:t>细化阶段</a:t>
            </a:r>
            <a:r>
              <a:rPr lang="zh-CN" altLang="en-US" sz="2200" b="0" dirty="0">
                <a:latin typeface="Times New Roman" panose="02020603050405020304" pitchFamily="18" charset="0"/>
                <a:ea typeface="宋体" panose="02010600030101010101" pitchFamily="2" charset="-122"/>
              </a:rPr>
              <a:t>的目标是分析问题领域，建立健全的体系结构基础，编制项目计划，淘汰项目中最高风险的元素。为了达到该目的，必须在理解整个系统的基础上，对体系结构作出决策，包括其范围、主要功能和诸如性能等非功能需求。同时为项目建立支持环境，包括创建开发案例，创建模板、准则并准备工具。 细化阶段结束时第二个重要的里程碑：</a:t>
            </a:r>
            <a:r>
              <a:rPr lang="zh-CN" altLang="en-US" sz="2200" b="0" dirty="0">
                <a:highlight>
                  <a:srgbClr val="FFFF00"/>
                </a:highlight>
                <a:latin typeface="Times New Roman" panose="02020603050405020304" pitchFamily="18" charset="0"/>
                <a:ea typeface="宋体" panose="02010600030101010101" pitchFamily="2" charset="-122"/>
              </a:rPr>
              <a:t>生命周期结构(Lifecycle</a:t>
            </a:r>
            <a:r>
              <a:rPr lang="en-US" altLang="zh-CN" sz="2200" b="0" dirty="0">
                <a:highlight>
                  <a:srgbClr val="FFFF00"/>
                </a:highlight>
                <a:latin typeface="Times New Roman" panose="02020603050405020304" pitchFamily="18" charset="0"/>
                <a:ea typeface="宋体" panose="02010600030101010101" pitchFamily="2" charset="-122"/>
              </a:rPr>
              <a:t> </a:t>
            </a:r>
            <a:r>
              <a:rPr lang="zh-CN" altLang="en-US" sz="2200" b="0" dirty="0">
                <a:highlight>
                  <a:srgbClr val="FFFF00"/>
                </a:highlight>
                <a:latin typeface="Times New Roman" panose="02020603050405020304" pitchFamily="18" charset="0"/>
                <a:ea typeface="宋体" panose="02010600030101010101" pitchFamily="2" charset="-122"/>
              </a:rPr>
              <a:t>Architecture)里程碑</a:t>
            </a:r>
            <a:r>
              <a:rPr lang="zh-CN" altLang="en-US" sz="2200" b="0" dirty="0">
                <a:latin typeface="Times New Roman" panose="02020603050405020304" pitchFamily="18" charset="0"/>
                <a:ea typeface="宋体" panose="02010600030101010101" pitchFamily="2" charset="-122"/>
              </a:rPr>
              <a:t>。生命周期结构里程碑为系统的结构建立了管理基准并使项目小组能够在构建阶段中进行衡量。此刻，要检验详细的系统目标和范围、结构的选择以及主要风险的解决方案。</a:t>
            </a:r>
            <a:endParaRPr lang="zh-CN" altLang="en-US" sz="2200" b="0"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158725" name="Group 3"/>
          <p:cNvGrpSpPr/>
          <p:nvPr/>
        </p:nvGrpSpPr>
        <p:grpSpPr>
          <a:xfrm>
            <a:off x="693103" y="1485265"/>
            <a:ext cx="6856412" cy="1595438"/>
            <a:chOff x="727" y="2632"/>
            <a:chExt cx="4306" cy="893"/>
          </a:xfrm>
        </p:grpSpPr>
        <p:grpSp>
          <p:nvGrpSpPr>
            <p:cNvPr id="158726" name="Group 4"/>
            <p:cNvGrpSpPr/>
            <p:nvPr/>
          </p:nvGrpSpPr>
          <p:grpSpPr>
            <a:xfrm>
              <a:off x="937" y="2632"/>
              <a:ext cx="952" cy="296"/>
              <a:chOff x="848" y="2784"/>
              <a:chExt cx="952" cy="296"/>
            </a:xfrm>
          </p:grpSpPr>
          <p:sp>
            <p:nvSpPr>
              <p:cNvPr id="158727" name="Rectangle 5"/>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初始</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28" name="Line 6"/>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grpSp>
          <p:nvGrpSpPr>
            <p:cNvPr id="158729" name="Group 7"/>
            <p:cNvGrpSpPr/>
            <p:nvPr/>
          </p:nvGrpSpPr>
          <p:grpSpPr>
            <a:xfrm>
              <a:off x="1897" y="2632"/>
              <a:ext cx="952" cy="296"/>
              <a:chOff x="848" y="2784"/>
              <a:chExt cx="952" cy="296"/>
            </a:xfrm>
          </p:grpSpPr>
          <p:sp>
            <p:nvSpPr>
              <p:cNvPr id="158730" name="Rectangle 8"/>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细化</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1" name="Line 9"/>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sp>
          <p:nvSpPr>
            <p:cNvPr id="158732" name="Line 10"/>
            <p:cNvSpPr/>
            <p:nvPr/>
          </p:nvSpPr>
          <p:spPr>
            <a:xfrm>
              <a:off x="921" y="3032"/>
              <a:ext cx="4112" cy="0"/>
            </a:xfrm>
            <a:prstGeom prst="line">
              <a:avLst/>
            </a:prstGeom>
            <a:ln w="38100" cap="flat" cmpd="dbl">
              <a:solidFill>
                <a:schemeClr val="tx1"/>
              </a:solidFill>
              <a:prstDash val="solid"/>
              <a:round/>
              <a:headEnd type="none" w="med" len="med"/>
              <a:tailEnd type="triangle" w="med" len="med"/>
            </a:ln>
          </p:spPr>
        </p:sp>
        <p:grpSp>
          <p:nvGrpSpPr>
            <p:cNvPr id="158733" name="Group 11"/>
            <p:cNvGrpSpPr/>
            <p:nvPr/>
          </p:nvGrpSpPr>
          <p:grpSpPr>
            <a:xfrm>
              <a:off x="2857" y="2632"/>
              <a:ext cx="952" cy="296"/>
              <a:chOff x="848" y="2784"/>
              <a:chExt cx="952" cy="296"/>
            </a:xfrm>
          </p:grpSpPr>
          <p:sp>
            <p:nvSpPr>
              <p:cNvPr id="158734" name="Rectangle 12"/>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构造</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5" name="Line 13"/>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grpSp>
          <p:nvGrpSpPr>
            <p:cNvPr id="158736" name="Group 14"/>
            <p:cNvGrpSpPr/>
            <p:nvPr/>
          </p:nvGrpSpPr>
          <p:grpSpPr>
            <a:xfrm>
              <a:off x="3817" y="2632"/>
              <a:ext cx="952" cy="296"/>
              <a:chOff x="848" y="2784"/>
              <a:chExt cx="952" cy="296"/>
            </a:xfrm>
          </p:grpSpPr>
          <p:sp>
            <p:nvSpPr>
              <p:cNvPr id="158737" name="Rectangle 15"/>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移交</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8" name="Line 16"/>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sp>
          <p:nvSpPr>
            <p:cNvPr id="158739" name="Oval 17"/>
            <p:cNvSpPr/>
            <p:nvPr/>
          </p:nvSpPr>
          <p:spPr>
            <a:xfrm>
              <a:off x="4777" y="2688"/>
              <a:ext cx="184" cy="192"/>
            </a:xfrm>
            <a:prstGeom prst="ellipse">
              <a:avLst/>
            </a:prstGeom>
            <a:solidFill>
              <a:srgbClr val="B2B2B2"/>
            </a:solid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nvGrpSpPr>
            <p:cNvPr id="158740" name="Group 18"/>
            <p:cNvGrpSpPr/>
            <p:nvPr/>
          </p:nvGrpSpPr>
          <p:grpSpPr>
            <a:xfrm>
              <a:off x="2073" y="3048"/>
              <a:ext cx="1232" cy="477"/>
              <a:chOff x="1040" y="3160"/>
              <a:chExt cx="1232" cy="477"/>
            </a:xfrm>
          </p:grpSpPr>
          <p:sp>
            <p:nvSpPr>
              <p:cNvPr id="158741" name="AutoShape 19"/>
              <p:cNvSpPr/>
              <p:nvPr/>
            </p:nvSpPr>
            <p:spPr>
              <a:xfrm>
                <a:off x="1552" y="3160"/>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2" name="Text Box 20"/>
              <p:cNvSpPr txBox="1"/>
              <p:nvPr/>
            </p:nvSpPr>
            <p:spPr>
              <a:xfrm>
                <a:off x="1040" y="3278"/>
                <a:ext cx="1232"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生存期</a:t>
                </a:r>
                <a:endParaRPr lang="zh-CN" altLang="en-US" sz="2000" b="1" dirty="0">
                  <a:solidFill>
                    <a:schemeClr val="hlink"/>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体系结构里程碑</a:t>
                </a:r>
                <a:endParaRPr lang="zh-CN" altLang="en-US" sz="2000" b="1" dirty="0">
                  <a:solidFill>
                    <a:schemeClr val="hlink"/>
                  </a:solidFill>
                  <a:latin typeface="Times New Roman" panose="02020603050405020304" pitchFamily="18" charset="0"/>
                  <a:ea typeface="仿宋_GB2312" pitchFamily="49" charset="-122"/>
                </a:endParaRPr>
              </a:p>
            </p:txBody>
          </p:sp>
        </p:grpSp>
        <p:grpSp>
          <p:nvGrpSpPr>
            <p:cNvPr id="158743" name="Group 21"/>
            <p:cNvGrpSpPr/>
            <p:nvPr/>
          </p:nvGrpSpPr>
          <p:grpSpPr>
            <a:xfrm>
              <a:off x="1175" y="3048"/>
              <a:ext cx="913" cy="477"/>
              <a:chOff x="1175" y="3048"/>
              <a:chExt cx="913" cy="477"/>
            </a:xfrm>
          </p:grpSpPr>
          <p:sp>
            <p:nvSpPr>
              <p:cNvPr id="158744" name="AutoShape 22"/>
              <p:cNvSpPr/>
              <p:nvPr/>
            </p:nvSpPr>
            <p:spPr>
              <a:xfrm>
                <a:off x="1617" y="3048"/>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5" name="Text Box 23"/>
              <p:cNvSpPr txBox="1"/>
              <p:nvPr/>
            </p:nvSpPr>
            <p:spPr>
              <a:xfrm>
                <a:off x="1175" y="3166"/>
                <a:ext cx="913"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生存期</a:t>
                </a:r>
                <a:endParaRPr lang="zh-CN" altLang="en-US" sz="2000" b="1" dirty="0">
                  <a:solidFill>
                    <a:srgbClr val="FF0000"/>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目标里程碑</a:t>
                </a:r>
                <a:endParaRPr lang="zh-CN" altLang="en-US" sz="2000" b="1" dirty="0">
                  <a:solidFill>
                    <a:srgbClr val="FF0000"/>
                  </a:solidFill>
                  <a:latin typeface="Times New Roman" panose="02020603050405020304" pitchFamily="18" charset="0"/>
                  <a:ea typeface="仿宋_GB2312" pitchFamily="49" charset="-122"/>
                </a:endParaRPr>
              </a:p>
            </p:txBody>
          </p:sp>
        </p:grpSp>
        <p:grpSp>
          <p:nvGrpSpPr>
            <p:cNvPr id="158746" name="Group 24"/>
            <p:cNvGrpSpPr/>
            <p:nvPr/>
          </p:nvGrpSpPr>
          <p:grpSpPr>
            <a:xfrm>
              <a:off x="3271" y="3048"/>
              <a:ext cx="914" cy="477"/>
              <a:chOff x="3271" y="3048"/>
              <a:chExt cx="914" cy="477"/>
            </a:xfrm>
          </p:grpSpPr>
          <p:sp>
            <p:nvSpPr>
              <p:cNvPr id="158747" name="AutoShape 25"/>
              <p:cNvSpPr/>
              <p:nvPr/>
            </p:nvSpPr>
            <p:spPr>
              <a:xfrm>
                <a:off x="3545" y="3048"/>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8" name="Text Box 26"/>
              <p:cNvSpPr txBox="1"/>
              <p:nvPr/>
            </p:nvSpPr>
            <p:spPr>
              <a:xfrm>
                <a:off x="3271" y="3166"/>
                <a:ext cx="914"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最初运行</a:t>
                </a:r>
                <a:endParaRPr lang="zh-CN" altLang="en-US" sz="2000" b="1" dirty="0">
                  <a:solidFill>
                    <a:srgbClr val="FF0000"/>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能力里程碑</a:t>
                </a:r>
                <a:endParaRPr lang="zh-CN" altLang="en-US" sz="2000" b="1" dirty="0">
                  <a:solidFill>
                    <a:srgbClr val="FF0000"/>
                  </a:solidFill>
                  <a:latin typeface="Times New Roman" panose="02020603050405020304" pitchFamily="18" charset="0"/>
                  <a:ea typeface="仿宋_GB2312" pitchFamily="49" charset="-122"/>
                </a:endParaRPr>
              </a:p>
            </p:txBody>
          </p:sp>
        </p:grpSp>
        <p:grpSp>
          <p:nvGrpSpPr>
            <p:cNvPr id="158749" name="Group 27"/>
            <p:cNvGrpSpPr/>
            <p:nvPr/>
          </p:nvGrpSpPr>
          <p:grpSpPr>
            <a:xfrm>
              <a:off x="4246" y="3048"/>
              <a:ext cx="756" cy="477"/>
              <a:chOff x="1277" y="3160"/>
              <a:chExt cx="756" cy="477"/>
            </a:xfrm>
          </p:grpSpPr>
          <p:sp>
            <p:nvSpPr>
              <p:cNvPr id="158750" name="AutoShape 28"/>
              <p:cNvSpPr/>
              <p:nvPr/>
            </p:nvSpPr>
            <p:spPr>
              <a:xfrm>
                <a:off x="1552" y="3160"/>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51" name="Text Box 29"/>
              <p:cNvSpPr txBox="1"/>
              <p:nvPr/>
            </p:nvSpPr>
            <p:spPr>
              <a:xfrm>
                <a:off x="1277" y="3278"/>
                <a:ext cx="756" cy="359"/>
              </a:xfrm>
              <a:prstGeom prst="rect">
                <a:avLst/>
              </a:prstGeom>
              <a:noFill/>
              <a:ln w="9525">
                <a:noFill/>
              </a:ln>
            </p:spPr>
            <p:txBody>
              <a:bodyPr anchor="t" anchorCtr="0">
                <a:spAutoFit/>
              </a:bodyPr>
              <a:lstStyle/>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产品发布</a:t>
                </a:r>
                <a:endParaRPr lang="zh-CN" altLang="en-US" sz="2000" b="1" dirty="0">
                  <a:solidFill>
                    <a:schemeClr val="hlink"/>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里程碑</a:t>
                </a:r>
                <a:endParaRPr lang="zh-CN" altLang="en-US" sz="2000" b="1" dirty="0">
                  <a:solidFill>
                    <a:schemeClr val="hlink"/>
                  </a:solidFill>
                  <a:latin typeface="Times New Roman" panose="02020603050405020304" pitchFamily="18" charset="0"/>
                  <a:ea typeface="仿宋_GB2312" pitchFamily="49" charset="-122"/>
                </a:endParaRPr>
              </a:p>
            </p:txBody>
          </p:sp>
        </p:grpSp>
        <p:sp>
          <p:nvSpPr>
            <p:cNvPr id="158752" name="Text Box 30"/>
            <p:cNvSpPr txBox="1"/>
            <p:nvPr/>
          </p:nvSpPr>
          <p:spPr>
            <a:xfrm>
              <a:off x="727" y="3030"/>
              <a:ext cx="467" cy="239"/>
            </a:xfrm>
            <a:prstGeom prst="rect">
              <a:avLst/>
            </a:prstGeom>
            <a:noFill/>
            <a:ln w="9525">
              <a:noFill/>
            </a:ln>
          </p:spPr>
          <p:txBody>
            <a:bodyPr wrap="none" anchor="t" anchorCtr="0">
              <a:spAutoFit/>
            </a:bodyPr>
            <a:lstStyle/>
            <a:p>
              <a:pPr algn="ctr">
                <a:buClrTx/>
                <a:buFontTx/>
              </a:pPr>
              <a:r>
                <a:rPr lang="zh-CN" altLang="en-US" sz="2200" b="1" dirty="0">
                  <a:latin typeface="Times New Roman" panose="02020603050405020304" pitchFamily="18" charset="0"/>
                  <a:ea typeface="仿宋_GB2312" pitchFamily="49" charset="-122"/>
                </a:rPr>
                <a:t>时间</a:t>
              </a:r>
              <a:endParaRPr lang="zh-CN" altLang="en-US" sz="2200" b="1" dirty="0">
                <a:latin typeface="Times New Roman" panose="02020603050405020304" pitchFamily="18" charset="0"/>
                <a:ea typeface="仿宋_GB2312" pitchFamily="49" charset="-12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3392170"/>
            <a:ext cx="8169910" cy="3009900"/>
          </a:xfrm>
        </p:spPr>
        <p:txBody>
          <a:bodyPr vert="horz" wrap="square" lIns="91440" tIns="45720" rIns="91440" bIns="45720" anchor="t" anchorCtr="0"/>
          <a:lstStyle/>
          <a:p>
            <a:pPr eaLnBrk="1" hangingPunct="1">
              <a:lnSpc>
                <a:spcPct val="110000"/>
              </a:lnSpc>
              <a:spcBef>
                <a:spcPct val="15000"/>
              </a:spcBef>
            </a:pPr>
            <a:r>
              <a:rPr sz="2200" b="0" dirty="0">
                <a:latin typeface="Times New Roman" panose="02020603050405020304" pitchFamily="18" charset="0"/>
                <a:ea typeface="宋体" panose="02010600030101010101" pitchFamily="2" charset="-122"/>
              </a:rPr>
              <a:t>在</a:t>
            </a:r>
            <a:r>
              <a:rPr sz="2200" b="0" dirty="0">
                <a:highlight>
                  <a:srgbClr val="FFFF00"/>
                </a:highlight>
                <a:latin typeface="Times New Roman" panose="02020603050405020304" pitchFamily="18" charset="0"/>
                <a:ea typeface="宋体" panose="02010600030101010101" pitchFamily="2" charset="-122"/>
              </a:rPr>
              <a:t>构</a:t>
            </a:r>
            <a:r>
              <a:rPr lang="zh-CN" sz="2200" b="0" dirty="0">
                <a:highlight>
                  <a:srgbClr val="FFFF00"/>
                </a:highlight>
                <a:latin typeface="Times New Roman" panose="02020603050405020304" pitchFamily="18" charset="0"/>
                <a:ea typeface="宋体" panose="02010600030101010101" pitchFamily="2" charset="-122"/>
              </a:rPr>
              <a:t>造</a:t>
            </a:r>
            <a:r>
              <a:rPr sz="2200" b="0" dirty="0">
                <a:highlight>
                  <a:srgbClr val="FFFF00"/>
                </a:highlight>
                <a:latin typeface="Times New Roman" panose="02020603050405020304" pitchFamily="18" charset="0"/>
                <a:ea typeface="宋体" panose="02010600030101010101" pitchFamily="2" charset="-122"/>
              </a:rPr>
              <a:t>阶段</a:t>
            </a:r>
            <a:r>
              <a:rPr sz="2200" b="0" dirty="0">
                <a:latin typeface="Times New Roman" panose="02020603050405020304" pitchFamily="18" charset="0"/>
                <a:ea typeface="宋体" panose="02010600030101010101" pitchFamily="2" charset="-122"/>
              </a:rPr>
              <a:t>，所有剩余的构件和应用程序功能被开发并集成为产品，所有的功能被详细测试。从某种意义上说，构建阶段是一个制造过程，其重点放在管理资源及控制运作以优化成本、进度和质量。 构建阶段结束时是第三个重要的里程碑：</a:t>
            </a:r>
            <a:r>
              <a:rPr sz="2200" b="0" dirty="0">
                <a:highlight>
                  <a:srgbClr val="FFFF00"/>
                </a:highlight>
                <a:latin typeface="Times New Roman" panose="02020603050405020304" pitchFamily="18" charset="0"/>
                <a:ea typeface="宋体" panose="02010600030101010101" pitchFamily="2" charset="-122"/>
              </a:rPr>
              <a:t>初始功能(Initial Operational)里程碑</a:t>
            </a:r>
            <a:r>
              <a:rPr sz="2200" b="0" dirty="0">
                <a:latin typeface="Times New Roman" panose="02020603050405020304" pitchFamily="18" charset="0"/>
                <a:ea typeface="宋体" panose="02010600030101010101" pitchFamily="2" charset="-122"/>
              </a:rPr>
              <a:t>。初始功能里程碑决定了产品是否可以在测试环境中进行部署。此刻，要确定软件、环境、用户是否可以开始系统的运作。此时的产品版本也常被称为“beta”版。</a:t>
            </a:r>
            <a:endParaRPr sz="2200" b="0"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158725" name="Group 3"/>
          <p:cNvGrpSpPr/>
          <p:nvPr/>
        </p:nvGrpSpPr>
        <p:grpSpPr>
          <a:xfrm>
            <a:off x="693103" y="1485265"/>
            <a:ext cx="6856412" cy="1595438"/>
            <a:chOff x="727" y="2632"/>
            <a:chExt cx="4306" cy="893"/>
          </a:xfrm>
        </p:grpSpPr>
        <p:grpSp>
          <p:nvGrpSpPr>
            <p:cNvPr id="158726" name="Group 4"/>
            <p:cNvGrpSpPr/>
            <p:nvPr/>
          </p:nvGrpSpPr>
          <p:grpSpPr>
            <a:xfrm>
              <a:off x="937" y="2632"/>
              <a:ext cx="952" cy="296"/>
              <a:chOff x="848" y="2784"/>
              <a:chExt cx="952" cy="296"/>
            </a:xfrm>
          </p:grpSpPr>
          <p:sp>
            <p:nvSpPr>
              <p:cNvPr id="158727" name="Rectangle 5"/>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初始</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28" name="Line 6"/>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grpSp>
          <p:nvGrpSpPr>
            <p:cNvPr id="158729" name="Group 7"/>
            <p:cNvGrpSpPr/>
            <p:nvPr/>
          </p:nvGrpSpPr>
          <p:grpSpPr>
            <a:xfrm>
              <a:off x="1897" y="2632"/>
              <a:ext cx="952" cy="296"/>
              <a:chOff x="848" y="2784"/>
              <a:chExt cx="952" cy="296"/>
            </a:xfrm>
          </p:grpSpPr>
          <p:sp>
            <p:nvSpPr>
              <p:cNvPr id="158730" name="Rectangle 8"/>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细化</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1" name="Line 9"/>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sp>
          <p:nvSpPr>
            <p:cNvPr id="158732" name="Line 10"/>
            <p:cNvSpPr/>
            <p:nvPr/>
          </p:nvSpPr>
          <p:spPr>
            <a:xfrm>
              <a:off x="921" y="3032"/>
              <a:ext cx="4112" cy="0"/>
            </a:xfrm>
            <a:prstGeom prst="line">
              <a:avLst/>
            </a:prstGeom>
            <a:ln w="38100" cap="flat" cmpd="dbl">
              <a:solidFill>
                <a:schemeClr val="tx1"/>
              </a:solidFill>
              <a:prstDash val="solid"/>
              <a:round/>
              <a:headEnd type="none" w="med" len="med"/>
              <a:tailEnd type="triangle" w="med" len="med"/>
            </a:ln>
          </p:spPr>
        </p:sp>
        <p:grpSp>
          <p:nvGrpSpPr>
            <p:cNvPr id="158733" name="Group 11"/>
            <p:cNvGrpSpPr/>
            <p:nvPr/>
          </p:nvGrpSpPr>
          <p:grpSpPr>
            <a:xfrm>
              <a:off x="2857" y="2632"/>
              <a:ext cx="952" cy="296"/>
              <a:chOff x="848" y="2784"/>
              <a:chExt cx="952" cy="296"/>
            </a:xfrm>
          </p:grpSpPr>
          <p:sp>
            <p:nvSpPr>
              <p:cNvPr id="158734" name="Rectangle 12"/>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构造</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5" name="Line 13"/>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grpSp>
          <p:nvGrpSpPr>
            <p:cNvPr id="158736" name="Group 14"/>
            <p:cNvGrpSpPr/>
            <p:nvPr/>
          </p:nvGrpSpPr>
          <p:grpSpPr>
            <a:xfrm>
              <a:off x="3817" y="2632"/>
              <a:ext cx="952" cy="296"/>
              <a:chOff x="848" y="2784"/>
              <a:chExt cx="952" cy="296"/>
            </a:xfrm>
          </p:grpSpPr>
          <p:sp>
            <p:nvSpPr>
              <p:cNvPr id="158737" name="Rectangle 15"/>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移交</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8" name="Line 16"/>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sp>
          <p:nvSpPr>
            <p:cNvPr id="158739" name="Oval 17"/>
            <p:cNvSpPr/>
            <p:nvPr/>
          </p:nvSpPr>
          <p:spPr>
            <a:xfrm>
              <a:off x="4777" y="2688"/>
              <a:ext cx="184" cy="192"/>
            </a:xfrm>
            <a:prstGeom prst="ellipse">
              <a:avLst/>
            </a:prstGeom>
            <a:solidFill>
              <a:srgbClr val="B2B2B2"/>
            </a:solid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nvGrpSpPr>
            <p:cNvPr id="158740" name="Group 18"/>
            <p:cNvGrpSpPr/>
            <p:nvPr/>
          </p:nvGrpSpPr>
          <p:grpSpPr>
            <a:xfrm>
              <a:off x="2073" y="3048"/>
              <a:ext cx="1232" cy="477"/>
              <a:chOff x="1040" y="3160"/>
              <a:chExt cx="1232" cy="477"/>
            </a:xfrm>
          </p:grpSpPr>
          <p:sp>
            <p:nvSpPr>
              <p:cNvPr id="158741" name="AutoShape 19"/>
              <p:cNvSpPr/>
              <p:nvPr/>
            </p:nvSpPr>
            <p:spPr>
              <a:xfrm>
                <a:off x="1552" y="3160"/>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2" name="Text Box 20"/>
              <p:cNvSpPr txBox="1"/>
              <p:nvPr/>
            </p:nvSpPr>
            <p:spPr>
              <a:xfrm>
                <a:off x="1040" y="3278"/>
                <a:ext cx="1232"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生存期</a:t>
                </a:r>
                <a:endParaRPr lang="zh-CN" altLang="en-US" sz="2000" b="1" dirty="0">
                  <a:solidFill>
                    <a:schemeClr val="hlink"/>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体系结构里程碑</a:t>
                </a:r>
                <a:endParaRPr lang="zh-CN" altLang="en-US" sz="2000" b="1" dirty="0">
                  <a:solidFill>
                    <a:schemeClr val="hlink"/>
                  </a:solidFill>
                  <a:latin typeface="Times New Roman" panose="02020603050405020304" pitchFamily="18" charset="0"/>
                  <a:ea typeface="仿宋_GB2312" pitchFamily="49" charset="-122"/>
                </a:endParaRPr>
              </a:p>
            </p:txBody>
          </p:sp>
        </p:grpSp>
        <p:grpSp>
          <p:nvGrpSpPr>
            <p:cNvPr id="158743" name="Group 21"/>
            <p:cNvGrpSpPr/>
            <p:nvPr/>
          </p:nvGrpSpPr>
          <p:grpSpPr>
            <a:xfrm>
              <a:off x="1175" y="3048"/>
              <a:ext cx="913" cy="477"/>
              <a:chOff x="1175" y="3048"/>
              <a:chExt cx="913" cy="477"/>
            </a:xfrm>
          </p:grpSpPr>
          <p:sp>
            <p:nvSpPr>
              <p:cNvPr id="158744" name="AutoShape 22"/>
              <p:cNvSpPr/>
              <p:nvPr/>
            </p:nvSpPr>
            <p:spPr>
              <a:xfrm>
                <a:off x="1617" y="3048"/>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5" name="Text Box 23"/>
              <p:cNvSpPr txBox="1"/>
              <p:nvPr/>
            </p:nvSpPr>
            <p:spPr>
              <a:xfrm>
                <a:off x="1175" y="3166"/>
                <a:ext cx="913"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生存期</a:t>
                </a:r>
                <a:endParaRPr lang="zh-CN" altLang="en-US" sz="2000" b="1" dirty="0">
                  <a:solidFill>
                    <a:srgbClr val="FF0000"/>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目标里程碑</a:t>
                </a:r>
                <a:endParaRPr lang="zh-CN" altLang="en-US" sz="2000" b="1" dirty="0">
                  <a:solidFill>
                    <a:srgbClr val="FF0000"/>
                  </a:solidFill>
                  <a:latin typeface="Times New Roman" panose="02020603050405020304" pitchFamily="18" charset="0"/>
                  <a:ea typeface="仿宋_GB2312" pitchFamily="49" charset="-122"/>
                </a:endParaRPr>
              </a:p>
            </p:txBody>
          </p:sp>
        </p:grpSp>
        <p:grpSp>
          <p:nvGrpSpPr>
            <p:cNvPr id="158746" name="Group 24"/>
            <p:cNvGrpSpPr/>
            <p:nvPr/>
          </p:nvGrpSpPr>
          <p:grpSpPr>
            <a:xfrm>
              <a:off x="3271" y="3048"/>
              <a:ext cx="914" cy="477"/>
              <a:chOff x="3271" y="3048"/>
              <a:chExt cx="914" cy="477"/>
            </a:xfrm>
          </p:grpSpPr>
          <p:sp>
            <p:nvSpPr>
              <p:cNvPr id="158747" name="AutoShape 25"/>
              <p:cNvSpPr/>
              <p:nvPr/>
            </p:nvSpPr>
            <p:spPr>
              <a:xfrm>
                <a:off x="3545" y="3048"/>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8" name="Text Box 26"/>
              <p:cNvSpPr txBox="1"/>
              <p:nvPr/>
            </p:nvSpPr>
            <p:spPr>
              <a:xfrm>
                <a:off x="3271" y="3166"/>
                <a:ext cx="914"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最初运行</a:t>
                </a:r>
                <a:endParaRPr lang="zh-CN" altLang="en-US" sz="2000" b="1" dirty="0">
                  <a:solidFill>
                    <a:srgbClr val="FF0000"/>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能力里程碑</a:t>
                </a:r>
                <a:endParaRPr lang="zh-CN" altLang="en-US" sz="2000" b="1" dirty="0">
                  <a:solidFill>
                    <a:srgbClr val="FF0000"/>
                  </a:solidFill>
                  <a:latin typeface="Times New Roman" panose="02020603050405020304" pitchFamily="18" charset="0"/>
                  <a:ea typeface="仿宋_GB2312" pitchFamily="49" charset="-122"/>
                </a:endParaRPr>
              </a:p>
            </p:txBody>
          </p:sp>
        </p:grpSp>
        <p:grpSp>
          <p:nvGrpSpPr>
            <p:cNvPr id="158749" name="Group 27"/>
            <p:cNvGrpSpPr/>
            <p:nvPr/>
          </p:nvGrpSpPr>
          <p:grpSpPr>
            <a:xfrm>
              <a:off x="4246" y="3048"/>
              <a:ext cx="756" cy="477"/>
              <a:chOff x="1277" y="3160"/>
              <a:chExt cx="756" cy="477"/>
            </a:xfrm>
          </p:grpSpPr>
          <p:sp>
            <p:nvSpPr>
              <p:cNvPr id="158750" name="AutoShape 28"/>
              <p:cNvSpPr/>
              <p:nvPr/>
            </p:nvSpPr>
            <p:spPr>
              <a:xfrm>
                <a:off x="1552" y="3160"/>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51" name="Text Box 29"/>
              <p:cNvSpPr txBox="1"/>
              <p:nvPr/>
            </p:nvSpPr>
            <p:spPr>
              <a:xfrm>
                <a:off x="1277" y="3278"/>
                <a:ext cx="756" cy="359"/>
              </a:xfrm>
              <a:prstGeom prst="rect">
                <a:avLst/>
              </a:prstGeom>
              <a:noFill/>
              <a:ln w="9525">
                <a:noFill/>
              </a:ln>
            </p:spPr>
            <p:txBody>
              <a:bodyPr anchor="t" anchorCtr="0">
                <a:spAutoFit/>
              </a:bodyPr>
              <a:lstStyle/>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产品发布</a:t>
                </a:r>
                <a:endParaRPr lang="zh-CN" altLang="en-US" sz="2000" b="1" dirty="0">
                  <a:solidFill>
                    <a:schemeClr val="hlink"/>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里程碑</a:t>
                </a:r>
                <a:endParaRPr lang="zh-CN" altLang="en-US" sz="2000" b="1" dirty="0">
                  <a:solidFill>
                    <a:schemeClr val="hlink"/>
                  </a:solidFill>
                  <a:latin typeface="Times New Roman" panose="02020603050405020304" pitchFamily="18" charset="0"/>
                  <a:ea typeface="仿宋_GB2312" pitchFamily="49" charset="-122"/>
                </a:endParaRPr>
              </a:p>
            </p:txBody>
          </p:sp>
        </p:grpSp>
        <p:sp>
          <p:nvSpPr>
            <p:cNvPr id="158752" name="Text Box 30"/>
            <p:cNvSpPr txBox="1"/>
            <p:nvPr/>
          </p:nvSpPr>
          <p:spPr>
            <a:xfrm>
              <a:off x="727" y="3030"/>
              <a:ext cx="467" cy="239"/>
            </a:xfrm>
            <a:prstGeom prst="rect">
              <a:avLst/>
            </a:prstGeom>
            <a:noFill/>
            <a:ln w="9525">
              <a:noFill/>
            </a:ln>
          </p:spPr>
          <p:txBody>
            <a:bodyPr wrap="none" anchor="t" anchorCtr="0">
              <a:spAutoFit/>
            </a:bodyPr>
            <a:lstStyle/>
            <a:p>
              <a:pPr algn="ctr">
                <a:buClrTx/>
                <a:buFontTx/>
              </a:pPr>
              <a:r>
                <a:rPr lang="zh-CN" altLang="en-US" sz="2200" b="1" dirty="0">
                  <a:latin typeface="Times New Roman" panose="02020603050405020304" pitchFamily="18" charset="0"/>
                  <a:ea typeface="仿宋_GB2312" pitchFamily="49" charset="-122"/>
                </a:rPr>
                <a:t>时间</a:t>
              </a:r>
              <a:endParaRPr lang="zh-CN" altLang="en-US" sz="2200" b="1" dirty="0">
                <a:latin typeface="Times New Roman" panose="02020603050405020304" pitchFamily="18" charset="0"/>
                <a:ea typeface="仿宋_GB2312" pitchFamily="49"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3392170"/>
            <a:ext cx="8169910" cy="3009900"/>
          </a:xfrm>
        </p:spPr>
        <p:txBody>
          <a:bodyPr vert="horz" wrap="square" lIns="91440" tIns="45720" rIns="91440" bIns="45720" anchor="t" anchorCtr="0"/>
          <a:lstStyle/>
          <a:p>
            <a:pPr eaLnBrk="1" hangingPunct="1">
              <a:lnSpc>
                <a:spcPct val="110000"/>
              </a:lnSpc>
              <a:spcBef>
                <a:spcPct val="15000"/>
              </a:spcBef>
            </a:pPr>
            <a:r>
              <a:rPr sz="2200" b="0" dirty="0">
                <a:highlight>
                  <a:srgbClr val="FFFF00"/>
                </a:highlight>
                <a:latin typeface="Times New Roman" panose="02020603050405020304" pitchFamily="18" charset="0"/>
                <a:ea typeface="宋体" panose="02010600030101010101" pitchFamily="2" charset="-122"/>
              </a:rPr>
              <a:t>交付阶段</a:t>
            </a:r>
            <a:r>
              <a:rPr sz="2200" b="0" dirty="0">
                <a:latin typeface="Times New Roman" panose="02020603050405020304" pitchFamily="18" charset="0"/>
                <a:ea typeface="宋体" panose="02010600030101010101" pitchFamily="2" charset="-122"/>
              </a:rPr>
              <a:t>的重点是确保软件对最终用户是可用的。交付阶段可以跨越几次迭代，包括为发布做准备的产品测试，基于用户反馈的少量的调整。在生命周期的这一点上，用户反馈应主要集中在产品调整，设置、安装和可用性问题，所有主要的结构问题应该已经在项目生命周期的早期阶段解决了。 在交付阶段的终点是第四个里程碑：</a:t>
            </a:r>
            <a:r>
              <a:rPr sz="2200" b="0" dirty="0">
                <a:highlight>
                  <a:srgbClr val="FFFF00"/>
                </a:highlight>
                <a:latin typeface="Times New Roman" panose="02020603050405020304" pitchFamily="18" charset="0"/>
                <a:ea typeface="宋体" panose="02010600030101010101" pitchFamily="2" charset="-122"/>
              </a:rPr>
              <a:t>产品发布(Product Release)里程碑</a:t>
            </a:r>
            <a:r>
              <a:rPr sz="2200" b="0" dirty="0">
                <a:latin typeface="Times New Roman" panose="02020603050405020304" pitchFamily="18" charset="0"/>
                <a:ea typeface="宋体" panose="02010600030101010101" pitchFamily="2" charset="-122"/>
              </a:rPr>
              <a:t>。此时，要确定目标是否实现，是否应该开始另一个开发周期。在一些情况下这个里程碑可能与下一个周期的初始阶段的结束重合。</a:t>
            </a:r>
            <a:endParaRPr sz="2200" b="0"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158725" name="Group 3"/>
          <p:cNvGrpSpPr/>
          <p:nvPr/>
        </p:nvGrpSpPr>
        <p:grpSpPr>
          <a:xfrm>
            <a:off x="693103" y="1485265"/>
            <a:ext cx="6856412" cy="1595438"/>
            <a:chOff x="727" y="2632"/>
            <a:chExt cx="4306" cy="893"/>
          </a:xfrm>
        </p:grpSpPr>
        <p:grpSp>
          <p:nvGrpSpPr>
            <p:cNvPr id="158726" name="Group 4"/>
            <p:cNvGrpSpPr/>
            <p:nvPr/>
          </p:nvGrpSpPr>
          <p:grpSpPr>
            <a:xfrm>
              <a:off x="937" y="2632"/>
              <a:ext cx="952" cy="296"/>
              <a:chOff x="848" y="2784"/>
              <a:chExt cx="952" cy="296"/>
            </a:xfrm>
          </p:grpSpPr>
          <p:sp>
            <p:nvSpPr>
              <p:cNvPr id="158727" name="Rectangle 5"/>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初始</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28" name="Line 6"/>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grpSp>
          <p:nvGrpSpPr>
            <p:cNvPr id="158729" name="Group 7"/>
            <p:cNvGrpSpPr/>
            <p:nvPr/>
          </p:nvGrpSpPr>
          <p:grpSpPr>
            <a:xfrm>
              <a:off x="1897" y="2632"/>
              <a:ext cx="952" cy="296"/>
              <a:chOff x="848" y="2784"/>
              <a:chExt cx="952" cy="296"/>
            </a:xfrm>
          </p:grpSpPr>
          <p:sp>
            <p:nvSpPr>
              <p:cNvPr id="158730" name="Rectangle 8"/>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细化</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1" name="Line 9"/>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sp>
          <p:nvSpPr>
            <p:cNvPr id="158732" name="Line 10"/>
            <p:cNvSpPr/>
            <p:nvPr/>
          </p:nvSpPr>
          <p:spPr>
            <a:xfrm>
              <a:off x="921" y="3032"/>
              <a:ext cx="4112" cy="0"/>
            </a:xfrm>
            <a:prstGeom prst="line">
              <a:avLst/>
            </a:prstGeom>
            <a:ln w="38100" cap="flat" cmpd="dbl">
              <a:solidFill>
                <a:schemeClr val="tx1"/>
              </a:solidFill>
              <a:prstDash val="solid"/>
              <a:round/>
              <a:headEnd type="none" w="med" len="med"/>
              <a:tailEnd type="triangle" w="med" len="med"/>
            </a:ln>
          </p:spPr>
        </p:sp>
        <p:grpSp>
          <p:nvGrpSpPr>
            <p:cNvPr id="158733" name="Group 11"/>
            <p:cNvGrpSpPr/>
            <p:nvPr/>
          </p:nvGrpSpPr>
          <p:grpSpPr>
            <a:xfrm>
              <a:off x="2857" y="2632"/>
              <a:ext cx="952" cy="296"/>
              <a:chOff x="848" y="2784"/>
              <a:chExt cx="952" cy="296"/>
            </a:xfrm>
          </p:grpSpPr>
          <p:sp>
            <p:nvSpPr>
              <p:cNvPr id="158734" name="Rectangle 12"/>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构造</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5" name="Line 13"/>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grpSp>
          <p:nvGrpSpPr>
            <p:cNvPr id="158736" name="Group 14"/>
            <p:cNvGrpSpPr/>
            <p:nvPr/>
          </p:nvGrpSpPr>
          <p:grpSpPr>
            <a:xfrm>
              <a:off x="3817" y="2632"/>
              <a:ext cx="952" cy="296"/>
              <a:chOff x="848" y="2784"/>
              <a:chExt cx="952" cy="296"/>
            </a:xfrm>
          </p:grpSpPr>
          <p:sp>
            <p:nvSpPr>
              <p:cNvPr id="158737" name="Rectangle 15"/>
              <p:cNvSpPr/>
              <p:nvPr/>
            </p:nvSpPr>
            <p:spPr>
              <a:xfrm>
                <a:off x="848" y="2784"/>
                <a:ext cx="648" cy="296"/>
              </a:xfrm>
              <a:prstGeom prst="rect">
                <a:avLst/>
              </a:prstGeom>
              <a:solidFill>
                <a:srgbClr val="B2B2B2"/>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buClrTx/>
                  <a:buFontTx/>
                </a:pPr>
                <a:r>
                  <a:rPr lang="zh-CN" altLang="en-US" sz="2200" b="1" dirty="0">
                    <a:solidFill>
                      <a:schemeClr val="tx2"/>
                    </a:solidFill>
                    <a:latin typeface="Times New Roman" panose="02020603050405020304" pitchFamily="18" charset="0"/>
                    <a:ea typeface="仿宋_GB2312" pitchFamily="49" charset="-122"/>
                  </a:rPr>
                  <a:t>移交</a:t>
                </a:r>
                <a:endParaRPr lang="zh-CN" altLang="en-US" sz="2200" b="1" dirty="0">
                  <a:solidFill>
                    <a:schemeClr val="tx2"/>
                  </a:solidFill>
                  <a:latin typeface="Times New Roman" panose="02020603050405020304" pitchFamily="18" charset="0"/>
                  <a:ea typeface="仿宋_GB2312" pitchFamily="49" charset="-122"/>
                </a:endParaRPr>
              </a:p>
            </p:txBody>
          </p:sp>
          <p:sp>
            <p:nvSpPr>
              <p:cNvPr id="158738" name="Line 16"/>
              <p:cNvSpPr/>
              <p:nvPr/>
            </p:nvSpPr>
            <p:spPr>
              <a:xfrm>
                <a:off x="1504" y="2928"/>
                <a:ext cx="296" cy="0"/>
              </a:xfrm>
              <a:prstGeom prst="line">
                <a:avLst/>
              </a:prstGeom>
              <a:ln w="19050" cap="flat" cmpd="sng">
                <a:solidFill>
                  <a:schemeClr val="tx1"/>
                </a:solidFill>
                <a:prstDash val="solid"/>
                <a:round/>
                <a:headEnd type="none" w="med" len="med"/>
                <a:tailEnd type="triangle" w="sm" len="lg"/>
              </a:ln>
            </p:spPr>
          </p:sp>
        </p:grpSp>
        <p:sp>
          <p:nvSpPr>
            <p:cNvPr id="158739" name="Oval 17"/>
            <p:cNvSpPr/>
            <p:nvPr/>
          </p:nvSpPr>
          <p:spPr>
            <a:xfrm>
              <a:off x="4777" y="2688"/>
              <a:ext cx="184" cy="192"/>
            </a:xfrm>
            <a:prstGeom prst="ellipse">
              <a:avLst/>
            </a:prstGeom>
            <a:solidFill>
              <a:srgbClr val="B2B2B2"/>
            </a:solid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nvGrpSpPr>
            <p:cNvPr id="158740" name="Group 18"/>
            <p:cNvGrpSpPr/>
            <p:nvPr/>
          </p:nvGrpSpPr>
          <p:grpSpPr>
            <a:xfrm>
              <a:off x="2073" y="3048"/>
              <a:ext cx="1232" cy="477"/>
              <a:chOff x="1040" y="3160"/>
              <a:chExt cx="1232" cy="477"/>
            </a:xfrm>
          </p:grpSpPr>
          <p:sp>
            <p:nvSpPr>
              <p:cNvPr id="158741" name="AutoShape 19"/>
              <p:cNvSpPr/>
              <p:nvPr/>
            </p:nvSpPr>
            <p:spPr>
              <a:xfrm>
                <a:off x="1552" y="3160"/>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2" name="Text Box 20"/>
              <p:cNvSpPr txBox="1"/>
              <p:nvPr/>
            </p:nvSpPr>
            <p:spPr>
              <a:xfrm>
                <a:off x="1040" y="3278"/>
                <a:ext cx="1232"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生存期</a:t>
                </a:r>
                <a:endParaRPr lang="zh-CN" altLang="en-US" sz="2000" b="1" dirty="0">
                  <a:solidFill>
                    <a:schemeClr val="hlink"/>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体系结构里程碑</a:t>
                </a:r>
                <a:endParaRPr lang="zh-CN" altLang="en-US" sz="2000" b="1" dirty="0">
                  <a:solidFill>
                    <a:schemeClr val="hlink"/>
                  </a:solidFill>
                  <a:latin typeface="Times New Roman" panose="02020603050405020304" pitchFamily="18" charset="0"/>
                  <a:ea typeface="仿宋_GB2312" pitchFamily="49" charset="-122"/>
                </a:endParaRPr>
              </a:p>
            </p:txBody>
          </p:sp>
        </p:grpSp>
        <p:grpSp>
          <p:nvGrpSpPr>
            <p:cNvPr id="158743" name="Group 21"/>
            <p:cNvGrpSpPr/>
            <p:nvPr/>
          </p:nvGrpSpPr>
          <p:grpSpPr>
            <a:xfrm>
              <a:off x="1175" y="3048"/>
              <a:ext cx="913" cy="477"/>
              <a:chOff x="1175" y="3048"/>
              <a:chExt cx="913" cy="477"/>
            </a:xfrm>
          </p:grpSpPr>
          <p:sp>
            <p:nvSpPr>
              <p:cNvPr id="158744" name="AutoShape 22"/>
              <p:cNvSpPr/>
              <p:nvPr/>
            </p:nvSpPr>
            <p:spPr>
              <a:xfrm>
                <a:off x="1617" y="3048"/>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5" name="Text Box 23"/>
              <p:cNvSpPr txBox="1"/>
              <p:nvPr/>
            </p:nvSpPr>
            <p:spPr>
              <a:xfrm>
                <a:off x="1175" y="3166"/>
                <a:ext cx="913"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生存期</a:t>
                </a:r>
                <a:endParaRPr lang="zh-CN" altLang="en-US" sz="2000" b="1" dirty="0">
                  <a:solidFill>
                    <a:srgbClr val="FF0000"/>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目标里程碑</a:t>
                </a:r>
                <a:endParaRPr lang="zh-CN" altLang="en-US" sz="2000" b="1" dirty="0">
                  <a:solidFill>
                    <a:srgbClr val="FF0000"/>
                  </a:solidFill>
                  <a:latin typeface="Times New Roman" panose="02020603050405020304" pitchFamily="18" charset="0"/>
                  <a:ea typeface="仿宋_GB2312" pitchFamily="49" charset="-122"/>
                </a:endParaRPr>
              </a:p>
            </p:txBody>
          </p:sp>
        </p:grpSp>
        <p:grpSp>
          <p:nvGrpSpPr>
            <p:cNvPr id="158746" name="Group 24"/>
            <p:cNvGrpSpPr/>
            <p:nvPr/>
          </p:nvGrpSpPr>
          <p:grpSpPr>
            <a:xfrm>
              <a:off x="3271" y="3048"/>
              <a:ext cx="914" cy="477"/>
              <a:chOff x="3271" y="3048"/>
              <a:chExt cx="914" cy="477"/>
            </a:xfrm>
          </p:grpSpPr>
          <p:sp>
            <p:nvSpPr>
              <p:cNvPr id="158747" name="AutoShape 25"/>
              <p:cNvSpPr/>
              <p:nvPr/>
            </p:nvSpPr>
            <p:spPr>
              <a:xfrm>
                <a:off x="3545" y="3048"/>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48" name="Text Box 26"/>
              <p:cNvSpPr txBox="1"/>
              <p:nvPr/>
            </p:nvSpPr>
            <p:spPr>
              <a:xfrm>
                <a:off x="3271" y="3166"/>
                <a:ext cx="914" cy="359"/>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最初运行</a:t>
                </a:r>
                <a:endParaRPr lang="zh-CN" altLang="en-US" sz="2000" b="1" dirty="0">
                  <a:solidFill>
                    <a:srgbClr val="FF0000"/>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rgbClr val="FF0000"/>
                    </a:solidFill>
                    <a:latin typeface="Times New Roman" panose="02020603050405020304" pitchFamily="18" charset="0"/>
                    <a:ea typeface="仿宋_GB2312" pitchFamily="49" charset="-122"/>
                  </a:rPr>
                  <a:t>能力里程碑</a:t>
                </a:r>
                <a:endParaRPr lang="zh-CN" altLang="en-US" sz="2000" b="1" dirty="0">
                  <a:solidFill>
                    <a:srgbClr val="FF0000"/>
                  </a:solidFill>
                  <a:latin typeface="Times New Roman" panose="02020603050405020304" pitchFamily="18" charset="0"/>
                  <a:ea typeface="仿宋_GB2312" pitchFamily="49" charset="-122"/>
                </a:endParaRPr>
              </a:p>
            </p:txBody>
          </p:sp>
        </p:grpSp>
        <p:grpSp>
          <p:nvGrpSpPr>
            <p:cNvPr id="158749" name="Group 27"/>
            <p:cNvGrpSpPr/>
            <p:nvPr/>
          </p:nvGrpSpPr>
          <p:grpSpPr>
            <a:xfrm>
              <a:off x="4246" y="3048"/>
              <a:ext cx="756" cy="477"/>
              <a:chOff x="1277" y="3160"/>
              <a:chExt cx="756" cy="477"/>
            </a:xfrm>
          </p:grpSpPr>
          <p:sp>
            <p:nvSpPr>
              <p:cNvPr id="158750" name="AutoShape 28"/>
              <p:cNvSpPr/>
              <p:nvPr/>
            </p:nvSpPr>
            <p:spPr>
              <a:xfrm>
                <a:off x="1552" y="3160"/>
                <a:ext cx="258" cy="104"/>
              </a:xfrm>
              <a:prstGeom prst="triangle">
                <a:avLst>
                  <a:gd name="adj" fmla="val 50000"/>
                </a:avLst>
              </a:prstGeom>
              <a:solidFill>
                <a:schemeClr val="hlink"/>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58751" name="Text Box 29"/>
              <p:cNvSpPr txBox="1"/>
              <p:nvPr/>
            </p:nvSpPr>
            <p:spPr>
              <a:xfrm>
                <a:off x="1277" y="3278"/>
                <a:ext cx="756" cy="359"/>
              </a:xfrm>
              <a:prstGeom prst="rect">
                <a:avLst/>
              </a:prstGeom>
              <a:noFill/>
              <a:ln w="9525">
                <a:noFill/>
              </a:ln>
            </p:spPr>
            <p:txBody>
              <a:bodyPr anchor="t" anchorCtr="0">
                <a:spAutoFit/>
              </a:bodyPr>
              <a:lstStyle/>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产品发布</a:t>
                </a:r>
                <a:endParaRPr lang="zh-CN" altLang="en-US" sz="2000" b="1" dirty="0">
                  <a:solidFill>
                    <a:schemeClr val="hlink"/>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里程碑</a:t>
                </a:r>
                <a:endParaRPr lang="zh-CN" altLang="en-US" sz="2000" b="1" dirty="0">
                  <a:solidFill>
                    <a:schemeClr val="hlink"/>
                  </a:solidFill>
                  <a:latin typeface="Times New Roman" panose="02020603050405020304" pitchFamily="18" charset="0"/>
                  <a:ea typeface="仿宋_GB2312" pitchFamily="49" charset="-122"/>
                </a:endParaRPr>
              </a:p>
            </p:txBody>
          </p:sp>
        </p:grpSp>
        <p:sp>
          <p:nvSpPr>
            <p:cNvPr id="158752" name="Text Box 30"/>
            <p:cNvSpPr txBox="1"/>
            <p:nvPr/>
          </p:nvSpPr>
          <p:spPr>
            <a:xfrm>
              <a:off x="727" y="3030"/>
              <a:ext cx="467" cy="239"/>
            </a:xfrm>
            <a:prstGeom prst="rect">
              <a:avLst/>
            </a:prstGeom>
            <a:noFill/>
            <a:ln w="9525">
              <a:noFill/>
            </a:ln>
          </p:spPr>
          <p:txBody>
            <a:bodyPr wrap="none" anchor="t" anchorCtr="0">
              <a:spAutoFit/>
            </a:bodyPr>
            <a:lstStyle/>
            <a:p>
              <a:pPr algn="ctr">
                <a:buClrTx/>
                <a:buFontTx/>
              </a:pPr>
              <a:r>
                <a:rPr lang="zh-CN" altLang="en-US" sz="2200" b="1" dirty="0">
                  <a:latin typeface="Times New Roman" panose="02020603050405020304" pitchFamily="18" charset="0"/>
                  <a:ea typeface="仿宋_GB2312" pitchFamily="49" charset="-122"/>
                </a:rPr>
                <a:t>时间</a:t>
              </a:r>
              <a:endParaRPr lang="zh-CN" altLang="en-US" sz="2200" b="1" dirty="0">
                <a:latin typeface="Times New Roman" panose="02020603050405020304" pitchFamily="18" charset="0"/>
                <a:ea typeface="仿宋_GB2312" pitchFamily="49" charset="-122"/>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533400" indent="-533400" eaLnBrk="1" hangingPunct="1">
              <a:spcBef>
                <a:spcPct val="15000"/>
              </a:spcBef>
            </a:pPr>
            <a:r>
              <a:rPr lang="zh-CN" altLang="en-US" dirty="0">
                <a:sym typeface="+mn-ea"/>
              </a:rPr>
              <a:t>这 </a:t>
            </a:r>
            <a:r>
              <a:rPr lang="en-US" altLang="zh-CN" dirty="0">
                <a:sym typeface="+mn-ea"/>
              </a:rPr>
              <a:t>4 </a:t>
            </a:r>
            <a:r>
              <a:rPr lang="zh-CN" altLang="en-US" dirty="0">
                <a:sym typeface="+mn-ea"/>
              </a:rPr>
              <a:t>个阶段经历的时间是不同的。每个阶段时间的长短要具体情况具体分析。</a:t>
            </a:r>
            <a:endParaRPr lang="zh-CN" altLang="en-US" dirty="0"/>
          </a:p>
          <a:p>
            <a:pPr marL="533400" indent="-533400" eaLnBrk="1" hangingPunct="1">
              <a:spcBef>
                <a:spcPct val="15000"/>
              </a:spcBef>
            </a:pPr>
            <a:endParaRPr lang="zh-CN" altLang="en-US" dirty="0"/>
          </a:p>
          <a:p>
            <a:pPr marL="533400" indent="-533400" eaLnBrk="1" hangingPunct="1">
              <a:spcBef>
                <a:spcPct val="15000"/>
              </a:spcBef>
            </a:pPr>
            <a:r>
              <a:rPr lang="zh-CN" altLang="en-US" dirty="0">
                <a:sym typeface="+mn-ea"/>
              </a:rPr>
              <a:t>典型的时间分配如下：</a:t>
            </a:r>
            <a:endParaRPr lang="zh-CN" altLang="en-US" dirty="0"/>
          </a:p>
          <a:p>
            <a:pPr eaLnBrk="1" hangingPunct="1">
              <a:lnSpc>
                <a:spcPct val="110000"/>
              </a:lnSpc>
              <a:spcBef>
                <a:spcPct val="1500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1500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1500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15000"/>
              </a:spcBef>
            </a:pPr>
            <a:endParaRPr lang="zh-CN" altLang="en-US" dirty="0">
              <a:sym typeface="+mn-ea"/>
            </a:endParaRPr>
          </a:p>
          <a:p>
            <a:pPr eaLnBrk="1" hangingPunct="1">
              <a:lnSpc>
                <a:spcPct val="110000"/>
              </a:lnSpc>
              <a:spcBef>
                <a:spcPct val="15000"/>
              </a:spcBef>
            </a:pPr>
            <a:r>
              <a:rPr lang="en-US" altLang="zh-CN" dirty="0">
                <a:sym typeface="+mn-ea"/>
              </a:rPr>
              <a:t>   </a:t>
            </a:r>
            <a:r>
              <a:rPr lang="zh-CN" altLang="en-US" dirty="0">
                <a:sym typeface="+mn-ea"/>
              </a:rPr>
              <a:t>特定项目环境导致各阶段时间长短可能有很大不同。每个阶段最重要的是</a:t>
            </a:r>
            <a:r>
              <a:rPr lang="zh-CN" altLang="en-US" dirty="0">
                <a:solidFill>
                  <a:schemeClr val="hlink"/>
                </a:solidFill>
                <a:sym typeface="+mn-ea"/>
              </a:rPr>
              <a:t>阶段目标</a:t>
            </a:r>
            <a:r>
              <a:rPr lang="zh-CN" altLang="en-US" dirty="0">
                <a:sym typeface="+mn-ea"/>
              </a:rPr>
              <a:t>和</a:t>
            </a:r>
            <a:r>
              <a:rPr lang="zh-CN" altLang="en-US" dirty="0">
                <a:solidFill>
                  <a:schemeClr val="hlink"/>
                </a:solidFill>
                <a:sym typeface="+mn-ea"/>
              </a:rPr>
              <a:t>里程碑</a:t>
            </a:r>
            <a:r>
              <a:rPr lang="zh-CN" altLang="en-US" dirty="0">
                <a:sym typeface="+mn-ea"/>
              </a:rPr>
              <a:t>。</a:t>
            </a:r>
            <a:endParaRPr lang="zh-CN" altLang="en-US" dirty="0"/>
          </a:p>
          <a:p>
            <a:pPr eaLnBrk="1" hangingPunct="1">
              <a:lnSpc>
                <a:spcPct val="110000"/>
              </a:lnSpc>
              <a:spcBef>
                <a:spcPct val="15000"/>
              </a:spcBef>
            </a:pP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160773" name="Group 3"/>
          <p:cNvGrpSpPr/>
          <p:nvPr/>
        </p:nvGrpSpPr>
        <p:grpSpPr>
          <a:xfrm>
            <a:off x="1187450" y="3434715"/>
            <a:ext cx="6680200" cy="1608138"/>
            <a:chOff x="824" y="2344"/>
            <a:chExt cx="4208" cy="1013"/>
          </a:xfrm>
        </p:grpSpPr>
        <p:sp>
          <p:nvSpPr>
            <p:cNvPr id="160774" name="Rectangle 4"/>
            <p:cNvSpPr/>
            <p:nvPr/>
          </p:nvSpPr>
          <p:spPr>
            <a:xfrm>
              <a:off x="824" y="2344"/>
              <a:ext cx="4208" cy="616"/>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60775" name="Text Box 5"/>
            <p:cNvSpPr txBox="1"/>
            <p:nvPr/>
          </p:nvSpPr>
          <p:spPr>
            <a:xfrm>
              <a:off x="830" y="2393"/>
              <a:ext cx="468" cy="522"/>
            </a:xfrm>
            <a:prstGeom prst="rect">
              <a:avLst/>
            </a:prstGeom>
            <a:noFill/>
            <a:ln w="9525">
              <a:noFill/>
            </a:ln>
          </p:spPr>
          <p:txBody>
            <a:bodyPr wrap="none" anchor="t" anchorCtr="0">
              <a:spAutoFit/>
            </a:bodyPr>
            <a:lstStyle/>
            <a:p>
              <a:pPr algn="ctr">
                <a:spcBef>
                  <a:spcPct val="20000"/>
                </a:spcBef>
                <a:buClrTx/>
                <a:buFontTx/>
              </a:pPr>
              <a:r>
                <a:rPr lang="en-US" altLang="zh-CN" sz="2200" b="1" dirty="0">
                  <a:solidFill>
                    <a:schemeClr val="tx2"/>
                  </a:solidFill>
                  <a:latin typeface="Times New Roman" panose="02020603050405020304" pitchFamily="18" charset="0"/>
                  <a:ea typeface="宋体" panose="02010600030101010101" pitchFamily="2" charset="-122"/>
                </a:rPr>
                <a:t>I</a:t>
              </a:r>
              <a:endParaRPr lang="en-US" altLang="zh-CN" sz="2200" b="1" dirty="0">
                <a:solidFill>
                  <a:schemeClr val="tx2"/>
                </a:solidFill>
                <a:latin typeface="Times New Roman" panose="02020603050405020304" pitchFamily="18" charset="0"/>
                <a:ea typeface="宋体" panose="02010600030101010101" pitchFamily="2" charset="-122"/>
              </a:endParaRPr>
            </a:p>
            <a:p>
              <a:pPr algn="ctr">
                <a:spcBef>
                  <a:spcPct val="20000"/>
                </a:spcBef>
                <a:buClrTx/>
                <a:buFontTx/>
              </a:pPr>
              <a:r>
                <a:rPr lang="en-US" altLang="zh-CN" sz="2200" b="1" dirty="0">
                  <a:solidFill>
                    <a:schemeClr val="hlink"/>
                  </a:solidFill>
                  <a:latin typeface="Times New Roman" panose="02020603050405020304" pitchFamily="18" charset="0"/>
                  <a:ea typeface="宋体" panose="02010600030101010101" pitchFamily="2" charset="-122"/>
                </a:rPr>
                <a:t>10%</a:t>
              </a:r>
              <a:endParaRPr lang="en-US" altLang="zh-CN" sz="2200" b="1" dirty="0">
                <a:solidFill>
                  <a:schemeClr val="hlink"/>
                </a:solidFill>
                <a:latin typeface="Times New Roman" panose="02020603050405020304" pitchFamily="18" charset="0"/>
                <a:ea typeface="宋体" panose="02010600030101010101" pitchFamily="2" charset="-122"/>
              </a:endParaRPr>
            </a:p>
          </p:txBody>
        </p:sp>
        <p:sp>
          <p:nvSpPr>
            <p:cNvPr id="160776" name="Line 6"/>
            <p:cNvSpPr/>
            <p:nvPr/>
          </p:nvSpPr>
          <p:spPr>
            <a:xfrm>
              <a:off x="1312" y="2344"/>
              <a:ext cx="0" cy="616"/>
            </a:xfrm>
            <a:prstGeom prst="line">
              <a:avLst/>
            </a:prstGeom>
            <a:ln w="9525" cap="flat" cmpd="sng">
              <a:solidFill>
                <a:schemeClr val="tx1"/>
              </a:solidFill>
              <a:prstDash val="solid"/>
              <a:round/>
              <a:headEnd type="none" w="med" len="med"/>
              <a:tailEnd type="none" w="med" len="med"/>
            </a:ln>
          </p:spPr>
        </p:sp>
        <p:sp>
          <p:nvSpPr>
            <p:cNvPr id="160777" name="Text Box 7"/>
            <p:cNvSpPr txBox="1"/>
            <p:nvPr/>
          </p:nvSpPr>
          <p:spPr>
            <a:xfrm>
              <a:off x="1654" y="2393"/>
              <a:ext cx="468" cy="522"/>
            </a:xfrm>
            <a:prstGeom prst="rect">
              <a:avLst/>
            </a:prstGeom>
            <a:noFill/>
            <a:ln w="9525">
              <a:noFill/>
            </a:ln>
          </p:spPr>
          <p:txBody>
            <a:bodyPr wrap="none" anchor="t" anchorCtr="0">
              <a:spAutoFit/>
            </a:bodyPr>
            <a:lstStyle/>
            <a:p>
              <a:pPr algn="ctr">
                <a:spcBef>
                  <a:spcPct val="20000"/>
                </a:spcBef>
                <a:buClrTx/>
                <a:buFontTx/>
              </a:pPr>
              <a:r>
                <a:rPr lang="en-US" altLang="zh-CN" sz="2200" b="1" dirty="0">
                  <a:solidFill>
                    <a:schemeClr val="tx2"/>
                  </a:solidFill>
                  <a:latin typeface="Times New Roman" panose="02020603050405020304" pitchFamily="18" charset="0"/>
                  <a:ea typeface="宋体" panose="02010600030101010101" pitchFamily="2" charset="-122"/>
                </a:rPr>
                <a:t>E</a:t>
              </a:r>
              <a:endParaRPr lang="en-US" altLang="zh-CN" sz="2200" b="1" dirty="0">
                <a:solidFill>
                  <a:schemeClr val="tx2"/>
                </a:solidFill>
                <a:latin typeface="Times New Roman" panose="02020603050405020304" pitchFamily="18" charset="0"/>
                <a:ea typeface="宋体" panose="02010600030101010101" pitchFamily="2" charset="-122"/>
              </a:endParaRPr>
            </a:p>
            <a:p>
              <a:pPr algn="ctr">
                <a:spcBef>
                  <a:spcPct val="20000"/>
                </a:spcBef>
                <a:buClrTx/>
                <a:buFontTx/>
              </a:pPr>
              <a:r>
                <a:rPr lang="en-US" altLang="zh-CN" sz="2200" b="1" dirty="0">
                  <a:solidFill>
                    <a:schemeClr val="hlink"/>
                  </a:solidFill>
                  <a:latin typeface="Times New Roman" panose="02020603050405020304" pitchFamily="18" charset="0"/>
                  <a:ea typeface="宋体" panose="02010600030101010101" pitchFamily="2" charset="-122"/>
                </a:rPr>
                <a:t>30%</a:t>
              </a:r>
              <a:endParaRPr lang="en-US" altLang="zh-CN" sz="2200" b="1" dirty="0">
                <a:solidFill>
                  <a:schemeClr val="hlink"/>
                </a:solidFill>
                <a:latin typeface="Times New Roman" panose="02020603050405020304" pitchFamily="18" charset="0"/>
                <a:ea typeface="宋体" panose="02010600030101010101" pitchFamily="2" charset="-122"/>
              </a:endParaRPr>
            </a:p>
          </p:txBody>
        </p:sp>
        <p:sp>
          <p:nvSpPr>
            <p:cNvPr id="160778" name="Line 8"/>
            <p:cNvSpPr/>
            <p:nvPr/>
          </p:nvSpPr>
          <p:spPr>
            <a:xfrm>
              <a:off x="2496" y="2344"/>
              <a:ext cx="0" cy="616"/>
            </a:xfrm>
            <a:prstGeom prst="line">
              <a:avLst/>
            </a:prstGeom>
            <a:ln w="9525" cap="flat" cmpd="sng">
              <a:solidFill>
                <a:schemeClr val="tx1"/>
              </a:solidFill>
              <a:prstDash val="solid"/>
              <a:round/>
              <a:headEnd type="none" w="med" len="med"/>
              <a:tailEnd type="none" w="med" len="med"/>
            </a:ln>
          </p:spPr>
        </p:sp>
        <p:sp>
          <p:nvSpPr>
            <p:cNvPr id="160779" name="Text Box 9"/>
            <p:cNvSpPr txBox="1"/>
            <p:nvPr/>
          </p:nvSpPr>
          <p:spPr>
            <a:xfrm>
              <a:off x="4542" y="2385"/>
              <a:ext cx="468" cy="522"/>
            </a:xfrm>
            <a:prstGeom prst="rect">
              <a:avLst/>
            </a:prstGeom>
            <a:noFill/>
            <a:ln w="9525">
              <a:noFill/>
            </a:ln>
          </p:spPr>
          <p:txBody>
            <a:bodyPr wrap="none" anchor="t" anchorCtr="0">
              <a:spAutoFit/>
            </a:bodyPr>
            <a:lstStyle/>
            <a:p>
              <a:pPr algn="ctr">
                <a:spcBef>
                  <a:spcPct val="20000"/>
                </a:spcBef>
                <a:buClrTx/>
                <a:buFontTx/>
              </a:pPr>
              <a:r>
                <a:rPr lang="en-US" altLang="zh-CN" sz="2200" b="1" dirty="0">
                  <a:solidFill>
                    <a:schemeClr val="tx2"/>
                  </a:solidFill>
                  <a:latin typeface="Times New Roman" panose="02020603050405020304" pitchFamily="18" charset="0"/>
                  <a:ea typeface="宋体" panose="02010600030101010101" pitchFamily="2" charset="-122"/>
                </a:rPr>
                <a:t>T</a:t>
              </a:r>
              <a:endParaRPr lang="en-US" altLang="zh-CN" sz="2200" b="1" dirty="0">
                <a:solidFill>
                  <a:schemeClr val="tx2"/>
                </a:solidFill>
                <a:latin typeface="Times New Roman" panose="02020603050405020304" pitchFamily="18" charset="0"/>
                <a:ea typeface="宋体" panose="02010600030101010101" pitchFamily="2" charset="-122"/>
              </a:endParaRPr>
            </a:p>
            <a:p>
              <a:pPr algn="ctr">
                <a:spcBef>
                  <a:spcPct val="20000"/>
                </a:spcBef>
                <a:buClrTx/>
                <a:buFontTx/>
              </a:pPr>
              <a:r>
                <a:rPr lang="en-US" altLang="zh-CN" sz="2200" b="1" dirty="0">
                  <a:solidFill>
                    <a:schemeClr val="hlink"/>
                  </a:solidFill>
                  <a:latin typeface="Times New Roman" panose="02020603050405020304" pitchFamily="18" charset="0"/>
                  <a:ea typeface="宋体" panose="02010600030101010101" pitchFamily="2" charset="-122"/>
                </a:rPr>
                <a:t>10%</a:t>
              </a:r>
              <a:endParaRPr lang="en-US" altLang="zh-CN" sz="2200" b="1" dirty="0">
                <a:solidFill>
                  <a:schemeClr val="hlink"/>
                </a:solidFill>
                <a:latin typeface="Times New Roman" panose="02020603050405020304" pitchFamily="18" charset="0"/>
                <a:ea typeface="宋体" panose="02010600030101010101" pitchFamily="2" charset="-122"/>
              </a:endParaRPr>
            </a:p>
          </p:txBody>
        </p:sp>
        <p:sp>
          <p:nvSpPr>
            <p:cNvPr id="160780" name="Line 10"/>
            <p:cNvSpPr/>
            <p:nvPr/>
          </p:nvSpPr>
          <p:spPr>
            <a:xfrm>
              <a:off x="4544" y="2344"/>
              <a:ext cx="0" cy="616"/>
            </a:xfrm>
            <a:prstGeom prst="line">
              <a:avLst/>
            </a:prstGeom>
            <a:ln w="9525" cap="flat" cmpd="sng">
              <a:solidFill>
                <a:schemeClr val="tx1"/>
              </a:solidFill>
              <a:prstDash val="solid"/>
              <a:round/>
              <a:headEnd type="none" w="med" len="med"/>
              <a:tailEnd type="none" w="med" len="med"/>
            </a:ln>
          </p:spPr>
        </p:sp>
        <p:sp>
          <p:nvSpPr>
            <p:cNvPr id="160781" name="Text Box 11"/>
            <p:cNvSpPr txBox="1"/>
            <p:nvPr/>
          </p:nvSpPr>
          <p:spPr>
            <a:xfrm>
              <a:off x="3206" y="2393"/>
              <a:ext cx="468" cy="522"/>
            </a:xfrm>
            <a:prstGeom prst="rect">
              <a:avLst/>
            </a:prstGeom>
            <a:noFill/>
            <a:ln w="9525">
              <a:noFill/>
            </a:ln>
          </p:spPr>
          <p:txBody>
            <a:bodyPr wrap="none" anchor="t" anchorCtr="0">
              <a:spAutoFit/>
            </a:bodyPr>
            <a:lstStyle/>
            <a:p>
              <a:pPr algn="ctr">
                <a:spcBef>
                  <a:spcPct val="20000"/>
                </a:spcBef>
                <a:buClrTx/>
                <a:buFontTx/>
              </a:pPr>
              <a:r>
                <a:rPr lang="en-US" altLang="zh-CN" sz="2200" b="1" dirty="0">
                  <a:solidFill>
                    <a:schemeClr val="tx2"/>
                  </a:solidFill>
                  <a:latin typeface="Times New Roman" panose="02020603050405020304" pitchFamily="18" charset="0"/>
                  <a:ea typeface="宋体" panose="02010600030101010101" pitchFamily="2" charset="-122"/>
                </a:rPr>
                <a:t>C</a:t>
              </a:r>
              <a:endParaRPr lang="en-US" altLang="zh-CN" sz="2200" b="1" dirty="0">
                <a:solidFill>
                  <a:schemeClr val="tx2"/>
                </a:solidFill>
                <a:latin typeface="Times New Roman" panose="02020603050405020304" pitchFamily="18" charset="0"/>
                <a:ea typeface="宋体" panose="02010600030101010101" pitchFamily="2" charset="-122"/>
              </a:endParaRPr>
            </a:p>
            <a:p>
              <a:pPr algn="ctr">
                <a:spcBef>
                  <a:spcPct val="20000"/>
                </a:spcBef>
                <a:buClrTx/>
                <a:buFontTx/>
              </a:pPr>
              <a:r>
                <a:rPr lang="en-US" altLang="zh-CN" sz="2200" b="1" dirty="0">
                  <a:solidFill>
                    <a:schemeClr val="hlink"/>
                  </a:solidFill>
                  <a:latin typeface="Times New Roman" panose="02020603050405020304" pitchFamily="18" charset="0"/>
                  <a:ea typeface="宋体" panose="02010600030101010101" pitchFamily="2" charset="-122"/>
                </a:rPr>
                <a:t>50%</a:t>
              </a:r>
              <a:endParaRPr lang="en-US" altLang="zh-CN" sz="2200" b="1" dirty="0">
                <a:solidFill>
                  <a:schemeClr val="hlink"/>
                </a:solidFill>
                <a:latin typeface="Times New Roman" panose="02020603050405020304" pitchFamily="18" charset="0"/>
                <a:ea typeface="宋体" panose="02010600030101010101" pitchFamily="2" charset="-122"/>
              </a:endParaRPr>
            </a:p>
          </p:txBody>
        </p:sp>
        <p:sp>
          <p:nvSpPr>
            <p:cNvPr id="160782" name="Line 12"/>
            <p:cNvSpPr/>
            <p:nvPr/>
          </p:nvSpPr>
          <p:spPr>
            <a:xfrm>
              <a:off x="832" y="3088"/>
              <a:ext cx="4168" cy="0"/>
            </a:xfrm>
            <a:prstGeom prst="line">
              <a:avLst/>
            </a:prstGeom>
            <a:ln w="28575" cap="flat" cmpd="sng">
              <a:solidFill>
                <a:schemeClr val="tx1"/>
              </a:solidFill>
              <a:prstDash val="solid"/>
              <a:round/>
              <a:headEnd type="none" w="med" len="med"/>
              <a:tailEnd type="triangle" w="sm" len="lg"/>
            </a:ln>
          </p:spPr>
        </p:sp>
        <p:sp>
          <p:nvSpPr>
            <p:cNvPr id="160783" name="Text Box 13"/>
            <p:cNvSpPr txBox="1"/>
            <p:nvPr/>
          </p:nvSpPr>
          <p:spPr>
            <a:xfrm>
              <a:off x="4278" y="3069"/>
              <a:ext cx="500" cy="288"/>
            </a:xfrm>
            <a:prstGeom prst="rect">
              <a:avLst/>
            </a:prstGeom>
            <a:noFill/>
            <a:ln w="9525">
              <a:noFill/>
            </a:ln>
          </p:spPr>
          <p:txBody>
            <a:bodyPr wrap="none" anchor="t" anchorCtr="0">
              <a:spAutoFit/>
            </a:bodyPr>
            <a:lstStyle/>
            <a:p>
              <a:pPr algn="ctr">
                <a:buClrTx/>
                <a:buFontTx/>
              </a:pPr>
              <a:r>
                <a:rPr lang="zh-CN" altLang="en-US" sz="2400" b="1" dirty="0">
                  <a:latin typeface="Times New Roman" panose="02020603050405020304" pitchFamily="18" charset="0"/>
                  <a:ea typeface="仿宋_GB2312" pitchFamily="49" charset="-122"/>
                </a:rPr>
                <a:t>时间</a:t>
              </a:r>
              <a:endParaRPr lang="zh-CN" altLang="en-US" sz="2400" b="1" dirty="0">
                <a:latin typeface="Times New Roman" panose="02020603050405020304" pitchFamily="18" charset="0"/>
                <a:ea typeface="仿宋_GB2312" pitchFamily="49" charset="-122"/>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eaLnBrk="1" hangingPunct="1">
              <a:lnSpc>
                <a:spcPct val="105000"/>
              </a:lnSpc>
              <a:spcBef>
                <a:spcPct val="10000"/>
              </a:spcBef>
            </a:pPr>
            <a:r>
              <a:rPr lang="zh-CN" altLang="en-US" dirty="0">
                <a:sym typeface="+mn-ea"/>
              </a:rPr>
              <a:t>这 </a:t>
            </a:r>
            <a:r>
              <a:rPr lang="en-US" altLang="zh-CN" dirty="0">
                <a:sym typeface="+mn-ea"/>
              </a:rPr>
              <a:t>4 </a:t>
            </a:r>
            <a:r>
              <a:rPr lang="zh-CN" altLang="en-US" dirty="0">
                <a:sym typeface="+mn-ea"/>
              </a:rPr>
              <a:t>个阶段构成开发周期，周期结束时产生一代新的软件产品。</a:t>
            </a:r>
            <a:endParaRPr lang="zh-CN" altLang="en-US" dirty="0"/>
          </a:p>
          <a:p>
            <a:pPr eaLnBrk="1" hangingPunct="1">
              <a:lnSpc>
                <a:spcPct val="105000"/>
              </a:lnSpc>
              <a:spcBef>
                <a:spcPct val="10000"/>
              </a:spcBef>
            </a:pPr>
            <a:r>
              <a:rPr lang="zh-CN" altLang="en-US" dirty="0">
                <a:sym typeface="+mn-ea"/>
              </a:rPr>
              <a:t>软件产品产生于初始开发周期，随着重复执行同样的过程，软件发展到下一代产品，这一时期即为软件的进化周期。</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161797" name="Group 3"/>
          <p:cNvGrpSpPr/>
          <p:nvPr/>
        </p:nvGrpSpPr>
        <p:grpSpPr>
          <a:xfrm>
            <a:off x="936625" y="3580130"/>
            <a:ext cx="7405688" cy="2590800"/>
            <a:chOff x="590" y="1984"/>
            <a:chExt cx="4665" cy="1632"/>
          </a:xfrm>
        </p:grpSpPr>
        <p:grpSp>
          <p:nvGrpSpPr>
            <p:cNvPr id="161798" name="Group 4"/>
            <p:cNvGrpSpPr/>
            <p:nvPr/>
          </p:nvGrpSpPr>
          <p:grpSpPr>
            <a:xfrm>
              <a:off x="650" y="2096"/>
              <a:ext cx="1998" cy="296"/>
              <a:chOff x="650" y="2096"/>
              <a:chExt cx="1998" cy="296"/>
            </a:xfrm>
          </p:grpSpPr>
          <p:grpSp>
            <p:nvGrpSpPr>
              <p:cNvPr id="161799" name="Group 5"/>
              <p:cNvGrpSpPr/>
              <p:nvPr/>
            </p:nvGrpSpPr>
            <p:grpSpPr>
              <a:xfrm>
                <a:off x="650" y="2096"/>
                <a:ext cx="1642" cy="296"/>
                <a:chOff x="650" y="2096"/>
                <a:chExt cx="1642" cy="296"/>
              </a:xfrm>
            </p:grpSpPr>
            <p:sp>
              <p:nvSpPr>
                <p:cNvPr id="161800" name="Rectangle 6"/>
                <p:cNvSpPr/>
                <p:nvPr/>
              </p:nvSpPr>
              <p:spPr>
                <a:xfrm>
                  <a:off x="672" y="2096"/>
                  <a:ext cx="1448" cy="288"/>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61801" name="Text Box 7"/>
                <p:cNvSpPr txBox="1"/>
                <p:nvPr/>
              </p:nvSpPr>
              <p:spPr>
                <a:xfrm>
                  <a:off x="650" y="2104"/>
                  <a:ext cx="1642" cy="288"/>
                </a:xfrm>
                <a:prstGeom prst="rect">
                  <a:avLst/>
                </a:prstGeom>
                <a:noFill/>
                <a:ln w="9525">
                  <a:noFill/>
                </a:ln>
              </p:spPr>
              <p:txBody>
                <a:bodyPr wrap="none" anchor="t" anchorCtr="0">
                  <a:spAutoFit/>
                </a:bodyPr>
                <a:lstStyle/>
                <a:p>
                  <a:pPr>
                    <a:buClrTx/>
                    <a:buFontTx/>
                  </a:pPr>
                  <a:r>
                    <a:rPr lang="en-US" altLang="zh-CN" sz="2400" dirty="0">
                      <a:solidFill>
                        <a:schemeClr val="tx2"/>
                      </a:solidFill>
                      <a:latin typeface="Times New Roman" panose="02020603050405020304" pitchFamily="18" charset="0"/>
                      <a:ea typeface="宋体" panose="02010600030101010101" pitchFamily="2" charset="-122"/>
                    </a:rPr>
                    <a:t> </a:t>
                  </a:r>
                  <a:r>
                    <a:rPr lang="en-US" altLang="zh-CN" sz="2400" b="1" dirty="0">
                      <a:solidFill>
                        <a:schemeClr val="tx2"/>
                      </a:solidFill>
                      <a:latin typeface="Times New Roman" panose="02020603050405020304" pitchFamily="18" charset="0"/>
                      <a:ea typeface="宋体" panose="02010600030101010101" pitchFamily="2" charset="-122"/>
                    </a:rPr>
                    <a:t>I    E         C     T</a:t>
                  </a:r>
                  <a:r>
                    <a:rPr lang="en-US" altLang="zh-CN" sz="2400" dirty="0">
                      <a:solidFill>
                        <a:schemeClr val="tx2"/>
                      </a:solidFill>
                      <a:latin typeface="Times New Roman" panose="02020603050405020304" pitchFamily="18" charset="0"/>
                      <a:ea typeface="宋体" panose="02010600030101010101" pitchFamily="2" charset="-122"/>
                    </a:rPr>
                    <a:t>   </a:t>
                  </a:r>
                  <a:endParaRPr lang="en-US" altLang="zh-CN" sz="2400" dirty="0">
                    <a:solidFill>
                      <a:schemeClr val="tx2"/>
                    </a:solidFill>
                    <a:latin typeface="Times New Roman" panose="02020603050405020304" pitchFamily="18" charset="0"/>
                    <a:ea typeface="宋体" panose="02010600030101010101" pitchFamily="2" charset="-122"/>
                  </a:endParaRPr>
                </a:p>
              </p:txBody>
            </p:sp>
            <p:sp>
              <p:nvSpPr>
                <p:cNvPr id="161802" name="Line 8"/>
                <p:cNvSpPr/>
                <p:nvPr/>
              </p:nvSpPr>
              <p:spPr>
                <a:xfrm>
                  <a:off x="880" y="2096"/>
                  <a:ext cx="0" cy="288"/>
                </a:xfrm>
                <a:prstGeom prst="line">
                  <a:avLst/>
                </a:prstGeom>
                <a:ln w="9525" cap="flat" cmpd="sng">
                  <a:solidFill>
                    <a:schemeClr val="tx1"/>
                  </a:solidFill>
                  <a:prstDash val="solid"/>
                  <a:round/>
                  <a:headEnd type="none" w="med" len="med"/>
                  <a:tailEnd type="none" w="med" len="med"/>
                </a:ln>
              </p:spPr>
            </p:sp>
            <p:sp>
              <p:nvSpPr>
                <p:cNvPr id="161803" name="Line 9"/>
                <p:cNvSpPr/>
                <p:nvPr/>
              </p:nvSpPr>
              <p:spPr>
                <a:xfrm>
                  <a:off x="1928" y="2096"/>
                  <a:ext cx="0" cy="288"/>
                </a:xfrm>
                <a:prstGeom prst="line">
                  <a:avLst/>
                </a:prstGeom>
                <a:ln w="9525" cap="flat" cmpd="sng">
                  <a:solidFill>
                    <a:schemeClr val="tx1"/>
                  </a:solidFill>
                  <a:prstDash val="solid"/>
                  <a:round/>
                  <a:headEnd type="none" w="med" len="med"/>
                  <a:tailEnd type="none" w="med" len="med"/>
                </a:ln>
              </p:spPr>
            </p:sp>
            <p:sp>
              <p:nvSpPr>
                <p:cNvPr id="161804" name="Line 10"/>
                <p:cNvSpPr/>
                <p:nvPr/>
              </p:nvSpPr>
              <p:spPr>
                <a:xfrm>
                  <a:off x="1296" y="2096"/>
                  <a:ext cx="0" cy="288"/>
                </a:xfrm>
                <a:prstGeom prst="line">
                  <a:avLst/>
                </a:prstGeom>
                <a:ln w="9525" cap="flat" cmpd="sng">
                  <a:solidFill>
                    <a:schemeClr val="tx1"/>
                  </a:solidFill>
                  <a:prstDash val="solid"/>
                  <a:round/>
                  <a:headEnd type="none" w="med" len="med"/>
                  <a:tailEnd type="none" w="med" len="med"/>
                </a:ln>
              </p:spPr>
            </p:sp>
          </p:grpSp>
          <p:sp>
            <p:nvSpPr>
              <p:cNvPr id="161805" name="Line 11"/>
              <p:cNvSpPr/>
              <p:nvPr/>
            </p:nvSpPr>
            <p:spPr>
              <a:xfrm>
                <a:off x="2120" y="2200"/>
                <a:ext cx="352" cy="0"/>
              </a:xfrm>
              <a:prstGeom prst="line">
                <a:avLst/>
              </a:prstGeom>
              <a:ln w="19050" cap="flat" cmpd="sng">
                <a:solidFill>
                  <a:schemeClr val="tx1"/>
                </a:solidFill>
                <a:prstDash val="solid"/>
                <a:round/>
                <a:headEnd type="none" w="med" len="med"/>
                <a:tailEnd type="triangle" w="med" len="med"/>
              </a:ln>
            </p:spPr>
          </p:sp>
          <p:sp>
            <p:nvSpPr>
              <p:cNvPr id="161806" name="Oval 12"/>
              <p:cNvSpPr/>
              <p:nvPr/>
            </p:nvSpPr>
            <p:spPr>
              <a:xfrm>
                <a:off x="2464" y="2120"/>
                <a:ext cx="184" cy="17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grpSp>
          <p:nvGrpSpPr>
            <p:cNvPr id="161807" name="Group 13"/>
            <p:cNvGrpSpPr/>
            <p:nvPr/>
          </p:nvGrpSpPr>
          <p:grpSpPr>
            <a:xfrm>
              <a:off x="1801" y="2704"/>
              <a:ext cx="1998" cy="296"/>
              <a:chOff x="1801" y="2704"/>
              <a:chExt cx="1998" cy="296"/>
            </a:xfrm>
          </p:grpSpPr>
          <p:grpSp>
            <p:nvGrpSpPr>
              <p:cNvPr id="161808" name="Group 14"/>
              <p:cNvGrpSpPr/>
              <p:nvPr/>
            </p:nvGrpSpPr>
            <p:grpSpPr>
              <a:xfrm>
                <a:off x="1801" y="2704"/>
                <a:ext cx="1642" cy="296"/>
                <a:chOff x="1801" y="2704"/>
                <a:chExt cx="1642" cy="296"/>
              </a:xfrm>
            </p:grpSpPr>
            <p:sp>
              <p:nvSpPr>
                <p:cNvPr id="161809" name="Rectangle 15"/>
                <p:cNvSpPr/>
                <p:nvPr/>
              </p:nvSpPr>
              <p:spPr>
                <a:xfrm>
                  <a:off x="1823" y="2704"/>
                  <a:ext cx="1448" cy="288"/>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61810" name="Text Box 16"/>
                <p:cNvSpPr txBox="1"/>
                <p:nvPr/>
              </p:nvSpPr>
              <p:spPr>
                <a:xfrm>
                  <a:off x="1801" y="2712"/>
                  <a:ext cx="1642" cy="288"/>
                </a:xfrm>
                <a:prstGeom prst="rect">
                  <a:avLst/>
                </a:prstGeom>
                <a:noFill/>
                <a:ln w="9525">
                  <a:noFill/>
                </a:ln>
              </p:spPr>
              <p:txBody>
                <a:bodyPr wrap="none" anchor="t" anchorCtr="0">
                  <a:spAutoFit/>
                </a:bodyPr>
                <a:lstStyle/>
                <a:p>
                  <a:pPr>
                    <a:buClrTx/>
                    <a:buFontTx/>
                  </a:pPr>
                  <a:r>
                    <a:rPr lang="en-US" altLang="zh-CN" sz="2400" dirty="0">
                      <a:solidFill>
                        <a:schemeClr val="tx2"/>
                      </a:solidFill>
                      <a:latin typeface="Times New Roman" panose="02020603050405020304" pitchFamily="18" charset="0"/>
                      <a:ea typeface="宋体" panose="02010600030101010101" pitchFamily="2" charset="-122"/>
                    </a:rPr>
                    <a:t> </a:t>
                  </a:r>
                  <a:r>
                    <a:rPr lang="en-US" altLang="zh-CN" sz="2400" b="1" dirty="0">
                      <a:solidFill>
                        <a:schemeClr val="tx2"/>
                      </a:solidFill>
                      <a:latin typeface="Times New Roman" panose="02020603050405020304" pitchFamily="18" charset="0"/>
                      <a:ea typeface="宋体" panose="02010600030101010101" pitchFamily="2" charset="-122"/>
                    </a:rPr>
                    <a:t>I    E         C     T</a:t>
                  </a:r>
                  <a:r>
                    <a:rPr lang="en-US" altLang="zh-CN" sz="2400" dirty="0">
                      <a:solidFill>
                        <a:schemeClr val="tx2"/>
                      </a:solidFill>
                      <a:latin typeface="Times New Roman" panose="02020603050405020304" pitchFamily="18" charset="0"/>
                      <a:ea typeface="宋体" panose="02010600030101010101" pitchFamily="2" charset="-122"/>
                    </a:rPr>
                    <a:t>   </a:t>
                  </a:r>
                  <a:endParaRPr lang="en-US" altLang="zh-CN" sz="2400" dirty="0">
                    <a:solidFill>
                      <a:schemeClr val="tx2"/>
                    </a:solidFill>
                    <a:latin typeface="Times New Roman" panose="02020603050405020304" pitchFamily="18" charset="0"/>
                    <a:ea typeface="宋体" panose="02010600030101010101" pitchFamily="2" charset="-122"/>
                  </a:endParaRPr>
                </a:p>
              </p:txBody>
            </p:sp>
            <p:sp>
              <p:nvSpPr>
                <p:cNvPr id="161811" name="Line 17"/>
                <p:cNvSpPr/>
                <p:nvPr/>
              </p:nvSpPr>
              <p:spPr>
                <a:xfrm>
                  <a:off x="2031" y="2704"/>
                  <a:ext cx="0" cy="288"/>
                </a:xfrm>
                <a:prstGeom prst="line">
                  <a:avLst/>
                </a:prstGeom>
                <a:ln w="9525" cap="flat" cmpd="sng">
                  <a:solidFill>
                    <a:schemeClr val="tx1"/>
                  </a:solidFill>
                  <a:prstDash val="solid"/>
                  <a:round/>
                  <a:headEnd type="none" w="med" len="med"/>
                  <a:tailEnd type="none" w="med" len="med"/>
                </a:ln>
              </p:spPr>
            </p:sp>
            <p:sp>
              <p:nvSpPr>
                <p:cNvPr id="161812" name="Line 18"/>
                <p:cNvSpPr/>
                <p:nvPr/>
              </p:nvSpPr>
              <p:spPr>
                <a:xfrm>
                  <a:off x="3079" y="2704"/>
                  <a:ext cx="0" cy="288"/>
                </a:xfrm>
                <a:prstGeom prst="line">
                  <a:avLst/>
                </a:prstGeom>
                <a:ln w="9525" cap="flat" cmpd="sng">
                  <a:solidFill>
                    <a:schemeClr val="tx1"/>
                  </a:solidFill>
                  <a:prstDash val="solid"/>
                  <a:round/>
                  <a:headEnd type="none" w="med" len="med"/>
                  <a:tailEnd type="none" w="med" len="med"/>
                </a:ln>
              </p:spPr>
            </p:sp>
            <p:sp>
              <p:nvSpPr>
                <p:cNvPr id="161813" name="Line 19"/>
                <p:cNvSpPr/>
                <p:nvPr/>
              </p:nvSpPr>
              <p:spPr>
                <a:xfrm>
                  <a:off x="2447" y="2704"/>
                  <a:ext cx="0" cy="288"/>
                </a:xfrm>
                <a:prstGeom prst="line">
                  <a:avLst/>
                </a:prstGeom>
                <a:ln w="9525" cap="flat" cmpd="sng">
                  <a:solidFill>
                    <a:schemeClr val="tx1"/>
                  </a:solidFill>
                  <a:prstDash val="solid"/>
                  <a:round/>
                  <a:headEnd type="none" w="med" len="med"/>
                  <a:tailEnd type="none" w="med" len="med"/>
                </a:ln>
              </p:spPr>
            </p:sp>
          </p:grpSp>
          <p:sp>
            <p:nvSpPr>
              <p:cNvPr id="161814" name="Line 20"/>
              <p:cNvSpPr/>
              <p:nvPr/>
            </p:nvSpPr>
            <p:spPr>
              <a:xfrm>
                <a:off x="3271" y="2808"/>
                <a:ext cx="352" cy="0"/>
              </a:xfrm>
              <a:prstGeom prst="line">
                <a:avLst/>
              </a:prstGeom>
              <a:ln w="19050" cap="flat" cmpd="sng">
                <a:solidFill>
                  <a:schemeClr val="tx1"/>
                </a:solidFill>
                <a:prstDash val="solid"/>
                <a:round/>
                <a:headEnd type="none" w="med" len="med"/>
                <a:tailEnd type="triangle" w="med" len="med"/>
              </a:ln>
            </p:spPr>
          </p:sp>
          <p:sp>
            <p:nvSpPr>
              <p:cNvPr id="161815" name="Oval 21"/>
              <p:cNvSpPr/>
              <p:nvPr/>
            </p:nvSpPr>
            <p:spPr>
              <a:xfrm>
                <a:off x="3615" y="2728"/>
                <a:ext cx="184" cy="17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grpSp>
          <p:nvGrpSpPr>
            <p:cNvPr id="161816" name="Group 22"/>
            <p:cNvGrpSpPr/>
            <p:nvPr/>
          </p:nvGrpSpPr>
          <p:grpSpPr>
            <a:xfrm>
              <a:off x="2944" y="3320"/>
              <a:ext cx="1998" cy="296"/>
              <a:chOff x="2944" y="3320"/>
              <a:chExt cx="1998" cy="296"/>
            </a:xfrm>
          </p:grpSpPr>
          <p:grpSp>
            <p:nvGrpSpPr>
              <p:cNvPr id="161817" name="Group 23"/>
              <p:cNvGrpSpPr/>
              <p:nvPr/>
            </p:nvGrpSpPr>
            <p:grpSpPr>
              <a:xfrm>
                <a:off x="2944" y="3320"/>
                <a:ext cx="1642" cy="296"/>
                <a:chOff x="2944" y="3320"/>
                <a:chExt cx="1642" cy="296"/>
              </a:xfrm>
            </p:grpSpPr>
            <p:sp>
              <p:nvSpPr>
                <p:cNvPr id="161818" name="Rectangle 24"/>
                <p:cNvSpPr/>
                <p:nvPr/>
              </p:nvSpPr>
              <p:spPr>
                <a:xfrm>
                  <a:off x="2966" y="3320"/>
                  <a:ext cx="1448" cy="288"/>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61819" name="Text Box 25"/>
                <p:cNvSpPr txBox="1"/>
                <p:nvPr/>
              </p:nvSpPr>
              <p:spPr>
                <a:xfrm>
                  <a:off x="2944" y="3328"/>
                  <a:ext cx="1642" cy="288"/>
                </a:xfrm>
                <a:prstGeom prst="rect">
                  <a:avLst/>
                </a:prstGeom>
                <a:noFill/>
                <a:ln w="9525">
                  <a:noFill/>
                </a:ln>
              </p:spPr>
              <p:txBody>
                <a:bodyPr wrap="none" anchor="t" anchorCtr="0">
                  <a:spAutoFit/>
                </a:bodyPr>
                <a:lstStyle/>
                <a:p>
                  <a:pPr>
                    <a:buClrTx/>
                    <a:buFontTx/>
                  </a:pPr>
                  <a:r>
                    <a:rPr lang="en-US" altLang="zh-CN" sz="2400" dirty="0">
                      <a:solidFill>
                        <a:schemeClr val="tx2"/>
                      </a:solidFill>
                      <a:latin typeface="Times New Roman" panose="02020603050405020304" pitchFamily="18" charset="0"/>
                      <a:ea typeface="宋体" panose="02010600030101010101" pitchFamily="2" charset="-122"/>
                    </a:rPr>
                    <a:t> </a:t>
                  </a:r>
                  <a:r>
                    <a:rPr lang="en-US" altLang="zh-CN" sz="2400" b="1" dirty="0">
                      <a:solidFill>
                        <a:schemeClr val="tx2"/>
                      </a:solidFill>
                      <a:latin typeface="Times New Roman" panose="02020603050405020304" pitchFamily="18" charset="0"/>
                      <a:ea typeface="宋体" panose="02010600030101010101" pitchFamily="2" charset="-122"/>
                    </a:rPr>
                    <a:t>I    E         C     T</a:t>
                  </a:r>
                  <a:r>
                    <a:rPr lang="en-US" altLang="zh-CN" sz="2400" dirty="0">
                      <a:solidFill>
                        <a:schemeClr val="tx2"/>
                      </a:solidFill>
                      <a:latin typeface="Times New Roman" panose="02020603050405020304" pitchFamily="18" charset="0"/>
                      <a:ea typeface="宋体" panose="02010600030101010101" pitchFamily="2" charset="-122"/>
                    </a:rPr>
                    <a:t>   </a:t>
                  </a:r>
                  <a:endParaRPr lang="en-US" altLang="zh-CN" sz="2400" dirty="0">
                    <a:solidFill>
                      <a:schemeClr val="tx2"/>
                    </a:solidFill>
                    <a:latin typeface="Times New Roman" panose="02020603050405020304" pitchFamily="18" charset="0"/>
                    <a:ea typeface="宋体" panose="02010600030101010101" pitchFamily="2" charset="-122"/>
                  </a:endParaRPr>
                </a:p>
              </p:txBody>
            </p:sp>
            <p:sp>
              <p:nvSpPr>
                <p:cNvPr id="161820" name="Line 26"/>
                <p:cNvSpPr/>
                <p:nvPr/>
              </p:nvSpPr>
              <p:spPr>
                <a:xfrm>
                  <a:off x="3174" y="3320"/>
                  <a:ext cx="0" cy="288"/>
                </a:xfrm>
                <a:prstGeom prst="line">
                  <a:avLst/>
                </a:prstGeom>
                <a:ln w="9525" cap="flat" cmpd="sng">
                  <a:solidFill>
                    <a:schemeClr val="tx1"/>
                  </a:solidFill>
                  <a:prstDash val="solid"/>
                  <a:round/>
                  <a:headEnd type="none" w="med" len="med"/>
                  <a:tailEnd type="none" w="med" len="med"/>
                </a:ln>
              </p:spPr>
            </p:sp>
            <p:sp>
              <p:nvSpPr>
                <p:cNvPr id="161821" name="Line 27"/>
                <p:cNvSpPr/>
                <p:nvPr/>
              </p:nvSpPr>
              <p:spPr>
                <a:xfrm>
                  <a:off x="4222" y="3320"/>
                  <a:ext cx="0" cy="288"/>
                </a:xfrm>
                <a:prstGeom prst="line">
                  <a:avLst/>
                </a:prstGeom>
                <a:ln w="9525" cap="flat" cmpd="sng">
                  <a:solidFill>
                    <a:schemeClr val="tx1"/>
                  </a:solidFill>
                  <a:prstDash val="solid"/>
                  <a:round/>
                  <a:headEnd type="none" w="med" len="med"/>
                  <a:tailEnd type="none" w="med" len="med"/>
                </a:ln>
              </p:spPr>
            </p:sp>
            <p:sp>
              <p:nvSpPr>
                <p:cNvPr id="161822" name="Line 28"/>
                <p:cNvSpPr/>
                <p:nvPr/>
              </p:nvSpPr>
              <p:spPr>
                <a:xfrm>
                  <a:off x="3590" y="3320"/>
                  <a:ext cx="0" cy="288"/>
                </a:xfrm>
                <a:prstGeom prst="line">
                  <a:avLst/>
                </a:prstGeom>
                <a:ln w="9525" cap="flat" cmpd="sng">
                  <a:solidFill>
                    <a:schemeClr val="tx1"/>
                  </a:solidFill>
                  <a:prstDash val="solid"/>
                  <a:round/>
                  <a:headEnd type="none" w="med" len="med"/>
                  <a:tailEnd type="none" w="med" len="med"/>
                </a:ln>
              </p:spPr>
            </p:sp>
          </p:grpSp>
          <p:sp>
            <p:nvSpPr>
              <p:cNvPr id="161823" name="Line 29"/>
              <p:cNvSpPr/>
              <p:nvPr/>
            </p:nvSpPr>
            <p:spPr>
              <a:xfrm>
                <a:off x="4414" y="3424"/>
                <a:ext cx="352" cy="0"/>
              </a:xfrm>
              <a:prstGeom prst="line">
                <a:avLst/>
              </a:prstGeom>
              <a:ln w="19050" cap="flat" cmpd="sng">
                <a:solidFill>
                  <a:schemeClr val="tx1"/>
                </a:solidFill>
                <a:prstDash val="solid"/>
                <a:round/>
                <a:headEnd type="none" w="med" len="med"/>
                <a:tailEnd type="triangle" w="med" len="med"/>
              </a:ln>
            </p:spPr>
          </p:sp>
          <p:sp>
            <p:nvSpPr>
              <p:cNvPr id="161824" name="Oval 30"/>
              <p:cNvSpPr/>
              <p:nvPr/>
            </p:nvSpPr>
            <p:spPr>
              <a:xfrm>
                <a:off x="4758" y="3344"/>
                <a:ext cx="184" cy="17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sp>
          <p:nvSpPr>
            <p:cNvPr id="161825" name="Text Box 31"/>
            <p:cNvSpPr txBox="1"/>
            <p:nvPr/>
          </p:nvSpPr>
          <p:spPr>
            <a:xfrm>
              <a:off x="2616" y="1984"/>
              <a:ext cx="351" cy="288"/>
            </a:xfrm>
            <a:prstGeom prst="rect">
              <a:avLst/>
            </a:prstGeom>
            <a:noFill/>
            <a:ln w="9525">
              <a:noFill/>
            </a:ln>
          </p:spPr>
          <p:txBody>
            <a:bodyPr wrap="none" anchor="t" anchorCtr="0">
              <a:spAutoFit/>
            </a:bodyPr>
            <a:lstStyle/>
            <a:p>
              <a:pPr algn="ctr">
                <a:buClrTx/>
                <a:buFontTx/>
              </a:pPr>
              <a:r>
                <a:rPr lang="en-US" altLang="zh-CN" sz="2400" b="1" dirty="0">
                  <a:solidFill>
                    <a:schemeClr val="hlink"/>
                  </a:solidFill>
                  <a:latin typeface="Times New Roman" panose="02020603050405020304" pitchFamily="18" charset="0"/>
                  <a:ea typeface="宋体" panose="02010600030101010101" pitchFamily="2" charset="-122"/>
                </a:rPr>
                <a:t>V1</a:t>
              </a:r>
              <a:endParaRPr lang="en-US" altLang="zh-CN" sz="2400" b="1" dirty="0">
                <a:solidFill>
                  <a:schemeClr val="hlink"/>
                </a:solidFill>
                <a:latin typeface="Times New Roman" panose="02020603050405020304" pitchFamily="18" charset="0"/>
                <a:ea typeface="宋体" panose="02010600030101010101" pitchFamily="2" charset="-122"/>
              </a:endParaRPr>
            </a:p>
          </p:txBody>
        </p:sp>
        <p:sp>
          <p:nvSpPr>
            <p:cNvPr id="161826" name="Text Box 32"/>
            <p:cNvSpPr txBox="1"/>
            <p:nvPr/>
          </p:nvSpPr>
          <p:spPr>
            <a:xfrm>
              <a:off x="3760" y="2592"/>
              <a:ext cx="351" cy="288"/>
            </a:xfrm>
            <a:prstGeom prst="rect">
              <a:avLst/>
            </a:prstGeom>
            <a:noFill/>
            <a:ln w="9525">
              <a:noFill/>
            </a:ln>
          </p:spPr>
          <p:txBody>
            <a:bodyPr wrap="none" anchor="t" anchorCtr="0">
              <a:spAutoFit/>
            </a:bodyPr>
            <a:lstStyle/>
            <a:p>
              <a:pPr algn="ctr">
                <a:buClrTx/>
                <a:buFontTx/>
              </a:pPr>
              <a:r>
                <a:rPr lang="en-US" altLang="zh-CN" sz="2400" b="1" dirty="0">
                  <a:solidFill>
                    <a:schemeClr val="hlink"/>
                  </a:solidFill>
                  <a:latin typeface="Times New Roman" panose="02020603050405020304" pitchFamily="18" charset="0"/>
                  <a:ea typeface="宋体" panose="02010600030101010101" pitchFamily="2" charset="-122"/>
                </a:rPr>
                <a:t>V2</a:t>
              </a:r>
              <a:endParaRPr lang="en-US" altLang="zh-CN" sz="2400" b="1" dirty="0">
                <a:solidFill>
                  <a:schemeClr val="hlink"/>
                </a:solidFill>
                <a:latin typeface="Times New Roman" panose="02020603050405020304" pitchFamily="18" charset="0"/>
                <a:ea typeface="宋体" panose="02010600030101010101" pitchFamily="2" charset="-122"/>
              </a:endParaRPr>
            </a:p>
          </p:txBody>
        </p:sp>
        <p:sp>
          <p:nvSpPr>
            <p:cNvPr id="161827" name="Text Box 33"/>
            <p:cNvSpPr txBox="1"/>
            <p:nvPr/>
          </p:nvSpPr>
          <p:spPr>
            <a:xfrm>
              <a:off x="4904" y="3200"/>
              <a:ext cx="351" cy="288"/>
            </a:xfrm>
            <a:prstGeom prst="rect">
              <a:avLst/>
            </a:prstGeom>
            <a:noFill/>
            <a:ln w="9525">
              <a:noFill/>
            </a:ln>
          </p:spPr>
          <p:txBody>
            <a:bodyPr wrap="none" anchor="t" anchorCtr="0">
              <a:spAutoFit/>
            </a:bodyPr>
            <a:lstStyle/>
            <a:p>
              <a:pPr algn="ctr">
                <a:buClrTx/>
                <a:buFontTx/>
              </a:pPr>
              <a:r>
                <a:rPr lang="en-US" altLang="zh-CN" sz="2400" b="1" dirty="0">
                  <a:solidFill>
                    <a:schemeClr val="hlink"/>
                  </a:solidFill>
                  <a:latin typeface="Times New Roman" panose="02020603050405020304" pitchFamily="18" charset="0"/>
                  <a:ea typeface="宋体" panose="02010600030101010101" pitchFamily="2" charset="-122"/>
                </a:rPr>
                <a:t>V3</a:t>
              </a:r>
              <a:endParaRPr lang="en-US" altLang="zh-CN" sz="2400" b="1" dirty="0">
                <a:solidFill>
                  <a:schemeClr val="hlink"/>
                </a:solidFill>
                <a:latin typeface="Times New Roman" panose="02020603050405020304" pitchFamily="18" charset="0"/>
                <a:ea typeface="宋体" panose="02010600030101010101" pitchFamily="2" charset="-122"/>
              </a:endParaRPr>
            </a:p>
          </p:txBody>
        </p:sp>
        <p:sp>
          <p:nvSpPr>
            <p:cNvPr id="161828" name="Freeform 34"/>
            <p:cNvSpPr/>
            <p:nvPr/>
          </p:nvSpPr>
          <p:spPr>
            <a:xfrm>
              <a:off x="1621" y="2256"/>
              <a:ext cx="746" cy="573"/>
            </a:xfrm>
            <a:custGeom>
              <a:avLst/>
              <a:gdLst/>
              <a:ahLst/>
              <a:cxnLst>
                <a:cxn ang="0">
                  <a:pos x="515" y="0"/>
                </a:cxn>
                <a:cxn ang="0">
                  <a:pos x="635" y="32"/>
                </a:cxn>
                <a:cxn ang="0">
                  <a:pos x="699" y="136"/>
                </a:cxn>
                <a:cxn ang="0">
                  <a:pos x="659" y="288"/>
                </a:cxn>
                <a:cxn ang="0">
                  <a:pos x="179" y="336"/>
                </a:cxn>
                <a:cxn ang="0">
                  <a:pos x="11" y="480"/>
                </a:cxn>
                <a:cxn ang="0">
                  <a:pos x="115" y="560"/>
                </a:cxn>
                <a:cxn ang="0">
                  <a:pos x="203" y="560"/>
                </a:cxn>
              </a:cxnLst>
              <a:rect l="0" t="0" r="0" b="0"/>
              <a:pathLst>
                <a:path w="746" h="573">
                  <a:moveTo>
                    <a:pt x="515" y="0"/>
                  </a:moveTo>
                  <a:cubicBezTo>
                    <a:pt x="559" y="4"/>
                    <a:pt x="604" y="9"/>
                    <a:pt x="635" y="32"/>
                  </a:cubicBezTo>
                  <a:cubicBezTo>
                    <a:pt x="666" y="55"/>
                    <a:pt x="695" y="93"/>
                    <a:pt x="699" y="136"/>
                  </a:cubicBezTo>
                  <a:cubicBezTo>
                    <a:pt x="703" y="179"/>
                    <a:pt x="746" y="255"/>
                    <a:pt x="659" y="288"/>
                  </a:cubicBezTo>
                  <a:cubicBezTo>
                    <a:pt x="572" y="321"/>
                    <a:pt x="287" y="304"/>
                    <a:pt x="179" y="336"/>
                  </a:cubicBezTo>
                  <a:cubicBezTo>
                    <a:pt x="71" y="368"/>
                    <a:pt x="22" y="443"/>
                    <a:pt x="11" y="480"/>
                  </a:cubicBezTo>
                  <a:cubicBezTo>
                    <a:pt x="0" y="517"/>
                    <a:pt x="83" y="547"/>
                    <a:pt x="115" y="560"/>
                  </a:cubicBezTo>
                  <a:cubicBezTo>
                    <a:pt x="147" y="573"/>
                    <a:pt x="188" y="560"/>
                    <a:pt x="203" y="560"/>
                  </a:cubicBezTo>
                </a:path>
              </a:pathLst>
            </a:custGeom>
            <a:noFill/>
            <a:ln w="28575" cap="flat" cmpd="sng">
              <a:solidFill>
                <a:schemeClr val="tx1"/>
              </a:solidFill>
              <a:prstDash val="solid"/>
              <a:round/>
              <a:headEnd type="none" w="med" len="med"/>
              <a:tailEnd type="triangle" w="med" len="med"/>
            </a:ln>
          </p:spPr>
          <p:txBody>
            <a:bodyPr/>
            <a:lstStyle/>
            <a:p>
              <a:endParaRPr lang="zh-CN" altLang="en-US"/>
            </a:p>
          </p:txBody>
        </p:sp>
        <p:sp>
          <p:nvSpPr>
            <p:cNvPr id="161829" name="Freeform 35"/>
            <p:cNvSpPr/>
            <p:nvPr/>
          </p:nvSpPr>
          <p:spPr>
            <a:xfrm>
              <a:off x="2757" y="2880"/>
              <a:ext cx="746" cy="573"/>
            </a:xfrm>
            <a:custGeom>
              <a:avLst/>
              <a:gdLst/>
              <a:ahLst/>
              <a:cxnLst>
                <a:cxn ang="0">
                  <a:pos x="515" y="0"/>
                </a:cxn>
                <a:cxn ang="0">
                  <a:pos x="635" y="32"/>
                </a:cxn>
                <a:cxn ang="0">
                  <a:pos x="699" y="136"/>
                </a:cxn>
                <a:cxn ang="0">
                  <a:pos x="659" y="288"/>
                </a:cxn>
                <a:cxn ang="0">
                  <a:pos x="179" y="336"/>
                </a:cxn>
                <a:cxn ang="0">
                  <a:pos x="11" y="480"/>
                </a:cxn>
                <a:cxn ang="0">
                  <a:pos x="115" y="560"/>
                </a:cxn>
                <a:cxn ang="0">
                  <a:pos x="203" y="560"/>
                </a:cxn>
              </a:cxnLst>
              <a:rect l="0" t="0" r="0" b="0"/>
              <a:pathLst>
                <a:path w="746" h="573">
                  <a:moveTo>
                    <a:pt x="515" y="0"/>
                  </a:moveTo>
                  <a:cubicBezTo>
                    <a:pt x="559" y="4"/>
                    <a:pt x="604" y="9"/>
                    <a:pt x="635" y="32"/>
                  </a:cubicBezTo>
                  <a:cubicBezTo>
                    <a:pt x="666" y="55"/>
                    <a:pt x="695" y="93"/>
                    <a:pt x="699" y="136"/>
                  </a:cubicBezTo>
                  <a:cubicBezTo>
                    <a:pt x="703" y="179"/>
                    <a:pt x="746" y="255"/>
                    <a:pt x="659" y="288"/>
                  </a:cubicBezTo>
                  <a:cubicBezTo>
                    <a:pt x="572" y="321"/>
                    <a:pt x="287" y="304"/>
                    <a:pt x="179" y="336"/>
                  </a:cubicBezTo>
                  <a:cubicBezTo>
                    <a:pt x="71" y="368"/>
                    <a:pt x="22" y="443"/>
                    <a:pt x="11" y="480"/>
                  </a:cubicBezTo>
                  <a:cubicBezTo>
                    <a:pt x="0" y="517"/>
                    <a:pt x="83" y="547"/>
                    <a:pt x="115" y="560"/>
                  </a:cubicBezTo>
                  <a:cubicBezTo>
                    <a:pt x="147" y="573"/>
                    <a:pt x="188" y="560"/>
                    <a:pt x="203" y="560"/>
                  </a:cubicBezTo>
                </a:path>
              </a:pathLst>
            </a:custGeom>
            <a:noFill/>
            <a:ln w="28575" cap="flat" cmpd="sng">
              <a:solidFill>
                <a:schemeClr val="tx1"/>
              </a:solidFill>
              <a:prstDash val="solid"/>
              <a:round/>
              <a:headEnd type="none" w="med" len="med"/>
              <a:tailEnd type="triangle" w="med" len="med"/>
            </a:ln>
          </p:spPr>
          <p:txBody>
            <a:bodyPr/>
            <a:lstStyle/>
            <a:p>
              <a:endParaRPr lang="zh-CN" altLang="en-US"/>
            </a:p>
          </p:txBody>
        </p:sp>
        <p:sp>
          <p:nvSpPr>
            <p:cNvPr id="161830" name="Text Box 36"/>
            <p:cNvSpPr txBox="1"/>
            <p:nvPr/>
          </p:nvSpPr>
          <p:spPr>
            <a:xfrm>
              <a:off x="590" y="2398"/>
              <a:ext cx="1076" cy="250"/>
            </a:xfrm>
            <a:prstGeom prst="rect">
              <a:avLst/>
            </a:prstGeom>
            <a:noFill/>
            <a:ln w="9525">
              <a:noFill/>
            </a:ln>
          </p:spPr>
          <p:txBody>
            <a:bodyPr wrap="none" anchor="t" anchorCtr="0">
              <a:spAutoFit/>
            </a:bodyPr>
            <a:lstStyle/>
            <a:p>
              <a:pPr algn="ctr">
                <a:buClrTx/>
                <a:buFontTx/>
              </a:pPr>
              <a:r>
                <a:rPr lang="zh-CN" altLang="en-US" sz="2000" b="1" dirty="0">
                  <a:solidFill>
                    <a:schemeClr val="hlink"/>
                  </a:solidFill>
                  <a:latin typeface="Times New Roman" panose="02020603050405020304" pitchFamily="18" charset="0"/>
                  <a:ea typeface="仿宋_GB2312" pitchFamily="49" charset="-122"/>
                </a:rPr>
                <a:t>初始开发周期</a:t>
              </a:r>
              <a:endParaRPr lang="zh-CN" altLang="en-US" sz="2000" b="1" dirty="0">
                <a:solidFill>
                  <a:schemeClr val="hlink"/>
                </a:solidFill>
                <a:latin typeface="Times New Roman" panose="02020603050405020304" pitchFamily="18" charset="0"/>
                <a:ea typeface="仿宋_GB2312" pitchFamily="49" charset="-122"/>
              </a:endParaRPr>
            </a:p>
          </p:txBody>
        </p:sp>
        <p:sp>
          <p:nvSpPr>
            <p:cNvPr id="161831" name="Text Box 37"/>
            <p:cNvSpPr txBox="1"/>
            <p:nvPr/>
          </p:nvSpPr>
          <p:spPr>
            <a:xfrm>
              <a:off x="1766" y="3022"/>
              <a:ext cx="756" cy="250"/>
            </a:xfrm>
            <a:prstGeom prst="rect">
              <a:avLst/>
            </a:prstGeom>
            <a:noFill/>
            <a:ln w="9525">
              <a:noFill/>
            </a:ln>
          </p:spPr>
          <p:txBody>
            <a:bodyPr wrap="none" anchor="t" anchorCtr="0">
              <a:spAutoFit/>
            </a:bodyPr>
            <a:lstStyle/>
            <a:p>
              <a:pPr algn="ctr">
                <a:buClrTx/>
                <a:buFontTx/>
              </a:pPr>
              <a:r>
                <a:rPr lang="zh-CN" altLang="en-US" sz="2000" b="1" dirty="0">
                  <a:solidFill>
                    <a:schemeClr val="hlink"/>
                  </a:solidFill>
                  <a:latin typeface="Times New Roman" panose="02020603050405020304" pitchFamily="18" charset="0"/>
                  <a:ea typeface="仿宋_GB2312" pitchFamily="49" charset="-122"/>
                </a:rPr>
                <a:t>进化周期</a:t>
              </a:r>
              <a:endParaRPr lang="zh-CN" altLang="en-US" sz="2000" b="1" dirty="0">
                <a:solidFill>
                  <a:schemeClr val="hlink"/>
                </a:solidFill>
                <a:latin typeface="Times New Roman" panose="02020603050405020304" pitchFamily="18" charset="0"/>
                <a:ea typeface="仿宋_GB2312" pitchFamily="49"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eaLnBrk="1" hangingPunct="1">
              <a:lnSpc>
                <a:spcPct val="105000"/>
              </a:lnSpc>
              <a:spcBef>
                <a:spcPct val="10000"/>
              </a:spcBef>
            </a:pPr>
            <a:r>
              <a:rPr lang="zh-CN" altLang="en-US" dirty="0">
                <a:sym typeface="+mn-ea"/>
              </a:rPr>
              <a:t>用户需求的变更、基础技术的变化、竞争都可能激活新的进化周期。</a:t>
            </a:r>
            <a:endParaRPr lang="zh-CN" altLang="en-US" dirty="0"/>
          </a:p>
          <a:p>
            <a:pPr eaLnBrk="1" hangingPunct="1">
              <a:lnSpc>
                <a:spcPct val="105000"/>
              </a:lnSpc>
              <a:spcBef>
                <a:spcPct val="10000"/>
              </a:spcBef>
            </a:pPr>
            <a:r>
              <a:rPr lang="zh-CN" altLang="en-US" dirty="0">
                <a:solidFill>
                  <a:schemeClr val="hlink"/>
                </a:solidFill>
                <a:sym typeface="+mn-ea"/>
              </a:rPr>
              <a:t>周期之间在时间上会有重叠</a:t>
            </a:r>
            <a:r>
              <a:rPr lang="zh-CN" altLang="en-US" dirty="0">
                <a:sym typeface="+mn-ea"/>
              </a:rPr>
              <a:t>。后一个周期的初始与细化阶段可以与前一个阶段的移交阶段可能同时进行。</a:t>
            </a:r>
            <a:endParaRPr lang="zh-CN" altLang="en-US" dirty="0"/>
          </a:p>
          <a:p>
            <a:pPr eaLnBrk="1" hangingPunct="1">
              <a:lnSpc>
                <a:spcPct val="105000"/>
              </a:lnSpc>
              <a:spcBef>
                <a:spcPct val="10000"/>
              </a:spcBef>
            </a:pPr>
            <a:r>
              <a:rPr lang="zh-CN" altLang="en-US" dirty="0">
                <a:sym typeface="+mn-ea"/>
              </a:rPr>
              <a:t>在各阶段内也包含有一个或几个迭代过程。</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grpSp>
        <p:nvGrpSpPr>
          <p:cNvPr id="162821" name="Group 3"/>
          <p:cNvGrpSpPr/>
          <p:nvPr/>
        </p:nvGrpSpPr>
        <p:grpSpPr>
          <a:xfrm>
            <a:off x="699135" y="4042410"/>
            <a:ext cx="7531100" cy="2063750"/>
            <a:chOff x="576" y="2456"/>
            <a:chExt cx="4744" cy="1300"/>
          </a:xfrm>
        </p:grpSpPr>
        <p:sp>
          <p:nvSpPr>
            <p:cNvPr id="162822" name="Line 4"/>
            <p:cNvSpPr/>
            <p:nvPr/>
          </p:nvSpPr>
          <p:spPr>
            <a:xfrm>
              <a:off x="576" y="2848"/>
              <a:ext cx="4728" cy="8"/>
            </a:xfrm>
            <a:prstGeom prst="line">
              <a:avLst/>
            </a:prstGeom>
            <a:ln w="25400" cap="flat" cmpd="sng">
              <a:solidFill>
                <a:schemeClr val="hlink"/>
              </a:solidFill>
              <a:prstDash val="solid"/>
              <a:round/>
              <a:headEnd type="none" w="med" len="med"/>
              <a:tailEnd type="triangle" w="sm" len="lg"/>
            </a:ln>
          </p:spPr>
        </p:sp>
        <p:grpSp>
          <p:nvGrpSpPr>
            <p:cNvPr id="162823" name="Group 5"/>
            <p:cNvGrpSpPr/>
            <p:nvPr/>
          </p:nvGrpSpPr>
          <p:grpSpPr>
            <a:xfrm>
              <a:off x="624" y="2456"/>
              <a:ext cx="4696" cy="1300"/>
              <a:chOff x="624" y="2456"/>
              <a:chExt cx="4696" cy="1300"/>
            </a:xfrm>
          </p:grpSpPr>
          <p:sp>
            <p:nvSpPr>
              <p:cNvPr id="162824" name="Text Box 6"/>
              <p:cNvSpPr txBox="1"/>
              <p:nvPr/>
            </p:nvSpPr>
            <p:spPr>
              <a:xfrm>
                <a:off x="839" y="2921"/>
                <a:ext cx="4292" cy="250"/>
              </a:xfrm>
              <a:prstGeom prst="rect">
                <a:avLst/>
              </a:prstGeom>
              <a:noFill/>
              <a:ln w="9525">
                <a:noFill/>
              </a:ln>
            </p:spPr>
            <p:txBody>
              <a:bodyPr wrap="none" anchor="t" anchorCtr="0">
                <a:spAutoFit/>
              </a:bodyPr>
              <a:lstStyle/>
              <a:p>
                <a:pPr>
                  <a:buClrTx/>
                  <a:buFontTx/>
                </a:pPr>
                <a:r>
                  <a:rPr lang="zh-CN" altLang="en-US" sz="2000" b="1" dirty="0">
                    <a:solidFill>
                      <a:schemeClr val="tx2"/>
                    </a:solidFill>
                    <a:latin typeface="Times New Roman" panose="02020603050405020304" pitchFamily="18" charset="0"/>
                    <a:ea typeface="仿宋_GB2312" pitchFamily="49" charset="-122"/>
                  </a:rPr>
                  <a:t>迭代</a:t>
                </a:r>
                <a:r>
                  <a:rPr lang="en-US" altLang="zh-CN" sz="2000" b="1" baseline="30000" dirty="0">
                    <a:solidFill>
                      <a:schemeClr val="tx2"/>
                    </a:solidFill>
                    <a:latin typeface="Times New Roman" panose="02020603050405020304" pitchFamily="18" charset="0"/>
                    <a:ea typeface="仿宋_GB2312" pitchFamily="49" charset="-122"/>
                  </a:rPr>
                  <a:t>#</a:t>
                </a:r>
                <a:r>
                  <a:rPr lang="en-US" altLang="zh-CN" sz="2000" b="1" dirty="0">
                    <a:solidFill>
                      <a:schemeClr val="tx2"/>
                    </a:solidFill>
                    <a:latin typeface="Times New Roman" panose="02020603050405020304" pitchFamily="18" charset="0"/>
                    <a:ea typeface="仿宋_GB2312" pitchFamily="49" charset="-122"/>
                  </a:rPr>
                  <a:t>1  </a:t>
                </a:r>
                <a:r>
                  <a:rPr lang="zh-CN" altLang="en-US" sz="2000" b="1" dirty="0">
                    <a:solidFill>
                      <a:schemeClr val="tx2"/>
                    </a:solidFill>
                    <a:latin typeface="Times New Roman" panose="02020603050405020304" pitchFamily="18" charset="0"/>
                    <a:ea typeface="仿宋_GB2312" pitchFamily="49" charset="-122"/>
                  </a:rPr>
                  <a:t>迭代</a:t>
                </a:r>
                <a:r>
                  <a:rPr lang="en-US" altLang="zh-CN" sz="2000" b="1" baseline="30000" dirty="0">
                    <a:solidFill>
                      <a:schemeClr val="tx2"/>
                    </a:solidFill>
                    <a:latin typeface="Times New Roman" panose="02020603050405020304" pitchFamily="18" charset="0"/>
                    <a:ea typeface="仿宋_GB2312" pitchFamily="49" charset="-122"/>
                  </a:rPr>
                  <a:t>#</a:t>
                </a:r>
                <a:r>
                  <a:rPr lang="en-US" altLang="zh-CN" sz="2000" b="1" dirty="0">
                    <a:solidFill>
                      <a:schemeClr val="tx2"/>
                    </a:solidFill>
                    <a:latin typeface="Times New Roman" panose="02020603050405020304" pitchFamily="18" charset="0"/>
                    <a:ea typeface="仿宋_GB2312" pitchFamily="49" charset="-122"/>
                  </a:rPr>
                  <a:t>2  </a:t>
                </a:r>
                <a:r>
                  <a:rPr lang="zh-CN" altLang="en-US" sz="2000" b="1" dirty="0">
                    <a:solidFill>
                      <a:schemeClr val="tx2"/>
                    </a:solidFill>
                    <a:latin typeface="Times New Roman" panose="02020603050405020304" pitchFamily="18" charset="0"/>
                    <a:ea typeface="仿宋_GB2312" pitchFamily="49" charset="-122"/>
                  </a:rPr>
                  <a:t>迭代</a:t>
                </a:r>
                <a:r>
                  <a:rPr lang="en-US" altLang="zh-CN" sz="2000" b="1" baseline="30000" dirty="0">
                    <a:solidFill>
                      <a:schemeClr val="tx2"/>
                    </a:solidFill>
                    <a:latin typeface="Times New Roman" panose="02020603050405020304" pitchFamily="18" charset="0"/>
                    <a:ea typeface="仿宋_GB2312" pitchFamily="49" charset="-122"/>
                  </a:rPr>
                  <a:t>#</a:t>
                </a:r>
                <a:r>
                  <a:rPr lang="en-US" altLang="zh-CN" sz="2000" b="1" dirty="0">
                    <a:solidFill>
                      <a:schemeClr val="tx2"/>
                    </a:solidFill>
                    <a:latin typeface="Times New Roman" panose="02020603050405020304" pitchFamily="18" charset="0"/>
                    <a:ea typeface="仿宋_GB2312" pitchFamily="49" charset="-122"/>
                  </a:rPr>
                  <a:t>3  </a:t>
                </a:r>
                <a:r>
                  <a:rPr lang="zh-CN" altLang="en-US" sz="2000" b="1" dirty="0">
                    <a:solidFill>
                      <a:schemeClr val="tx2"/>
                    </a:solidFill>
                    <a:latin typeface="Times New Roman" panose="02020603050405020304" pitchFamily="18" charset="0"/>
                    <a:ea typeface="仿宋_GB2312" pitchFamily="49" charset="-122"/>
                  </a:rPr>
                  <a:t>迭代</a:t>
                </a:r>
                <a:r>
                  <a:rPr lang="en-US" altLang="zh-CN" sz="2000" b="1" baseline="30000" dirty="0">
                    <a:solidFill>
                      <a:schemeClr val="tx2"/>
                    </a:solidFill>
                    <a:latin typeface="Times New Roman" panose="02020603050405020304" pitchFamily="18" charset="0"/>
                    <a:ea typeface="仿宋_GB2312" pitchFamily="49" charset="-122"/>
                  </a:rPr>
                  <a:t>#</a:t>
                </a:r>
                <a:r>
                  <a:rPr lang="en-US" altLang="zh-CN" sz="2000" b="1" dirty="0">
                    <a:solidFill>
                      <a:schemeClr val="tx2"/>
                    </a:solidFill>
                    <a:latin typeface="Times New Roman" panose="02020603050405020304" pitchFamily="18" charset="0"/>
                    <a:ea typeface="仿宋_GB2312" pitchFamily="49" charset="-122"/>
                  </a:rPr>
                  <a:t>4  </a:t>
                </a:r>
                <a:r>
                  <a:rPr lang="zh-CN" altLang="en-US" sz="2000" b="1" dirty="0">
                    <a:solidFill>
                      <a:schemeClr val="tx2"/>
                    </a:solidFill>
                    <a:latin typeface="Times New Roman" panose="02020603050405020304" pitchFamily="18" charset="0"/>
                    <a:ea typeface="仿宋_GB2312" pitchFamily="49" charset="-122"/>
                  </a:rPr>
                  <a:t>迭代</a:t>
                </a:r>
                <a:r>
                  <a:rPr lang="en-US" altLang="zh-CN" sz="2000" b="1" baseline="30000" dirty="0">
                    <a:solidFill>
                      <a:schemeClr val="tx2"/>
                    </a:solidFill>
                    <a:latin typeface="Times New Roman" panose="02020603050405020304" pitchFamily="18" charset="0"/>
                    <a:ea typeface="仿宋_GB2312" pitchFamily="49" charset="-122"/>
                  </a:rPr>
                  <a:t>#</a:t>
                </a:r>
                <a:r>
                  <a:rPr lang="en-US" altLang="zh-CN" sz="2000" b="1" dirty="0">
                    <a:solidFill>
                      <a:schemeClr val="tx2"/>
                    </a:solidFill>
                    <a:latin typeface="Times New Roman" panose="02020603050405020304" pitchFamily="18" charset="0"/>
                    <a:ea typeface="仿宋_GB2312" pitchFamily="49" charset="-122"/>
                  </a:rPr>
                  <a:t>5  </a:t>
                </a:r>
                <a:r>
                  <a:rPr lang="zh-CN" altLang="en-US" sz="2000" b="1" dirty="0">
                    <a:solidFill>
                      <a:schemeClr val="tx2"/>
                    </a:solidFill>
                    <a:latin typeface="Times New Roman" panose="02020603050405020304" pitchFamily="18" charset="0"/>
                    <a:ea typeface="仿宋_GB2312" pitchFamily="49" charset="-122"/>
                  </a:rPr>
                  <a:t>迭代</a:t>
                </a:r>
                <a:r>
                  <a:rPr lang="en-US" altLang="zh-CN" sz="2000" b="1" baseline="30000" dirty="0">
                    <a:solidFill>
                      <a:schemeClr val="tx2"/>
                    </a:solidFill>
                    <a:latin typeface="Times New Roman" panose="02020603050405020304" pitchFamily="18" charset="0"/>
                    <a:ea typeface="仿宋_GB2312" pitchFamily="49" charset="-122"/>
                  </a:rPr>
                  <a:t>#</a:t>
                </a:r>
                <a:r>
                  <a:rPr lang="en-US" altLang="zh-CN" sz="2000" b="1" dirty="0">
                    <a:solidFill>
                      <a:schemeClr val="tx2"/>
                    </a:solidFill>
                    <a:latin typeface="Times New Roman" panose="02020603050405020304" pitchFamily="18" charset="0"/>
                    <a:ea typeface="仿宋_GB2312" pitchFamily="49" charset="-122"/>
                  </a:rPr>
                  <a:t>6  </a:t>
                </a:r>
                <a:r>
                  <a:rPr lang="zh-CN" altLang="en-US" sz="2000" b="1" dirty="0">
                    <a:solidFill>
                      <a:schemeClr val="tx2"/>
                    </a:solidFill>
                    <a:latin typeface="Times New Roman" panose="02020603050405020304" pitchFamily="18" charset="0"/>
                    <a:ea typeface="仿宋_GB2312" pitchFamily="49" charset="-122"/>
                  </a:rPr>
                  <a:t>迭代</a:t>
                </a:r>
                <a:r>
                  <a:rPr lang="en-US" altLang="zh-CN" sz="2000" b="1" baseline="30000" dirty="0">
                    <a:solidFill>
                      <a:schemeClr val="tx2"/>
                    </a:solidFill>
                    <a:latin typeface="Times New Roman" panose="02020603050405020304" pitchFamily="18" charset="0"/>
                    <a:ea typeface="仿宋_GB2312" pitchFamily="49" charset="-122"/>
                  </a:rPr>
                  <a:t>#</a:t>
                </a:r>
                <a:r>
                  <a:rPr lang="en-US" altLang="zh-CN" sz="2000" b="1" dirty="0">
                    <a:solidFill>
                      <a:schemeClr val="tx2"/>
                    </a:solidFill>
                    <a:latin typeface="Times New Roman" panose="02020603050405020304" pitchFamily="18" charset="0"/>
                    <a:ea typeface="仿宋_GB2312" pitchFamily="49" charset="-122"/>
                  </a:rPr>
                  <a:t>7  </a:t>
                </a:r>
                <a:r>
                  <a:rPr lang="zh-CN" altLang="en-US" sz="2000" b="1" dirty="0">
                    <a:solidFill>
                      <a:schemeClr val="tx2"/>
                    </a:solidFill>
                    <a:latin typeface="Times New Roman" panose="02020603050405020304" pitchFamily="18" charset="0"/>
                    <a:ea typeface="仿宋_GB2312" pitchFamily="49" charset="-122"/>
                  </a:rPr>
                  <a:t>迭代</a:t>
                </a:r>
                <a:r>
                  <a:rPr lang="en-US" altLang="zh-CN" sz="2000" b="1" baseline="30000" dirty="0">
                    <a:solidFill>
                      <a:schemeClr val="tx2"/>
                    </a:solidFill>
                    <a:latin typeface="Times New Roman" panose="02020603050405020304" pitchFamily="18" charset="0"/>
                    <a:ea typeface="仿宋_GB2312" pitchFamily="49" charset="-122"/>
                  </a:rPr>
                  <a:t>#</a:t>
                </a:r>
                <a:r>
                  <a:rPr lang="en-US" altLang="zh-CN" sz="2000" b="1" dirty="0">
                    <a:solidFill>
                      <a:schemeClr val="tx2"/>
                    </a:solidFill>
                    <a:latin typeface="Times New Roman" panose="02020603050405020304" pitchFamily="18" charset="0"/>
                    <a:ea typeface="仿宋_GB2312" pitchFamily="49" charset="-122"/>
                  </a:rPr>
                  <a:t>8</a:t>
                </a:r>
                <a:endParaRPr lang="en-US" altLang="zh-CN" sz="2000" b="1" dirty="0">
                  <a:solidFill>
                    <a:schemeClr val="tx2"/>
                  </a:solidFill>
                  <a:latin typeface="Times New Roman" panose="02020603050405020304" pitchFamily="18" charset="0"/>
                  <a:ea typeface="仿宋_GB2312" pitchFamily="49" charset="-122"/>
                </a:endParaRPr>
              </a:p>
            </p:txBody>
          </p:sp>
          <p:sp>
            <p:nvSpPr>
              <p:cNvPr id="162825" name="Rectangle 7"/>
              <p:cNvSpPr/>
              <p:nvPr/>
            </p:nvSpPr>
            <p:spPr>
              <a:xfrm>
                <a:off x="4136" y="2456"/>
                <a:ext cx="928" cy="232"/>
              </a:xfrm>
              <a:prstGeom prst="rect">
                <a:avLst/>
              </a:prstGeom>
              <a:solidFill>
                <a:srgbClr val="FF99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lnSpc>
                    <a:spcPct val="90000"/>
                  </a:lnSpc>
                  <a:buClrTx/>
                  <a:buFontTx/>
                </a:pPr>
                <a:r>
                  <a:rPr lang="zh-CN" altLang="en-US" sz="2000" b="1" dirty="0">
                    <a:solidFill>
                      <a:schemeClr val="tx2"/>
                    </a:solidFill>
                    <a:latin typeface="Times New Roman" panose="02020603050405020304" pitchFamily="18" charset="0"/>
                    <a:ea typeface="仿宋_GB2312" pitchFamily="49" charset="-122"/>
                  </a:rPr>
                  <a:t>移交</a:t>
                </a:r>
                <a:endParaRPr lang="zh-CN" altLang="en-US" sz="2000" b="1" dirty="0">
                  <a:solidFill>
                    <a:schemeClr val="tx2"/>
                  </a:solidFill>
                  <a:latin typeface="Times New Roman" panose="02020603050405020304" pitchFamily="18" charset="0"/>
                  <a:ea typeface="仿宋_GB2312" pitchFamily="49" charset="-122"/>
                </a:endParaRPr>
              </a:p>
            </p:txBody>
          </p:sp>
          <p:sp>
            <p:nvSpPr>
              <p:cNvPr id="162826" name="Rectangle 8"/>
              <p:cNvSpPr/>
              <p:nvPr/>
            </p:nvSpPr>
            <p:spPr>
              <a:xfrm>
                <a:off x="2528" y="2456"/>
                <a:ext cx="1440" cy="232"/>
              </a:xfrm>
              <a:prstGeom prst="rect">
                <a:avLst/>
              </a:prstGeom>
              <a:solidFill>
                <a:srgbClr val="FF99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lnSpc>
                    <a:spcPct val="90000"/>
                  </a:lnSpc>
                  <a:buClrTx/>
                  <a:buFontTx/>
                </a:pPr>
                <a:r>
                  <a:rPr lang="zh-CN" altLang="en-US" sz="2000" b="1" dirty="0">
                    <a:solidFill>
                      <a:schemeClr val="tx2"/>
                    </a:solidFill>
                    <a:latin typeface="Times New Roman" panose="02020603050405020304" pitchFamily="18" charset="0"/>
                    <a:ea typeface="仿宋_GB2312" pitchFamily="49" charset="-122"/>
                  </a:rPr>
                  <a:t>构造</a:t>
                </a:r>
                <a:endParaRPr lang="zh-CN" altLang="en-US" sz="2000" b="1" dirty="0">
                  <a:solidFill>
                    <a:schemeClr val="tx2"/>
                  </a:solidFill>
                  <a:latin typeface="Times New Roman" panose="02020603050405020304" pitchFamily="18" charset="0"/>
                  <a:ea typeface="仿宋_GB2312" pitchFamily="49" charset="-122"/>
                </a:endParaRPr>
              </a:p>
            </p:txBody>
          </p:sp>
          <p:sp>
            <p:nvSpPr>
              <p:cNvPr id="162827" name="Rectangle 9"/>
              <p:cNvSpPr/>
              <p:nvPr/>
            </p:nvSpPr>
            <p:spPr>
              <a:xfrm>
                <a:off x="1456" y="2456"/>
                <a:ext cx="912" cy="232"/>
              </a:xfrm>
              <a:prstGeom prst="rect">
                <a:avLst/>
              </a:prstGeom>
              <a:solidFill>
                <a:srgbClr val="FF99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lnSpc>
                    <a:spcPct val="90000"/>
                  </a:lnSpc>
                  <a:buClrTx/>
                  <a:buFontTx/>
                </a:pPr>
                <a:r>
                  <a:rPr lang="zh-CN" altLang="en-US" sz="2000" b="1" dirty="0">
                    <a:solidFill>
                      <a:schemeClr val="tx2"/>
                    </a:solidFill>
                    <a:latin typeface="Times New Roman" panose="02020603050405020304" pitchFamily="18" charset="0"/>
                    <a:ea typeface="仿宋_GB2312" pitchFamily="49" charset="-122"/>
                  </a:rPr>
                  <a:t>细化</a:t>
                </a:r>
                <a:endParaRPr lang="zh-CN" altLang="en-US" sz="2000" b="1" dirty="0">
                  <a:solidFill>
                    <a:schemeClr val="tx2"/>
                  </a:solidFill>
                  <a:latin typeface="Times New Roman" panose="02020603050405020304" pitchFamily="18" charset="0"/>
                  <a:ea typeface="仿宋_GB2312" pitchFamily="49" charset="-122"/>
                </a:endParaRPr>
              </a:p>
            </p:txBody>
          </p:sp>
          <p:sp>
            <p:nvSpPr>
              <p:cNvPr id="162828" name="Rectangle 10"/>
              <p:cNvSpPr/>
              <p:nvPr/>
            </p:nvSpPr>
            <p:spPr>
              <a:xfrm>
                <a:off x="624" y="2456"/>
                <a:ext cx="664" cy="232"/>
              </a:xfrm>
              <a:prstGeom prst="rect">
                <a:avLst/>
              </a:prstGeom>
              <a:solidFill>
                <a:srgbClr val="FF99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lnSpc>
                    <a:spcPct val="90000"/>
                  </a:lnSpc>
                  <a:buClrTx/>
                  <a:buFontTx/>
                </a:pPr>
                <a:r>
                  <a:rPr lang="zh-CN" altLang="en-US" sz="2000" b="1" dirty="0">
                    <a:solidFill>
                      <a:schemeClr val="tx2"/>
                    </a:solidFill>
                    <a:latin typeface="Times New Roman" panose="02020603050405020304" pitchFamily="18" charset="0"/>
                    <a:ea typeface="仿宋_GB2312" pitchFamily="49" charset="-122"/>
                  </a:rPr>
                  <a:t>初始</a:t>
                </a:r>
                <a:endParaRPr lang="zh-CN" altLang="en-US" sz="2000" b="1" dirty="0">
                  <a:solidFill>
                    <a:schemeClr val="tx2"/>
                  </a:solidFill>
                  <a:latin typeface="Times New Roman" panose="02020603050405020304" pitchFamily="18" charset="0"/>
                  <a:ea typeface="仿宋_GB2312" pitchFamily="49" charset="-122"/>
                </a:endParaRPr>
              </a:p>
            </p:txBody>
          </p:sp>
          <p:sp>
            <p:nvSpPr>
              <p:cNvPr id="162829" name="Oval 11"/>
              <p:cNvSpPr/>
              <p:nvPr/>
            </p:nvSpPr>
            <p:spPr>
              <a:xfrm>
                <a:off x="5160" y="2560"/>
                <a:ext cx="160" cy="168"/>
              </a:xfrm>
              <a:prstGeom prst="ellipse">
                <a:avLst/>
              </a:prstGeom>
              <a:solidFill>
                <a:schemeClr val="accent1"/>
              </a:solid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sp>
            <p:nvSpPr>
              <p:cNvPr id="162830" name="Line 12"/>
              <p:cNvSpPr/>
              <p:nvPr/>
            </p:nvSpPr>
            <p:spPr>
              <a:xfrm>
                <a:off x="1384" y="2520"/>
                <a:ext cx="0" cy="328"/>
              </a:xfrm>
              <a:prstGeom prst="line">
                <a:avLst/>
              </a:prstGeom>
              <a:ln w="28575" cap="flat" cmpd="sng">
                <a:solidFill>
                  <a:schemeClr val="tx1"/>
                </a:solidFill>
                <a:prstDash val="solid"/>
                <a:round/>
                <a:headEnd type="none" w="med" len="med"/>
                <a:tailEnd type="triangle" w="med" len="med"/>
              </a:ln>
            </p:spPr>
          </p:sp>
          <p:sp>
            <p:nvSpPr>
              <p:cNvPr id="162831" name="Line 13"/>
              <p:cNvSpPr/>
              <p:nvPr/>
            </p:nvSpPr>
            <p:spPr>
              <a:xfrm>
                <a:off x="2456" y="2520"/>
                <a:ext cx="0" cy="328"/>
              </a:xfrm>
              <a:prstGeom prst="line">
                <a:avLst/>
              </a:prstGeom>
              <a:ln w="28575" cap="flat" cmpd="sng">
                <a:solidFill>
                  <a:schemeClr val="tx1"/>
                </a:solidFill>
                <a:prstDash val="solid"/>
                <a:round/>
                <a:headEnd type="none" w="med" len="med"/>
                <a:tailEnd type="triangle" w="med" len="med"/>
              </a:ln>
            </p:spPr>
          </p:sp>
          <p:sp>
            <p:nvSpPr>
              <p:cNvPr id="162832" name="Line 14"/>
              <p:cNvSpPr/>
              <p:nvPr/>
            </p:nvSpPr>
            <p:spPr>
              <a:xfrm>
                <a:off x="4064" y="2520"/>
                <a:ext cx="0" cy="328"/>
              </a:xfrm>
              <a:prstGeom prst="line">
                <a:avLst/>
              </a:prstGeom>
              <a:ln w="28575" cap="flat" cmpd="sng">
                <a:solidFill>
                  <a:schemeClr val="tx1"/>
                </a:solidFill>
                <a:prstDash val="solid"/>
                <a:round/>
                <a:headEnd type="none" w="med" len="med"/>
                <a:tailEnd type="triangle" w="med" len="med"/>
              </a:ln>
            </p:spPr>
          </p:sp>
          <p:grpSp>
            <p:nvGrpSpPr>
              <p:cNvPr id="162833" name="Group 15"/>
              <p:cNvGrpSpPr/>
              <p:nvPr/>
            </p:nvGrpSpPr>
            <p:grpSpPr>
              <a:xfrm>
                <a:off x="1352" y="2856"/>
                <a:ext cx="66" cy="352"/>
                <a:chOff x="1456" y="2960"/>
                <a:chExt cx="66" cy="352"/>
              </a:xfrm>
            </p:grpSpPr>
            <p:sp>
              <p:nvSpPr>
                <p:cNvPr id="162834" name="Line 16"/>
                <p:cNvSpPr/>
                <p:nvPr/>
              </p:nvSpPr>
              <p:spPr>
                <a:xfrm flipH="1" flipV="1">
                  <a:off x="1488" y="2960"/>
                  <a:ext cx="0" cy="352"/>
                </a:xfrm>
                <a:prstGeom prst="line">
                  <a:avLst/>
                </a:prstGeom>
                <a:ln w="19050" cap="flat" cmpd="sng">
                  <a:solidFill>
                    <a:schemeClr val="hlink"/>
                  </a:solidFill>
                  <a:prstDash val="solid"/>
                  <a:round/>
                  <a:headEnd type="none" w="med" len="med"/>
                  <a:tailEnd type="none" w="med" len="med"/>
                </a:ln>
              </p:spPr>
            </p:sp>
            <p:sp>
              <p:nvSpPr>
                <p:cNvPr id="162835" name="AutoShape 17"/>
                <p:cNvSpPr/>
                <p:nvPr/>
              </p:nvSpPr>
              <p:spPr>
                <a:xfrm>
                  <a:off x="1456" y="2968"/>
                  <a:ext cx="66" cy="112"/>
                </a:xfrm>
                <a:prstGeom prst="triangle">
                  <a:avLst>
                    <a:gd name="adj" fmla="val 50000"/>
                  </a:avLst>
                </a:prstGeom>
                <a:solidFill>
                  <a:schemeClr val="bg1"/>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grpSp>
            <p:nvGrpSpPr>
              <p:cNvPr id="162836" name="Group 18"/>
              <p:cNvGrpSpPr/>
              <p:nvPr/>
            </p:nvGrpSpPr>
            <p:grpSpPr>
              <a:xfrm>
                <a:off x="1904" y="2856"/>
                <a:ext cx="66" cy="352"/>
                <a:chOff x="1456" y="2960"/>
                <a:chExt cx="66" cy="352"/>
              </a:xfrm>
            </p:grpSpPr>
            <p:sp>
              <p:nvSpPr>
                <p:cNvPr id="162837" name="Line 19"/>
                <p:cNvSpPr/>
                <p:nvPr/>
              </p:nvSpPr>
              <p:spPr>
                <a:xfrm flipH="1" flipV="1">
                  <a:off x="1488" y="2960"/>
                  <a:ext cx="0" cy="352"/>
                </a:xfrm>
                <a:prstGeom prst="line">
                  <a:avLst/>
                </a:prstGeom>
                <a:ln w="19050" cap="flat" cmpd="sng">
                  <a:solidFill>
                    <a:schemeClr val="hlink"/>
                  </a:solidFill>
                  <a:prstDash val="solid"/>
                  <a:round/>
                  <a:headEnd type="none" w="med" len="med"/>
                  <a:tailEnd type="none" w="med" len="med"/>
                </a:ln>
              </p:spPr>
            </p:sp>
            <p:sp>
              <p:nvSpPr>
                <p:cNvPr id="162838" name="AutoShape 20"/>
                <p:cNvSpPr/>
                <p:nvPr/>
              </p:nvSpPr>
              <p:spPr>
                <a:xfrm>
                  <a:off x="1456" y="2968"/>
                  <a:ext cx="66" cy="112"/>
                </a:xfrm>
                <a:prstGeom prst="triangle">
                  <a:avLst>
                    <a:gd name="adj" fmla="val 50000"/>
                  </a:avLst>
                </a:prstGeom>
                <a:solidFill>
                  <a:schemeClr val="bg1"/>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grpSp>
            <p:nvGrpSpPr>
              <p:cNvPr id="162839" name="Group 21"/>
              <p:cNvGrpSpPr/>
              <p:nvPr/>
            </p:nvGrpSpPr>
            <p:grpSpPr>
              <a:xfrm>
                <a:off x="2424" y="2856"/>
                <a:ext cx="66" cy="352"/>
                <a:chOff x="1456" y="2960"/>
                <a:chExt cx="66" cy="352"/>
              </a:xfrm>
            </p:grpSpPr>
            <p:sp>
              <p:nvSpPr>
                <p:cNvPr id="162840" name="Line 22"/>
                <p:cNvSpPr/>
                <p:nvPr/>
              </p:nvSpPr>
              <p:spPr>
                <a:xfrm flipH="1" flipV="1">
                  <a:off x="1488" y="2960"/>
                  <a:ext cx="0" cy="352"/>
                </a:xfrm>
                <a:prstGeom prst="line">
                  <a:avLst/>
                </a:prstGeom>
                <a:ln w="19050" cap="flat" cmpd="sng">
                  <a:solidFill>
                    <a:schemeClr val="hlink"/>
                  </a:solidFill>
                  <a:prstDash val="solid"/>
                  <a:round/>
                  <a:headEnd type="none" w="med" len="med"/>
                  <a:tailEnd type="none" w="med" len="med"/>
                </a:ln>
              </p:spPr>
            </p:sp>
            <p:sp>
              <p:nvSpPr>
                <p:cNvPr id="162841" name="AutoShape 23"/>
                <p:cNvSpPr/>
                <p:nvPr/>
              </p:nvSpPr>
              <p:spPr>
                <a:xfrm>
                  <a:off x="1456" y="2968"/>
                  <a:ext cx="66" cy="112"/>
                </a:xfrm>
                <a:prstGeom prst="triangle">
                  <a:avLst>
                    <a:gd name="adj" fmla="val 50000"/>
                  </a:avLst>
                </a:prstGeom>
                <a:solidFill>
                  <a:schemeClr val="bg1"/>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grpSp>
            <p:nvGrpSpPr>
              <p:cNvPr id="162842" name="Group 24"/>
              <p:cNvGrpSpPr/>
              <p:nvPr/>
            </p:nvGrpSpPr>
            <p:grpSpPr>
              <a:xfrm>
                <a:off x="2960" y="2856"/>
                <a:ext cx="66" cy="352"/>
                <a:chOff x="1456" y="2960"/>
                <a:chExt cx="66" cy="352"/>
              </a:xfrm>
            </p:grpSpPr>
            <p:sp>
              <p:nvSpPr>
                <p:cNvPr id="162843" name="Line 25"/>
                <p:cNvSpPr/>
                <p:nvPr/>
              </p:nvSpPr>
              <p:spPr>
                <a:xfrm flipH="1" flipV="1">
                  <a:off x="1488" y="2960"/>
                  <a:ext cx="0" cy="352"/>
                </a:xfrm>
                <a:prstGeom prst="line">
                  <a:avLst/>
                </a:prstGeom>
                <a:ln w="19050" cap="flat" cmpd="sng">
                  <a:solidFill>
                    <a:schemeClr val="hlink"/>
                  </a:solidFill>
                  <a:prstDash val="solid"/>
                  <a:round/>
                  <a:headEnd type="none" w="med" len="med"/>
                  <a:tailEnd type="none" w="med" len="med"/>
                </a:ln>
              </p:spPr>
            </p:sp>
            <p:sp>
              <p:nvSpPr>
                <p:cNvPr id="162844" name="AutoShape 26"/>
                <p:cNvSpPr/>
                <p:nvPr/>
              </p:nvSpPr>
              <p:spPr>
                <a:xfrm>
                  <a:off x="1456" y="2968"/>
                  <a:ext cx="66" cy="112"/>
                </a:xfrm>
                <a:prstGeom prst="triangle">
                  <a:avLst>
                    <a:gd name="adj" fmla="val 50000"/>
                  </a:avLst>
                </a:prstGeom>
                <a:solidFill>
                  <a:schemeClr val="bg1"/>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grpSp>
            <p:nvGrpSpPr>
              <p:cNvPr id="162845" name="Group 27"/>
              <p:cNvGrpSpPr/>
              <p:nvPr/>
            </p:nvGrpSpPr>
            <p:grpSpPr>
              <a:xfrm>
                <a:off x="3512" y="2856"/>
                <a:ext cx="66" cy="352"/>
                <a:chOff x="1456" y="2960"/>
                <a:chExt cx="66" cy="352"/>
              </a:xfrm>
            </p:grpSpPr>
            <p:sp>
              <p:nvSpPr>
                <p:cNvPr id="162846" name="Line 28"/>
                <p:cNvSpPr/>
                <p:nvPr/>
              </p:nvSpPr>
              <p:spPr>
                <a:xfrm flipH="1" flipV="1">
                  <a:off x="1488" y="2960"/>
                  <a:ext cx="0" cy="352"/>
                </a:xfrm>
                <a:prstGeom prst="line">
                  <a:avLst/>
                </a:prstGeom>
                <a:ln w="19050" cap="flat" cmpd="sng">
                  <a:solidFill>
                    <a:schemeClr val="hlink"/>
                  </a:solidFill>
                  <a:prstDash val="solid"/>
                  <a:round/>
                  <a:headEnd type="none" w="med" len="med"/>
                  <a:tailEnd type="none" w="med" len="med"/>
                </a:ln>
              </p:spPr>
            </p:sp>
            <p:sp>
              <p:nvSpPr>
                <p:cNvPr id="162847" name="AutoShape 29"/>
                <p:cNvSpPr/>
                <p:nvPr/>
              </p:nvSpPr>
              <p:spPr>
                <a:xfrm>
                  <a:off x="1456" y="2968"/>
                  <a:ext cx="66" cy="112"/>
                </a:xfrm>
                <a:prstGeom prst="triangle">
                  <a:avLst>
                    <a:gd name="adj" fmla="val 50000"/>
                  </a:avLst>
                </a:prstGeom>
                <a:solidFill>
                  <a:schemeClr val="bg1"/>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grpSp>
            <p:nvGrpSpPr>
              <p:cNvPr id="162848" name="Group 30"/>
              <p:cNvGrpSpPr/>
              <p:nvPr/>
            </p:nvGrpSpPr>
            <p:grpSpPr>
              <a:xfrm>
                <a:off x="4032" y="2856"/>
                <a:ext cx="66" cy="352"/>
                <a:chOff x="1456" y="2960"/>
                <a:chExt cx="66" cy="352"/>
              </a:xfrm>
            </p:grpSpPr>
            <p:sp>
              <p:nvSpPr>
                <p:cNvPr id="162849" name="Line 31"/>
                <p:cNvSpPr/>
                <p:nvPr/>
              </p:nvSpPr>
              <p:spPr>
                <a:xfrm flipH="1" flipV="1">
                  <a:off x="1488" y="2960"/>
                  <a:ext cx="0" cy="352"/>
                </a:xfrm>
                <a:prstGeom prst="line">
                  <a:avLst/>
                </a:prstGeom>
                <a:ln w="19050" cap="flat" cmpd="sng">
                  <a:solidFill>
                    <a:schemeClr val="hlink"/>
                  </a:solidFill>
                  <a:prstDash val="solid"/>
                  <a:round/>
                  <a:headEnd type="none" w="med" len="med"/>
                  <a:tailEnd type="none" w="med" len="med"/>
                </a:ln>
              </p:spPr>
            </p:sp>
            <p:sp>
              <p:nvSpPr>
                <p:cNvPr id="162850" name="AutoShape 32"/>
                <p:cNvSpPr/>
                <p:nvPr/>
              </p:nvSpPr>
              <p:spPr>
                <a:xfrm>
                  <a:off x="1456" y="2968"/>
                  <a:ext cx="66" cy="112"/>
                </a:xfrm>
                <a:prstGeom prst="triangle">
                  <a:avLst>
                    <a:gd name="adj" fmla="val 50000"/>
                  </a:avLst>
                </a:prstGeom>
                <a:solidFill>
                  <a:schemeClr val="bg1"/>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grpSp>
            <p:nvGrpSpPr>
              <p:cNvPr id="162851" name="Group 33"/>
              <p:cNvGrpSpPr/>
              <p:nvPr/>
            </p:nvGrpSpPr>
            <p:grpSpPr>
              <a:xfrm>
                <a:off x="4568" y="2856"/>
                <a:ext cx="66" cy="352"/>
                <a:chOff x="1456" y="2960"/>
                <a:chExt cx="66" cy="352"/>
              </a:xfrm>
            </p:grpSpPr>
            <p:sp>
              <p:nvSpPr>
                <p:cNvPr id="162852" name="Line 34"/>
                <p:cNvSpPr/>
                <p:nvPr/>
              </p:nvSpPr>
              <p:spPr>
                <a:xfrm flipH="1" flipV="1">
                  <a:off x="1488" y="2960"/>
                  <a:ext cx="0" cy="352"/>
                </a:xfrm>
                <a:prstGeom prst="line">
                  <a:avLst/>
                </a:prstGeom>
                <a:ln w="19050" cap="flat" cmpd="sng">
                  <a:solidFill>
                    <a:schemeClr val="hlink"/>
                  </a:solidFill>
                  <a:prstDash val="solid"/>
                  <a:round/>
                  <a:headEnd type="none" w="med" len="med"/>
                  <a:tailEnd type="none" w="med" len="med"/>
                </a:ln>
              </p:spPr>
            </p:sp>
            <p:sp>
              <p:nvSpPr>
                <p:cNvPr id="162853" name="AutoShape 35"/>
                <p:cNvSpPr/>
                <p:nvPr/>
              </p:nvSpPr>
              <p:spPr>
                <a:xfrm>
                  <a:off x="1456" y="2968"/>
                  <a:ext cx="66" cy="112"/>
                </a:xfrm>
                <a:prstGeom prst="triangle">
                  <a:avLst>
                    <a:gd name="adj" fmla="val 50000"/>
                  </a:avLst>
                </a:prstGeom>
                <a:solidFill>
                  <a:schemeClr val="bg1"/>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grpSp>
            <p:nvGrpSpPr>
              <p:cNvPr id="162854" name="Group 36"/>
              <p:cNvGrpSpPr/>
              <p:nvPr/>
            </p:nvGrpSpPr>
            <p:grpSpPr>
              <a:xfrm>
                <a:off x="5088" y="2856"/>
                <a:ext cx="66" cy="352"/>
                <a:chOff x="1456" y="2960"/>
                <a:chExt cx="66" cy="352"/>
              </a:xfrm>
            </p:grpSpPr>
            <p:sp>
              <p:nvSpPr>
                <p:cNvPr id="162855" name="Line 37"/>
                <p:cNvSpPr/>
                <p:nvPr/>
              </p:nvSpPr>
              <p:spPr>
                <a:xfrm flipH="1" flipV="1">
                  <a:off x="1488" y="2960"/>
                  <a:ext cx="0" cy="352"/>
                </a:xfrm>
                <a:prstGeom prst="line">
                  <a:avLst/>
                </a:prstGeom>
                <a:ln w="19050" cap="flat" cmpd="sng">
                  <a:solidFill>
                    <a:schemeClr val="hlink"/>
                  </a:solidFill>
                  <a:prstDash val="solid"/>
                  <a:round/>
                  <a:headEnd type="none" w="med" len="med"/>
                  <a:tailEnd type="none" w="med" len="med"/>
                </a:ln>
              </p:spPr>
            </p:sp>
            <p:sp>
              <p:nvSpPr>
                <p:cNvPr id="162856" name="AutoShape 38"/>
                <p:cNvSpPr/>
                <p:nvPr/>
              </p:nvSpPr>
              <p:spPr>
                <a:xfrm>
                  <a:off x="1456" y="2968"/>
                  <a:ext cx="66" cy="112"/>
                </a:xfrm>
                <a:prstGeom prst="triangle">
                  <a:avLst>
                    <a:gd name="adj" fmla="val 50000"/>
                  </a:avLst>
                </a:prstGeom>
                <a:solidFill>
                  <a:schemeClr val="bg1"/>
                </a:solidFill>
                <a:ln w="9525" cap="flat" cmpd="sng">
                  <a:solidFill>
                    <a:schemeClr val="hlink"/>
                  </a:solidFill>
                  <a:prstDash val="solid"/>
                  <a:miter/>
                  <a:headEnd type="none" w="med" len="med"/>
                  <a:tailEnd type="none" w="med" len="med"/>
                </a:ln>
              </p:spPr>
              <p:txBody>
                <a:bodyPr wrap="none" anchor="ctr" anchorCtr="0"/>
                <a:lstStyle/>
                <a:p>
                  <a:pPr>
                    <a:buClrTx/>
                    <a:buFontTx/>
                  </a:pPr>
                  <a:endParaRPr lang="zh-CN" altLang="en-US" sz="1800" dirty="0">
                    <a:latin typeface="Arial" panose="020B0604020202020204" pitchFamily="34" charset="0"/>
                    <a:ea typeface="宋体" panose="02010600030101010101" pitchFamily="2" charset="-122"/>
                  </a:endParaRPr>
                </a:p>
              </p:txBody>
            </p:sp>
          </p:grpSp>
          <p:sp>
            <p:nvSpPr>
              <p:cNvPr id="162857" name="Freeform 39"/>
              <p:cNvSpPr/>
              <p:nvPr/>
            </p:nvSpPr>
            <p:spPr>
              <a:xfrm>
                <a:off x="1248" y="3136"/>
                <a:ext cx="120" cy="280"/>
              </a:xfrm>
              <a:custGeom>
                <a:avLst/>
                <a:gdLst/>
                <a:ahLst/>
                <a:cxnLst>
                  <a:cxn ang="0">
                    <a:pos x="0" y="8052"/>
                  </a:cxn>
                  <a:cxn ang="0">
                    <a:pos x="40" y="2825"/>
                  </a:cxn>
                  <a:cxn ang="0">
                    <a:pos x="120" y="0"/>
                  </a:cxn>
                </a:cxnLst>
                <a:rect l="0" t="0" r="0" b="0"/>
                <a:pathLst>
                  <a:path w="120" h="160">
                    <a:moveTo>
                      <a:pt x="0" y="160"/>
                    </a:moveTo>
                    <a:cubicBezTo>
                      <a:pt x="10" y="121"/>
                      <a:pt x="20" y="83"/>
                      <a:pt x="40" y="56"/>
                    </a:cubicBezTo>
                    <a:cubicBezTo>
                      <a:pt x="60" y="29"/>
                      <a:pt x="107" y="9"/>
                      <a:pt x="120" y="0"/>
                    </a:cubicBezTo>
                  </a:path>
                </a:pathLst>
              </a:custGeom>
              <a:noFill/>
              <a:ln w="22225" cap="flat" cmpd="sng">
                <a:solidFill>
                  <a:schemeClr val="tx1"/>
                </a:solidFill>
                <a:prstDash val="solid"/>
                <a:round/>
                <a:headEnd type="none" w="med" len="med"/>
                <a:tailEnd type="triangle" w="sm" len="med"/>
              </a:ln>
            </p:spPr>
            <p:txBody>
              <a:bodyPr/>
              <a:lstStyle/>
              <a:p>
                <a:endParaRPr lang="zh-CN" altLang="en-US"/>
              </a:p>
            </p:txBody>
          </p:sp>
          <p:sp>
            <p:nvSpPr>
              <p:cNvPr id="162858" name="Text Box 40"/>
              <p:cNvSpPr txBox="1"/>
              <p:nvPr/>
            </p:nvSpPr>
            <p:spPr>
              <a:xfrm>
                <a:off x="694" y="3382"/>
                <a:ext cx="756" cy="250"/>
              </a:xfrm>
              <a:prstGeom prst="rect">
                <a:avLst/>
              </a:prstGeom>
              <a:noFill/>
              <a:ln w="9525">
                <a:noFill/>
              </a:ln>
            </p:spPr>
            <p:txBody>
              <a:bodyPr wrap="none" anchor="t" anchorCtr="0">
                <a:spAutoFit/>
              </a:bodyPr>
              <a:lstStyle/>
              <a:p>
                <a:pPr algn="ctr">
                  <a:buClrTx/>
                  <a:buFontTx/>
                </a:pPr>
                <a:r>
                  <a:rPr lang="zh-CN" altLang="en-US" sz="2000" b="1" dirty="0">
                    <a:solidFill>
                      <a:schemeClr val="hlink"/>
                    </a:solidFill>
                    <a:latin typeface="Times New Roman" panose="02020603050405020304" pitchFamily="18" charset="0"/>
                    <a:ea typeface="仿宋_GB2312" pitchFamily="49" charset="-122"/>
                  </a:rPr>
                  <a:t>内部发布</a:t>
                </a:r>
                <a:endParaRPr lang="zh-CN" altLang="en-US" sz="2000" b="1" dirty="0">
                  <a:solidFill>
                    <a:schemeClr val="hlink"/>
                  </a:solidFill>
                  <a:latin typeface="Times New Roman" panose="02020603050405020304" pitchFamily="18" charset="0"/>
                  <a:ea typeface="仿宋_GB2312" pitchFamily="49" charset="-122"/>
                </a:endParaRPr>
              </a:p>
            </p:txBody>
          </p:sp>
          <p:sp>
            <p:nvSpPr>
              <p:cNvPr id="162859" name="Freeform 41"/>
              <p:cNvSpPr/>
              <p:nvPr/>
            </p:nvSpPr>
            <p:spPr>
              <a:xfrm>
                <a:off x="1808" y="3144"/>
                <a:ext cx="120" cy="224"/>
              </a:xfrm>
              <a:custGeom>
                <a:avLst/>
                <a:gdLst/>
                <a:ahLst/>
                <a:cxnLst>
                  <a:cxn ang="0">
                    <a:pos x="0" y="1690"/>
                  </a:cxn>
                  <a:cxn ang="0">
                    <a:pos x="40" y="588"/>
                  </a:cxn>
                  <a:cxn ang="0">
                    <a:pos x="120" y="0"/>
                  </a:cxn>
                </a:cxnLst>
                <a:rect l="0" t="0" r="0" b="0"/>
                <a:pathLst>
                  <a:path w="120" h="160">
                    <a:moveTo>
                      <a:pt x="0" y="160"/>
                    </a:moveTo>
                    <a:cubicBezTo>
                      <a:pt x="10" y="121"/>
                      <a:pt x="20" y="83"/>
                      <a:pt x="40" y="56"/>
                    </a:cubicBezTo>
                    <a:cubicBezTo>
                      <a:pt x="60" y="29"/>
                      <a:pt x="107" y="9"/>
                      <a:pt x="120" y="0"/>
                    </a:cubicBezTo>
                  </a:path>
                </a:pathLst>
              </a:custGeom>
              <a:noFill/>
              <a:ln w="22225" cap="flat" cmpd="sng">
                <a:solidFill>
                  <a:schemeClr val="tx1"/>
                </a:solidFill>
                <a:prstDash val="solid"/>
                <a:round/>
                <a:headEnd type="none" w="med" len="med"/>
                <a:tailEnd type="triangle" w="sm" len="med"/>
              </a:ln>
            </p:spPr>
            <p:txBody>
              <a:bodyPr/>
              <a:lstStyle/>
              <a:p>
                <a:endParaRPr lang="zh-CN" altLang="en-US"/>
              </a:p>
            </p:txBody>
          </p:sp>
          <p:sp>
            <p:nvSpPr>
              <p:cNvPr id="162860" name="Text Box 42"/>
              <p:cNvSpPr txBox="1"/>
              <p:nvPr/>
            </p:nvSpPr>
            <p:spPr>
              <a:xfrm>
                <a:off x="1455" y="3326"/>
                <a:ext cx="756" cy="250"/>
              </a:xfrm>
              <a:prstGeom prst="rect">
                <a:avLst/>
              </a:prstGeom>
              <a:noFill/>
              <a:ln w="9525">
                <a:noFill/>
              </a:ln>
            </p:spPr>
            <p:txBody>
              <a:bodyPr wrap="none" anchor="t" anchorCtr="0">
                <a:spAutoFit/>
              </a:bodyPr>
              <a:lstStyle/>
              <a:p>
                <a:pPr algn="ctr">
                  <a:buClrTx/>
                  <a:buFontTx/>
                </a:pPr>
                <a:r>
                  <a:rPr lang="zh-CN" altLang="en-US" sz="2000" b="1" dirty="0">
                    <a:solidFill>
                      <a:schemeClr val="hlink"/>
                    </a:solidFill>
                    <a:latin typeface="Times New Roman" panose="02020603050405020304" pitchFamily="18" charset="0"/>
                    <a:ea typeface="仿宋_GB2312" pitchFamily="49" charset="-122"/>
                  </a:rPr>
                  <a:t>小里程碑</a:t>
                </a:r>
                <a:endParaRPr lang="zh-CN" altLang="en-US" sz="2000" b="1" dirty="0">
                  <a:solidFill>
                    <a:schemeClr val="hlink"/>
                  </a:solidFill>
                  <a:latin typeface="Times New Roman" panose="02020603050405020304" pitchFamily="18" charset="0"/>
                  <a:ea typeface="仿宋_GB2312" pitchFamily="49" charset="-122"/>
                </a:endParaRPr>
              </a:p>
            </p:txBody>
          </p:sp>
          <p:sp>
            <p:nvSpPr>
              <p:cNvPr id="162861" name="Freeform 43"/>
              <p:cNvSpPr/>
              <p:nvPr/>
            </p:nvSpPr>
            <p:spPr>
              <a:xfrm>
                <a:off x="3936" y="3136"/>
                <a:ext cx="120" cy="224"/>
              </a:xfrm>
              <a:custGeom>
                <a:avLst/>
                <a:gdLst/>
                <a:ahLst/>
                <a:cxnLst>
                  <a:cxn ang="0">
                    <a:pos x="0" y="1690"/>
                  </a:cxn>
                  <a:cxn ang="0">
                    <a:pos x="40" y="588"/>
                  </a:cxn>
                  <a:cxn ang="0">
                    <a:pos x="120" y="0"/>
                  </a:cxn>
                </a:cxnLst>
                <a:rect l="0" t="0" r="0" b="0"/>
                <a:pathLst>
                  <a:path w="120" h="160">
                    <a:moveTo>
                      <a:pt x="0" y="160"/>
                    </a:moveTo>
                    <a:cubicBezTo>
                      <a:pt x="10" y="121"/>
                      <a:pt x="20" y="83"/>
                      <a:pt x="40" y="56"/>
                    </a:cubicBezTo>
                    <a:cubicBezTo>
                      <a:pt x="60" y="29"/>
                      <a:pt x="107" y="9"/>
                      <a:pt x="120" y="0"/>
                    </a:cubicBezTo>
                  </a:path>
                </a:pathLst>
              </a:custGeom>
              <a:noFill/>
              <a:ln w="22225" cap="flat" cmpd="sng">
                <a:solidFill>
                  <a:schemeClr val="tx1"/>
                </a:solidFill>
                <a:prstDash val="solid"/>
                <a:round/>
                <a:headEnd type="none" w="med" len="med"/>
                <a:tailEnd type="triangle" w="sm" len="med"/>
              </a:ln>
            </p:spPr>
            <p:txBody>
              <a:bodyPr/>
              <a:lstStyle/>
              <a:p>
                <a:endParaRPr lang="zh-CN" altLang="en-US"/>
              </a:p>
            </p:txBody>
          </p:sp>
          <p:sp>
            <p:nvSpPr>
              <p:cNvPr id="162862" name="Text Box 44"/>
              <p:cNvSpPr txBox="1"/>
              <p:nvPr/>
            </p:nvSpPr>
            <p:spPr>
              <a:xfrm>
                <a:off x="3125" y="3352"/>
                <a:ext cx="1227" cy="404"/>
              </a:xfrm>
              <a:prstGeom prst="rect">
                <a:avLst/>
              </a:prstGeom>
              <a:noFill/>
              <a:ln w="9525">
                <a:noFill/>
              </a:ln>
            </p:spPr>
            <p:txBody>
              <a:bodyPr wrap="none" anchor="t" anchorCtr="0">
                <a:spAutoFit/>
              </a:bodyPr>
              <a:lstStyle/>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第</a:t>
                </a:r>
                <a:r>
                  <a:rPr lang="en-US" altLang="zh-CN" sz="2000" b="1" dirty="0">
                    <a:solidFill>
                      <a:schemeClr val="hlink"/>
                    </a:solidFill>
                    <a:latin typeface="Times New Roman" panose="02020603050405020304" pitchFamily="18" charset="0"/>
                    <a:ea typeface="仿宋_GB2312" pitchFamily="49" charset="-122"/>
                  </a:rPr>
                  <a:t>1</a:t>
                </a:r>
                <a:r>
                  <a:rPr lang="zh-CN" altLang="en-US" sz="2000" b="1" dirty="0">
                    <a:solidFill>
                      <a:schemeClr val="hlink"/>
                    </a:solidFill>
                    <a:latin typeface="Times New Roman" panose="02020603050405020304" pitchFamily="18" charset="0"/>
                    <a:ea typeface="仿宋_GB2312" pitchFamily="49" charset="-122"/>
                  </a:rPr>
                  <a:t>个外部发布</a:t>
                </a:r>
                <a:endParaRPr lang="zh-CN" altLang="en-US" sz="2000" b="1" dirty="0">
                  <a:solidFill>
                    <a:schemeClr val="hlink"/>
                  </a:solidFill>
                  <a:latin typeface="Times New Roman" panose="02020603050405020304" pitchFamily="18" charset="0"/>
                  <a:ea typeface="仿宋_GB2312" pitchFamily="49" charset="-122"/>
                </a:endParaRPr>
              </a:p>
              <a:p>
                <a:pPr algn="ctr">
                  <a:lnSpc>
                    <a:spcPct val="90000"/>
                  </a:lnSpc>
                  <a:buClrTx/>
                  <a:buFontTx/>
                </a:pPr>
                <a:r>
                  <a:rPr lang="zh-CN" altLang="en-US" sz="2000" b="1" dirty="0">
                    <a:solidFill>
                      <a:schemeClr val="hlink"/>
                    </a:solidFill>
                    <a:latin typeface="Times New Roman" panose="02020603050405020304" pitchFamily="18" charset="0"/>
                    <a:ea typeface="仿宋_GB2312" pitchFamily="49" charset="-122"/>
                  </a:rPr>
                  <a:t>（如</a:t>
                </a:r>
                <a:r>
                  <a:rPr lang="en-US" altLang="zh-CN" sz="2000" b="1" dirty="0">
                    <a:solidFill>
                      <a:schemeClr val="hlink"/>
                    </a:solidFill>
                    <a:latin typeface="Times New Roman" panose="02020603050405020304" pitchFamily="18" charset="0"/>
                    <a:ea typeface="仿宋_GB2312" pitchFamily="49" charset="-122"/>
                    <a:sym typeface="Symbol" panose="05050102010706020507" pitchFamily="18" charset="2"/>
                  </a:rPr>
                  <a:t>Beta</a:t>
                </a:r>
                <a:r>
                  <a:rPr lang="zh-CN" altLang="en-US" sz="2000" b="1" dirty="0">
                    <a:solidFill>
                      <a:schemeClr val="hlink"/>
                    </a:solidFill>
                    <a:latin typeface="Times New Roman" panose="02020603050405020304" pitchFamily="18" charset="0"/>
                    <a:ea typeface="仿宋_GB2312" pitchFamily="49" charset="-122"/>
                  </a:rPr>
                  <a:t>版本）</a:t>
                </a:r>
                <a:endParaRPr lang="zh-CN" altLang="en-US" sz="2000" b="1" dirty="0">
                  <a:solidFill>
                    <a:schemeClr val="hlink"/>
                  </a:solidFill>
                  <a:latin typeface="Times New Roman" panose="02020603050405020304" pitchFamily="18" charset="0"/>
                  <a:ea typeface="仿宋_GB2312" pitchFamily="49" charset="-122"/>
                </a:endParaRPr>
              </a:p>
            </p:txBody>
          </p:sp>
          <p:sp>
            <p:nvSpPr>
              <p:cNvPr id="162863" name="Freeform 45"/>
              <p:cNvSpPr/>
              <p:nvPr/>
            </p:nvSpPr>
            <p:spPr>
              <a:xfrm>
                <a:off x="4992" y="3152"/>
                <a:ext cx="120" cy="272"/>
              </a:xfrm>
              <a:custGeom>
                <a:avLst/>
                <a:gdLst/>
                <a:ahLst/>
                <a:cxnLst>
                  <a:cxn ang="0">
                    <a:pos x="0" y="6560"/>
                  </a:cxn>
                  <a:cxn ang="0">
                    <a:pos x="40" y="2300"/>
                  </a:cxn>
                  <a:cxn ang="0">
                    <a:pos x="120" y="0"/>
                  </a:cxn>
                </a:cxnLst>
                <a:rect l="0" t="0" r="0" b="0"/>
                <a:pathLst>
                  <a:path w="120" h="160">
                    <a:moveTo>
                      <a:pt x="0" y="160"/>
                    </a:moveTo>
                    <a:cubicBezTo>
                      <a:pt x="10" y="121"/>
                      <a:pt x="20" y="83"/>
                      <a:pt x="40" y="56"/>
                    </a:cubicBezTo>
                    <a:cubicBezTo>
                      <a:pt x="60" y="29"/>
                      <a:pt x="107" y="9"/>
                      <a:pt x="120" y="0"/>
                    </a:cubicBezTo>
                  </a:path>
                </a:pathLst>
              </a:custGeom>
              <a:noFill/>
              <a:ln w="22225" cap="flat" cmpd="sng">
                <a:solidFill>
                  <a:schemeClr val="tx1"/>
                </a:solidFill>
                <a:prstDash val="solid"/>
                <a:round/>
                <a:headEnd type="none" w="med" len="med"/>
                <a:tailEnd type="triangle" w="sm" len="med"/>
              </a:ln>
            </p:spPr>
            <p:txBody>
              <a:bodyPr/>
              <a:lstStyle/>
              <a:p>
                <a:endParaRPr lang="zh-CN" altLang="en-US"/>
              </a:p>
            </p:txBody>
          </p:sp>
          <p:sp>
            <p:nvSpPr>
              <p:cNvPr id="162864" name="Text Box 46"/>
              <p:cNvSpPr txBox="1"/>
              <p:nvPr/>
            </p:nvSpPr>
            <p:spPr>
              <a:xfrm>
                <a:off x="4497" y="3406"/>
                <a:ext cx="756" cy="250"/>
              </a:xfrm>
              <a:prstGeom prst="rect">
                <a:avLst/>
              </a:prstGeom>
              <a:noFill/>
              <a:ln w="9525">
                <a:noFill/>
              </a:ln>
            </p:spPr>
            <p:txBody>
              <a:bodyPr wrap="none" anchor="t" anchorCtr="0">
                <a:spAutoFit/>
              </a:bodyPr>
              <a:lstStyle/>
              <a:p>
                <a:pPr algn="ctr">
                  <a:buClrTx/>
                  <a:buFontTx/>
                </a:pPr>
                <a:r>
                  <a:rPr lang="zh-CN" altLang="en-US" sz="2000" b="1" dirty="0">
                    <a:solidFill>
                      <a:schemeClr val="hlink"/>
                    </a:solidFill>
                    <a:latin typeface="Times New Roman" panose="02020603050405020304" pitchFamily="18" charset="0"/>
                    <a:ea typeface="仿宋_GB2312" pitchFamily="49" charset="-122"/>
                  </a:rPr>
                  <a:t>最终发布</a:t>
                </a:r>
                <a:endParaRPr lang="zh-CN" altLang="en-US" sz="2000" b="1" dirty="0">
                  <a:solidFill>
                    <a:schemeClr val="hlink"/>
                  </a:solidFill>
                  <a:latin typeface="Times New Roman" panose="02020603050405020304" pitchFamily="18" charset="0"/>
                  <a:ea typeface="仿宋_GB2312" pitchFamily="49" charset="-122"/>
                </a:endParaRPr>
              </a:p>
            </p:txBody>
          </p:sp>
        </p:gr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0" indent="0" eaLnBrk="1" hangingPunct="1">
              <a:lnSpc>
                <a:spcPct val="105000"/>
              </a:lnSpc>
              <a:spcBef>
                <a:spcPct val="5000"/>
              </a:spcBef>
              <a:buNone/>
            </a:pPr>
            <a:r>
              <a:rPr lang="zh-CN" altLang="en-US" sz="2800" dirty="0">
                <a:solidFill>
                  <a:srgbClr val="FF0000"/>
                </a:solidFill>
                <a:sym typeface="+mn-ea"/>
              </a:rPr>
              <a:t>初始阶段</a:t>
            </a:r>
            <a:endParaRPr lang="zh-CN" altLang="en-US" sz="2800" dirty="0">
              <a:solidFill>
                <a:srgbClr val="000099"/>
              </a:solidFill>
              <a:sym typeface="+mn-ea"/>
            </a:endParaRPr>
          </a:p>
          <a:p>
            <a:pPr marL="609600" indent="-609600" eaLnBrk="1" hangingPunct="1">
              <a:lnSpc>
                <a:spcPct val="105000"/>
              </a:lnSpc>
              <a:spcBef>
                <a:spcPct val="5000"/>
              </a:spcBef>
            </a:pPr>
            <a:r>
              <a:rPr lang="zh-CN" altLang="en-US" dirty="0">
                <a:solidFill>
                  <a:srgbClr val="000099"/>
                </a:solidFill>
                <a:sym typeface="+mn-ea"/>
              </a:rPr>
              <a:t>目标：将一个好的想法发展为最终产品的一个构想，提出该产品的业务实例。</a:t>
            </a:r>
            <a:endParaRPr lang="zh-CN" altLang="en-US" b="1" dirty="0">
              <a:solidFill>
                <a:srgbClr val="000099"/>
              </a:solidFill>
            </a:endParaRPr>
          </a:p>
          <a:p>
            <a:pPr marL="609600" indent="-609600" eaLnBrk="1" hangingPunct="1">
              <a:lnSpc>
                <a:spcPct val="105000"/>
              </a:lnSpc>
              <a:spcBef>
                <a:spcPct val="5000"/>
              </a:spcBef>
              <a:buNone/>
            </a:pPr>
            <a:endParaRPr lang="zh-CN" altLang="en-US" dirty="0">
              <a:solidFill>
                <a:srgbClr val="000099"/>
              </a:solidFill>
            </a:endParaRPr>
          </a:p>
          <a:p>
            <a:pPr marL="990600" lvl="1" indent="-645795" eaLnBrk="1" hangingPunct="1">
              <a:lnSpc>
                <a:spcPct val="105000"/>
              </a:lnSpc>
              <a:spcBef>
                <a:spcPct val="5000"/>
              </a:spcBef>
              <a:buClr>
                <a:schemeClr val="hlink"/>
              </a:buClr>
            </a:pPr>
            <a:r>
              <a:rPr lang="zh-CN" altLang="en-US" dirty="0">
                <a:sym typeface="+mn-ea"/>
              </a:rPr>
              <a:t>确定项目的</a:t>
            </a:r>
            <a:r>
              <a:rPr lang="zh-CN" altLang="en-US" dirty="0">
                <a:solidFill>
                  <a:schemeClr val="hlink"/>
                </a:solidFill>
                <a:sym typeface="+mn-ea"/>
              </a:rPr>
              <a:t>软件范围</a:t>
            </a:r>
            <a:r>
              <a:rPr lang="zh-CN" altLang="en-US" dirty="0">
                <a:sym typeface="+mn-ea"/>
              </a:rPr>
              <a:t>和</a:t>
            </a:r>
            <a:r>
              <a:rPr lang="zh-CN" altLang="en-US" dirty="0">
                <a:solidFill>
                  <a:schemeClr val="hlink"/>
                </a:solidFill>
                <a:sym typeface="+mn-ea"/>
              </a:rPr>
              <a:t>边界条件</a:t>
            </a:r>
            <a:r>
              <a:rPr lang="zh-CN" altLang="en-US" dirty="0">
                <a:sym typeface="+mn-ea"/>
              </a:rPr>
              <a:t>，明确系统向它的用户提供的基本功能；</a:t>
            </a:r>
            <a:endParaRPr lang="zh-CN" altLang="en-US" dirty="0"/>
          </a:p>
          <a:p>
            <a:pPr marL="990600" lvl="1" indent="-645795" eaLnBrk="1" hangingPunct="1">
              <a:lnSpc>
                <a:spcPct val="105000"/>
              </a:lnSpc>
              <a:spcBef>
                <a:spcPct val="5000"/>
              </a:spcBef>
              <a:buClr>
                <a:schemeClr val="hlink"/>
              </a:buClr>
            </a:pPr>
            <a:r>
              <a:rPr lang="zh-CN" altLang="en-US" dirty="0">
                <a:sym typeface="+mn-ea"/>
              </a:rPr>
              <a:t>识别系统的</a:t>
            </a:r>
            <a:r>
              <a:rPr lang="zh-CN" altLang="en-US" dirty="0">
                <a:solidFill>
                  <a:schemeClr val="hlink"/>
                </a:solidFill>
                <a:sym typeface="+mn-ea"/>
              </a:rPr>
              <a:t>关键用例</a:t>
            </a:r>
            <a:r>
              <a:rPr lang="zh-CN" altLang="en-US" dirty="0">
                <a:sym typeface="+mn-ea"/>
              </a:rPr>
              <a:t>，即主要行为场景；</a:t>
            </a:r>
            <a:endParaRPr lang="zh-CN" altLang="en-US" dirty="0"/>
          </a:p>
          <a:p>
            <a:pPr marL="990600" lvl="1" indent="-645795" eaLnBrk="1" hangingPunct="1">
              <a:lnSpc>
                <a:spcPct val="105000"/>
              </a:lnSpc>
              <a:spcBef>
                <a:spcPct val="5000"/>
              </a:spcBef>
              <a:buClr>
                <a:schemeClr val="hlink"/>
              </a:buClr>
            </a:pPr>
            <a:r>
              <a:rPr lang="zh-CN" altLang="en-US" dirty="0">
                <a:sym typeface="+mn-ea"/>
              </a:rPr>
              <a:t>给出一个</a:t>
            </a:r>
            <a:r>
              <a:rPr lang="zh-CN" altLang="en-US" dirty="0">
                <a:solidFill>
                  <a:schemeClr val="hlink"/>
                </a:solidFill>
                <a:sym typeface="+mn-ea"/>
              </a:rPr>
              <a:t>试验性的软件体系结构</a:t>
            </a:r>
            <a:r>
              <a:rPr lang="zh-CN" altLang="en-US" dirty="0">
                <a:sym typeface="+mn-ea"/>
              </a:rPr>
              <a:t>，它是包含主要场景的系统大致轮廓；</a:t>
            </a:r>
            <a:endParaRPr lang="zh-CN" altLang="en-US" dirty="0"/>
          </a:p>
          <a:p>
            <a:pPr marL="990600" lvl="1" indent="-645795" eaLnBrk="1" hangingPunct="1">
              <a:lnSpc>
                <a:spcPct val="105000"/>
              </a:lnSpc>
              <a:spcBef>
                <a:spcPct val="5000"/>
              </a:spcBef>
              <a:buClr>
                <a:schemeClr val="hlink"/>
              </a:buClr>
            </a:pPr>
            <a:r>
              <a:rPr lang="zh-CN" altLang="en-US" dirty="0">
                <a:sym typeface="+mn-ea"/>
              </a:rPr>
              <a:t>估计整个项目需要的</a:t>
            </a:r>
            <a:r>
              <a:rPr lang="zh-CN" altLang="en-US" dirty="0">
                <a:solidFill>
                  <a:schemeClr val="hlink"/>
                </a:solidFill>
                <a:sym typeface="+mn-ea"/>
              </a:rPr>
              <a:t>成本</a:t>
            </a:r>
            <a:r>
              <a:rPr lang="zh-CN" altLang="en-US" dirty="0">
                <a:sym typeface="+mn-ea"/>
              </a:rPr>
              <a:t>和</a:t>
            </a:r>
            <a:r>
              <a:rPr lang="zh-CN" altLang="en-US" dirty="0">
                <a:solidFill>
                  <a:schemeClr val="hlink"/>
                </a:solidFill>
                <a:sym typeface="+mn-ea"/>
              </a:rPr>
              <a:t>时间</a:t>
            </a:r>
            <a:r>
              <a:rPr lang="zh-CN" altLang="en-US" dirty="0">
                <a:sym typeface="+mn-ea"/>
              </a:rPr>
              <a:t>；</a:t>
            </a:r>
            <a:endParaRPr lang="zh-CN" altLang="en-US" dirty="0"/>
          </a:p>
          <a:p>
            <a:pPr marL="990600" lvl="1" indent="-645795" eaLnBrk="1" hangingPunct="1">
              <a:lnSpc>
                <a:spcPct val="105000"/>
              </a:lnSpc>
              <a:spcBef>
                <a:spcPct val="5000"/>
              </a:spcBef>
              <a:buClr>
                <a:schemeClr val="hlink"/>
              </a:buClr>
            </a:pPr>
            <a:r>
              <a:rPr lang="zh-CN" altLang="en-US" dirty="0">
                <a:sym typeface="+mn-ea"/>
              </a:rPr>
              <a:t>评估</a:t>
            </a:r>
            <a:r>
              <a:rPr lang="zh-CN" altLang="en-US" dirty="0">
                <a:solidFill>
                  <a:schemeClr val="hlink"/>
                </a:solidFill>
                <a:sym typeface="+mn-ea"/>
              </a:rPr>
              <a:t>风险</a:t>
            </a:r>
            <a:r>
              <a:rPr lang="zh-CN" altLang="en-US" dirty="0">
                <a:sym typeface="+mn-ea"/>
              </a:rPr>
              <a:t>，即分析不确定性的原因；</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0" indent="0" eaLnBrk="1" hangingPunct="1">
              <a:lnSpc>
                <a:spcPct val="105000"/>
              </a:lnSpc>
              <a:spcBef>
                <a:spcPct val="5000"/>
              </a:spcBef>
              <a:buNone/>
            </a:pPr>
            <a:r>
              <a:rPr lang="zh-CN" altLang="en-US" sz="2800" dirty="0">
                <a:solidFill>
                  <a:srgbClr val="FF0000"/>
                </a:solidFill>
                <a:sym typeface="+mn-ea"/>
              </a:rPr>
              <a:t>初始阶段</a:t>
            </a:r>
            <a:endParaRPr lang="zh-CN" altLang="en-US" sz="2800" dirty="0">
              <a:solidFill>
                <a:srgbClr val="000099"/>
              </a:solidFill>
              <a:sym typeface="+mn-ea"/>
            </a:endParaRPr>
          </a:p>
          <a:p>
            <a:pPr marL="609600" indent="-609600" eaLnBrk="1" hangingPunct="1">
              <a:lnSpc>
                <a:spcPct val="105000"/>
              </a:lnSpc>
              <a:spcBef>
                <a:spcPct val="10000"/>
              </a:spcBef>
            </a:pPr>
            <a:r>
              <a:rPr lang="zh-CN" altLang="en-US" dirty="0">
                <a:solidFill>
                  <a:srgbClr val="2C1588"/>
                </a:solidFill>
                <a:sym typeface="+mn-ea"/>
              </a:rPr>
              <a:t>制品</a:t>
            </a:r>
            <a:endParaRPr lang="zh-CN" altLang="en-US" b="1" dirty="0">
              <a:solidFill>
                <a:srgbClr val="2C1588"/>
              </a:solidFill>
            </a:endParaRPr>
          </a:p>
          <a:p>
            <a:pPr marL="990600" lvl="1" indent="-645795" eaLnBrk="1" hangingPunct="1">
              <a:lnSpc>
                <a:spcPct val="110000"/>
              </a:lnSpc>
              <a:spcBef>
                <a:spcPct val="15000"/>
              </a:spcBef>
              <a:buClr>
                <a:srgbClr val="FF0000"/>
              </a:buClr>
              <a:buSzTx/>
              <a:buFont typeface="Wingdings" panose="05000000000000000000" pitchFamily="2" charset="2"/>
              <a:buAutoNum type="alphaLcParenR"/>
            </a:pPr>
            <a:r>
              <a:rPr lang="zh-CN" altLang="en-US" u="sng" dirty="0">
                <a:solidFill>
                  <a:schemeClr val="hlink"/>
                </a:solidFill>
                <a:sym typeface="+mn-ea"/>
              </a:rPr>
              <a:t>构想文档</a:t>
            </a:r>
            <a:r>
              <a:rPr lang="zh-CN" altLang="en-US" dirty="0">
                <a:sym typeface="+mn-ea"/>
              </a:rPr>
              <a:t>：有关项目核心需求、关键特性和主要限制的构想。</a:t>
            </a:r>
            <a:endParaRPr lang="zh-CN" altLang="en-US" dirty="0"/>
          </a:p>
          <a:p>
            <a:pPr marL="990600" lvl="1" indent="-645795" eaLnBrk="1" hangingPunct="1">
              <a:lnSpc>
                <a:spcPct val="110000"/>
              </a:lnSpc>
              <a:spcBef>
                <a:spcPct val="15000"/>
              </a:spcBef>
              <a:buClr>
                <a:srgbClr val="FF0000"/>
              </a:buClr>
              <a:buSzTx/>
              <a:buFont typeface="Wingdings" panose="05000000000000000000" pitchFamily="2" charset="2"/>
              <a:buAutoNum type="alphaLcParenR"/>
            </a:pPr>
            <a:r>
              <a:rPr lang="zh-CN" altLang="en-US" u="sng" dirty="0">
                <a:solidFill>
                  <a:schemeClr val="hlink"/>
                </a:solidFill>
                <a:sym typeface="+mn-ea"/>
              </a:rPr>
              <a:t>用例模型调查</a:t>
            </a:r>
            <a:r>
              <a:rPr lang="zh-CN" altLang="en-US" dirty="0">
                <a:sym typeface="+mn-ea"/>
              </a:rPr>
              <a:t>：包括所有在此阶段可确定的用例和参与者。</a:t>
            </a:r>
            <a:endParaRPr lang="zh-CN" altLang="en-US" dirty="0"/>
          </a:p>
          <a:p>
            <a:pPr marL="990600" lvl="1" indent="-645795" eaLnBrk="1" hangingPunct="1">
              <a:lnSpc>
                <a:spcPct val="110000"/>
              </a:lnSpc>
              <a:spcBef>
                <a:spcPct val="15000"/>
              </a:spcBef>
              <a:buClr>
                <a:srgbClr val="FF0000"/>
              </a:buClr>
              <a:buSzTx/>
              <a:buFont typeface="Wingdings" panose="05000000000000000000" pitchFamily="2" charset="2"/>
              <a:buAutoNum type="alphaLcParenR"/>
            </a:pPr>
            <a:r>
              <a:rPr lang="zh-CN" altLang="en-US" u="sng" dirty="0">
                <a:solidFill>
                  <a:schemeClr val="hlink"/>
                </a:solidFill>
                <a:sym typeface="+mn-ea"/>
              </a:rPr>
              <a:t>初期的项目术语</a:t>
            </a:r>
            <a:r>
              <a:rPr lang="zh-CN" altLang="en-US" dirty="0">
                <a:sym typeface="+mn-ea"/>
              </a:rPr>
              <a:t>。</a:t>
            </a:r>
            <a:endParaRPr lang="zh-CN" altLang="en-US" dirty="0"/>
          </a:p>
          <a:p>
            <a:pPr marL="990600" lvl="1" indent="-645795" eaLnBrk="1" hangingPunct="1">
              <a:lnSpc>
                <a:spcPct val="110000"/>
              </a:lnSpc>
              <a:spcBef>
                <a:spcPct val="15000"/>
              </a:spcBef>
              <a:buClr>
                <a:srgbClr val="FF0000"/>
              </a:buClr>
              <a:buSzTx/>
              <a:buFontTx/>
              <a:buAutoNum type="alphaLcParenR"/>
            </a:pPr>
            <a:r>
              <a:rPr lang="zh-CN" altLang="en-US" u="sng" dirty="0">
                <a:solidFill>
                  <a:schemeClr val="hlink"/>
                </a:solidFill>
                <a:sym typeface="+mn-ea"/>
              </a:rPr>
              <a:t>初始的业务用例</a:t>
            </a:r>
            <a:r>
              <a:rPr lang="zh-CN" altLang="en-US" dirty="0">
                <a:sym typeface="+mn-ea"/>
              </a:rPr>
              <a:t>：包括业务环境、是否成功的评价标准、经济预测。</a:t>
            </a:r>
            <a:endParaRPr lang="zh-CN" altLang="en-US" dirty="0"/>
          </a:p>
          <a:p>
            <a:pPr marL="990600" lvl="1" indent="-645795" eaLnBrk="1" hangingPunct="1">
              <a:lnSpc>
                <a:spcPct val="110000"/>
              </a:lnSpc>
              <a:spcBef>
                <a:spcPct val="15000"/>
              </a:spcBef>
              <a:buClr>
                <a:srgbClr val="FF0000"/>
              </a:buClr>
              <a:buSzTx/>
              <a:buFontTx/>
              <a:buAutoNum type="alphaLcParenR"/>
            </a:pPr>
            <a:r>
              <a:rPr lang="zh-CN" altLang="en-US" u="sng" dirty="0">
                <a:solidFill>
                  <a:schemeClr val="hlink"/>
                </a:solidFill>
                <a:sym typeface="+mn-ea"/>
              </a:rPr>
              <a:t>早期的风险评估</a:t>
            </a:r>
            <a:r>
              <a:rPr lang="zh-CN" altLang="en-US" dirty="0">
                <a:sym typeface="+mn-ea"/>
              </a:rPr>
              <a:t>。</a:t>
            </a:r>
            <a:endParaRPr lang="zh-CN" altLang="en-US" dirty="0"/>
          </a:p>
          <a:p>
            <a:pPr marL="990600" lvl="1" indent="-645795" eaLnBrk="1" hangingPunct="1">
              <a:lnSpc>
                <a:spcPct val="110000"/>
              </a:lnSpc>
              <a:spcBef>
                <a:spcPct val="15000"/>
              </a:spcBef>
              <a:buClr>
                <a:srgbClr val="FF0000"/>
              </a:buClr>
              <a:buSzTx/>
              <a:buFontTx/>
              <a:buAutoNum type="alphaLcParenR"/>
            </a:pPr>
            <a:r>
              <a:rPr lang="zh-CN" altLang="en-US" u="sng" dirty="0">
                <a:solidFill>
                  <a:schemeClr val="hlink"/>
                </a:solidFill>
                <a:sym typeface="+mn-ea"/>
              </a:rPr>
              <a:t>项目计划</a:t>
            </a:r>
            <a:r>
              <a:rPr lang="zh-CN" altLang="en-US" dirty="0">
                <a:sym typeface="+mn-ea"/>
              </a:rPr>
              <a:t>：表明阶段和迭代。</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600200"/>
            <a:ext cx="7820025" cy="4873625"/>
          </a:xfrm>
        </p:spPr>
        <p:txBody>
          <a:bodyPr vert="horz" wrap="square" lIns="91440" tIns="45720" rIns="91440" bIns="45720" anchor="t" anchorCtr="0"/>
          <a:lstStyle/>
          <a:p>
            <a:pPr marL="0" indent="0" eaLnBrk="1" hangingPunct="1">
              <a:lnSpc>
                <a:spcPct val="105000"/>
              </a:lnSpc>
              <a:spcBef>
                <a:spcPct val="5000"/>
              </a:spcBef>
              <a:buNone/>
            </a:pPr>
            <a:r>
              <a:rPr lang="zh-CN" altLang="en-US" sz="2800" dirty="0">
                <a:solidFill>
                  <a:srgbClr val="FF0000"/>
                </a:solidFill>
                <a:sym typeface="+mn-ea"/>
              </a:rPr>
              <a:t>细化阶段</a:t>
            </a:r>
            <a:endParaRPr lang="zh-CN" altLang="en-US" sz="2800" dirty="0">
              <a:solidFill>
                <a:srgbClr val="000099"/>
              </a:solidFill>
              <a:sym typeface="+mn-ea"/>
            </a:endParaRPr>
          </a:p>
          <a:p>
            <a:pPr marL="609600" indent="-609600">
              <a:lnSpc>
                <a:spcPct val="105000"/>
              </a:lnSpc>
              <a:spcBef>
                <a:spcPct val="5000"/>
              </a:spcBef>
              <a:buClr>
                <a:srgbClr val="800080"/>
              </a:buClr>
              <a:buFont typeface="Wingdings" panose="05000000000000000000" pitchFamily="2" charset="2"/>
              <a:buChar char="§"/>
            </a:pPr>
            <a:r>
              <a:rPr lang="zh-CN" altLang="en-US" dirty="0">
                <a:solidFill>
                  <a:srgbClr val="000099"/>
                </a:solidFill>
                <a:latin typeface="Times New Roman" panose="02020603050405020304" pitchFamily="18" charset="0"/>
                <a:ea typeface="仿宋_GB2312" pitchFamily="49" charset="-122"/>
                <a:sym typeface="+mn-ea"/>
              </a:rPr>
              <a:t>目标：说明该产品的绝大多数用例，并设计出系统的体系结构。</a:t>
            </a:r>
            <a:endParaRPr lang="zh-CN" altLang="en-US" b="1" dirty="0">
              <a:solidFill>
                <a:srgbClr val="000099"/>
              </a:solidFill>
              <a:latin typeface="Times New Roman" panose="02020603050405020304" pitchFamily="18" charset="0"/>
              <a:ea typeface="仿宋_GB2312" pitchFamily="49" charset="-122"/>
            </a:endParaRPr>
          </a:p>
          <a:p>
            <a:pPr marL="609600" indent="-609600">
              <a:lnSpc>
                <a:spcPct val="105000"/>
              </a:lnSpc>
              <a:spcBef>
                <a:spcPct val="5000"/>
              </a:spcBef>
              <a:buClr>
                <a:srgbClr val="800080"/>
              </a:buClr>
              <a:buFont typeface="Symbol" panose="05050102010706020507" pitchFamily="18" charset="2"/>
            </a:pPr>
            <a:endParaRPr lang="zh-CN" altLang="en-US" b="1" dirty="0">
              <a:solidFill>
                <a:srgbClr val="000099"/>
              </a:solidFill>
              <a:latin typeface="Times New Roman" panose="02020603050405020304" pitchFamily="18" charset="0"/>
              <a:ea typeface="仿宋_GB2312" pitchFamily="49" charset="-122"/>
            </a:endParaRPr>
          </a:p>
          <a:p>
            <a:pPr marL="990600" lvl="1" indent="-533400" algn="l" rtl="0" eaLnBrk="1" fontAlgn="base" hangingPunct="1">
              <a:lnSpc>
                <a:spcPct val="105000"/>
              </a:lnSpc>
              <a:spcBef>
                <a:spcPct val="5000"/>
              </a:spcBef>
              <a:spcAft>
                <a:spcPct val="0"/>
              </a:spcAft>
              <a:buClr>
                <a:schemeClr val="hlink"/>
              </a:buClr>
              <a:buSzPct val="85000"/>
              <a:buFont typeface="Wingdings" panose="05000000000000000000" pitchFamily="2" charset="2"/>
              <a:buChar char="v"/>
            </a:pPr>
            <a:r>
              <a:rPr lang="zh-CN" altLang="en-US" dirty="0">
                <a:latin typeface="Times New Roman" panose="02020603050405020304" pitchFamily="18" charset="0"/>
                <a:ea typeface="仿宋_GB2312" pitchFamily="49" charset="-122"/>
                <a:sym typeface="+mn-ea"/>
              </a:rPr>
              <a:t>分析问题领域，建立</a:t>
            </a:r>
            <a:r>
              <a:rPr lang="zh-CN" altLang="en-US" dirty="0">
                <a:solidFill>
                  <a:schemeClr val="hlink"/>
                </a:solidFill>
                <a:latin typeface="Times New Roman" panose="02020603050405020304" pitchFamily="18" charset="0"/>
                <a:ea typeface="仿宋_GB2312" pitchFamily="49" charset="-122"/>
                <a:sym typeface="+mn-ea"/>
              </a:rPr>
              <a:t>合理的体系结构</a:t>
            </a:r>
            <a:r>
              <a:rPr lang="zh-CN" altLang="en-US" dirty="0">
                <a:latin typeface="Times New Roman" panose="02020603050405020304" pitchFamily="18" charset="0"/>
                <a:ea typeface="仿宋_GB2312" pitchFamily="49" charset="-122"/>
                <a:sym typeface="+mn-ea"/>
              </a:rPr>
              <a:t>并对其进行评审，然后设定基线；</a:t>
            </a:r>
            <a:endParaRPr lang="zh-CN" altLang="en-US" b="1" dirty="0">
              <a:solidFill>
                <a:schemeClr val="tx1"/>
              </a:solidFill>
              <a:latin typeface="Times New Roman" panose="02020603050405020304" pitchFamily="18" charset="0"/>
              <a:ea typeface="仿宋_GB2312" pitchFamily="49" charset="-122"/>
            </a:endParaRPr>
          </a:p>
          <a:p>
            <a:pPr marL="990600" lvl="1" indent="-533400" algn="l" rtl="0" eaLnBrk="1" fontAlgn="base" hangingPunct="1">
              <a:lnSpc>
                <a:spcPct val="105000"/>
              </a:lnSpc>
              <a:spcBef>
                <a:spcPct val="5000"/>
              </a:spcBef>
              <a:spcAft>
                <a:spcPct val="0"/>
              </a:spcAft>
              <a:buClr>
                <a:schemeClr val="hlink"/>
              </a:buClr>
              <a:buSzPct val="85000"/>
              <a:buFont typeface="Wingdings" panose="05000000000000000000" pitchFamily="2" charset="2"/>
              <a:buChar char="v"/>
            </a:pPr>
            <a:r>
              <a:rPr lang="zh-CN" altLang="en-US" dirty="0">
                <a:latin typeface="Times New Roman" panose="02020603050405020304" pitchFamily="18" charset="0"/>
                <a:ea typeface="仿宋_GB2312" pitchFamily="49" charset="-122"/>
                <a:sym typeface="+mn-ea"/>
              </a:rPr>
              <a:t>确定</a:t>
            </a:r>
            <a:r>
              <a:rPr lang="zh-CN" altLang="en-US" dirty="0">
                <a:solidFill>
                  <a:schemeClr val="hlink"/>
                </a:solidFill>
                <a:latin typeface="Times New Roman" panose="02020603050405020304" pitchFamily="18" charset="0"/>
                <a:ea typeface="仿宋_GB2312" pitchFamily="49" charset="-122"/>
                <a:sym typeface="+mn-ea"/>
              </a:rPr>
              <a:t>项目计划</a:t>
            </a:r>
            <a:r>
              <a:rPr lang="zh-CN" altLang="en-US" dirty="0">
                <a:latin typeface="Times New Roman" panose="02020603050405020304" pitchFamily="18" charset="0"/>
                <a:ea typeface="仿宋_GB2312" pitchFamily="49" charset="-122"/>
                <a:sym typeface="+mn-ea"/>
              </a:rPr>
              <a:t>，评价项目最有可能出现的风险因素，为计划设定基线；</a:t>
            </a:r>
            <a:endParaRPr lang="zh-CN" altLang="en-US" b="1" dirty="0">
              <a:solidFill>
                <a:schemeClr val="tx1"/>
              </a:solidFill>
              <a:latin typeface="Times New Roman" panose="02020603050405020304" pitchFamily="18" charset="0"/>
              <a:ea typeface="仿宋_GB2312" pitchFamily="49" charset="-122"/>
            </a:endParaRPr>
          </a:p>
          <a:p>
            <a:pPr marL="990600" lvl="1" indent="-533400" algn="l" rtl="0" eaLnBrk="1" fontAlgn="base" hangingPunct="1">
              <a:lnSpc>
                <a:spcPct val="105000"/>
              </a:lnSpc>
              <a:spcBef>
                <a:spcPct val="5000"/>
              </a:spcBef>
              <a:spcAft>
                <a:spcPct val="0"/>
              </a:spcAft>
              <a:buClr>
                <a:schemeClr val="hlink"/>
              </a:buClr>
              <a:buSzPct val="85000"/>
              <a:buFont typeface="Wingdings" panose="05000000000000000000" pitchFamily="2" charset="2"/>
              <a:buChar char="v"/>
            </a:pPr>
            <a:endParaRPr lang="zh-CN" altLang="en-US" b="1" dirty="0">
              <a:solidFill>
                <a:schemeClr val="tx1"/>
              </a:solidFill>
              <a:latin typeface="Times New Roman" panose="02020603050405020304" pitchFamily="18" charset="0"/>
              <a:ea typeface="仿宋_GB2312" pitchFamily="49" charset="-122"/>
            </a:endParaRPr>
          </a:p>
          <a:p>
            <a:pPr marL="609600" indent="-609600">
              <a:lnSpc>
                <a:spcPct val="105000"/>
              </a:lnSpc>
              <a:spcBef>
                <a:spcPct val="5000"/>
              </a:spcBef>
              <a:buClr>
                <a:srgbClr val="CC3300"/>
              </a:buClr>
              <a:buFont typeface="Wingdings" panose="05000000000000000000" pitchFamily="2" charset="2"/>
            </a:pPr>
            <a:r>
              <a:rPr lang="zh-CN" altLang="en-US" dirty="0">
                <a:solidFill>
                  <a:srgbClr val="000099"/>
                </a:solidFill>
                <a:latin typeface="Times New Roman" panose="02020603050405020304" pitchFamily="18" charset="0"/>
                <a:ea typeface="仿宋_GB2312" pitchFamily="49" charset="-122"/>
                <a:sym typeface="+mn-ea"/>
              </a:rPr>
              <a:t>体系结构表现为系统中各种模型的不同视图，合起来表示整个系统。其中包括了用例、分析、设计、实现、实施模型的视图。</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3210"/>
            <a:ext cx="7467600" cy="77597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097915"/>
            <a:ext cx="7820025" cy="4873625"/>
          </a:xfrm>
        </p:spPr>
        <p:txBody>
          <a:bodyPr vert="horz" wrap="square" lIns="91440" tIns="45720" rIns="91440" bIns="45720" anchor="t" anchorCtr="0"/>
          <a:lstStyle/>
          <a:p>
            <a:pPr marL="0" indent="0" eaLnBrk="1" hangingPunct="1">
              <a:lnSpc>
                <a:spcPct val="105000"/>
              </a:lnSpc>
              <a:spcBef>
                <a:spcPct val="5000"/>
              </a:spcBef>
              <a:buNone/>
            </a:pPr>
            <a:r>
              <a:rPr lang="zh-CN" altLang="en-US" sz="2800" dirty="0">
                <a:solidFill>
                  <a:srgbClr val="FF0000"/>
                </a:solidFill>
                <a:sym typeface="+mn-ea"/>
              </a:rPr>
              <a:t>细化阶段</a:t>
            </a:r>
            <a:endParaRPr lang="zh-CN" altLang="en-US" sz="2800" dirty="0">
              <a:solidFill>
                <a:srgbClr val="000099"/>
              </a:solidFill>
              <a:sym typeface="+mn-ea"/>
            </a:endParaRPr>
          </a:p>
          <a:p>
            <a:pPr marL="344805" lvl="1" indent="0" eaLnBrk="1" hangingPunct="1">
              <a:lnSpc>
                <a:spcPct val="105000"/>
              </a:lnSpc>
              <a:spcBef>
                <a:spcPct val="10000"/>
              </a:spcBef>
              <a:buClr>
                <a:srgbClr val="FF0000"/>
              </a:buClr>
              <a:buSzTx/>
              <a:buFont typeface="Wingdings" panose="05000000000000000000" pitchFamily="2" charset="2"/>
              <a:buNone/>
            </a:pPr>
            <a:r>
              <a:rPr lang="zh-CN" altLang="en-US" dirty="0">
                <a:solidFill>
                  <a:srgbClr val="000099"/>
                </a:solidFill>
                <a:latin typeface="Times New Roman" panose="02020603050405020304" pitchFamily="18" charset="0"/>
                <a:ea typeface="仿宋_GB2312" pitchFamily="49" charset="-122"/>
                <a:sym typeface="+mn-ea"/>
              </a:rPr>
              <a:t>制品</a:t>
            </a:r>
            <a:endParaRPr lang="zh-CN" altLang="en-US" dirty="0">
              <a:solidFill>
                <a:srgbClr val="000099"/>
              </a:solidFill>
              <a:latin typeface="Times New Roman" panose="02020603050405020304" pitchFamily="18" charset="0"/>
              <a:ea typeface="仿宋_GB2312" pitchFamily="49" charset="-122"/>
              <a:sym typeface="+mn-ea"/>
            </a:endParaRPr>
          </a:p>
          <a:p>
            <a:pPr marL="990600" lvl="1" indent="-645795" eaLnBrk="1" hangingPunct="1">
              <a:lnSpc>
                <a:spcPct val="105000"/>
              </a:lnSpc>
              <a:spcBef>
                <a:spcPct val="10000"/>
              </a:spcBef>
              <a:buClr>
                <a:srgbClr val="FF0000"/>
              </a:buClr>
              <a:buSzTx/>
              <a:buFont typeface="Wingdings" panose="05000000000000000000" pitchFamily="2" charset="2"/>
              <a:buAutoNum type="alphaLcParenR"/>
            </a:pPr>
            <a:r>
              <a:rPr lang="zh-CN" altLang="en-US" dirty="0">
                <a:solidFill>
                  <a:schemeClr val="hlink"/>
                </a:solidFill>
                <a:sym typeface="+mn-ea"/>
              </a:rPr>
              <a:t>用例模型</a:t>
            </a:r>
            <a:r>
              <a:rPr lang="zh-CN" altLang="en-US" dirty="0">
                <a:sym typeface="+mn-ea"/>
              </a:rPr>
              <a:t>（至少完成</a:t>
            </a:r>
            <a:r>
              <a:rPr lang="en-US" altLang="zh-CN" dirty="0">
                <a:sym typeface="+mn-ea"/>
              </a:rPr>
              <a:t>80%</a:t>
            </a:r>
            <a:r>
              <a:rPr lang="zh-CN" altLang="en-US" dirty="0">
                <a:sym typeface="+mn-ea"/>
              </a:rPr>
              <a:t>），定义在用例模型调查中识别出的所有用例，所有参与者，完成大部分用例描述。</a:t>
            </a:r>
            <a:endParaRPr lang="zh-CN" altLang="en-US" dirty="0"/>
          </a:p>
          <a:p>
            <a:pPr marL="990600" lvl="1" indent="-645795" eaLnBrk="1" hangingPunct="1">
              <a:lnSpc>
                <a:spcPct val="105000"/>
              </a:lnSpc>
              <a:spcBef>
                <a:spcPct val="10000"/>
              </a:spcBef>
              <a:buClr>
                <a:srgbClr val="FF0000"/>
              </a:buClr>
              <a:buSzTx/>
              <a:buFont typeface="Wingdings" panose="05000000000000000000" pitchFamily="2" charset="2"/>
              <a:buAutoNum type="alphaLcParenR"/>
            </a:pPr>
            <a:r>
              <a:rPr lang="zh-CN" altLang="en-US" dirty="0">
                <a:solidFill>
                  <a:schemeClr val="hlink"/>
                </a:solidFill>
                <a:sym typeface="+mn-ea"/>
              </a:rPr>
              <a:t>补充需求</a:t>
            </a:r>
            <a:r>
              <a:rPr lang="zh-CN" altLang="en-US" dirty="0">
                <a:sym typeface="+mn-ea"/>
              </a:rPr>
              <a:t>，包括非功能需求和与具体用例不相关的需求。</a:t>
            </a:r>
            <a:endParaRPr lang="zh-CN" altLang="en-US" dirty="0"/>
          </a:p>
          <a:p>
            <a:pPr marL="990600" lvl="1" indent="-645795" eaLnBrk="1" hangingPunct="1">
              <a:lnSpc>
                <a:spcPct val="105000"/>
              </a:lnSpc>
              <a:spcBef>
                <a:spcPct val="10000"/>
              </a:spcBef>
              <a:buClr>
                <a:srgbClr val="FF0000"/>
              </a:buClr>
              <a:buSzTx/>
              <a:buFont typeface="Wingdings" panose="05000000000000000000" pitchFamily="2" charset="2"/>
              <a:buAutoNum type="alphaLcParenR"/>
            </a:pPr>
            <a:r>
              <a:rPr lang="zh-CN" altLang="en-US" dirty="0">
                <a:solidFill>
                  <a:schemeClr val="hlink"/>
                </a:solidFill>
                <a:sym typeface="+mn-ea"/>
              </a:rPr>
              <a:t>软件体系结构描述</a:t>
            </a:r>
            <a:r>
              <a:rPr lang="zh-CN" altLang="en-US" dirty="0">
                <a:sym typeface="+mn-ea"/>
              </a:rPr>
              <a:t>，及可执行的</a:t>
            </a:r>
            <a:r>
              <a:rPr lang="zh-CN" altLang="en-US" dirty="0">
                <a:solidFill>
                  <a:schemeClr val="hlink"/>
                </a:solidFill>
                <a:sym typeface="+mn-ea"/>
              </a:rPr>
              <a:t>体系结构原型</a:t>
            </a:r>
            <a:r>
              <a:rPr lang="zh-CN" altLang="en-US" dirty="0">
                <a:sym typeface="+mn-ea"/>
              </a:rPr>
              <a:t>。</a:t>
            </a:r>
            <a:endParaRPr lang="zh-CN" altLang="en-US" dirty="0"/>
          </a:p>
          <a:p>
            <a:pPr marL="990600" lvl="1" indent="-645795" eaLnBrk="1" hangingPunct="1">
              <a:lnSpc>
                <a:spcPct val="105000"/>
              </a:lnSpc>
              <a:spcBef>
                <a:spcPct val="10000"/>
              </a:spcBef>
              <a:buClr>
                <a:srgbClr val="FF0000"/>
              </a:buClr>
              <a:buSzTx/>
              <a:buFont typeface="Wingdings" panose="05000000000000000000" pitchFamily="2" charset="2"/>
              <a:buAutoNum type="alphaLcParenR"/>
            </a:pPr>
            <a:r>
              <a:rPr lang="zh-CN" altLang="en-US" dirty="0">
                <a:sym typeface="+mn-ea"/>
              </a:rPr>
              <a:t>修改后的</a:t>
            </a:r>
            <a:r>
              <a:rPr lang="zh-CN" altLang="en-US" dirty="0">
                <a:solidFill>
                  <a:schemeClr val="hlink"/>
                </a:solidFill>
                <a:sym typeface="+mn-ea"/>
              </a:rPr>
              <a:t>风险清单</a:t>
            </a:r>
            <a:r>
              <a:rPr lang="zh-CN" altLang="en-US" dirty="0">
                <a:sym typeface="+mn-ea"/>
              </a:rPr>
              <a:t>和</a:t>
            </a:r>
            <a:r>
              <a:rPr lang="zh-CN" altLang="en-US" dirty="0">
                <a:solidFill>
                  <a:schemeClr val="hlink"/>
                </a:solidFill>
                <a:sym typeface="+mn-ea"/>
              </a:rPr>
              <a:t>业务用例</a:t>
            </a:r>
            <a:r>
              <a:rPr lang="zh-CN" altLang="en-US" dirty="0">
                <a:sym typeface="+mn-ea"/>
              </a:rPr>
              <a:t>。</a:t>
            </a:r>
            <a:endParaRPr lang="zh-CN" altLang="en-US" dirty="0"/>
          </a:p>
          <a:p>
            <a:pPr marL="990600" lvl="1" indent="-645795" eaLnBrk="1" hangingPunct="1">
              <a:lnSpc>
                <a:spcPct val="105000"/>
              </a:lnSpc>
              <a:spcBef>
                <a:spcPct val="10000"/>
              </a:spcBef>
              <a:buClr>
                <a:srgbClr val="FF0000"/>
              </a:buClr>
              <a:buSzTx/>
              <a:buFont typeface="Wingdings" panose="05000000000000000000" pitchFamily="2" charset="2"/>
              <a:buAutoNum type="alphaLcParenR"/>
            </a:pPr>
            <a:r>
              <a:rPr lang="zh-CN" altLang="en-US" dirty="0">
                <a:sym typeface="+mn-ea"/>
              </a:rPr>
              <a:t>关于</a:t>
            </a:r>
            <a:r>
              <a:rPr lang="zh-CN" altLang="en-US" dirty="0">
                <a:solidFill>
                  <a:schemeClr val="hlink"/>
                </a:solidFill>
                <a:sym typeface="+mn-ea"/>
              </a:rPr>
              <a:t>整个项目的开发计划</a:t>
            </a:r>
            <a:r>
              <a:rPr lang="zh-CN" altLang="en-US" dirty="0">
                <a:sym typeface="+mn-ea"/>
              </a:rPr>
              <a:t>，描述迭代过程和每个迭代过程的评价准则。</a:t>
            </a:r>
            <a:endParaRPr lang="zh-CN" altLang="en-US" dirty="0"/>
          </a:p>
          <a:p>
            <a:pPr marL="990600" lvl="1" indent="-645795" eaLnBrk="1" hangingPunct="1">
              <a:lnSpc>
                <a:spcPct val="105000"/>
              </a:lnSpc>
              <a:spcBef>
                <a:spcPct val="5000"/>
              </a:spcBef>
              <a:buClr>
                <a:srgbClr val="FF0000"/>
              </a:buClr>
              <a:buSzTx/>
              <a:buFontTx/>
              <a:buAutoNum type="alphaLcParenR"/>
            </a:pPr>
            <a:r>
              <a:rPr lang="zh-CN" altLang="en-US" dirty="0">
                <a:solidFill>
                  <a:schemeClr val="hlink"/>
                </a:solidFill>
                <a:sym typeface="+mn-ea"/>
              </a:rPr>
              <a:t>更新后的开发案例</a:t>
            </a:r>
            <a:r>
              <a:rPr lang="zh-CN" altLang="en-US" dirty="0">
                <a:sym typeface="+mn-ea"/>
              </a:rPr>
              <a:t>，详细描述将要用到的过程。</a:t>
            </a:r>
            <a:endParaRPr lang="zh-CN" altLang="en-US" dirty="0"/>
          </a:p>
          <a:p>
            <a:pPr marL="990600" lvl="1" indent="-645795" eaLnBrk="1" hangingPunct="1">
              <a:lnSpc>
                <a:spcPct val="105000"/>
              </a:lnSpc>
              <a:spcBef>
                <a:spcPct val="5000"/>
              </a:spcBef>
              <a:buClr>
                <a:srgbClr val="FF0000"/>
              </a:buClr>
              <a:buSzTx/>
              <a:buFontTx/>
              <a:buAutoNum type="alphaLcParenR"/>
            </a:pPr>
            <a:r>
              <a:rPr lang="zh-CN" altLang="en-US" dirty="0">
                <a:solidFill>
                  <a:schemeClr val="hlink"/>
                </a:solidFill>
                <a:sym typeface="+mn-ea"/>
              </a:rPr>
              <a:t>初步的用户手册</a:t>
            </a:r>
            <a:r>
              <a:rPr lang="zh-CN" altLang="en-US" dirty="0">
                <a:sym typeface="+mn-ea"/>
              </a:rPr>
              <a:t>（可选）。</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3210"/>
            <a:ext cx="7467600" cy="77597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097915"/>
            <a:ext cx="7820025" cy="4873625"/>
          </a:xfrm>
        </p:spPr>
        <p:txBody>
          <a:bodyPr vert="horz" wrap="square" lIns="91440" tIns="45720" rIns="91440" bIns="45720" anchor="t" anchorCtr="0"/>
          <a:lstStyle/>
          <a:p>
            <a:pPr marL="0" indent="0" eaLnBrk="1" hangingPunct="1">
              <a:lnSpc>
                <a:spcPct val="105000"/>
              </a:lnSpc>
              <a:spcBef>
                <a:spcPct val="5000"/>
              </a:spcBef>
              <a:buNone/>
            </a:pPr>
            <a:r>
              <a:rPr lang="zh-CN" altLang="en-US" sz="2800" dirty="0">
                <a:solidFill>
                  <a:srgbClr val="FF0000"/>
                </a:solidFill>
                <a:sym typeface="+mn-ea"/>
              </a:rPr>
              <a:t>构造阶段</a:t>
            </a:r>
            <a:endParaRPr lang="zh-CN" altLang="en-US" sz="2800" dirty="0">
              <a:solidFill>
                <a:srgbClr val="000099"/>
              </a:solidFill>
              <a:sym typeface="+mn-ea"/>
            </a:endParaRPr>
          </a:p>
          <a:p>
            <a:pPr marL="609600" indent="-609600">
              <a:lnSpc>
                <a:spcPct val="105000"/>
              </a:lnSpc>
              <a:spcBef>
                <a:spcPct val="10000"/>
              </a:spcBef>
              <a:buClr>
                <a:srgbClr val="800080"/>
              </a:buClr>
              <a:buFont typeface="Wingdings" panose="05000000000000000000" pitchFamily="2" charset="2"/>
              <a:buChar char="§"/>
            </a:pPr>
            <a:r>
              <a:rPr lang="zh-CN" altLang="en-US" dirty="0">
                <a:solidFill>
                  <a:srgbClr val="000099"/>
                </a:solidFill>
                <a:latin typeface="Times New Roman" panose="02020603050405020304" pitchFamily="18" charset="0"/>
                <a:ea typeface="仿宋_GB2312" pitchFamily="49" charset="-122"/>
                <a:sym typeface="+mn-ea"/>
              </a:rPr>
              <a:t>目标：此阶段是一个制造过程，目标是开发整个系统，并确保产品可以开始提交给客户，使产品达到最初的运行能力。</a:t>
            </a:r>
            <a:endParaRPr lang="zh-CN" altLang="en-US" b="1" dirty="0">
              <a:solidFill>
                <a:srgbClr val="000099"/>
              </a:solidFill>
              <a:latin typeface="Times New Roman" panose="02020603050405020304" pitchFamily="18" charset="0"/>
              <a:ea typeface="仿宋_GB2312" pitchFamily="49" charset="-122"/>
            </a:endParaRPr>
          </a:p>
          <a:p>
            <a:pPr marL="609600" indent="-609600">
              <a:lnSpc>
                <a:spcPct val="105000"/>
              </a:lnSpc>
              <a:spcBef>
                <a:spcPct val="10000"/>
              </a:spcBef>
              <a:buClr>
                <a:srgbClr val="800080"/>
              </a:buClr>
              <a:buFont typeface="Wingdings" panose="05000000000000000000" pitchFamily="2" charset="2"/>
            </a:pPr>
            <a:endParaRPr lang="zh-CN" altLang="en-US" b="1" dirty="0">
              <a:solidFill>
                <a:srgbClr val="000099"/>
              </a:solidFill>
              <a:latin typeface="Times New Roman" panose="02020603050405020304" pitchFamily="18" charset="0"/>
              <a:ea typeface="仿宋_GB2312" pitchFamily="49" charset="-122"/>
            </a:endParaRPr>
          </a:p>
          <a:p>
            <a:pPr marL="990600" lvl="1" indent="-533400" algn="l" rtl="0" eaLnBrk="1" fontAlgn="base" hangingPunct="1">
              <a:lnSpc>
                <a:spcPct val="105000"/>
              </a:lnSpc>
              <a:spcBef>
                <a:spcPct val="10000"/>
              </a:spcBef>
              <a:spcAft>
                <a:spcPct val="0"/>
              </a:spcAft>
              <a:buClr>
                <a:schemeClr val="hlink"/>
              </a:buClr>
              <a:buSzPct val="85000"/>
              <a:buFont typeface="Wingdings" panose="05000000000000000000" pitchFamily="2" charset="2"/>
              <a:buChar char="v"/>
            </a:pPr>
            <a:r>
              <a:rPr lang="zh-CN" altLang="en-US" dirty="0">
                <a:latin typeface="仿宋_GB2312" pitchFamily="49" charset="-122"/>
                <a:ea typeface="仿宋_GB2312" pitchFamily="49" charset="-122"/>
                <a:sym typeface="+mn-ea"/>
              </a:rPr>
              <a:t>开发和集成构件特征和应用程序的特征，使之成为</a:t>
            </a:r>
            <a:r>
              <a:rPr lang="zh-CN" altLang="en-US" dirty="0">
                <a:solidFill>
                  <a:schemeClr val="hlink"/>
                </a:solidFill>
                <a:latin typeface="仿宋_GB2312" pitchFamily="49" charset="-122"/>
                <a:ea typeface="仿宋_GB2312" pitchFamily="49" charset="-122"/>
                <a:sym typeface="+mn-ea"/>
              </a:rPr>
              <a:t>软件产品</a:t>
            </a:r>
            <a:r>
              <a:rPr lang="zh-CN" altLang="en-US" dirty="0">
                <a:latin typeface="仿宋_GB2312" pitchFamily="49" charset="-122"/>
                <a:ea typeface="仿宋_GB2312" pitchFamily="49" charset="-122"/>
                <a:sym typeface="+mn-ea"/>
              </a:rPr>
              <a:t>，并进行</a:t>
            </a:r>
            <a:r>
              <a:rPr lang="zh-CN" altLang="en-US" dirty="0">
                <a:solidFill>
                  <a:schemeClr val="hlink"/>
                </a:solidFill>
                <a:latin typeface="仿宋_GB2312" pitchFamily="49" charset="-122"/>
                <a:ea typeface="仿宋_GB2312" pitchFamily="49" charset="-122"/>
                <a:sym typeface="+mn-ea"/>
              </a:rPr>
              <a:t>测试</a:t>
            </a:r>
            <a:r>
              <a:rPr lang="zh-CN" altLang="en-US" dirty="0">
                <a:latin typeface="仿宋_GB2312" pitchFamily="49" charset="-122"/>
                <a:ea typeface="仿宋_GB2312" pitchFamily="49" charset="-122"/>
                <a:sym typeface="+mn-ea"/>
              </a:rPr>
              <a:t>。</a:t>
            </a:r>
            <a:endParaRPr lang="zh-CN" altLang="en-US" b="1" dirty="0">
              <a:solidFill>
                <a:schemeClr val="tx1"/>
              </a:solidFill>
              <a:latin typeface="仿宋_GB2312" pitchFamily="49" charset="-122"/>
              <a:ea typeface="仿宋_GB2312" pitchFamily="49" charset="-122"/>
            </a:endParaRPr>
          </a:p>
          <a:p>
            <a:pPr marL="990600" lvl="1" indent="-533400" algn="l" rtl="0" eaLnBrk="1" fontAlgn="base" hangingPunct="1">
              <a:lnSpc>
                <a:spcPct val="105000"/>
              </a:lnSpc>
              <a:spcBef>
                <a:spcPct val="10000"/>
              </a:spcBef>
              <a:spcAft>
                <a:spcPct val="0"/>
              </a:spcAft>
              <a:buClr>
                <a:schemeClr val="hlink"/>
              </a:buClr>
              <a:buSzPct val="85000"/>
              <a:buFont typeface="Wingdings" panose="05000000000000000000" pitchFamily="2" charset="2"/>
              <a:buChar char="v"/>
            </a:pPr>
            <a:endParaRPr lang="zh-CN" altLang="en-US" b="1" dirty="0">
              <a:solidFill>
                <a:schemeClr val="tx1"/>
              </a:solidFill>
              <a:latin typeface="仿宋_GB2312" pitchFamily="49" charset="-122"/>
              <a:ea typeface="仿宋_GB2312" pitchFamily="49" charset="-122"/>
            </a:endParaRPr>
          </a:p>
          <a:p>
            <a:pPr marL="990600" lvl="1" indent="-533400" algn="l" rtl="0" eaLnBrk="1" fontAlgn="base" hangingPunct="1">
              <a:lnSpc>
                <a:spcPct val="105000"/>
              </a:lnSpc>
              <a:spcBef>
                <a:spcPct val="10000"/>
              </a:spcBef>
              <a:spcAft>
                <a:spcPct val="0"/>
              </a:spcAft>
              <a:buClr>
                <a:schemeClr val="hlink"/>
              </a:buClr>
              <a:buSzPct val="85000"/>
              <a:buFont typeface="Wingdings" panose="05000000000000000000" pitchFamily="2" charset="2"/>
              <a:buChar char="v"/>
            </a:pPr>
            <a:r>
              <a:rPr lang="zh-CN" altLang="en-US" dirty="0">
                <a:latin typeface="仿宋_GB2312" pitchFamily="49" charset="-122"/>
                <a:ea typeface="仿宋_GB2312" pitchFamily="49" charset="-122"/>
                <a:sym typeface="+mn-ea"/>
              </a:rPr>
              <a:t>通过优化资源和减少返工与浪费，降低开发成本，提高产品质量。</a:t>
            </a:r>
            <a:endParaRPr lang="zh-CN" altLang="en-US" b="1" dirty="0">
              <a:solidFill>
                <a:schemeClr val="tx1"/>
              </a:solidFill>
              <a:latin typeface="仿宋_GB2312" pitchFamily="49" charset="-122"/>
              <a:ea typeface="仿宋_GB2312" pitchFamily="49" charset="-122"/>
            </a:endParaRPr>
          </a:p>
          <a:p>
            <a:pPr marL="990600" lvl="1" indent="-533400" algn="l" rtl="0" eaLnBrk="1" fontAlgn="base" hangingPunct="1">
              <a:lnSpc>
                <a:spcPct val="105000"/>
              </a:lnSpc>
              <a:spcBef>
                <a:spcPct val="10000"/>
              </a:spcBef>
              <a:spcAft>
                <a:spcPct val="0"/>
              </a:spcAft>
              <a:buClr>
                <a:schemeClr val="hlink"/>
              </a:buClr>
              <a:buSzPct val="85000"/>
              <a:buFont typeface="Wingdings" panose="05000000000000000000" pitchFamily="2" charset="2"/>
              <a:buChar char="v"/>
            </a:pPr>
            <a:endParaRPr lang="zh-CN" altLang="en-US" b="1" dirty="0">
              <a:solidFill>
                <a:schemeClr val="tx1"/>
              </a:solidFill>
              <a:latin typeface="仿宋_GB2312" pitchFamily="49" charset="-122"/>
              <a:ea typeface="仿宋_GB2312" pitchFamily="49" charset="-122"/>
            </a:endParaRPr>
          </a:p>
          <a:p>
            <a:pPr marL="990600" lvl="1" indent="-533400" algn="l" rtl="0" eaLnBrk="1" fontAlgn="base" hangingPunct="1">
              <a:lnSpc>
                <a:spcPct val="105000"/>
              </a:lnSpc>
              <a:spcBef>
                <a:spcPct val="10000"/>
              </a:spcBef>
              <a:spcAft>
                <a:spcPct val="0"/>
              </a:spcAft>
              <a:buClr>
                <a:schemeClr val="hlink"/>
              </a:buClr>
              <a:buSzPct val="85000"/>
              <a:buFont typeface="Wingdings" panose="05000000000000000000" pitchFamily="2" charset="2"/>
              <a:buChar char="v"/>
            </a:pPr>
            <a:r>
              <a:rPr lang="zh-CN" altLang="en-US" dirty="0">
                <a:latin typeface="仿宋_GB2312" pitchFamily="49" charset="-122"/>
                <a:ea typeface="仿宋_GB2312" pitchFamily="49" charset="-122"/>
                <a:sym typeface="+mn-ea"/>
              </a:rPr>
              <a:t>以最短时间生产一个</a:t>
            </a:r>
            <a:r>
              <a:rPr lang="zh-CN" altLang="en-US" dirty="0">
                <a:solidFill>
                  <a:schemeClr val="hlink"/>
                </a:solidFill>
                <a:latin typeface="仿宋_GB2312" pitchFamily="49" charset="-122"/>
                <a:ea typeface="仿宋_GB2312" pitchFamily="49" charset="-122"/>
                <a:sym typeface="+mn-ea"/>
              </a:rPr>
              <a:t>实际可用的版本</a:t>
            </a:r>
            <a:r>
              <a:rPr lang="en-US" altLang="zh-CN" dirty="0">
                <a:latin typeface="仿宋_GB2312" pitchFamily="49" charset="-122"/>
                <a:ea typeface="仿宋_GB2312" pitchFamily="49" charset="-122"/>
                <a:sym typeface="+mn-ea"/>
              </a:rPr>
              <a:t>(alpha</a:t>
            </a:r>
            <a:r>
              <a:rPr lang="zh-CN" altLang="en-US" dirty="0">
                <a:latin typeface="仿宋_GB2312" pitchFamily="49" charset="-122"/>
                <a:ea typeface="仿宋_GB2312" pitchFamily="49" charset="-122"/>
                <a:sym typeface="+mn-ea"/>
              </a:rPr>
              <a:t>版本、</a:t>
            </a:r>
            <a:r>
              <a:rPr lang="en-US" altLang="zh-CN" dirty="0">
                <a:latin typeface="仿宋_GB2312" pitchFamily="49" charset="-122"/>
                <a:ea typeface="仿宋_GB2312" pitchFamily="49" charset="-122"/>
                <a:sym typeface="+mn-ea"/>
              </a:rPr>
              <a:t>Beta</a:t>
            </a:r>
            <a:r>
              <a:rPr lang="zh-CN" altLang="en-US" dirty="0">
                <a:latin typeface="仿宋_GB2312" pitchFamily="49" charset="-122"/>
                <a:ea typeface="仿宋_GB2312" pitchFamily="49" charset="-122"/>
                <a:sym typeface="+mn-ea"/>
              </a:rPr>
              <a:t>版本及其他测试版本</a:t>
            </a:r>
            <a:r>
              <a:rPr lang="en-US" altLang="zh-CN" dirty="0">
                <a:latin typeface="仿宋_GB2312" pitchFamily="49" charset="-122"/>
                <a:ea typeface="仿宋_GB2312" pitchFamily="49" charset="-122"/>
                <a:sym typeface="+mn-ea"/>
              </a:rPr>
              <a:t>)</a:t>
            </a:r>
            <a:r>
              <a:rPr lang="zh-CN" altLang="en-US" dirty="0">
                <a:latin typeface="仿宋_GB2312" pitchFamily="49" charset="-122"/>
                <a:ea typeface="仿宋_GB2312" pitchFamily="49" charset="-122"/>
                <a:sym typeface="+mn-ea"/>
              </a:rPr>
              <a:t>。</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3210"/>
            <a:ext cx="7467600" cy="77597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097915"/>
            <a:ext cx="7820025" cy="4873625"/>
          </a:xfrm>
        </p:spPr>
        <p:txBody>
          <a:bodyPr vert="horz" wrap="square" lIns="91440" tIns="45720" rIns="91440" bIns="45720" anchor="t" anchorCtr="0"/>
          <a:lstStyle/>
          <a:p>
            <a:pPr marL="0" indent="0" eaLnBrk="1" hangingPunct="1">
              <a:lnSpc>
                <a:spcPct val="105000"/>
              </a:lnSpc>
              <a:spcBef>
                <a:spcPct val="5000"/>
              </a:spcBef>
              <a:buNone/>
            </a:pPr>
            <a:r>
              <a:rPr lang="zh-CN" altLang="en-US" sz="2800" dirty="0">
                <a:solidFill>
                  <a:srgbClr val="FF0000"/>
                </a:solidFill>
                <a:sym typeface="+mn-ea"/>
              </a:rPr>
              <a:t>构造阶段</a:t>
            </a:r>
            <a:endParaRPr lang="zh-CN" altLang="en-US" sz="2800" dirty="0">
              <a:solidFill>
                <a:srgbClr val="000099"/>
              </a:solidFill>
              <a:sym typeface="+mn-ea"/>
            </a:endParaRPr>
          </a:p>
          <a:p>
            <a:pPr marL="609600" indent="-609600" eaLnBrk="1" hangingPunct="1">
              <a:lnSpc>
                <a:spcPct val="105000"/>
              </a:lnSpc>
              <a:spcBef>
                <a:spcPct val="15000"/>
              </a:spcBef>
            </a:pPr>
            <a:r>
              <a:rPr lang="zh-CN" altLang="en-US" dirty="0">
                <a:solidFill>
                  <a:srgbClr val="000099"/>
                </a:solidFill>
                <a:sym typeface="+mn-ea"/>
              </a:rPr>
              <a:t>制品</a:t>
            </a:r>
            <a:endParaRPr lang="zh-CN" altLang="en-US" b="1" dirty="0">
              <a:solidFill>
                <a:srgbClr val="000099"/>
              </a:solidFill>
            </a:endParaRPr>
          </a:p>
          <a:p>
            <a:pPr marL="990600" lvl="1" indent="-645795" eaLnBrk="1" hangingPunct="1">
              <a:lnSpc>
                <a:spcPct val="105000"/>
              </a:lnSpc>
              <a:spcBef>
                <a:spcPct val="15000"/>
              </a:spcBef>
              <a:buClr>
                <a:srgbClr val="FF0000"/>
              </a:buClr>
              <a:buSzTx/>
              <a:buFont typeface="Wingdings" panose="05000000000000000000" pitchFamily="2" charset="2"/>
              <a:buAutoNum type="alphaLcParenR"/>
            </a:pPr>
            <a:endParaRPr lang="zh-CN" altLang="en-US" b="1" dirty="0"/>
          </a:p>
          <a:p>
            <a:pPr marL="990600" lvl="1" indent="-645795" eaLnBrk="1" hangingPunct="1">
              <a:lnSpc>
                <a:spcPct val="105000"/>
              </a:lnSpc>
              <a:spcBef>
                <a:spcPct val="15000"/>
              </a:spcBef>
              <a:buClr>
                <a:srgbClr val="FF0000"/>
              </a:buClr>
              <a:buSzTx/>
              <a:buFont typeface="Wingdings" panose="05000000000000000000" pitchFamily="2" charset="2"/>
              <a:buAutoNum type="alphaLcParenR"/>
            </a:pPr>
            <a:r>
              <a:rPr lang="zh-CN" altLang="en-US" dirty="0">
                <a:sym typeface="+mn-ea"/>
              </a:rPr>
              <a:t>在适当平台上集成的软件。</a:t>
            </a:r>
            <a:endParaRPr lang="zh-CN" altLang="en-US" b="1" dirty="0"/>
          </a:p>
          <a:p>
            <a:pPr marL="990600" lvl="1" indent="-645795" eaLnBrk="1" hangingPunct="1">
              <a:lnSpc>
                <a:spcPct val="105000"/>
              </a:lnSpc>
              <a:spcBef>
                <a:spcPct val="15000"/>
              </a:spcBef>
              <a:buClr>
                <a:srgbClr val="FF0000"/>
              </a:buClr>
              <a:buSzTx/>
              <a:buFont typeface="Wingdings" panose="05000000000000000000" pitchFamily="2" charset="2"/>
              <a:buAutoNum type="alphaLcParenR"/>
            </a:pPr>
            <a:endParaRPr lang="zh-CN" altLang="en-US" b="1" dirty="0"/>
          </a:p>
          <a:p>
            <a:pPr marL="990600" lvl="1" indent="-645795" eaLnBrk="1" hangingPunct="1">
              <a:lnSpc>
                <a:spcPct val="105000"/>
              </a:lnSpc>
              <a:spcBef>
                <a:spcPct val="15000"/>
              </a:spcBef>
              <a:buClr>
                <a:srgbClr val="FF0000"/>
              </a:buClr>
              <a:buSzTx/>
              <a:buFont typeface="Wingdings" panose="05000000000000000000" pitchFamily="2" charset="2"/>
              <a:buAutoNum type="alphaLcParenR"/>
            </a:pPr>
            <a:r>
              <a:rPr lang="zh-CN" altLang="en-US" dirty="0">
                <a:sym typeface="+mn-ea"/>
              </a:rPr>
              <a:t>用户手册</a:t>
            </a:r>
            <a:endParaRPr lang="zh-CN" altLang="en-US" b="1" dirty="0"/>
          </a:p>
          <a:p>
            <a:pPr marL="990600" lvl="1" indent="-645795" eaLnBrk="1" hangingPunct="1">
              <a:lnSpc>
                <a:spcPct val="105000"/>
              </a:lnSpc>
              <a:spcBef>
                <a:spcPct val="15000"/>
              </a:spcBef>
              <a:buClr>
                <a:srgbClr val="FF0000"/>
              </a:buClr>
              <a:buSzTx/>
              <a:buFont typeface="Wingdings" panose="05000000000000000000" pitchFamily="2" charset="2"/>
              <a:buAutoNum type="alphaLcParenR"/>
            </a:pPr>
            <a:endParaRPr lang="zh-CN" altLang="en-US" b="1" dirty="0"/>
          </a:p>
          <a:p>
            <a:pPr marL="990600" lvl="1" indent="-645795" eaLnBrk="1" hangingPunct="1">
              <a:lnSpc>
                <a:spcPct val="105000"/>
              </a:lnSpc>
              <a:spcBef>
                <a:spcPct val="15000"/>
              </a:spcBef>
              <a:buClr>
                <a:srgbClr val="FF0000"/>
              </a:buClr>
              <a:buSzTx/>
              <a:buFont typeface="Wingdings" panose="05000000000000000000" pitchFamily="2" charset="2"/>
              <a:buAutoNum type="alphaLcParenR"/>
            </a:pPr>
            <a:r>
              <a:rPr lang="zh-CN" altLang="en-US" dirty="0">
                <a:sym typeface="+mn-ea"/>
              </a:rPr>
              <a:t>对当前版本的描述。</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3210"/>
            <a:ext cx="7467600" cy="775970"/>
          </a:xfr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5539" name="内容占位符 2"/>
          <p:cNvSpPr>
            <a:spLocks noGrp="1"/>
          </p:cNvSpPr>
          <p:nvPr>
            <p:ph sz="quarter" idx="1"/>
          </p:nvPr>
        </p:nvSpPr>
        <p:spPr>
          <a:xfrm>
            <a:off x="457200" y="1097915"/>
            <a:ext cx="7820025" cy="4873625"/>
          </a:xfrm>
        </p:spPr>
        <p:txBody>
          <a:bodyPr vert="horz" wrap="square" lIns="91440" tIns="45720" rIns="91440" bIns="45720" anchor="t" anchorCtr="0"/>
          <a:lstStyle/>
          <a:p>
            <a:pPr marL="0" indent="0" eaLnBrk="1" hangingPunct="1">
              <a:lnSpc>
                <a:spcPct val="105000"/>
              </a:lnSpc>
              <a:spcBef>
                <a:spcPct val="5000"/>
              </a:spcBef>
              <a:buNone/>
            </a:pPr>
            <a:r>
              <a:rPr lang="zh-CN" altLang="en-US" sz="2800" dirty="0">
                <a:solidFill>
                  <a:srgbClr val="FF0000"/>
                </a:solidFill>
                <a:sym typeface="+mn-ea"/>
              </a:rPr>
              <a:t>移交阶段</a:t>
            </a:r>
            <a:endParaRPr lang="zh-CN" altLang="en-US" sz="2800" dirty="0">
              <a:solidFill>
                <a:srgbClr val="000099"/>
              </a:solidFill>
              <a:sym typeface="+mn-ea"/>
            </a:endParaRPr>
          </a:p>
          <a:p>
            <a:pPr marL="609600" indent="-609600" eaLnBrk="1" hangingPunct="1">
              <a:lnSpc>
                <a:spcPct val="105000"/>
              </a:lnSpc>
              <a:spcBef>
                <a:spcPct val="10000"/>
              </a:spcBef>
            </a:pPr>
            <a:r>
              <a:rPr lang="zh-CN" altLang="en-US" dirty="0">
                <a:solidFill>
                  <a:srgbClr val="000099"/>
                </a:solidFill>
                <a:sym typeface="+mn-ea"/>
              </a:rPr>
              <a:t>目标：将软件产品移交给用户群。如果用户在使用时发现了新问题，必须在纠正问题之后，建立产品的一个新版本。</a:t>
            </a:r>
            <a:endParaRPr lang="zh-CN" altLang="en-US" dirty="0">
              <a:solidFill>
                <a:srgbClr val="000099"/>
              </a:solidFill>
            </a:endParaRPr>
          </a:p>
          <a:p>
            <a:pPr marL="609600" indent="-609600" eaLnBrk="1" hangingPunct="1">
              <a:lnSpc>
                <a:spcPct val="105000"/>
              </a:lnSpc>
              <a:spcBef>
                <a:spcPct val="10000"/>
              </a:spcBef>
              <a:buNone/>
            </a:pPr>
            <a:endParaRPr lang="zh-CN" altLang="en-US" dirty="0">
              <a:solidFill>
                <a:srgbClr val="000099"/>
              </a:solidFill>
            </a:endParaRPr>
          </a:p>
          <a:p>
            <a:pPr marL="990600" lvl="1" indent="-645795" eaLnBrk="1" hangingPunct="1">
              <a:lnSpc>
                <a:spcPct val="105000"/>
              </a:lnSpc>
              <a:spcBef>
                <a:spcPct val="10000"/>
              </a:spcBef>
              <a:buClr>
                <a:schemeClr val="hlink"/>
              </a:buClr>
            </a:pPr>
            <a:r>
              <a:rPr lang="zh-CN" altLang="en-US" dirty="0">
                <a:sym typeface="+mn-ea"/>
              </a:rPr>
              <a:t>使产品达到</a:t>
            </a:r>
            <a:r>
              <a:rPr lang="zh-CN" altLang="en-US" dirty="0">
                <a:solidFill>
                  <a:schemeClr val="hlink"/>
                </a:solidFill>
                <a:sym typeface="+mn-ea"/>
              </a:rPr>
              <a:t>用户可自我支持</a:t>
            </a:r>
            <a:r>
              <a:rPr lang="zh-CN" altLang="en-US" dirty="0">
                <a:sym typeface="+mn-ea"/>
              </a:rPr>
              <a:t>的程度。</a:t>
            </a:r>
            <a:endParaRPr lang="zh-CN" altLang="en-US" dirty="0"/>
          </a:p>
          <a:p>
            <a:pPr marL="990600" lvl="1" indent="-645795" eaLnBrk="1" hangingPunct="1">
              <a:lnSpc>
                <a:spcPct val="105000"/>
              </a:lnSpc>
              <a:spcBef>
                <a:spcPct val="10000"/>
              </a:spcBef>
              <a:buClr>
                <a:schemeClr val="hlink"/>
              </a:buClr>
            </a:pPr>
            <a:r>
              <a:rPr lang="zh-CN" altLang="en-US" dirty="0">
                <a:sym typeface="+mn-ea"/>
              </a:rPr>
              <a:t>项目相关人员共同协作完成实施基线，并与构想的评价准则保持一致。</a:t>
            </a:r>
            <a:endParaRPr lang="zh-CN" altLang="en-US" dirty="0"/>
          </a:p>
          <a:p>
            <a:pPr marL="990600" lvl="1" indent="-645795" eaLnBrk="1" hangingPunct="1">
              <a:lnSpc>
                <a:spcPct val="105000"/>
              </a:lnSpc>
              <a:spcBef>
                <a:spcPct val="10000"/>
              </a:spcBef>
              <a:buClr>
                <a:schemeClr val="hlink"/>
              </a:buClr>
            </a:pPr>
            <a:r>
              <a:rPr lang="zh-CN" altLang="en-US" dirty="0">
                <a:sym typeface="+mn-ea"/>
              </a:rPr>
              <a:t>以最快速度和最好效益达到最终产品效益。</a:t>
            </a:r>
            <a:endParaRPr lang="zh-CN" altLang="en-US" dirty="0"/>
          </a:p>
          <a:p>
            <a:pPr marL="990600" lvl="1" indent="-645795" eaLnBrk="1" hangingPunct="1">
              <a:lnSpc>
                <a:spcPct val="105000"/>
              </a:lnSpc>
              <a:spcBef>
                <a:spcPct val="10000"/>
              </a:spcBef>
              <a:buClr>
                <a:schemeClr val="hlink"/>
              </a:buClr>
            </a:pPr>
            <a:endParaRPr lang="zh-CN" altLang="en-US" dirty="0"/>
          </a:p>
          <a:p>
            <a:pPr marL="609600" indent="-609600" eaLnBrk="1" hangingPunct="1">
              <a:lnSpc>
                <a:spcPct val="105000"/>
              </a:lnSpc>
              <a:spcBef>
                <a:spcPct val="10000"/>
              </a:spcBef>
              <a:buClr>
                <a:srgbClr val="CC3300"/>
              </a:buClr>
              <a:buNone/>
            </a:pPr>
            <a:r>
              <a:rPr lang="zh-CN" altLang="en-US" dirty="0">
                <a:solidFill>
                  <a:schemeClr val="tx2"/>
                </a:solidFill>
                <a:sym typeface="+mn-ea"/>
              </a:rPr>
              <a:t>       </a:t>
            </a:r>
            <a:r>
              <a:rPr lang="zh-CN" altLang="en-US" dirty="0">
                <a:solidFill>
                  <a:srgbClr val="000099"/>
                </a:solidFill>
                <a:sym typeface="+mn-ea"/>
              </a:rPr>
              <a:t>移交过程是个迭代的过程，包括</a:t>
            </a:r>
            <a:r>
              <a:rPr lang="en-US" altLang="zh-CN" dirty="0">
                <a:solidFill>
                  <a:srgbClr val="000099"/>
                </a:solidFill>
                <a:sym typeface="+mn-ea"/>
              </a:rPr>
              <a:t>Beta</a:t>
            </a:r>
            <a:r>
              <a:rPr lang="zh-CN" altLang="en-US" dirty="0">
                <a:solidFill>
                  <a:srgbClr val="000099"/>
                </a:solidFill>
                <a:sym typeface="+mn-ea"/>
              </a:rPr>
              <a:t>版本，普通可用版本，纠错版本，升级版本等。</a:t>
            </a:r>
            <a:endParaRPr lang="zh-CN" altLang="en-US" dirty="0">
              <a:latin typeface="Times New Roman" panose="02020603050405020304" pitchFamily="18" charset="0"/>
              <a:ea typeface="宋体" panose="02010600030101010101" pitchFamily="2" charset="-122"/>
            </a:endParaRPr>
          </a:p>
        </p:txBody>
      </p:sp>
      <p:sp>
        <p:nvSpPr>
          <p:cNvPr id="6554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pic>
        <p:nvPicPr>
          <p:cNvPr id="80901" name="Picture 2"/>
          <p:cNvPicPr>
            <a:picLocks noChangeAspect="1"/>
          </p:cNvPicPr>
          <p:nvPr/>
        </p:nvPicPr>
        <p:blipFill>
          <a:blip r:embed="rId1"/>
          <a:stretch>
            <a:fillRect/>
          </a:stretch>
        </p:blipFill>
        <p:spPr>
          <a:xfrm>
            <a:off x="4570730" y="2190750"/>
            <a:ext cx="4097655" cy="3582035"/>
          </a:xfrm>
          <a:prstGeom prst="rect">
            <a:avLst/>
          </a:prstGeom>
          <a:noFill/>
          <a:ln w="9525">
            <a:noFill/>
          </a:ln>
        </p:spPr>
      </p:pic>
      <p:sp>
        <p:nvSpPr>
          <p:cNvPr id="3" name="内容占位符 2"/>
          <p:cNvSpPr>
            <a:spLocks noGrp="1"/>
          </p:cNvSpPr>
          <p:nvPr>
            <p:ph sz="quarter" idx="1"/>
          </p:nvPr>
        </p:nvSpPr>
        <p:spPr>
          <a:xfrm>
            <a:off x="385445" y="1630045"/>
            <a:ext cx="4534535" cy="4239895"/>
          </a:xfrm>
        </p:spPr>
        <p:txBody>
          <a:bodyPr vert="horz" wrap="square" lIns="91440" tIns="45720" rIns="91440" bIns="45720" numCol="1" anchor="t" anchorCtr="0" compatLnSpc="1"/>
          <a:lstStyle/>
          <a:p>
            <a:pPr algn="just" eaLnBrk="1" hangingPunct="1">
              <a:buClr>
                <a:schemeClr val="accent1"/>
              </a:buClr>
              <a:buSzPct val="70000"/>
              <a:buFont typeface="Wingdings" panose="05000000000000000000" pitchFamily="2" charset="2"/>
              <a:buNone/>
            </a:pPr>
            <a:r>
              <a:rPr lang="zh-CN" altLang="en-US" sz="2800" dirty="0">
                <a:ea typeface="宋体" panose="02010600030101010101" pitchFamily="2" charset="-122"/>
              </a:rPr>
              <a:t>软件开发统一过程</a:t>
            </a:r>
            <a:r>
              <a:rPr lang="zh-CN" altLang="en-US" sz="2800" dirty="0">
                <a:latin typeface="Times New Roman" panose="02020603050405020304" pitchFamily="18" charset="0"/>
                <a:ea typeface="宋体" panose="02010600030101010101" pitchFamily="2" charset="-122"/>
              </a:rPr>
              <a:t>的特征</a:t>
            </a:r>
            <a:endParaRPr lang="en-US" altLang="zh-CN" sz="2800" dirty="0">
              <a:latin typeface="Times New Roman" panose="02020603050405020304" pitchFamily="18" charset="0"/>
              <a:ea typeface="宋体" panose="02010600030101010101" pitchFamily="2" charset="-122"/>
            </a:endParaRPr>
          </a:p>
          <a:p>
            <a:pPr algn="just" eaLnBrk="1" hangingPunct="1">
              <a:lnSpc>
                <a:spcPct val="150000"/>
              </a:lnSpc>
              <a:buClr>
                <a:schemeClr val="accent1"/>
              </a:buClr>
              <a:buSzPct val="70000"/>
              <a:buFont typeface="Wingdings" panose="05000000000000000000" charset="0"/>
              <a:buChar char="n"/>
            </a:pPr>
            <a:r>
              <a:rPr lang="zh-CN" altLang="en-US" sz="2800" dirty="0">
                <a:solidFill>
                  <a:srgbClr val="FF0000"/>
                </a:solidFill>
                <a:ea typeface="宋体" panose="02010600030101010101" pitchFamily="2" charset="-122"/>
              </a:rPr>
              <a:t>用例驱动 </a:t>
            </a:r>
            <a:endParaRPr lang="zh-CN" altLang="en-US" sz="2800" dirty="0">
              <a:solidFill>
                <a:srgbClr val="FF0000"/>
              </a:solidFill>
              <a:ea typeface="宋体" panose="02010600030101010101" pitchFamily="2" charset="-122"/>
            </a:endParaRPr>
          </a:p>
          <a:p>
            <a:pPr algn="just" eaLnBrk="1" hangingPunct="1">
              <a:lnSpc>
                <a:spcPct val="150000"/>
              </a:lnSpc>
              <a:buClr>
                <a:schemeClr val="accent1"/>
              </a:buClr>
              <a:buSzPct val="70000"/>
              <a:buFont typeface="Wingdings" panose="05000000000000000000" charset="0"/>
              <a:buChar char="n"/>
            </a:pPr>
            <a:r>
              <a:rPr lang="zh-CN" altLang="en-US" sz="2800" dirty="0">
                <a:solidFill>
                  <a:srgbClr val="FF0000"/>
                </a:solidFill>
                <a:ea typeface="宋体" panose="02010600030101010101" pitchFamily="2" charset="-122"/>
              </a:rPr>
              <a:t>体系结构为中心</a:t>
            </a:r>
            <a:endParaRPr lang="zh-CN" altLang="en-US" sz="2800" dirty="0">
              <a:solidFill>
                <a:srgbClr val="FF0000"/>
              </a:solidFill>
              <a:ea typeface="宋体" panose="02010600030101010101" pitchFamily="2" charset="-122"/>
            </a:endParaRPr>
          </a:p>
          <a:p>
            <a:pPr algn="just" eaLnBrk="1" hangingPunct="1">
              <a:lnSpc>
                <a:spcPct val="150000"/>
              </a:lnSpc>
              <a:buClr>
                <a:schemeClr val="accent1"/>
              </a:buClr>
              <a:buSzPct val="70000"/>
              <a:buFont typeface="Wingdings" panose="05000000000000000000" charset="0"/>
              <a:buChar char="n"/>
            </a:pPr>
            <a:r>
              <a:rPr lang="zh-CN" altLang="en-US" sz="2800" dirty="0">
                <a:solidFill>
                  <a:srgbClr val="FF0000"/>
                </a:solidFill>
                <a:ea typeface="宋体" panose="02010600030101010101" pitchFamily="2" charset="-122"/>
              </a:rPr>
              <a:t>迭代和</a:t>
            </a:r>
            <a:r>
              <a:rPr lang="zh-CN" altLang="en-US" sz="2800" dirty="0">
                <a:solidFill>
                  <a:srgbClr val="FF0000"/>
                </a:solidFill>
                <a:ea typeface="宋体" panose="02010600030101010101" pitchFamily="2" charset="-122"/>
              </a:rPr>
              <a:t>增量</a:t>
            </a:r>
            <a:endParaRPr lang="zh-CN" altLang="en-US" sz="2800" dirty="0">
              <a:solidFill>
                <a:srgbClr val="FF0000"/>
              </a:solidFill>
              <a:ea typeface="宋体" panose="02010600030101010101" pitchFamily="2" charset="-122"/>
            </a:endParaRPr>
          </a:p>
          <a:p>
            <a:pPr algn="just" eaLnBrk="1" hangingPunct="1">
              <a:lnSpc>
                <a:spcPct val="150000"/>
              </a:lnSpc>
              <a:buClr>
                <a:schemeClr val="accent1"/>
              </a:buClr>
              <a:buSzPct val="70000"/>
              <a:buFont typeface="Wingdings" panose="05000000000000000000" charset="0"/>
              <a:buChar char="n"/>
            </a:pPr>
            <a:r>
              <a:rPr lang="zh-CN" altLang="en-US" sz="2800" dirty="0">
                <a:solidFill>
                  <a:srgbClr val="FF0000"/>
                </a:solidFill>
                <a:ea typeface="宋体" panose="02010600030101010101" pitchFamily="2" charset="-122"/>
              </a:rPr>
              <a:t>以质量控制和风险管理为目标</a:t>
            </a:r>
            <a:endParaRPr lang="zh-CN" altLang="en-US" sz="2800" dirty="0">
              <a:solidFill>
                <a:srgbClr val="FF0000"/>
              </a:solidFill>
              <a:ea typeface="宋体" panose="02010600030101010101" pitchFamily="2" charset="-122"/>
            </a:endParaRPr>
          </a:p>
          <a:p>
            <a:pPr algn="just" eaLnBrk="1" hangingPunct="1">
              <a:buClr>
                <a:schemeClr val="accent1"/>
              </a:buClr>
              <a:buSzPct val="70000"/>
              <a:buFont typeface="Wingdings" panose="05000000000000000000" pitchFamily="2" charset="2"/>
            </a:pPr>
            <a:endParaRPr lang="zh-CN" altLang="en-US" sz="2800" dirty="0">
              <a:solidFill>
                <a:srgbClr val="FF0000"/>
              </a:solidFill>
              <a:ea typeface="宋体" panose="02010600030101010101" pitchFamily="2" charset="-122"/>
            </a:endParaRPr>
          </a:p>
        </p:txBody>
      </p:sp>
      <p:sp>
        <p:nvSpPr>
          <p:cNvPr id="8090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2.5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软件开发统一过程</a:t>
            </a:r>
            <a:endParaRPr kumimoji="0" lang="zh-CN" altLang="en-US" sz="3600" b="0" i="0" u="none" strike="noStrike" kern="1200" cap="small" spc="0" normalizeH="0" baseline="0" noProof="0" dirty="0">
              <a:ln>
                <a:noFill/>
              </a:ln>
              <a:solidFill>
                <a:schemeClr val="tx2"/>
              </a:solidFill>
              <a:effectLst/>
              <a:uLnTx/>
              <a:uFillTx/>
              <a:latin typeface="+mj-lt"/>
              <a:ea typeface="+mj-ea"/>
              <a:cs typeface="+mj-cs"/>
            </a:endParaRPr>
          </a:p>
        </p:txBody>
      </p:sp>
      <p:sp>
        <p:nvSpPr>
          <p:cNvPr id="3" name="内容占位符 2"/>
          <p:cNvSpPr>
            <a:spLocks noGrp="1"/>
          </p:cNvSpPr>
          <p:nvPr>
            <p:ph sz="quarter" idx="1"/>
          </p:nvPr>
        </p:nvSpPr>
        <p:spPr>
          <a:xfrm>
            <a:off x="457200" y="1412875"/>
            <a:ext cx="7835265" cy="5060950"/>
          </a:xfrm>
        </p:spPr>
        <p:txBody>
          <a:bodyPr vert="horz" wrap="square" lIns="91440" tIns="45720" rIns="91440" bIns="45720" numCol="1" anchor="t" anchorCtr="0" compatLnSpc="1"/>
          <a:lstStyle/>
          <a:p>
            <a:pPr algn="just" eaLnBrk="1" hangingPunct="1">
              <a:buClr>
                <a:schemeClr val="accent1"/>
              </a:buClr>
              <a:buSzPct val="70000"/>
              <a:buFont typeface="Wingdings" panose="05000000000000000000" pitchFamily="2" charset="2"/>
              <a:buNone/>
            </a:pPr>
            <a:r>
              <a:rPr lang="en-US" altLang="zh-CN" dirty="0">
                <a:solidFill>
                  <a:srgbClr val="C00000"/>
                </a:solidFill>
                <a:latin typeface="Times New Roman" panose="02020603050405020304" pitchFamily="18" charset="0"/>
                <a:ea typeface="宋体" panose="02010600030101010101" pitchFamily="2" charset="-122"/>
              </a:rPr>
              <a:t>RUP</a:t>
            </a:r>
            <a:r>
              <a:rPr lang="zh-CN" altLang="en-US" dirty="0">
                <a:solidFill>
                  <a:srgbClr val="C00000"/>
                </a:solidFill>
                <a:latin typeface="Times New Roman" panose="02020603050405020304" pitchFamily="18" charset="0"/>
                <a:ea typeface="宋体" panose="02010600030101010101" pitchFamily="2" charset="-122"/>
              </a:rPr>
              <a:t>优点</a:t>
            </a:r>
            <a:endParaRPr lang="zh-CN" altLang="en-US" dirty="0">
              <a:solidFill>
                <a:srgbClr val="C00000"/>
              </a:solidFill>
              <a:latin typeface="Times New Roman" panose="02020603050405020304" pitchFamily="18" charset="0"/>
              <a:ea typeface="宋体" panose="02010600030101010101" pitchFamily="2" charset="-122"/>
            </a:endParaRPr>
          </a:p>
          <a:p>
            <a:pPr algn="just" eaLnBrk="1" hangingPunct="1">
              <a:buClr>
                <a:schemeClr val="accent1"/>
              </a:buClr>
              <a:buSzPct val="70000"/>
              <a:buFont typeface="Wingdings" panose="05000000000000000000" pitchFamily="2" charset="2"/>
              <a:buNone/>
            </a:pPr>
            <a:r>
              <a:rPr lang="zh-CN" altLang="en-US" dirty="0">
                <a:solidFill>
                  <a:srgbClr val="C00000"/>
                </a:solidFill>
                <a:latin typeface="Times New Roman" panose="02020603050405020304" pitchFamily="18" charset="0"/>
                <a:ea typeface="宋体" panose="02010600030101010101" pitchFamily="2" charset="-122"/>
              </a:rPr>
              <a:t>1）RUP将项目管理、业务建模、分析与设计等统一起来，贯穿整个开发过程；</a:t>
            </a:r>
            <a:endParaRPr lang="zh-CN" altLang="en-US" dirty="0">
              <a:solidFill>
                <a:srgbClr val="C00000"/>
              </a:solidFill>
              <a:latin typeface="Times New Roman" panose="02020603050405020304" pitchFamily="18" charset="0"/>
              <a:ea typeface="宋体" panose="02010600030101010101" pitchFamily="2" charset="-122"/>
            </a:endParaRPr>
          </a:p>
          <a:p>
            <a:pPr algn="just" eaLnBrk="1" hangingPunct="1">
              <a:buClr>
                <a:schemeClr val="accent1"/>
              </a:buClr>
              <a:buSzPct val="70000"/>
              <a:buFont typeface="Wingdings" panose="05000000000000000000" pitchFamily="2" charset="2"/>
              <a:buNone/>
            </a:pPr>
            <a:r>
              <a:rPr lang="zh-CN" altLang="en-US" dirty="0">
                <a:solidFill>
                  <a:srgbClr val="C00000"/>
                </a:solidFill>
                <a:latin typeface="Times New Roman" panose="02020603050405020304" pitchFamily="18" charset="0"/>
                <a:ea typeface="宋体" panose="02010600030101010101" pitchFamily="2" charset="-122"/>
              </a:rPr>
              <a:t>2）为团队成员提供了使用准则、模板和工具指导，形成最佳实现方案，并基于共同的基础知识，使所有团队成员思想统一，沟通更易，这是项目成功的关键因素；</a:t>
            </a:r>
            <a:endParaRPr lang="zh-CN" altLang="en-US" dirty="0">
              <a:solidFill>
                <a:srgbClr val="C00000"/>
              </a:solidFill>
              <a:latin typeface="Times New Roman" panose="02020603050405020304" pitchFamily="18" charset="0"/>
              <a:ea typeface="宋体" panose="02010600030101010101" pitchFamily="2" charset="-122"/>
            </a:endParaRPr>
          </a:p>
          <a:p>
            <a:pPr algn="just" eaLnBrk="1" hangingPunct="1">
              <a:buClr>
                <a:schemeClr val="accent1"/>
              </a:buClr>
              <a:buSzPct val="70000"/>
              <a:buFont typeface="Wingdings" panose="05000000000000000000" pitchFamily="2" charset="2"/>
              <a:buNone/>
            </a:pPr>
            <a:r>
              <a:rPr lang="zh-CN" altLang="en-US" dirty="0">
                <a:solidFill>
                  <a:srgbClr val="C00000"/>
                </a:solidFill>
                <a:latin typeface="Times New Roman" panose="02020603050405020304" pitchFamily="18" charset="0"/>
                <a:ea typeface="宋体" panose="02010600030101010101" pitchFamily="2" charset="-122"/>
              </a:rPr>
              <a:t>3）增强开发人员的预见性，提高了软件质量，并缩短了开发时长</a:t>
            </a:r>
            <a:endParaRPr lang="zh-CN" altLang="en-US" dirty="0">
              <a:solidFill>
                <a:srgbClr val="C00000"/>
              </a:solidFill>
              <a:latin typeface="Times New Roman" panose="02020603050405020304" pitchFamily="18" charset="0"/>
              <a:ea typeface="宋体" panose="02010600030101010101" pitchFamily="2" charset="-122"/>
            </a:endParaRPr>
          </a:p>
          <a:p>
            <a:pPr algn="just" eaLnBrk="1" hangingPunct="1">
              <a:buClr>
                <a:schemeClr val="accent1"/>
              </a:buClr>
              <a:buSzPct val="70000"/>
              <a:buFont typeface="Wingdings" panose="05000000000000000000" pitchFamily="2" charset="2"/>
              <a:buNone/>
            </a:pPr>
            <a:r>
              <a:rPr lang="zh-CN" altLang="en-US" dirty="0">
                <a:solidFill>
                  <a:srgbClr val="C00000"/>
                </a:solidFill>
                <a:latin typeface="Times New Roman" panose="02020603050405020304" pitchFamily="18" charset="0"/>
                <a:ea typeface="宋体" panose="02010600030101010101" pitchFamily="2" charset="-122"/>
              </a:rPr>
              <a:t>4）RUP可用于开发所有类型的软件系统，应用广泛</a:t>
            </a:r>
            <a:endParaRPr lang="zh-CN" altLang="en-US" dirty="0">
              <a:solidFill>
                <a:srgbClr val="C00000"/>
              </a:solidFill>
              <a:latin typeface="Times New Roman" panose="02020603050405020304" pitchFamily="18" charset="0"/>
              <a:ea typeface="宋体" panose="02010600030101010101" pitchFamily="2" charset="-122"/>
            </a:endParaRPr>
          </a:p>
          <a:p>
            <a:pPr algn="just" eaLnBrk="1" hangingPunct="1">
              <a:buClr>
                <a:schemeClr val="accent1"/>
              </a:buClr>
              <a:buSzPct val="70000"/>
              <a:buFont typeface="Wingdings" panose="05000000000000000000" pitchFamily="2" charset="2"/>
              <a:buNone/>
            </a:pPr>
            <a:r>
              <a:rPr lang="en-US" altLang="zh-CN" dirty="0">
                <a:solidFill>
                  <a:srgbClr val="0070C0"/>
                </a:solidFill>
                <a:latin typeface="Times New Roman" panose="02020603050405020304" pitchFamily="18" charset="0"/>
                <a:ea typeface="宋体" panose="02010600030101010101" pitchFamily="2" charset="-122"/>
              </a:rPr>
              <a:t>RUP</a:t>
            </a:r>
            <a:r>
              <a:rPr lang="zh-CN" altLang="en-US" dirty="0">
                <a:solidFill>
                  <a:srgbClr val="0070C0"/>
                </a:solidFill>
                <a:latin typeface="Times New Roman" panose="02020603050405020304" pitchFamily="18" charset="0"/>
                <a:ea typeface="宋体" panose="02010600030101010101" pitchFamily="2" charset="-122"/>
              </a:rPr>
              <a:t>缺点</a:t>
            </a:r>
            <a:endParaRPr lang="zh-CN" altLang="en-US" dirty="0">
              <a:solidFill>
                <a:srgbClr val="0070C0"/>
              </a:solidFill>
              <a:latin typeface="Times New Roman" panose="02020603050405020304" pitchFamily="18" charset="0"/>
              <a:ea typeface="宋体" panose="02010600030101010101" pitchFamily="2" charset="-122"/>
            </a:endParaRPr>
          </a:p>
          <a:p>
            <a:pPr algn="just" eaLnBrk="1" hangingPunct="1">
              <a:buClr>
                <a:schemeClr val="accent1"/>
              </a:buClr>
              <a:buSzPct val="70000"/>
              <a:buFont typeface="Wingdings" panose="05000000000000000000" pitchFamily="2" charset="2"/>
              <a:buNone/>
            </a:pPr>
            <a:r>
              <a:rPr lang="en-US" altLang="zh-CN" dirty="0">
                <a:solidFill>
                  <a:srgbClr val="0070C0"/>
                </a:solidFill>
                <a:latin typeface="Times New Roman" panose="02020603050405020304" pitchFamily="18" charset="0"/>
                <a:ea typeface="宋体" panose="02010600030101010101" pitchFamily="2" charset="-122"/>
              </a:rPr>
              <a:t>    </a:t>
            </a:r>
            <a:r>
              <a:rPr lang="zh-CN" altLang="en-US" dirty="0">
                <a:solidFill>
                  <a:srgbClr val="0070C0"/>
                </a:solidFill>
                <a:latin typeface="Times New Roman" panose="02020603050405020304" pitchFamily="18" charset="0"/>
                <a:ea typeface="宋体" panose="02010600030101010101" pitchFamily="2" charset="-122"/>
              </a:rPr>
              <a:t>过于庞大和复杂，不能快速适应需求变化，每各需求变更都要经历复杂的过程和许多额外的工作。对于较小的公司和项目，敏捷方法可能更合适。</a:t>
            </a:r>
            <a:endParaRPr lang="zh-CN" altLang="en-US" dirty="0">
              <a:solidFill>
                <a:srgbClr val="0070C0"/>
              </a:solidFill>
              <a:latin typeface="Times New Roman" panose="02020603050405020304" pitchFamily="18" charset="0"/>
              <a:ea typeface="宋体" panose="02010600030101010101" pitchFamily="2" charset="-122"/>
            </a:endParaRPr>
          </a:p>
        </p:txBody>
      </p:sp>
      <p:sp>
        <p:nvSpPr>
          <p:cNvPr id="80900" name="灯片编号占位符 3"/>
          <p:cNvSpPr txBox="1">
            <a:spLocks noGrp="1"/>
          </p:cNvSpPr>
          <p:nvPr>
            <p:ph type="sldNum" sz="quarter" idx="4"/>
          </p:nvPr>
        </p:nvSpPr>
        <p:spPr>
          <a:noFill/>
          <a:ln>
            <a:noFill/>
          </a:ln>
        </p:spPr>
        <p:txBody>
          <a:bodyPr anchor="ctr" anchorCtr="0"/>
          <a:lstStyle/>
          <a:p>
            <a:pPr marL="0" indent="0" algn="ctr" eaLnBrk="1" hangingPunct="1">
              <a:spcBef>
                <a:spcPct val="0"/>
              </a:spcBef>
              <a:buClrTx/>
              <a:buSzTx/>
              <a:buFontTx/>
              <a:buNone/>
            </a:pPr>
            <a:fld id="{9A0DB2DC-4C9A-4742-B13C-FB6460FD3503}" type="slidenum">
              <a:rPr lang="zh-CN" altLang="en-US" sz="1400" dirty="0">
                <a:solidFill>
                  <a:srgbClr val="FFFFFF"/>
                </a:solidFill>
                <a:latin typeface="Arial" panose="020B0604020202020204" pitchFamily="34" charset="0"/>
                <a:ea typeface="楷体_GB2312" pitchFamily="49" charset="-122"/>
              </a:rPr>
            </a:fld>
            <a:endParaRPr lang="zh-CN" altLang="en-US" sz="1400" dirty="0">
              <a:solidFill>
                <a:srgbClr val="FFFFFF"/>
              </a:solidFill>
              <a:latin typeface="Arial" panose="020B0604020202020204" pitchFamily="34" charset="0"/>
              <a:ea typeface="楷体_GB2312" pitchFamily="49" charset="-122"/>
            </a:endParaRPr>
          </a:p>
        </p:txBody>
      </p:sp>
    </p:spTree>
  </p:cSld>
  <p:clrMapOvr>
    <a:masterClrMapping/>
  </p:clrMapOvr>
</p:sld>
</file>

<file path=ppt/tags/tag1.xml><?xml version="1.0" encoding="utf-8"?>
<p:tagLst xmlns:p="http://schemas.openxmlformats.org/presentationml/2006/main">
  <p:tag name="COMMONDATA" val="eyJoZGlkIjoiMWJmYmVhMGQ2YWQwOTc0ZDFkYmVkZTE0NzFkNThlYzIifQ=="/>
  <p:tag name="KSO_WPP_MARK_KEY" val="d3bcea39-2c9a-4289-a1f2-0dc6ef9e6c0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7767</Words>
  <Application>WPS 演示</Application>
  <PresentationFormat>全屏显示(4:3)</PresentationFormat>
  <Paragraphs>736</Paragraphs>
  <Slides>47</Slides>
  <Notes>40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47</vt:i4>
      </vt:variant>
    </vt:vector>
  </HeadingPairs>
  <TitlesOfParts>
    <vt:vector size="65" baseType="lpstr">
      <vt:lpstr>Arial</vt:lpstr>
      <vt:lpstr>宋体</vt:lpstr>
      <vt:lpstr>Wingdings</vt:lpstr>
      <vt:lpstr>楷体_GB2312</vt:lpstr>
      <vt:lpstr>新宋体</vt:lpstr>
      <vt:lpstr>Century Schoolbook</vt:lpstr>
      <vt:lpstr>Wingdings 2</vt:lpstr>
      <vt:lpstr>Wingdings</vt:lpstr>
      <vt:lpstr>Times New Roman</vt:lpstr>
      <vt:lpstr>仿宋_GB2312</vt:lpstr>
      <vt:lpstr>仿宋</vt:lpstr>
      <vt:lpstr>Wingdings</vt:lpstr>
      <vt:lpstr>微软雅黑</vt:lpstr>
      <vt:lpstr>Arial Unicode MS</vt:lpstr>
      <vt:lpstr>华文楷体</vt:lpstr>
      <vt:lpstr>华文新魏</vt:lpstr>
      <vt:lpstr>Symbol</vt:lpstr>
      <vt:lpstr>凸显</vt:lpstr>
      <vt:lpstr>软件系统分析与设计 Software System Analysis and Design</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lpstr>2.5 软件开发统一过程</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WPS_1648341868</cp:lastModifiedBy>
  <cp:revision>1076</cp:revision>
  <cp:lastPrinted>2023-10-13T16:06:00Z</cp:lastPrinted>
  <dcterms:created xsi:type="dcterms:W3CDTF">2023-10-13T16:06:00Z</dcterms:created>
  <dcterms:modified xsi:type="dcterms:W3CDTF">2025-07-01T17:23:05Z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CA44DDFB6F70239F87AE0D65C5955F78_43</vt:lpwstr>
  </property>
  <property fmtid="{D5CDD505-2E9C-101B-9397-08002B2CF9AE}" pid="3" name="KSOProductBuildVer">
    <vt:lpwstr>2052-12.1.0.21915</vt:lpwstr>
  </property>
</Properties>
</file>