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42"/>
  </p:handoutMasterIdLst>
  <p:sldIdLst>
    <p:sldId id="301" r:id="rId4"/>
    <p:sldId id="467" r:id="rId6"/>
    <p:sldId id="468" r:id="rId7"/>
    <p:sldId id="469" r:id="rId8"/>
    <p:sldId id="470" r:id="rId9"/>
    <p:sldId id="471" r:id="rId10"/>
    <p:sldId id="472" r:id="rId11"/>
    <p:sldId id="473" r:id="rId12"/>
    <p:sldId id="474" r:id="rId13"/>
    <p:sldId id="475" r:id="rId14"/>
    <p:sldId id="476" r:id="rId15"/>
    <p:sldId id="477" r:id="rId16"/>
    <p:sldId id="478" r:id="rId17"/>
    <p:sldId id="479" r:id="rId18"/>
    <p:sldId id="480" r:id="rId19"/>
    <p:sldId id="482" r:id="rId20"/>
    <p:sldId id="483" r:id="rId21"/>
    <p:sldId id="484" r:id="rId22"/>
    <p:sldId id="485" r:id="rId23"/>
    <p:sldId id="486" r:id="rId24"/>
    <p:sldId id="488" r:id="rId25"/>
    <p:sldId id="489" r:id="rId26"/>
    <p:sldId id="490" r:id="rId27"/>
    <p:sldId id="491" r:id="rId28"/>
    <p:sldId id="303" r:id="rId29"/>
    <p:sldId id="459" r:id="rId30"/>
    <p:sldId id="364" r:id="rId31"/>
    <p:sldId id="460" r:id="rId32"/>
    <p:sldId id="461" r:id="rId33"/>
    <p:sldId id="463" r:id="rId34"/>
    <p:sldId id="464" r:id="rId35"/>
    <p:sldId id="492" r:id="rId36"/>
    <p:sldId id="500" r:id="rId37"/>
    <p:sldId id="501" r:id="rId38"/>
    <p:sldId id="502" r:id="rId39"/>
    <p:sldId id="503" r:id="rId40"/>
    <p:sldId id="504" r:id="rId41"/>
  </p:sldIdLst>
  <p:sldSz cx="9144000" cy="6858000" type="screen4x3"/>
  <p:notesSz cx="6858000" cy="9144000"/>
  <p:custDataLst>
    <p:tags r:id="rId46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har char="•"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har char="•"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har char="•"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har char="•"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har char="•"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har char="•"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har char="•"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har char="•"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Char char="•"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C9EA"/>
    <a:srgbClr val="CCFF66"/>
    <a:srgbClr val="FFFFCC"/>
    <a:srgbClr val="F9DF9F"/>
    <a:srgbClr val="FFFF66"/>
    <a:srgbClr val="FF0000"/>
    <a:srgbClr val="CCECFF"/>
    <a:srgbClr val="0A0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075"/>
    <p:restoredTop sz="93689"/>
  </p:normalViewPr>
  <p:slideViewPr>
    <p:cSldViewPr showGuides="1">
      <p:cViewPr varScale="1">
        <p:scale>
          <a:sx n="114" d="100"/>
          <a:sy n="114" d="100"/>
        </p:scale>
        <p:origin x="-15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6" Type="http://schemas.openxmlformats.org/officeDocument/2006/relationships/tags" Target="tags/tag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8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141413" y="0"/>
            <a:ext cx="230188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直接连接符 20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直接连接符 23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090613" y="5500688"/>
            <a:ext cx="138113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31" name="灯片编号占位符 28"/>
          <p:cNvSpPr>
            <a:spLocks noGrp="1"/>
          </p:cNvSpPr>
          <p:nvPr>
            <p:ph type="sldNum" sz="quarter" idx="4"/>
          </p:nvPr>
        </p:nvSpPr>
        <p:spPr bwMode="auto">
          <a:xfrm>
            <a:off x="1325563" y="4929188"/>
            <a:ext cx="609600" cy="517525"/>
          </a:xfrm>
          <a:prstGeom prst="rect">
            <a:avLst/>
          </a:prstGeom>
        </p:spPr>
        <p:txBody>
          <a:bodyPr vert="horz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141413" y="0"/>
            <a:ext cx="230188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直接连接符 20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椭圆 24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1090613" y="5500688"/>
            <a:ext cx="138113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直接连接符 29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1339850" y="4929188"/>
            <a:ext cx="609600" cy="517525"/>
          </a:xfrm>
          <a:prstGeom prst="rect">
            <a:avLst/>
          </a:prstGeom>
        </p:spPr>
        <p:txBody>
          <a:bodyPr vert="horz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直接连接符 14"/>
          <p:cNvSpPr/>
          <p:nvPr/>
        </p:nvSpPr>
        <p:spPr>
          <a:xfrm>
            <a:off x="6192838" y="0"/>
            <a:ext cx="0" cy="68580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9" name="直接连接符 16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矩形 16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1" name="直接连接符 18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椭圆 18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0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2" name="直接连接符 14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矩形 14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直接连接符 17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6" name="直接连接符 19"/>
          <p:cNvSpPr/>
          <p:nvPr/>
        </p:nvSpPr>
        <p:spPr>
          <a:xfrm>
            <a:off x="6192838" y="0"/>
            <a:ext cx="0" cy="68580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0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141413" y="0"/>
            <a:ext cx="230188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直接连接符 20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直接连接符 23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090613" y="5500688"/>
            <a:ext cx="138113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31" name="灯片编号占位符 28"/>
          <p:cNvSpPr>
            <a:spLocks noGrp="1"/>
          </p:cNvSpPr>
          <p:nvPr>
            <p:ph type="sldNum" sz="quarter" idx="4"/>
          </p:nvPr>
        </p:nvSpPr>
        <p:spPr bwMode="auto">
          <a:xfrm>
            <a:off x="1325563" y="4929188"/>
            <a:ext cx="609600" cy="517525"/>
          </a:xfrm>
          <a:prstGeom prst="rect">
            <a:avLst/>
          </a:prstGeom>
        </p:spPr>
        <p:txBody>
          <a:bodyPr vert="horz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141413" y="0"/>
            <a:ext cx="230188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直接连接符 20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椭圆 24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1090613" y="5500688"/>
            <a:ext cx="138113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直接连接符 29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1339850" y="4929188"/>
            <a:ext cx="609600" cy="517525"/>
          </a:xfrm>
          <a:prstGeom prst="rect">
            <a:avLst/>
          </a:prstGeom>
        </p:spPr>
        <p:txBody>
          <a:bodyPr vert="horz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直接连接符 14"/>
          <p:cNvSpPr/>
          <p:nvPr/>
        </p:nvSpPr>
        <p:spPr>
          <a:xfrm>
            <a:off x="6192838" y="0"/>
            <a:ext cx="0" cy="68580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9" name="直接连接符 16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矩形 16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1" name="直接连接符 18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椭圆 18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0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2" name="直接连接符 14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矩形 14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直接连接符 17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6" name="直接连接符 19"/>
          <p:cNvSpPr/>
          <p:nvPr/>
        </p:nvSpPr>
        <p:spPr>
          <a:xfrm>
            <a:off x="6192838" y="0"/>
            <a:ext cx="0" cy="685800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0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rtlCol="0" anchor="ctr"/>
          <a:p>
            <a:pPr algn="ct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直接连接符 8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2" name="直接连接符 10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椭圆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small">
          <a:solidFill>
            <a:schemeClr val="tx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400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00" indent="-182880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87450" indent="-182880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462405" indent="-182880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直接连接符 8"/>
          <p:cNvSpPr/>
          <p:nvPr/>
        </p:nvSpPr>
        <p:spPr>
          <a:xfrm>
            <a:off x="8991600" y="0"/>
            <a:ext cx="0" cy="685800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2" name="直接连接符 10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椭圆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small">
          <a:solidFill>
            <a:schemeClr val="tx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400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00" indent="-182880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87450" indent="-182880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462405" indent="-182880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24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tags" Target="../tags/tag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2060575"/>
            <a:ext cx="6172200" cy="2165350"/>
          </a:xfrm>
        </p:spPr>
        <p:txBody>
          <a:bodyPr vert="horz" anchor="b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软件系统分析与设计</a:t>
            </a:r>
            <a:b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kumimoji="0" lang="en-US" altLang="zh-CN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Software System Analysis and Design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95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1325563" y="5013325"/>
            <a:ext cx="609600" cy="517525"/>
          </a:xfrm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参与者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3895" y="1485265"/>
            <a:ext cx="767016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zh-CN" altLang="en-US">
                <a:solidFill>
                  <a:srgbClr val="FF0000"/>
                </a:solidFill>
              </a:rPr>
              <a:t>系统之外</a:t>
            </a:r>
            <a:r>
              <a:rPr lang="zh-CN" altLang="en-US"/>
              <a:t>，透过</a:t>
            </a:r>
            <a:r>
              <a:rPr lang="zh-CN" altLang="en-US">
                <a:solidFill>
                  <a:srgbClr val="FF0000"/>
                </a:solidFill>
              </a:rPr>
              <a:t>系统边界</a:t>
            </a:r>
            <a:r>
              <a:rPr lang="zh-CN" altLang="en-US"/>
              <a:t>，与系统进行</a:t>
            </a:r>
            <a:r>
              <a:rPr lang="zh-CN" altLang="en-US">
                <a:solidFill>
                  <a:srgbClr val="FF0000"/>
                </a:solidFill>
              </a:rPr>
              <a:t>交互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任何事物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要点分析：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zh-CN"/>
              <a:t> </a:t>
            </a:r>
            <a:r>
              <a:rPr lang="zh-CN" altLang="en-US"/>
              <a:t>系统外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系统边界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系统角色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与系统交互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任何事物</a:t>
            </a:r>
            <a:r>
              <a:rPr lang="en-US" altLang="zh-CN"/>
              <a:t>	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参与者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3895" y="1485265"/>
            <a:ext cx="7670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与系统进行</a:t>
            </a:r>
            <a:r>
              <a:rPr lang="zh-CN" altLang="en-US">
                <a:solidFill>
                  <a:srgbClr val="FF0000"/>
                </a:solidFill>
              </a:rPr>
              <a:t>交互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2061210"/>
            <a:ext cx="6558280" cy="3011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参与者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3895" y="1485265"/>
            <a:ext cx="7670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任何事物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lum bright="6000"/>
          </a:blip>
          <a:stretch>
            <a:fillRect/>
          </a:stretch>
        </p:blipFill>
        <p:spPr>
          <a:xfrm>
            <a:off x="1403985" y="2007235"/>
            <a:ext cx="6435090" cy="4274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参与者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3895" y="1485265"/>
            <a:ext cx="7670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任何事物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6000"/>
          </a:blip>
          <a:stretch>
            <a:fillRect/>
          </a:stretch>
        </p:blipFill>
        <p:spPr>
          <a:xfrm>
            <a:off x="971550" y="2061210"/>
            <a:ext cx="6834505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参与者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3895" y="1485265"/>
            <a:ext cx="7670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系统边界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lum bright="12000" contrast="6000"/>
          </a:blip>
          <a:stretch>
            <a:fillRect/>
          </a:stretch>
        </p:blipFill>
        <p:spPr>
          <a:xfrm>
            <a:off x="828040" y="2132965"/>
            <a:ext cx="7158355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参与者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-12000" contrast="60000"/>
          </a:blip>
          <a:stretch>
            <a:fillRect/>
          </a:stretch>
        </p:blipFill>
        <p:spPr>
          <a:xfrm>
            <a:off x="395605" y="1263650"/>
            <a:ext cx="8187055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参与者</a:t>
            </a:r>
            <a:r>
              <a:rPr lang="zh-CN" altLang="en-US"/>
              <a:t>的地位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lum bright="12000" contrast="12000"/>
          </a:blip>
          <a:stretch>
            <a:fillRect/>
          </a:stretch>
        </p:blipFill>
        <p:spPr>
          <a:xfrm>
            <a:off x="683895" y="1590675"/>
            <a:ext cx="6962775" cy="3676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识别参与者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12000"/>
          </a:blip>
          <a:stretch>
            <a:fillRect/>
          </a:stretch>
        </p:blipFill>
        <p:spPr>
          <a:xfrm>
            <a:off x="581025" y="1701165"/>
            <a:ext cx="7981950" cy="2314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1025" y="4653280"/>
            <a:ext cx="71735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思考在这个例子里，谁是短信系统的参与者？用户？时间？气温？</a:t>
            </a:r>
            <a:r>
              <a:rPr lang="en-US" altLang="zh-CN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... ...</a:t>
            </a:r>
            <a:endParaRPr lang="en-US" altLang="zh-CN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识别参与者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12000"/>
          </a:blip>
          <a:stretch>
            <a:fillRect/>
          </a:stretch>
        </p:blipFill>
        <p:spPr>
          <a:xfrm>
            <a:off x="581025" y="1701165"/>
            <a:ext cx="7981950" cy="2314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1025" y="4653280"/>
            <a:ext cx="71735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思考在这个例子里，谁是短信系统的参与者？用户？时间？气温？</a:t>
            </a:r>
            <a:r>
              <a:rPr lang="en-US" altLang="zh-CN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... ...</a:t>
            </a:r>
            <a:endParaRPr lang="en-US" altLang="zh-CN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buNone/>
            </a:pPr>
            <a:r>
              <a:rPr lang="zh-CN" altLang="en-US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时间参与者：一种习惯用法，用于激活那些系统定期的、自动执行的</a:t>
            </a:r>
            <a:r>
              <a:rPr lang="zh-CN" altLang="en-US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用例。</a:t>
            </a:r>
            <a:endParaRPr lang="zh-CN" altLang="en-US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识别参与者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12000"/>
          </a:blip>
          <a:stretch>
            <a:fillRect/>
          </a:stretch>
        </p:blipFill>
        <p:spPr>
          <a:xfrm>
            <a:off x="581025" y="1701165"/>
            <a:ext cx="7981950" cy="2314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1025" y="4653280"/>
            <a:ext cx="71735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思考在这个例子里，谁是短信系统的参与者？用户？时间？气温？</a:t>
            </a:r>
            <a:r>
              <a:rPr lang="en-US" altLang="zh-CN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... ...</a:t>
            </a:r>
            <a:endParaRPr lang="en-US" altLang="zh-CN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buNone/>
            </a:pPr>
            <a:r>
              <a:rPr lang="zh-CN" altLang="en-US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时间参与者：一种习惯用法，用于激活那些系统定期的、自动执行的</a:t>
            </a:r>
            <a:r>
              <a:rPr lang="zh-CN" altLang="en-US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用例。</a:t>
            </a:r>
            <a:endParaRPr lang="zh-CN" altLang="en-US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3895" y="1412875"/>
            <a:ext cx="717359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简洁定义：参与者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  <a:cs typeface="楷体" panose="02010609060101010101" charset="-122"/>
              </a:rPr>
              <a:t>使用系统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达到某个目标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定义：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用例实例是系统执行的一系列动作，这些动作会生成特定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  <a:cs typeface="楷体" panose="02010609060101010101" charset="-122"/>
              </a:rPr>
              <a:t>参与者可观测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的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  <a:cs typeface="楷体" panose="02010609060101010101" charset="-122"/>
              </a:rPr>
              <a:t>结果值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一个用例定义一组用例实例（场景）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</a:t>
            </a:r>
            <a:r>
              <a:rPr lang="zh-CN" altLang="en-US"/>
              <a:t>要点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3895" y="1412875"/>
            <a:ext cx="71735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可观测：用例止于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系统边界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结果值：用例是有意义的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目标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系统执行：结果值由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系统产生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由参与者观测：业务语言、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用户观点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</a:t>
            </a:r>
            <a:r>
              <a:rPr lang="zh-CN" altLang="en-US"/>
              <a:t>要点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3895" y="1412875"/>
            <a:ext cx="71735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可观测：用例止于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系统边界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85" y="2035810"/>
            <a:ext cx="5088890" cy="27857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3365" y="5300980"/>
            <a:ext cx="5713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描述交互，而不是内在的系统活动</a:t>
            </a:r>
            <a:endParaRPr lang="zh-CN" altLang="en-US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</a:t>
            </a:r>
            <a:r>
              <a:rPr lang="zh-CN" altLang="en-US"/>
              <a:t>要点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3895" y="1412875"/>
            <a:ext cx="71735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结果值：用例是有意义的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目标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2366010"/>
            <a:ext cx="7667625" cy="26003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</a:t>
            </a:r>
            <a:r>
              <a:rPr lang="zh-CN" altLang="en-US"/>
              <a:t>要点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3895" y="1412875"/>
            <a:ext cx="71735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系统执行：结果值由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系统产生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395" y="2397760"/>
            <a:ext cx="5534025" cy="20624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23440" y="5212080"/>
            <a:ext cx="5713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系统需要处理的，由</a:t>
            </a:r>
            <a:r>
              <a:rPr lang="zh-CN" altLang="en-US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系统生成</a:t>
            </a:r>
            <a:endParaRPr lang="zh-CN" altLang="en-US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</a:t>
            </a:r>
            <a:r>
              <a:rPr lang="zh-CN" altLang="en-US"/>
              <a:t>要点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3895" y="1412875"/>
            <a:ext cx="7173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由参与者观测：业务语言、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用户观点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lum bright="18000" contrast="12000"/>
          </a:blip>
          <a:stretch>
            <a:fillRect/>
          </a:stretch>
        </p:blipFill>
        <p:spPr>
          <a:xfrm>
            <a:off x="899795" y="1988820"/>
            <a:ext cx="7049135" cy="16287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</a:t>
            </a:r>
            <a:r>
              <a:rPr lang="zh-CN" altLang="en-US"/>
              <a:t>要点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3895" y="1412875"/>
            <a:ext cx="7173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由参与者观测：业务语言、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用户观点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lum bright="18000" contrast="6000"/>
          </a:blip>
          <a:stretch>
            <a:fillRect/>
          </a:stretch>
        </p:blipFill>
        <p:spPr>
          <a:xfrm>
            <a:off x="899795" y="1988820"/>
            <a:ext cx="7049135" cy="1628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lum bright="6000" contrast="6000"/>
          </a:blip>
          <a:stretch>
            <a:fillRect/>
          </a:stretch>
        </p:blipFill>
        <p:spPr>
          <a:xfrm>
            <a:off x="1018540" y="3794125"/>
            <a:ext cx="6930390" cy="24606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67815" y="6254750"/>
            <a:ext cx="5713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用户观点</a:t>
            </a:r>
            <a:r>
              <a:rPr lang="en-US" altLang="zh-CN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            </a:t>
            </a:r>
            <a:r>
              <a:rPr lang="zh-CN" altLang="en-US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系统观点</a:t>
            </a:r>
            <a:endParaRPr lang="zh-CN" altLang="en-US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</a:t>
            </a:r>
            <a:r>
              <a:rPr lang="zh-CN" altLang="en-US"/>
              <a:t>要点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3895" y="1412875"/>
            <a:ext cx="7173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由参与者观测：业务语言、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用户观点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7450" y="5734050"/>
            <a:ext cx="5713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用户观点</a:t>
            </a:r>
            <a:r>
              <a:rPr lang="en-US" altLang="zh-CN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            </a:t>
            </a:r>
            <a:r>
              <a:rPr lang="zh-CN" altLang="en-US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系统观点</a:t>
            </a:r>
            <a:endParaRPr lang="zh-CN" altLang="en-US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lum bright="6000" contrast="12000"/>
          </a:blip>
          <a:stretch>
            <a:fillRect/>
          </a:stretch>
        </p:blipFill>
        <p:spPr>
          <a:xfrm>
            <a:off x="828675" y="2105025"/>
            <a:ext cx="7486650" cy="34055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</a:t>
            </a:r>
            <a:r>
              <a:rPr lang="zh-CN" altLang="en-US"/>
              <a:t>命名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3895" y="1412875"/>
            <a:ext cx="71735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参与者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视角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（状语）动词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+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（定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语）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+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cs typeface="楷体" panose="02010609060101010101" charset="-122"/>
              </a:rPr>
              <a:t>宾语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3213100"/>
            <a:ext cx="6415405" cy="17672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用例识别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12000" contrast="6000"/>
          </a:blip>
          <a:stretch>
            <a:fillRect/>
          </a:stretch>
        </p:blipFill>
        <p:spPr>
          <a:xfrm>
            <a:off x="683895" y="1628775"/>
            <a:ext cx="7548880" cy="16287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用例识别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12000" contrast="6000"/>
          </a:blip>
          <a:stretch>
            <a:fillRect/>
          </a:stretch>
        </p:blipFill>
        <p:spPr>
          <a:xfrm>
            <a:off x="683895" y="1628775"/>
            <a:ext cx="7548880" cy="1628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3671570"/>
            <a:ext cx="6172200" cy="24244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406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用例识别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12000" contrast="6000"/>
          </a:blip>
          <a:stretch>
            <a:fillRect/>
          </a:stretch>
        </p:blipFill>
        <p:spPr>
          <a:xfrm>
            <a:off x="683895" y="1628775"/>
            <a:ext cx="7548880" cy="1628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5490"/>
          <a:stretch>
            <a:fillRect/>
          </a:stretch>
        </p:blipFill>
        <p:spPr>
          <a:xfrm>
            <a:off x="2700020" y="3068955"/>
            <a:ext cx="4110355" cy="3511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92785"/>
            <a:ext cx="60032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/>
              <a:t>参与者和用例之间的关联</a:t>
            </a:r>
            <a:r>
              <a:rPr lang="zh-CN" altLang="en-US"/>
              <a:t>关系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lum bright="6000" contrast="6000"/>
          </a:blip>
          <a:stretch>
            <a:fillRect/>
          </a:stretch>
        </p:blipFill>
        <p:spPr>
          <a:xfrm>
            <a:off x="683895" y="1214755"/>
            <a:ext cx="7385685" cy="3688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95" y="5013325"/>
            <a:ext cx="5920105" cy="13481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90600" y="1007745"/>
            <a:ext cx="7074535" cy="56902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1505" y="692785"/>
            <a:ext cx="3410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案例</a:t>
            </a:r>
            <a:r>
              <a:rPr lang="en-US" altLang="zh-CN"/>
              <a:t>-</a:t>
            </a:r>
            <a:r>
              <a:rPr lang="zh-CN" altLang="en-US"/>
              <a:t>保险商务系统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zh-CN" altLang="en-US" sz="1400" dirty="0">
                <a:solidFill>
                  <a:srgbClr val="FFFFFF"/>
                </a:solidFill>
                <a:ea typeface="宋体" panose="02010600030101010101" pitchFamily="2" charset="-122"/>
              </a:rPr>
            </a:fld>
            <a:endParaRPr lang="zh-CN" altLang="en-US" sz="14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692785"/>
            <a:ext cx="3410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案例</a:t>
            </a:r>
            <a:r>
              <a:rPr lang="en-US" altLang="zh-CN"/>
              <a:t>-</a:t>
            </a:r>
            <a:r>
              <a:rPr lang="zh-CN" altLang="en-US"/>
              <a:t>保险商务系统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179830"/>
            <a:ext cx="7367905" cy="55460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" y="548640"/>
            <a:ext cx="6512560" cy="60166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lum bright="6000" contrast="6000"/>
          </a:blip>
          <a:stretch>
            <a:fillRect/>
          </a:stretch>
        </p:blipFill>
        <p:spPr>
          <a:xfrm>
            <a:off x="899795" y="392430"/>
            <a:ext cx="6851015" cy="60458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lum bright="6000" contrast="6000"/>
          </a:blip>
          <a:stretch>
            <a:fillRect/>
          </a:stretch>
        </p:blipFill>
        <p:spPr>
          <a:xfrm>
            <a:off x="539750" y="314325"/>
            <a:ext cx="7708265" cy="62287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476885"/>
            <a:ext cx="7571740" cy="614553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476885"/>
            <a:ext cx="7571740" cy="614553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476885"/>
            <a:ext cx="7571740" cy="61455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100355" name="Rectangle 2"/>
          <p:cNvSpPr>
            <a:spLocks noGrp="1"/>
          </p:cNvSpPr>
          <p:nvPr>
            <p:ph type="title"/>
          </p:nvPr>
        </p:nvSpPr>
        <p:spPr>
          <a:xfrm>
            <a:off x="457200" y="122238"/>
            <a:ext cx="6934200" cy="944562"/>
          </a:xfrm>
        </p:spPr>
        <p:txBody>
          <a:bodyPr vert="horz" wrap="square" lIns="91440" tIns="45720" rIns="91440" bIns="45720" anchor="b" anchorCtr="0"/>
          <a:p>
            <a:r>
              <a:rPr lang="zh-CN" altLang="en-US" sz="2600" dirty="0"/>
              <a:t>分层用例分析－教务管理系统最高层用例图</a:t>
            </a:r>
            <a:endParaRPr lang="zh-CN" altLang="en-US" sz="26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4411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分层对教学管理系统进行用例建模：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	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教学管理系统包含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“选修课管理”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“学生成绩管理”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两个主要功能。学生可以查询选修课程信息并登记注册，可以查询各门课程成绩信息；教师则通过系统查询选修课程信息和学生成绩信息；教学管理员管理选修课程信息及学生考试成绩；学校教务系统只接收各学院学生成绩信息，不反馈信息；财务系统接收各学院学生选课信息作为收费依据并反馈信息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101379" name="Rectangle 2"/>
          <p:cNvSpPr>
            <a:spLocks noGrp="1"/>
          </p:cNvSpPr>
          <p:nvPr>
            <p:ph type="title"/>
          </p:nvPr>
        </p:nvSpPr>
        <p:spPr>
          <a:xfrm>
            <a:off x="457200" y="122238"/>
            <a:ext cx="6934200" cy="944562"/>
          </a:xfrm>
        </p:spPr>
        <p:txBody>
          <a:bodyPr vert="horz" wrap="square" lIns="91440" tIns="45720" rIns="91440" bIns="45720" anchor="b" anchorCtr="0"/>
          <a:p>
            <a:r>
              <a:rPr lang="zh-CN" altLang="en-US" sz="2600" dirty="0"/>
              <a:t>分层用例分析－教务管理系统最高层用例图</a:t>
            </a:r>
            <a:endParaRPr lang="zh-CN" altLang="en-US" sz="2600" dirty="0"/>
          </a:p>
        </p:txBody>
      </p:sp>
      <p:pic>
        <p:nvPicPr>
          <p:cNvPr id="101380" name="Picture 5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371600" y="1143000"/>
            <a:ext cx="7391400" cy="5324475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102403" name="Rectangle 2"/>
          <p:cNvSpPr>
            <a:spLocks noGrp="1"/>
          </p:cNvSpPr>
          <p:nvPr>
            <p:ph type="title"/>
          </p:nvPr>
        </p:nvSpPr>
        <p:spPr>
          <a:xfrm>
            <a:off x="457200" y="122238"/>
            <a:ext cx="5334000" cy="792162"/>
          </a:xfrm>
        </p:spPr>
        <p:txBody>
          <a:bodyPr vert="horz" wrap="square" lIns="91440" tIns="45720" rIns="91440" bIns="45720" anchor="b" anchorCtr="0"/>
          <a:p>
            <a:r>
              <a:rPr lang="zh-CN" altLang="en-US" sz="3000" dirty="0"/>
              <a:t>学生成绩管理子系统用例图</a:t>
            </a:r>
            <a:endParaRPr lang="zh-CN" altLang="en-US" sz="3000" dirty="0"/>
          </a:p>
        </p:txBody>
      </p:sp>
      <p:pic>
        <p:nvPicPr>
          <p:cNvPr id="102404" name="Picture 4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609600" y="1066800"/>
            <a:ext cx="8534400" cy="5022850"/>
          </a:xfr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103427" name="Rectang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6400800" cy="715963"/>
          </a:xfrm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选修课管理子系统用例图</a:t>
            </a:r>
            <a:endParaRPr lang="zh-CN" altLang="en-US" dirty="0"/>
          </a:p>
        </p:txBody>
      </p:sp>
      <p:pic>
        <p:nvPicPr>
          <p:cNvPr id="103428" name="Picture 4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609600" y="1150938"/>
            <a:ext cx="8083550" cy="5097462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  <p:sp>
        <p:nvSpPr>
          <p:cNvPr id="104451" name="Rectangle 2"/>
          <p:cNvSpPr>
            <a:spLocks noGrp="1"/>
          </p:cNvSpPr>
          <p:nvPr>
            <p:ph type="title"/>
          </p:nvPr>
        </p:nvSpPr>
        <p:spPr>
          <a:xfrm>
            <a:off x="457200" y="122238"/>
            <a:ext cx="6781800" cy="1020762"/>
          </a:xfrm>
        </p:spPr>
        <p:txBody>
          <a:bodyPr vert="horz" wrap="square" lIns="91440" tIns="45720" rIns="91440" bIns="45720" anchor="b" anchorCtr="0"/>
          <a:p>
            <a:r>
              <a:rPr lang="zh-CN" altLang="en-US" dirty="0"/>
              <a:t>用例之间的包含关系</a:t>
            </a:r>
            <a:endParaRPr lang="zh-CN" altLang="en-US" dirty="0"/>
          </a:p>
        </p:txBody>
      </p:sp>
      <p:pic>
        <p:nvPicPr>
          <p:cNvPr id="104452" name="Picture 6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0" y="1295400"/>
            <a:ext cx="8686800" cy="5008563"/>
          </a:xfr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563,&quot;width&quot;:8160}"/>
</p:tagLst>
</file>

<file path=ppt/tags/tag2.xml><?xml version="1.0" encoding="utf-8"?>
<p:tagLst xmlns:p="http://schemas.openxmlformats.org/presentationml/2006/main">
  <p:tag name="commondata" val="eyJoZGlkIjoiYmY2NzBjNDUzZjAyN2ZkZDE4YTFlYWIyZDBjMWQwODQifQ=="/>
  <p:tag name="KSO_WPP_MARK_KEY" val="7eda8459-a8b8-49da-97a0-7e6e1e4ba124"/>
  <p:tag name="COMMONDATA" val="eyJoZGlkIjoiMWJmYmVhMGQ2YWQwOTc0ZDFkYmVkZTE0NzFkNThlYz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988</Words>
  <Application>WPS 演示</Application>
  <PresentationFormat>全屏显示(4:3)</PresentationFormat>
  <Paragraphs>188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Arial</vt:lpstr>
      <vt:lpstr>宋体</vt:lpstr>
      <vt:lpstr>Wingdings</vt:lpstr>
      <vt:lpstr>Times New Roman</vt:lpstr>
      <vt:lpstr>Wingdings 2</vt:lpstr>
      <vt:lpstr>Wingdings</vt:lpstr>
      <vt:lpstr>Wingdings</vt:lpstr>
      <vt:lpstr>楷体</vt:lpstr>
      <vt:lpstr>Century Schoolbook</vt:lpstr>
      <vt:lpstr>微软雅黑</vt:lpstr>
      <vt:lpstr>Arial Unicode MS</vt:lpstr>
      <vt:lpstr>华文楷体</vt:lpstr>
      <vt:lpstr>凸显</vt:lpstr>
      <vt:lpstr>1_凸显</vt:lpstr>
      <vt:lpstr>软件系统分析与设计 Software System Analysis and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分层用例分析－教务管理系统最高层用例图</vt:lpstr>
      <vt:lpstr>分层用例分析－教务管理系统最高层用例图</vt:lpstr>
      <vt:lpstr>学生成绩管理子系统用例图</vt:lpstr>
      <vt:lpstr>选修课管理子系统用例图</vt:lpstr>
      <vt:lpstr>用例之间的包含关系</vt:lpstr>
    </vt:vector>
  </TitlesOfParts>
  <Company>elite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绪论 1.1  程序设计与程序设计语言</dc:title>
  <dc:creator>shasha</dc:creator>
  <cp:lastModifiedBy>65187</cp:lastModifiedBy>
  <cp:revision>720</cp:revision>
  <cp:lastPrinted>2023-10-20T14:51:00Z</cp:lastPrinted>
  <dcterms:created xsi:type="dcterms:W3CDTF">2023-10-20T14:51:00Z</dcterms:created>
  <dcterms:modified xsi:type="dcterms:W3CDTF">2025-04-15T08:45:03Z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49ED6EA7B28F469093D013436ACB47DB_12</vt:lpwstr>
  </property>
  <property fmtid="{D5CDD505-2E9C-101B-9397-08002B2CF9AE}" pid="3" name="KSOProductBuildVer">
    <vt:lpwstr>2052-11.1.0.12165</vt:lpwstr>
  </property>
</Properties>
</file>