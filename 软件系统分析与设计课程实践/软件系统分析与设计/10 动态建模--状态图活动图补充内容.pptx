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296" r:id="rId3"/>
    <p:sldId id="356" r:id="rId5"/>
    <p:sldId id="742" r:id="rId6"/>
    <p:sldId id="744" r:id="rId7"/>
    <p:sldId id="337" r:id="rId8"/>
    <p:sldId id="743" r:id="rId9"/>
    <p:sldId id="745" r:id="rId10"/>
    <p:sldId id="360" r:id="rId11"/>
    <p:sldId id="772" r:id="rId12"/>
    <p:sldId id="746" r:id="rId13"/>
    <p:sldId id="747" r:id="rId14"/>
    <p:sldId id="748" r:id="rId15"/>
    <p:sldId id="773" r:id="rId16"/>
    <p:sldId id="749" r:id="rId17"/>
    <p:sldId id="751" r:id="rId18"/>
    <p:sldId id="752" r:id="rId19"/>
    <p:sldId id="753" r:id="rId20"/>
    <p:sldId id="754" r:id="rId21"/>
    <p:sldId id="755" r:id="rId22"/>
    <p:sldId id="756" r:id="rId23"/>
    <p:sldId id="757" r:id="rId24"/>
    <p:sldId id="758" r:id="rId25"/>
    <p:sldId id="759" r:id="rId26"/>
    <p:sldId id="760" r:id="rId27"/>
    <p:sldId id="761" r:id="rId28"/>
  </p:sldIdLst>
  <p:sldSz cx="9144000" cy="6858000" type="screen4x3"/>
  <p:notesSz cx="6858000" cy="9144000"/>
  <p:custDataLst>
    <p:tags r:id="rId33"/>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66"/>
    <a:srgbClr val="3333CC"/>
    <a:srgbClr val="FF0000"/>
    <a:srgbClr val="A8C9EA"/>
    <a:srgbClr val="FFFFCC"/>
    <a:srgbClr val="F9DF9F"/>
    <a:srgbClr val="FFFF66"/>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6"/>
    <p:restoredTop sz="70921" autoAdjust="0"/>
  </p:normalViewPr>
  <p:slideViewPr>
    <p:cSldViewPr showGuides="1">
      <p:cViewPr varScale="1">
        <p:scale>
          <a:sx n="53" d="100"/>
          <a:sy n="53" d="100"/>
        </p:scale>
        <p:origin x="1614" y="30"/>
      </p:cViewPr>
      <p:guideLst>
        <p:guide orient="horz" pos="2146"/>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80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78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dirty="0">
              <a:latin typeface="Times New Roman" panose="02020603050405020304" pitchFamily="18" charset="0"/>
              <a:cs typeface="Times New Roman" panose="02020603050405020304" pitchFamily="18" charset="0"/>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normAutofit/>
          </a:bodyPr>
          <a:lstStyle>
            <a:lvl1pPr>
              <a:defRPr sz="2400" b="1">
                <a:latin typeface="Times New Roman" panose="02020603050405020304" pitchFamily="18" charset="0"/>
                <a:cs typeface="Times New Roman" panose="02020603050405020304" pitchFamily="18" charset="0"/>
              </a:defRPr>
            </a:lvl1pPr>
            <a:lvl2pPr>
              <a:defRPr sz="2400" b="1">
                <a:latin typeface="Times New Roman" panose="02020603050405020304" pitchFamily="18" charset="0"/>
                <a:cs typeface="Times New Roman" panose="02020603050405020304" pitchFamily="18" charset="0"/>
              </a:defRPr>
            </a:lvl2pPr>
            <a:lvl3pPr>
              <a:defRPr sz="2400" b="1">
                <a:latin typeface="Times New Roman" panose="02020603050405020304" pitchFamily="18" charset="0"/>
                <a:cs typeface="Times New Roman" panose="02020603050405020304" pitchFamily="18" charset="0"/>
              </a:defRPr>
            </a:lvl3pPr>
            <a:lvl4pPr>
              <a:defRPr sz="2400" b="1">
                <a:latin typeface="Times New Roman" panose="02020603050405020304" pitchFamily="18" charset="0"/>
                <a:cs typeface="Times New Roman" panose="02020603050405020304" pitchFamily="18" charset="0"/>
              </a:defRPr>
            </a:lvl4pPr>
            <a:lvl5pPr>
              <a:defRPr sz="2400" b="1">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xfrm>
            <a:off x="1325563" y="5013325"/>
            <a:ext cx="609600" cy="517525"/>
          </a:xfrm>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chemeClr val="bg1"/>
                </a:solidFill>
                <a:cs typeface="Times New Roman" panose="02020603050405020304" pitchFamily="18" charset="0"/>
              </a:rPr>
            </a:fld>
            <a:endParaRPr lang="zh-CN" altLang="en-US" sz="1400" b="1" dirty="0">
              <a:solidFill>
                <a:schemeClr val="bg1"/>
              </a:solidFill>
              <a:ea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动态图的</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种模型图的各自适用场景：</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时序图突出执行的时序，能更方便地看出事件发生的次序。 （</a:t>
            </a:r>
            <a:r>
              <a:rPr lang="zh-CN" altLang="en-US" dirty="0">
                <a:solidFill>
                  <a:srgbClr val="FF0000"/>
                </a:solidFill>
              </a:rPr>
              <a:t>多个对象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lang="zh-CN" altLang="en-US" dirty="0">
                <a:solidFill>
                  <a:srgbClr val="FF0000"/>
                </a:solidFill>
              </a:rPr>
              <a:t>单个用例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协作图的布局方法能更清楚地表示出对象之间静态的连接关系。（</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lang="zh-CN" altLang="en-US" dirty="0">
                <a:solidFill>
                  <a:srgbClr val="FF0000"/>
                </a:solidFill>
              </a:rPr>
              <a:t>单个用例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时序图、协作图根据需要两者择其一。</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startAt="3"/>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如果想要描述跨越</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单个对象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的行为，应当使用状态图。</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startAt="3"/>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如果想要描述跨越</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或多个线程的</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的复杂行为，则需考虑使用活动图。</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6554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8371" name="内容占位符 2"/>
          <p:cNvSpPr>
            <a:spLocks noGrp="1"/>
          </p:cNvSpPr>
          <p:nvPr>
            <p:ph sz="quarter" idx="1"/>
          </p:nvPr>
        </p:nvSpPr>
        <p:spPr/>
        <p:txBody>
          <a:bodyPr vert="horz" wrap="square" lIns="91440" tIns="45720" rIns="91440" bIns="45720" anchor="t" anchorCtr="0"/>
          <a:lstStyle/>
          <a:p>
            <a:pPr marL="367030" lvl="1" indent="0" eaLnBrk="1" hangingPunct="1">
              <a:buSzPct val="80000"/>
              <a:buNone/>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带对象流的</a:t>
            </a: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活动图</a:t>
            </a:r>
            <a:endPar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对象流是动作状态或者活动状态与对象之间的依赖关系，表示动作使用对象或动作对对象的影响。</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用活动图描述某个对象时，可以把涉及到的对象放置在活动图中并用一个依赖将其连接到进行创建、修改和撤销的动作状态或者活动状态上，对象的这种使用方法就构成了对象流。</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37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915285" y="4293235"/>
            <a:ext cx="2962275" cy="22536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8371" name="内容占位符 2"/>
          <p:cNvSpPr>
            <a:spLocks noGrp="1"/>
          </p:cNvSpPr>
          <p:nvPr>
            <p:ph sz="quarter" idx="1"/>
          </p:nvPr>
        </p:nvSpPr>
        <p:spPr>
          <a:xfrm>
            <a:off x="457200" y="1600200"/>
            <a:ext cx="8011160" cy="4873625"/>
          </a:xfrm>
        </p:spPr>
        <p:txBody>
          <a:bodyPr vert="horz" wrap="square" lIns="91440" tIns="45720" rIns="91440" bIns="45720" anchor="t" anchorCtr="0">
            <a:normAutofit/>
          </a:bodyPr>
          <a:lstStyle/>
          <a:p>
            <a:pPr marL="367030" lvl="1" indent="0" eaLnBrk="1" hangingPunct="1">
              <a:buSzPct val="80000"/>
              <a:buNone/>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带对象流的</a:t>
            </a: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活动图</a:t>
            </a:r>
            <a:endPar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对象流中的对象有以下特点：</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(1)一个对象可以由多个动作操作。</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(2)一个动作输出的对象可以作为另一个动作输入的对象。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(3)在活动图中，同一个对象可以多次出现，它的每一次出现表面该对象正处于对象生存期的不同时间点。</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marL="367030" lvl="1" indent="0" eaLnBrk="1" hangingPunct="1">
              <a:buSzPct val="80000"/>
              <a:buNone/>
            </a:pP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marL="367030" lvl="1" indent="0" eaLnBrk="1" hangingPunct="1">
              <a:buSzPct val="80000"/>
              <a:buNone/>
            </a:pP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37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9395"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4" name="内容占位符 3"/>
          <p:cNvPicPr>
            <a:picLocks noChangeAspect="1"/>
          </p:cNvPicPr>
          <p:nvPr>
            <p:ph sz="quarter" idx="1"/>
            <p:custDataLst>
              <p:tags r:id="rId1"/>
            </p:custDataLst>
          </p:nvPr>
        </p:nvPicPr>
        <p:blipFill>
          <a:blip r:embed="rId2"/>
          <a:stretch>
            <a:fillRect/>
          </a:stretch>
        </p:blipFill>
        <p:spPr>
          <a:xfrm>
            <a:off x="2843530" y="332740"/>
            <a:ext cx="5574030" cy="604266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9395"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9396" name="Picture 6"/>
          <p:cNvPicPr>
            <a:picLocks noGrp="1" noChangeAspect="1"/>
          </p:cNvPicPr>
          <p:nvPr>
            <p:ph sz="quarter" idx="1"/>
          </p:nvPr>
        </p:nvPicPr>
        <p:blipFill>
          <a:blip r:embed="rId1"/>
          <a:srcRect/>
          <a:stretch>
            <a:fillRect/>
          </a:stretch>
        </p:blipFill>
        <p:spPr>
          <a:xfrm>
            <a:off x="1187450" y="1412875"/>
            <a:ext cx="6637338" cy="5118100"/>
          </a:xfr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1403350" y="260350"/>
            <a:ext cx="6501130" cy="642937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实例</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客户下单</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19" name="内容占位符 2"/>
          <p:cNvSpPr>
            <a:spLocks noGrp="1"/>
          </p:cNvSpPr>
          <p:nvPr>
            <p:ph sz="quarter" idx="1"/>
          </p:nvPr>
        </p:nvSpPr>
        <p:spPr/>
        <p:txBody>
          <a:bodyPr vert="horz" wrap="square" lIns="91440" tIns="45720" rIns="91440" bIns="45720" anchor="t" anchorCtr="0"/>
          <a:lstStyle/>
          <a:p>
            <a:pPr>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用户下单后，生成送货单，同时让客户选择支付方式。若支付成功后，将收款</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单和送货</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单交到供货商，供货商送货</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并修改订单状态，如果送货完成则订单完成否则返回供货商。若支付超时、或支付失败，则结束。</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考虑使用泳道怎么表示？</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实例</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客户下单</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19" name="内容占位符 2"/>
          <p:cNvSpPr>
            <a:spLocks noGrp="1"/>
          </p:cNvSpPr>
          <p:nvPr>
            <p:ph sz="quarter" idx="1"/>
          </p:nvPr>
        </p:nvSpPr>
        <p:spPr/>
        <p:txBody>
          <a:bodyPr vert="horz" wrap="square" lIns="91440" tIns="45720" rIns="91440" bIns="45720" anchor="t" anchorCtr="0"/>
          <a:lstStyle/>
          <a:p>
            <a:pPr>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用户下单后，生成送货单，同时让</a:t>
            </a:r>
            <a:r>
              <a:rPr lang="zh-CN" altLang="en-US" kern="1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客户</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选择支付方式。若支付成功后，将收款</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单和送货单交到</a:t>
            </a:r>
            <a:r>
              <a:rPr lang="zh-CN" altLang="en-US" kern="1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供货商</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，供货商送货</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并修改订单状态，如果送货完成则订单完成否则返回供货商。若支付超时、或支付失败，则结束。</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考虑使用泳道怎么表示？</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实例</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客户下单</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102" name="图片 101"/>
          <p:cNvPicPr/>
          <p:nvPr/>
        </p:nvPicPr>
        <p:blipFill>
          <a:blip r:embed="rId1"/>
          <a:stretch>
            <a:fillRect/>
          </a:stretch>
        </p:blipFill>
        <p:spPr>
          <a:xfrm>
            <a:off x="1331595" y="1566545"/>
            <a:ext cx="5999480" cy="468820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实例</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客户下单</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103" name="图片 102"/>
          <p:cNvPicPr/>
          <p:nvPr/>
        </p:nvPicPr>
        <p:blipFill>
          <a:blip r:embed="rId1"/>
          <a:stretch>
            <a:fillRect/>
          </a:stretch>
        </p:blipFill>
        <p:spPr>
          <a:xfrm>
            <a:off x="971550" y="1532255"/>
            <a:ext cx="7084695" cy="503364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实例</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付费体育场馆</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预定活动图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3" name="文本框 2"/>
          <p:cNvSpPr txBox="1"/>
          <p:nvPr/>
        </p:nvSpPr>
        <p:spPr>
          <a:xfrm>
            <a:off x="467995" y="1700530"/>
            <a:ext cx="7993380" cy="1938020"/>
          </a:xfrm>
          <a:prstGeom prst="rect">
            <a:avLst/>
          </a:prstGeom>
          <a:noFill/>
        </p:spPr>
        <p:txBody>
          <a:bodyPr wrap="square" rtlCol="0">
            <a:spAutoFit/>
          </a:bodyPr>
          <a:p>
            <a:pPr algn="just"/>
            <a:r>
              <a:rPr lang="zh-CN" altLang="en-US" sz="2400"/>
              <a:t>用户进行场馆预约，选择时间和场馆类别。预约系统生成当前空闲场馆列表。用户查看场馆信息进行预约，订单系统审核预约信息，生成订单，同时用户选择支付费用方式。用户支付成功后，预约完成。</a:t>
            </a:r>
            <a:endParaRPr lang="zh-CN" altLang="en-US" sz="2400"/>
          </a:p>
          <a:p>
            <a:pPr algn="just"/>
            <a:r>
              <a:rPr lang="zh-CN" altLang="en-US" sz="2400"/>
              <a:t>考虑使用泳道</a:t>
            </a:r>
            <a:r>
              <a:rPr lang="zh-CN" altLang="en-US" sz="2400"/>
              <a:t>画法？</a:t>
            </a:r>
            <a:endParaRPr lang="zh-CN"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实例</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付费体育场馆</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预定活动图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3" name="文本框 2"/>
          <p:cNvSpPr txBox="1"/>
          <p:nvPr/>
        </p:nvSpPr>
        <p:spPr>
          <a:xfrm>
            <a:off x="467995" y="1700530"/>
            <a:ext cx="7993380" cy="1938020"/>
          </a:xfrm>
          <a:prstGeom prst="rect">
            <a:avLst/>
          </a:prstGeom>
          <a:noFill/>
        </p:spPr>
        <p:txBody>
          <a:bodyPr wrap="square" rtlCol="0">
            <a:spAutoFit/>
          </a:bodyPr>
          <a:p>
            <a:pPr algn="just"/>
            <a:r>
              <a:rPr lang="zh-CN" altLang="en-US" sz="2400"/>
              <a:t>用户进行场馆预约，选择时间和场馆类别。</a:t>
            </a:r>
            <a:r>
              <a:rPr lang="zh-CN" altLang="en-US" sz="2400">
                <a:highlight>
                  <a:srgbClr val="FFFF00"/>
                </a:highlight>
              </a:rPr>
              <a:t>预约系统</a:t>
            </a:r>
            <a:r>
              <a:rPr lang="zh-CN" altLang="en-US" sz="2400"/>
              <a:t>生成当前空闲场馆列表。</a:t>
            </a:r>
            <a:r>
              <a:rPr lang="zh-CN" altLang="en-US" sz="2400">
                <a:highlight>
                  <a:srgbClr val="FFFF00"/>
                </a:highlight>
              </a:rPr>
              <a:t>用户</a:t>
            </a:r>
            <a:r>
              <a:rPr lang="zh-CN" altLang="en-US" sz="2400"/>
              <a:t>查看场馆信息进行预约，</a:t>
            </a:r>
            <a:r>
              <a:rPr lang="zh-CN" altLang="en-US" sz="2400">
                <a:highlight>
                  <a:srgbClr val="FFFF00"/>
                </a:highlight>
              </a:rPr>
              <a:t>订单系统</a:t>
            </a:r>
            <a:r>
              <a:rPr lang="zh-CN" altLang="en-US" sz="2400"/>
              <a:t>审核预约信息，生成订单，同时用户选择支付费用方式。用户支付成功后，预约完成。</a:t>
            </a:r>
            <a:endParaRPr lang="zh-CN" altLang="en-US" sz="2400"/>
          </a:p>
          <a:p>
            <a:pPr algn="just"/>
            <a:r>
              <a:rPr lang="zh-CN" altLang="en-US" sz="2400"/>
              <a:t>考虑使用泳道</a:t>
            </a:r>
            <a:r>
              <a:rPr lang="zh-CN" altLang="en-US" sz="2400"/>
              <a:t>画法？</a:t>
            </a:r>
            <a:endParaRPr lang="zh-CN"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实例</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付费体育场馆</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预定活动图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104" name="图片 103"/>
          <p:cNvPicPr/>
          <p:nvPr/>
        </p:nvPicPr>
        <p:blipFill>
          <a:blip r:embed="rId1"/>
          <a:stretch>
            <a:fillRect/>
          </a:stretch>
        </p:blipFill>
        <p:spPr>
          <a:xfrm>
            <a:off x="2339975" y="116205"/>
            <a:ext cx="5154295" cy="669163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泳道</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注意事项</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3" name="文本框 2"/>
          <p:cNvSpPr txBox="1"/>
          <p:nvPr/>
        </p:nvSpPr>
        <p:spPr>
          <a:xfrm>
            <a:off x="467995" y="1772920"/>
            <a:ext cx="7784465" cy="3415030"/>
          </a:xfrm>
          <a:prstGeom prst="rect">
            <a:avLst/>
          </a:prstGeom>
          <a:noFill/>
        </p:spPr>
        <p:txBody>
          <a:bodyPr wrap="square" rtlCol="0" anchor="t">
            <a:spAutoFit/>
          </a:bodyPr>
          <a:p>
            <a:pPr marL="342900" indent="-342900" algn="just">
              <a:buFont typeface="Arial" panose="020B0604020202020204" pitchFamily="34" charset="0"/>
              <a:buChar char="•"/>
            </a:pPr>
            <a:r>
              <a:rPr lang="zh-CN" altLang="en-US" sz="2400"/>
              <a:t>每个活动只能明确地属于一个泳道，</a:t>
            </a:r>
            <a:r>
              <a:rPr lang="zh-CN" altLang="en-US" sz="2400">
                <a:solidFill>
                  <a:srgbClr val="FF0000"/>
                </a:solidFill>
              </a:rPr>
              <a:t>活动不允许跨越泳道</a:t>
            </a:r>
            <a:r>
              <a:rPr lang="zh-CN" altLang="en-US" sz="2400"/>
              <a:t>。</a:t>
            </a:r>
            <a:endParaRPr lang="zh-CN" altLang="en-US" sz="2400"/>
          </a:p>
          <a:p>
            <a:pPr algn="just"/>
            <a:endParaRPr lang="zh-CN" altLang="en-US" sz="2400"/>
          </a:p>
          <a:p>
            <a:pPr marL="342900" indent="-342900" algn="just">
              <a:buFont typeface="Arial" panose="020B0604020202020204" pitchFamily="34" charset="0"/>
              <a:buChar char="•"/>
            </a:pPr>
            <a:r>
              <a:rPr lang="zh-CN" altLang="en-US" sz="2400"/>
              <a:t>只有转换、动作流、 和对象流,能够穿越泳道的分隔线。</a:t>
            </a:r>
            <a:endParaRPr lang="zh-CN" altLang="en-US" sz="2400"/>
          </a:p>
          <a:p>
            <a:pPr algn="just"/>
            <a:endParaRPr lang="zh-CN" altLang="en-US" sz="2400"/>
          </a:p>
          <a:p>
            <a:pPr algn="just"/>
            <a:endParaRPr lang="zh-CN" altLang="en-US" sz="2400"/>
          </a:p>
          <a:p>
            <a:pPr algn="just"/>
            <a:r>
              <a:rPr lang="zh-CN" altLang="en-US" sz="2400"/>
              <a:t>表示：</a:t>
            </a:r>
            <a:endParaRPr lang="zh-CN" altLang="en-US" sz="2400"/>
          </a:p>
          <a:p>
            <a:pPr algn="just"/>
            <a:r>
              <a:rPr lang="zh-CN" altLang="en-US" sz="2400"/>
              <a:t>每个泳道通过垂直或水平实线与它的邻居泳道分隔，泳道上方或左侧是它的名称。</a:t>
            </a:r>
            <a:endParaRPr lang="zh-CN"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活动图绘制</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步骤</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3" name="文本框 2"/>
          <p:cNvSpPr txBox="1"/>
          <p:nvPr/>
        </p:nvSpPr>
        <p:spPr>
          <a:xfrm>
            <a:off x="467995" y="1772920"/>
            <a:ext cx="7784465" cy="3046095"/>
          </a:xfrm>
          <a:prstGeom prst="rect">
            <a:avLst/>
          </a:prstGeom>
          <a:noFill/>
        </p:spPr>
        <p:txBody>
          <a:bodyPr wrap="square" rtlCol="0" anchor="t">
            <a:spAutoFit/>
          </a:bodyPr>
          <a:p>
            <a:pPr marL="342900" indent="-342900" algn="just">
              <a:buFont typeface="Arial" panose="020B0604020202020204" pitchFamily="34" charset="0"/>
              <a:buChar char="•"/>
            </a:pPr>
            <a:r>
              <a:rPr lang="zh-CN" altLang="en-US" sz="2400"/>
              <a:t>创建活动图</a:t>
            </a:r>
            <a:endParaRPr lang="zh-CN" altLang="en-US" sz="2400"/>
          </a:p>
          <a:p>
            <a:pPr marL="342900" indent="-342900" algn="just">
              <a:buFont typeface="Arial" panose="020B0604020202020204" pitchFamily="34" charset="0"/>
              <a:buChar char="•"/>
            </a:pPr>
            <a:r>
              <a:rPr lang="zh-CN" altLang="en-US" sz="2400"/>
              <a:t>创建初始和终止结点</a:t>
            </a:r>
            <a:endParaRPr lang="zh-CN" altLang="en-US" sz="2400"/>
          </a:p>
          <a:p>
            <a:pPr marL="342900" indent="-342900" algn="just">
              <a:buFont typeface="Arial" panose="020B0604020202020204" pitchFamily="34" charset="0"/>
              <a:buChar char="•"/>
            </a:pPr>
            <a:r>
              <a:rPr lang="zh-CN" altLang="en-US" sz="2400"/>
              <a:t>创建动作和活动结点</a:t>
            </a:r>
            <a:endParaRPr lang="zh-CN" altLang="en-US" sz="2400"/>
          </a:p>
          <a:p>
            <a:pPr marL="342900" indent="-342900" algn="just">
              <a:buFont typeface="Arial" panose="020B0604020202020204" pitchFamily="34" charset="0"/>
              <a:buChar char="•"/>
            </a:pPr>
            <a:r>
              <a:rPr lang="zh-CN" altLang="en-US" sz="2400"/>
              <a:t>创建控制流</a:t>
            </a:r>
            <a:endParaRPr lang="zh-CN" altLang="en-US" sz="2400"/>
          </a:p>
          <a:p>
            <a:pPr marL="342900" indent="-342900" algn="just">
              <a:buFont typeface="Arial" panose="020B0604020202020204" pitchFamily="34" charset="0"/>
              <a:buChar char="•"/>
            </a:pPr>
            <a:r>
              <a:rPr lang="zh-CN" altLang="en-US" sz="2400"/>
              <a:t>创建分叉与汇合</a:t>
            </a:r>
            <a:endParaRPr lang="zh-CN" altLang="en-US" sz="2400"/>
          </a:p>
          <a:p>
            <a:pPr marL="342900" indent="-342900" algn="just">
              <a:buFont typeface="Arial" panose="020B0604020202020204" pitchFamily="34" charset="0"/>
              <a:buChar char="•"/>
            </a:pPr>
            <a:r>
              <a:rPr lang="zh-CN" altLang="en-US" sz="2400"/>
              <a:t>创建判定与合并</a:t>
            </a:r>
            <a:endParaRPr lang="zh-CN" altLang="en-US" sz="2400"/>
          </a:p>
          <a:p>
            <a:pPr marL="342900" indent="-342900" algn="just">
              <a:buFont typeface="Arial" panose="020B0604020202020204" pitchFamily="34" charset="0"/>
              <a:buChar char="•"/>
            </a:pPr>
            <a:r>
              <a:rPr lang="zh-CN" altLang="en-US" sz="2400"/>
              <a:t>创建泳道</a:t>
            </a:r>
            <a:endParaRPr lang="zh-CN" altLang="en-US" sz="2400"/>
          </a:p>
          <a:p>
            <a:pPr marL="342900" indent="-342900" algn="just">
              <a:buFont typeface="Arial" panose="020B0604020202020204" pitchFamily="34" charset="0"/>
              <a:buChar char="•"/>
            </a:pPr>
            <a:r>
              <a:rPr lang="zh-CN" altLang="en-US" sz="2400"/>
              <a:t>创建对象与对象流</a:t>
            </a:r>
            <a:endParaRPr lang="zh-CN"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活动图绘制</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步骤</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457200" y="1417955"/>
            <a:ext cx="7865745" cy="2245360"/>
          </a:xfrm>
          <a:prstGeom prst="rect">
            <a:avLst/>
          </a:prstGeom>
          <a:noFill/>
        </p:spPr>
        <p:txBody>
          <a:bodyPr wrap="square" rtlCol="0" anchor="t">
            <a:spAutoFit/>
          </a:bodyPr>
          <a:p>
            <a:r>
              <a:rPr lang="zh-CN" altLang="en-US" b="1"/>
              <a:t>1. 标识活动图的用例</a:t>
            </a:r>
            <a:endParaRPr lang="zh-CN" altLang="en-US" b="1"/>
          </a:p>
          <a:p>
            <a:r>
              <a:rPr lang="zh-CN" altLang="en-US"/>
              <a:t>对于“教师修改学生信息”来说，其参与者是教师，教师在修改学生信息的活动中，涉及3个用例：</a:t>
            </a:r>
            <a:endParaRPr lang="zh-CN" altLang="en-US"/>
          </a:p>
          <a:p>
            <a:endParaRPr lang="zh-CN" altLang="en-US"/>
          </a:p>
          <a:p>
            <a:endParaRPr lang="zh-CN" altLang="en-US"/>
          </a:p>
        </p:txBody>
      </p:sp>
      <p:pic>
        <p:nvPicPr>
          <p:cNvPr id="105" name="图片 104"/>
          <p:cNvPicPr/>
          <p:nvPr/>
        </p:nvPicPr>
        <p:blipFill>
          <a:blip r:embed="rId1"/>
          <a:stretch>
            <a:fillRect/>
          </a:stretch>
        </p:blipFill>
        <p:spPr>
          <a:xfrm>
            <a:off x="2555875" y="2858770"/>
            <a:ext cx="3402330" cy="339598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活动图绘制</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步骤</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457200" y="1417955"/>
            <a:ext cx="7865745" cy="3538220"/>
          </a:xfrm>
          <a:prstGeom prst="rect">
            <a:avLst/>
          </a:prstGeom>
          <a:noFill/>
        </p:spPr>
        <p:txBody>
          <a:bodyPr wrap="square" rtlCol="0" anchor="t">
            <a:spAutoFit/>
          </a:bodyPr>
          <a:p>
            <a:r>
              <a:rPr lang="zh-CN" altLang="en-US" b="1"/>
              <a:t>2. 建模用例的路径</a:t>
            </a:r>
            <a:endParaRPr lang="zh-CN" altLang="en-US" b="1"/>
          </a:p>
          <a:p>
            <a:r>
              <a:rPr lang="zh-CN" altLang="en-US"/>
              <a:t>在开始创建用例的活动图时，往往先建立一条明显的路径执行工作流，然后从该路径进行扩展。</a:t>
            </a:r>
            <a:endParaRPr lang="zh-CN" altLang="en-US"/>
          </a:p>
          <a:p>
            <a:r>
              <a:rPr lang="zh-CN" altLang="en-US"/>
              <a:t>注意事项：</a:t>
            </a:r>
            <a:endParaRPr lang="zh-CN" altLang="en-US"/>
          </a:p>
          <a:p>
            <a:pPr marL="457200" indent="-457200">
              <a:buFont typeface="Arial" panose="020B0604020202020204" pitchFamily="34" charset="0"/>
              <a:buChar char="•"/>
            </a:pPr>
            <a:r>
              <a:rPr lang="zh-CN" altLang="en-US"/>
              <a:t>识别出工作流的边界(初始、终止);</a:t>
            </a:r>
            <a:endParaRPr lang="zh-CN" altLang="en-US"/>
          </a:p>
          <a:p>
            <a:pPr marL="457200" indent="-457200">
              <a:buFont typeface="Arial" panose="020B0604020202020204" pitchFamily="34" charset="0"/>
              <a:buChar char="•"/>
            </a:pPr>
            <a:r>
              <a:rPr lang="zh-CN" altLang="en-US"/>
              <a:t>识别出工作流中有意义的对象;</a:t>
            </a:r>
            <a:endParaRPr lang="zh-CN" altLang="en-US"/>
          </a:p>
          <a:p>
            <a:pPr marL="457200" indent="-457200">
              <a:buFont typeface="Arial" panose="020B0604020202020204" pitchFamily="34" charset="0"/>
              <a:buChar char="•"/>
            </a:pPr>
            <a:r>
              <a:rPr lang="zh-CN" altLang="en-US"/>
              <a:t>识别出各种活动之间的转换;</a:t>
            </a:r>
            <a:endParaRPr lang="zh-CN" altLang="en-US"/>
          </a:p>
          <a:p>
            <a:pPr marL="457200" indent="-457200">
              <a:buFont typeface="Arial" panose="020B0604020202020204" pitchFamily="34" charset="0"/>
              <a:buChar char="•"/>
            </a:pPr>
            <a:r>
              <a:rPr lang="zh-CN" altLang="en-US"/>
              <a:t>考虑判定与合并、分叉与汇合的情况。</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活动图绘制</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步骤</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457200" y="1417955"/>
            <a:ext cx="3732530" cy="3107690"/>
          </a:xfrm>
          <a:prstGeom prst="rect">
            <a:avLst/>
          </a:prstGeom>
          <a:noFill/>
        </p:spPr>
        <p:txBody>
          <a:bodyPr wrap="square" rtlCol="0" anchor="t">
            <a:spAutoFit/>
          </a:bodyPr>
          <a:p>
            <a:r>
              <a:rPr lang="zh-CN" altLang="en-US" b="1"/>
              <a:t>2. 建模用例的路径</a:t>
            </a:r>
            <a:endParaRPr lang="zh-CN" altLang="en-US" b="1"/>
          </a:p>
          <a:p>
            <a:r>
              <a:rPr lang="zh-CN" altLang="en-US"/>
              <a:t>在开始创建用例的活动图时，往往先建立一条明显的路径执行工作流，然后从该路径进行扩展。</a:t>
            </a:r>
            <a:endParaRPr lang="zh-CN" altLang="en-US"/>
          </a:p>
          <a:p>
            <a:endParaRPr lang="zh-CN" altLang="en-US"/>
          </a:p>
        </p:txBody>
      </p:sp>
      <p:pic>
        <p:nvPicPr>
          <p:cNvPr id="106" name="图片 105"/>
          <p:cNvPicPr/>
          <p:nvPr/>
        </p:nvPicPr>
        <p:blipFill>
          <a:blip r:embed="rId1"/>
          <a:stretch>
            <a:fillRect/>
          </a:stretch>
        </p:blipFill>
        <p:spPr>
          <a:xfrm>
            <a:off x="4356100" y="200660"/>
            <a:ext cx="3766185" cy="640842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活动图绘制</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步骤</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457200" y="1417955"/>
            <a:ext cx="8235950" cy="3538220"/>
          </a:xfrm>
          <a:prstGeom prst="rect">
            <a:avLst/>
          </a:prstGeom>
          <a:noFill/>
        </p:spPr>
        <p:txBody>
          <a:bodyPr wrap="square" rtlCol="0" anchor="t">
            <a:spAutoFit/>
          </a:bodyPr>
          <a:p>
            <a:r>
              <a:rPr lang="zh-CN" altLang="en-US" b="1"/>
              <a:t>3. 绘制完整的活动图</a:t>
            </a:r>
            <a:endParaRPr lang="zh-CN" altLang="en-US" b="1"/>
          </a:p>
          <a:p>
            <a:r>
              <a:rPr lang="zh-CN" altLang="en-US"/>
              <a:t>对之前建立的工作流路径进行扩展，详细绘制活动图。</a:t>
            </a:r>
            <a:endParaRPr lang="zh-CN" altLang="en-US"/>
          </a:p>
          <a:p>
            <a:r>
              <a:rPr lang="zh-CN" altLang="en-US"/>
              <a:t>注意事项：</a:t>
            </a:r>
            <a:endParaRPr lang="zh-CN" altLang="en-US"/>
          </a:p>
          <a:p>
            <a:pPr marL="457200" indent="-457200">
              <a:buFont typeface="Arial" panose="020B0604020202020204" pitchFamily="34" charset="0"/>
              <a:buChar char="•"/>
            </a:pPr>
            <a:r>
              <a:rPr lang="zh-CN" altLang="en-US"/>
              <a:t>考虑用例其他可能的工作流情况(如错误);</a:t>
            </a:r>
            <a:endParaRPr lang="zh-CN" altLang="en-US"/>
          </a:p>
          <a:p>
            <a:pPr marL="457200" indent="-457200">
              <a:buFont typeface="Arial" panose="020B0604020202020204" pitchFamily="34" charset="0"/>
              <a:buChar char="•"/>
            </a:pPr>
            <a:r>
              <a:rPr lang="zh-CN" altLang="en-US"/>
              <a:t>使用泳道细化活动图;</a:t>
            </a:r>
            <a:endParaRPr lang="zh-CN" altLang="en-US"/>
          </a:p>
          <a:p>
            <a:pPr marL="457200" indent="-457200">
              <a:buFont typeface="Arial" panose="020B0604020202020204" pitchFamily="34" charset="0"/>
              <a:buChar char="•"/>
            </a:pPr>
            <a:r>
              <a:rPr lang="zh-CN" altLang="en-US"/>
              <a:t>按时间顺序自上而下排列泳道内的动作或活动;</a:t>
            </a:r>
            <a:endParaRPr lang="zh-CN" altLang="en-US"/>
          </a:p>
          <a:p>
            <a:pPr marL="457200" indent="-457200">
              <a:buFont typeface="Arial" panose="020B0604020202020204" pitchFamily="34" charset="0"/>
              <a:buChar char="•"/>
            </a:pPr>
            <a:r>
              <a:rPr lang="zh-CN" altLang="en-US"/>
              <a:t>使用并发时，不要漏掉任何分支。</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活动图绘制</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步骤</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457200" y="1417955"/>
            <a:ext cx="2524125" cy="3107690"/>
          </a:xfrm>
          <a:prstGeom prst="rect">
            <a:avLst/>
          </a:prstGeom>
          <a:noFill/>
        </p:spPr>
        <p:txBody>
          <a:bodyPr wrap="square" rtlCol="0" anchor="t">
            <a:spAutoFit/>
          </a:bodyPr>
          <a:p>
            <a:r>
              <a:rPr lang="zh-CN" altLang="en-US" b="1"/>
              <a:t>3. 绘制完整的活动图</a:t>
            </a:r>
            <a:endParaRPr lang="zh-CN" altLang="en-US" b="1"/>
          </a:p>
          <a:p>
            <a:r>
              <a:rPr lang="zh-CN" altLang="en-US"/>
              <a:t>对之前建立的工作流路径进行扩展，详细绘制活动图。</a:t>
            </a:r>
            <a:endParaRPr lang="zh-CN" altLang="en-US"/>
          </a:p>
          <a:p>
            <a:endParaRPr lang="zh-CN" altLang="en-US"/>
          </a:p>
        </p:txBody>
      </p:sp>
      <p:pic>
        <p:nvPicPr>
          <p:cNvPr id="107" name="图片 106"/>
          <p:cNvPicPr/>
          <p:nvPr/>
        </p:nvPicPr>
        <p:blipFill>
          <a:blip r:embed="rId1"/>
          <a:stretch>
            <a:fillRect/>
          </a:stretch>
        </p:blipFill>
        <p:spPr>
          <a:xfrm>
            <a:off x="3203575" y="274955"/>
            <a:ext cx="5511800" cy="650811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练习：</a:t>
            </a:r>
            <a:endPar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457200" y="1417955"/>
            <a:ext cx="7905115" cy="953135"/>
          </a:xfrm>
          <a:prstGeom prst="rect">
            <a:avLst/>
          </a:prstGeom>
          <a:noFill/>
        </p:spPr>
        <p:txBody>
          <a:bodyPr wrap="square" rtlCol="0" anchor="t">
            <a:spAutoFit/>
          </a:bodyPr>
          <a:p>
            <a:r>
              <a:rPr lang="zh-CN" altLang="en-US"/>
              <a:t>根据下列描述，画出“远程网络教学系统”中系统管理员工作的</a:t>
            </a:r>
            <a:r>
              <a:rPr lang="zh-CN" altLang="en-US">
                <a:solidFill>
                  <a:srgbClr val="FF0000"/>
                </a:solidFill>
              </a:rPr>
              <a:t>带泳道</a:t>
            </a:r>
            <a:r>
              <a:rPr lang="zh-CN" altLang="en-US"/>
              <a:t>的活动图。</a:t>
            </a:r>
            <a:endParaRPr lang="zh-CN" altLang="en-US"/>
          </a:p>
        </p:txBody>
      </p:sp>
      <p:sp>
        <p:nvSpPr>
          <p:cNvPr id="3" name="文本框 2"/>
          <p:cNvSpPr txBox="1"/>
          <p:nvPr/>
        </p:nvSpPr>
        <p:spPr>
          <a:xfrm>
            <a:off x="506730" y="2371090"/>
            <a:ext cx="7901305" cy="4154170"/>
          </a:xfrm>
          <a:prstGeom prst="rect">
            <a:avLst/>
          </a:prstGeom>
          <a:noFill/>
          <a:ln>
            <a:solidFill>
              <a:schemeClr val="accent1">
                <a:lumMod val="75000"/>
              </a:schemeClr>
            </a:solidFill>
          </a:ln>
        </p:spPr>
        <p:txBody>
          <a:bodyPr wrap="square" rtlCol="0" anchor="t">
            <a:spAutoFit/>
          </a:bodyPr>
          <a:p>
            <a:r>
              <a:rPr lang="zh-CN" altLang="en-US" sz="2400" b="1">
                <a:latin typeface="仿宋" panose="02010609060101010101" pitchFamily="49" charset="-122"/>
                <a:ea typeface="仿宋" panose="02010609060101010101" pitchFamily="49" charset="-122"/>
                <a:cs typeface="仿宋" panose="02010609060101010101" pitchFamily="49" charset="-122"/>
              </a:rPr>
              <a:t>问题描述：</a:t>
            </a:r>
            <a:endParaRPr lang="zh-CN" altLang="en-US" sz="2400" b="1">
              <a:latin typeface="仿宋" panose="02010609060101010101" pitchFamily="49" charset="-122"/>
              <a:ea typeface="仿宋" panose="02010609060101010101" pitchFamily="49" charset="-122"/>
              <a:cs typeface="仿宋" panose="02010609060101010101" pitchFamily="49" charset="-122"/>
            </a:endParaRPr>
          </a:p>
          <a:p>
            <a:r>
              <a:rPr lang="zh-CN" altLang="en-US" sz="2400" b="1">
                <a:latin typeface="仿宋" panose="02010609060101010101" pitchFamily="49" charset="-122"/>
                <a:ea typeface="仿宋" panose="02010609060101010101" pitchFamily="49" charset="-122"/>
                <a:cs typeface="仿宋" panose="02010609060101010101" pitchFamily="49" charset="-122"/>
              </a:rPr>
              <a:t>1)系统管理员首先要输入账号和密码进行登录，系统验证登录信息；</a:t>
            </a:r>
            <a:endParaRPr lang="zh-CN" altLang="en-US" sz="2400" b="1">
              <a:latin typeface="仿宋" panose="02010609060101010101" pitchFamily="49" charset="-122"/>
              <a:ea typeface="仿宋" panose="02010609060101010101" pitchFamily="49" charset="-122"/>
              <a:cs typeface="仿宋" panose="02010609060101010101" pitchFamily="49" charset="-122"/>
            </a:endParaRPr>
          </a:p>
          <a:p>
            <a:r>
              <a:rPr lang="zh-CN" altLang="en-US" sz="2400" b="1">
                <a:latin typeface="仿宋" panose="02010609060101010101" pitchFamily="49" charset="-122"/>
                <a:ea typeface="仿宋" panose="02010609060101010101" pitchFamily="49" charset="-122"/>
                <a:cs typeface="仿宋" panose="02010609060101010101" pitchFamily="49" charset="-122"/>
              </a:rPr>
              <a:t>2)如果验证未通过，提示登录失败；</a:t>
            </a:r>
            <a:endParaRPr lang="zh-CN" altLang="en-US" sz="2400" b="1">
              <a:latin typeface="仿宋" panose="02010609060101010101" pitchFamily="49" charset="-122"/>
              <a:ea typeface="仿宋" panose="02010609060101010101" pitchFamily="49" charset="-122"/>
              <a:cs typeface="仿宋" panose="02010609060101010101" pitchFamily="49" charset="-122"/>
            </a:endParaRPr>
          </a:p>
          <a:p>
            <a:r>
              <a:rPr lang="zh-CN" altLang="en-US" sz="2400" b="1">
                <a:latin typeface="仿宋" panose="02010609060101010101" pitchFamily="49" charset="-122"/>
                <a:ea typeface="仿宋" panose="02010609060101010101" pitchFamily="49" charset="-122"/>
                <a:cs typeface="仿宋" panose="02010609060101010101" pitchFamily="49" charset="-122"/>
              </a:rPr>
              <a:t>3)如果验证通过，系统管理员可以处理注册申请和审核课件；</a:t>
            </a:r>
            <a:endParaRPr lang="zh-CN" altLang="en-US" sz="2400" b="1">
              <a:latin typeface="仿宋" panose="02010609060101010101" pitchFamily="49" charset="-122"/>
              <a:ea typeface="仿宋" panose="02010609060101010101" pitchFamily="49" charset="-122"/>
              <a:cs typeface="仿宋" panose="02010609060101010101" pitchFamily="49" charset="-122"/>
            </a:endParaRPr>
          </a:p>
          <a:p>
            <a:r>
              <a:rPr lang="zh-CN" altLang="en-US" sz="2400" b="1">
                <a:latin typeface="仿宋" panose="02010609060101010101" pitchFamily="49" charset="-122"/>
                <a:ea typeface="仿宋" panose="02010609060101010101" pitchFamily="49" charset="-122"/>
                <a:cs typeface="仿宋" panose="02010609060101010101" pitchFamily="49" charset="-122"/>
              </a:rPr>
              <a:t>4)在处理注册申请后，需要发送邮件通知用户处理结果；</a:t>
            </a:r>
            <a:endParaRPr lang="zh-CN" altLang="en-US" sz="2400" b="1">
              <a:latin typeface="仿宋" panose="02010609060101010101" pitchFamily="49" charset="-122"/>
              <a:ea typeface="仿宋" panose="02010609060101010101" pitchFamily="49" charset="-122"/>
              <a:cs typeface="仿宋" panose="02010609060101010101" pitchFamily="49" charset="-122"/>
            </a:endParaRPr>
          </a:p>
          <a:p>
            <a:r>
              <a:rPr lang="zh-CN" altLang="en-US" sz="2400" b="1">
                <a:latin typeface="仿宋" panose="02010609060101010101" pitchFamily="49" charset="-122"/>
                <a:ea typeface="仿宋" panose="02010609060101010101" pitchFamily="49" charset="-122"/>
                <a:cs typeface="仿宋" panose="02010609060101010101" pitchFamily="49" charset="-122"/>
              </a:rPr>
              <a:t>5)在审核完课件后，需要进行更新页面信息的操作，以保证用户能看到最新的课件，同时系统也更新页面；</a:t>
            </a:r>
            <a:endParaRPr lang="zh-CN" altLang="en-US" sz="2400" b="1">
              <a:latin typeface="仿宋" panose="02010609060101010101" pitchFamily="49" charset="-122"/>
              <a:ea typeface="仿宋" panose="02010609060101010101" pitchFamily="49" charset="-122"/>
              <a:cs typeface="仿宋" panose="02010609060101010101" pitchFamily="49" charset="-122"/>
            </a:endParaRPr>
          </a:p>
          <a:p>
            <a:r>
              <a:rPr lang="zh-CN" altLang="en-US" sz="2400" b="1">
                <a:latin typeface="仿宋" panose="02010609060101010101" pitchFamily="49" charset="-122"/>
                <a:ea typeface="仿宋" panose="02010609060101010101" pitchFamily="49" charset="-122"/>
                <a:cs typeface="仿宋" panose="02010609060101010101" pitchFamily="49" charset="-122"/>
              </a:rPr>
              <a:t>6)当完成所有工作后，系统管理员退出系统，系统则注销系统管理员账号。</a:t>
            </a:r>
            <a:endParaRPr lang="zh-CN" altLang="en-US" sz="2400" b="1">
              <a:latin typeface="仿宋" panose="02010609060101010101" pitchFamily="49" charset="-122"/>
              <a:ea typeface="仿宋" panose="02010609060101010101" pitchFamily="49" charset="-122"/>
              <a:cs typeface="仿宋"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108" name="图片 107"/>
          <p:cNvPicPr/>
          <p:nvPr/>
        </p:nvPicPr>
        <p:blipFill>
          <a:blip r:embed="rId1"/>
          <a:stretch>
            <a:fillRect/>
          </a:stretch>
        </p:blipFill>
        <p:spPr>
          <a:xfrm>
            <a:off x="1839595" y="195580"/>
            <a:ext cx="5103495" cy="635381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vert="horz" anchor="b">
            <a:norm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练习：</a:t>
            </a:r>
            <a:endPar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文本框 2"/>
          <p:cNvSpPr txBox="1"/>
          <p:nvPr/>
        </p:nvSpPr>
        <p:spPr>
          <a:xfrm>
            <a:off x="539750" y="1628775"/>
            <a:ext cx="7832725" cy="2676525"/>
          </a:xfrm>
          <a:prstGeom prst="rect">
            <a:avLst/>
          </a:prstGeom>
          <a:noFill/>
          <a:ln>
            <a:solidFill>
              <a:schemeClr val="accent1">
                <a:lumMod val="75000"/>
              </a:schemeClr>
            </a:solidFill>
          </a:ln>
        </p:spPr>
        <p:txBody>
          <a:bodyPr wrap="square" rtlCol="0" anchor="t">
            <a:spAutoFit/>
          </a:bodyPr>
          <a:p>
            <a:r>
              <a:rPr lang="zh-CN" altLang="en-US" b="1">
                <a:latin typeface="仿宋" panose="02010609060101010101" pitchFamily="49" charset="-122"/>
                <a:ea typeface="仿宋" panose="02010609060101010101" pitchFamily="49" charset="-122"/>
                <a:cs typeface="仿宋" panose="02010609060101010101" pitchFamily="49" charset="-122"/>
              </a:rPr>
              <a:t>绘制活动图来表示以下的for循环：</a:t>
            </a:r>
            <a:endParaRPr lang="zh-CN" altLang="en-US" b="1">
              <a:latin typeface="仿宋" panose="02010609060101010101" pitchFamily="49" charset="-122"/>
              <a:ea typeface="仿宋" panose="02010609060101010101" pitchFamily="49" charset="-122"/>
              <a:cs typeface="仿宋" panose="02010609060101010101" pitchFamily="49" charset="-122"/>
            </a:endParaRPr>
          </a:p>
          <a:p>
            <a:r>
              <a:rPr lang="zh-CN" altLang="en-US" b="1">
                <a:latin typeface="仿宋" panose="02010609060101010101" pitchFamily="49" charset="-122"/>
                <a:ea typeface="仿宋" panose="02010609060101010101" pitchFamily="49" charset="-122"/>
                <a:cs typeface="仿宋" panose="02010609060101010101" pitchFamily="49" charset="-122"/>
              </a:rPr>
              <a:t>for (i=100;i&gt;=1;i--)</a:t>
            </a:r>
            <a:endParaRPr lang="zh-CN" altLang="en-US" b="1">
              <a:latin typeface="仿宋" panose="02010609060101010101" pitchFamily="49" charset="-122"/>
              <a:ea typeface="仿宋" panose="02010609060101010101" pitchFamily="49" charset="-122"/>
              <a:cs typeface="仿宋" panose="02010609060101010101" pitchFamily="49" charset="-122"/>
            </a:endParaRPr>
          </a:p>
          <a:p>
            <a:r>
              <a:rPr lang="zh-CN" altLang="en-US" b="1">
                <a:latin typeface="仿宋" panose="02010609060101010101" pitchFamily="49" charset="-122"/>
                <a:ea typeface="仿宋" panose="02010609060101010101" pitchFamily="49" charset="-122"/>
                <a:cs typeface="仿宋" panose="02010609060101010101" pitchFamily="49" charset="-122"/>
              </a:rPr>
              <a:t>{</a:t>
            </a:r>
            <a:endParaRPr lang="zh-CN" altLang="en-US" b="1">
              <a:latin typeface="仿宋" panose="02010609060101010101" pitchFamily="49" charset="-122"/>
              <a:ea typeface="仿宋" panose="02010609060101010101" pitchFamily="49" charset="-122"/>
              <a:cs typeface="仿宋" panose="02010609060101010101" pitchFamily="49" charset="-122"/>
            </a:endParaRPr>
          </a:p>
          <a:p>
            <a:pPr lvl="1"/>
            <a:r>
              <a:rPr lang="zh-CN" altLang="en-US" b="1">
                <a:latin typeface="仿宋" panose="02010609060101010101" pitchFamily="49" charset="-122"/>
                <a:ea typeface="仿宋" panose="02010609060101010101" pitchFamily="49" charset="-122"/>
                <a:cs typeface="仿宋" panose="02010609060101010101" pitchFamily="49" charset="-122"/>
              </a:rPr>
              <a:t>if(i%19==0)</a:t>
            </a:r>
            <a:endParaRPr lang="zh-CN" altLang="en-US" b="1">
              <a:latin typeface="仿宋" panose="02010609060101010101" pitchFamily="49" charset="-122"/>
              <a:ea typeface="仿宋" panose="02010609060101010101" pitchFamily="49" charset="-122"/>
              <a:cs typeface="仿宋" panose="02010609060101010101" pitchFamily="49" charset="-122"/>
            </a:endParaRPr>
          </a:p>
          <a:p>
            <a:pPr lvl="1"/>
            <a:r>
              <a:rPr lang="zh-CN" altLang="en-US" b="1">
                <a:latin typeface="仿宋" panose="02010609060101010101" pitchFamily="49" charset="-122"/>
                <a:ea typeface="仿宋" panose="02010609060101010101" pitchFamily="49" charset="-122"/>
                <a:cs typeface="仿宋" panose="02010609060101010101" pitchFamily="49" charset="-122"/>
              </a:rPr>
              <a:t>print(i);</a:t>
            </a:r>
            <a:endParaRPr lang="zh-CN" altLang="en-US" b="1">
              <a:latin typeface="仿宋" panose="02010609060101010101" pitchFamily="49" charset="-122"/>
              <a:ea typeface="仿宋" panose="02010609060101010101" pitchFamily="49" charset="-122"/>
              <a:cs typeface="仿宋" panose="02010609060101010101" pitchFamily="49" charset="-122"/>
            </a:endParaRPr>
          </a:p>
          <a:p>
            <a:r>
              <a:rPr lang="zh-CN" altLang="en-US" b="1">
                <a:latin typeface="仿宋" panose="02010609060101010101" pitchFamily="49" charset="-122"/>
                <a:ea typeface="仿宋" panose="02010609060101010101" pitchFamily="49" charset="-122"/>
                <a:cs typeface="仿宋" panose="02010609060101010101" pitchFamily="49" charset="-122"/>
              </a:rPr>
              <a:t>｝</a:t>
            </a:r>
            <a:endParaRPr lang="zh-CN" altLang="en-US" b="1">
              <a:latin typeface="仿宋" panose="02010609060101010101" pitchFamily="49" charset="-122"/>
              <a:ea typeface="仿宋" panose="02010609060101010101" pitchFamily="49" charset="-122"/>
              <a:cs typeface="仿宋"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vert="horz" anchor="b">
            <a:norm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练习：</a:t>
            </a:r>
            <a:endPar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文本框 2"/>
          <p:cNvSpPr txBox="1"/>
          <p:nvPr/>
        </p:nvSpPr>
        <p:spPr>
          <a:xfrm>
            <a:off x="251460" y="1988820"/>
            <a:ext cx="3752850" cy="3107690"/>
          </a:xfrm>
          <a:prstGeom prst="rect">
            <a:avLst/>
          </a:prstGeom>
          <a:noFill/>
          <a:ln>
            <a:solidFill>
              <a:schemeClr val="accent1">
                <a:lumMod val="75000"/>
              </a:schemeClr>
            </a:solidFill>
          </a:ln>
        </p:spPr>
        <p:txBody>
          <a:bodyPr wrap="square" rtlCol="0" anchor="t">
            <a:spAutoFit/>
          </a:bodyPr>
          <a:p>
            <a:r>
              <a:rPr lang="zh-CN" altLang="en-US" b="1">
                <a:latin typeface="仿宋" panose="02010609060101010101" pitchFamily="49" charset="-122"/>
                <a:ea typeface="仿宋" panose="02010609060101010101" pitchFamily="49" charset="-122"/>
                <a:cs typeface="仿宋" panose="02010609060101010101" pitchFamily="49" charset="-122"/>
              </a:rPr>
              <a:t>绘制活动图来表示以下的for循环：</a:t>
            </a:r>
            <a:endParaRPr lang="zh-CN" altLang="en-US" b="1">
              <a:latin typeface="仿宋" panose="02010609060101010101" pitchFamily="49" charset="-122"/>
              <a:ea typeface="仿宋" panose="02010609060101010101" pitchFamily="49" charset="-122"/>
              <a:cs typeface="仿宋" panose="02010609060101010101" pitchFamily="49" charset="-122"/>
            </a:endParaRPr>
          </a:p>
          <a:p>
            <a:r>
              <a:rPr lang="zh-CN" altLang="en-US" b="1">
                <a:latin typeface="仿宋" panose="02010609060101010101" pitchFamily="49" charset="-122"/>
                <a:ea typeface="仿宋" panose="02010609060101010101" pitchFamily="49" charset="-122"/>
                <a:cs typeface="仿宋" panose="02010609060101010101" pitchFamily="49" charset="-122"/>
              </a:rPr>
              <a:t>for (i=100;i&gt;=1;i--)</a:t>
            </a:r>
            <a:endParaRPr lang="zh-CN" altLang="en-US" b="1">
              <a:latin typeface="仿宋" panose="02010609060101010101" pitchFamily="49" charset="-122"/>
              <a:ea typeface="仿宋" panose="02010609060101010101" pitchFamily="49" charset="-122"/>
              <a:cs typeface="仿宋" panose="02010609060101010101" pitchFamily="49" charset="-122"/>
            </a:endParaRPr>
          </a:p>
          <a:p>
            <a:r>
              <a:rPr lang="zh-CN" altLang="en-US" b="1">
                <a:latin typeface="仿宋" panose="02010609060101010101" pitchFamily="49" charset="-122"/>
                <a:ea typeface="仿宋" panose="02010609060101010101" pitchFamily="49" charset="-122"/>
                <a:cs typeface="仿宋" panose="02010609060101010101" pitchFamily="49" charset="-122"/>
              </a:rPr>
              <a:t>{</a:t>
            </a:r>
            <a:endParaRPr lang="zh-CN" altLang="en-US" b="1">
              <a:latin typeface="仿宋" panose="02010609060101010101" pitchFamily="49" charset="-122"/>
              <a:ea typeface="仿宋" panose="02010609060101010101" pitchFamily="49" charset="-122"/>
              <a:cs typeface="仿宋" panose="02010609060101010101" pitchFamily="49" charset="-122"/>
            </a:endParaRPr>
          </a:p>
          <a:p>
            <a:pPr lvl="1"/>
            <a:r>
              <a:rPr lang="zh-CN" altLang="en-US" b="1">
                <a:latin typeface="仿宋" panose="02010609060101010101" pitchFamily="49" charset="-122"/>
                <a:ea typeface="仿宋" panose="02010609060101010101" pitchFamily="49" charset="-122"/>
                <a:cs typeface="仿宋" panose="02010609060101010101" pitchFamily="49" charset="-122"/>
              </a:rPr>
              <a:t>if(i%19==0)</a:t>
            </a:r>
            <a:endParaRPr lang="zh-CN" altLang="en-US" b="1">
              <a:latin typeface="仿宋" panose="02010609060101010101" pitchFamily="49" charset="-122"/>
              <a:ea typeface="仿宋" panose="02010609060101010101" pitchFamily="49" charset="-122"/>
              <a:cs typeface="仿宋" panose="02010609060101010101" pitchFamily="49" charset="-122"/>
            </a:endParaRPr>
          </a:p>
          <a:p>
            <a:pPr lvl="1"/>
            <a:r>
              <a:rPr lang="zh-CN" altLang="en-US" b="1">
                <a:latin typeface="仿宋" panose="02010609060101010101" pitchFamily="49" charset="-122"/>
                <a:ea typeface="仿宋" panose="02010609060101010101" pitchFamily="49" charset="-122"/>
                <a:cs typeface="仿宋" panose="02010609060101010101" pitchFamily="49" charset="-122"/>
              </a:rPr>
              <a:t>print(i);</a:t>
            </a:r>
            <a:endParaRPr lang="zh-CN" altLang="en-US" b="1">
              <a:latin typeface="仿宋" panose="02010609060101010101" pitchFamily="49" charset="-122"/>
              <a:ea typeface="仿宋" panose="02010609060101010101" pitchFamily="49" charset="-122"/>
              <a:cs typeface="仿宋" panose="02010609060101010101" pitchFamily="49" charset="-122"/>
            </a:endParaRPr>
          </a:p>
          <a:p>
            <a:r>
              <a:rPr lang="zh-CN" altLang="en-US" b="1">
                <a:latin typeface="仿宋" panose="02010609060101010101" pitchFamily="49" charset="-122"/>
                <a:ea typeface="仿宋" panose="02010609060101010101" pitchFamily="49" charset="-122"/>
                <a:cs typeface="仿宋" panose="02010609060101010101" pitchFamily="49" charset="-122"/>
              </a:rPr>
              <a:t>｝</a:t>
            </a:r>
            <a:endParaRPr lang="zh-CN" altLang="en-US" b="1">
              <a:latin typeface="仿宋" panose="02010609060101010101" pitchFamily="49" charset="-122"/>
              <a:ea typeface="仿宋" panose="02010609060101010101" pitchFamily="49" charset="-122"/>
              <a:cs typeface="仿宋" panose="02010609060101010101" pitchFamily="49" charset="-122"/>
            </a:endParaRPr>
          </a:p>
        </p:txBody>
      </p:sp>
      <p:pic>
        <p:nvPicPr>
          <p:cNvPr id="109" name="图片 108"/>
          <p:cNvPicPr/>
          <p:nvPr/>
        </p:nvPicPr>
        <p:blipFill>
          <a:blip r:embed="rId1"/>
          <a:srcRect l="4253" r="5074"/>
          <a:stretch>
            <a:fillRect/>
          </a:stretch>
        </p:blipFill>
        <p:spPr>
          <a:xfrm>
            <a:off x="4143375" y="1196975"/>
            <a:ext cx="4502150" cy="4688205"/>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PLACING_PICTURE_USER_VIEWPORT" val="{&quot;height&quot;:7675,&quot;width&quot;:7080}"/>
</p:tagLst>
</file>

<file path=ppt/tags/tag2.xml><?xml version="1.0" encoding="utf-8"?>
<p:tagLst xmlns:p="http://schemas.openxmlformats.org/presentationml/2006/main">
  <p:tag name="KSO_WPP_MARK_KEY" val="6ce46d0d-84db-441a-b68d-c598790f38a3"/>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1923</Words>
  <Application>WPS 演示</Application>
  <PresentationFormat>全屏显示(4:3)</PresentationFormat>
  <Paragraphs>198</Paragraphs>
  <Slides>25</Slides>
  <Notes>99</Notes>
  <HiddenSlides>8</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25</vt:i4>
      </vt:variant>
    </vt:vector>
  </HeadingPairs>
  <TitlesOfParts>
    <vt:vector size="39" baseType="lpstr">
      <vt:lpstr>Arial</vt:lpstr>
      <vt:lpstr>宋体</vt:lpstr>
      <vt:lpstr>Wingdings</vt:lpstr>
      <vt:lpstr>楷体_GB2312</vt:lpstr>
      <vt:lpstr>新宋体</vt:lpstr>
      <vt:lpstr>Times New Roman</vt:lpstr>
      <vt:lpstr>Wingdings 2</vt:lpstr>
      <vt:lpstr>Wingdings</vt:lpstr>
      <vt:lpstr>Century Schoolbook</vt:lpstr>
      <vt:lpstr>微软雅黑</vt:lpstr>
      <vt:lpstr>Arial Unicode MS</vt:lpstr>
      <vt:lpstr>华文楷体</vt:lpstr>
      <vt:lpstr>仿宋</vt:lpstr>
      <vt:lpstr>凸显</vt:lpstr>
      <vt:lpstr>软件系统分析与设计 Software System Analysis and Design</vt:lpstr>
      <vt:lpstr>6.5 活动图</vt:lpstr>
      <vt:lpstr>6.5 活动图</vt:lpstr>
      <vt:lpstr>6.5 活动图</vt:lpstr>
      <vt:lpstr>6.5 活动图</vt:lpstr>
      <vt:lpstr>6.5 活动图</vt:lpstr>
      <vt:lpstr>PowerPoint 演示文稿</vt:lpstr>
      <vt:lpstr>实例-客户下单活动图</vt:lpstr>
      <vt:lpstr>实例-客户下单活动图</vt:lpstr>
      <vt:lpstr>实例-客户下单活动图</vt:lpstr>
      <vt:lpstr>实例-客户下单活动图</vt:lpstr>
      <vt:lpstr>实例-付费体育场馆预定活动图</vt:lpstr>
      <vt:lpstr>实例-付费体育场馆预定活动图</vt:lpstr>
      <vt:lpstr>实例-付费体育场馆预定活动图</vt:lpstr>
      <vt:lpstr>泳道注意事项</vt:lpstr>
      <vt:lpstr>活动图绘制步骤</vt:lpstr>
      <vt:lpstr>活动图绘制步骤</vt:lpstr>
      <vt:lpstr>活动图绘制步骤</vt:lpstr>
      <vt:lpstr>活动图绘制步骤</vt:lpstr>
      <vt:lpstr>活动图绘制步骤</vt:lpstr>
      <vt:lpstr>活动图绘制步骤</vt:lpstr>
      <vt:lpstr>练习：</vt:lpstr>
      <vt:lpstr>PowerPoint 演示文稿</vt:lpstr>
      <vt:lpstr>练习：</vt:lpstr>
      <vt:lpstr>练习：</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小兔子乖乖</cp:lastModifiedBy>
  <cp:revision>1042</cp:revision>
  <cp:lastPrinted>2023-11-24T15:17:00Z</cp:lastPrinted>
  <dcterms:created xsi:type="dcterms:W3CDTF">2023-11-24T15:17:00Z</dcterms:created>
  <dcterms:modified xsi:type="dcterms:W3CDTF">2025-06-17T12:22:42Z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78E77D18265B46149A90C4DBF6A561EA_12</vt:lpwstr>
  </property>
  <property fmtid="{D5CDD505-2E9C-101B-9397-08002B2CF9AE}" pid="3" name="KSOProductBuildVer">
    <vt:lpwstr>2052-11.1.0.12165</vt:lpwstr>
  </property>
</Properties>
</file>