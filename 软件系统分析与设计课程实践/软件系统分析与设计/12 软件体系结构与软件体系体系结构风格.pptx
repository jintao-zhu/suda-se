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8"/>
  </p:handoutMasterIdLst>
  <p:sldIdLst>
    <p:sldId id="294" r:id="rId3"/>
    <p:sldId id="333" r:id="rId5"/>
    <p:sldId id="335" r:id="rId6"/>
    <p:sldId id="336" r:id="rId7"/>
    <p:sldId id="337" r:id="rId8"/>
    <p:sldId id="390" r:id="rId9"/>
    <p:sldId id="338" r:id="rId10"/>
    <p:sldId id="391" r:id="rId11"/>
    <p:sldId id="392" r:id="rId12"/>
    <p:sldId id="393" r:id="rId13"/>
    <p:sldId id="341" r:id="rId14"/>
    <p:sldId id="395" r:id="rId15"/>
    <p:sldId id="396" r:id="rId16"/>
    <p:sldId id="399" r:id="rId17"/>
    <p:sldId id="400" r:id="rId18"/>
    <p:sldId id="401" r:id="rId19"/>
    <p:sldId id="402" r:id="rId20"/>
    <p:sldId id="403" r:id="rId21"/>
    <p:sldId id="342" r:id="rId22"/>
    <p:sldId id="343" r:id="rId23"/>
    <p:sldId id="344" r:id="rId24"/>
    <p:sldId id="345" r:id="rId25"/>
    <p:sldId id="346" r:id="rId26"/>
    <p:sldId id="347" r:id="rId27"/>
    <p:sldId id="448" r:id="rId28"/>
    <p:sldId id="348" r:id="rId29"/>
    <p:sldId id="349" r:id="rId30"/>
    <p:sldId id="449" r:id="rId31"/>
    <p:sldId id="351" r:id="rId32"/>
    <p:sldId id="352" r:id="rId33"/>
    <p:sldId id="353" r:id="rId34"/>
    <p:sldId id="355" r:id="rId35"/>
    <p:sldId id="450" r:id="rId36"/>
    <p:sldId id="451" r:id="rId37"/>
    <p:sldId id="356" r:id="rId38"/>
    <p:sldId id="452" r:id="rId39"/>
    <p:sldId id="453" r:id="rId40"/>
    <p:sldId id="357" r:id="rId41"/>
    <p:sldId id="358" r:id="rId42"/>
    <p:sldId id="359" r:id="rId43"/>
    <p:sldId id="360" r:id="rId44"/>
    <p:sldId id="361" r:id="rId45"/>
    <p:sldId id="362" r:id="rId46"/>
    <p:sldId id="369" r:id="rId47"/>
    <p:sldId id="370" r:id="rId48"/>
    <p:sldId id="372" r:id="rId49"/>
    <p:sldId id="454" r:id="rId50"/>
    <p:sldId id="455" r:id="rId51"/>
    <p:sldId id="456" r:id="rId52"/>
    <p:sldId id="373" r:id="rId53"/>
    <p:sldId id="374" r:id="rId54"/>
    <p:sldId id="478" r:id="rId55"/>
    <p:sldId id="380" r:id="rId56"/>
    <p:sldId id="479" r:id="rId57"/>
  </p:sldIdLst>
  <p:sldSz cx="9144000" cy="6858000" type="screen4x3"/>
  <p:notesSz cx="6858000" cy="9144000"/>
  <p:custDataLst>
    <p:tags r:id="rId62"/>
  </p:custDataLst>
  <p:defaultTextStyle>
    <a:defPPr>
      <a:defRPr lang="en-US"/>
    </a:defPPr>
    <a:lvl1pPr marL="0" lvl="0"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5pPr>
    <a:lvl6pPr marL="2286000" lvl="5"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6pPr>
    <a:lvl7pPr marL="2743200" lvl="6"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7pPr>
    <a:lvl8pPr marL="3200400" lvl="7"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8pPr>
    <a:lvl9pPr marL="3657600" lvl="8"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49" charset="-122"/>
        <a:ea typeface="黑体" panose="02010609060101010101"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A8C9EA"/>
    <a:srgbClr val="CCFF66"/>
    <a:srgbClr val="FFFFCC"/>
    <a:srgbClr val="F9DF9F"/>
    <a:srgbClr val="FFFF66"/>
    <a:srgbClr val="CCECFF"/>
    <a:srgbClr val="2332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2867"/>
    <p:restoredTop sz="94682"/>
  </p:normalViewPr>
  <p:slideViewPr>
    <p:cSldViewPr showGuides="1">
      <p:cViewPr varScale="1">
        <p:scale>
          <a:sx n="108" d="100"/>
          <a:sy n="108" d="100"/>
        </p:scale>
        <p:origin x="-1704" y="-84"/>
      </p:cViewPr>
      <p:guideLst>
        <p:guide orient="horz" pos="2151"/>
        <p:guide pos="285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gs" Target="tags/tag1.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468"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t" anchorCtr="0"/>
          <a:p>
            <a:pPr lvl="0"/>
            <a:endParaRPr lang="zh-CN" altLang="en-US" dirty="0"/>
          </a:p>
        </p:txBody>
      </p:sp>
      <p:sp>
        <p:nvSpPr>
          <p:cNvPr id="6451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b="0" dirty="0">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b="0" dirty="0">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p:txBody>
          <a:bodyPr wrap="square" lIns="91440" tIns="45720" rIns="91440" bIns="45720" anchor="t" anchorCtr="0"/>
          <a:p>
            <a:pPr lvl="0"/>
            <a:endParaRPr lang="zh-CN" altLang="en-US" dirty="0"/>
          </a:p>
        </p:txBody>
      </p:sp>
      <p:sp>
        <p:nvSpPr>
          <p:cNvPr id="6554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p:txBody>
          <a:bodyPr wrap="square" lIns="91440" tIns="45720" rIns="91440" bIns="45720" anchor="t" anchorCtr="0"/>
          <a:p>
            <a:pPr lvl="0"/>
            <a:endParaRPr lang="zh-CN" altLang="en-US" dirty="0"/>
          </a:p>
        </p:txBody>
      </p:sp>
      <p:sp>
        <p:nvSpPr>
          <p:cNvPr id="6554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p:txBody>
          <a:bodyPr wrap="square" lIns="91440" tIns="45720" rIns="91440" bIns="45720" anchor="t" anchorCtr="0"/>
          <a:p>
            <a:pPr lvl="0"/>
            <a:endParaRPr lang="zh-CN" altLang="en-US" dirty="0"/>
          </a:p>
        </p:txBody>
      </p:sp>
      <p:sp>
        <p:nvSpPr>
          <p:cNvPr id="65540"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dirty="0">
              <a:sym typeface="+mn-ea"/>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sym typeface="+mn-ea"/>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smtClean="0"/>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p>
            <a:pP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8" name="内容占位符 7"/>
          <p:cNvSpPr>
            <a:spLocks noGrp="1"/>
          </p:cNvSpPr>
          <p:nvPr>
            <p:ph sz="quarter" idx="1"/>
          </p:nvPr>
        </p:nvSpPr>
        <p:spPr>
          <a:xfrm>
            <a:off x="457200" y="1600200"/>
            <a:ext cx="7467600" cy="487375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p>
            <a:pP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smtClean="0"/>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p>
            <a:pP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黑体" panose="02010609060101010101" pitchFamily="49" charset="-122"/>
              </a:rPr>
            </a:fld>
            <a:endParaRPr lang="zh-CN" altLang="en-US" dirty="0">
              <a:latin typeface="黑体" panose="02010609060101010101" pitchFamily="49"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smtClean="0"/>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smtClean="0"/>
              <a:t>单击此处编辑母版文本样式</a:t>
            </a:r>
            <a:endParaRPr lang="zh-CN" altLang="en-US" smtClean="0"/>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黑体" panose="02010609060101010101" pitchFamily="49" charset="-122"/>
              </a:rPr>
            </a:fld>
            <a:endParaRPr lang="zh-CN" altLang="en-US" dirty="0">
              <a:latin typeface="黑体" panose="02010609060101010101" pitchFamily="49"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p>
            <a:pP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zh-CN" altLang="en-US" dirty="0">
                <a:latin typeface="黑体" panose="02010609060101010101" pitchFamily="49" charset="-122"/>
              </a:rPr>
            </a:fld>
            <a:endParaRPr lang="zh-CN" altLang="en-US" dirty="0">
              <a:latin typeface="黑体" panose="02010609060101010101" pitchFamily="49"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smtClean="0"/>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8" name="内容占位符 17"/>
          <p:cNvSpPr>
            <a:spLocks noGrp="1"/>
          </p:cNvSpPr>
          <p:nvPr>
            <p:ph sz="quarter" idx="1"/>
          </p:nvPr>
        </p:nvSpPr>
        <p:spPr>
          <a:xfrm>
            <a:off x="304800" y="274320"/>
            <a:ext cx="5638800" cy="632764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p>
            <a:pP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smtClean="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p>
            <a:pP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黑体" panose="02010609060101010101" pitchFamily="49" charset="-122"/>
              </a:rPr>
            </a:fld>
            <a:endParaRPr lang="zh-CN" altLang="en-US" dirty="0">
              <a:latin typeface="黑体" panose="02010609060101010101" pitchFamily="49"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黑体" panose="02010609060101010101" pitchFamily="49" charset="-122"/>
              </a:rPr>
            </a:fld>
            <a:endParaRPr lang="zh-CN" altLang="en-US" dirty="0">
              <a:latin typeface="黑体" panose="02010609060101010101" pitchFamily="49"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49" charset="-122"/>
              <a:ea typeface="黑体" panose="02010609060101010101" pitchFamily="49"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defRPr sz="1400" b="1">
                <a:solidFill>
                  <a:srgbClr val="FFFFFF"/>
                </a:solidFill>
              </a:defRPr>
            </a:lvl1pPr>
          </a:lstStyle>
          <a:p>
            <a:pPr lvl="0" eaLnBrk="1" hangingPunct="1">
              <a:buNone/>
            </a:pPr>
            <a:fld id="{9A0DB2DC-4C9A-4742-B13C-FB6460FD3503}" type="slidenum">
              <a:rPr lang="zh-CN" altLang="en-US" dirty="0">
                <a:latin typeface="黑体" panose="02010609060101010101" pitchFamily="49" charset="-122"/>
              </a:rPr>
            </a:fld>
            <a:endParaRPr lang="zh-CN" altLang="en-US" dirty="0">
              <a:latin typeface="黑体"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xfrm>
            <a:off x="1325563" y="5013325"/>
            <a:ext cx="609600" cy="517525"/>
          </a:xfrm>
          <a:noFill/>
          <a:ln>
            <a:noFill/>
          </a:ln>
        </p:spPr>
        <p:txBody>
          <a:bodyPr anchor="ctr" anchorCtr="0"/>
          <a:p>
            <a:pPr marL="0" indent="0" algn="ctr" eaLnBrk="1" hangingPunct="1">
              <a:spcBef>
                <a:spcPct val="0"/>
              </a:spcBef>
              <a:buClrTx/>
              <a:buSzTx/>
              <a:buFontTx/>
              <a:buNone/>
            </a:pPr>
            <a:fld id="{9A0DB2DC-4C9A-4742-B13C-FB6460FD3503}" type="slidenum">
              <a:rPr lang="zh-CN" altLang="en-US" sz="1400" dirty="0">
                <a:solidFill>
                  <a:schemeClr val="bg1"/>
                </a:solidFill>
                <a:latin typeface="黑体" panose="02010609060101010101" pitchFamily="49" charset="-122"/>
                <a:ea typeface="黑体" panose="02010609060101010101" pitchFamily="49" charset="-122"/>
              </a:rPr>
            </a:fld>
            <a:endParaRPr lang="zh-CN" altLang="en-US" sz="1400" dirty="0">
              <a:solidFill>
                <a:schemeClr val="bg1"/>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0243"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对于大规模的复杂软件系统来说，对总体的系统结构设计和规格说明比起对计算的算法和数据结构的选择已经变得明显重要得多。 </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对软件体系结构的系统、深入的研究将会成为提高软件生产率和解决软件维护问题的新的最有希望的途径。</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软件体系结构虽脱胎于软件工程，但其形成同时借鉴了计算机体系结构和网络体系结构中很多宝贵的思想和方法。  </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1267" name="内容占位符 2"/>
          <p:cNvSpPr>
            <a:spLocks noGrp="1"/>
          </p:cNvSpPr>
          <p:nvPr>
            <p:ph sz="quarter" idx="1"/>
          </p:nvPr>
        </p:nvSpPr>
        <p:spPr/>
        <p:txBody>
          <a:bodyPr vert="horz" wrap="square" lIns="91440" tIns="45720" rIns="91440" bIns="45720" anchor="t" anchorCtr="0"/>
          <a:p>
            <a:pPr marL="273050" lvl="1">
              <a:spcBef>
                <a:spcPts val="600"/>
              </a:spcBef>
              <a:buClr>
                <a:schemeClr val="accent1"/>
              </a:buClr>
              <a:buSzPct val="70000"/>
              <a:buFont typeface="Wingdings" panose="05000000000000000000" pitchFamily="2" charset="2"/>
              <a:buChar char=""/>
            </a:pPr>
            <a:r>
              <a:rPr lang="zh-CN" altLang="en-US" dirty="0">
                <a:ea typeface="宋体" panose="02010600030101010101" pitchFamily="2" charset="-122"/>
              </a:rPr>
              <a:t>定义：</a:t>
            </a:r>
            <a:r>
              <a:rPr lang="zh-CN" altLang="en-US" dirty="0">
                <a:solidFill>
                  <a:srgbClr val="0070C0"/>
                </a:solidFill>
                <a:ea typeface="宋体" panose="02010600030101010101" pitchFamily="2" charset="-122"/>
              </a:rPr>
              <a:t>软件体系结构</a:t>
            </a:r>
            <a:r>
              <a:rPr lang="zh-CN" altLang="en-US" dirty="0">
                <a:ea typeface="宋体" panose="02010600030101010101" pitchFamily="2" charset="-122"/>
              </a:rPr>
              <a:t>为软件系统提供了一个结构、行为和属性的高级抽象，由构成系统的元素的描述、这些元素的相互作用、指导元素集成的模式以及这些模式的约束组成。</a:t>
            </a:r>
            <a:endParaRPr lang="zh-CN" altLang="en-US" dirty="0">
              <a:ea typeface="宋体" panose="02010600030101010101" pitchFamily="2" charset="-122"/>
            </a:endParaRPr>
          </a:p>
          <a:p>
            <a:pPr marL="273050" lvl="1">
              <a:spcBef>
                <a:spcPts val="600"/>
              </a:spcBef>
              <a:buClr>
                <a:schemeClr val="accent1"/>
              </a:buClr>
              <a:buSzPct val="70000"/>
              <a:buFont typeface="Wingdings" panose="05000000000000000000" pitchFamily="2" charset="2"/>
              <a:buChar char=""/>
            </a:pPr>
            <a:r>
              <a:rPr lang="zh-CN" altLang="en-US" dirty="0">
                <a:ea typeface="宋体" panose="02010600030101010101" pitchFamily="2" charset="-122"/>
              </a:rPr>
              <a:t>软件体系结构</a:t>
            </a:r>
            <a:r>
              <a:rPr lang="en-US" altLang="zh-CN" dirty="0">
                <a:ea typeface="宋体" panose="02010600030101010101" pitchFamily="2" charset="-122"/>
              </a:rPr>
              <a:t>=</a:t>
            </a:r>
            <a:r>
              <a:rPr lang="zh-CN" altLang="en-US" dirty="0">
                <a:ea typeface="宋体" panose="02010600030101010101" pitchFamily="2" charset="-122"/>
              </a:rPr>
              <a:t>组件</a:t>
            </a:r>
            <a:r>
              <a:rPr lang="en-US" altLang="zh-CN" dirty="0">
                <a:ea typeface="宋体" panose="02010600030101010101" pitchFamily="2" charset="-122"/>
              </a:rPr>
              <a:t>+</a:t>
            </a:r>
            <a:r>
              <a:rPr lang="zh-CN" altLang="en-US" dirty="0">
                <a:ea typeface="宋体" panose="02010600030101010101" pitchFamily="2" charset="-122"/>
              </a:rPr>
              <a:t>连接件</a:t>
            </a:r>
            <a:r>
              <a:rPr lang="en-US" altLang="zh-CN" dirty="0">
                <a:ea typeface="宋体" panose="02010600030101010101" pitchFamily="2" charset="-122"/>
              </a:rPr>
              <a:t>+</a:t>
            </a:r>
            <a:r>
              <a:rPr lang="zh-CN" altLang="en-US" dirty="0">
                <a:ea typeface="宋体" panose="02010600030101010101" pitchFamily="2" charset="-122"/>
              </a:rPr>
              <a:t>约束</a:t>
            </a:r>
            <a:endParaRPr lang="zh-CN" altLang="en-US" dirty="0">
              <a:ea typeface="宋体" panose="02010600030101010101" pitchFamily="2" charset="-122"/>
            </a:endParaRPr>
          </a:p>
          <a:p>
            <a:pPr marL="730250" lvl="2">
              <a:spcBef>
                <a:spcPts val="600"/>
              </a:spcBef>
              <a:buClr>
                <a:schemeClr val="accent1"/>
              </a:buClr>
              <a:buSzPct val="70000"/>
              <a:buFont typeface="Wingdings" panose="05000000000000000000" pitchFamily="2" charset="2"/>
              <a:buChar char=""/>
            </a:pPr>
            <a:r>
              <a:rPr lang="zh-CN" altLang="en-US" sz="2000" b="0" dirty="0">
                <a:ea typeface="宋体" panose="02010600030101010101" pitchFamily="2" charset="-122"/>
              </a:rPr>
              <a:t>组件：具有某种功能的可重用的软件模块单元，表示了系统中重要的计算单元和数据存储</a:t>
            </a:r>
            <a:endParaRPr lang="zh-CN" altLang="en-US" sz="2000" b="0" dirty="0">
              <a:ea typeface="宋体" panose="02010600030101010101" pitchFamily="2" charset="-122"/>
            </a:endParaRPr>
          </a:p>
          <a:p>
            <a:pPr marL="730250" lvl="2">
              <a:spcBef>
                <a:spcPts val="600"/>
              </a:spcBef>
              <a:buClr>
                <a:schemeClr val="accent1"/>
              </a:buClr>
              <a:buSzPct val="70000"/>
              <a:buFont typeface="Wingdings" panose="05000000000000000000" pitchFamily="2" charset="2"/>
              <a:buChar char=""/>
            </a:pPr>
            <a:r>
              <a:rPr lang="zh-CN" altLang="en-US" sz="2000" b="0" dirty="0">
                <a:ea typeface="宋体" panose="02010600030101010101" pitchFamily="2" charset="-122"/>
              </a:rPr>
              <a:t>连接件：表示组件之间的交互</a:t>
            </a:r>
            <a:endParaRPr lang="zh-CN" altLang="en-US" sz="2000" b="0" dirty="0">
              <a:ea typeface="宋体" panose="02010600030101010101" pitchFamily="2" charset="-122"/>
            </a:endParaRPr>
          </a:p>
          <a:p>
            <a:pPr marL="730250" lvl="2">
              <a:spcBef>
                <a:spcPts val="600"/>
              </a:spcBef>
              <a:buClr>
                <a:schemeClr val="accent1"/>
              </a:buClr>
              <a:buSzPct val="70000"/>
              <a:buFont typeface="Wingdings" panose="05000000000000000000" pitchFamily="2" charset="2"/>
              <a:buChar char=""/>
            </a:pPr>
            <a:r>
              <a:rPr lang="zh-CN" altLang="en-US" sz="2000" b="0" dirty="0">
                <a:ea typeface="宋体" panose="02010600030101010101" pitchFamily="2" charset="-122"/>
              </a:rPr>
              <a:t>约束：表示组件和连接件的拓扑逻辑和约束</a:t>
            </a:r>
            <a:endParaRPr lang="en-US" altLang="zh-CN" sz="2000" b="0" dirty="0">
              <a:ea typeface="宋体" panose="02010600030101010101" pitchFamily="2" charset="-122"/>
            </a:endParaRPr>
          </a:p>
          <a:p>
            <a:pPr marL="273050" lvl="1">
              <a:spcBef>
                <a:spcPts val="600"/>
              </a:spcBef>
              <a:buClr>
                <a:schemeClr val="accent1"/>
              </a:buClr>
              <a:buSzPct val="70000"/>
              <a:buFont typeface="Wingdings" panose="05000000000000000000" pitchFamily="2" charset="2"/>
              <a:buChar char=""/>
            </a:pPr>
            <a:r>
              <a:rPr lang="zh-CN" altLang="en-US" dirty="0">
                <a:ea typeface="宋体" panose="02010600030101010101" pitchFamily="2" charset="-122"/>
              </a:rPr>
              <a:t>软件体系结构不仅指定了系统的</a:t>
            </a:r>
            <a:r>
              <a:rPr lang="zh-CN" altLang="en-US" dirty="0">
                <a:solidFill>
                  <a:srgbClr val="FF0000"/>
                </a:solidFill>
                <a:ea typeface="宋体" panose="02010600030101010101" pitchFamily="2" charset="-122"/>
              </a:rPr>
              <a:t>组织结构</a:t>
            </a:r>
            <a:r>
              <a:rPr lang="zh-CN" altLang="en-US" dirty="0">
                <a:ea typeface="宋体" panose="02010600030101010101" pitchFamily="2" charset="-122"/>
              </a:rPr>
              <a:t>和</a:t>
            </a:r>
            <a:r>
              <a:rPr lang="zh-CN" altLang="en-US" dirty="0">
                <a:solidFill>
                  <a:srgbClr val="FF0000"/>
                </a:solidFill>
                <a:ea typeface="宋体" panose="02010600030101010101" pitchFamily="2" charset="-122"/>
              </a:rPr>
              <a:t>拓扑结构</a:t>
            </a:r>
            <a:r>
              <a:rPr lang="zh-CN" altLang="en-US" dirty="0">
                <a:ea typeface="宋体" panose="02010600030101010101" pitchFamily="2" charset="-122"/>
              </a:rPr>
              <a:t>，并且显示了系统需求和构成系统的元素之间的对应关系，提供了一些设计决策的基本原理。</a:t>
            </a:r>
            <a:endParaRPr lang="zh-CN" altLang="en-US" dirty="0">
              <a:ea typeface="宋体" panose="02010600030101010101" pitchFamily="2" charset="-122"/>
            </a:endParaRPr>
          </a:p>
          <a:p>
            <a:pPr marL="0" indent="0">
              <a:buClr>
                <a:schemeClr val="accent1"/>
              </a:buClr>
              <a:buSzPct val="70000"/>
              <a:buFont typeface="Wingdings" panose="05000000000000000000" pitchFamily="2" charset="2"/>
              <a:buNone/>
            </a:pPr>
            <a:endParaRPr lang="zh-CN" altLang="en-US" dirty="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2291" name="内容占位符 2"/>
          <p:cNvSpPr>
            <a:spLocks noGrp="1"/>
          </p:cNvSpPr>
          <p:nvPr>
            <p:ph sz="quarter" idx="1"/>
          </p:nvPr>
        </p:nvSpPr>
        <p:spPr>
          <a:xfrm>
            <a:off x="457200" y="1600200"/>
            <a:ext cx="77866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软件体系结构的意义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体系结构是风险承担者进行交流的手段 。</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体系结构是早期设计决策的体现 </a:t>
            </a:r>
            <a:endParaRPr lang="zh-CN" altLang="en-US"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软件体系结构明确了对系统实现的约束条件</a:t>
            </a:r>
            <a:endParaRPr lang="zh-CN" altLang="en-US" b="0"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软件体系结构决定了开发和维护组织的组织结构</a:t>
            </a:r>
            <a:endParaRPr lang="zh-CN" altLang="en-US" b="0"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软件体系结构制约着系统的质量属性</a:t>
            </a:r>
            <a:endParaRPr lang="zh-CN" altLang="en-US" b="0"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通过研究软件体系结构可能预测软件的质量</a:t>
            </a:r>
            <a:endParaRPr lang="zh-CN" altLang="en-US" b="0"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软件体系结构使推理和控制更改更简单</a:t>
            </a:r>
            <a:endParaRPr lang="zh-CN" altLang="en-US" b="0"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软件体系结构有助于循序渐进的原型设计</a:t>
            </a:r>
            <a:endParaRPr lang="zh-CN" altLang="en-US" b="0"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r>
              <a:rPr lang="zh-CN" altLang="en-US" b="0" dirty="0">
                <a:ea typeface="宋体" panose="02010600030101010101" pitchFamily="2" charset="-122"/>
              </a:rPr>
              <a:t>软件体系结构可以作为培训的基础</a:t>
            </a:r>
            <a:endParaRPr lang="en-US" altLang="zh-CN" b="0"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软件体系结构是可传递和可重用的模型。 </a:t>
            </a:r>
            <a:endParaRPr lang="zh-CN" altLang="en-US" dirty="0">
              <a:ea typeface="宋体" panose="02010600030101010101" pitchFamily="2" charset="-122"/>
            </a:endParaRPr>
          </a:p>
          <a:p>
            <a:pPr marL="1098550" lvl="2" indent="-457200">
              <a:buClr>
                <a:srgbClr val="E0752F"/>
              </a:buClr>
              <a:buSzPct val="60000"/>
              <a:buFont typeface="Calibri" panose="020F0502020204030204" pitchFamily="34" charset="0"/>
              <a:buAutoNum type="arabicPeriod"/>
            </a:pPr>
            <a:endParaRPr lang="zh-CN" altLang="en-US" dirty="0">
              <a:ea typeface="宋体" panose="02010600030101010101" pitchFamily="2" charset="-122"/>
            </a:endParaRPr>
          </a:p>
          <a:p>
            <a:pPr>
              <a:buClr>
                <a:schemeClr val="accent1"/>
              </a:buClr>
              <a:buSzPct val="70000"/>
              <a:buFont typeface="Wingdings" panose="05000000000000000000" pitchFamily="2" charset="2"/>
              <a:buAutoNum type="arabicPeriod"/>
            </a:pPr>
            <a:endParaRPr lang="zh-CN" altLang="en-US" dirty="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5" name="内容占位符 2"/>
          <p:cNvSpPr>
            <a:spLocks noGrp="1"/>
          </p:cNvSpPr>
          <p:nvPr>
            <p:ph sz="quarter" idx="1"/>
          </p:nvPr>
        </p:nvSpPr>
        <p:spPr>
          <a:xfrm>
            <a:off x="457200" y="1600200"/>
            <a:ext cx="7467600" cy="609600"/>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软件体系结构的</a:t>
            </a:r>
            <a:r>
              <a:rPr lang="zh-CN" altLang="en-US" dirty="0">
                <a:latin typeface="宋体" panose="02010600030101010101" pitchFamily="2" charset="-122"/>
                <a:ea typeface="宋体" panose="02010600030101010101" pitchFamily="2" charset="-122"/>
              </a:rPr>
              <a:t>发展史</a:t>
            </a:r>
            <a:r>
              <a:rPr lang="zh-CN" altLang="en-US" sz="2800" dirty="0">
                <a:ea typeface="宋体" panose="02010600030101010101" pitchFamily="2" charset="-122"/>
              </a:rPr>
              <a:t>  </a:t>
            </a:r>
            <a:endParaRPr lang="zh-CN" altLang="en-US" sz="2800"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4" name="Rectangle 6"/>
          <p:cNvSpPr/>
          <p:nvPr/>
        </p:nvSpPr>
        <p:spPr>
          <a:xfrm>
            <a:off x="971550" y="2408238"/>
            <a:ext cx="3200400" cy="406400"/>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r>
              <a:rPr lang="zh-CN" altLang="en-US" sz="2000" b="0" dirty="0">
                <a:ea typeface="宋体" panose="02010600030101010101" pitchFamily="2" charset="-122"/>
              </a:rPr>
              <a:t>“</a:t>
            </a:r>
            <a:r>
              <a:rPr lang="zh-CN" altLang="en-US" sz="2000" b="0" dirty="0">
                <a:latin typeface="Arial" panose="020B0604020202020204" pitchFamily="34" charset="0"/>
                <a:ea typeface="宋体" panose="02010600030101010101" pitchFamily="2" charset="-122"/>
              </a:rPr>
              <a:t>无体系结构</a:t>
            </a:r>
            <a:r>
              <a:rPr lang="zh-CN" altLang="en-US" sz="2000" b="0" dirty="0">
                <a:ea typeface="宋体" panose="02010600030101010101" pitchFamily="2" charset="-122"/>
              </a:rPr>
              <a:t>”</a:t>
            </a:r>
            <a:r>
              <a:rPr lang="zh-CN" altLang="en-US" sz="2000" b="0" dirty="0">
                <a:latin typeface="Arial" panose="020B0604020202020204" pitchFamily="34" charset="0"/>
                <a:ea typeface="宋体" panose="02010600030101010101" pitchFamily="2" charset="-122"/>
              </a:rPr>
              <a:t>设计阶段</a:t>
            </a:r>
            <a:endParaRPr lang="zh-CN" altLang="en-US" sz="2000" b="0" dirty="0">
              <a:latin typeface="Arial" panose="020B0604020202020204" pitchFamily="34" charset="0"/>
              <a:ea typeface="宋体" panose="02010600030101010101" pitchFamily="2" charset="-122"/>
            </a:endParaRPr>
          </a:p>
        </p:txBody>
      </p:sp>
      <p:sp>
        <p:nvSpPr>
          <p:cNvPr id="38917" name="Rectangle 7"/>
          <p:cNvSpPr/>
          <p:nvPr/>
        </p:nvSpPr>
        <p:spPr>
          <a:xfrm>
            <a:off x="987425" y="3414713"/>
            <a:ext cx="3200400" cy="406400"/>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r>
              <a:rPr lang="zh-CN" altLang="en-US" sz="2000" b="0" dirty="0">
                <a:latin typeface="Arial" panose="020B0604020202020204" pitchFamily="34" charset="0"/>
                <a:ea typeface="宋体" panose="02010600030101010101" pitchFamily="2" charset="-122"/>
              </a:rPr>
              <a:t>萌芽阶段</a:t>
            </a:r>
            <a:endParaRPr lang="zh-CN" altLang="en-US" sz="2000" b="0" dirty="0">
              <a:latin typeface="Arial" panose="020B0604020202020204" pitchFamily="34" charset="0"/>
              <a:ea typeface="宋体" panose="02010600030101010101" pitchFamily="2" charset="-122"/>
            </a:endParaRPr>
          </a:p>
        </p:txBody>
      </p:sp>
      <p:sp>
        <p:nvSpPr>
          <p:cNvPr id="38918" name="Line 10"/>
          <p:cNvSpPr/>
          <p:nvPr/>
        </p:nvSpPr>
        <p:spPr>
          <a:xfrm>
            <a:off x="2555875" y="2805113"/>
            <a:ext cx="0" cy="609600"/>
          </a:xfrm>
          <a:prstGeom prst="line">
            <a:avLst/>
          </a:prstGeom>
          <a:ln w="76200" cap="flat" cmpd="sng">
            <a:solidFill>
              <a:srgbClr val="FFC000"/>
            </a:solidFill>
            <a:prstDash val="solid"/>
            <a:headEnd type="none" w="med" len="med"/>
            <a:tailEnd type="triangle" w="med" len="med"/>
          </a:ln>
        </p:spPr>
      </p:sp>
      <p:sp>
        <p:nvSpPr>
          <p:cNvPr id="38919" name="Rectangle 15"/>
          <p:cNvSpPr/>
          <p:nvPr/>
        </p:nvSpPr>
        <p:spPr>
          <a:xfrm>
            <a:off x="5246688" y="2214563"/>
            <a:ext cx="3502025" cy="590550"/>
          </a:xfrm>
          <a:prstGeom prst="rect">
            <a:avLst/>
          </a:prstGeom>
          <a:solidFill>
            <a:srgbClr val="FFFF00"/>
          </a:solidFill>
          <a:ln w="9525" cap="flat" cmpd="sng">
            <a:solidFill>
              <a:srgbClr val="FFFF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50000"/>
              </a:spcBef>
              <a:buClrTx/>
              <a:buSzTx/>
              <a:buFontTx/>
              <a:buNone/>
            </a:pPr>
            <a:r>
              <a:rPr lang="zh-CN" altLang="en-US" sz="1600" b="0" dirty="0">
                <a:latin typeface="Arial" panose="020B0604020202020204" pitchFamily="34" charset="0"/>
                <a:ea typeface="宋体" panose="02010600030101010101" pitchFamily="2" charset="-122"/>
              </a:rPr>
              <a:t>以汇编语言进行小规模应用程序开发为特征</a:t>
            </a:r>
            <a:endParaRPr lang="zh-CN" altLang="en-US" sz="1600" b="0" dirty="0">
              <a:latin typeface="Arial" panose="020B0604020202020204" pitchFamily="34" charset="0"/>
              <a:ea typeface="宋体" panose="02010600030101010101" pitchFamily="2" charset="-122"/>
            </a:endParaRPr>
          </a:p>
        </p:txBody>
      </p:sp>
      <p:sp>
        <p:nvSpPr>
          <p:cNvPr id="38920" name="AutoShape 20"/>
          <p:cNvSpPr/>
          <p:nvPr/>
        </p:nvSpPr>
        <p:spPr>
          <a:xfrm>
            <a:off x="4416425" y="2209800"/>
            <a:ext cx="685800" cy="733425"/>
          </a:xfrm>
          <a:prstGeom prst="leftArrow">
            <a:avLst>
              <a:gd name="adj1" fmla="val 50000"/>
              <a:gd name="adj2" fmla="val 56250"/>
            </a:avLst>
          </a:prstGeom>
          <a:solidFill>
            <a:srgbClr val="FFC000"/>
          </a:solidFill>
          <a:ln w="9525" cap="flat" cmpd="sng">
            <a:solidFill>
              <a:srgbClr val="FFC0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endParaRPr lang="zh-CN" altLang="en-US" sz="1800" b="0" dirty="0">
              <a:latin typeface="Arial" panose="020B0604020202020204" pitchFamily="34" charset="0"/>
              <a:ea typeface="宋体" panose="02010600030101010101" pitchFamily="2" charset="-122"/>
            </a:endParaRPr>
          </a:p>
        </p:txBody>
      </p:sp>
      <p:sp>
        <p:nvSpPr>
          <p:cNvPr id="38921" name="Rectangle 19"/>
          <p:cNvSpPr/>
          <p:nvPr/>
        </p:nvSpPr>
        <p:spPr>
          <a:xfrm>
            <a:off x="5249863" y="5229225"/>
            <a:ext cx="3498850" cy="1323975"/>
          </a:xfrm>
          <a:prstGeom prst="rect">
            <a:avLst/>
          </a:prstGeom>
          <a:solidFill>
            <a:srgbClr val="FFFF00"/>
          </a:solidFill>
          <a:ln w="9525" cap="flat" cmpd="sng">
            <a:solidFill>
              <a:srgbClr val="FFFF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50000"/>
              </a:spcBef>
              <a:buClrTx/>
              <a:buSzTx/>
              <a:buFontTx/>
              <a:buNone/>
            </a:pPr>
            <a:r>
              <a:rPr lang="zh-CN" altLang="en-US" sz="1600" b="0" dirty="0">
                <a:latin typeface="Arial" panose="020B0604020202020204" pitchFamily="34" charset="0"/>
                <a:ea typeface="宋体" panose="02010600030101010101" pitchFamily="2" charset="-122"/>
              </a:rPr>
              <a:t>以描述系统的高层抽象结构为中心，不关心具体的建模细节，划分了体系结构模型与传统软件结构的界限，该阶段以</a:t>
            </a:r>
            <a:r>
              <a:rPr lang="en-US" altLang="zh-CN" sz="1600" b="0" dirty="0">
                <a:latin typeface="Arial" panose="020B0604020202020204" pitchFamily="34" charset="0"/>
                <a:ea typeface="宋体" panose="02010600030101010101" pitchFamily="2" charset="-122"/>
              </a:rPr>
              <a:t>Kruchten</a:t>
            </a:r>
            <a:r>
              <a:rPr lang="zh-CN" altLang="en-US" sz="1600" b="0" dirty="0">
                <a:latin typeface="Arial" panose="020B0604020202020204" pitchFamily="34" charset="0"/>
                <a:ea typeface="宋体" panose="02010600030101010101" pitchFamily="2" charset="-122"/>
              </a:rPr>
              <a:t>提出的</a:t>
            </a:r>
            <a:r>
              <a:rPr lang="zh-CN" altLang="en-US" sz="1600" b="0" dirty="0">
                <a:ea typeface="宋体" panose="02010600030101010101" pitchFamily="2" charset="-122"/>
              </a:rPr>
              <a:t>“</a:t>
            </a:r>
            <a:r>
              <a:rPr lang="en-US" altLang="zh-CN" sz="1600" b="0" dirty="0">
                <a:latin typeface="Arial" panose="020B0604020202020204" pitchFamily="34" charset="0"/>
                <a:ea typeface="宋体" panose="02010600030101010101" pitchFamily="2" charset="-122"/>
              </a:rPr>
              <a:t>4+1</a:t>
            </a:r>
            <a:r>
              <a:rPr lang="en-US" altLang="zh-CN" sz="1600" b="0" dirty="0">
                <a:ea typeface="宋体" panose="02010600030101010101" pitchFamily="2" charset="-122"/>
              </a:rPr>
              <a:t>”</a:t>
            </a:r>
            <a:r>
              <a:rPr lang="zh-CN" altLang="en-US" sz="1600" b="0" dirty="0">
                <a:latin typeface="Arial" panose="020B0604020202020204" pitchFamily="34" charset="0"/>
                <a:ea typeface="宋体" panose="02010600030101010101" pitchFamily="2" charset="-122"/>
              </a:rPr>
              <a:t>模型为标志</a:t>
            </a:r>
            <a:endParaRPr lang="zh-CN" altLang="en-US" sz="2000" b="0" dirty="0">
              <a:latin typeface="Arial" panose="020B0604020202020204" pitchFamily="34" charset="0"/>
              <a:ea typeface="宋体" panose="02010600030101010101" pitchFamily="2" charset="-122"/>
            </a:endParaRPr>
          </a:p>
        </p:txBody>
      </p:sp>
      <p:sp>
        <p:nvSpPr>
          <p:cNvPr id="38922" name="AutoShape 21"/>
          <p:cNvSpPr/>
          <p:nvPr/>
        </p:nvSpPr>
        <p:spPr>
          <a:xfrm>
            <a:off x="4416425" y="5441950"/>
            <a:ext cx="685800" cy="733425"/>
          </a:xfrm>
          <a:prstGeom prst="leftArrow">
            <a:avLst>
              <a:gd name="adj1" fmla="val 50000"/>
              <a:gd name="adj2" fmla="val 56250"/>
            </a:avLst>
          </a:prstGeom>
          <a:solidFill>
            <a:srgbClr val="FFC000"/>
          </a:solidFill>
          <a:ln w="9525" cap="flat" cmpd="sng">
            <a:solidFill>
              <a:srgbClr val="FFC0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endParaRPr lang="zh-CN" altLang="en-US" sz="1800" b="0" dirty="0">
              <a:latin typeface="Arial" panose="020B0604020202020204" pitchFamily="34" charset="0"/>
              <a:ea typeface="宋体" panose="02010600030101010101" pitchFamily="2" charset="-122"/>
            </a:endParaRPr>
          </a:p>
        </p:txBody>
      </p:sp>
      <p:sp>
        <p:nvSpPr>
          <p:cNvPr id="38923" name="Rectangle 18"/>
          <p:cNvSpPr/>
          <p:nvPr/>
        </p:nvSpPr>
        <p:spPr>
          <a:xfrm>
            <a:off x="5254625" y="4302125"/>
            <a:ext cx="3494088" cy="590550"/>
          </a:xfrm>
          <a:prstGeom prst="rect">
            <a:avLst/>
          </a:prstGeom>
          <a:solidFill>
            <a:srgbClr val="FFFF00"/>
          </a:solidFill>
          <a:ln w="9525" cap="flat" cmpd="sng">
            <a:solidFill>
              <a:srgbClr val="FFFF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50000"/>
              </a:spcBef>
              <a:buClrTx/>
              <a:buSzTx/>
              <a:buFontTx/>
              <a:buNone/>
            </a:pPr>
            <a:r>
              <a:rPr lang="zh-CN" altLang="en-US" sz="1600" b="0" dirty="0">
                <a:latin typeface="Arial" panose="020B0604020202020204" pitchFamily="34" charset="0"/>
                <a:ea typeface="宋体" panose="02010600030101010101" pitchFamily="2" charset="-122"/>
              </a:rPr>
              <a:t>出现了从不同侧面描述系统的结构模型，以</a:t>
            </a:r>
            <a:r>
              <a:rPr lang="en-US" altLang="zh-CN" sz="1600" b="0" dirty="0">
                <a:latin typeface="Arial" panose="020B0604020202020204" pitchFamily="34" charset="0"/>
                <a:ea typeface="宋体" panose="02010600030101010101" pitchFamily="2" charset="-122"/>
              </a:rPr>
              <a:t>UML</a:t>
            </a:r>
            <a:r>
              <a:rPr lang="zh-CN" altLang="en-US" sz="1600" b="0" dirty="0">
                <a:latin typeface="Arial" panose="020B0604020202020204" pitchFamily="34" charset="0"/>
                <a:ea typeface="宋体" panose="02010600030101010101" pitchFamily="2" charset="-122"/>
              </a:rPr>
              <a:t>为典型代表。</a:t>
            </a:r>
            <a:endParaRPr lang="zh-CN" altLang="en-US" sz="1600" b="0" dirty="0">
              <a:latin typeface="Arial" panose="020B0604020202020204" pitchFamily="34" charset="0"/>
              <a:ea typeface="宋体" panose="02010600030101010101" pitchFamily="2" charset="-122"/>
            </a:endParaRPr>
          </a:p>
        </p:txBody>
      </p:sp>
      <p:sp>
        <p:nvSpPr>
          <p:cNvPr id="38924" name="AutoShape 22"/>
          <p:cNvSpPr/>
          <p:nvPr/>
        </p:nvSpPr>
        <p:spPr>
          <a:xfrm>
            <a:off x="4427538" y="4221163"/>
            <a:ext cx="685800" cy="733425"/>
          </a:xfrm>
          <a:prstGeom prst="leftArrow">
            <a:avLst>
              <a:gd name="adj1" fmla="val 50000"/>
              <a:gd name="adj2" fmla="val 56250"/>
            </a:avLst>
          </a:prstGeom>
          <a:solidFill>
            <a:srgbClr val="FFC000"/>
          </a:solidFill>
          <a:ln w="9525" cap="flat" cmpd="sng">
            <a:solidFill>
              <a:srgbClr val="FFC0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endParaRPr lang="zh-CN" altLang="en-US" sz="1800" b="0" dirty="0">
              <a:latin typeface="Arial" panose="020B0604020202020204" pitchFamily="34" charset="0"/>
              <a:ea typeface="宋体" panose="02010600030101010101" pitchFamily="2" charset="-122"/>
            </a:endParaRPr>
          </a:p>
        </p:txBody>
      </p:sp>
      <p:sp>
        <p:nvSpPr>
          <p:cNvPr id="38925" name="Rectangle 16"/>
          <p:cNvSpPr/>
          <p:nvPr/>
        </p:nvSpPr>
        <p:spPr>
          <a:xfrm>
            <a:off x="5254625" y="3294063"/>
            <a:ext cx="3494088" cy="590550"/>
          </a:xfrm>
          <a:prstGeom prst="rect">
            <a:avLst/>
          </a:prstGeom>
          <a:solidFill>
            <a:srgbClr val="FFFF00"/>
          </a:solidFill>
          <a:ln w="9525" cap="flat" cmpd="sng">
            <a:solidFill>
              <a:srgbClr val="FFFF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50000"/>
              </a:spcBef>
              <a:buClrTx/>
              <a:buSzTx/>
              <a:buFontTx/>
              <a:buNone/>
            </a:pPr>
            <a:r>
              <a:rPr lang="zh-CN" altLang="en-US" sz="1600" b="0" dirty="0">
                <a:latin typeface="Arial" panose="020B0604020202020204" pitchFamily="34" charset="0"/>
                <a:ea typeface="宋体" panose="02010600030101010101" pitchFamily="2" charset="-122"/>
              </a:rPr>
              <a:t>出现了程序结构设计主题，以</a:t>
            </a:r>
            <a:r>
              <a:rPr lang="zh-CN" altLang="en-US" sz="1600" b="0" dirty="0">
                <a:solidFill>
                  <a:srgbClr val="FF0000"/>
                </a:solidFill>
                <a:latin typeface="Arial" panose="020B0604020202020204" pitchFamily="34" charset="0"/>
                <a:ea typeface="宋体" panose="02010600030101010101" pitchFamily="2" charset="-122"/>
              </a:rPr>
              <a:t>控制流图和数据流图</a:t>
            </a:r>
            <a:r>
              <a:rPr lang="zh-CN" altLang="en-US" sz="1600" b="0" dirty="0">
                <a:latin typeface="Arial" panose="020B0604020202020204" pitchFamily="34" charset="0"/>
                <a:ea typeface="宋体" panose="02010600030101010101" pitchFamily="2" charset="-122"/>
              </a:rPr>
              <a:t>构成软件结构为特征</a:t>
            </a:r>
            <a:endParaRPr lang="zh-CN" altLang="en-US" sz="1600" b="0" dirty="0">
              <a:latin typeface="Arial" panose="020B0604020202020204" pitchFamily="34" charset="0"/>
              <a:ea typeface="宋体" panose="02010600030101010101" pitchFamily="2" charset="-122"/>
            </a:endParaRPr>
          </a:p>
        </p:txBody>
      </p:sp>
      <p:sp>
        <p:nvSpPr>
          <p:cNvPr id="38926" name="AutoShape 23"/>
          <p:cNvSpPr/>
          <p:nvPr/>
        </p:nvSpPr>
        <p:spPr>
          <a:xfrm>
            <a:off x="4427538" y="3213100"/>
            <a:ext cx="685800" cy="733425"/>
          </a:xfrm>
          <a:prstGeom prst="leftArrow">
            <a:avLst>
              <a:gd name="adj1" fmla="val 50000"/>
              <a:gd name="adj2" fmla="val 56250"/>
            </a:avLst>
          </a:prstGeom>
          <a:solidFill>
            <a:srgbClr val="FFC000"/>
          </a:solidFill>
          <a:ln w="9525" cap="flat" cmpd="sng">
            <a:solidFill>
              <a:srgbClr val="FFC000"/>
            </a:solidFill>
            <a:prstDash val="solid"/>
            <a:miter/>
            <a:headEnd type="none" w="med" len="med"/>
            <a:tailEnd type="none" w="med" len="med"/>
          </a:ln>
        </p:spPr>
        <p:txBody>
          <a:bodyPr anchor="ctr" anchorCtr="0">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endParaRPr lang="zh-CN" altLang="en-US" sz="1800" b="0" dirty="0">
              <a:latin typeface="Arial" panose="020B0604020202020204" pitchFamily="34" charset="0"/>
              <a:ea typeface="宋体" panose="02010600030101010101" pitchFamily="2" charset="-122"/>
            </a:endParaRPr>
          </a:p>
        </p:txBody>
      </p:sp>
      <p:sp>
        <p:nvSpPr>
          <p:cNvPr id="38927" name="Rectangle 9"/>
          <p:cNvSpPr/>
          <p:nvPr/>
        </p:nvSpPr>
        <p:spPr>
          <a:xfrm>
            <a:off x="987425" y="5516563"/>
            <a:ext cx="3200400" cy="406400"/>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r>
              <a:rPr lang="zh-CN" altLang="en-US" sz="2000" b="0" dirty="0">
                <a:latin typeface="Arial" panose="020B0604020202020204" pitchFamily="34" charset="0"/>
                <a:ea typeface="宋体" panose="02010600030101010101" pitchFamily="2" charset="-122"/>
              </a:rPr>
              <a:t>高级阶段</a:t>
            </a:r>
            <a:endParaRPr lang="zh-CN" altLang="en-US" sz="2000" b="0" dirty="0">
              <a:latin typeface="Arial" panose="020B0604020202020204" pitchFamily="34" charset="0"/>
              <a:ea typeface="宋体" panose="02010600030101010101" pitchFamily="2" charset="-122"/>
            </a:endParaRPr>
          </a:p>
        </p:txBody>
      </p:sp>
      <p:sp>
        <p:nvSpPr>
          <p:cNvPr id="38928" name="Line 28"/>
          <p:cNvSpPr/>
          <p:nvPr/>
        </p:nvSpPr>
        <p:spPr>
          <a:xfrm>
            <a:off x="2555875" y="4862513"/>
            <a:ext cx="15875" cy="654050"/>
          </a:xfrm>
          <a:prstGeom prst="line">
            <a:avLst/>
          </a:prstGeom>
          <a:ln w="76200" cap="flat" cmpd="sng">
            <a:solidFill>
              <a:srgbClr val="FFC000"/>
            </a:solidFill>
            <a:prstDash val="solid"/>
            <a:headEnd type="none" w="med" len="med"/>
            <a:tailEnd type="triangle" w="med" len="med"/>
          </a:ln>
        </p:spPr>
      </p:sp>
      <p:sp>
        <p:nvSpPr>
          <p:cNvPr id="38929" name="Rectangle 8"/>
          <p:cNvSpPr/>
          <p:nvPr/>
        </p:nvSpPr>
        <p:spPr>
          <a:xfrm>
            <a:off x="987425" y="4456113"/>
            <a:ext cx="3200400" cy="406400"/>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stStyle>
          <a:p>
            <a:pPr marL="0" lvl="0" indent="0" algn="ctr" eaLnBrk="1" hangingPunct="1">
              <a:spcBef>
                <a:spcPct val="0"/>
              </a:spcBef>
              <a:buClrTx/>
              <a:buSzTx/>
              <a:buFontTx/>
              <a:buNone/>
            </a:pPr>
            <a:r>
              <a:rPr lang="zh-CN" altLang="en-US" sz="2000" b="0" dirty="0">
                <a:latin typeface="Arial" panose="020B0604020202020204" pitchFamily="34" charset="0"/>
                <a:ea typeface="宋体" panose="02010600030101010101" pitchFamily="2" charset="-122"/>
              </a:rPr>
              <a:t>初期阶段</a:t>
            </a:r>
            <a:endParaRPr lang="zh-CN" altLang="en-US" sz="2000" b="0" dirty="0">
              <a:latin typeface="Arial" panose="020B0604020202020204" pitchFamily="34" charset="0"/>
              <a:ea typeface="宋体" panose="02010600030101010101" pitchFamily="2" charset="-122"/>
            </a:endParaRPr>
          </a:p>
        </p:txBody>
      </p:sp>
      <p:sp>
        <p:nvSpPr>
          <p:cNvPr id="38930" name="Line 29"/>
          <p:cNvSpPr/>
          <p:nvPr/>
        </p:nvSpPr>
        <p:spPr>
          <a:xfrm>
            <a:off x="2555875" y="3795713"/>
            <a:ext cx="0" cy="685800"/>
          </a:xfrm>
          <a:prstGeom prst="line">
            <a:avLst/>
          </a:prstGeom>
          <a:ln w="76200" cap="flat" cmpd="sng">
            <a:solidFill>
              <a:srgbClr val="FFC0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9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9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9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9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9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9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9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8917" grpId="0" animBg="1"/>
      <p:bldP spid="38919" grpId="0" animBg="1"/>
      <p:bldP spid="38920" grpId="0" animBg="1"/>
      <p:bldP spid="38921" grpId="0" animBg="1"/>
      <p:bldP spid="38922" grpId="0" animBg="1"/>
      <p:bldP spid="38923" grpId="0" animBg="1"/>
      <p:bldP spid="38924" grpId="0" animBg="1"/>
      <p:bldP spid="38925" grpId="0" bldLvl="0" animBg="1"/>
      <p:bldP spid="38926" grpId="0" animBg="1"/>
      <p:bldP spid="38927" grpId="0" animBg="1"/>
      <p:bldP spid="389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5" name="内容占位符 2"/>
          <p:cNvSpPr>
            <a:spLocks noGrp="1"/>
          </p:cNvSpPr>
          <p:nvPr>
            <p:ph sz="quarter" idx="1"/>
          </p:nvPr>
        </p:nvSpPr>
        <p:spPr>
          <a:xfrm>
            <a:off x="457200" y="1600200"/>
            <a:ext cx="8013700" cy="609600"/>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软件体系结构</a:t>
            </a:r>
            <a:r>
              <a:rPr lang="en-US" altLang="zh-CN" dirty="0">
                <a:ea typeface="宋体" panose="02010600030101010101" pitchFamily="2" charset="-122"/>
              </a:rPr>
              <a:t>4</a:t>
            </a:r>
            <a:r>
              <a:rPr lang="zh-CN" altLang="en-US" dirty="0">
                <a:ea typeface="宋体" panose="02010600030101010101" pitchFamily="2" charset="-122"/>
              </a:rPr>
              <a:t>个角度，分别从不同方面对系统进行描述</a:t>
            </a:r>
            <a:endParaRPr lang="zh-CN" altLang="en-US" dirty="0">
              <a:ea typeface="宋体" panose="02010600030101010101" pitchFamily="2" charset="-122"/>
            </a:endParaRPr>
          </a:p>
          <a:p>
            <a:pPr lvl="1">
              <a:buClr>
                <a:schemeClr val="accent1"/>
              </a:buClr>
              <a:buSzPct val="70000"/>
              <a:buFont typeface="Wingdings" panose="05000000000000000000" pitchFamily="2" charset="2"/>
            </a:pP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dirty="0">
                <a:ea typeface="宋体" panose="02010600030101010101" pitchFamily="2" charset="-122"/>
              </a:rPr>
              <a:t>概念角度，描述系统的主要构件及他们之间的关系</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dirty="0">
                <a:ea typeface="宋体" panose="02010600030101010101" pitchFamily="2" charset="-122"/>
              </a:rPr>
              <a:t>模块角度，包含功能分解与层次结构</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dirty="0">
                <a:ea typeface="宋体" panose="02010600030101010101" pitchFamily="2" charset="-122"/>
              </a:rPr>
              <a:t>运行角度，描述一个系统的动态结构</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dirty="0">
                <a:ea typeface="宋体" panose="02010600030101010101" pitchFamily="2" charset="-122"/>
              </a:rPr>
              <a:t>代码角度，描述各种代码和库函数在开发环境中的组织</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a:xfrm>
            <a:off x="457200" y="1600200"/>
            <a:ext cx="797941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软件体系结构描述的</a:t>
            </a:r>
            <a:r>
              <a:rPr lang="zh-CN" altLang="en-US" dirty="0">
                <a:solidFill>
                  <a:srgbClr val="0070C0"/>
                </a:solidFill>
                <a:ea typeface="宋体" panose="02010600030101010101" pitchFamily="2" charset="-122"/>
              </a:rPr>
              <a:t>内容要求</a:t>
            </a:r>
            <a:endParaRPr lang="zh-CN" altLang="en-US" dirty="0">
              <a:solidFill>
                <a:srgbClr val="0070C0"/>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功能性：指系统需要</a:t>
            </a:r>
            <a:r>
              <a:rPr lang="zh-CN" altLang="en-US" sz="2000" b="0" dirty="0">
                <a:solidFill>
                  <a:schemeClr val="tx1"/>
                </a:solidFill>
                <a:ea typeface="宋体" panose="02010600030101010101" pitchFamily="2" charset="-122"/>
              </a:rPr>
              <a:t>做什么</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性能：指在重度负载下系统将如何</a:t>
            </a:r>
            <a:r>
              <a:rPr lang="zh-CN" altLang="en-US" sz="2000" b="0" dirty="0">
                <a:solidFill>
                  <a:schemeClr val="tx1"/>
                </a:solidFill>
                <a:ea typeface="宋体" panose="02010600030101010101" pitchFamily="2" charset="-122"/>
              </a:rPr>
              <a:t>运转</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安全性：指系统是否有保护用户信息的</a:t>
            </a:r>
            <a:r>
              <a:rPr lang="zh-CN" altLang="en-US" sz="2000" b="0" dirty="0">
                <a:solidFill>
                  <a:schemeClr val="tx1"/>
                </a:solidFill>
                <a:ea typeface="宋体" panose="02010600030101010101" pitchFamily="2" charset="-122"/>
              </a:rPr>
              <a:t>足够能力</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可行性：指是否可以实现该系统</a:t>
            </a:r>
            <a:endParaRPr lang="zh-CN" altLang="en-US" sz="2000" b="0" dirty="0">
              <a:solidFill>
                <a:srgbClr val="0070C0"/>
              </a:solidFill>
              <a:ea typeface="宋体" panose="02010600030101010101" pitchFamily="2" charset="-122"/>
            </a:endParaRPr>
          </a:p>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软件体系结构描述的</a:t>
            </a:r>
            <a:r>
              <a:rPr lang="zh-CN" altLang="en-US" dirty="0">
                <a:solidFill>
                  <a:srgbClr val="0070C0"/>
                </a:solidFill>
                <a:ea typeface="宋体" panose="02010600030101010101" pitchFamily="2" charset="-122"/>
              </a:rPr>
              <a:t>标准</a:t>
            </a:r>
            <a:endParaRPr lang="zh-CN" altLang="en-US" dirty="0">
              <a:solidFill>
                <a:srgbClr val="0070C0"/>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体系结构设计的标识、版本、总体信息</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系统参与者的标识以及在体系结构中他们所关注方面的标识</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组织体系结构所选择的视点规格说明以及这种选择的基本原理</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一个或多个体系结构视图</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体系结构描述所需的成分之间不一致的</a:t>
            </a:r>
            <a:r>
              <a:rPr lang="zh-CN" altLang="en-US" sz="2000" b="0" dirty="0">
                <a:solidFill>
                  <a:schemeClr val="tx1"/>
                </a:solidFill>
                <a:ea typeface="宋体" panose="02010600030101010101" pitchFamily="2" charset="-122"/>
              </a:rPr>
              <a:t>记录</a:t>
            </a:r>
            <a:endParaRPr lang="zh-CN" altLang="en-US" sz="2000" b="0" dirty="0">
              <a:solidFill>
                <a:schemeClr val="tx1"/>
              </a:solidFill>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solidFill>
                  <a:schemeClr val="tx1"/>
                </a:solidFill>
                <a:ea typeface="宋体" panose="02010600030101010101" pitchFamily="2" charset="-122"/>
              </a:rPr>
              <a:t>体系结构选择的</a:t>
            </a:r>
            <a:r>
              <a:rPr lang="zh-CN" altLang="en-US" sz="2000" b="0" dirty="0">
                <a:solidFill>
                  <a:schemeClr val="tx1"/>
                </a:solidFill>
                <a:ea typeface="宋体" panose="02010600030101010101" pitchFamily="2" charset="-122"/>
              </a:rPr>
              <a:t>基本原理</a:t>
            </a:r>
            <a:endParaRPr lang="zh-CN" altLang="en-US" sz="2000" b="0" dirty="0">
              <a:solidFill>
                <a:schemeClr val="tx1"/>
              </a:solidFill>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软件体系结构描述语言</a:t>
            </a:r>
            <a:r>
              <a:rPr lang="zh-CN" altLang="en-US" dirty="0">
                <a:ea typeface="宋体" panose="02010600030101010101" pitchFamily="2" charset="-122"/>
              </a:rPr>
              <a:t>（</a:t>
            </a:r>
            <a:r>
              <a:rPr lang="en-US" altLang="zh-CN" dirty="0">
                <a:ea typeface="宋体" panose="02010600030101010101" pitchFamily="2" charset="-122"/>
              </a:rPr>
              <a:t> ADL </a:t>
            </a:r>
            <a:r>
              <a:rPr lang="zh-CN" altLang="en-US" dirty="0">
                <a:ea typeface="宋体" panose="02010600030101010101" pitchFamily="2" charset="-122"/>
              </a:rPr>
              <a:t>）</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ADL</a:t>
            </a:r>
            <a:r>
              <a:rPr lang="zh-CN" altLang="en-US" dirty="0">
                <a:ea typeface="宋体" panose="02010600030101010101" pitchFamily="2" charset="-122"/>
              </a:rPr>
              <a:t>提供了具体的语法与刻画体系结构的概念框架。</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ADL</a:t>
            </a:r>
            <a:r>
              <a:rPr lang="zh-CN" altLang="en-US" dirty="0">
                <a:ea typeface="宋体" panose="02010600030101010101" pitchFamily="2" charset="-122"/>
              </a:rPr>
              <a:t>使得系统开发者能够很好地描述他们设计的体系结构，以便与他人交流，能够用提供的工具对许多实例进行分析。 </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a:xfrm>
            <a:off x="457200" y="1417955"/>
            <a:ext cx="7467600" cy="4873752"/>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软件体系结构描述语言</a:t>
            </a:r>
            <a:r>
              <a:rPr lang="zh-CN" altLang="en-US" dirty="0">
                <a:ea typeface="宋体" panose="02010600030101010101" pitchFamily="2" charset="-122"/>
              </a:rPr>
              <a:t>（</a:t>
            </a:r>
            <a:r>
              <a:rPr lang="en-US" altLang="zh-CN" dirty="0">
                <a:ea typeface="宋体" panose="02010600030101010101" pitchFamily="2" charset="-122"/>
              </a:rPr>
              <a:t> ADL </a:t>
            </a:r>
            <a:r>
              <a:rPr lang="zh-CN" altLang="en-US" dirty="0">
                <a:ea typeface="宋体" panose="02010600030101010101" pitchFamily="2" charset="-122"/>
              </a:rPr>
              <a:t>）</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三个基本元素：构件、连接件、</a:t>
            </a:r>
            <a:r>
              <a:rPr lang="zh-CN" altLang="en-US" dirty="0">
                <a:ea typeface="宋体" panose="02010600030101010101" pitchFamily="2" charset="-122"/>
              </a:rPr>
              <a:t>体系结构配置</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通常解决</a:t>
            </a:r>
            <a:r>
              <a:rPr lang="zh-CN" altLang="en-US" dirty="0">
                <a:ea typeface="宋体" panose="02010600030101010101" pitchFamily="2" charset="-122"/>
              </a:rPr>
              <a:t>以下问题：</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软件行为规格说明</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软件协议规格说明</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连接件规格说明</a:t>
            </a:r>
            <a:endParaRPr lang="zh-CN" altLang="en-US" sz="2000" b="0" dirty="0">
              <a:ea typeface="宋体" panose="02010600030101010101" pitchFamily="2" charset="-122"/>
            </a:endParaRPr>
          </a:p>
          <a:p>
            <a:pPr lvl="0">
              <a:buClr>
                <a:schemeClr val="accent1"/>
              </a:buClr>
              <a:buSzPct val="70000"/>
              <a:buFont typeface="Wingdings" panose="05000000000000000000" pitchFamily="2" charset="2"/>
            </a:pPr>
            <a:r>
              <a:rPr lang="en-US" altLang="zh-CN" dirty="0">
                <a:ea typeface="宋体" panose="02010600030101010101" pitchFamily="2" charset="-122"/>
              </a:rPr>
              <a:t>ADL</a:t>
            </a:r>
            <a:r>
              <a:rPr lang="zh-CN" altLang="en-US" dirty="0">
                <a:ea typeface="宋体" panose="02010600030101010101" pitchFamily="2" charset="-122"/>
              </a:rPr>
              <a:t>特点</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简单、可理解</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有一个具体框架，能反映出</a:t>
            </a:r>
            <a:r>
              <a:rPr lang="en-US" altLang="zh-CN" sz="2000" b="0" dirty="0">
                <a:ea typeface="宋体" panose="02010600030101010101" pitchFamily="2" charset="-122"/>
              </a:rPr>
              <a:t>ADL</a:t>
            </a:r>
            <a:r>
              <a:rPr lang="zh-CN" altLang="en-US" sz="2000" b="0" dirty="0">
                <a:ea typeface="宋体" panose="02010600030101010101" pitchFamily="2" charset="-122"/>
              </a:rPr>
              <a:t>所描述的领域的特点</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能清晰地对构件和连接件进行抽象建模</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能清晰地对静态和动态的体系结构建模</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具有层次化</a:t>
            </a:r>
            <a:r>
              <a:rPr lang="zh-CN" altLang="en-US" sz="2000" b="0" dirty="0">
                <a:ea typeface="宋体" panose="02010600030101010101" pitchFamily="2" charset="-122"/>
              </a:rPr>
              <a:t>组织</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具有映射行为的</a:t>
            </a:r>
            <a:r>
              <a:rPr lang="zh-CN" altLang="en-US" sz="2000" b="0" dirty="0">
                <a:ea typeface="宋体" panose="02010600030101010101" pitchFamily="2" charset="-122"/>
              </a:rPr>
              <a:t>能力</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支持可视化设计和</a:t>
            </a:r>
            <a:r>
              <a:rPr lang="zh-CN" altLang="en-US" sz="2000" b="0" dirty="0">
                <a:ea typeface="宋体" panose="02010600030101010101" pitchFamily="2" charset="-122"/>
              </a:rPr>
              <a:t>分析工具</a:t>
            </a:r>
            <a:endParaRPr lang="zh-CN" altLang="en-US" sz="2000" b="0" dirty="0">
              <a:ea typeface="宋体" panose="02010600030101010101" pitchFamily="2" charset="-122"/>
            </a:endParaRPr>
          </a:p>
          <a:p>
            <a:pPr>
              <a:buClr>
                <a:schemeClr val="accent1"/>
              </a:buClr>
              <a:buSzPct val="70000"/>
              <a:buFont typeface="Wingdings" panose="05000000000000000000" pitchFamily="2" charset="2"/>
            </a:pPr>
            <a:endParaRPr lang="zh-CN" altLang="en-US" sz="2000" b="0" dirty="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8.1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软件体系结构概述</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a:xfrm>
            <a:off x="457200" y="1417955"/>
            <a:ext cx="8217535" cy="4873625"/>
          </a:xfrm>
        </p:spPr>
        <p:txBody>
          <a:bodyPr vert="horz" wrap="square" lIns="91440" tIns="45720" rIns="91440" bIns="45720" anchor="t" anchorCtr="0"/>
          <a:p>
            <a:pPr>
              <a:buClr>
                <a:schemeClr val="accent1"/>
              </a:buClr>
              <a:buSzPct val="70000"/>
              <a:buFont typeface="Wingdings" panose="05000000000000000000" pitchFamily="2" charset="2"/>
            </a:pPr>
            <a:r>
              <a:rPr lang="en-US" altLang="zh-CN" sz="2000" dirty="0">
                <a:solidFill>
                  <a:schemeClr val="accent2">
                    <a:lumMod val="75000"/>
                  </a:schemeClr>
                </a:solidFill>
                <a:ea typeface="宋体" panose="02010600030101010101" pitchFamily="2" charset="-122"/>
              </a:rPr>
              <a:t>UML是非专利的第三代建模和规约语言，属于ADL的一种。</a:t>
            </a:r>
            <a:endParaRPr lang="en-US" altLang="zh-CN" sz="2000" dirty="0">
              <a:solidFill>
                <a:schemeClr val="accent2">
                  <a:lumMod val="75000"/>
                </a:schemeClr>
              </a:solidFill>
              <a:ea typeface="宋体" panose="02010600030101010101" pitchFamily="2" charset="-122"/>
            </a:endParaRPr>
          </a:p>
          <a:p>
            <a:pPr>
              <a:buClr>
                <a:schemeClr val="accent1"/>
              </a:buClr>
              <a:buSzPct val="70000"/>
              <a:buFont typeface="Wingdings" panose="05000000000000000000" pitchFamily="2" charset="2"/>
            </a:pPr>
            <a:r>
              <a:rPr lang="en-US" altLang="zh-CN" sz="2000" dirty="0">
                <a:ea typeface="宋体" panose="02010600030101010101" pitchFamily="2" charset="-122"/>
              </a:rPr>
              <a:t>区别如下：</a:t>
            </a:r>
            <a:endParaRPr lang="en-US" altLang="zh-CN" sz="2000" dirty="0">
              <a:ea typeface="宋体" panose="02010600030101010101" pitchFamily="2" charset="-122"/>
            </a:endParaRPr>
          </a:p>
          <a:p>
            <a:pPr>
              <a:buClr>
                <a:schemeClr val="accent1"/>
              </a:buClr>
              <a:buSzPct val="70000"/>
              <a:buFont typeface="Wingdings" panose="05000000000000000000" pitchFamily="2" charset="2"/>
            </a:pPr>
            <a:r>
              <a:rPr lang="en-US" altLang="zh-CN" sz="2000" b="0" dirty="0">
                <a:ea typeface="宋体" panose="02010600030101010101" pitchFamily="2" charset="-122"/>
              </a:rPr>
              <a:t>语言的范畴不同：</a:t>
            </a:r>
            <a:endParaRPr lang="en-US" altLang="zh-CN" sz="2000" b="0" dirty="0">
              <a:ea typeface="宋体" panose="02010600030101010101" pitchFamily="2" charset="-122"/>
            </a:endParaRPr>
          </a:p>
          <a:p>
            <a:pPr lvl="1">
              <a:buClr>
                <a:schemeClr val="accent1"/>
              </a:buClr>
              <a:buSzPct val="70000"/>
              <a:buFont typeface="Wingdings" panose="05000000000000000000" pitchFamily="2" charset="2"/>
            </a:pPr>
            <a:r>
              <a:rPr lang="en-US" altLang="zh-CN" sz="2000" b="0" dirty="0">
                <a:ea typeface="宋体" panose="02010600030101010101" pitchFamily="2" charset="-122"/>
              </a:rPr>
              <a:t>ADL是一种能够建立软件系统概念化体系结构的语言。ADL能够刻画体系结构的具体语法和概念框架。UML作为第三代建模语言，严格地定义了对象元模型的语义，并为对象结构、行为的捕获和通信提供了符号表示。UML只是ADL的一种。</a:t>
            </a:r>
            <a:endParaRPr lang="en-US" altLang="zh-CN" sz="2000" b="0" dirty="0">
              <a:ea typeface="宋体" panose="02010600030101010101" pitchFamily="2" charset="-122"/>
            </a:endParaRPr>
          </a:p>
          <a:p>
            <a:pPr>
              <a:buClr>
                <a:schemeClr val="accent1"/>
              </a:buClr>
              <a:buSzPct val="70000"/>
              <a:buFont typeface="Wingdings" panose="05000000000000000000" pitchFamily="2" charset="2"/>
            </a:pPr>
            <a:r>
              <a:rPr lang="en-US" altLang="zh-CN" sz="2000" b="0" dirty="0">
                <a:ea typeface="宋体" panose="02010600030101010101" pitchFamily="2" charset="-122"/>
              </a:rPr>
              <a:t>工程实践能力不同：</a:t>
            </a:r>
            <a:endParaRPr lang="en-US" altLang="zh-CN" sz="2000" b="0" dirty="0">
              <a:ea typeface="宋体" panose="02010600030101010101" pitchFamily="2" charset="-122"/>
            </a:endParaRPr>
          </a:p>
          <a:p>
            <a:pPr lvl="1">
              <a:buClr>
                <a:schemeClr val="accent1"/>
              </a:buClr>
              <a:buSzPct val="70000"/>
              <a:buFont typeface="Wingdings" panose="05000000000000000000" pitchFamily="2" charset="2"/>
            </a:pPr>
            <a:r>
              <a:rPr lang="en-US" altLang="zh-CN" sz="2000" b="0" dirty="0">
                <a:ea typeface="宋体" panose="02010600030101010101" pitchFamily="2" charset="-122"/>
              </a:rPr>
              <a:t>UML展现了一系列最佳工程实践，这些最佳实践在对大规模，复杂系统进行建模方面，特别是在软件架构层次已经被验证有效。而ADL则是更高层次的抽象概念，</a:t>
            </a:r>
            <a:endParaRPr lang="en-US" altLang="zh-CN" sz="2000" b="0" dirty="0">
              <a:ea typeface="宋体" panose="02010600030101010101" pitchFamily="2" charset="-122"/>
            </a:endParaRPr>
          </a:p>
          <a:p>
            <a:pPr>
              <a:buClr>
                <a:schemeClr val="accent1"/>
              </a:buClr>
              <a:buSzPct val="70000"/>
              <a:buFont typeface="Wingdings" panose="05000000000000000000" pitchFamily="2" charset="2"/>
            </a:pPr>
            <a:r>
              <a:rPr lang="en-US" altLang="zh-CN" sz="2000" b="0" dirty="0">
                <a:ea typeface="宋体" panose="02010600030101010101" pitchFamily="2" charset="-122"/>
              </a:rPr>
              <a:t>应用的侧重点不同：</a:t>
            </a:r>
            <a:endParaRPr lang="en-US" altLang="zh-CN" sz="2000" b="0" dirty="0">
              <a:ea typeface="宋体" panose="02010600030101010101" pitchFamily="2" charset="-122"/>
            </a:endParaRPr>
          </a:p>
          <a:p>
            <a:pPr lvl="1">
              <a:buClr>
                <a:schemeClr val="accent1"/>
              </a:buClr>
              <a:buSzPct val="70000"/>
              <a:buFont typeface="Wingdings" panose="05000000000000000000" pitchFamily="2" charset="2"/>
            </a:pPr>
            <a:r>
              <a:rPr lang="en-US" altLang="zh-CN" sz="2000" b="0" dirty="0">
                <a:ea typeface="宋体" panose="02010600030101010101" pitchFamily="2" charset="-122"/>
              </a:rPr>
              <a:t>ADL创立者希望ADL能够描述和表达系统体系结构的语言或概念模型。UML是一种开放的方法，用于说明、可视化、构建和编写一个正在开发的、面向对象的、软件密集系统的制品的开放方法。</a:t>
            </a:r>
            <a:endParaRPr lang="en-US" altLang="zh-CN" sz="2000" b="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5707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chemeClr val="accent2">
                    <a:lumMod val="75000"/>
                  </a:schemeClr>
                </a:solidFill>
                <a:ea typeface="宋体" panose="02010600030101010101" pitchFamily="2" charset="-122"/>
              </a:rPr>
              <a:t>软件体系结构风格</a:t>
            </a:r>
            <a:endParaRPr lang="zh-CN" altLang="en-US" dirty="0">
              <a:solidFill>
                <a:schemeClr val="accent2">
                  <a:lumMod val="75000"/>
                </a:schemeClr>
              </a:solidFill>
              <a:ea typeface="宋体" panose="02010600030101010101" pitchFamily="2" charset="-122"/>
            </a:endParaRPr>
          </a:p>
          <a:p>
            <a:pPr>
              <a:buClr>
                <a:schemeClr val="accent1"/>
              </a:buClr>
              <a:buSzPct val="70000"/>
              <a:buFont typeface="Wingdings" panose="05000000000000000000" pitchFamily="2" charset="2"/>
            </a:pPr>
            <a:r>
              <a:rPr lang="zh-CN" altLang="en-US" dirty="0">
                <a:solidFill>
                  <a:schemeClr val="tx1"/>
                </a:solidFill>
                <a:ea typeface="宋体" panose="02010600030101010101" pitchFamily="2" charset="-122"/>
              </a:rPr>
              <a:t>软件体系结构的设计关键是使用已有的组织结构模式，即，</a:t>
            </a:r>
            <a:r>
              <a:rPr lang="zh-CN" altLang="en-US" dirty="0">
                <a:solidFill>
                  <a:schemeClr val="accent2">
                    <a:lumMod val="75000"/>
                  </a:schemeClr>
                </a:solidFill>
                <a:ea typeface="宋体" panose="02010600030101010101" pitchFamily="2" charset="-122"/>
              </a:rPr>
              <a:t>软件体系结构风格。</a:t>
            </a:r>
            <a:endParaRPr lang="zh-CN" altLang="en-US" dirty="0">
              <a:solidFill>
                <a:schemeClr val="accent2">
                  <a:lumMod val="75000"/>
                </a:schemeClr>
              </a:solidFill>
              <a:ea typeface="宋体" panose="02010600030101010101" pitchFamily="2" charset="-122"/>
            </a:endParaRPr>
          </a:p>
          <a:p>
            <a:pPr>
              <a:buClr>
                <a:schemeClr val="accent1"/>
              </a:buClr>
              <a:buSzPct val="70000"/>
              <a:buFont typeface="Wingdings" panose="05000000000000000000" pitchFamily="2" charset="2"/>
            </a:pPr>
            <a:r>
              <a:rPr lang="en-US" altLang="zh-CN" dirty="0">
                <a:ea typeface="宋体" panose="02010600030101010101" pitchFamily="2" charset="-122"/>
              </a:rPr>
              <a:t>20</a:t>
            </a:r>
            <a:r>
              <a:rPr lang="zh-CN" altLang="en-US" dirty="0">
                <a:ea typeface="宋体" panose="02010600030101010101" pitchFamily="2" charset="-122"/>
              </a:rPr>
              <a:t>世纪</a:t>
            </a:r>
            <a:r>
              <a:rPr lang="en-US" altLang="zh-CN" dirty="0">
                <a:ea typeface="宋体" panose="02010600030101010101" pitchFamily="2" charset="-122"/>
              </a:rPr>
              <a:t>90</a:t>
            </a:r>
            <a:r>
              <a:rPr lang="zh-CN" altLang="en-US" dirty="0">
                <a:ea typeface="宋体" panose="02010600030101010101" pitchFamily="2" charset="-122"/>
              </a:rPr>
              <a:t>年代被提出，在软件开发的理论和工程实践中，开发者设计使用多种软件体系结构的描述方式，建立了描述软件设计的一些规范。进一步地，人们从已有的成功软件中抽取它的组织结构，形成了一些可用于多个领域的体系结构模式和</a:t>
            </a:r>
            <a:r>
              <a:rPr lang="zh-CN" altLang="en-US" dirty="0">
                <a:ea typeface="宋体" panose="02010600030101010101" pitchFamily="2" charset="-122"/>
              </a:rPr>
              <a:t>风格。</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软件体系结构风格描述某一特定应用领域中系统组织方式的惯用模式，通常独立于</a:t>
            </a:r>
            <a:r>
              <a:rPr lang="zh-CN" altLang="en-US" dirty="0">
                <a:ea typeface="宋体" panose="02010600030101010101" pitchFamily="2" charset="-122"/>
              </a:rPr>
              <a:t>实际问题。</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5707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软件开发设计中使用软件体系结构风格的</a:t>
            </a:r>
            <a:r>
              <a:rPr lang="zh-CN" altLang="en-US" dirty="0">
                <a:ea typeface="宋体" panose="02010600030101010101" pitchFamily="2" charset="-122"/>
              </a:rPr>
              <a:t>好处：</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可以提升设计的复用性</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可以促进相关代码的复用</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为开发者提供了通用的交流形式</a:t>
            </a:r>
            <a:endParaRPr lang="zh-CN" altLang="en-US" sz="2000" b="0" dirty="0">
              <a:ea typeface="宋体" panose="02010600030101010101" pitchFamily="2" charset="-122"/>
            </a:endParaRPr>
          </a:p>
          <a:p>
            <a:pPr lvl="0">
              <a:buClr>
                <a:schemeClr val="accent1"/>
              </a:buClr>
              <a:buSzPct val="70000"/>
              <a:buFont typeface="Wingdings" panose="05000000000000000000" pitchFamily="2" charset="2"/>
            </a:pPr>
            <a:r>
              <a:rPr lang="zh-CN" altLang="en-US" dirty="0">
                <a:ea typeface="宋体" panose="02010600030101010101" pitchFamily="2" charset="-122"/>
              </a:rPr>
              <a:t>如何确立一个软件体系</a:t>
            </a:r>
            <a:r>
              <a:rPr lang="zh-CN" altLang="en-US" dirty="0">
                <a:ea typeface="宋体" panose="02010600030101010101" pitchFamily="2" charset="-122"/>
              </a:rPr>
              <a:t>结构风格？</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该体系结构风格的构件和连接件的类型是什么？</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sym typeface="+mn-ea"/>
              </a:rPr>
              <a:t>该体系结构风格中包含的结构模式是什么？</a:t>
            </a:r>
            <a:endParaRPr lang="zh-CN" altLang="en-US" sz="2000" b="0" dirty="0">
              <a:ea typeface="宋体" panose="02010600030101010101" pitchFamily="2" charset="-122"/>
              <a:sym typeface="+mn-ea"/>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sym typeface="+mn-ea"/>
              </a:rPr>
              <a:t>该体系结构风格中根本的计算模型是什么？</a:t>
            </a:r>
            <a:endParaRPr lang="zh-CN" altLang="en-US" sz="2000" b="0" dirty="0">
              <a:ea typeface="宋体" panose="02010600030101010101" pitchFamily="2" charset="-122"/>
              <a:sym typeface="+mn-ea"/>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sym typeface="+mn-ea"/>
              </a:rPr>
              <a:t>该体系结构风格基本的特点是什么？</a:t>
            </a:r>
            <a:endParaRPr lang="zh-CN" altLang="en-US" sz="2000" b="0" dirty="0">
              <a:ea typeface="宋体" panose="02010600030101010101" pitchFamily="2" charset="-122"/>
              <a:sym typeface="+mn-ea"/>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sym typeface="+mn-ea"/>
              </a:rPr>
              <a:t>使用该体系结构风格的通用例子有哪些？</a:t>
            </a:r>
            <a:endParaRPr lang="zh-CN" altLang="en-US" sz="2000" b="0" dirty="0">
              <a:ea typeface="宋体" panose="02010600030101010101" pitchFamily="2" charset="-122"/>
              <a:sym typeface="+mn-ea"/>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sym typeface="+mn-ea"/>
              </a:rPr>
              <a:t>使用该体系结构风格有什么优缺点？</a:t>
            </a:r>
            <a:endParaRPr lang="zh-CN" altLang="en-US" sz="2000" b="0" dirty="0">
              <a:ea typeface="宋体" panose="02010600030101010101" pitchFamily="2" charset="-122"/>
              <a:sym typeface="+mn-ea"/>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sym typeface="+mn-ea"/>
              </a:rPr>
              <a:t>该体系结构风格的通用规格说明是什么？</a:t>
            </a:r>
            <a:endParaRPr lang="zh-CN" altLang="en-US" sz="2000" b="0" dirty="0">
              <a:ea typeface="宋体" panose="02010600030101010101" pitchFamily="2"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71765" cy="4873625"/>
          </a:xfrm>
        </p:spPr>
        <p:txBody>
          <a:bodyPr vert="horz" wrap="square" lIns="91440" tIns="45720" rIns="91440" bIns="45720" anchor="t" anchorCtr="0"/>
          <a:p>
            <a:pPr algn="just">
              <a:buClr>
                <a:schemeClr val="accent1"/>
              </a:buClr>
              <a:buSzPct val="70000"/>
              <a:buFont typeface="Wingdings" panose="05000000000000000000" pitchFamily="2" charset="2"/>
            </a:pPr>
            <a:r>
              <a:rPr lang="zh-CN" altLang="en-US" dirty="0">
                <a:ea typeface="宋体" panose="02010600030101010101" pitchFamily="2" charset="-122"/>
              </a:rPr>
              <a:t>经典体系结构风格的分类</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数据流风格</a:t>
            </a:r>
            <a:r>
              <a:rPr lang="zh-CN" altLang="en-US" dirty="0">
                <a:ea typeface="宋体" panose="02010600030101010101" pitchFamily="2" charset="-122"/>
              </a:rPr>
              <a:t>：批处理序列；管道</a:t>
            </a:r>
            <a:r>
              <a:rPr lang="en-US" altLang="zh-CN" dirty="0">
                <a:ea typeface="宋体" panose="02010600030101010101" pitchFamily="2" charset="-122"/>
              </a:rPr>
              <a:t>/</a:t>
            </a:r>
            <a:r>
              <a:rPr lang="zh-CN" altLang="en-US" dirty="0">
                <a:ea typeface="宋体" panose="02010600030101010101" pitchFamily="2" charset="-122"/>
              </a:rPr>
              <a:t>过滤器。</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调用/返回风格</a:t>
            </a:r>
            <a:r>
              <a:rPr lang="zh-CN" altLang="en-US" dirty="0">
                <a:ea typeface="宋体" panose="02010600030101010101" pitchFamily="2" charset="-122"/>
              </a:rPr>
              <a:t>：主程序</a:t>
            </a:r>
            <a:r>
              <a:rPr lang="en-US" altLang="zh-CN" dirty="0">
                <a:ea typeface="宋体" panose="02010600030101010101" pitchFamily="2" charset="-122"/>
              </a:rPr>
              <a:t>/</a:t>
            </a:r>
            <a:r>
              <a:rPr lang="zh-CN" altLang="en-US" dirty="0">
                <a:ea typeface="宋体" panose="02010600030101010101" pitchFamily="2" charset="-122"/>
              </a:rPr>
              <a:t>子程序；面向对象风格；层次结构。</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独立构件风格</a:t>
            </a:r>
            <a:r>
              <a:rPr lang="zh-CN" altLang="en-US" dirty="0">
                <a:ea typeface="宋体" panose="02010600030101010101" pitchFamily="2" charset="-122"/>
              </a:rPr>
              <a:t>：进程通讯；事件系统。</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虚拟机风格</a:t>
            </a:r>
            <a:r>
              <a:rPr lang="zh-CN" altLang="en-US" dirty="0">
                <a:ea typeface="宋体" panose="02010600030101010101" pitchFamily="2" charset="-122"/>
              </a:rPr>
              <a:t>：解释器；基于规则的系统。</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仓库风格</a:t>
            </a:r>
            <a:r>
              <a:rPr lang="zh-CN" altLang="en-US" dirty="0">
                <a:ea typeface="宋体" panose="02010600030101010101" pitchFamily="2" charset="-122"/>
              </a:rPr>
              <a:t>：数据库系统；超文本系统；黑板系统。</a:t>
            </a:r>
            <a:endParaRPr lang="zh-CN" altLang="en-US" dirty="0">
              <a:ea typeface="宋体" panose="02010600030101010101" pitchFamily="2" charset="-122"/>
            </a:endParaRPr>
          </a:p>
          <a:p>
            <a:pPr algn="just">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71765" cy="4873625"/>
          </a:xfrm>
        </p:spPr>
        <p:txBody>
          <a:bodyPr vert="horz" wrap="square" lIns="91440" tIns="45720" rIns="91440" bIns="45720" anchor="t" anchorCtr="0"/>
          <a:p>
            <a:pPr algn="just">
              <a:buClr>
                <a:schemeClr val="accent1"/>
              </a:buClr>
              <a:buSzPct val="70000"/>
              <a:buFont typeface="Wingdings" panose="05000000000000000000" pitchFamily="2" charset="2"/>
            </a:pPr>
            <a:r>
              <a:rPr lang="zh-CN" altLang="en-US" dirty="0">
                <a:ea typeface="宋体" panose="02010600030101010101" pitchFamily="2" charset="-122"/>
              </a:rPr>
              <a:t>经典体系结构风格的分类</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数据流风格</a:t>
            </a:r>
            <a:r>
              <a:rPr lang="zh-CN" altLang="en-US" dirty="0">
                <a:ea typeface="宋体" panose="02010600030101010101" pitchFamily="2" charset="-122"/>
              </a:rPr>
              <a:t>：批处理序列；管道</a:t>
            </a:r>
            <a:r>
              <a:rPr lang="en-US" altLang="zh-CN" dirty="0">
                <a:ea typeface="宋体" panose="02010600030101010101" pitchFamily="2" charset="-122"/>
              </a:rPr>
              <a:t>/</a:t>
            </a:r>
            <a:r>
              <a:rPr lang="zh-CN" altLang="en-US" dirty="0">
                <a:ea typeface="宋体" panose="02010600030101010101" pitchFamily="2" charset="-122"/>
              </a:rPr>
              <a:t>过滤器。</a:t>
            </a:r>
            <a:endParaRPr lang="zh-CN" altLang="en-US" dirty="0">
              <a:ea typeface="宋体" panose="02010600030101010101" pitchFamily="2" charset="-122"/>
            </a:endParaRPr>
          </a:p>
          <a:p>
            <a:pPr algn="just">
              <a:buClr>
                <a:schemeClr val="accent1"/>
              </a:buClr>
              <a:buSzPct val="70000"/>
              <a:buFont typeface="Wingdings" panose="05000000000000000000" pitchFamily="2" charset="2"/>
            </a:pPr>
            <a:r>
              <a:rPr lang="zh-CN" altLang="en-US" sz="2000" b="0" dirty="0">
                <a:latin typeface="仿宋" panose="02010609060101010101" charset="-122"/>
                <a:ea typeface="仿宋" panose="02010609060101010101" charset="-122"/>
                <a:cs typeface="仿宋" panose="02010609060101010101" charset="-122"/>
              </a:rPr>
              <a:t>数据流风格（Data-flow style）是一种常见的体系结构风格，它强调了系统中</a:t>
            </a:r>
            <a:r>
              <a:rPr lang="zh-CN" altLang="en-US" sz="2000" dirty="0">
                <a:latin typeface="仿宋" panose="02010609060101010101" charset="-122"/>
                <a:ea typeface="仿宋" panose="02010609060101010101" charset="-122"/>
                <a:cs typeface="仿宋" panose="02010609060101010101" charset="-122"/>
              </a:rPr>
              <a:t>数据的流动和转换过程</a:t>
            </a:r>
            <a:r>
              <a:rPr lang="zh-CN" altLang="en-US" sz="2000" b="0" dirty="0">
                <a:latin typeface="仿宋" panose="02010609060101010101" charset="-122"/>
                <a:ea typeface="仿宋" panose="02010609060101010101" charset="-122"/>
                <a:cs typeface="仿宋" panose="02010609060101010101" charset="-122"/>
              </a:rPr>
              <a:t>。数据流风格将系统看作是由一系列数据转换组件组成的网络，数据从一个组件流向另一个组件，通过数据传递来实现系统功能。</a:t>
            </a:r>
            <a:endParaRPr lang="zh-CN" altLang="en-US" sz="2000" b="0" dirty="0">
              <a:latin typeface="仿宋" panose="02010609060101010101" charset="-122"/>
              <a:ea typeface="仿宋" panose="02010609060101010101" charset="-122"/>
              <a:cs typeface="仿宋" panose="02010609060101010101" charset="-122"/>
            </a:endParaRPr>
          </a:p>
          <a:p>
            <a:pPr algn="just">
              <a:buClr>
                <a:schemeClr val="accent1"/>
              </a:buClr>
              <a:buSzPct val="70000"/>
              <a:buFont typeface="Wingdings" panose="05000000000000000000" pitchFamily="2" charset="2"/>
            </a:pPr>
            <a:r>
              <a:rPr lang="zh-CN" altLang="en-US" sz="2000" b="0" dirty="0">
                <a:latin typeface="仿宋" panose="02010609060101010101" charset="-122"/>
                <a:ea typeface="仿宋" panose="02010609060101010101" charset="-122"/>
                <a:cs typeface="仿宋" panose="02010609060101010101" charset="-122"/>
              </a:rPr>
              <a:t>数据流风格的主要特点是将系统划分为一组相互连接的数据流组件，每个组件负责接收输入数据、处理数据，并将处理结果传递给下一个组件。数据在组件之间以明确定义的接口或管道进行传递。这种风格强调了数据的流动路径和数据之间的依赖关系，而不关注组件内部的实现细节。</a:t>
            </a:r>
            <a:endParaRPr lang="zh-CN" altLang="en-US" sz="2000" b="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71765" cy="4873625"/>
          </a:xfrm>
        </p:spPr>
        <p:txBody>
          <a:bodyPr vert="horz" wrap="square" lIns="91440" tIns="45720" rIns="91440" bIns="45720" anchor="t" anchorCtr="0"/>
          <a:p>
            <a:pPr algn="just">
              <a:buClr>
                <a:schemeClr val="accent1"/>
              </a:buClr>
              <a:buSzPct val="70000"/>
              <a:buFont typeface="Wingdings" panose="05000000000000000000" pitchFamily="2" charset="2"/>
            </a:pPr>
            <a:r>
              <a:rPr lang="zh-CN" altLang="en-US" dirty="0">
                <a:ea typeface="宋体" panose="02010600030101010101" pitchFamily="2" charset="-122"/>
              </a:rPr>
              <a:t>经典体系结构风格的分类</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调用/返回风格</a:t>
            </a:r>
            <a:r>
              <a:rPr lang="zh-CN" altLang="en-US" dirty="0">
                <a:ea typeface="宋体" panose="02010600030101010101" pitchFamily="2" charset="-122"/>
              </a:rPr>
              <a:t>：主程序</a:t>
            </a:r>
            <a:r>
              <a:rPr lang="en-US" altLang="zh-CN" dirty="0">
                <a:ea typeface="宋体" panose="02010600030101010101" pitchFamily="2" charset="-122"/>
              </a:rPr>
              <a:t>/</a:t>
            </a:r>
            <a:r>
              <a:rPr lang="zh-CN" altLang="en-US" dirty="0">
                <a:ea typeface="宋体" panose="02010600030101010101" pitchFamily="2" charset="-122"/>
              </a:rPr>
              <a:t>子程序；面向对象风格；层次结构。</a:t>
            </a:r>
            <a:endParaRPr lang="zh-CN" altLang="en-US" dirty="0">
              <a:ea typeface="宋体" panose="02010600030101010101" pitchFamily="2" charset="-122"/>
            </a:endParaRPr>
          </a:p>
          <a:p>
            <a:pPr algn="just">
              <a:buClr>
                <a:schemeClr val="accent1"/>
              </a:buClr>
              <a:buSzPct val="70000"/>
              <a:buFont typeface="Wingdings" panose="05000000000000000000" pitchFamily="2" charset="2"/>
            </a:pPr>
            <a:r>
              <a:rPr lang="zh-CN" altLang="en-US" sz="2000" b="0" dirty="0">
                <a:latin typeface="仿宋" panose="02010609060101010101" charset="-122"/>
                <a:ea typeface="仿宋" panose="02010609060101010101" charset="-122"/>
                <a:cs typeface="仿宋" panose="02010609060101010101" charset="-122"/>
              </a:rPr>
              <a:t>调用</a:t>
            </a:r>
            <a:r>
              <a:rPr lang="en-US" altLang="zh-CN" sz="2000" b="0" dirty="0">
                <a:latin typeface="仿宋" panose="02010609060101010101" charset="-122"/>
                <a:ea typeface="仿宋" panose="02010609060101010101" charset="-122"/>
                <a:cs typeface="仿宋" panose="02010609060101010101" charset="-122"/>
              </a:rPr>
              <a:t>/</a:t>
            </a:r>
            <a:r>
              <a:rPr lang="zh-CN" altLang="en-US" sz="2000" b="0" dirty="0">
                <a:latin typeface="仿宋" panose="02010609060101010101" charset="-122"/>
                <a:ea typeface="仿宋" panose="02010609060101010101" charset="-122"/>
                <a:cs typeface="仿宋" panose="02010609060101010101" charset="-122"/>
              </a:rPr>
              <a:t>返回</a:t>
            </a:r>
            <a:r>
              <a:rPr lang="zh-CN" altLang="en-US" sz="2000" b="0" dirty="0">
                <a:latin typeface="仿宋" panose="02010609060101010101" charset="-122"/>
                <a:ea typeface="仿宋" panose="02010609060101010101" charset="-122"/>
                <a:cs typeface="仿宋" panose="02010609060101010101" charset="-122"/>
              </a:rPr>
              <a:t>风格基于过程或函数调用的概念，通过调用和返回操作来实现系统的功能。在调用/返回风格中，系统的功能被划分为一组相互调用的过程或函数，每个过程或函数负责执行特定的任务，并返回结果给调用方。</a:t>
            </a:r>
            <a:endParaRPr lang="zh-CN" altLang="en-US" sz="2000" b="0" dirty="0">
              <a:latin typeface="仿宋" panose="02010609060101010101" charset="-122"/>
              <a:ea typeface="仿宋" panose="02010609060101010101" charset="-122"/>
              <a:cs typeface="仿宋" panose="02010609060101010101" charset="-122"/>
            </a:endParaRPr>
          </a:p>
          <a:p>
            <a:pPr algn="just">
              <a:buClr>
                <a:schemeClr val="accent1"/>
              </a:buClr>
              <a:buSzPct val="70000"/>
              <a:buFont typeface="Wingdings" panose="05000000000000000000" pitchFamily="2" charset="2"/>
            </a:pPr>
            <a:r>
              <a:rPr lang="zh-CN" altLang="en-US" sz="2000" b="0" dirty="0">
                <a:latin typeface="仿宋" panose="02010609060101010101" charset="-122"/>
                <a:ea typeface="仿宋" panose="02010609060101010101" charset="-122"/>
                <a:cs typeface="仿宋" panose="02010609060101010101" charset="-122"/>
              </a:rPr>
              <a:t>调用/返回风格的主要特点是系统的功能通过过程或函数之间的调用和返回来实现，强调了模块化和分层设计的思想。通过将系统的功能划分为独立的过程或函数，可以提高代码的可读性、可维护性和重用性。</a:t>
            </a:r>
            <a:endParaRPr lang="zh-CN" altLang="en-US" sz="2000" b="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71765" cy="4873625"/>
          </a:xfrm>
        </p:spPr>
        <p:txBody>
          <a:bodyPr vert="horz" wrap="square" lIns="91440" tIns="45720" rIns="91440" bIns="45720" anchor="t" anchorCtr="0"/>
          <a:p>
            <a:pPr algn="just">
              <a:buClr>
                <a:schemeClr val="accent1"/>
              </a:buClr>
              <a:buSzPct val="70000"/>
              <a:buFont typeface="Wingdings" panose="05000000000000000000" pitchFamily="2" charset="2"/>
            </a:pPr>
            <a:r>
              <a:rPr lang="zh-CN" altLang="en-US" dirty="0">
                <a:ea typeface="宋体" panose="02010600030101010101" pitchFamily="2" charset="-122"/>
              </a:rPr>
              <a:t>经典体系结构风格的分类</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独立构件风格</a:t>
            </a:r>
            <a:r>
              <a:rPr lang="zh-CN" altLang="en-US" dirty="0">
                <a:ea typeface="宋体" panose="02010600030101010101" pitchFamily="2" charset="-122"/>
              </a:rPr>
              <a:t>：进程通讯；事件系统。</a:t>
            </a:r>
            <a:endParaRPr lang="zh-CN" altLang="en-US" dirty="0">
              <a:ea typeface="宋体" panose="02010600030101010101" pitchFamily="2" charset="-122"/>
            </a:endParaRPr>
          </a:p>
          <a:p>
            <a:pPr algn="just">
              <a:buClr>
                <a:schemeClr val="accent1"/>
              </a:buClr>
              <a:buSzPct val="70000"/>
              <a:buFont typeface="Wingdings" panose="05000000000000000000" pitchFamily="2" charset="2"/>
            </a:pPr>
            <a:r>
              <a:rPr lang="zh-CN" altLang="en-US" b="0" dirty="0">
                <a:latin typeface="仿宋" panose="02010609060101010101" charset="-122"/>
                <a:ea typeface="仿宋" panose="02010609060101010101" charset="-122"/>
                <a:cs typeface="仿宋" panose="02010609060101010101" charset="-122"/>
              </a:rPr>
              <a:t>独立构件风格将系统划分为一组独立的、可替换的构件，每个构件负责完成特定的功能。这种风格强调构件之间的松耦合和高内聚性，以提高系统的可重用性、可维护性和可扩展性。</a:t>
            </a:r>
            <a:endParaRPr lang="zh-CN" altLang="en-US" b="0" dirty="0">
              <a:latin typeface="仿宋" panose="02010609060101010101" charset="-122"/>
              <a:ea typeface="仿宋" panose="02010609060101010101" charset="-122"/>
              <a:cs typeface="仿宋" panose="02010609060101010101" charset="-122"/>
            </a:endParaRPr>
          </a:p>
          <a:p>
            <a:pPr algn="just">
              <a:buClr>
                <a:schemeClr val="accent1"/>
              </a:buClr>
              <a:buSzPct val="70000"/>
              <a:buFont typeface="Wingdings" panose="05000000000000000000" pitchFamily="2" charset="2"/>
            </a:pPr>
            <a:r>
              <a:rPr lang="zh-CN" altLang="en-US" b="0" dirty="0">
                <a:latin typeface="仿宋" panose="02010609060101010101" charset="-122"/>
                <a:ea typeface="仿宋" panose="02010609060101010101" charset="-122"/>
                <a:cs typeface="仿宋" panose="02010609060101010101" charset="-122"/>
              </a:rPr>
              <a:t>独立构件风格的主要特点是将系统的功能划分为一组独立的构件，每个构件具有自己的接口和实现。构件之间通过明确定义的接口进行通信，通过接口的调用和返回来实现功能的交互。这种风格可以促进构件的独立开发和测试，并支持构件的替换和重用。</a:t>
            </a:r>
            <a:endParaRPr lang="zh-CN" altLang="en-US" b="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71765" cy="4873625"/>
          </a:xfrm>
        </p:spPr>
        <p:txBody>
          <a:bodyPr vert="horz" wrap="square" lIns="91440" tIns="45720" rIns="91440" bIns="45720" anchor="t" anchorCtr="0"/>
          <a:p>
            <a:pPr algn="just">
              <a:buClr>
                <a:schemeClr val="accent1"/>
              </a:buClr>
              <a:buSzPct val="70000"/>
              <a:buFont typeface="Wingdings" panose="05000000000000000000" pitchFamily="2" charset="2"/>
            </a:pPr>
            <a:r>
              <a:rPr lang="zh-CN" altLang="en-US" dirty="0">
                <a:ea typeface="宋体" panose="02010600030101010101" pitchFamily="2" charset="-122"/>
              </a:rPr>
              <a:t>经典体系结构风格的分类</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虚拟机风格</a:t>
            </a:r>
            <a:r>
              <a:rPr lang="zh-CN" altLang="en-US" dirty="0">
                <a:ea typeface="宋体" panose="02010600030101010101" pitchFamily="2" charset="-122"/>
              </a:rPr>
              <a:t>：解释器；基于规则的系统。</a:t>
            </a:r>
            <a:endParaRPr lang="zh-CN" altLang="en-US" dirty="0">
              <a:ea typeface="宋体" panose="02010600030101010101" pitchFamily="2" charset="-122"/>
            </a:endParaRPr>
          </a:p>
          <a:p>
            <a:pPr lvl="0" algn="just">
              <a:buClr>
                <a:schemeClr val="accent1"/>
              </a:buClr>
              <a:buSzPct val="80000"/>
              <a:buFont typeface="Wingdings 2" panose="05020102010507070707" pitchFamily="18" charset="2"/>
            </a:pPr>
            <a:r>
              <a:rPr lang="zh-CN" altLang="en-US" sz="2000" b="0" dirty="0">
                <a:latin typeface="仿宋" panose="02010609060101010101" charset="-122"/>
                <a:ea typeface="仿宋" panose="02010609060101010101" charset="-122"/>
              </a:rPr>
              <a:t>虚拟机风格通过在底层硬件和操作系统之间引入一个虚拟机层，来实现系统的功能。虚拟机层提供了一个抽象的、与硬件和操作系统无关的执行环境，使应用程序能够在其上运行，而不需要直接与底层硬件和操作系统进行交互。</a:t>
            </a:r>
            <a:endParaRPr lang="zh-CN" altLang="en-US" sz="2000" b="0" dirty="0">
              <a:latin typeface="仿宋" panose="02010609060101010101" charset="-122"/>
              <a:ea typeface="仿宋" panose="02010609060101010101" charset="-122"/>
            </a:endParaRPr>
          </a:p>
          <a:p>
            <a:pPr lvl="0" algn="just">
              <a:buClr>
                <a:schemeClr val="accent1"/>
              </a:buClr>
              <a:buSzPct val="80000"/>
              <a:buFont typeface="Wingdings 2" panose="05020102010507070707" pitchFamily="18" charset="2"/>
            </a:pPr>
            <a:r>
              <a:rPr lang="zh-CN" altLang="en-US" sz="2000" b="0" dirty="0">
                <a:latin typeface="仿宋" panose="02010609060101010101" charset="-122"/>
                <a:ea typeface="仿宋" panose="02010609060101010101" charset="-122"/>
              </a:rPr>
              <a:t>虚拟机风格的主要特点是引入了一个虚拟机层，该层提供了一个虚拟的计算环境，使应用程序能够独立于底层硬件和操作系统运行。虚拟机层提供了一组虚拟的资源和接口，应用程序可以使用这些资源和接口来实现自己的功能。</a:t>
            </a:r>
            <a:endParaRPr lang="zh-CN" altLang="en-US" sz="2000" b="0" dirty="0">
              <a:latin typeface="仿宋" panose="02010609060101010101" charset="-122"/>
              <a:ea typeface="仿宋" panose="02010609060101010101" charset="-122"/>
            </a:endParaRPr>
          </a:p>
          <a:p>
            <a:pPr algn="just">
              <a:buClr>
                <a:schemeClr val="accent1"/>
              </a:buClr>
              <a:buSzPct val="70000"/>
              <a:buFont typeface="Wingdings" panose="05000000000000000000" pitchFamily="2" charset="2"/>
            </a:pPr>
            <a:endParaRPr lang="zh-CN" altLang="en-US" sz="2000" b="0" dirty="0">
              <a:latin typeface="仿宋" panose="02010609060101010101" charset="-122"/>
              <a:ea typeface="仿宋"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71765" cy="4873625"/>
          </a:xfrm>
        </p:spPr>
        <p:txBody>
          <a:bodyPr vert="horz" wrap="square" lIns="91440" tIns="45720" rIns="91440" bIns="45720" anchor="t" anchorCtr="0"/>
          <a:p>
            <a:pPr algn="just">
              <a:buClr>
                <a:schemeClr val="accent1"/>
              </a:buClr>
              <a:buSzPct val="70000"/>
              <a:buFont typeface="Wingdings" panose="05000000000000000000" pitchFamily="2" charset="2"/>
            </a:pPr>
            <a:r>
              <a:rPr lang="zh-CN" altLang="en-US" dirty="0">
                <a:ea typeface="宋体" panose="02010600030101010101" pitchFamily="2" charset="-122"/>
              </a:rPr>
              <a:t>经典体系结构风格的分类</a:t>
            </a:r>
            <a:endParaRPr lang="zh-CN" altLang="en-US" dirty="0">
              <a:ea typeface="宋体" panose="02010600030101010101" pitchFamily="2" charset="-122"/>
            </a:endParaRPr>
          </a:p>
          <a:p>
            <a:pPr lvl="1" algn="just">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仓库风格</a:t>
            </a:r>
            <a:r>
              <a:rPr lang="zh-CN" altLang="en-US" dirty="0">
                <a:ea typeface="宋体" panose="02010600030101010101" pitchFamily="2" charset="-122"/>
              </a:rPr>
              <a:t>：数据库系统；超文本系统；黑板系统。</a:t>
            </a:r>
            <a:endParaRPr lang="zh-CN" altLang="en-US" dirty="0">
              <a:ea typeface="宋体" panose="02010600030101010101" pitchFamily="2" charset="-122"/>
            </a:endParaRPr>
          </a:p>
          <a:p>
            <a:pPr algn="just">
              <a:buClr>
                <a:schemeClr val="accent1"/>
              </a:buClr>
              <a:buSzPct val="70000"/>
              <a:buFont typeface="Wingdings" panose="05000000000000000000" pitchFamily="2" charset="2"/>
            </a:pPr>
            <a:r>
              <a:rPr lang="zh-CN" altLang="en-US" sz="2000" b="0" dirty="0">
                <a:latin typeface="仿宋" panose="02010609060101010101" charset="-122"/>
                <a:ea typeface="仿宋" panose="02010609060101010101" charset="-122"/>
                <a:cs typeface="仿宋" panose="02010609060101010101" charset="-122"/>
              </a:rPr>
              <a:t>仓库风格主要关注数据的持久化和管理，通过使用一个中心化的数据仓库（Repository）来提供对数据的访问和操作。</a:t>
            </a:r>
            <a:endParaRPr lang="zh-CN" altLang="en-US" sz="2000" b="0" dirty="0">
              <a:latin typeface="仿宋" panose="02010609060101010101" charset="-122"/>
              <a:ea typeface="仿宋" panose="02010609060101010101" charset="-122"/>
              <a:cs typeface="仿宋" panose="02010609060101010101" charset="-122"/>
            </a:endParaRPr>
          </a:p>
          <a:p>
            <a:pPr algn="just">
              <a:buClr>
                <a:schemeClr val="accent1"/>
              </a:buClr>
              <a:buSzPct val="70000"/>
              <a:buFont typeface="Wingdings" panose="05000000000000000000" pitchFamily="2" charset="2"/>
            </a:pPr>
            <a:r>
              <a:rPr lang="zh-CN" altLang="en-US" sz="2000" b="0" dirty="0">
                <a:latin typeface="仿宋" panose="02010609060101010101" charset="-122"/>
                <a:ea typeface="仿宋" panose="02010609060101010101" charset="-122"/>
                <a:cs typeface="仿宋" panose="02010609060101010101" charset="-122"/>
              </a:rPr>
              <a:t>仓库风格的主要特点是将数据访问逻辑封装在一个中心化的仓库中，该仓库提供了一组定义良好的接口，用于与数据进行交互。应用程序通过调用仓库接口来访问和操作数据，而不需要直接与底层的数据存储和管理机制进行交互。</a:t>
            </a:r>
            <a:endParaRPr lang="zh-CN" altLang="en-US" sz="2000" b="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7411"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管道和过滤器 </a:t>
            </a:r>
            <a:endParaRPr lang="en-US" altLang="zh-CN" dirty="0">
              <a:solidFill>
                <a:srgbClr val="0070C0"/>
              </a:solidFill>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管道和过滤器风格主要出现在</a:t>
            </a:r>
            <a:r>
              <a:rPr lang="en-US" altLang="zh-CN" dirty="0">
                <a:ea typeface="宋体" panose="02010600030101010101" pitchFamily="2" charset="-122"/>
              </a:rPr>
              <a:t>Unix</a:t>
            </a:r>
            <a:r>
              <a:rPr lang="zh-CN" altLang="en-US" dirty="0">
                <a:ea typeface="宋体" panose="02010600030101010101" pitchFamily="2" charset="-122"/>
              </a:rPr>
              <a:t>系统中，已有超过</a:t>
            </a:r>
            <a:r>
              <a:rPr lang="en-US" altLang="zh-CN" dirty="0">
                <a:ea typeface="宋体" panose="02010600030101010101" pitchFamily="2" charset="-122"/>
              </a:rPr>
              <a:t>20</a:t>
            </a:r>
            <a:r>
              <a:rPr lang="zh-CN" altLang="en-US" dirty="0">
                <a:ea typeface="宋体" panose="02010600030101010101" pitchFamily="2" charset="-122"/>
              </a:rPr>
              <a:t>年的历史。主要适用于对有序数据进行一系列已经定义的独立计算的应用程序。</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每个构件都有一组输入和输出，构件读输入的数据流，经过内部处理，然后产生输出数据流。</a:t>
            </a:r>
            <a:r>
              <a:rPr lang="zh-CN" altLang="en-US" dirty="0">
                <a:solidFill>
                  <a:srgbClr val="0070C0"/>
                </a:solidFill>
                <a:ea typeface="宋体" panose="02010600030101010101" pitchFamily="2" charset="-122"/>
              </a:rPr>
              <a:t>构件</a:t>
            </a:r>
            <a:r>
              <a:rPr lang="zh-CN" altLang="en-US" dirty="0">
                <a:ea typeface="宋体" panose="02010600030101010101" pitchFamily="2" charset="-122"/>
              </a:rPr>
              <a:t>被称为</a:t>
            </a:r>
            <a:r>
              <a:rPr lang="zh-CN" altLang="en-US" dirty="0">
                <a:solidFill>
                  <a:srgbClr val="0070C0"/>
                </a:solidFill>
                <a:ea typeface="宋体" panose="02010600030101010101" pitchFamily="2" charset="-122"/>
              </a:rPr>
              <a:t>过滤器</a:t>
            </a:r>
            <a:r>
              <a:rPr lang="zh-CN" altLang="en-US" dirty="0">
                <a:ea typeface="宋体" panose="02010600030101010101" pitchFamily="2" charset="-122"/>
              </a:rPr>
              <a:t>。</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solidFill>
                  <a:srgbClr val="0070C0"/>
                </a:solidFill>
                <a:ea typeface="宋体" panose="02010600030101010101" pitchFamily="2" charset="-122"/>
              </a:rPr>
              <a:t>连接件</a:t>
            </a:r>
            <a:r>
              <a:rPr lang="zh-CN" altLang="en-US" dirty="0">
                <a:ea typeface="宋体" panose="02010600030101010101" pitchFamily="2" charset="-122"/>
              </a:rPr>
              <a:t>就象是数据流传输的</a:t>
            </a:r>
            <a:r>
              <a:rPr lang="zh-CN" altLang="en-US" dirty="0">
                <a:solidFill>
                  <a:srgbClr val="0070C0"/>
                </a:solidFill>
                <a:ea typeface="宋体" panose="02010600030101010101" pitchFamily="2" charset="-122"/>
              </a:rPr>
              <a:t>管道</a:t>
            </a:r>
            <a:r>
              <a:rPr lang="zh-CN" altLang="en-US" dirty="0">
                <a:ea typeface="宋体" panose="02010600030101010101" pitchFamily="2" charset="-122"/>
              </a:rPr>
              <a:t>，将一个过滤器的输出传到另一过滤器的输入。</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18435" name="内容占位符 3"/>
          <p:cNvGraphicFramePr>
            <a:graphicFrameLocks noGrp="1" noChangeAspect="1"/>
          </p:cNvGraphicFramePr>
          <p:nvPr>
            <p:ph sz="quarter" idx="1"/>
          </p:nvPr>
        </p:nvGraphicFramePr>
        <p:xfrm>
          <a:off x="539750" y="2636838"/>
          <a:ext cx="7874000" cy="2520950"/>
        </p:xfrm>
        <a:graphic>
          <a:graphicData uri="http://schemas.openxmlformats.org/presentationml/2006/ole">
            <mc:AlternateContent xmlns:mc="http://schemas.openxmlformats.org/markup-compatibility/2006">
              <mc:Choice xmlns:v="urn:schemas-microsoft-com:vml" Requires="v">
                <p:oleObj spid="_x0000_s3076" name="" r:id="rId1" imgW="5033645" imgH="1610995" progId="Visio.Drawing.11">
                  <p:embed/>
                </p:oleObj>
              </mc:Choice>
              <mc:Fallback>
                <p:oleObj name="" r:id="rId1" imgW="5033645" imgH="1610995" progId="Visio.Drawing.11">
                  <p:embed/>
                  <p:pic>
                    <p:nvPicPr>
                      <p:cNvPr id="0" name="图片 3075"/>
                      <p:cNvPicPr/>
                      <p:nvPr/>
                    </p:nvPicPr>
                    <p:blipFill>
                      <a:blip r:embed="rId2"/>
                      <a:srcRect/>
                      <a:stretch>
                        <a:fillRect/>
                      </a:stretch>
                    </p:blipFill>
                    <p:spPr>
                      <a:xfrm>
                        <a:off x="539750" y="2636838"/>
                        <a:ext cx="7874000" cy="2520950"/>
                      </a:xfrm>
                      <a:prstGeom prst="rect">
                        <a:avLst/>
                      </a:prstGeom>
                      <a:solidFill>
                        <a:schemeClr val="bg1">
                          <a:alpha val="100000"/>
                        </a:schemeClr>
                      </a:solidFill>
                      <a:ln w="38100">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9459"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管道和过滤器的优点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使得软构件具有良好的隐蔽性和高内聚、低耦合的特点；</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允许设计者将整个系统的输入</a:t>
            </a:r>
            <a:r>
              <a:rPr lang="en-US" altLang="zh-CN" dirty="0">
                <a:ea typeface="宋体" panose="02010600030101010101" pitchFamily="2" charset="-122"/>
              </a:rPr>
              <a:t>/</a:t>
            </a:r>
            <a:r>
              <a:rPr lang="zh-CN" altLang="en-US" dirty="0">
                <a:ea typeface="宋体" panose="02010600030101010101" pitchFamily="2" charset="-122"/>
              </a:rPr>
              <a:t>输出行为看成是多个过滤器的行为的简单合成；</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支持软件重用；</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系统维护和增强系统性能简单。只要遵守输入输出规约，任何一个过滤器</a:t>
            </a:r>
            <a:r>
              <a:rPr lang="zh-CN" altLang="en-US" dirty="0">
                <a:ea typeface="宋体" panose="02010600030101010101" pitchFamily="2" charset="-122"/>
              </a:rPr>
              <a:t>都可被替代；</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允许对一些如吞吐量、死锁等属性的分析；</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支持并行执行。每个过滤器作为一个单独的执行任务，可以与其他过滤器</a:t>
            </a:r>
            <a:r>
              <a:rPr lang="zh-CN" altLang="en-US" dirty="0">
                <a:ea typeface="宋体" panose="02010600030101010101" pitchFamily="2" charset="-122"/>
              </a:rPr>
              <a:t>并发执行。</a:t>
            </a:r>
            <a:endParaRPr lang="zh-CN" altLang="en-US"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0483"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管道和过滤器的缺点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通常导致进程成为批处理的结构。</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不适合处理交互的应用。</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因为在数据传输上没有通用的标准，每个过滤器都增加了解析和合成数据的工作，这样就导致了系统性能下降，并增加了编写过滤器的复杂性。</a:t>
            </a:r>
            <a:endParaRPr lang="en-US" altLang="zh-CN" dirty="0">
              <a:ea typeface="宋体" panose="02010600030101010101" pitchFamily="2" charset="-122"/>
            </a:endParaRPr>
          </a:p>
          <a:p>
            <a:pPr>
              <a:buClr>
                <a:schemeClr val="accent1"/>
              </a:buClr>
              <a:buSzPct val="70000"/>
              <a:buFont typeface="Wingdings" panose="05000000000000000000" pitchFamily="2" charset="2"/>
            </a:pPr>
            <a:endParaRPr lang="en-US" altLang="zh-CN"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管道和过滤器的实例</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Unix</a:t>
            </a:r>
            <a:r>
              <a:rPr lang="zh-CN" altLang="en-US" dirty="0">
                <a:ea typeface="宋体" panose="02010600030101010101" pitchFamily="2" charset="-122"/>
              </a:rPr>
              <a:t>的</a:t>
            </a:r>
            <a:r>
              <a:rPr lang="en-US" altLang="zh-CN" dirty="0">
                <a:ea typeface="宋体" panose="02010600030101010101" pitchFamily="2" charset="-122"/>
              </a:rPr>
              <a:t>Shell</a:t>
            </a:r>
            <a:r>
              <a:rPr lang="zh-CN" altLang="en-US" dirty="0">
                <a:ea typeface="宋体" panose="02010600030101010101" pitchFamily="2" charset="-122"/>
              </a:rPr>
              <a:t>程序、信号处理系统、并行计算、编译器等</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1507" name="内容占位符 2"/>
          <p:cNvSpPr>
            <a:spLocks noGrp="1"/>
          </p:cNvSpPr>
          <p:nvPr>
            <p:ph sz="quarter" idx="1"/>
          </p:nvPr>
        </p:nvSpPr>
        <p:spPr>
          <a:xfrm>
            <a:off x="457200" y="1600200"/>
            <a:ext cx="75707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基于事件的系统</a:t>
            </a:r>
            <a:r>
              <a:rPr lang="zh-CN" altLang="en-US" dirty="0">
                <a:ea typeface="宋体" panose="02010600030101010101" pitchFamily="2" charset="-122"/>
              </a:rPr>
              <a:t>（</a:t>
            </a:r>
            <a:r>
              <a:rPr lang="zh-CN" altLang="en-US" dirty="0">
                <a:solidFill>
                  <a:srgbClr val="0070C0"/>
                </a:solidFill>
                <a:ea typeface="宋体" panose="02010600030101010101" pitchFamily="2" charset="-122"/>
              </a:rPr>
              <a:t>隐式</a:t>
            </a:r>
            <a:r>
              <a:rPr lang="zh-CN" altLang="en-US" dirty="0">
                <a:ea typeface="宋体" panose="02010600030101010101" pitchFamily="2" charset="-122"/>
              </a:rPr>
              <a:t>调用）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b="0" dirty="0">
                <a:ea typeface="宋体" panose="02010600030101010101" pitchFamily="2" charset="-122"/>
              </a:rPr>
              <a:t>构件不直接调用一个过程，而是触发或广播一个或多个事件。系统中的其它构件中的过程在一个或多个事件中注册，当一个事件被触发，系统自动调用在这个事件中注册的所有过程，这样，一个事件的触发就导致了另一模块中的过程的调用。</a:t>
            </a:r>
            <a:endParaRPr lang="zh-CN" altLang="en-US" b="0" dirty="0">
              <a:ea typeface="宋体" panose="02010600030101010101" pitchFamily="2" charset="-122"/>
            </a:endParaRPr>
          </a:p>
          <a:p>
            <a:pPr lvl="1">
              <a:buClr>
                <a:schemeClr val="accent1"/>
              </a:buClr>
              <a:buSzPct val="80000"/>
              <a:buFont typeface="Wingdings 2" panose="05020102010507070707" pitchFamily="18" charset="2"/>
            </a:pPr>
            <a:r>
              <a:rPr lang="zh-CN" altLang="en-US" b="0" dirty="0">
                <a:ea typeface="宋体" panose="02010600030101010101" pitchFamily="2" charset="-122"/>
              </a:rPr>
              <a:t>这种风格的</a:t>
            </a:r>
            <a:r>
              <a:rPr lang="zh-CN" altLang="en-US" b="0" dirty="0">
                <a:solidFill>
                  <a:srgbClr val="0070C0"/>
                </a:solidFill>
                <a:ea typeface="宋体" panose="02010600030101010101" pitchFamily="2" charset="-122"/>
              </a:rPr>
              <a:t>构件</a:t>
            </a:r>
            <a:r>
              <a:rPr lang="zh-CN" altLang="en-US" b="0" dirty="0">
                <a:ea typeface="宋体" panose="02010600030101010101" pitchFamily="2" charset="-122"/>
              </a:rPr>
              <a:t>是</a:t>
            </a:r>
            <a:r>
              <a:rPr lang="zh-CN" altLang="en-US" b="0" dirty="0">
                <a:solidFill>
                  <a:srgbClr val="0070C0"/>
                </a:solidFill>
                <a:ea typeface="宋体" panose="02010600030101010101" pitchFamily="2" charset="-122"/>
              </a:rPr>
              <a:t>模块</a:t>
            </a:r>
            <a:r>
              <a:rPr lang="zh-CN" altLang="en-US" b="0" dirty="0">
                <a:ea typeface="宋体" panose="02010600030101010101" pitchFamily="2" charset="-122"/>
              </a:rPr>
              <a:t>，模块既可以是一些过程，又可以是一些事件的集合。过程可以用通用的方式调用，也可以在系统事件中注册一些过程，当发生这些事件时，过程被调用。</a:t>
            </a:r>
            <a:endParaRPr lang="en-US" altLang="zh-CN" b="0" dirty="0">
              <a:ea typeface="宋体" panose="02010600030101010101" pitchFamily="2" charset="-122"/>
            </a:endParaRPr>
          </a:p>
          <a:p>
            <a:pPr lvl="1">
              <a:buClr>
                <a:schemeClr val="accent1"/>
              </a:buClr>
              <a:buSzPct val="80000"/>
              <a:buFont typeface="Wingdings 2" panose="05020102010507070707" pitchFamily="18" charset="2"/>
            </a:pPr>
            <a:r>
              <a:rPr lang="zh-CN" altLang="en-US" b="0" dirty="0">
                <a:ea typeface="宋体" panose="02010600030101010101" pitchFamily="2" charset="-122"/>
              </a:rPr>
              <a:t>主要特点是事件的触发者并不知道哪些构件会被这些事件影响。</a:t>
            </a:r>
            <a:endParaRPr lang="zh-CN" altLang="en-US" b="0"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2531" name="内容占位符 2"/>
          <p:cNvSpPr>
            <a:spLocks noGrp="1"/>
          </p:cNvSpPr>
          <p:nvPr>
            <p:ph sz="quarter" idx="1"/>
          </p:nvPr>
        </p:nvSpPr>
        <p:spPr>
          <a:xfrm>
            <a:off x="457200" y="1600200"/>
            <a:ext cx="842899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基于事件系统的优点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sz="2000" b="0" dirty="0">
                <a:ea typeface="宋体" panose="02010600030101010101" pitchFamily="2" charset="-122"/>
              </a:rPr>
              <a:t>松耦合：</a:t>
            </a:r>
            <a:r>
              <a:rPr lang="zh-CN" altLang="en-US" sz="2000" b="0" dirty="0">
                <a:ea typeface="宋体" panose="02010600030101010101" pitchFamily="2" charset="-122"/>
              </a:rPr>
              <a:t>构件之间通过事件进行通信，彼此解耦，降低了依赖性。</a:t>
            </a:r>
            <a:endParaRPr lang="zh-CN" altLang="en-US" sz="2000" b="0" dirty="0">
              <a:ea typeface="宋体" panose="02010600030101010101" pitchFamily="2" charset="-122"/>
            </a:endParaRPr>
          </a:p>
          <a:p>
            <a:pPr lvl="1">
              <a:buClr>
                <a:schemeClr val="accent1"/>
              </a:buClr>
              <a:buSzPct val="80000"/>
              <a:buFont typeface="Wingdings 2" panose="05020102010507070707" pitchFamily="18" charset="2"/>
            </a:pPr>
            <a:r>
              <a:rPr lang="zh-CN" altLang="en-US" sz="2000" b="0" dirty="0">
                <a:ea typeface="宋体" panose="02010600030101010101" pitchFamily="2" charset="-122"/>
              </a:rPr>
              <a:t>可扩展性：新的组件可以通过订阅事件来扩展系统功能，不需要修改现有组件。</a:t>
            </a:r>
            <a:endParaRPr lang="zh-CN" altLang="en-US" sz="2000" b="0" dirty="0">
              <a:ea typeface="宋体" panose="02010600030101010101" pitchFamily="2" charset="-122"/>
            </a:endParaRPr>
          </a:p>
          <a:p>
            <a:pPr lvl="1">
              <a:buClr>
                <a:schemeClr val="accent1"/>
              </a:buClr>
              <a:buSzPct val="80000"/>
              <a:buFont typeface="Wingdings 2" panose="05020102010507070707" pitchFamily="18" charset="2"/>
            </a:pPr>
            <a:r>
              <a:rPr lang="zh-CN" altLang="en-US" sz="2000" b="0" dirty="0">
                <a:ea typeface="宋体" panose="02010600030101010101" pitchFamily="2" charset="-122"/>
              </a:rPr>
              <a:t>可维护性：各个组件之间相互独立，修改一个组件不会对其他组件产生影响。</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异步处理：事件的发布和处理是异步进行的，可以提高系统的响应性能。</a:t>
            </a:r>
            <a:endParaRPr lang="zh-CN" altLang="en-US" sz="2000" b="0" dirty="0">
              <a:ea typeface="宋体" panose="02010600030101010101" pitchFamily="2" charset="-122"/>
            </a:endParaRPr>
          </a:p>
          <a:p>
            <a:pPr>
              <a:buClr>
                <a:schemeClr val="accent1"/>
              </a:buClr>
              <a:buSzPct val="70000"/>
              <a:buFont typeface="Wingdings" panose="05000000000000000000" pitchFamily="2" charset="2"/>
            </a:pPr>
            <a:endParaRPr lang="zh-CN" altLang="en-US" sz="2000" b="0" dirty="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2531" name="内容占位符 2"/>
          <p:cNvSpPr>
            <a:spLocks noGrp="1"/>
          </p:cNvSpPr>
          <p:nvPr>
            <p:ph sz="quarter" idx="1"/>
          </p:nvPr>
        </p:nvSpPr>
        <p:spPr>
          <a:xfrm>
            <a:off x="457200" y="1600200"/>
            <a:ext cx="842899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基于事件系统的</a:t>
            </a:r>
            <a:r>
              <a:rPr lang="zh-CN" altLang="en-US" dirty="0">
                <a:ea typeface="宋体" panose="02010600030101010101" pitchFamily="2" charset="-122"/>
              </a:rPr>
              <a:t>缺点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sz="2000" b="0" dirty="0">
                <a:ea typeface="宋体" panose="02010600030101010101" pitchFamily="2" charset="-122"/>
                <a:sym typeface="+mn-ea"/>
              </a:rPr>
              <a:t>构件放弃了对系统计算的控制。一个构件触发一个事件时．不能确定其他构件是否会响应它。而且即使它知道事件注册了哪些构件的过程，它也不能保证这些过程被调用的顺序。</a:t>
            </a:r>
            <a:endParaRPr lang="zh-CN" altLang="en-US" sz="2000" b="0" dirty="0">
              <a:ea typeface="宋体" panose="02010600030101010101" pitchFamily="2" charset="-122"/>
            </a:endParaRPr>
          </a:p>
          <a:p>
            <a:pPr lvl="1">
              <a:buClr>
                <a:schemeClr val="accent1"/>
              </a:buClr>
              <a:buSzPct val="80000"/>
              <a:buFont typeface="Wingdings 2" panose="05020102010507070707" pitchFamily="18" charset="2"/>
            </a:pPr>
            <a:r>
              <a:rPr lang="zh-CN" altLang="en-US" sz="2000" b="0" dirty="0">
                <a:ea typeface="宋体" panose="02010600030101010101" pitchFamily="2" charset="-122"/>
                <a:sym typeface="+mn-ea"/>
              </a:rPr>
              <a:t>数据交换的问题。有时数据可被一个事件传递，但在另一些情况下，基于事件的系统必须依靠一个共享的仓库进行交互。在这些情况下，全局性能和资源管理便成了问题。</a:t>
            </a:r>
            <a:endParaRPr lang="zh-CN" altLang="en-US" sz="2000" b="0" dirty="0">
              <a:ea typeface="宋体" panose="02010600030101010101" pitchFamily="2" charset="-122"/>
            </a:endParaRPr>
          </a:p>
          <a:p>
            <a:pPr lvl="1">
              <a:buClr>
                <a:schemeClr val="accent1"/>
              </a:buClr>
              <a:buSzPct val="80000"/>
              <a:buFont typeface="Wingdings 2" panose="05020102010507070707" pitchFamily="18" charset="2"/>
            </a:pPr>
            <a:r>
              <a:rPr lang="zh-CN" altLang="en-US" sz="2000" b="0" dirty="0">
                <a:ea typeface="宋体" panose="02010600030101010101" pitchFamily="2" charset="-122"/>
                <a:sym typeface="+mn-ea"/>
              </a:rPr>
              <a:t>既然过程的语义必须依赖于被触发事件的上下文约束，关于正确性的推理就存在问题。</a:t>
            </a:r>
            <a:endParaRPr lang="zh-CN" altLang="en-US" sz="2000" b="0" dirty="0">
              <a:ea typeface="宋体" panose="02010600030101010101" pitchFamily="2" charset="-122"/>
            </a:endParaRPr>
          </a:p>
          <a:p>
            <a:pPr>
              <a:buClr>
                <a:schemeClr val="accent1"/>
              </a:buClr>
              <a:buSzPct val="70000"/>
              <a:buFont typeface="Wingdings" panose="05000000000000000000" pitchFamily="2" charset="2"/>
            </a:pPr>
            <a:endParaRPr lang="zh-CN" altLang="en-US" sz="2000" b="0"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3555"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基于事件的隐式调用的</a:t>
            </a:r>
            <a:r>
              <a:rPr lang="zh-CN" altLang="en-US" dirty="0">
                <a:ea typeface="宋体" panose="02010600030101010101" pitchFamily="2" charset="-122"/>
              </a:rPr>
              <a:t>应用</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编程环境中用于集成各种工具</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在数据库管理系统中确保数据的一致性约束</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在用户界面系统中管理数据</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编辑器中支持语法检查</a:t>
            </a:r>
            <a:endParaRPr lang="zh-CN" altLang="en-US" dirty="0">
              <a:ea typeface="宋体" panose="02010600030101010101" pitchFamily="2" charset="-122"/>
            </a:endParaRPr>
          </a:p>
          <a:p>
            <a:pPr lvl="0">
              <a:buClr>
                <a:schemeClr val="accent1"/>
              </a:buClr>
              <a:buSzPct val="80000"/>
              <a:buFont typeface="Wingdings 2" panose="05020102010507070707" pitchFamily="18" charset="2"/>
            </a:pPr>
            <a:r>
              <a:rPr lang="zh-CN" altLang="en-US" dirty="0">
                <a:ea typeface="宋体" panose="02010600030101010101" pitchFamily="2" charset="-122"/>
              </a:rPr>
              <a:t>这些应用采用基于事件的隐式调用风格</a:t>
            </a:r>
            <a:r>
              <a:rPr lang="zh-CN" altLang="en-US" dirty="0">
                <a:ea typeface="宋体" panose="02010600030101010101" pitchFamily="2" charset="-122"/>
              </a:rPr>
              <a:t>的原因</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实时响应</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灵活性</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解耦合</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提高效率</a:t>
            </a:r>
            <a:endParaRPr lang="zh-CN" altLang="en-US"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4579" name="内容占位符 2"/>
          <p:cNvSpPr>
            <a:spLocks noGrp="1"/>
          </p:cNvSpPr>
          <p:nvPr>
            <p:ph sz="quarter" idx="1"/>
          </p:nvPr>
        </p:nvSpPr>
        <p:spPr>
          <a:xfrm>
            <a:off x="457200" y="1600200"/>
            <a:ext cx="73548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分层系统 </a:t>
            </a:r>
            <a:endParaRPr lang="zh-CN" altLang="en-US" dirty="0">
              <a:solidFill>
                <a:srgbClr val="0070C0"/>
              </a:solidFill>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对于复杂问题，分解（分而治之）是行之有效的方法。层次性是软件分析和设计的基本和具有普遍适应性的思想方法。</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分层设计在软件开发中非常常见，如在设计中采用自顶向下、逐步分解求精的方法。</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层次系统组织成一个层次结构，每一层为上层服务，并作为下层客户。最上层只调用下层提供的函数功能，最底层只负责为直接相邻的上层提供服务。</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这种风格支持基于可增加抽象层的设计。允许将一个复杂问题分解成一个增量步骤序列的实现。</a:t>
            </a:r>
            <a:endParaRPr lang="zh-CN" altLang="en-US"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755650" y="1781175"/>
            <a:ext cx="7390130" cy="46640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6627" name="内容占位符 2"/>
          <p:cNvSpPr>
            <a:spLocks noGrp="1"/>
          </p:cNvSpPr>
          <p:nvPr>
            <p:ph sz="quarter" idx="1"/>
          </p:nvPr>
        </p:nvSpPr>
        <p:spPr>
          <a:xfrm>
            <a:off x="457200" y="1600200"/>
            <a:ext cx="793115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分层系统的优点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支持基于抽象程度递增的系统设计；</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支持功能增强；</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支持重用。</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分层系统的缺点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并不是每个系统都可以很容易地划分为分层的模式；</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很难找到一个合适的、正确的层次抽象方法。</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7651" name="内容占位符 2"/>
          <p:cNvSpPr>
            <a:spLocks noGrp="1"/>
          </p:cNvSpPr>
          <p:nvPr>
            <p:ph sz="quarter" idx="1"/>
          </p:nvPr>
        </p:nvSpPr>
        <p:spPr>
          <a:xfrm>
            <a:off x="457200" y="1600200"/>
            <a:ext cx="77866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仓库系统</a:t>
            </a:r>
            <a:r>
              <a:rPr lang="zh-CN" altLang="en-US" dirty="0">
                <a:ea typeface="宋体" panose="02010600030101010101" pitchFamily="2" charset="-122"/>
              </a:rPr>
              <a:t>及</a:t>
            </a:r>
            <a:r>
              <a:rPr lang="zh-CN" altLang="en-US" dirty="0">
                <a:solidFill>
                  <a:srgbClr val="0070C0"/>
                </a:solidFill>
                <a:ea typeface="宋体" panose="02010600030101010101" pitchFamily="2" charset="-122"/>
              </a:rPr>
              <a:t>知识库</a:t>
            </a:r>
            <a:r>
              <a:rPr lang="zh-CN" altLang="en-US" dirty="0">
                <a:ea typeface="宋体" panose="02010600030101010101" pitchFamily="2" charset="-122"/>
              </a:rPr>
              <a:t>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两种不同的构件：</a:t>
            </a:r>
            <a:r>
              <a:rPr lang="zh-CN" altLang="en-US" dirty="0">
                <a:solidFill>
                  <a:srgbClr val="0070C0"/>
                </a:solidFill>
                <a:ea typeface="宋体" panose="02010600030101010101" pitchFamily="2" charset="-122"/>
              </a:rPr>
              <a:t>中央数据结构</a:t>
            </a:r>
            <a:r>
              <a:rPr lang="zh-CN" altLang="en-US" dirty="0">
                <a:ea typeface="宋体" panose="02010600030101010101" pitchFamily="2" charset="-122"/>
              </a:rPr>
              <a:t>说明当前状态，</a:t>
            </a:r>
            <a:r>
              <a:rPr lang="zh-CN" altLang="en-US" dirty="0">
                <a:solidFill>
                  <a:srgbClr val="0070C0"/>
                </a:solidFill>
                <a:ea typeface="宋体" panose="02010600030101010101" pitchFamily="2" charset="-122"/>
              </a:rPr>
              <a:t>独立构件</a:t>
            </a:r>
            <a:r>
              <a:rPr lang="zh-CN" altLang="en-US" dirty="0">
                <a:ea typeface="宋体" panose="02010600030101010101" pitchFamily="2" charset="-122"/>
              </a:rPr>
              <a:t>在中央数据存贮上执行，仓库与外构件间的相互作用在系统中会有大的变化。</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控制原则的选取产生两个主要的子类。若输入流中某类时间触发进程执行的选择，则仓库是一传统型数据库；若中央数据结构的当前状态触发进程执行的选择，则仓库是一黑板系统。</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黑板</a:t>
            </a: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系统</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的主要组成</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知识源</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：包含</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独立的、与应用程序相关的知识。知识之间不直接通信，它们之间的交互通过黑板完成。</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黑板</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：黑板数据是按照与应用程序相关的层次来组织的解决问题的数据，知识源通过不断的改变黑板数据来解决问题。它保存着系统的输入、问题求解各个阶段的中间结果和反映整个问题的求解状态</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ea typeface="+mn-ea"/>
                <a:cs typeface="Times New Roman" panose="02020603050405020304" pitchFamily="18" charset="0"/>
              </a:rPr>
              <a:t>控制</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：控制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完全由黑板的状态驱动，黑板状态的改变决定使用的特定知识。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0723" name="内容占位符 2"/>
          <p:cNvSpPr>
            <a:spLocks noGrp="1"/>
          </p:cNvSpPr>
          <p:nvPr>
            <p:ph sz="quarter" idx="1"/>
          </p:nvPr>
        </p:nvSpPr>
        <p:spPr>
          <a:xfrm>
            <a:off x="457200" y="1600200"/>
            <a:ext cx="8027035"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黑板系统的应用</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信号处理领域，如语音和模式识别</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松耦合代理数据共享存取</a:t>
            </a:r>
            <a:endParaRPr lang="zh-CN" altLang="en-US" dirty="0">
              <a:ea typeface="宋体" panose="02010600030101010101" pitchFamily="2" charset="-122"/>
            </a:endParaRPr>
          </a:p>
          <a:p>
            <a:pPr marL="367030" lvl="1" indent="0">
              <a:buClr>
                <a:schemeClr val="accent1"/>
              </a:buClr>
              <a:buSzPct val="80000"/>
              <a:buFont typeface="Wingdings 2" panose="05020102010507070707" pitchFamily="18" charset="2"/>
              <a:buNone/>
            </a:pPr>
            <a:r>
              <a:rPr lang="zh-CN" altLang="en-US" b="0" dirty="0">
                <a:ea typeface="宋体" panose="02010600030101010101" pitchFamily="2" charset="-122"/>
              </a:rPr>
              <a:t>这种问题具体如下特点：可分解成多个子问题，但每个子问题都属于不同的专业领域。</a:t>
            </a:r>
            <a:endParaRPr lang="zh-CN" altLang="en-US" b="0" dirty="0">
              <a:ea typeface="宋体" panose="02010600030101010101" pitchFamily="2" charset="-122"/>
            </a:endParaRPr>
          </a:p>
          <a:p>
            <a:pPr marL="367030" lvl="1" indent="0">
              <a:buClr>
                <a:schemeClr val="accent1"/>
              </a:buClr>
              <a:buSzPct val="80000"/>
              <a:buFont typeface="Wingdings 2" panose="05020102010507070707" pitchFamily="18" charset="2"/>
              <a:buNone/>
            </a:pPr>
            <a:r>
              <a:rPr lang="zh-CN" altLang="en-US" dirty="0">
                <a:ea typeface="宋体" panose="02010600030101010101" pitchFamily="2" charset="-122"/>
              </a:rPr>
              <a:t>解决方案：</a:t>
            </a:r>
            <a:r>
              <a:rPr lang="zh-CN" altLang="en-US" b="0" dirty="0">
                <a:ea typeface="宋体" panose="02010600030101010101" pitchFamily="2" charset="-122"/>
              </a:rPr>
              <a:t>黑板模式正是来解决这种问题的，黑板模式就好像多位不同的专家在同一黑板上交流思想，每个专家都可以获得别的专家写在黑板上的信息，同时也可以用自己的分析去更新黑板上的信息，从而影响其它专家，正好解决了可分解成多个子问题，但每个子问题都属于不同的专业领域的问题。</a:t>
            </a:r>
            <a:endParaRPr lang="zh-CN" altLang="en-US" b="0" dirty="0">
              <a:ea typeface="宋体" panose="02010600030101010101" pitchFamily="2" charset="-122"/>
            </a:endParaRPr>
          </a:p>
          <a:p>
            <a:pPr lvl="1">
              <a:buClr>
                <a:schemeClr val="accent1"/>
              </a:buClr>
              <a:buSzPct val="80000"/>
              <a:buFont typeface="Wingdings 2" panose="05020102010507070707" pitchFamily="18" charset="2"/>
            </a:pPr>
            <a:endParaRPr lang="zh-CN" altLang="en-US" b="0" dirty="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0723" name="内容占位符 2"/>
          <p:cNvSpPr>
            <a:spLocks noGrp="1"/>
          </p:cNvSpPr>
          <p:nvPr>
            <p:ph sz="quarter" idx="1"/>
          </p:nvPr>
        </p:nvSpPr>
        <p:spPr>
          <a:xfrm>
            <a:off x="457200" y="1600200"/>
            <a:ext cx="8027035"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黑板系统的优点：</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b="0" dirty="0">
                <a:ea typeface="宋体" panose="02010600030101010101" pitchFamily="2" charset="-122"/>
              </a:rPr>
              <a:t>对可更改性和可维护性的支持</a:t>
            </a:r>
            <a:endParaRPr lang="zh-CN" altLang="en-US" b="0" dirty="0">
              <a:ea typeface="宋体" panose="02010600030101010101" pitchFamily="2" charset="-122"/>
            </a:endParaRPr>
          </a:p>
          <a:p>
            <a:pPr lvl="1">
              <a:buClr>
                <a:schemeClr val="accent1"/>
              </a:buClr>
              <a:buSzPct val="70000"/>
              <a:buFont typeface="Wingdings" panose="05000000000000000000" pitchFamily="2" charset="2"/>
            </a:pPr>
            <a:r>
              <a:rPr lang="zh-CN" altLang="en-US" b="0" dirty="0">
                <a:ea typeface="宋体" panose="02010600030101010101" pitchFamily="2" charset="-122"/>
              </a:rPr>
              <a:t>可复用的知识源</a:t>
            </a:r>
            <a:endParaRPr lang="zh-CN" altLang="en-US" b="0" dirty="0">
              <a:ea typeface="宋体" panose="02010600030101010101" pitchFamily="2" charset="-122"/>
            </a:endParaRPr>
          </a:p>
          <a:p>
            <a:pPr lvl="1">
              <a:buClr>
                <a:schemeClr val="accent1"/>
              </a:buClr>
              <a:buSzPct val="70000"/>
              <a:buFont typeface="Wingdings" panose="05000000000000000000" pitchFamily="2" charset="2"/>
            </a:pPr>
            <a:r>
              <a:rPr lang="zh-CN" altLang="en-US" b="0" dirty="0">
                <a:ea typeface="宋体" panose="02010600030101010101" pitchFamily="2" charset="-122"/>
              </a:rPr>
              <a:t>支持容错性和健壮性</a:t>
            </a:r>
            <a:endParaRPr lang="zh-CN" altLang="en-US" b="0"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8.2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经典软件体系结构风格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0723" name="内容占位符 2"/>
          <p:cNvSpPr>
            <a:spLocks noGrp="1"/>
          </p:cNvSpPr>
          <p:nvPr>
            <p:ph sz="quarter" idx="1"/>
          </p:nvPr>
        </p:nvSpPr>
        <p:spPr>
          <a:xfrm>
            <a:off x="457200" y="1600200"/>
            <a:ext cx="8027035"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sym typeface="+mn-ea"/>
              </a:rPr>
              <a:t>黑板系统的不足：</a:t>
            </a:r>
            <a:endParaRPr lang="zh-CN" altLang="en-US" dirty="0">
              <a:ea typeface="宋体" panose="02010600030101010101" pitchFamily="2" charset="-122"/>
            </a:endParaRPr>
          </a:p>
          <a:p>
            <a:pPr marL="0" indent="457200">
              <a:buClr>
                <a:schemeClr val="accent1"/>
              </a:buClr>
              <a:buSzPct val="70000"/>
              <a:buFont typeface="Wingdings" panose="05000000000000000000" pitchFamily="2" charset="2"/>
              <a:buNone/>
            </a:pPr>
            <a:r>
              <a:rPr lang="en-US" altLang="zh-CN" sz="2200" b="0" dirty="0">
                <a:ea typeface="宋体" panose="02010600030101010101" pitchFamily="2" charset="-122"/>
                <a:sym typeface="+mn-ea"/>
              </a:rPr>
              <a:t>1. </a:t>
            </a:r>
            <a:r>
              <a:rPr lang="zh-CN" altLang="en-US" sz="2200" b="0" dirty="0">
                <a:ea typeface="宋体" panose="02010600030101010101" pitchFamily="2" charset="-122"/>
                <a:sym typeface="+mn-ea"/>
              </a:rPr>
              <a:t>测试困难，黑板系统的计算没有依据确定的算法，其结果常常不可再现，此外，错误假设也是求解过程的组成部分</a:t>
            </a:r>
            <a:endParaRPr lang="zh-CN" altLang="en-US" sz="2200" b="0" dirty="0">
              <a:ea typeface="宋体" panose="02010600030101010101" pitchFamily="2" charset="-122"/>
            </a:endParaRPr>
          </a:p>
          <a:p>
            <a:pPr marL="0" indent="457200">
              <a:buClr>
                <a:schemeClr val="accent1"/>
              </a:buClr>
              <a:buSzPct val="70000"/>
              <a:buFont typeface="Wingdings" panose="05000000000000000000" pitchFamily="2" charset="2"/>
              <a:buNone/>
            </a:pPr>
            <a:r>
              <a:rPr lang="en-US" altLang="zh-CN" sz="2200" b="0" dirty="0">
                <a:ea typeface="宋体" panose="02010600030101010101" pitchFamily="2" charset="-122"/>
                <a:sym typeface="+mn-ea"/>
              </a:rPr>
              <a:t>2. </a:t>
            </a:r>
            <a:r>
              <a:rPr lang="zh-CN" altLang="en-US" sz="2200" b="0" dirty="0">
                <a:ea typeface="宋体" panose="02010600030101010101" pitchFamily="2" charset="-122"/>
                <a:sym typeface="+mn-ea"/>
              </a:rPr>
              <a:t>不能保证有好的求解方案，黑板系统往往只能正确解决所给任务的某一百分比</a:t>
            </a:r>
            <a:endParaRPr lang="zh-CN" altLang="en-US" sz="2200" b="0" dirty="0">
              <a:ea typeface="宋体" panose="02010600030101010101" pitchFamily="2" charset="-122"/>
            </a:endParaRPr>
          </a:p>
          <a:p>
            <a:pPr marL="0" indent="457200">
              <a:buClr>
                <a:schemeClr val="accent1"/>
              </a:buClr>
              <a:buSzPct val="70000"/>
              <a:buFont typeface="Wingdings" panose="05000000000000000000" pitchFamily="2" charset="2"/>
              <a:buNone/>
            </a:pPr>
            <a:r>
              <a:rPr lang="en-US" altLang="zh-CN" sz="2200" b="0" dirty="0">
                <a:ea typeface="宋体" panose="02010600030101010101" pitchFamily="2" charset="-122"/>
                <a:sym typeface="+mn-ea"/>
              </a:rPr>
              <a:t>3. </a:t>
            </a:r>
            <a:r>
              <a:rPr lang="zh-CN" altLang="en-US" sz="2200" b="0" dirty="0">
                <a:ea typeface="宋体" panose="02010600030101010101" pitchFamily="2" charset="-122"/>
                <a:sym typeface="+mn-ea"/>
              </a:rPr>
              <a:t>难以建立好的控制策略，控制策略不能以一种直接方式设计，而需要一种实验的方法</a:t>
            </a:r>
            <a:endParaRPr lang="zh-CN" altLang="en-US" sz="2200" b="0" dirty="0">
              <a:ea typeface="宋体" panose="02010600030101010101" pitchFamily="2" charset="-122"/>
            </a:endParaRPr>
          </a:p>
          <a:p>
            <a:pPr marL="0" indent="457200">
              <a:buClr>
                <a:schemeClr val="accent1"/>
              </a:buClr>
              <a:buSzPct val="70000"/>
              <a:buFont typeface="Wingdings" panose="05000000000000000000" pitchFamily="2" charset="2"/>
              <a:buNone/>
            </a:pPr>
            <a:r>
              <a:rPr lang="en-US" altLang="zh-CN" sz="2200" b="0" dirty="0">
                <a:ea typeface="宋体" panose="02010600030101010101" pitchFamily="2" charset="-122"/>
                <a:sym typeface="+mn-ea"/>
              </a:rPr>
              <a:t>4. </a:t>
            </a:r>
            <a:r>
              <a:rPr lang="zh-CN" altLang="en-US" sz="2200" b="0" dirty="0">
                <a:ea typeface="宋体" panose="02010600030101010101" pitchFamily="2" charset="-122"/>
                <a:sym typeface="+mn-ea"/>
              </a:rPr>
              <a:t>低效，黑板系统在拒绝错误假设中要承受多余的计算开销</a:t>
            </a:r>
            <a:endParaRPr lang="zh-CN" altLang="en-US" sz="2200" b="0" dirty="0">
              <a:ea typeface="宋体" panose="02010600030101010101" pitchFamily="2" charset="-122"/>
            </a:endParaRPr>
          </a:p>
          <a:p>
            <a:pPr marL="0" indent="457200">
              <a:buClr>
                <a:schemeClr val="accent1"/>
              </a:buClr>
              <a:buSzPct val="70000"/>
              <a:buFont typeface="Wingdings" panose="05000000000000000000" pitchFamily="2" charset="2"/>
              <a:buNone/>
            </a:pPr>
            <a:r>
              <a:rPr lang="en-US" altLang="zh-CN" sz="2200" b="0" dirty="0">
                <a:ea typeface="宋体" panose="02010600030101010101" pitchFamily="2" charset="-122"/>
                <a:sym typeface="+mn-ea"/>
              </a:rPr>
              <a:t>5. </a:t>
            </a:r>
            <a:r>
              <a:rPr lang="zh-CN" altLang="en-US" sz="2200" b="0" dirty="0">
                <a:ea typeface="宋体" panose="02010600030101010101" pitchFamily="2" charset="-122"/>
                <a:sym typeface="+mn-ea"/>
              </a:rPr>
              <a:t>昂贵的开发工作，绝大多数黑板系统要花几年时间来进化</a:t>
            </a:r>
            <a:endParaRPr lang="zh-CN" altLang="en-US" sz="2200" b="0" dirty="0">
              <a:ea typeface="宋体" panose="02010600030101010101" pitchFamily="2" charset="-122"/>
            </a:endParaRPr>
          </a:p>
          <a:p>
            <a:pPr marL="0" indent="457200">
              <a:buClr>
                <a:schemeClr val="accent1"/>
              </a:buClr>
              <a:buSzPct val="70000"/>
              <a:buFont typeface="Wingdings" panose="05000000000000000000" pitchFamily="2" charset="2"/>
              <a:buNone/>
            </a:pPr>
            <a:r>
              <a:rPr lang="en-US" altLang="zh-CN" sz="2200" b="0" dirty="0">
                <a:ea typeface="宋体" panose="02010600030101010101" pitchFamily="2" charset="-122"/>
                <a:sym typeface="+mn-ea"/>
              </a:rPr>
              <a:t>6. </a:t>
            </a:r>
            <a:r>
              <a:rPr lang="zh-CN" altLang="en-US" sz="2200" b="0" dirty="0">
                <a:ea typeface="宋体" panose="02010600030101010101" pitchFamily="2" charset="-122"/>
                <a:sym typeface="+mn-ea"/>
              </a:rPr>
              <a:t>缺少对并行机制的支持 ，黑板体系结构不能避免采用了知识源潜在并行机制的控制策略，但它不提供它们的并行执行，对黑板上中心数据的并发访问也必须是同步的</a:t>
            </a:r>
            <a:endParaRPr lang="zh-CN" altLang="en-US" sz="2200" b="0" dirty="0">
              <a:ea typeface="宋体" panose="02010600030101010101" pitchFamily="2" charset="-122"/>
            </a:endParaRPr>
          </a:p>
          <a:p>
            <a:pPr>
              <a:buClr>
                <a:schemeClr val="accent1"/>
              </a:buClr>
              <a:buSzPct val="70000"/>
              <a:buFont typeface="Wingdings" panose="05000000000000000000" pitchFamily="2" charset="2"/>
            </a:pPr>
            <a:endParaRPr lang="zh-CN" altLang="en-US" sz="2200" b="0" dirty="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1747"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在集中式计算技术时代广泛使用的是大型机</a:t>
            </a:r>
            <a:r>
              <a:rPr lang="en-US" altLang="zh-CN" dirty="0">
                <a:ea typeface="宋体" panose="02010600030101010101" pitchFamily="2" charset="-122"/>
              </a:rPr>
              <a:t>/</a:t>
            </a:r>
            <a:r>
              <a:rPr lang="zh-CN" altLang="en-US" dirty="0">
                <a:ea typeface="宋体" panose="02010600030101010101" pitchFamily="2" charset="-122"/>
              </a:rPr>
              <a:t>小型机计算模型。是通过一台物理上与宿主机相连接的非智能终端来实现宿主机上的应用程序。 </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en-US" altLang="zh-CN" dirty="0">
                <a:ea typeface="宋体" panose="02010600030101010101" pitchFamily="2" charset="-122"/>
              </a:rPr>
              <a:t>20</a:t>
            </a:r>
            <a:r>
              <a:rPr lang="zh-CN" altLang="en-US" dirty="0">
                <a:ea typeface="宋体" panose="02010600030101010101" pitchFamily="2" charset="-122"/>
              </a:rPr>
              <a:t>世纪</a:t>
            </a:r>
            <a:r>
              <a:rPr lang="en-US" altLang="zh-CN" dirty="0">
                <a:ea typeface="宋体" panose="02010600030101010101" pitchFamily="2" charset="-122"/>
              </a:rPr>
              <a:t>80</a:t>
            </a:r>
            <a:r>
              <a:rPr lang="zh-CN" altLang="en-US" dirty="0">
                <a:ea typeface="宋体" panose="02010600030101010101" pitchFamily="2" charset="-122"/>
              </a:rPr>
              <a:t>年代以后，集中式结构逐渐被以</a:t>
            </a:r>
            <a:r>
              <a:rPr lang="en-US" altLang="zh-CN" dirty="0">
                <a:ea typeface="宋体" panose="02010600030101010101" pitchFamily="2" charset="-122"/>
              </a:rPr>
              <a:t>PC</a:t>
            </a:r>
            <a:r>
              <a:rPr lang="zh-CN" altLang="en-US" dirty="0">
                <a:ea typeface="宋体" panose="02010600030101010101" pitchFamily="2" charset="-122"/>
              </a:rPr>
              <a:t>机为主的微机网络所取代。个人计算机和工作站的采用，永远改变了协作计算模型，从而导致了分散的个人计算模型的产生。它们构建在大的或小的网络环境及某种组合上，形成了分布式系统。</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客户</a:t>
            </a:r>
            <a:r>
              <a:rPr lang="en-US" altLang="zh-CN" dirty="0">
                <a:solidFill>
                  <a:srgbClr val="0070C0"/>
                </a:solidFill>
                <a:ea typeface="宋体" panose="02010600030101010101" pitchFamily="2" charset="-122"/>
              </a:rPr>
              <a:t>/</a:t>
            </a:r>
            <a:r>
              <a:rPr lang="zh-CN" altLang="en-US" dirty="0">
                <a:solidFill>
                  <a:srgbClr val="0070C0"/>
                </a:solidFill>
                <a:ea typeface="宋体" panose="02010600030101010101" pitchFamily="2" charset="-122"/>
              </a:rPr>
              <a:t>服务器</a:t>
            </a:r>
            <a:r>
              <a:rPr lang="zh-CN" altLang="en-US" dirty="0">
                <a:ea typeface="宋体" panose="02010600030101010101" pitchFamily="2" charset="-122"/>
              </a:rPr>
              <a:t>（</a:t>
            </a:r>
            <a:r>
              <a:rPr lang="en-US" altLang="zh-CN" dirty="0">
                <a:ea typeface="新宋体" panose="02010609030101010101" pitchFamily="49" charset="-122"/>
              </a:rPr>
              <a:t> Client/Server </a:t>
            </a:r>
            <a:r>
              <a:rPr lang="zh-CN" altLang="en-US" dirty="0">
                <a:ea typeface="新宋体" panose="02010609030101010101" pitchFamily="49" charset="-122"/>
              </a:rPr>
              <a:t>，</a:t>
            </a:r>
            <a:r>
              <a:rPr lang="en-US" altLang="zh-CN" dirty="0">
                <a:solidFill>
                  <a:srgbClr val="0070C0"/>
                </a:solidFill>
                <a:ea typeface="宋体" panose="02010600030101010101" pitchFamily="2" charset="-122"/>
              </a:rPr>
              <a:t>C/S</a:t>
            </a:r>
            <a:r>
              <a:rPr lang="zh-CN" altLang="en-US" dirty="0">
                <a:ea typeface="宋体" panose="02010600030101010101" pitchFamily="2" charset="-122"/>
              </a:rPr>
              <a:t>）软件体系结构是基于资源不对等，且为实现共享而提出来的，是</a:t>
            </a:r>
            <a:r>
              <a:rPr lang="en-US" altLang="zh-CN" dirty="0">
                <a:ea typeface="宋体" panose="02010600030101010101" pitchFamily="2" charset="-122"/>
              </a:rPr>
              <a:t>20</a:t>
            </a:r>
            <a:r>
              <a:rPr lang="zh-CN" altLang="en-US" dirty="0">
                <a:ea typeface="宋体" panose="02010600030101010101" pitchFamily="2" charset="-122"/>
              </a:rPr>
              <a:t>世纪</a:t>
            </a:r>
            <a:r>
              <a:rPr lang="en-US" altLang="zh-CN" dirty="0">
                <a:ea typeface="宋体" panose="02010600030101010101" pitchFamily="2" charset="-122"/>
              </a:rPr>
              <a:t>90</a:t>
            </a:r>
            <a:r>
              <a:rPr lang="zh-CN" altLang="en-US" dirty="0">
                <a:ea typeface="宋体" panose="02010600030101010101" pitchFamily="2" charset="-122"/>
              </a:rPr>
              <a:t>年代成熟起来的技术。 </a:t>
            </a:r>
            <a:endParaRPr lang="zh-CN" altLang="en-US" dirty="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1747" name="内容占位符 2"/>
          <p:cNvSpPr>
            <a:spLocks noGrp="1"/>
          </p:cNvSpPr>
          <p:nvPr>
            <p:ph sz="quarter" idx="1"/>
          </p:nvPr>
        </p:nvSpPr>
        <p:spPr>
          <a:xfrm>
            <a:off x="457200" y="1600200"/>
            <a:ext cx="815467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二层</a:t>
            </a:r>
            <a:r>
              <a:rPr lang="en-US" altLang="zh-CN" dirty="0">
                <a:ea typeface="宋体" panose="02010600030101010101" pitchFamily="2" charset="-122"/>
              </a:rPr>
              <a:t>C/S</a:t>
            </a:r>
            <a:r>
              <a:rPr lang="zh-CN" altLang="en-US" dirty="0">
                <a:ea typeface="宋体" panose="02010600030101010101" pitchFamily="2" charset="-122"/>
              </a:rPr>
              <a:t>体系结构 </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传统的C/S体系结构为二层的C/S体系结构。在这种体系结构中，一个应用系统被划分为客户机和服务器两部分</a:t>
            </a:r>
            <a:endParaRPr lang="zh-CN" altLang="en-US"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475740" y="2996565"/>
            <a:ext cx="5819775" cy="35915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1747" name="内容占位符 2"/>
          <p:cNvSpPr>
            <a:spLocks noGrp="1"/>
          </p:cNvSpPr>
          <p:nvPr>
            <p:ph sz="quarter" idx="1"/>
          </p:nvPr>
        </p:nvSpPr>
        <p:spPr>
          <a:xfrm>
            <a:off x="457200" y="1484630"/>
            <a:ext cx="8154670" cy="4873625"/>
          </a:xfrm>
        </p:spPr>
        <p:txBody>
          <a:bodyPr vert="horz" wrap="square" lIns="91440" tIns="45720" rIns="91440" bIns="45720" anchor="t" anchorCtr="0"/>
          <a:p>
            <a:pPr marL="0" indent="0">
              <a:buClr>
                <a:schemeClr val="accent1"/>
              </a:buClr>
              <a:buSzPct val="70000"/>
              <a:buFont typeface="Wingdings" panose="05000000000000000000" pitchFamily="2" charset="2"/>
              <a:buNone/>
            </a:pPr>
            <a:r>
              <a:rPr lang="zh-CN" altLang="en-US" dirty="0">
                <a:ea typeface="宋体" panose="02010600030101010101" pitchFamily="2" charset="-122"/>
              </a:rPr>
              <a:t>二层C/S体系结构可以有两种形态：</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瘦客户机模型。</a:t>
            </a:r>
            <a:r>
              <a:rPr lang="zh-CN" altLang="en-US" b="0" dirty="0">
                <a:ea typeface="宋体" panose="02010600030101010101" pitchFamily="2" charset="-122"/>
              </a:rPr>
              <a:t>即数据管理部分和应用逻辑部分都在服务器上执行，客户机只负责表示部分</a:t>
            </a:r>
            <a:endParaRPr lang="zh-CN" altLang="en-US" b="0"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胖客户机模型。</a:t>
            </a:r>
            <a:r>
              <a:rPr lang="zh-CN" altLang="en-US" b="0" dirty="0">
                <a:ea typeface="宋体" panose="02010600030101010101" pitchFamily="2" charset="-122"/>
              </a:rPr>
              <a:t>服务器只负责对数据的管理，客户机实现应用逻辑和与系统用户的交互</a:t>
            </a:r>
            <a:endParaRPr lang="zh-CN" altLang="en-US" b="0"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随着企业规模的日益扩大，软件复杂程度的不断提高，胖客户机模型逐渐暴露出缺点：</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开发成本较高。C/S体系结构对客户端软硬件配置要求较高，增加了整个系统的成本</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用户界面风格不一，使用繁杂，不利于推广使用</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软件移植困难，采用不同工具或平台开发的软件，一般互不兼容，很难移植到其他平台上运行</a:t>
            </a:r>
            <a:endParaRPr lang="zh-CN" altLang="en-US" sz="2000" b="0" dirty="0">
              <a:ea typeface="宋体" panose="02010600030101010101" pitchFamily="2" charset="-122"/>
            </a:endParaRPr>
          </a:p>
          <a:p>
            <a:pPr lvl="1">
              <a:buClr>
                <a:schemeClr val="accent1"/>
              </a:buClr>
              <a:buSzPct val="70000"/>
              <a:buFont typeface="Wingdings" panose="05000000000000000000" pitchFamily="2" charset="2"/>
            </a:pPr>
            <a:r>
              <a:rPr lang="zh-CN" altLang="en-US" sz="2000" b="0" dirty="0">
                <a:ea typeface="宋体" panose="02010600030101010101" pitchFamily="2" charset="-122"/>
              </a:rPr>
              <a:t>软件维护和升级困难，由于应用程序安装在客户端，若软件需要维护则每台客户机上的软件均需要更新或升级</a:t>
            </a:r>
            <a:endParaRPr lang="zh-CN" altLang="en-US" sz="2000" b="0" dirty="0">
              <a:ea typeface="宋体" panose="02010600030101010101" pitchFamily="2" charset="-122"/>
            </a:endParaRPr>
          </a:p>
          <a:p>
            <a:pPr>
              <a:buClr>
                <a:schemeClr val="accent1"/>
              </a:buClr>
              <a:buSzPct val="70000"/>
              <a:buFont typeface="Wingdings" panose="05000000000000000000" pitchFamily="2" charset="2"/>
            </a:pPr>
            <a:endParaRPr lang="zh-CN" altLang="en-US" sz="2000" b="0"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2771"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en-US" altLang="zh-CN" dirty="0">
                <a:ea typeface="宋体" panose="02010600030101010101" pitchFamily="2" charset="-122"/>
              </a:rPr>
              <a:t>C/S</a:t>
            </a:r>
            <a:r>
              <a:rPr lang="zh-CN" altLang="en-US" dirty="0">
                <a:ea typeface="宋体" panose="02010600030101010101" pitchFamily="2" charset="-122"/>
              </a:rPr>
              <a:t>体系结构有三个主要组成部分：</a:t>
            </a:r>
            <a:r>
              <a:rPr lang="zh-CN" altLang="en-US" dirty="0">
                <a:solidFill>
                  <a:srgbClr val="0070C0"/>
                </a:solidFill>
                <a:ea typeface="宋体" panose="02010600030101010101" pitchFamily="2" charset="-122"/>
              </a:rPr>
              <a:t>数据库服务器</a:t>
            </a:r>
            <a:r>
              <a:rPr lang="zh-CN" altLang="en-US" dirty="0">
                <a:ea typeface="宋体" panose="02010600030101010101" pitchFamily="2" charset="-122"/>
              </a:rPr>
              <a:t>、</a:t>
            </a:r>
            <a:r>
              <a:rPr lang="zh-CN" altLang="en-US" dirty="0">
                <a:solidFill>
                  <a:srgbClr val="0070C0"/>
                </a:solidFill>
                <a:ea typeface="宋体" panose="02010600030101010101" pitchFamily="2" charset="-122"/>
              </a:rPr>
              <a:t>客户应用程序</a:t>
            </a:r>
            <a:r>
              <a:rPr lang="zh-CN" altLang="en-US" dirty="0">
                <a:ea typeface="宋体" panose="02010600030101010101" pitchFamily="2" charset="-122"/>
              </a:rPr>
              <a:t>和</a:t>
            </a:r>
            <a:r>
              <a:rPr lang="zh-CN" altLang="en-US" dirty="0">
                <a:solidFill>
                  <a:srgbClr val="0070C0"/>
                </a:solidFill>
                <a:ea typeface="宋体" panose="02010600030101010101" pitchFamily="2" charset="-122"/>
              </a:rPr>
              <a:t>网络</a:t>
            </a:r>
            <a:r>
              <a:rPr lang="zh-CN" altLang="en-US" dirty="0">
                <a:ea typeface="宋体" panose="02010600030101010101" pitchFamily="2" charset="-122"/>
              </a:rPr>
              <a:t>。</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graphicFrame>
        <p:nvGraphicFramePr>
          <p:cNvPr id="32772" name="对象 3"/>
          <p:cNvGraphicFramePr>
            <a:graphicFrameLocks noChangeAspect="1"/>
          </p:cNvGraphicFramePr>
          <p:nvPr/>
        </p:nvGraphicFramePr>
        <p:xfrm>
          <a:off x="900113" y="2535238"/>
          <a:ext cx="6624637" cy="3908425"/>
        </p:xfrm>
        <a:graphic>
          <a:graphicData uri="http://schemas.openxmlformats.org/presentationml/2006/ole">
            <mc:AlternateContent xmlns:mc="http://schemas.openxmlformats.org/markup-compatibility/2006">
              <mc:Choice xmlns:v="urn:schemas-microsoft-com:vml" Requires="v">
                <p:oleObj spid="_x0000_s3080" name="" r:id="rId1" imgW="3926840" imgH="2391410" progId="Visio.Drawing.11">
                  <p:embed/>
                </p:oleObj>
              </mc:Choice>
              <mc:Fallback>
                <p:oleObj name="" r:id="rId1" imgW="3926840" imgH="2391410" progId="Visio.Drawing.11">
                  <p:embed/>
                  <p:pic>
                    <p:nvPicPr>
                      <p:cNvPr id="0" name="图片 3079"/>
                      <p:cNvPicPr/>
                      <p:nvPr/>
                    </p:nvPicPr>
                    <p:blipFill>
                      <a:blip r:embed="rId2"/>
                      <a:stretch>
                        <a:fillRect/>
                      </a:stretch>
                    </p:blipFill>
                    <p:spPr>
                      <a:xfrm>
                        <a:off x="900113" y="2535238"/>
                        <a:ext cx="6624637" cy="3908425"/>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a:xfrm>
            <a:off x="457200" y="1600200"/>
            <a:ext cx="749935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服务器端的</a:t>
            </a:r>
            <a:r>
              <a:rPr lang="zh-CN" altLang="en-US" dirty="0">
                <a:ea typeface="宋体" panose="02010600030101010101" pitchFamily="2" charset="-122"/>
              </a:rPr>
              <a:t>任务包括</a:t>
            </a:r>
            <a:endParaRPr lang="zh-CN" altLang="en-US" dirty="0">
              <a:ea typeface="宋体" panose="02010600030101010101" pitchFamily="2" charset="-122"/>
            </a:endParaRPr>
          </a:p>
          <a:p>
            <a:pPr lvl="1">
              <a:buClr>
                <a:schemeClr val="accent1"/>
              </a:buClr>
              <a:buSzPct val="70000"/>
              <a:buFont typeface="Wingdings" panose="05000000000000000000" pitchFamily="2" charset="2"/>
            </a:pPr>
            <a:r>
              <a:rPr lang="zh-CN" altLang="en-US" dirty="0">
                <a:ea typeface="宋体" panose="02010600030101010101" pitchFamily="2" charset="-122"/>
              </a:rPr>
              <a:t>数据库安全性的要求；</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数据库访问并发性的控制；</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数据库前端的客户应用程序的全局数据完整性规则；</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数据库的备份与恢复。</a:t>
            </a:r>
            <a:endParaRPr lang="zh-CN" altLang="en-US" dirty="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4819"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客户应用程序的任务</a:t>
            </a:r>
            <a:r>
              <a:rPr lang="zh-CN" altLang="en-US" dirty="0">
                <a:ea typeface="宋体" panose="02010600030101010101" pitchFamily="2" charset="-122"/>
              </a:rPr>
              <a:t>包括</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提供用户与数据库交互的界面；</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向数据库服务器提交用户请求并接收来自数据库服务器的信息；</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利用客户应用程序对存在于客户端的数据执行应用逻辑要求。</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网络通信软件</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完成数据库服务器和客户应用程序之间的数据传输。</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a:t>
            </a:r>
            <a:r>
              <a:rPr lang="zh-CN" altLang="en-US" dirty="0">
                <a:solidFill>
                  <a:srgbClr val="FF0000"/>
                </a:solidFill>
                <a:ea typeface="宋体" panose="02010600030101010101" pitchFamily="2" charset="-122"/>
              </a:rPr>
              <a:t>胖客户机</a:t>
            </a:r>
            <a:r>
              <a:rPr lang="zh-CN" altLang="en-US" dirty="0">
                <a:ea typeface="宋体" panose="02010600030101010101" pitchFamily="2" charset="-122"/>
              </a:rPr>
              <a:t>、</a:t>
            </a:r>
            <a:r>
              <a:rPr lang="zh-CN" altLang="en-US" dirty="0">
                <a:solidFill>
                  <a:srgbClr val="FF0000"/>
                </a:solidFill>
                <a:ea typeface="宋体" panose="02010600030101010101" pitchFamily="2" charset="-122"/>
              </a:rPr>
              <a:t>瘦服务器</a:t>
            </a:r>
            <a:r>
              <a:rPr lang="zh-CN" altLang="en-US"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35843" name="内容占位符 3"/>
          <p:cNvGraphicFramePr>
            <a:graphicFrameLocks noGrp="1" noChangeAspect="1"/>
          </p:cNvGraphicFramePr>
          <p:nvPr>
            <p:ph sz="quarter" idx="1"/>
          </p:nvPr>
        </p:nvGraphicFramePr>
        <p:xfrm>
          <a:off x="1042988" y="1608138"/>
          <a:ext cx="6481762" cy="4783137"/>
        </p:xfrm>
        <a:graphic>
          <a:graphicData uri="http://schemas.openxmlformats.org/presentationml/2006/ole">
            <mc:AlternateContent xmlns:mc="http://schemas.openxmlformats.org/markup-compatibility/2006">
              <mc:Choice xmlns:v="urn:schemas-microsoft-com:vml" Requires="v">
                <p:oleObj spid="_x0000_s3079" name="" r:id="rId1" imgW="4510405" imgH="3329305" progId="Visio.Drawing.11">
                  <p:embed/>
                </p:oleObj>
              </mc:Choice>
              <mc:Fallback>
                <p:oleObj name="" r:id="rId1" imgW="4510405" imgH="3329305" progId="Visio.Drawing.11">
                  <p:embed/>
                  <p:pic>
                    <p:nvPicPr>
                      <p:cNvPr id="0" name="图片 3078"/>
                      <p:cNvPicPr/>
                      <p:nvPr/>
                    </p:nvPicPr>
                    <p:blipFill>
                      <a:blip r:embed="rId2"/>
                      <a:srcRect/>
                      <a:stretch>
                        <a:fillRect/>
                      </a:stretch>
                    </p:blipFill>
                    <p:spPr>
                      <a:xfrm>
                        <a:off x="1042988" y="1608138"/>
                        <a:ext cx="6481762" cy="4783137"/>
                      </a:xfrm>
                      <a:prstGeom prst="rect">
                        <a:avLst/>
                      </a:prstGeom>
                      <a:solidFill>
                        <a:schemeClr val="bg1">
                          <a:alpha val="100000"/>
                        </a:schemeClr>
                      </a:solidFill>
                      <a:ln w="38100">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a:xfrm>
            <a:off x="457200" y="1600200"/>
            <a:ext cx="7715250" cy="4873625"/>
          </a:xfrm>
        </p:spPr>
        <p:txBody>
          <a:bodyPr vert="horz" wrap="square" lIns="91440" tIns="45720" rIns="91440" bIns="45720" anchor="t" anchorCtr="0"/>
          <a:p>
            <a:pPr marL="0" indent="0">
              <a:buClr>
                <a:schemeClr val="accent1"/>
              </a:buClr>
              <a:buSzPct val="70000"/>
              <a:buFont typeface="Wingdings" panose="05000000000000000000" pitchFamily="2" charset="2"/>
              <a:buNone/>
            </a:pPr>
            <a:r>
              <a:rPr lang="zh-CN" altLang="en-US" dirty="0">
                <a:ea typeface="宋体" panose="02010600030101010101" pitchFamily="2" charset="-122"/>
              </a:rPr>
              <a:t>三层</a:t>
            </a:r>
            <a:r>
              <a:rPr lang="en-US" altLang="zh-CN" dirty="0">
                <a:ea typeface="宋体" panose="02010600030101010101" pitchFamily="2" charset="-122"/>
              </a:rPr>
              <a:t>C/S</a:t>
            </a:r>
            <a:r>
              <a:rPr lang="zh-CN" altLang="en-US" dirty="0">
                <a:ea typeface="宋体" panose="02010600030101010101" pitchFamily="2" charset="-122"/>
              </a:rPr>
              <a:t>结构优点</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开发人员可以只关注整个结构中的</a:t>
            </a:r>
            <a:r>
              <a:rPr lang="zh-CN" altLang="en-US" dirty="0">
                <a:ea typeface="宋体" panose="02010600030101010101" pitchFamily="2" charset="-122"/>
              </a:rPr>
              <a:t>某一层</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可以很容易用新的实现代替原有层次的</a:t>
            </a:r>
            <a:r>
              <a:rPr lang="zh-CN" altLang="en-US" dirty="0">
                <a:ea typeface="宋体" panose="02010600030101010101" pitchFamily="2" charset="-122"/>
              </a:rPr>
              <a:t>实现</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可以降低层与层之间的</a:t>
            </a:r>
            <a:r>
              <a:rPr lang="zh-CN" altLang="en-US" dirty="0">
                <a:ea typeface="宋体" panose="02010600030101010101" pitchFamily="2" charset="-122"/>
              </a:rPr>
              <a:t>依赖性</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有利于标准</a:t>
            </a:r>
            <a:r>
              <a:rPr lang="zh-CN" altLang="en-US" dirty="0">
                <a:ea typeface="宋体" panose="02010600030101010101" pitchFamily="2" charset="-122"/>
              </a:rPr>
              <a:t>化</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有利于各层逻辑的</a:t>
            </a:r>
            <a:r>
              <a:rPr lang="zh-CN" altLang="en-US" dirty="0">
                <a:ea typeface="宋体" panose="02010600030101010101" pitchFamily="2" charset="-122"/>
              </a:rPr>
              <a:t>复用</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扩展性</a:t>
            </a:r>
            <a:r>
              <a:rPr lang="zh-CN" altLang="en-US" dirty="0">
                <a:ea typeface="宋体" panose="02010600030101010101" pitchFamily="2" charset="-122"/>
              </a:rPr>
              <a:t>强</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安全性高，客户端只能通过逻辑层来访问数据层，减少了</a:t>
            </a:r>
            <a:r>
              <a:rPr lang="zh-CN" altLang="en-US" dirty="0">
                <a:ea typeface="宋体" panose="02010600030101010101" pitchFamily="2" charset="-122"/>
              </a:rPr>
              <a:t>入口点</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项目结构更清楚，分工更明确。有利于后期维护和</a:t>
            </a:r>
            <a:r>
              <a:rPr lang="zh-CN" altLang="en-US" dirty="0">
                <a:ea typeface="宋体" panose="02010600030101010101" pitchFamily="2" charset="-122"/>
              </a:rPr>
              <a:t>升级。</a:t>
            </a:r>
            <a:endParaRPr lang="zh-CN" altLang="en-US"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8.3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客户</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7891"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缺点</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较多的层次降低了</a:t>
            </a:r>
            <a:r>
              <a:rPr lang="zh-CN" altLang="en-US" dirty="0">
                <a:ea typeface="宋体" panose="02010600030101010101" pitchFamily="2" charset="-122"/>
              </a:rPr>
              <a:t>系统的性能。如果不采用分层式结构，很多业务可以直接造访数据库，以此获得相应的数据，如今却必须通过中间层</a:t>
            </a:r>
            <a:r>
              <a:rPr lang="zh-CN" altLang="en-US" dirty="0">
                <a:ea typeface="宋体" panose="02010600030101010101" pitchFamily="2" charset="-122"/>
              </a:rPr>
              <a:t>来完成。</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其次，有时会导致级联的修改。比如在表示层中增加一个功能，为保证其设计符合分层式结构，可能需要在业务逻辑层和数据访问层中都增加相应的代码。</a:t>
            </a:r>
            <a:r>
              <a:rPr lang="zh-CN" altLang="en-US" dirty="0">
                <a:ea typeface="宋体" panose="02010600030101010101" pitchFamily="2" charset="-122"/>
              </a:rPr>
              <a:t>从而增加代码量。</a:t>
            </a:r>
            <a:endParaRPr lang="zh-CN" altLang="en-US"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浏览器</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5059"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浏览器</a:t>
            </a:r>
            <a:r>
              <a:rPr lang="en-US" altLang="zh-CN" dirty="0">
                <a:solidFill>
                  <a:srgbClr val="0070C0"/>
                </a:solidFill>
                <a:ea typeface="宋体" panose="02010600030101010101" pitchFamily="2" charset="-122"/>
              </a:rPr>
              <a:t>/</a:t>
            </a:r>
            <a:r>
              <a:rPr lang="zh-CN" altLang="en-US" dirty="0">
                <a:solidFill>
                  <a:srgbClr val="0070C0"/>
                </a:solidFill>
                <a:ea typeface="宋体" panose="02010600030101010101" pitchFamily="2" charset="-122"/>
              </a:rPr>
              <a:t>服务器</a:t>
            </a:r>
            <a:r>
              <a:rPr lang="zh-CN" altLang="en-US" dirty="0">
                <a:ea typeface="宋体" panose="02010600030101010101" pitchFamily="2" charset="-122"/>
              </a:rPr>
              <a:t>（</a:t>
            </a:r>
            <a:r>
              <a:rPr lang="en-US" altLang="zh-CN" dirty="0">
                <a:ea typeface="宋体" panose="02010600030101010101" pitchFamily="2" charset="-122"/>
              </a:rPr>
              <a:t> Browser/Server </a:t>
            </a:r>
            <a:r>
              <a:rPr lang="zh-CN" altLang="en-US" dirty="0">
                <a:ea typeface="宋体" panose="02010600030101010101" pitchFamily="2" charset="-122"/>
              </a:rPr>
              <a:t>，</a:t>
            </a:r>
            <a:r>
              <a:rPr lang="en-US" altLang="zh-CN" dirty="0">
                <a:solidFill>
                  <a:srgbClr val="0070C0"/>
                </a:solidFill>
                <a:ea typeface="宋体" panose="02010600030101010101" pitchFamily="2" charset="-122"/>
              </a:rPr>
              <a:t>B/S</a:t>
            </a:r>
            <a:r>
              <a:rPr lang="zh-CN" altLang="en-US" dirty="0">
                <a:ea typeface="宋体" panose="02010600030101010101" pitchFamily="2" charset="-122"/>
              </a:rPr>
              <a:t>）风格就是</a:t>
            </a:r>
            <a:r>
              <a:rPr lang="en-US" altLang="zh-CN" dirty="0">
                <a:ea typeface="宋体" panose="02010600030101010101" pitchFamily="2" charset="-122"/>
              </a:rPr>
              <a:t>C/S</a:t>
            </a:r>
            <a:r>
              <a:rPr lang="zh-CN" altLang="en-US" dirty="0">
                <a:ea typeface="宋体" panose="02010600030101010101" pitchFamily="2" charset="-122"/>
              </a:rPr>
              <a:t>三层应用结构的一种实现方式，其具体结构为：</a:t>
            </a:r>
            <a:r>
              <a:rPr lang="zh-CN" altLang="en-US" dirty="0">
                <a:solidFill>
                  <a:srgbClr val="0070C0"/>
                </a:solidFill>
                <a:ea typeface="宋体" panose="02010600030101010101" pitchFamily="2" charset="-122"/>
              </a:rPr>
              <a:t>浏览器</a:t>
            </a:r>
            <a:r>
              <a:rPr lang="en-US" altLang="zh-CN" dirty="0">
                <a:ea typeface="宋体" panose="02010600030101010101" pitchFamily="2" charset="-122"/>
              </a:rPr>
              <a:t>/</a:t>
            </a:r>
            <a:r>
              <a:rPr lang="en-US" altLang="zh-CN" dirty="0">
                <a:solidFill>
                  <a:srgbClr val="0070C0"/>
                </a:solidFill>
                <a:ea typeface="宋体" panose="02010600030101010101" pitchFamily="2" charset="-122"/>
              </a:rPr>
              <a:t>Web</a:t>
            </a:r>
            <a:r>
              <a:rPr lang="zh-CN" altLang="en-US" dirty="0">
                <a:solidFill>
                  <a:srgbClr val="0070C0"/>
                </a:solidFill>
                <a:ea typeface="宋体" panose="02010600030101010101" pitchFamily="2" charset="-122"/>
              </a:rPr>
              <a:t>服务器</a:t>
            </a:r>
            <a:r>
              <a:rPr lang="en-US" altLang="zh-CN" dirty="0">
                <a:ea typeface="宋体" panose="02010600030101010101" pitchFamily="2" charset="-122"/>
              </a:rPr>
              <a:t>/</a:t>
            </a:r>
            <a:r>
              <a:rPr lang="zh-CN" altLang="en-US" dirty="0">
                <a:solidFill>
                  <a:srgbClr val="0070C0"/>
                </a:solidFill>
                <a:ea typeface="宋体" panose="02010600030101010101" pitchFamily="2" charset="-122"/>
              </a:rPr>
              <a:t>数据库服务器</a:t>
            </a:r>
            <a:r>
              <a:rPr lang="zh-CN" altLang="en-US" dirty="0">
                <a:ea typeface="宋体" panose="02010600030101010101" pitchFamily="2" charset="-122"/>
              </a:rPr>
              <a:t>。</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lang="en-US" altLang="zh-CN" dirty="0">
                <a:ea typeface="宋体" panose="02010600030101010101" pitchFamily="2" charset="-122"/>
              </a:rPr>
              <a:t>B/S</a:t>
            </a:r>
            <a:r>
              <a:rPr lang="zh-CN" altLang="en-US" dirty="0">
                <a:ea typeface="宋体" panose="02010600030101010101" pitchFamily="2" charset="-122"/>
              </a:rPr>
              <a:t>体系结构主要是利用不断成熟的</a:t>
            </a:r>
            <a:r>
              <a:rPr lang="en-US" altLang="zh-CN" dirty="0">
                <a:ea typeface="宋体" panose="02010600030101010101" pitchFamily="2" charset="-122"/>
              </a:rPr>
              <a:t>WWW</a:t>
            </a:r>
            <a:r>
              <a:rPr lang="zh-CN" altLang="en-US" dirty="0">
                <a:ea typeface="宋体" panose="02010600030101010101" pitchFamily="2" charset="-122"/>
              </a:rPr>
              <a:t>浏览器技术，结合浏览器的多种脚本语言，用通用浏览器就实现了原来需要复杂的专用软件才能实现的强大功能，并节约了开发成本。从某种程度上来说，</a:t>
            </a:r>
            <a:r>
              <a:rPr lang="en-US" altLang="zh-CN" dirty="0">
                <a:ea typeface="宋体" panose="02010600030101010101" pitchFamily="2" charset="-122"/>
              </a:rPr>
              <a:t>B/S</a:t>
            </a:r>
            <a:r>
              <a:rPr lang="zh-CN" altLang="en-US" dirty="0">
                <a:ea typeface="宋体" panose="02010600030101010101" pitchFamily="2" charset="-122"/>
              </a:rPr>
              <a:t>结构是一种全新的软件体系结构。</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浏览器</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46083" name="内容占位符 3"/>
          <p:cNvGraphicFramePr>
            <a:graphicFrameLocks noGrp="1" noChangeAspect="1"/>
          </p:cNvGraphicFramePr>
          <p:nvPr>
            <p:ph sz="quarter" idx="1"/>
          </p:nvPr>
        </p:nvGraphicFramePr>
        <p:xfrm>
          <a:off x="1187450" y="1736725"/>
          <a:ext cx="6048375" cy="4633913"/>
        </p:xfrm>
        <a:graphic>
          <a:graphicData uri="http://schemas.openxmlformats.org/presentationml/2006/ole">
            <mc:AlternateContent xmlns:mc="http://schemas.openxmlformats.org/markup-compatibility/2006">
              <mc:Choice xmlns:v="urn:schemas-microsoft-com:vml" Requires="v">
                <p:oleObj spid="_x0000_s3085" name="" r:id="rId1" imgW="3021330" imgH="2315210" progId="Visio.Drawing.11">
                  <p:embed/>
                </p:oleObj>
              </mc:Choice>
              <mc:Fallback>
                <p:oleObj name="" r:id="rId1" imgW="3021330" imgH="2315210" progId="Visio.Drawing.11">
                  <p:embed/>
                  <p:pic>
                    <p:nvPicPr>
                      <p:cNvPr id="0" name="图片 3084"/>
                      <p:cNvPicPr/>
                      <p:nvPr/>
                    </p:nvPicPr>
                    <p:blipFill>
                      <a:blip r:embed="rId2"/>
                      <a:srcRect/>
                      <a:stretch>
                        <a:fillRect/>
                      </a:stretch>
                    </p:blipFill>
                    <p:spPr>
                      <a:xfrm>
                        <a:off x="1187450" y="1736725"/>
                        <a:ext cx="6048375" cy="4633913"/>
                      </a:xfrm>
                      <a:prstGeom prst="rect">
                        <a:avLst/>
                      </a:prstGeom>
                      <a:solidFill>
                        <a:schemeClr val="bg1">
                          <a:alpha val="100000"/>
                        </a:schemeClr>
                      </a:solidFill>
                      <a:ln w="38100">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浏览器</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8131" name="内容占位符 2"/>
          <p:cNvSpPr>
            <a:spLocks noGrp="1"/>
          </p:cNvSpPr>
          <p:nvPr>
            <p:ph sz="quarter" idx="1"/>
          </p:nvPr>
        </p:nvSpPr>
        <p:spPr>
          <a:xfrm>
            <a:off x="457200" y="1600200"/>
            <a:ext cx="80025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优点</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dirty="0">
                <a:ea typeface="宋体" panose="02010600030101010101" pitchFamily="2" charset="-122"/>
              </a:rPr>
              <a:t>基于B/S体系结构的软件，系统安装、修改和维护全在服务器端解决。用户在使用系统时，仅仅需要一个浏览器就可运行全部的模块，真正达到了“零客户端”的功能，很容易在运行时自动升级</a:t>
            </a:r>
            <a:r>
              <a:rPr lang="zh-CN" altLang="en-US" dirty="0">
                <a:ea typeface="宋体" panose="02010600030101010101" pitchFamily="2" charset="-122"/>
              </a:rPr>
              <a:t>。</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浏览器</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8131" name="内容占位符 2"/>
          <p:cNvSpPr>
            <a:spLocks noGrp="1"/>
          </p:cNvSpPr>
          <p:nvPr>
            <p:ph sz="quarter" idx="1"/>
          </p:nvPr>
        </p:nvSpPr>
        <p:spPr>
          <a:xfrm>
            <a:off x="457200" y="1600200"/>
            <a:ext cx="80025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缺点</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B/S</a:t>
            </a:r>
            <a:r>
              <a:rPr lang="zh-CN" altLang="en-US" dirty="0">
                <a:ea typeface="宋体" panose="02010600030101010101" pitchFamily="2" charset="-122"/>
              </a:rPr>
              <a:t>体系结构缺乏对动态页面的支持能力，没有集成有效的数据库处理功能。</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B/S</a:t>
            </a:r>
            <a:r>
              <a:rPr lang="zh-CN" altLang="en-US" dirty="0">
                <a:ea typeface="宋体" panose="02010600030101010101" pitchFamily="2" charset="-122"/>
              </a:rPr>
              <a:t>体系结构的系统扩展能力差，安全性难以控制。</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采用</a:t>
            </a:r>
            <a:r>
              <a:rPr lang="en-US" altLang="zh-CN" dirty="0">
                <a:ea typeface="宋体" panose="02010600030101010101" pitchFamily="2" charset="-122"/>
              </a:rPr>
              <a:t>B/S</a:t>
            </a:r>
            <a:r>
              <a:rPr lang="zh-CN" altLang="en-US" dirty="0">
                <a:ea typeface="宋体" panose="02010600030101010101" pitchFamily="2" charset="-122"/>
              </a:rPr>
              <a:t>体系结构的应用系统，在数据查询等响应速度上，要远远地低于</a:t>
            </a:r>
            <a:r>
              <a:rPr lang="en-US" altLang="zh-CN" dirty="0">
                <a:ea typeface="宋体" panose="02010600030101010101" pitchFamily="2" charset="-122"/>
              </a:rPr>
              <a:t>C/S</a:t>
            </a:r>
            <a:r>
              <a:rPr lang="zh-CN" altLang="en-US" dirty="0">
                <a:ea typeface="宋体" panose="02010600030101010101" pitchFamily="2" charset="-122"/>
              </a:rPr>
              <a:t>体系结构。</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B/S</a:t>
            </a:r>
            <a:r>
              <a:rPr lang="zh-CN" altLang="en-US" dirty="0">
                <a:ea typeface="宋体" panose="02010600030101010101" pitchFamily="2" charset="-122"/>
              </a:rPr>
              <a:t>体系结构的数据提交一般以页面为单位，数据的动态交互性不强，不利于在线事务处理</a:t>
            </a:r>
            <a:r>
              <a:rPr lang="en-US" altLang="zh-CN" dirty="0">
                <a:ea typeface="宋体" panose="02010600030101010101" pitchFamily="2" charset="-122"/>
              </a:rPr>
              <a:t>(OLTP)</a:t>
            </a:r>
            <a:r>
              <a:rPr lang="zh-CN" altLang="en-US" dirty="0">
                <a:ea typeface="宋体" panose="02010600030101010101" pitchFamily="2" charset="-122"/>
              </a:rPr>
              <a:t>应用。</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浏览器</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8131" name="内容占位符 2"/>
          <p:cNvSpPr>
            <a:spLocks noGrp="1"/>
          </p:cNvSpPr>
          <p:nvPr>
            <p:ph sz="quarter" idx="1"/>
          </p:nvPr>
        </p:nvSpPr>
        <p:spPr>
          <a:xfrm>
            <a:off x="457200" y="1600200"/>
            <a:ext cx="80025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B/S体系结构与C/S体系结构关系与区别：</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dirty="0">
                <a:ea typeface="宋体" panose="02010600030101010101" pitchFamily="2" charset="-122"/>
              </a:rPr>
              <a:t>B/S架构是从C/S架构改进而来，可以说是三层C/S架构，由此可见两者关系不一般。B/S从C/S中脱离而出，后来随着WEB技术的飞速发展以及人们对网络的依赖程度加深，B/S一举成为当今最流行的网络架构。两种架构都在各自岗位上虎虎生威，它们各有千秋，都是非常重要的网络架构。在响应速度，用户界面，数据安全等方面，C/S强于B/S，但是在业务扩展和适用www条件下，B/S明显胜过C/S。可以这么说，B/S的强项就是C/S的弱项，反之亦然。它们各有优缺点，相互无法取代。</a:t>
            </a:r>
            <a:endParaRPr dirty="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8.4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浏览器</a:t>
            </a: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服务器风格</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8131" name="内容占位符 2"/>
          <p:cNvSpPr>
            <a:spLocks noGrp="1"/>
          </p:cNvSpPr>
          <p:nvPr>
            <p:ph sz="quarter" idx="1"/>
          </p:nvPr>
        </p:nvSpPr>
        <p:spPr>
          <a:xfrm>
            <a:off x="457200" y="1600200"/>
            <a:ext cx="8002588"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B/S体系结构与C/S体系结构关系与区别：</a:t>
            </a:r>
            <a:endParaRPr lang="zh-CN" altLang="en-US" dirty="0">
              <a:ea typeface="宋体" panose="02010600030101010101" pitchFamily="2" charset="-122"/>
            </a:endParaRPr>
          </a:p>
          <a:p>
            <a:pPr>
              <a:buClr>
                <a:schemeClr val="accent1"/>
              </a:buClr>
              <a:buSzPct val="70000"/>
              <a:buFont typeface="Wingdings" panose="05000000000000000000" pitchFamily="2" charset="2"/>
            </a:pPr>
            <a:r>
              <a:rPr dirty="0">
                <a:ea typeface="宋体" panose="02010600030101010101" pitchFamily="2" charset="-122"/>
              </a:rPr>
              <a:t>C/S结构与B/S结构两种模式各自拥有其特色优势，在不同的系统环境与操作平台下，选择较为接近或交叉进行混合模式的使用，可以保证数据的敏感性、安全性和稳定发展，还可以加强对数据库的修改与新增记录的操作。对客户端程序进行保护，提高资源数据的交互性能，实现系统维护成本较低、维护方式较简便、布局更合理、网络数据使用效率较高的目的，采用C/S与B/S混合模式才是最佳方案</a:t>
            </a:r>
            <a:endParaRPr dirty="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公共对象请求代理体系结构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9155" name="内容占位符 2"/>
          <p:cNvSpPr>
            <a:spLocks noGrp="1"/>
          </p:cNvSpPr>
          <p:nvPr>
            <p:ph sz="quarter" idx="1"/>
          </p:nvPr>
        </p:nvSpPr>
        <p:spPr>
          <a:xfrm>
            <a:off x="457200" y="1600200"/>
            <a:ext cx="794131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公共对象请求代理结构</a:t>
            </a:r>
            <a:r>
              <a:rPr lang="en-US" altLang="zh-CN" dirty="0">
                <a:solidFill>
                  <a:srgbClr val="0070C0"/>
                </a:solidFill>
                <a:ea typeface="宋体" panose="02010600030101010101" pitchFamily="2" charset="-122"/>
              </a:rPr>
              <a:t>CORBA</a:t>
            </a:r>
            <a:r>
              <a:rPr lang="zh-CN" altLang="en-US" dirty="0">
                <a:ea typeface="宋体" panose="02010600030101010101" pitchFamily="2" charset="-122"/>
              </a:rPr>
              <a:t>（</a:t>
            </a:r>
            <a:r>
              <a:rPr lang="en-US" altLang="zh-CN" dirty="0">
                <a:ea typeface="宋体" panose="02010600030101010101" pitchFamily="2" charset="-122"/>
              </a:rPr>
              <a:t>Common Object Request Broker Architecture</a:t>
            </a:r>
            <a:r>
              <a:rPr lang="zh-CN" altLang="en-US" dirty="0">
                <a:ea typeface="宋体" panose="02010600030101010101" pitchFamily="2" charset="-122"/>
              </a:rPr>
              <a:t>）</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由</a:t>
            </a:r>
            <a:r>
              <a:rPr lang="en-US" altLang="zh-CN" dirty="0">
                <a:ea typeface="宋体" panose="02010600030101010101" pitchFamily="2" charset="-122"/>
              </a:rPr>
              <a:t>OMG</a:t>
            </a:r>
            <a:r>
              <a:rPr lang="zh-CN" altLang="en-US" dirty="0">
                <a:ea typeface="宋体" panose="02010600030101010101" pitchFamily="2" charset="-122"/>
              </a:rPr>
              <a:t>制定的工业标准，异构、分布式环境</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CORBA</a:t>
            </a:r>
            <a:r>
              <a:rPr lang="zh-CN" altLang="en-US" dirty="0">
                <a:ea typeface="宋体" panose="02010600030101010101" pitchFamily="2" charset="-122"/>
              </a:rPr>
              <a:t>主要由</a:t>
            </a:r>
            <a:r>
              <a:rPr lang="zh-CN" altLang="en-US" dirty="0">
                <a:solidFill>
                  <a:srgbClr val="0070C0"/>
                </a:solidFill>
                <a:ea typeface="宋体" panose="02010600030101010101" pitchFamily="2" charset="-122"/>
              </a:rPr>
              <a:t>对象请求代理</a:t>
            </a:r>
            <a:r>
              <a:rPr lang="en-US" altLang="zh-CN" dirty="0">
                <a:solidFill>
                  <a:srgbClr val="0070C0"/>
                </a:solidFill>
                <a:ea typeface="宋体" panose="02010600030101010101" pitchFamily="2" charset="-122"/>
              </a:rPr>
              <a:t>ORB </a:t>
            </a:r>
            <a:r>
              <a:rPr lang="zh-CN" altLang="en-US" dirty="0">
                <a:ea typeface="宋体" panose="02010600030101010101" pitchFamily="2" charset="-122"/>
              </a:rPr>
              <a:t>、对象服务、通用服务等组成。</a:t>
            </a:r>
            <a:endParaRPr lang="zh-CN" altLang="en-US" dirty="0">
              <a:ea typeface="宋体" panose="02010600030101010101" pitchFamily="2" charset="-122"/>
            </a:endParaRPr>
          </a:p>
          <a:p>
            <a:pPr lvl="0">
              <a:buClr>
                <a:schemeClr val="accent1"/>
              </a:buClr>
              <a:buSzPct val="80000"/>
              <a:buFont typeface="Wingdings 2" panose="05020102010507070707" pitchFamily="18" charset="2"/>
            </a:pPr>
            <a:endParaRPr lang="en-US" altLang="zh-CN" sz="2000" dirty="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公共对象请求代理体系结构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1"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对象请求代理</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ORB</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47370" marR="0" lvl="2" indent="-182880" algn="l" defTabSz="914400" rtl="0" eaLnBrk="0" fontAlgn="base" latinLnBrk="0" hangingPunct="0">
              <a:lnSpc>
                <a:spcPct val="100000"/>
              </a:lnSpc>
              <a:spcBef>
                <a:spcPts val="600"/>
              </a:spcBef>
              <a:spcAft>
                <a:spcPct val="0"/>
              </a:spcAft>
              <a:buClr>
                <a:srgbClr val="E0752F"/>
              </a:buClr>
              <a:buSzPct val="70000"/>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CORBA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中，所有的通信都通过</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进行，因而无论一个对象是本地的还是远程的，对于与之进行通信的其他对象来说都是等价的</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47370" marR="0" lvl="2" indent="-182880" algn="l" defTabSz="914400" rtl="0" eaLnBrk="0" fontAlgn="base" latinLnBrk="0" hangingPunct="0">
              <a:lnSpc>
                <a:spcPct val="100000"/>
              </a:lnSpc>
              <a:spcBef>
                <a:spcPts val="600"/>
              </a:spcBef>
              <a:spcAft>
                <a:spcPct val="0"/>
              </a:spcAft>
              <a:buClr>
                <a:srgbClr val="E0752F"/>
              </a:buClr>
              <a:buSzPct val="70000"/>
              <a:buFont typeface="Wingdings" panose="05000000000000000000" pitchFamily="2" charset="2"/>
              <a:buChar char=""/>
              <a:defRPr/>
            </a:pPr>
            <a:r>
              <a:rPr kumimoji="0" lang="en-US" altLang="zh-CN"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ORB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独立于实现对象的特定平台与技术，客户程序无需知道如何与对象通信、如何激活对象、对象如何实现、如何查找对象。</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0" fontAlgn="base" latinLnBrk="0" hangingPunct="0">
              <a:lnSpc>
                <a:spcPct val="100000"/>
              </a:lnSpc>
              <a:spcBef>
                <a:spcPct val="20000"/>
              </a:spcBef>
              <a:spcAft>
                <a:spcPct val="0"/>
              </a:spcAft>
              <a:buClr>
                <a:schemeClr val="accent1"/>
              </a:buClr>
              <a:buSzPct val="80000"/>
              <a:buFont typeface="Wingdings 2" panose="05020102010507070707" pitchFamily="18" charset="2"/>
              <a:buChar char=""/>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规定了分布对象的接口定义和语言映射、实现了对象间的透明通信和互</a:t>
            </a:r>
            <a:r>
              <a:rPr kumimoji="0" lang="zh-CN" altLang="en-US" sz="24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操作。</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公共对象请求代理体系结构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49155" name="内容占位符 2"/>
          <p:cNvSpPr>
            <a:spLocks noGrp="1"/>
          </p:cNvSpPr>
          <p:nvPr>
            <p:ph sz="quarter" idx="1"/>
          </p:nvPr>
        </p:nvSpPr>
        <p:spPr>
          <a:xfrm>
            <a:off x="457200" y="1600200"/>
            <a:ext cx="7941310" cy="4873625"/>
          </a:xfrm>
        </p:spPr>
        <p:txBody>
          <a:bodyPr vert="horz" wrap="square" lIns="91440" tIns="45720" rIns="91440" bIns="45720" anchor="t" anchorCtr="0"/>
          <a:p>
            <a:pPr lvl="0">
              <a:buClr>
                <a:schemeClr val="accent1"/>
              </a:buClr>
              <a:buSzPct val="80000"/>
              <a:buFont typeface="Wingdings 2" panose="05020102010507070707" pitchFamily="18" charset="2"/>
            </a:pPr>
            <a:r>
              <a:rPr lang="en-US" altLang="zh-CN" dirty="0">
                <a:ea typeface="宋体" panose="02010600030101010101" pitchFamily="2" charset="-122"/>
                <a:sym typeface="+mn-ea"/>
              </a:rPr>
              <a:t>针对分布式对象系统，CORBA有如下特性：</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sym typeface="+mn-ea"/>
              </a:rPr>
              <a:t>跨平台：CORBA可以部署在不同的分布式节点上，即不同的硬件设备，例如大型服务器、PC机、智能设备、工业设备等。</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sym typeface="+mn-ea"/>
              </a:rPr>
              <a:t>跨操作系统：CORBA系统中，节点可以使用不同类型的操作系统，有的节点使用UNIX系统，有的使用Windows系统等。</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sym typeface="+mn-ea"/>
              </a:rPr>
              <a:t>跨语言：CORBA的分布式对象可以由多种编程语言开发，例如，客户端使用C++开发，而服务器端使用Java开发。</a:t>
            </a:r>
            <a:endParaRPr lang="en-US" altLang="zh-CN" sz="2000" dirty="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公共对象请求代理体系结构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特点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引入中间件作为事务代理，完成客户机向服务对象方（</a:t>
            </a:r>
            <a:r>
              <a:rPr lang="en-US" altLang="zh-CN" dirty="0">
                <a:ea typeface="宋体" panose="02010600030101010101" pitchFamily="2" charset="-122"/>
              </a:rPr>
              <a:t>Server</a:t>
            </a:r>
            <a:r>
              <a:rPr lang="zh-CN" altLang="en-US" dirty="0">
                <a:ea typeface="宋体" panose="02010600030101010101" pitchFamily="2" charset="-122"/>
              </a:rPr>
              <a:t>）提出的业务请求。</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实现客户与服务对象的完全分开，客户不需要了解服务对象的实现过程以及具体位置。</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提供</a:t>
            </a:r>
            <a:r>
              <a:rPr lang="zh-CN" altLang="en-US" dirty="0">
                <a:solidFill>
                  <a:srgbClr val="FF0000"/>
                </a:solidFill>
                <a:ea typeface="宋体" panose="02010600030101010101" pitchFamily="2" charset="-122"/>
              </a:rPr>
              <a:t>软总线</a:t>
            </a:r>
            <a:r>
              <a:rPr lang="zh-CN" altLang="en-US" dirty="0">
                <a:ea typeface="宋体" panose="02010600030101010101" pitchFamily="2" charset="-122"/>
              </a:rPr>
              <a:t>（软件总线）机制，使得在任何环境下、采用任何语言开发的软件只要符合接口规范的定义，均能够集成到分布式系统中。</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lang="en-US" altLang="zh-CN" dirty="0">
                <a:ea typeface="宋体" panose="02010600030101010101" pitchFamily="2" charset="-122"/>
              </a:rPr>
              <a:t>CORBA</a:t>
            </a:r>
            <a:r>
              <a:rPr lang="zh-CN" altLang="en-US" dirty="0">
                <a:ea typeface="宋体" panose="02010600030101010101" pitchFamily="2" charset="-122"/>
              </a:rPr>
              <a:t>规范软件系统采用面向对象的软件实现方法开发应用系统，实现对象内部细节的完整封装，保留对象方法的对外接口定义。 </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xfrm>
            <a:off x="457200" y="59373"/>
            <a:ext cx="7467600" cy="1143000"/>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8.5 </a:t>
            </a:r>
            <a:r>
              <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rPr>
              <a:t>公共对象请求代理体系结构 </a:t>
            </a:r>
            <a:endParaRPr kumimoji="0" lang="zh-CN" altLang="en-US" sz="3600" b="0" i="0" u="none" strike="noStrike" kern="1200" cap="small" spc="0" normalizeH="0" baseline="0" noProof="0" dirty="0" smtClean="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52227" name="内容占位符 2"/>
          <p:cNvSpPr>
            <a:spLocks noGrp="1"/>
          </p:cNvSpPr>
          <p:nvPr>
            <p:ph sz="quarter" idx="1"/>
          </p:nvPr>
        </p:nvSpPr>
        <p:spPr>
          <a:xfrm>
            <a:off x="457200" y="1125220"/>
            <a:ext cx="8121650" cy="4873625"/>
          </a:xfrm>
        </p:spPr>
        <p:txBody>
          <a:bodyPr vert="horz" wrap="square" lIns="91440" tIns="45720" rIns="91440" bIns="45720" anchor="t" anchorCtr="0"/>
          <a:p>
            <a:pPr>
              <a:buClr>
                <a:schemeClr val="accent1"/>
              </a:buClr>
              <a:buSzPct val="70000"/>
              <a:buFont typeface="Wingdings" panose="05000000000000000000" pitchFamily="2" charset="2"/>
            </a:pPr>
            <a:r>
              <a:rPr lang="zh-CN" altLang="en-US" dirty="0">
                <a:ea typeface="宋体" panose="02010600030101010101" pitchFamily="2" charset="-122"/>
              </a:rPr>
              <a:t>应用 </a:t>
            </a:r>
            <a:endParaRPr lang="zh-CN" altLang="en-US" dirty="0">
              <a:ea typeface="宋体" panose="02010600030101010101" pitchFamily="2" charset="-122"/>
            </a:endParaRPr>
          </a:p>
          <a:p>
            <a:pPr lvl="1">
              <a:buClr>
                <a:schemeClr val="accent1"/>
              </a:buClr>
              <a:buSzPct val="80000"/>
              <a:buFont typeface="Wingdings 2" panose="05020102010507070707" pitchFamily="18" charset="2"/>
            </a:pPr>
            <a:r>
              <a:rPr sz="2000" dirty="0">
                <a:ea typeface="宋体" panose="02010600030101010101" pitchFamily="2" charset="-122"/>
              </a:rPr>
              <a:t>假设有一个分布式银行系统，其中包含多个银行分支机构的服务器，以及一个客户端应用程序。每个分支机构的服务器上都有一个对象，表示该分支机构的账户管理系统。</a:t>
            </a:r>
            <a:endParaRPr sz="2000" dirty="0">
              <a:ea typeface="宋体" panose="02010600030101010101" pitchFamily="2" charset="-122"/>
            </a:endParaRPr>
          </a:p>
          <a:p>
            <a:pPr lvl="1">
              <a:buClr>
                <a:schemeClr val="accent1"/>
              </a:buClr>
              <a:buSzPct val="80000"/>
              <a:buFont typeface="Wingdings 2" panose="05020102010507070707" pitchFamily="18" charset="2"/>
            </a:pPr>
            <a:r>
              <a:rPr sz="2000" dirty="0">
                <a:ea typeface="宋体" panose="02010600030101010101" pitchFamily="2" charset="-122"/>
              </a:rPr>
              <a:t>在这种情况下，CORBA可以被用来实现分布式账户管理系统。客户端应用程序可以使用ORB来创建一个远程账户对象的代理，并通过代理与远程账户对象进行交互。客户端可以调用代理上的方法来查询余额、转账、存款等操作。</a:t>
            </a:r>
            <a:endParaRPr sz="2000" dirty="0">
              <a:ea typeface="宋体" panose="02010600030101010101" pitchFamily="2" charset="-122"/>
            </a:endParaRPr>
          </a:p>
          <a:p>
            <a:pPr lvl="1">
              <a:buClr>
                <a:schemeClr val="accent1"/>
              </a:buClr>
              <a:buSzPct val="80000"/>
              <a:buFont typeface="Wingdings 2" panose="05020102010507070707" pitchFamily="18" charset="2"/>
            </a:pPr>
            <a:r>
              <a:rPr sz="2000" dirty="0">
                <a:ea typeface="宋体" panose="02010600030101010101" pitchFamily="2" charset="-122"/>
              </a:rPr>
              <a:t>当客户端调用代理上的方法时，ORB会将请求发送到适当的分支机构服务器上的账户对象。服务器上的账户对象执行相应的操作，并将结果返回给ORB，然后ORB将结果传递给客户端。</a:t>
            </a:r>
            <a:endParaRPr sz="2000" dirty="0">
              <a:ea typeface="宋体" panose="02010600030101010101" pitchFamily="2" charset="-122"/>
            </a:endParaRPr>
          </a:p>
          <a:p>
            <a:pPr lvl="1">
              <a:buClr>
                <a:schemeClr val="accent1"/>
              </a:buClr>
              <a:buSzPct val="80000"/>
              <a:buFont typeface="Wingdings 2" panose="05020102010507070707" pitchFamily="18" charset="2"/>
            </a:pPr>
            <a:r>
              <a:rPr sz="2000" dirty="0">
                <a:ea typeface="宋体" panose="02010600030101010101" pitchFamily="2" charset="-122"/>
              </a:rPr>
              <a:t>通过使用CORBA，分布式银行系统可以实现透明的远程调用，使得客户端可以通过本地的方式访问和操作远程的账户对象。CORBA处理了网络通信、对象查找和序列化等复杂性，使得开发人员可以更专注于业务逻辑的实现。</a:t>
            </a:r>
            <a:endParaRPr sz="2000" dirty="0">
              <a:ea typeface="宋体" panose="02010600030101010101" pitchFamily="2" charset="-122"/>
            </a:endParaRPr>
          </a:p>
          <a:p>
            <a:pPr lvl="1">
              <a:buClr>
                <a:schemeClr val="accent1"/>
              </a:buClr>
              <a:buSzPct val="80000"/>
              <a:buFont typeface="Wingdings 2" panose="05020102010507070707" pitchFamily="18" charset="2"/>
            </a:pPr>
            <a:r>
              <a:rPr sz="2000" dirty="0">
                <a:ea typeface="宋体" panose="02010600030101010101" pitchFamily="2" charset="-122"/>
              </a:rPr>
              <a:t>这种体系结构可以用于各种领域，如金融、电信、制造等，以构建可扩展和可移植的分布式应用程序。</a:t>
            </a:r>
            <a:endParaRPr sz="2000"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commondata" val="eyJoZGlkIjoiYmY2NzBjNDUzZjAyN2ZkZDE4YTFlYWIyZDBjMWQwODQifQ=="/>
  <p:tag name="KSO_WPP_MARK_KEY" val="085bc0ab-dc4a-4b8e-9dd7-1b6bcec10823"/>
  <p:tag name="COMMONDATA" val="eyJoZGlkIjoiMWJmYmVhMGQ2YWQwOTc0ZDFkYmVkZTE0NzFkNThlYz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9355</Words>
  <Application>WPS 演示</Application>
  <PresentationFormat>全屏显示(4:3)</PresentationFormat>
  <Paragraphs>460</Paragraphs>
  <Slides>54</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54</vt:i4>
      </vt:variant>
    </vt:vector>
  </HeadingPairs>
  <TitlesOfParts>
    <vt:vector size="73" baseType="lpstr">
      <vt:lpstr>Arial</vt:lpstr>
      <vt:lpstr>宋体</vt:lpstr>
      <vt:lpstr>Wingdings</vt:lpstr>
      <vt:lpstr>黑体</vt:lpstr>
      <vt:lpstr>Times New Roman</vt:lpstr>
      <vt:lpstr>Wingdings 2</vt:lpstr>
      <vt:lpstr>Wingdings</vt:lpstr>
      <vt:lpstr>Calibri</vt:lpstr>
      <vt:lpstr>Century Schoolbook</vt:lpstr>
      <vt:lpstr>微软雅黑</vt:lpstr>
      <vt:lpstr>Arial Unicode MS</vt:lpstr>
      <vt:lpstr>华文楷体</vt:lpstr>
      <vt:lpstr>仿宋</vt:lpstr>
      <vt:lpstr>新宋体</vt:lpstr>
      <vt:lpstr>凸显</vt:lpstr>
      <vt:lpstr>Visio.Drawing.11</vt:lpstr>
      <vt:lpstr>Visio.Drawing.11</vt:lpstr>
      <vt:lpstr>Visio.Drawing.11</vt:lpstr>
      <vt:lpstr>Visio.Drawing.11</vt:lpstr>
      <vt:lpstr>软件系统分析与设计 Software System Analysis and Design</vt:lpstr>
      <vt:lpstr>8.1 软件体系结构概述</vt:lpstr>
      <vt:lpstr>8.1 软件体系结构概述</vt:lpstr>
      <vt:lpstr>8.1 软件体系结构概述</vt:lpstr>
      <vt:lpstr>8.1 软件体系结构概述</vt:lpstr>
      <vt:lpstr>8.1 软件体系结构概述</vt:lpstr>
      <vt:lpstr>8.1 软件体系结构概述</vt:lpstr>
      <vt:lpstr>8.1 软件体系结构概述</vt:lpstr>
      <vt:lpstr>8.1 软件体系结构概述</vt:lpstr>
      <vt:lpstr>8.1 软件体系结构概述</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8.2 经典软件体系结构风格 </vt:lpstr>
      <vt:lpstr>8.3 客户/服务器风格</vt:lpstr>
      <vt:lpstr>8.3 客户/服务器风格</vt:lpstr>
      <vt:lpstr>8.3 客户/服务器风格</vt:lpstr>
      <vt:lpstr>8.3 客户/服务器风格</vt:lpstr>
      <vt:lpstr>8.3 客户/服务器风格</vt:lpstr>
      <vt:lpstr>8.3 客户/服务器风格</vt:lpstr>
      <vt:lpstr>8.3 客户/服务器风格</vt:lpstr>
      <vt:lpstr>8.3 客户/服务器风格</vt:lpstr>
      <vt:lpstr>8.3 客户/服务器风格</vt:lpstr>
      <vt:lpstr>8.4 浏览器/服务器风格</vt:lpstr>
      <vt:lpstr>8.4 浏览器/服务器风格</vt:lpstr>
      <vt:lpstr>8.4 浏览器/服务器风格</vt:lpstr>
      <vt:lpstr>8.4 浏览器/服务器风格</vt:lpstr>
      <vt:lpstr>8.4 浏览器/服务器风格</vt:lpstr>
      <vt:lpstr>8.4 浏览器/服务器风格</vt:lpstr>
      <vt:lpstr>8.5 公共对象请求代理体系结构 </vt:lpstr>
      <vt:lpstr>8.5 公共对象请求代理体系结构 </vt:lpstr>
      <vt:lpstr>8.5 公共对象请求代理体系结构 </vt:lpstr>
      <vt:lpstr>8.5 公共对象请求代理体系结构 </vt:lpstr>
      <vt:lpstr>8.5 公共对象请求代理体系结构 </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小兔子乖乖</cp:lastModifiedBy>
  <cp:revision>782</cp:revision>
  <cp:lastPrinted>2023-12-08T15:32:00Z</cp:lastPrinted>
  <dcterms:created xsi:type="dcterms:W3CDTF">2023-12-08T15:32:00Z</dcterms:created>
  <dcterms:modified xsi:type="dcterms:W3CDTF">2025-06-17T12:44:05Z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26962FE7F6E44A3D9B8153471BBE380B_12</vt:lpwstr>
  </property>
  <property fmtid="{D5CDD505-2E9C-101B-9397-08002B2CF9AE}" pid="3" name="KSOProductBuildVer">
    <vt:lpwstr>2052-11.1.0.12165</vt:lpwstr>
  </property>
</Properties>
</file>