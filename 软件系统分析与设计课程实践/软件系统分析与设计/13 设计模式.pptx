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5"/>
  </p:notesMasterIdLst>
  <p:sldIdLst>
    <p:sldId id="256" r:id="rId4"/>
    <p:sldId id="258"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67" r:id="rId32"/>
    <p:sldId id="368" r:id="rId33"/>
    <p:sldId id="369"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401" r:id="rId53"/>
    <p:sldId id="400" r:id="rId54"/>
    <p:sldId id="399" r:id="rId55"/>
    <p:sldId id="402" r:id="rId56"/>
    <p:sldId id="405" r:id="rId57"/>
    <p:sldId id="404" r:id="rId58"/>
    <p:sldId id="388" r:id="rId59"/>
    <p:sldId id="390" r:id="rId60"/>
    <p:sldId id="391" r:id="rId61"/>
    <p:sldId id="393" r:id="rId62"/>
    <p:sldId id="389" r:id="rId63"/>
    <p:sldId id="394" r:id="rId64"/>
    <p:sldId id="395" r:id="rId65"/>
    <p:sldId id="396" r:id="rId66"/>
    <p:sldId id="397" r:id="rId67"/>
  </p:sldIdLst>
  <p:sldSz cx="9144000" cy="6858000" type="screen4x3"/>
  <p:notesSz cx="6858000" cy="9144000"/>
  <p:custDataLst>
    <p:tags r:id="rId71"/>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636" autoAdjust="0"/>
  </p:normalViewPr>
  <p:slideViewPr>
    <p:cSldViewPr showGuides="1">
      <p:cViewPr varScale="1">
        <p:scale>
          <a:sx n="49" d="100"/>
          <a:sy n="49" d="100"/>
        </p:scale>
        <p:origin x="1773" y="39"/>
      </p:cViewPr>
      <p:guideLst>
        <p:guide orient="horz" pos="2160"/>
        <p:guide pos="290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1" Type="http://schemas.openxmlformats.org/officeDocument/2006/relationships/tags" Target="tags/tag119.xml"/><Relationship Id="rId70" Type="http://schemas.openxmlformats.org/officeDocument/2006/relationships/tableStyles" Target="tableStyles.xml"/><Relationship Id="rId7" Type="http://schemas.openxmlformats.org/officeDocument/2006/relationships/slide" Target="slides/slide3.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84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7B263275-C58F-46B0-AFE1-F23E150AA07C}"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0" i="0" dirty="0">
              <a:solidFill>
                <a:srgbClr val="212529"/>
              </a:solidFill>
              <a:effectLst/>
              <a:latin typeface="system-u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0" i="0" dirty="0">
              <a:solidFill>
                <a:srgbClr val="212529"/>
              </a:solidFill>
              <a:effectLst/>
              <a:latin typeface="system-u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lang="zh-CN" altLang="en-US" sz="1200" b="0" i="0" dirty="0">
              <a:solidFill>
                <a:srgbClr val="212529"/>
              </a:solidFill>
              <a:effectLst/>
              <a:latin typeface="system-u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b="0" i="0" dirty="0">
              <a:solidFill>
                <a:srgbClr val="212529"/>
              </a:solidFill>
              <a:effectLst/>
              <a:highlight>
                <a:srgbClr val="FFFFFF"/>
              </a:highlight>
              <a:latin typeface="system-u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Line 2"/>
          <p:cNvSpPr/>
          <p:nvPr/>
        </p:nvSpPr>
        <p:spPr>
          <a:xfrm>
            <a:off x="7315200" y="1066800"/>
            <a:ext cx="0" cy="4495800"/>
          </a:xfrm>
          <a:prstGeom prst="line">
            <a:avLst/>
          </a:prstGeom>
          <a:ln w="9525" cap="flat" cmpd="sng">
            <a:solidFill>
              <a:schemeClr val="tx1"/>
            </a:solidFill>
            <a:prstDash val="solid"/>
            <a:headEnd type="none" w="med" len="med"/>
            <a:tailEnd type="none" w="med" len="med"/>
          </a:ln>
        </p:spPr>
      </p:sp>
      <p:grpSp>
        <p:nvGrpSpPr>
          <p:cNvPr id="2051" name="Group 8"/>
          <p:cNvGrpSpPr/>
          <p:nvPr/>
        </p:nvGrpSpPr>
        <p:grpSpPr>
          <a:xfrm>
            <a:off x="7493000" y="2992438"/>
            <a:ext cx="1338263" cy="2189162"/>
            <a:chOff x="4704" y="1885"/>
            <a:chExt cx="843" cy="1379"/>
          </a:xfrm>
        </p:grpSpPr>
        <p:sp>
          <p:nvSpPr>
            <p:cNvPr id="42"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8"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5"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7"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8"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9"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0"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2"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6"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2"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2052" name="Line 40"/>
          <p:cNvSpPr/>
          <p:nvPr/>
        </p:nvSpPr>
        <p:spPr>
          <a:xfrm>
            <a:off x="304800" y="2819400"/>
            <a:ext cx="8229600" cy="0"/>
          </a:xfrm>
          <a:prstGeom prst="line">
            <a:avLst/>
          </a:prstGeom>
          <a:ln w="6350" cap="flat" cmpd="sng">
            <a:solidFill>
              <a:schemeClr val="tx1"/>
            </a:solidFill>
            <a:prstDash val="solid"/>
            <a:headEnd type="none" w="med" len="med"/>
            <a:tailEnd type="none" w="med" len="med"/>
          </a:ln>
        </p:spPr>
      </p:sp>
      <p:sp>
        <p:nvSpPr>
          <p:cNvPr id="16387" name="Rectangle 3"/>
          <p:cNvSpPr>
            <a:spLocks noGrp="1" noChangeArrowheads="1"/>
          </p:cNvSpPr>
          <p:nvPr>
            <p:ph type="ctrTitle"/>
          </p:nvPr>
        </p:nvSpPr>
        <p:spPr>
          <a:xfrm>
            <a:off x="315913" y="466725"/>
            <a:ext cx="6781800" cy="2133600"/>
          </a:xfrm>
        </p:spPr>
        <p:txBody>
          <a:bodyPr/>
          <a:lstStyle>
            <a:lvl1pPr algn="r">
              <a:defRPr sz="4800"/>
            </a:lvl1pPr>
          </a:lstStyle>
          <a:p>
            <a:pPr lvl="0"/>
            <a:r>
              <a:rPr lang="zh-CN" altLang="en-US" noProof="0"/>
              <a:t>单击此处编辑母版标题样式</a:t>
            </a:r>
            <a:endParaRPr lang="zh-CN" altLang="en-US" noProof="0"/>
          </a:p>
        </p:txBody>
      </p:sp>
      <p:sp>
        <p:nvSpPr>
          <p:cNvPr id="16388"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zh-CN" altLang="en-US" noProof="0"/>
              <a:t>单击此处编辑母版副标题样式</a:t>
            </a:r>
            <a:endParaRPr lang="zh-CN" altLang="en-US" noProof="0"/>
          </a:p>
        </p:txBody>
      </p:sp>
      <p:sp>
        <p:nvSpPr>
          <p:cNvPr id="74" name="Rectangle 5"/>
          <p:cNvSpPr>
            <a:spLocks noGrp="1" noChangeArrowheads="1"/>
          </p:cNvSpPr>
          <p:nvPr>
            <p:ph type="dt" sz="half" idx="2"/>
          </p:nvPr>
        </p:nvSpPr>
        <p:spPr bwMode="auto">
          <a:xfrm>
            <a:off x="457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fld id="{DCD5C748-8254-4261-A35B-7589D62C2A2F}"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 name="Rectangle 6"/>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 name="Rectangle 7"/>
          <p:cNvSpPr>
            <a:spLocks noGrp="1" noChangeArrowheads="1"/>
          </p:cNvSpPr>
          <p:nvPr>
            <p:ph type="sldNum" sz="quarter" idx="4"/>
          </p:nvPr>
        </p:nvSpPr>
        <p:spPr bwMode="auto">
          <a:xfrm>
            <a:off x="6553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2B729952-801E-497A-8447-8C073EEFA48E}"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Line 2"/>
          <p:cNvSpPr/>
          <p:nvPr/>
        </p:nvSpPr>
        <p:spPr>
          <a:xfrm>
            <a:off x="7315200" y="1066800"/>
            <a:ext cx="0" cy="4495800"/>
          </a:xfrm>
          <a:prstGeom prst="line">
            <a:avLst/>
          </a:prstGeom>
          <a:ln w="9525" cap="flat" cmpd="sng">
            <a:solidFill>
              <a:schemeClr val="tx1"/>
            </a:solidFill>
            <a:prstDash val="solid"/>
            <a:headEnd type="none" w="med" len="med"/>
            <a:tailEnd type="none" w="med" len="med"/>
          </a:ln>
        </p:spPr>
      </p:sp>
      <p:grpSp>
        <p:nvGrpSpPr>
          <p:cNvPr id="2051" name="Group 8"/>
          <p:cNvGrpSpPr/>
          <p:nvPr/>
        </p:nvGrpSpPr>
        <p:grpSpPr>
          <a:xfrm>
            <a:off x="7493000" y="2992438"/>
            <a:ext cx="1338263" cy="2189162"/>
            <a:chOff x="4704" y="1885"/>
            <a:chExt cx="843" cy="1379"/>
          </a:xfrm>
        </p:grpSpPr>
        <p:sp>
          <p:nvSpPr>
            <p:cNvPr id="42"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8"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5"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7"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8"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9"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0"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2"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6"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2"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2052" name="Line 40"/>
          <p:cNvSpPr/>
          <p:nvPr/>
        </p:nvSpPr>
        <p:spPr>
          <a:xfrm>
            <a:off x="304800" y="2819400"/>
            <a:ext cx="8229600" cy="0"/>
          </a:xfrm>
          <a:prstGeom prst="line">
            <a:avLst/>
          </a:prstGeom>
          <a:ln w="6350" cap="flat" cmpd="sng">
            <a:solidFill>
              <a:schemeClr val="tx1"/>
            </a:solidFill>
            <a:prstDash val="solid"/>
            <a:headEnd type="none" w="med" len="med"/>
            <a:tailEnd type="none" w="med" len="med"/>
          </a:ln>
        </p:spPr>
      </p:sp>
      <p:sp>
        <p:nvSpPr>
          <p:cNvPr id="16387" name="Rectangle 3"/>
          <p:cNvSpPr>
            <a:spLocks noGrp="1" noChangeArrowheads="1"/>
          </p:cNvSpPr>
          <p:nvPr>
            <p:ph type="ctrTitle"/>
          </p:nvPr>
        </p:nvSpPr>
        <p:spPr>
          <a:xfrm>
            <a:off x="315913" y="466725"/>
            <a:ext cx="6781800" cy="2133600"/>
          </a:xfrm>
        </p:spPr>
        <p:txBody>
          <a:bodyPr/>
          <a:lstStyle>
            <a:lvl1pPr algn="r">
              <a:defRPr sz="4800"/>
            </a:lvl1pPr>
          </a:lstStyle>
          <a:p>
            <a:pPr lvl="0"/>
            <a:r>
              <a:rPr lang="zh-CN" altLang="en-US" noProof="0"/>
              <a:t>单击此处编辑母版标题样式</a:t>
            </a:r>
            <a:endParaRPr lang="zh-CN" altLang="en-US" noProof="0"/>
          </a:p>
        </p:txBody>
      </p:sp>
      <p:sp>
        <p:nvSpPr>
          <p:cNvPr id="16388"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zh-CN" altLang="en-US" noProof="0"/>
              <a:t>单击此处编辑母版副标题样式</a:t>
            </a:r>
            <a:endParaRPr lang="zh-CN" altLang="en-US" noProof="0"/>
          </a:p>
        </p:txBody>
      </p:sp>
      <p:sp>
        <p:nvSpPr>
          <p:cNvPr id="74" name="Rectangle 5"/>
          <p:cNvSpPr>
            <a:spLocks noGrp="1" noChangeArrowheads="1"/>
          </p:cNvSpPr>
          <p:nvPr>
            <p:ph type="dt" sz="half" idx="2"/>
          </p:nvPr>
        </p:nvSpPr>
        <p:spPr bwMode="auto">
          <a:xfrm>
            <a:off x="457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fld id="{DCD5C748-8254-4261-A35B-7589D62C2A2F}"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 name="Rectangle 6"/>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 name="Rectangle 7"/>
          <p:cNvSpPr>
            <a:spLocks noGrp="1" noChangeArrowheads="1"/>
          </p:cNvSpPr>
          <p:nvPr>
            <p:ph type="sldNum" sz="quarter" idx="4"/>
          </p:nvPr>
        </p:nvSpPr>
        <p:spPr bwMode="auto">
          <a:xfrm>
            <a:off x="6553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2B729952-801E-497A-8447-8C073EEFA48E}"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p:nvPr/>
        </p:nvSpPr>
        <p:spPr>
          <a:xfrm>
            <a:off x="7962900" y="152400"/>
            <a:ext cx="0" cy="1524000"/>
          </a:xfrm>
          <a:prstGeom prst="line">
            <a:avLst/>
          </a:prstGeom>
          <a:ln w="9525" cap="flat" cmpd="sng">
            <a:solidFill>
              <a:schemeClr val="tx1"/>
            </a:solidFill>
            <a:prstDash val="solid"/>
            <a:headEnd type="none" w="med" len="med"/>
            <a:tailEnd type="none" w="med" len="med"/>
          </a:ln>
        </p:spPr>
      </p:sp>
      <p:sp>
        <p:nvSpPr>
          <p:cNvPr id="1027" name="Rectangle 3"/>
          <p:cNvSpPr>
            <a:spLocks noGrp="1"/>
          </p:cNvSpPr>
          <p:nvPr>
            <p:ph type="title"/>
          </p:nvPr>
        </p:nvSpPr>
        <p:spPr>
          <a:xfrm>
            <a:off x="457200" y="122238"/>
            <a:ext cx="7543800" cy="1295400"/>
          </a:xfrm>
          <a:prstGeom prst="rect">
            <a:avLst/>
          </a:prstGeom>
          <a:noFill/>
          <a:ln w="9525">
            <a:noFill/>
          </a:ln>
        </p:spPr>
        <p:txBody>
          <a:bodyPr anchor="b" anchorCtr="0"/>
          <a:lstStyle/>
          <a:p>
            <a:pPr lvl="0"/>
            <a:r>
              <a:rPr lang="zh-CN" altLang="en-US" dirty="0"/>
              <a:t>单击此处编辑母版标题样式</a:t>
            </a:r>
            <a:endParaRPr lang="zh-CN" altLang="en-US" dirty="0"/>
          </a:p>
        </p:txBody>
      </p:sp>
      <p:sp>
        <p:nvSpPr>
          <p:cNvPr id="1028" name="Rectangle 4"/>
          <p:cNvSpPr>
            <a:spLocks noGrp="1"/>
          </p:cNvSpPr>
          <p:nvPr>
            <p:ph type="body" idx="1"/>
          </p:nvPr>
        </p:nvSpPr>
        <p:spPr>
          <a:xfrm>
            <a:off x="457200" y="1719263"/>
            <a:ext cx="8229600" cy="4411662"/>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365"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smtClean="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6"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7"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032" name="Group 8"/>
          <p:cNvGrpSpPr/>
          <p:nvPr/>
        </p:nvGrpSpPr>
        <p:grpSpPr>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 name="Oval 10"/>
            <p:cNvSpPr>
              <a:spLocks noChangeArrowheads="1"/>
            </p:cNvSpPr>
            <p:nvPr/>
          </p:nvSpPr>
          <p:spPr bwMode="auto">
            <a:xfrm>
              <a:off x="5248" y="960"/>
              <a:ext cx="79"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Oval 11"/>
            <p:cNvSpPr>
              <a:spLocks noChangeArrowheads="1"/>
            </p:cNvSpPr>
            <p:nvPr/>
          </p:nvSpPr>
          <p:spPr bwMode="auto">
            <a:xfrm>
              <a:off x="5360" y="960"/>
              <a:ext cx="79"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6" name="Oval 12"/>
            <p:cNvSpPr>
              <a:spLocks noChangeArrowheads="1"/>
            </p:cNvSpPr>
            <p:nvPr/>
          </p:nvSpPr>
          <p:spPr bwMode="auto">
            <a:xfrm>
              <a:off x="5136" y="1072"/>
              <a:ext cx="80"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Oval 13"/>
            <p:cNvSpPr>
              <a:spLocks noChangeArrowheads="1"/>
            </p:cNvSpPr>
            <p:nvPr/>
          </p:nvSpPr>
          <p:spPr bwMode="auto">
            <a:xfrm>
              <a:off x="5248" y="1072"/>
              <a:ext cx="79"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8" name="Oval 14"/>
            <p:cNvSpPr>
              <a:spLocks noChangeArrowheads="1"/>
            </p:cNvSpPr>
            <p:nvPr/>
          </p:nvSpPr>
          <p:spPr bwMode="auto">
            <a:xfrm>
              <a:off x="5360" y="1072"/>
              <a:ext cx="79"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9" name="Oval 15"/>
            <p:cNvSpPr>
              <a:spLocks noChangeArrowheads="1"/>
            </p:cNvSpPr>
            <p:nvPr/>
          </p:nvSpPr>
          <p:spPr bwMode="auto">
            <a:xfrm>
              <a:off x="5472" y="1072"/>
              <a:ext cx="79"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0" name="Oval 16"/>
            <p:cNvSpPr>
              <a:spLocks noChangeArrowheads="1"/>
            </p:cNvSpPr>
            <p:nvPr/>
          </p:nvSpPr>
          <p:spPr bwMode="auto">
            <a:xfrm>
              <a:off x="5136" y="1184"/>
              <a:ext cx="80"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1" name="Oval 17"/>
            <p:cNvSpPr>
              <a:spLocks noChangeArrowheads="1"/>
            </p:cNvSpPr>
            <p:nvPr/>
          </p:nvSpPr>
          <p:spPr bwMode="auto">
            <a:xfrm>
              <a:off x="5248" y="1184"/>
              <a:ext cx="79"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2" name="Oval 18"/>
            <p:cNvSpPr>
              <a:spLocks noChangeArrowheads="1"/>
            </p:cNvSpPr>
            <p:nvPr/>
          </p:nvSpPr>
          <p:spPr bwMode="auto">
            <a:xfrm>
              <a:off x="5360" y="1184"/>
              <a:ext cx="79"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3" name="Oval 19"/>
            <p:cNvSpPr>
              <a:spLocks noChangeArrowheads="1"/>
            </p:cNvSpPr>
            <p:nvPr/>
          </p:nvSpPr>
          <p:spPr bwMode="auto">
            <a:xfrm>
              <a:off x="5472" y="1184"/>
              <a:ext cx="79"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4" name="Oval 20"/>
            <p:cNvSpPr>
              <a:spLocks noChangeArrowheads="1"/>
            </p:cNvSpPr>
            <p:nvPr/>
          </p:nvSpPr>
          <p:spPr bwMode="auto">
            <a:xfrm>
              <a:off x="5584" y="1184"/>
              <a:ext cx="80"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6" name="Oval 22"/>
            <p:cNvSpPr>
              <a:spLocks noChangeArrowheads="1"/>
            </p:cNvSpPr>
            <p:nvPr/>
          </p:nvSpPr>
          <p:spPr bwMode="auto">
            <a:xfrm>
              <a:off x="5248" y="1296"/>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7" name="Oval 23"/>
            <p:cNvSpPr>
              <a:spLocks noChangeArrowheads="1"/>
            </p:cNvSpPr>
            <p:nvPr/>
          </p:nvSpPr>
          <p:spPr bwMode="auto">
            <a:xfrm>
              <a:off x="5360" y="1296"/>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 name="Oval 24"/>
            <p:cNvSpPr>
              <a:spLocks noChangeArrowheads="1"/>
            </p:cNvSpPr>
            <p:nvPr/>
          </p:nvSpPr>
          <p:spPr bwMode="auto">
            <a:xfrm>
              <a:off x="5472" y="1296"/>
              <a:ext cx="79"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 name="Oval 26"/>
            <p:cNvSpPr>
              <a:spLocks noChangeArrowheads="1"/>
            </p:cNvSpPr>
            <p:nvPr/>
          </p:nvSpPr>
          <p:spPr bwMode="auto">
            <a:xfrm>
              <a:off x="5248" y="1408"/>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 name="Oval 27"/>
            <p:cNvSpPr>
              <a:spLocks noChangeArrowheads="1"/>
            </p:cNvSpPr>
            <p:nvPr/>
          </p:nvSpPr>
          <p:spPr bwMode="auto">
            <a:xfrm>
              <a:off x="5360" y="1408"/>
              <a:ext cx="79"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 name="Oval 28"/>
            <p:cNvSpPr>
              <a:spLocks noChangeArrowheads="1"/>
            </p:cNvSpPr>
            <p:nvPr/>
          </p:nvSpPr>
          <p:spPr bwMode="auto">
            <a:xfrm>
              <a:off x="5472" y="1408"/>
              <a:ext cx="79"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 name="Oval 30"/>
            <p:cNvSpPr>
              <a:spLocks noChangeArrowheads="1"/>
            </p:cNvSpPr>
            <p:nvPr/>
          </p:nvSpPr>
          <p:spPr bwMode="auto">
            <a:xfrm>
              <a:off x="5136" y="1520"/>
              <a:ext cx="80"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5" name="Oval 31"/>
            <p:cNvSpPr>
              <a:spLocks noChangeArrowheads="1"/>
            </p:cNvSpPr>
            <p:nvPr/>
          </p:nvSpPr>
          <p:spPr bwMode="auto">
            <a:xfrm>
              <a:off x="5248" y="1520"/>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6" name="Oval 32"/>
            <p:cNvSpPr>
              <a:spLocks noChangeArrowheads="1"/>
            </p:cNvSpPr>
            <p:nvPr/>
          </p:nvSpPr>
          <p:spPr bwMode="auto">
            <a:xfrm>
              <a:off x="5360" y="1520"/>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7" name="Oval 33"/>
            <p:cNvSpPr>
              <a:spLocks noChangeArrowheads="1"/>
            </p:cNvSpPr>
            <p:nvPr/>
          </p:nvSpPr>
          <p:spPr bwMode="auto">
            <a:xfrm>
              <a:off x="5472" y="1520"/>
              <a:ext cx="79"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8" name="Oval 34"/>
            <p:cNvSpPr>
              <a:spLocks noChangeArrowheads="1"/>
            </p:cNvSpPr>
            <p:nvPr/>
          </p:nvSpPr>
          <p:spPr bwMode="auto">
            <a:xfrm>
              <a:off x="5136" y="1632"/>
              <a:ext cx="80"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9" name="Oval 35"/>
            <p:cNvSpPr>
              <a:spLocks noChangeArrowheads="1"/>
            </p:cNvSpPr>
            <p:nvPr/>
          </p:nvSpPr>
          <p:spPr bwMode="auto">
            <a:xfrm>
              <a:off x="5248" y="1632"/>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0" name="Oval 36"/>
            <p:cNvSpPr>
              <a:spLocks noChangeArrowheads="1"/>
            </p:cNvSpPr>
            <p:nvPr/>
          </p:nvSpPr>
          <p:spPr bwMode="auto">
            <a:xfrm>
              <a:off x="5360" y="1632"/>
              <a:ext cx="79"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1" name="Oval 37"/>
            <p:cNvSpPr>
              <a:spLocks noChangeArrowheads="1"/>
            </p:cNvSpPr>
            <p:nvPr/>
          </p:nvSpPr>
          <p:spPr bwMode="auto">
            <a:xfrm>
              <a:off x="5472" y="1632"/>
              <a:ext cx="79"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2" name="Oval 38"/>
            <p:cNvSpPr>
              <a:spLocks noChangeArrowheads="1"/>
            </p:cNvSpPr>
            <p:nvPr/>
          </p:nvSpPr>
          <p:spPr bwMode="auto">
            <a:xfrm>
              <a:off x="5248" y="1744"/>
              <a:ext cx="79"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3" name="Oval 39"/>
            <p:cNvSpPr>
              <a:spLocks noChangeArrowheads="1"/>
            </p:cNvSpPr>
            <p:nvPr/>
          </p:nvSpPr>
          <p:spPr bwMode="auto">
            <a:xfrm>
              <a:off x="5472" y="1744"/>
              <a:ext cx="79"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p:nvPr/>
        </p:nvSpPr>
        <p:spPr>
          <a:xfrm>
            <a:off x="7962900" y="152400"/>
            <a:ext cx="0" cy="1524000"/>
          </a:xfrm>
          <a:prstGeom prst="line">
            <a:avLst/>
          </a:prstGeom>
          <a:ln w="9525" cap="flat" cmpd="sng">
            <a:solidFill>
              <a:schemeClr val="tx1"/>
            </a:solidFill>
            <a:prstDash val="solid"/>
            <a:headEnd type="none" w="med" len="med"/>
            <a:tailEnd type="none" w="med" len="med"/>
          </a:ln>
        </p:spPr>
      </p:sp>
      <p:sp>
        <p:nvSpPr>
          <p:cNvPr id="1027" name="Rectangle 3"/>
          <p:cNvSpPr>
            <a:spLocks noGrp="1"/>
          </p:cNvSpPr>
          <p:nvPr>
            <p:ph type="title"/>
          </p:nvPr>
        </p:nvSpPr>
        <p:spPr>
          <a:xfrm>
            <a:off x="457200" y="122238"/>
            <a:ext cx="7543800" cy="1295400"/>
          </a:xfrm>
          <a:prstGeom prst="rect">
            <a:avLst/>
          </a:prstGeom>
          <a:noFill/>
          <a:ln w="9525">
            <a:noFill/>
          </a:ln>
        </p:spPr>
        <p:txBody>
          <a:bodyPr anchor="b" anchorCtr="0"/>
          <a:lstStyle/>
          <a:p>
            <a:pPr lvl="0"/>
            <a:r>
              <a:rPr lang="zh-CN" altLang="en-US" dirty="0"/>
              <a:t>单击此处编辑母版标题样式</a:t>
            </a:r>
            <a:endParaRPr lang="zh-CN" altLang="en-US" dirty="0"/>
          </a:p>
        </p:txBody>
      </p:sp>
      <p:sp>
        <p:nvSpPr>
          <p:cNvPr id="1028" name="Rectangle 4"/>
          <p:cNvSpPr>
            <a:spLocks noGrp="1"/>
          </p:cNvSpPr>
          <p:nvPr>
            <p:ph type="body" idx="1"/>
          </p:nvPr>
        </p:nvSpPr>
        <p:spPr>
          <a:xfrm>
            <a:off x="457200" y="1719263"/>
            <a:ext cx="8229600" cy="4411662"/>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365"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smtClean="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6"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Lecture08 of SAD, by Y Yang</a:t>
            </a: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7"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E9D71C04-D9A9-454C-9322-D5326DE100DB}" type="slidenum">
              <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032" name="Group 8"/>
          <p:cNvGrpSpPr/>
          <p:nvPr/>
        </p:nvGrpSpPr>
        <p:grpSpPr>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 name="Oval 10"/>
            <p:cNvSpPr>
              <a:spLocks noChangeArrowheads="1"/>
            </p:cNvSpPr>
            <p:nvPr/>
          </p:nvSpPr>
          <p:spPr bwMode="auto">
            <a:xfrm>
              <a:off x="5248" y="960"/>
              <a:ext cx="79"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Oval 11"/>
            <p:cNvSpPr>
              <a:spLocks noChangeArrowheads="1"/>
            </p:cNvSpPr>
            <p:nvPr/>
          </p:nvSpPr>
          <p:spPr bwMode="auto">
            <a:xfrm>
              <a:off x="5360" y="960"/>
              <a:ext cx="79"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6" name="Oval 12"/>
            <p:cNvSpPr>
              <a:spLocks noChangeArrowheads="1"/>
            </p:cNvSpPr>
            <p:nvPr/>
          </p:nvSpPr>
          <p:spPr bwMode="auto">
            <a:xfrm>
              <a:off x="5136" y="1072"/>
              <a:ext cx="80"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Oval 13"/>
            <p:cNvSpPr>
              <a:spLocks noChangeArrowheads="1"/>
            </p:cNvSpPr>
            <p:nvPr/>
          </p:nvSpPr>
          <p:spPr bwMode="auto">
            <a:xfrm>
              <a:off x="5248" y="1072"/>
              <a:ext cx="79"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8" name="Oval 14"/>
            <p:cNvSpPr>
              <a:spLocks noChangeArrowheads="1"/>
            </p:cNvSpPr>
            <p:nvPr/>
          </p:nvSpPr>
          <p:spPr bwMode="auto">
            <a:xfrm>
              <a:off x="5360" y="1072"/>
              <a:ext cx="79"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9" name="Oval 15"/>
            <p:cNvSpPr>
              <a:spLocks noChangeArrowheads="1"/>
            </p:cNvSpPr>
            <p:nvPr/>
          </p:nvSpPr>
          <p:spPr bwMode="auto">
            <a:xfrm>
              <a:off x="5472" y="1072"/>
              <a:ext cx="79"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0" name="Oval 16"/>
            <p:cNvSpPr>
              <a:spLocks noChangeArrowheads="1"/>
            </p:cNvSpPr>
            <p:nvPr/>
          </p:nvSpPr>
          <p:spPr bwMode="auto">
            <a:xfrm>
              <a:off x="5136" y="1184"/>
              <a:ext cx="80"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1" name="Oval 17"/>
            <p:cNvSpPr>
              <a:spLocks noChangeArrowheads="1"/>
            </p:cNvSpPr>
            <p:nvPr/>
          </p:nvSpPr>
          <p:spPr bwMode="auto">
            <a:xfrm>
              <a:off x="5248" y="1184"/>
              <a:ext cx="79"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2" name="Oval 18"/>
            <p:cNvSpPr>
              <a:spLocks noChangeArrowheads="1"/>
            </p:cNvSpPr>
            <p:nvPr/>
          </p:nvSpPr>
          <p:spPr bwMode="auto">
            <a:xfrm>
              <a:off x="5360" y="1184"/>
              <a:ext cx="79"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3" name="Oval 19"/>
            <p:cNvSpPr>
              <a:spLocks noChangeArrowheads="1"/>
            </p:cNvSpPr>
            <p:nvPr/>
          </p:nvSpPr>
          <p:spPr bwMode="auto">
            <a:xfrm>
              <a:off x="5472" y="1184"/>
              <a:ext cx="79"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4" name="Oval 20"/>
            <p:cNvSpPr>
              <a:spLocks noChangeArrowheads="1"/>
            </p:cNvSpPr>
            <p:nvPr/>
          </p:nvSpPr>
          <p:spPr bwMode="auto">
            <a:xfrm>
              <a:off x="5584" y="1184"/>
              <a:ext cx="80"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6" name="Oval 22"/>
            <p:cNvSpPr>
              <a:spLocks noChangeArrowheads="1"/>
            </p:cNvSpPr>
            <p:nvPr/>
          </p:nvSpPr>
          <p:spPr bwMode="auto">
            <a:xfrm>
              <a:off x="5248" y="1296"/>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7" name="Oval 23"/>
            <p:cNvSpPr>
              <a:spLocks noChangeArrowheads="1"/>
            </p:cNvSpPr>
            <p:nvPr/>
          </p:nvSpPr>
          <p:spPr bwMode="auto">
            <a:xfrm>
              <a:off x="5360" y="1296"/>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 name="Oval 24"/>
            <p:cNvSpPr>
              <a:spLocks noChangeArrowheads="1"/>
            </p:cNvSpPr>
            <p:nvPr/>
          </p:nvSpPr>
          <p:spPr bwMode="auto">
            <a:xfrm>
              <a:off x="5472" y="1296"/>
              <a:ext cx="79"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 name="Oval 26"/>
            <p:cNvSpPr>
              <a:spLocks noChangeArrowheads="1"/>
            </p:cNvSpPr>
            <p:nvPr/>
          </p:nvSpPr>
          <p:spPr bwMode="auto">
            <a:xfrm>
              <a:off x="5248" y="1408"/>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 name="Oval 27"/>
            <p:cNvSpPr>
              <a:spLocks noChangeArrowheads="1"/>
            </p:cNvSpPr>
            <p:nvPr/>
          </p:nvSpPr>
          <p:spPr bwMode="auto">
            <a:xfrm>
              <a:off x="5360" y="1408"/>
              <a:ext cx="79"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 name="Oval 28"/>
            <p:cNvSpPr>
              <a:spLocks noChangeArrowheads="1"/>
            </p:cNvSpPr>
            <p:nvPr/>
          </p:nvSpPr>
          <p:spPr bwMode="auto">
            <a:xfrm>
              <a:off x="5472" y="1408"/>
              <a:ext cx="79"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 name="Oval 30"/>
            <p:cNvSpPr>
              <a:spLocks noChangeArrowheads="1"/>
            </p:cNvSpPr>
            <p:nvPr/>
          </p:nvSpPr>
          <p:spPr bwMode="auto">
            <a:xfrm>
              <a:off x="5136" y="1520"/>
              <a:ext cx="80"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5" name="Oval 31"/>
            <p:cNvSpPr>
              <a:spLocks noChangeArrowheads="1"/>
            </p:cNvSpPr>
            <p:nvPr/>
          </p:nvSpPr>
          <p:spPr bwMode="auto">
            <a:xfrm>
              <a:off x="5248" y="1520"/>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6" name="Oval 32"/>
            <p:cNvSpPr>
              <a:spLocks noChangeArrowheads="1"/>
            </p:cNvSpPr>
            <p:nvPr/>
          </p:nvSpPr>
          <p:spPr bwMode="auto">
            <a:xfrm>
              <a:off x="5360" y="1520"/>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7" name="Oval 33"/>
            <p:cNvSpPr>
              <a:spLocks noChangeArrowheads="1"/>
            </p:cNvSpPr>
            <p:nvPr/>
          </p:nvSpPr>
          <p:spPr bwMode="auto">
            <a:xfrm>
              <a:off x="5472" y="1520"/>
              <a:ext cx="79"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8" name="Oval 34"/>
            <p:cNvSpPr>
              <a:spLocks noChangeArrowheads="1"/>
            </p:cNvSpPr>
            <p:nvPr/>
          </p:nvSpPr>
          <p:spPr bwMode="auto">
            <a:xfrm>
              <a:off x="5136" y="1632"/>
              <a:ext cx="80"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9" name="Oval 35"/>
            <p:cNvSpPr>
              <a:spLocks noChangeArrowheads="1"/>
            </p:cNvSpPr>
            <p:nvPr/>
          </p:nvSpPr>
          <p:spPr bwMode="auto">
            <a:xfrm>
              <a:off x="5248" y="1632"/>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0" name="Oval 36"/>
            <p:cNvSpPr>
              <a:spLocks noChangeArrowheads="1"/>
            </p:cNvSpPr>
            <p:nvPr/>
          </p:nvSpPr>
          <p:spPr bwMode="auto">
            <a:xfrm>
              <a:off x="5360" y="1632"/>
              <a:ext cx="79"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1" name="Oval 37"/>
            <p:cNvSpPr>
              <a:spLocks noChangeArrowheads="1"/>
            </p:cNvSpPr>
            <p:nvPr/>
          </p:nvSpPr>
          <p:spPr bwMode="auto">
            <a:xfrm>
              <a:off x="5472" y="1632"/>
              <a:ext cx="79"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2" name="Oval 38"/>
            <p:cNvSpPr>
              <a:spLocks noChangeArrowheads="1"/>
            </p:cNvSpPr>
            <p:nvPr/>
          </p:nvSpPr>
          <p:spPr bwMode="auto">
            <a:xfrm>
              <a:off x="5248" y="1744"/>
              <a:ext cx="79"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3" name="Oval 39"/>
            <p:cNvSpPr>
              <a:spLocks noChangeArrowheads="1"/>
            </p:cNvSpPr>
            <p:nvPr/>
          </p:nvSpPr>
          <p:spPr bwMode="auto">
            <a:xfrm>
              <a:off x="5472" y="1744"/>
              <a:ext cx="79"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hyperlink" Target="mailto:yyang@suda.edu.cn" TargetMode="External"/></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2.xml"/><Relationship Id="rId7" Type="http://schemas.openxmlformats.org/officeDocument/2006/relationships/tags" Target="../tags/tag5.xml"/><Relationship Id="rId6" Type="http://schemas.openxmlformats.org/officeDocument/2006/relationships/image" Target="../media/image2.png"/><Relationship Id="rId5" Type="http://schemas.openxmlformats.org/officeDocument/2006/relationships/tags" Target="../tags/tag4.xml"/><Relationship Id="rId4" Type="http://schemas.openxmlformats.org/officeDocument/2006/relationships/image" Target="../media/image1.png"/><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3.xml"/><Relationship Id="rId2" Type="http://schemas.openxmlformats.org/officeDocument/2006/relationships/tags" Target="../tags/tag7.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tags" Target="../tags/tag9.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tags" Target="../tags/tag11.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3.xml"/><Relationship Id="rId2" Type="http://schemas.openxmlformats.org/officeDocument/2006/relationships/tags" Target="../tags/tag1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3.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tags" Target="../tags/tag18.xml"/><Relationship Id="rId1" Type="http://schemas.openxmlformats.org/officeDocument/2006/relationships/tags" Target="../tags/tag17.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tags" Target="../tags/tag20.xml"/><Relationship Id="rId1" Type="http://schemas.openxmlformats.org/officeDocument/2006/relationships/tags" Target="../tags/tag19.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3.xml"/><Relationship Id="rId3" Type="http://schemas.openxmlformats.org/officeDocument/2006/relationships/image" Target="../media/image4.png"/><Relationship Id="rId2" Type="http://schemas.openxmlformats.org/officeDocument/2006/relationships/tags" Target="../tags/tag22.xml"/><Relationship Id="rId1" Type="http://schemas.openxmlformats.org/officeDocument/2006/relationships/tags" Target="../tags/tag21.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3.xml"/><Relationship Id="rId3" Type="http://schemas.openxmlformats.org/officeDocument/2006/relationships/image" Target="../media/image5.png"/><Relationship Id="rId2" Type="http://schemas.openxmlformats.org/officeDocument/2006/relationships/tags" Target="../tags/tag24.xml"/><Relationship Id="rId1" Type="http://schemas.openxmlformats.org/officeDocument/2006/relationships/tags" Target="../tags/tag23.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3.xml"/><Relationship Id="rId3" Type="http://schemas.openxmlformats.org/officeDocument/2006/relationships/image" Target="../media/image6.png"/><Relationship Id="rId2" Type="http://schemas.openxmlformats.org/officeDocument/2006/relationships/tags" Target="../tags/tag26.xml"/><Relationship Id="rId1" Type="http://schemas.openxmlformats.org/officeDocument/2006/relationships/tags" Target="../tags/tag25.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3.xml"/><Relationship Id="rId3" Type="http://schemas.openxmlformats.org/officeDocument/2006/relationships/image" Target="../media/image7.png"/><Relationship Id="rId2" Type="http://schemas.openxmlformats.org/officeDocument/2006/relationships/tags" Target="../tags/tag28.xml"/><Relationship Id="rId1" Type="http://schemas.openxmlformats.org/officeDocument/2006/relationships/tags" Target="../tags/tag2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3.xml"/><Relationship Id="rId3" Type="http://schemas.openxmlformats.org/officeDocument/2006/relationships/image" Target="../media/image8.png"/><Relationship Id="rId2" Type="http://schemas.openxmlformats.org/officeDocument/2006/relationships/tags" Target="../tags/tag31.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3.xml"/><Relationship Id="rId2" Type="http://schemas.openxmlformats.org/officeDocument/2006/relationships/tags" Target="../tags/tag33.xml"/><Relationship Id="rId1" Type="http://schemas.openxmlformats.org/officeDocument/2006/relationships/tags" Target="../tags/tag3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3.xml"/><Relationship Id="rId2" Type="http://schemas.openxmlformats.org/officeDocument/2006/relationships/tags" Target="../tags/tag35.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3.xml"/><Relationship Id="rId2" Type="http://schemas.openxmlformats.org/officeDocument/2006/relationships/tags" Target="../tags/tag37.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3.xml"/><Relationship Id="rId2" Type="http://schemas.openxmlformats.org/officeDocument/2006/relationships/tags" Target="../tags/tag39.xml"/><Relationship Id="rId1" Type="http://schemas.openxmlformats.org/officeDocument/2006/relationships/tags" Target="../tags/tag38.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tags" Target="../tags/tag40.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3.xml"/><Relationship Id="rId4" Type="http://schemas.openxmlformats.org/officeDocument/2006/relationships/image" Target="../media/image10.png"/><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3.xml"/><Relationship Id="rId4" Type="http://schemas.openxmlformats.org/officeDocument/2006/relationships/tags" Target="../tags/tag46.xml"/><Relationship Id="rId3" Type="http://schemas.openxmlformats.org/officeDocument/2006/relationships/image" Target="../media/image11.png"/><Relationship Id="rId2" Type="http://schemas.openxmlformats.org/officeDocument/2006/relationships/tags" Target="../tags/tag45.xml"/><Relationship Id="rId1" Type="http://schemas.openxmlformats.org/officeDocument/2006/relationships/tags" Target="../tags/tag44.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3.xml"/><Relationship Id="rId5" Type="http://schemas.openxmlformats.org/officeDocument/2006/relationships/tags" Target="../tags/tag50.xml"/><Relationship Id="rId4" Type="http://schemas.openxmlformats.org/officeDocument/2006/relationships/image" Target="../media/image12.png"/><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13.xml"/><Relationship Id="rId5" Type="http://schemas.openxmlformats.org/officeDocument/2006/relationships/tags" Target="../tags/tag54.xml"/><Relationship Id="rId4" Type="http://schemas.openxmlformats.org/officeDocument/2006/relationships/image" Target="../media/image13.png"/><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3.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image" Target="../media/image14.png"/><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3.xml"/><Relationship Id="rId4" Type="http://schemas.openxmlformats.org/officeDocument/2006/relationships/image" Target="../media/image15.png"/><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image" Target="../media/image16.png"/><Relationship Id="rId2" Type="http://schemas.openxmlformats.org/officeDocument/2006/relationships/tags" Target="../tags/tag64.xml"/><Relationship Id="rId1" Type="http://schemas.openxmlformats.org/officeDocument/2006/relationships/tags" Target="../tags/tag6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67.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3.xml"/><Relationship Id="rId2" Type="http://schemas.openxmlformats.org/officeDocument/2006/relationships/tags" Target="../tags/tag69.xml"/><Relationship Id="rId1" Type="http://schemas.openxmlformats.org/officeDocument/2006/relationships/tags" Target="../tags/tag68.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3.xml"/><Relationship Id="rId2" Type="http://schemas.openxmlformats.org/officeDocument/2006/relationships/tags" Target="../tags/tag71.xml"/><Relationship Id="rId1" Type="http://schemas.openxmlformats.org/officeDocument/2006/relationships/tags" Target="../tags/tag7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7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73.xml"/></Relationships>
</file>

<file path=ppt/slides/_rels/slide33.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2" Type="http://schemas.openxmlformats.org/officeDocument/2006/relationships/notesSlide" Target="../notesSlides/notesSlide33.xml"/><Relationship Id="rId11" Type="http://schemas.openxmlformats.org/officeDocument/2006/relationships/slideLayout" Target="../slideLayouts/slideLayout13.xml"/><Relationship Id="rId10" Type="http://schemas.openxmlformats.org/officeDocument/2006/relationships/tags" Target="../tags/tag83.xml"/><Relationship Id="rId1" Type="http://schemas.openxmlformats.org/officeDocument/2006/relationships/tags" Target="../tags/tag74.xml"/></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3.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image" Target="../media/image18.png"/><Relationship Id="rId2" Type="http://schemas.openxmlformats.org/officeDocument/2006/relationships/tags" Target="../tags/tag85.xml"/><Relationship Id="rId1" Type="http://schemas.openxmlformats.org/officeDocument/2006/relationships/tags" Target="../tags/tag84.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1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image" Target="../media/image18.png"/><Relationship Id="rId2" Type="http://schemas.openxmlformats.org/officeDocument/2006/relationships/tags" Target="../tags/tag90.xml"/><Relationship Id="rId1" Type="http://schemas.openxmlformats.org/officeDocument/2006/relationships/tags" Target="../tags/tag89.xml"/></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13.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image" Target="../media/image18.png"/><Relationship Id="rId2" Type="http://schemas.openxmlformats.org/officeDocument/2006/relationships/tags" Target="../tags/tag94.xml"/><Relationship Id="rId1" Type="http://schemas.openxmlformats.org/officeDocument/2006/relationships/tags" Target="../tags/tag9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9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9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99.xml"/></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1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image" Target="../media/image19.png"/><Relationship Id="rId1" Type="http://schemas.openxmlformats.org/officeDocument/2006/relationships/tags" Target="../tags/tag100.xm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13.xml"/><Relationship Id="rId3" Type="http://schemas.openxmlformats.org/officeDocument/2006/relationships/tags" Target="../tags/tag104.xml"/><Relationship Id="rId2" Type="http://schemas.openxmlformats.org/officeDocument/2006/relationships/image" Target="../media/image19.png"/><Relationship Id="rId1" Type="http://schemas.openxmlformats.org/officeDocument/2006/relationships/tags" Target="../tags/tag103.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13.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image" Target="../media/image19.png"/><Relationship Id="rId1" Type="http://schemas.openxmlformats.org/officeDocument/2006/relationships/tags" Target="../tags/tag105.xml"/></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13.xml"/><Relationship Id="rId3" Type="http://schemas.openxmlformats.org/officeDocument/2006/relationships/tags" Target="../tags/tag109.xml"/><Relationship Id="rId2" Type="http://schemas.openxmlformats.org/officeDocument/2006/relationships/image" Target="../media/image19.png"/><Relationship Id="rId1" Type="http://schemas.openxmlformats.org/officeDocument/2006/relationships/tags" Target="../tags/tag10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110.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111.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3.xml"/><Relationship Id="rId2" Type="http://schemas.openxmlformats.org/officeDocument/2006/relationships/image" Target="../media/image20.png"/><Relationship Id="rId1" Type="http://schemas.openxmlformats.org/officeDocument/2006/relationships/tags" Target="../tags/tag112.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3.xml"/><Relationship Id="rId2" Type="http://schemas.openxmlformats.org/officeDocument/2006/relationships/tags" Target="../tags/tag114.xml"/><Relationship Id="rId1" Type="http://schemas.openxmlformats.org/officeDocument/2006/relationships/tags" Target="../tags/tag113.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3.xml"/><Relationship Id="rId2" Type="http://schemas.openxmlformats.org/officeDocument/2006/relationships/tags" Target="../tags/tag116.xml"/><Relationship Id="rId1" Type="http://schemas.openxmlformats.org/officeDocument/2006/relationships/tags" Target="../tags/tag11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117.xml"/></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3.xml"/><Relationship Id="rId2" Type="http://schemas.openxmlformats.org/officeDocument/2006/relationships/image" Target="../media/image22.png"/><Relationship Id="rId1" Type="http://schemas.openxmlformats.org/officeDocument/2006/relationships/tags" Target="../tags/tag118.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3.xml"/><Relationship Id="rId2" Type="http://schemas.openxmlformats.org/officeDocument/2006/relationships/image" Target="../media/image25.png"/><Relationship Id="rId1" Type="http://schemas.openxmlformats.org/officeDocument/2006/relationships/image" Target="../media/image2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ctrTitle"/>
          </p:nvPr>
        </p:nvSpPr>
        <p:spPr>
          <a:xfrm>
            <a:off x="1143000" y="466725"/>
            <a:ext cx="5954713" cy="1820863"/>
          </a:xfrm>
        </p:spPr>
        <p:txBody>
          <a:bodyPr vert="horz" wrap="square" lIns="91440" tIns="45720" rIns="91440" bIns="45720" anchor="b" anchorCtr="0"/>
          <a:lstStyle/>
          <a:p>
            <a:pPr algn="l" eaLnBrk="1" hangingPunct="1">
              <a:buClrTx/>
              <a:buSzTx/>
              <a:buFontTx/>
            </a:pPr>
            <a:r>
              <a:rPr lang="zh-CN" altLang="en-US" dirty="0">
                <a:latin typeface="+mj-lt"/>
                <a:ea typeface="+mj-ea"/>
                <a:cs typeface="+mj-cs"/>
              </a:rPr>
              <a:t>软件系统分析与设计</a:t>
            </a:r>
            <a:endParaRPr lang="zh-CN" altLang="en-US" dirty="0">
              <a:latin typeface="+mj-lt"/>
              <a:ea typeface="+mj-ea"/>
              <a:cs typeface="+mj-cs"/>
            </a:endParaRPr>
          </a:p>
        </p:txBody>
      </p:sp>
      <p:sp>
        <p:nvSpPr>
          <p:cNvPr id="4099" name="Rectangle 3"/>
          <p:cNvSpPr>
            <a:spLocks noGrp="1"/>
          </p:cNvSpPr>
          <p:nvPr>
            <p:ph type="subTitle" idx="1"/>
          </p:nvPr>
        </p:nvSpPr>
        <p:spPr>
          <a:xfrm>
            <a:off x="762000" y="2971800"/>
            <a:ext cx="6477000" cy="2667000"/>
          </a:xfrm>
        </p:spPr>
        <p:txBody>
          <a:bodyPr vert="horz" wrap="square" lIns="91440" tIns="45720" rIns="91440" bIns="45720" anchor="t" anchorCtr="0"/>
          <a:lstStyle/>
          <a:p>
            <a:pPr eaLnBrk="1" hangingPunct="1">
              <a:buSzPct val="70000"/>
            </a:pPr>
            <a:endParaRPr lang="en-US" altLang="zh-CN" sz="2000" dirty="0">
              <a:latin typeface="+mn-lt"/>
              <a:ea typeface="+mn-ea"/>
              <a:cs typeface="+mn-cs"/>
            </a:endParaRPr>
          </a:p>
          <a:p>
            <a:pPr algn="l" eaLnBrk="1" hangingPunct="1">
              <a:buSzPct val="70000"/>
            </a:pPr>
            <a:r>
              <a:rPr lang="en-US" altLang="zh-CN" sz="2800" b="1" dirty="0">
                <a:solidFill>
                  <a:srgbClr val="C00000"/>
                </a:solidFill>
                <a:latin typeface="+mn-lt"/>
                <a:ea typeface="+mn-ea"/>
                <a:cs typeface="+mn-cs"/>
              </a:rPr>
              <a:t>Lecture10 Design Pattern</a:t>
            </a:r>
            <a:endParaRPr lang="en-US" altLang="zh-CN" sz="2800" b="1" dirty="0">
              <a:solidFill>
                <a:srgbClr val="C00000"/>
              </a:solidFill>
              <a:latin typeface="+mn-lt"/>
              <a:ea typeface="+mn-ea"/>
              <a:cs typeface="+mn-cs"/>
            </a:endParaRPr>
          </a:p>
          <a:p>
            <a:pPr eaLnBrk="1" hangingPunct="1">
              <a:lnSpc>
                <a:spcPct val="80000"/>
              </a:lnSpc>
              <a:buSzPct val="70000"/>
            </a:pPr>
            <a:endParaRPr lang="en-US" altLang="zh-CN" sz="2000" dirty="0">
              <a:solidFill>
                <a:srgbClr val="7F7F7F"/>
              </a:solidFill>
              <a:latin typeface="+mn-lt"/>
              <a:ea typeface="+mn-ea"/>
              <a:cs typeface="+mn-cs"/>
            </a:endParaRPr>
          </a:p>
          <a:p>
            <a:pPr eaLnBrk="1" hangingPunct="1">
              <a:lnSpc>
                <a:spcPct val="80000"/>
              </a:lnSpc>
              <a:buSzPct val="70000"/>
            </a:pPr>
            <a:r>
              <a:rPr lang="en-US" altLang="zh-CN" sz="2000" dirty="0">
                <a:solidFill>
                  <a:srgbClr val="7F7F7F"/>
                </a:solidFill>
                <a:latin typeface="+mn-lt"/>
                <a:ea typeface="+mn-ea"/>
                <a:cs typeface="+mn-cs"/>
              </a:rPr>
              <a:t>by Yan Zhang</a:t>
            </a:r>
            <a:endParaRPr lang="en-US" altLang="zh-CN" sz="2000" dirty="0">
              <a:solidFill>
                <a:srgbClr val="7F7F7F"/>
              </a:solidFill>
              <a:latin typeface="+mn-lt"/>
              <a:ea typeface="+mn-ea"/>
              <a:cs typeface="+mn-cs"/>
            </a:endParaRPr>
          </a:p>
          <a:p>
            <a:pPr eaLnBrk="1" hangingPunct="1">
              <a:lnSpc>
                <a:spcPct val="80000"/>
              </a:lnSpc>
              <a:buSzPct val="70000"/>
            </a:pPr>
            <a:r>
              <a:rPr lang="en-US" altLang="zh-CN" sz="2000" dirty="0">
                <a:solidFill>
                  <a:srgbClr val="7F7F7F"/>
                </a:solidFill>
                <a:latin typeface="+mn-lt"/>
                <a:ea typeface="+mn-ea"/>
                <a:cs typeface="+mn-cs"/>
              </a:rPr>
              <a:t>School of Computer Science &amp; Technology</a:t>
            </a:r>
            <a:endParaRPr lang="en-US" altLang="zh-CN" sz="2000" dirty="0">
              <a:solidFill>
                <a:srgbClr val="7F7F7F"/>
              </a:solidFill>
              <a:latin typeface="+mn-lt"/>
              <a:ea typeface="+mn-ea"/>
              <a:cs typeface="+mn-cs"/>
            </a:endParaRPr>
          </a:p>
          <a:p>
            <a:pPr eaLnBrk="1" hangingPunct="1">
              <a:lnSpc>
                <a:spcPct val="80000"/>
              </a:lnSpc>
              <a:buSzPct val="70000"/>
            </a:pPr>
            <a:r>
              <a:rPr lang="en-US" altLang="zh-CN" sz="2000" dirty="0">
                <a:solidFill>
                  <a:srgbClr val="7F7F7F"/>
                </a:solidFill>
                <a:latin typeface="+mn-lt"/>
                <a:ea typeface="+mn-ea"/>
                <a:cs typeface="+mn-cs"/>
              </a:rPr>
              <a:t>Soochow University </a:t>
            </a:r>
            <a:endParaRPr lang="en-US" altLang="zh-CN" sz="2000" dirty="0">
              <a:solidFill>
                <a:srgbClr val="7F7F7F"/>
              </a:solidFill>
              <a:latin typeface="+mn-lt"/>
              <a:ea typeface="+mn-ea"/>
              <a:cs typeface="+mn-cs"/>
            </a:endParaRPr>
          </a:p>
          <a:p>
            <a:pPr eaLnBrk="1" hangingPunct="1">
              <a:lnSpc>
                <a:spcPct val="80000"/>
              </a:lnSpc>
              <a:buSzPct val="70000"/>
            </a:pPr>
            <a:r>
              <a:rPr lang="en-US" altLang="zh-CN" sz="2000" dirty="0">
                <a:solidFill>
                  <a:srgbClr val="7F7F7F"/>
                </a:solidFill>
                <a:latin typeface="+mn-lt"/>
                <a:ea typeface="+mn-ea"/>
                <a:cs typeface="+mn-cs"/>
                <a:hlinkClick r:id="rId1"/>
              </a:rPr>
              <a:t>yzhang712@suda.edu.cn</a:t>
            </a:r>
            <a:endParaRPr lang="en-US" altLang="zh-CN" sz="2000" dirty="0">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设计模式概述</a:t>
            </a:r>
            <a:endParaRPr lang="zh-CN" altLang="en-US" dirty="0"/>
          </a:p>
        </p:txBody>
      </p:sp>
      <p:sp>
        <p:nvSpPr>
          <p:cNvPr id="42" name="标题 1"/>
          <p:cNvSpPr txBox="1"/>
          <p:nvPr>
            <p:custDataLst>
              <p:tags r:id="rId1"/>
            </p:custDataLst>
          </p:nvPr>
        </p:nvSpPr>
        <p:spPr>
          <a:xfrm>
            <a:off x="609541" y="1447535"/>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宋体" panose="02010600030101010101" pitchFamily="2" charset="-122"/>
                <a:ea typeface="宋体" panose="02010600030101010101" pitchFamily="2" charset="-122"/>
              </a:rPr>
              <a:t>设计模式的起源</a:t>
            </a:r>
            <a:endParaRPr lang="zh-CN" altLang="en-US" sz="2600" b="1" dirty="0">
              <a:solidFill>
                <a:schemeClr val="tx1"/>
              </a:solidFill>
              <a:latin typeface="宋体" panose="02010600030101010101" pitchFamily="2" charset="-122"/>
              <a:ea typeface="宋体" panose="02010600030101010101" pitchFamily="2" charset="-122"/>
            </a:endParaRPr>
          </a:p>
        </p:txBody>
      </p:sp>
      <p:sp>
        <p:nvSpPr>
          <p:cNvPr id="48" name="Rectangle 4"/>
          <p:cNvSpPr>
            <a:spLocks noChangeArrowheads="1"/>
          </p:cNvSpPr>
          <p:nvPr>
            <p:custDataLst>
              <p:tags r:id="rId2"/>
            </p:custDataLst>
          </p:nvPr>
        </p:nvSpPr>
        <p:spPr bwMode="auto">
          <a:xfrm>
            <a:off x="756285" y="2057400"/>
            <a:ext cx="7023735" cy="2891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30000"/>
              </a:lnSpc>
              <a:buFont typeface="Arial" panose="020B0604020202020204" pitchFamily="34" charset="0"/>
              <a:buChar char="•"/>
            </a:pPr>
            <a:r>
              <a:rPr lang="zh-CN" altLang="en-US" sz="2000" b="1" dirty="0">
                <a:solidFill>
                  <a:srgbClr val="282828"/>
                </a:solidFill>
                <a:latin typeface="Times New Roman" panose="02020603050405020304" pitchFamily="18" charset="0"/>
                <a:ea typeface="+mn-ea"/>
                <a:cs typeface="Times New Roman" panose="02020603050405020304" pitchFamily="18" charset="0"/>
              </a:rPr>
              <a:t>起源于建筑领域，由</a:t>
            </a:r>
            <a:r>
              <a:rPr lang="en-US" altLang="zh-CN" sz="2000" b="1" dirty="0">
                <a:solidFill>
                  <a:srgbClr val="282828"/>
                </a:solidFill>
                <a:latin typeface="Times New Roman" panose="02020603050405020304" pitchFamily="18" charset="0"/>
                <a:ea typeface="+mn-ea"/>
                <a:cs typeface="Times New Roman" panose="02020603050405020304" pitchFamily="18" charset="0"/>
              </a:rPr>
              <a:t>Alexander </a:t>
            </a:r>
            <a:r>
              <a:rPr lang="zh-CN" altLang="en-US" sz="2000" b="1" dirty="0">
                <a:solidFill>
                  <a:srgbClr val="282828"/>
                </a:solidFill>
                <a:latin typeface="Times New Roman" panose="02020603050405020304" pitchFamily="18" charset="0"/>
                <a:ea typeface="+mn-ea"/>
                <a:cs typeface="Times New Roman" panose="02020603050405020304" pitchFamily="18" charset="0"/>
              </a:rPr>
              <a:t>首次提出</a:t>
            </a:r>
            <a:endParaRPr lang="zh-CN" altLang="en-US" sz="2000" b="1" dirty="0">
              <a:solidFill>
                <a:srgbClr val="282828"/>
              </a:solidFill>
              <a:latin typeface="Times New Roman" panose="02020603050405020304" pitchFamily="18" charset="0"/>
              <a:ea typeface="+mn-ea"/>
              <a:cs typeface="Times New Roman" panose="02020603050405020304" pitchFamily="18" charset="0"/>
            </a:endParaRPr>
          </a:p>
          <a:p>
            <a:pPr marL="342900" indent="-342900">
              <a:lnSpc>
                <a:spcPct val="130000"/>
              </a:lnSpc>
              <a:buFont typeface="Arial" panose="020B0604020202020204" pitchFamily="34" charset="0"/>
              <a:buChar char="•"/>
            </a:pPr>
            <a:r>
              <a:rPr lang="zh-CN" altLang="en-US" sz="2000" b="1" dirty="0">
                <a:solidFill>
                  <a:srgbClr val="282828"/>
                </a:solidFill>
                <a:latin typeface="Times New Roman" panose="02020603050405020304" pitchFamily="18" charset="0"/>
                <a:ea typeface="+mn-ea"/>
                <a:cs typeface="Times New Roman" panose="02020603050405020304" pitchFamily="18" charset="0"/>
              </a:rPr>
              <a:t>模式：在特定环境中解决问题的一种方案。</a:t>
            </a:r>
            <a:endParaRPr lang="en-US" altLang="zh-CN" sz="2000" b="1" dirty="0">
              <a:solidFill>
                <a:srgbClr val="282828"/>
              </a:solidFill>
              <a:latin typeface="Times New Roman" panose="02020603050405020304" pitchFamily="18" charset="0"/>
              <a:ea typeface="+mn-ea"/>
              <a:cs typeface="Times New Roman" panose="02020603050405020304" pitchFamily="18" charset="0"/>
            </a:endParaRPr>
          </a:p>
          <a:p>
            <a:pPr marL="342900" indent="-342900">
              <a:lnSpc>
                <a:spcPct val="130000"/>
              </a:lnSpc>
              <a:buFont typeface="Arial" panose="020B0604020202020204" pitchFamily="34" charset="0"/>
              <a:buChar char="•"/>
            </a:pPr>
            <a:r>
              <a:rPr lang="zh-CN" altLang="en-US" sz="2000" b="1" dirty="0">
                <a:solidFill>
                  <a:srgbClr val="282828"/>
                </a:solidFill>
                <a:latin typeface="Times New Roman" panose="02020603050405020304" pitchFamily="18" charset="0"/>
                <a:ea typeface="+mn-ea"/>
                <a:cs typeface="Times New Roman" panose="02020603050405020304" pitchFamily="18" charset="0"/>
              </a:rPr>
              <a:t>四人组</a:t>
            </a:r>
            <a:r>
              <a:rPr lang="en-US" altLang="zh-CN" sz="2000" b="1" dirty="0">
                <a:solidFill>
                  <a:srgbClr val="282828"/>
                </a:solidFill>
                <a:latin typeface="Times New Roman" panose="02020603050405020304" pitchFamily="18" charset="0"/>
                <a:ea typeface="+mn-ea"/>
                <a:cs typeface="Times New Roman" panose="02020603050405020304" pitchFamily="18" charset="0"/>
              </a:rPr>
              <a:t>Gang of Four</a:t>
            </a:r>
            <a:r>
              <a:rPr lang="zh-CN" altLang="en-US" sz="2000" b="1" dirty="0">
                <a:solidFill>
                  <a:srgbClr val="282828"/>
                </a:solidFill>
                <a:latin typeface="Times New Roman" panose="02020603050405020304" pitchFamily="18" charset="0"/>
                <a:ea typeface="+mn-ea"/>
                <a:cs typeface="Times New Roman" panose="02020603050405020304" pitchFamily="18" charset="0"/>
              </a:rPr>
              <a:t>（</a:t>
            </a:r>
            <a:r>
              <a:rPr lang="en-US" altLang="zh-CN" sz="2000" b="1" dirty="0" err="1">
                <a:solidFill>
                  <a:srgbClr val="282828"/>
                </a:solidFill>
                <a:latin typeface="Times New Roman" panose="02020603050405020304" pitchFamily="18" charset="0"/>
                <a:ea typeface="+mn-ea"/>
                <a:cs typeface="Times New Roman" panose="02020603050405020304" pitchFamily="18" charset="0"/>
              </a:rPr>
              <a:t>GoF</a:t>
            </a:r>
            <a:r>
              <a:rPr lang="zh-CN" altLang="en-US" sz="2000" b="1" dirty="0">
                <a:solidFill>
                  <a:srgbClr val="282828"/>
                </a:solidFill>
                <a:latin typeface="Times New Roman" panose="02020603050405020304" pitchFamily="18" charset="0"/>
                <a:ea typeface="+mn-ea"/>
                <a:cs typeface="Times New Roman" panose="02020603050405020304" pitchFamily="18" charset="0"/>
              </a:rPr>
              <a:t>）最早将模式的思想引入软件工程提出“软件设计模式”，并在</a:t>
            </a:r>
            <a:r>
              <a:rPr lang="en-US" altLang="zh-CN" sz="2000" b="1" dirty="0">
                <a:solidFill>
                  <a:srgbClr val="282828"/>
                </a:solidFill>
                <a:latin typeface="Times New Roman" panose="02020603050405020304" pitchFamily="18" charset="0"/>
                <a:ea typeface="+mn-ea"/>
                <a:cs typeface="Times New Roman" panose="02020603050405020304" pitchFamily="18" charset="0"/>
              </a:rPr>
              <a:t>1994</a:t>
            </a:r>
            <a:r>
              <a:rPr lang="zh-CN" altLang="en-US" sz="2000" b="1" dirty="0">
                <a:solidFill>
                  <a:srgbClr val="282828"/>
                </a:solidFill>
                <a:latin typeface="Times New Roman" panose="02020603050405020304" pitchFamily="18" charset="0"/>
                <a:ea typeface="+mn-ea"/>
                <a:cs typeface="Times New Roman" panose="02020603050405020304" pitchFamily="18" charset="0"/>
              </a:rPr>
              <a:t>年归纳发表了</a:t>
            </a:r>
            <a:r>
              <a:rPr lang="en-US" altLang="zh-CN" sz="2000" b="1" dirty="0">
                <a:solidFill>
                  <a:srgbClr val="282828"/>
                </a:solidFill>
                <a:latin typeface="Times New Roman" panose="02020603050405020304" pitchFamily="18" charset="0"/>
                <a:ea typeface="+mn-ea"/>
                <a:cs typeface="Times New Roman" panose="02020603050405020304" pitchFamily="18" charset="0"/>
              </a:rPr>
              <a:t>23</a:t>
            </a:r>
            <a:r>
              <a:rPr lang="zh-CN" altLang="en-US" sz="2000" b="1" dirty="0">
                <a:solidFill>
                  <a:srgbClr val="282828"/>
                </a:solidFill>
                <a:latin typeface="Times New Roman" panose="02020603050405020304" pitchFamily="18" charset="0"/>
                <a:ea typeface="+mn-ea"/>
                <a:cs typeface="Times New Roman" panose="02020603050405020304" pitchFamily="18" charset="0"/>
              </a:rPr>
              <a:t>种在软件开发中使用频率较高的设计模式</a:t>
            </a:r>
            <a:endParaRPr lang="en-US" altLang="zh-CN" sz="2000" b="1" dirty="0">
              <a:solidFill>
                <a:srgbClr val="282828"/>
              </a:solidFill>
              <a:latin typeface="Times New Roman" panose="02020603050405020304" pitchFamily="18" charset="0"/>
              <a:ea typeface="+mn-ea"/>
              <a:cs typeface="Times New Roman" panose="02020603050405020304" pitchFamily="18" charset="0"/>
            </a:endParaRPr>
          </a:p>
          <a:p>
            <a:pPr marL="342900" indent="-342900">
              <a:lnSpc>
                <a:spcPct val="130000"/>
              </a:lnSpc>
              <a:buFont typeface="Arial" panose="020B0604020202020204" pitchFamily="34" charset="0"/>
              <a:buChar char="•"/>
            </a:pPr>
            <a:endParaRPr lang="en-US" altLang="zh-CN" sz="2000" b="1" dirty="0">
              <a:solidFill>
                <a:srgbClr val="282828"/>
              </a:solidFill>
              <a:latin typeface="Times New Roman" panose="02020603050405020304" pitchFamily="18" charset="0"/>
              <a:ea typeface="+mn-ea"/>
              <a:cs typeface="Times New Roman" panose="02020603050405020304" pitchFamily="18" charset="0"/>
            </a:endParaRPr>
          </a:p>
          <a:p>
            <a:pPr marL="342900" indent="-342900">
              <a:lnSpc>
                <a:spcPct val="130000"/>
              </a:lnSpc>
              <a:buFont typeface="Arial" panose="020B0604020202020204" pitchFamily="34" charset="0"/>
              <a:buChar char="•"/>
            </a:pPr>
            <a:endParaRPr lang="en-US" altLang="zh-CN" sz="2000" b="1" dirty="0">
              <a:solidFill>
                <a:srgbClr val="282828"/>
              </a:solidFill>
              <a:latin typeface="Times New Roman" panose="02020603050405020304" pitchFamily="18" charset="0"/>
              <a:ea typeface="+mn-ea"/>
              <a:cs typeface="Times New Roman" panose="02020603050405020304" pitchFamily="18" charset="0"/>
            </a:endParaRPr>
          </a:p>
        </p:txBody>
      </p:sp>
      <p:pic>
        <p:nvPicPr>
          <p:cNvPr id="3" name="图片 2"/>
          <p:cNvPicPr>
            <a:picLocks noChangeAspect="1"/>
          </p:cNvPicPr>
          <p:nvPr>
            <p:custDataLst>
              <p:tags r:id="rId3"/>
            </p:custDataLst>
          </p:nvPr>
        </p:nvPicPr>
        <p:blipFill>
          <a:blip r:embed="rId4"/>
          <a:stretch>
            <a:fillRect/>
          </a:stretch>
        </p:blipFill>
        <p:spPr>
          <a:xfrm>
            <a:off x="1679357" y="4183408"/>
            <a:ext cx="2173271" cy="1562801"/>
          </a:xfrm>
          <a:prstGeom prst="rect">
            <a:avLst/>
          </a:prstGeom>
        </p:spPr>
      </p:pic>
      <p:pic>
        <p:nvPicPr>
          <p:cNvPr id="4" name="图片 3"/>
          <p:cNvPicPr/>
          <p:nvPr>
            <p:custDataLst>
              <p:tags r:id="rId5"/>
            </p:custDataLst>
          </p:nvPr>
        </p:nvPicPr>
        <p:blipFill>
          <a:blip r:embed="rId6"/>
          <a:stretch>
            <a:fillRect/>
          </a:stretch>
        </p:blipFill>
        <p:spPr>
          <a:xfrm>
            <a:off x="4899393" y="4163632"/>
            <a:ext cx="2174400" cy="1562801"/>
          </a:xfrm>
          <a:prstGeom prst="rect">
            <a:avLst/>
          </a:prstGeom>
        </p:spPr>
      </p:pic>
      <p:sp>
        <p:nvSpPr>
          <p:cNvPr id="5" name="箭头: 右 4"/>
          <p:cNvSpPr/>
          <p:nvPr>
            <p:custDataLst>
              <p:tags r:id="rId7"/>
            </p:custDataLst>
          </p:nvPr>
        </p:nvSpPr>
        <p:spPr>
          <a:xfrm>
            <a:off x="4029742" y="4945032"/>
            <a:ext cx="584791" cy="201161"/>
          </a:xfrm>
          <a:prstGeom prst="rightArrow">
            <a:avLst/>
          </a:prstGeom>
          <a:noFill/>
          <a:ln w="28575">
            <a:solidFill>
              <a:srgbClr val="00375F"/>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设计模式概述</a:t>
            </a:r>
            <a:endParaRPr lang="zh-CN" altLang="en-US" dirty="0"/>
          </a:p>
        </p:txBody>
      </p:sp>
      <p:sp>
        <p:nvSpPr>
          <p:cNvPr id="2"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什么时候用到设计模式？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6" name="Rectangle 4"/>
          <p:cNvSpPr>
            <a:spLocks noChangeArrowheads="1"/>
          </p:cNvSpPr>
          <p:nvPr>
            <p:custDataLst>
              <p:tags r:id="rId2"/>
            </p:custDataLst>
          </p:nvPr>
        </p:nvSpPr>
        <p:spPr bwMode="auto">
          <a:xfrm>
            <a:off x="685969" y="2208377"/>
            <a:ext cx="6412281" cy="2051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30000"/>
              </a:lnSpc>
              <a:buFont typeface="Arial" panose="020B0604020202020204" pitchFamily="34" charset="0"/>
              <a:buChar char="•"/>
            </a:pPr>
            <a:r>
              <a:rPr lang="zh-CN" altLang="en-US" sz="2000" b="1" dirty="0">
                <a:solidFill>
                  <a:srgbClr val="282828"/>
                </a:solidFill>
                <a:latin typeface="Times New Roman" panose="02020603050405020304" pitchFamily="18" charset="0"/>
                <a:cs typeface="Times New Roman" panose="02020603050405020304" pitchFamily="18" charset="0"/>
              </a:rPr>
              <a:t>以实际工作为例，当一个项目开发完成后，如果客户提出增加新功能怎么办？</a:t>
            </a:r>
            <a:endParaRPr lang="en-US" altLang="zh-CN" sz="2000" b="1" dirty="0">
              <a:solidFill>
                <a:srgbClr val="282828"/>
              </a:solidFill>
              <a:latin typeface="Times New Roman" panose="02020603050405020304" pitchFamily="18" charset="0"/>
              <a:cs typeface="Times New Roman" panose="02020603050405020304" pitchFamily="18" charset="0"/>
            </a:endParaRPr>
          </a:p>
          <a:p>
            <a:pPr marL="342900" indent="-342900">
              <a:lnSpc>
                <a:spcPct val="130000"/>
              </a:lnSpc>
              <a:buFont typeface="Arial" panose="020B0604020202020204" pitchFamily="34" charset="0"/>
              <a:buChar char="•"/>
            </a:pPr>
            <a:r>
              <a:rPr lang="zh-CN" altLang="en-US" sz="2000" b="1" dirty="0">
                <a:solidFill>
                  <a:srgbClr val="282828"/>
                </a:solidFill>
                <a:latin typeface="Times New Roman" panose="02020603050405020304" pitchFamily="18" charset="0"/>
                <a:cs typeface="Times New Roman" panose="02020603050405020304" pitchFamily="18" charset="0"/>
              </a:rPr>
              <a:t>如果项目开发完了，原来的程序员离职了，你接手维护怎么办？</a:t>
            </a:r>
            <a:endParaRPr lang="en-US" altLang="zh-CN" sz="2000" b="1" dirty="0">
              <a:solidFill>
                <a:srgbClr val="282828"/>
              </a:solidFill>
              <a:latin typeface="Times New Roman" panose="02020603050405020304" pitchFamily="18" charset="0"/>
              <a:cs typeface="Times New Roman" panose="02020603050405020304" pitchFamily="18" charset="0"/>
            </a:endParaRPr>
          </a:p>
          <a:p>
            <a:pPr marL="342900" indent="-342900">
              <a:lnSpc>
                <a:spcPct val="130000"/>
              </a:lnSpc>
              <a:buFont typeface="Arial" panose="020B0604020202020204" pitchFamily="34" charset="0"/>
              <a:buChar char="•"/>
            </a:pPr>
            <a:r>
              <a:rPr lang="en-US" altLang="zh-CN" sz="2000" b="1" dirty="0">
                <a:solidFill>
                  <a:srgbClr val="282828"/>
                </a:solidFill>
                <a:latin typeface="Times New Roman" panose="02020603050405020304" pitchFamily="18" charset="0"/>
                <a:cs typeface="Times New Roman" panose="02020603050405020304" pitchFamily="18" charset="0"/>
              </a:rPr>
              <a:t>… …</a:t>
            </a:r>
            <a:endParaRPr lang="en-US" altLang="zh-CN" sz="2000" b="1" dirty="0">
              <a:solidFill>
                <a:srgbClr val="28282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设计模式概述</a:t>
            </a:r>
            <a:endParaRPr lang="zh-CN" altLang="en-US" dirty="0"/>
          </a:p>
        </p:txBody>
      </p:sp>
      <p:sp>
        <p:nvSpPr>
          <p:cNvPr id="42" name="标题 1"/>
          <p:cNvSpPr txBox="1"/>
          <p:nvPr>
            <p:custDataLst>
              <p:tags r:id="rId1"/>
            </p:custDataLst>
          </p:nvPr>
        </p:nvSpPr>
        <p:spPr>
          <a:xfrm>
            <a:off x="609541" y="1387845"/>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宋体" panose="02010600030101010101" pitchFamily="2" charset="-122"/>
                <a:ea typeface="宋体" panose="02010600030101010101" pitchFamily="2" charset="-122"/>
              </a:rPr>
              <a:t>设计模式的定义</a:t>
            </a:r>
            <a:endParaRPr lang="zh-CN" altLang="en-US" sz="2600" b="1" dirty="0">
              <a:solidFill>
                <a:schemeClr val="tx1"/>
              </a:solidFill>
              <a:latin typeface="宋体" panose="02010600030101010101" pitchFamily="2" charset="-122"/>
              <a:ea typeface="宋体" panose="02010600030101010101" pitchFamily="2" charset="-122"/>
            </a:endParaRPr>
          </a:p>
        </p:txBody>
      </p:sp>
      <p:sp>
        <p:nvSpPr>
          <p:cNvPr id="48" name="Rectangle 4"/>
          <p:cNvSpPr>
            <a:spLocks noChangeArrowheads="1"/>
          </p:cNvSpPr>
          <p:nvPr>
            <p:custDataLst>
              <p:tags r:id="rId2"/>
            </p:custDataLst>
          </p:nvPr>
        </p:nvSpPr>
        <p:spPr bwMode="auto">
          <a:xfrm>
            <a:off x="762000" y="2202815"/>
            <a:ext cx="6716395" cy="249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30000"/>
              </a:lnSpc>
              <a:buFont typeface="Arial" panose="020B0604020202020204" pitchFamily="34" charset="0"/>
              <a:buChar char="•"/>
            </a:pPr>
            <a:r>
              <a:rPr lang="zh-CN" altLang="en-US" sz="2000"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rPr>
              <a:t>设计模式（</a:t>
            </a:r>
            <a:r>
              <a:rPr lang="en-US" altLang="zh-CN" sz="2000"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rPr>
              <a:t>Design Pattern</a:t>
            </a:r>
            <a:r>
              <a:rPr lang="zh-CN" altLang="en-US" sz="2000"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rPr>
              <a:t>）是对面向对象设计中</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反复出现</a:t>
            </a:r>
            <a:r>
              <a:rPr lang="zh-CN" altLang="en-US" sz="2000"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rPr>
              <a:t>的问题的解决方案</a:t>
            </a:r>
            <a:endParaRPr lang="en-US" altLang="zh-CN" sz="2000"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30000"/>
              </a:lnSpc>
              <a:buFont typeface="Arial" panose="020B0604020202020204" pitchFamily="34" charset="0"/>
              <a:buChar char="•"/>
            </a:pPr>
            <a:r>
              <a:rPr lang="zh-CN" altLang="en-US" sz="2000"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rPr>
              <a:t>是一套被反复使用、多数人知晓的、经过分类编目的、代码设计经验的总结</a:t>
            </a:r>
            <a:endParaRPr lang="en-US" altLang="zh-CN" sz="2000"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30000"/>
              </a:lnSpc>
              <a:buFont typeface="Arial" panose="020B0604020202020204" pitchFamily="34" charset="0"/>
              <a:buChar char="•"/>
            </a:pPr>
            <a:r>
              <a:rPr lang="zh-CN" altLang="en-US" sz="2000"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rPr>
              <a:t>为了提高代码的重用性，可读性 ，可扩展性 ，可靠性 ，使程序呈现高内聚、低耦合的特性</a:t>
            </a:r>
            <a:endParaRPr lang="en-US" altLang="zh-CN" sz="2000"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设计模式概述</a:t>
            </a:r>
            <a:endParaRPr lang="zh-CN" altLang="en-US" dirty="0"/>
          </a:p>
        </p:txBody>
      </p:sp>
      <p:sp>
        <p:nvSpPr>
          <p:cNvPr id="2" name="标题 1"/>
          <p:cNvSpPr txBox="1"/>
          <p:nvPr>
            <p:custDataLst>
              <p:tags r:id="rId1"/>
            </p:custDataLst>
          </p:nvPr>
        </p:nvSpPr>
        <p:spPr>
          <a:xfrm>
            <a:off x="594936" y="128561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设计模式的四要素</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3" name="Rectangle 4"/>
          <p:cNvSpPr>
            <a:spLocks noChangeArrowheads="1"/>
          </p:cNvSpPr>
          <p:nvPr>
            <p:custDataLst>
              <p:tags r:id="rId2"/>
            </p:custDataLst>
          </p:nvPr>
        </p:nvSpPr>
        <p:spPr bwMode="auto">
          <a:xfrm>
            <a:off x="711200" y="1864360"/>
            <a:ext cx="7134225" cy="4209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rPr>
              <a:t>模式名称</a:t>
            </a:r>
            <a:endParaRPr lang="en-US" altLang="zh-CN" sz="2000" b="1" dirty="0">
              <a:solidFill>
                <a:srgbClr val="C00000"/>
              </a:solidFill>
              <a:latin typeface="Times New Roman" panose="02020603050405020304" pitchFamily="18" charset="0"/>
              <a:ea typeface="宋体" panose="02010600030101010101" pitchFamily="2" charset="-122"/>
            </a:endParaRPr>
          </a:p>
          <a:p>
            <a:pPr lvl="1">
              <a:lnSpc>
                <a:spcPct val="130000"/>
              </a:lnSpc>
            </a:pPr>
            <a:r>
              <a:rPr lang="zh-CN" altLang="en-US" b="1" dirty="0">
                <a:solidFill>
                  <a:srgbClr val="282828"/>
                </a:solidFill>
                <a:latin typeface="Times New Roman" panose="02020603050405020304" pitchFamily="18" charset="0"/>
                <a:ea typeface="宋体" panose="02010600030101010101" pitchFamily="2" charset="-122"/>
              </a:rPr>
              <a:t>通过一两个词来描述模式的问题、解决方案和效果。</a:t>
            </a:r>
            <a:endParaRPr lang="en-US" altLang="zh-CN" b="1" dirty="0">
              <a:solidFill>
                <a:srgbClr val="282828"/>
              </a:solidFill>
              <a:latin typeface="Times New Roman" panose="02020603050405020304" pitchFamily="18" charset="0"/>
              <a:ea typeface="宋体" panose="02010600030101010101" pitchFamily="2" charset="-122"/>
            </a:endParaRPr>
          </a:p>
          <a:p>
            <a:pPr marL="342900"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rPr>
              <a:t>问题</a:t>
            </a:r>
            <a:endParaRPr lang="en-US" altLang="zh-CN" sz="2000" b="1" dirty="0">
              <a:solidFill>
                <a:srgbClr val="C00000"/>
              </a:solidFill>
              <a:latin typeface="Times New Roman" panose="02020603050405020304" pitchFamily="18" charset="0"/>
              <a:ea typeface="宋体" panose="02010600030101010101" pitchFamily="2" charset="-122"/>
            </a:endParaRPr>
          </a:p>
          <a:p>
            <a:pPr lvl="1">
              <a:lnSpc>
                <a:spcPct val="130000"/>
              </a:lnSpc>
            </a:pPr>
            <a:r>
              <a:rPr lang="zh-CN" altLang="en-US" b="1" dirty="0">
                <a:solidFill>
                  <a:srgbClr val="282828"/>
                </a:solidFill>
                <a:latin typeface="Times New Roman" panose="02020603050405020304" pitchFamily="18" charset="0"/>
                <a:ea typeface="宋体" panose="02010600030101010101" pitchFamily="2" charset="-122"/>
              </a:rPr>
              <a:t>描述了应该在何时使用模式，包含了设计中存在的问题以及问题存在的原因。</a:t>
            </a:r>
            <a:endParaRPr lang="en-US" altLang="zh-CN" b="1" dirty="0">
              <a:solidFill>
                <a:srgbClr val="282828"/>
              </a:solidFill>
              <a:latin typeface="Times New Roman" panose="02020603050405020304" pitchFamily="18" charset="0"/>
              <a:ea typeface="宋体" panose="02010600030101010101" pitchFamily="2" charset="-122"/>
            </a:endParaRPr>
          </a:p>
          <a:p>
            <a:pPr marL="342900"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rPr>
              <a:t>解决方案</a:t>
            </a:r>
            <a:endParaRPr lang="en-US" altLang="zh-CN" sz="2000" b="1" dirty="0">
              <a:solidFill>
                <a:srgbClr val="C00000"/>
              </a:solidFill>
              <a:latin typeface="Times New Roman" panose="02020603050405020304" pitchFamily="18" charset="0"/>
              <a:ea typeface="宋体" panose="02010600030101010101" pitchFamily="2" charset="-122"/>
            </a:endParaRPr>
          </a:p>
          <a:p>
            <a:pPr lvl="1">
              <a:lnSpc>
                <a:spcPct val="130000"/>
              </a:lnSpc>
            </a:pPr>
            <a:r>
              <a:rPr lang="zh-CN" altLang="en-US" b="1" dirty="0">
                <a:latin typeface="Times New Roman" panose="02020603050405020304" pitchFamily="18" charset="0"/>
                <a:ea typeface="宋体" panose="02010600030101010101" pitchFamily="2" charset="-122"/>
              </a:rPr>
              <a:t>描述了设计模式的组成成分，以及这些组成成分之间的相互关系，各自的职责和协作方式。解决方案通过类图和核心代码来进行说明。</a:t>
            </a:r>
            <a:endParaRPr lang="en-US" altLang="zh-CN" b="1" dirty="0">
              <a:latin typeface="Times New Roman" panose="02020603050405020304" pitchFamily="18" charset="0"/>
              <a:ea typeface="宋体" panose="02010600030101010101" pitchFamily="2" charset="-122"/>
            </a:endParaRPr>
          </a:p>
          <a:p>
            <a:pPr marL="342900"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rPr>
              <a:t>效果</a:t>
            </a:r>
            <a:endParaRPr lang="en-US" altLang="zh-CN" sz="2000" b="1" dirty="0">
              <a:solidFill>
                <a:srgbClr val="C00000"/>
              </a:solidFill>
              <a:latin typeface="Times New Roman" panose="02020603050405020304" pitchFamily="18" charset="0"/>
              <a:ea typeface="宋体" panose="02010600030101010101" pitchFamily="2" charset="-122"/>
            </a:endParaRPr>
          </a:p>
          <a:p>
            <a:pPr lvl="1">
              <a:lnSpc>
                <a:spcPct val="130000"/>
              </a:lnSpc>
            </a:pPr>
            <a:r>
              <a:rPr lang="zh-CN" altLang="en-US" b="1" dirty="0">
                <a:latin typeface="Times New Roman" panose="02020603050405020304" pitchFamily="18" charset="0"/>
                <a:ea typeface="宋体" panose="02010600030101010101" pitchFamily="2" charset="-122"/>
              </a:rPr>
              <a:t>描述了模式应用的效果以及在使用模式时应该权衡的问题。</a:t>
            </a:r>
            <a:endParaRPr lang="en-US" altLang="zh-CN" b="1" dirty="0">
              <a:latin typeface="Times New Roman" panose="02020603050405020304" pitchFamily="18"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设计模式原则</a:t>
            </a:r>
            <a:endParaRPr lang="zh-CN" altLang="en-US" dirty="0"/>
          </a:p>
        </p:txBody>
      </p:sp>
      <p:sp>
        <p:nvSpPr>
          <p:cNvPr id="42" name="标题 1"/>
          <p:cNvSpPr txBox="1"/>
          <p:nvPr>
            <p:custDataLst>
              <p:tags r:id="rId1"/>
            </p:custDataLst>
          </p:nvPr>
        </p:nvSpPr>
        <p:spPr>
          <a:xfrm>
            <a:off x="533342" y="1276085"/>
            <a:ext cx="5277780" cy="3017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zh-CN" altLang="en-US" sz="2600" b="1" dirty="0">
                <a:solidFill>
                  <a:schemeClr val="tx1"/>
                </a:solidFill>
                <a:latin typeface="宋体" panose="02010600030101010101" pitchFamily="2" charset="-122"/>
                <a:ea typeface="宋体" panose="02010600030101010101" pitchFamily="2" charset="-122"/>
              </a:rPr>
              <a:t>设计模式的原则</a:t>
            </a:r>
            <a:endParaRPr lang="zh-CN" altLang="en-US" sz="2600" b="1" dirty="0">
              <a:solidFill>
                <a:schemeClr val="tx1"/>
              </a:solidFill>
              <a:latin typeface="宋体" panose="02010600030101010101" pitchFamily="2" charset="-122"/>
              <a:ea typeface="宋体" panose="02010600030101010101" pitchFamily="2" charset="-122"/>
            </a:endParaRPr>
          </a:p>
        </p:txBody>
      </p:sp>
      <p:sp>
        <p:nvSpPr>
          <p:cNvPr id="12" name="Rectangle 4"/>
          <p:cNvSpPr>
            <a:spLocks noChangeArrowheads="1"/>
          </p:cNvSpPr>
          <p:nvPr>
            <p:custDataLst>
              <p:tags r:id="rId2"/>
            </p:custDataLst>
          </p:nvPr>
        </p:nvSpPr>
        <p:spPr bwMode="auto">
          <a:xfrm>
            <a:off x="609600" y="1676400"/>
            <a:ext cx="7326630" cy="5288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单一职责原则</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pPr>
            <a:r>
              <a:rPr lang="zh-CN" altLang="en-US"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rPr>
              <a:t>将对象解耦，一个类和方法只做一件事，只负责一个功能中的相应职责，高内聚，低耦合</a:t>
            </a:r>
            <a:endParaRPr lang="en-US" altLang="zh-CN"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开闭原则</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一个软件实体（类</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模块</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函数）应该对扩展开放、对修改关闭</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里氏替换原则</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要求所有引用父类的地方必须能够透明地使用其子类的对象，即，把父类都替换成子类，程序不会产生错误和异常，但是反过来则不能成立</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30000"/>
              </a:lnSpc>
              <a:buFont typeface="Arial" panose="020B0604020202020204" pitchFamily="34" charset="0"/>
              <a:buChar char="•"/>
            </a:pPr>
            <a:r>
              <a:rPr lang="zh-CN" altLang="en-US" b="1" dirty="0">
                <a:solidFill>
                  <a:srgbClr val="C00000"/>
                </a:solidFill>
                <a:latin typeface="Times New Roman" panose="02020603050405020304" pitchFamily="18" charset="0"/>
                <a:cs typeface="Times New Roman" panose="02020603050405020304" pitchFamily="18" charset="0"/>
                <a:sym typeface="+mn-ea"/>
              </a:rPr>
              <a:t>依赖倒置原则</a:t>
            </a:r>
            <a:endPar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pPr>
            <a:r>
              <a:rPr lang="zh-CN" altLang="en-US" b="1" dirty="0">
                <a:solidFill>
                  <a:srgbClr val="282828"/>
                </a:solidFill>
                <a:latin typeface="Times New Roman" panose="02020603050405020304" pitchFamily="18" charset="0"/>
                <a:cs typeface="Times New Roman" panose="02020603050405020304" pitchFamily="18" charset="0"/>
                <a:sym typeface="+mn-ea"/>
              </a:rPr>
              <a:t> 高层模块不应该依赖于低层模块，二者都应该依赖于抽象；抽象不应该依赖于细节，细节应该依赖于抽象</a:t>
            </a:r>
            <a:endParaRPr lang="en-US" altLang="zh-CN" b="1" dirty="0">
              <a:solidFill>
                <a:srgbClr val="282828"/>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pP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设计模式原则</a:t>
            </a:r>
            <a:endParaRPr lang="zh-CN" altLang="en-US" dirty="0"/>
          </a:p>
        </p:txBody>
      </p:sp>
      <p:sp>
        <p:nvSpPr>
          <p:cNvPr id="42" name="标题 1"/>
          <p:cNvSpPr txBox="1"/>
          <p:nvPr>
            <p:custDataLst>
              <p:tags r:id="rId1"/>
            </p:custDataLst>
          </p:nvPr>
        </p:nvSpPr>
        <p:spPr>
          <a:xfrm>
            <a:off x="533342" y="1276085"/>
            <a:ext cx="5277780" cy="3017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zh-CN" altLang="en-US" sz="2600" b="1" dirty="0">
                <a:solidFill>
                  <a:schemeClr val="tx1"/>
                </a:solidFill>
                <a:latin typeface="宋体" panose="02010600030101010101" pitchFamily="2" charset="-122"/>
                <a:ea typeface="宋体" panose="02010600030101010101" pitchFamily="2" charset="-122"/>
              </a:rPr>
              <a:t>设计模式的原则</a:t>
            </a:r>
            <a:endParaRPr lang="zh-CN" altLang="en-US" sz="2600" b="1" dirty="0">
              <a:solidFill>
                <a:schemeClr val="tx1"/>
              </a:solidFill>
              <a:latin typeface="宋体" panose="02010600030101010101" pitchFamily="2" charset="-122"/>
              <a:ea typeface="宋体" panose="02010600030101010101" pitchFamily="2" charset="-122"/>
            </a:endParaRPr>
          </a:p>
        </p:txBody>
      </p:sp>
      <p:sp>
        <p:nvSpPr>
          <p:cNvPr id="2" name="Rectangle 4"/>
          <p:cNvSpPr>
            <a:spLocks noChangeArrowheads="1"/>
          </p:cNvSpPr>
          <p:nvPr>
            <p:custDataLst>
              <p:tags r:id="rId2"/>
            </p:custDataLst>
          </p:nvPr>
        </p:nvSpPr>
        <p:spPr bwMode="auto">
          <a:xfrm>
            <a:off x="609600" y="1676400"/>
            <a:ext cx="7309485" cy="3171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lvl="1"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接口隔离原则</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一个类对另一个类的依赖应该建立在最小接口上，即，建立专用接口，细化接口</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迪米特法则</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“最少知道原则”，一个对象应当对其他对象有尽可能少的了解， 使系统功能模块相对独立。</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342900" lvl="1"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合成复用原则</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457200" lvl="2">
              <a:lnSpc>
                <a:spcPct val="130000"/>
              </a:lnSpc>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尽量使用合成，而不是继承来达到复用的目的。</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文本框 15"/>
          <p:cNvSpPr txBox="1"/>
          <p:nvPr>
            <p:custDataLst>
              <p:tags r:id="rId3"/>
            </p:custDataLst>
          </p:nvPr>
        </p:nvSpPr>
        <p:spPr>
          <a:xfrm>
            <a:off x="2044065" y="5194300"/>
            <a:ext cx="4509135" cy="706755"/>
          </a:xfrm>
          <a:prstGeom prst="rect">
            <a:avLst/>
          </a:prstGeom>
          <a:noFill/>
        </p:spPr>
        <p:txBody>
          <a:bodyPr wrap="square">
            <a:spAutoFit/>
            <a:scene3d>
              <a:camera prst="orthographicFront"/>
              <a:lightRig rig="threePt" dir="t"/>
            </a:scene3d>
          </a:bodyPr>
          <a:lstStyle/>
          <a:p>
            <a:pPr algn="ctr"/>
            <a:r>
              <a:rPr lang="zh-CN" altLang="en-US" sz="2000" b="1" i="0" dirty="0">
                <a:solidFill>
                  <a:srgbClr val="7030A0"/>
                </a:solidFill>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rPr>
              <a:t>访问加限制 函数要节俭</a:t>
            </a:r>
            <a:r>
              <a:rPr lang="en-US" altLang="zh-CN" sz="2000" b="1" i="0" dirty="0">
                <a:solidFill>
                  <a:srgbClr val="7030A0"/>
                </a:solidFill>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rPr>
              <a:t> </a:t>
            </a:r>
            <a:r>
              <a:rPr lang="zh-CN" altLang="en-US" sz="2000" b="1" i="0" dirty="0">
                <a:solidFill>
                  <a:srgbClr val="7030A0"/>
                </a:solidFill>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rPr>
              <a:t>依赖不允许 </a:t>
            </a:r>
            <a:endParaRPr lang="zh-CN" altLang="en-US" sz="2000" b="1" i="0" dirty="0">
              <a:solidFill>
                <a:srgbClr val="7030A0"/>
              </a:solidFill>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endParaRPr>
          </a:p>
          <a:p>
            <a:pPr algn="ctr"/>
            <a:r>
              <a:rPr lang="zh-CN" altLang="en-US" sz="2000" b="1" i="0" dirty="0">
                <a:solidFill>
                  <a:srgbClr val="7030A0"/>
                </a:solidFill>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rPr>
              <a:t>动态加接口</a:t>
            </a:r>
            <a:r>
              <a:rPr lang="en-US" altLang="zh-CN" sz="2000" b="1" i="0" dirty="0">
                <a:solidFill>
                  <a:srgbClr val="7030A0"/>
                </a:solidFill>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rPr>
              <a:t> </a:t>
            </a:r>
            <a:r>
              <a:rPr lang="zh-CN" altLang="en-US" sz="2000" b="1" i="0" dirty="0">
                <a:solidFill>
                  <a:srgbClr val="7030A0"/>
                </a:solidFill>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rPr>
              <a:t>父类要抽象 扩展不更改</a:t>
            </a:r>
            <a:endParaRPr lang="zh-CN" altLang="en-US" sz="2000" b="1" i="0" dirty="0">
              <a:solidFill>
                <a:srgbClr val="7030A0"/>
              </a:solidFill>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设计模式分类</a:t>
            </a:r>
            <a:endParaRPr lang="zh-CN" altLang="en-US" dirty="0"/>
          </a:p>
        </p:txBody>
      </p:sp>
      <p:sp>
        <p:nvSpPr>
          <p:cNvPr id="3" name="标题 1"/>
          <p:cNvSpPr txBox="1"/>
          <p:nvPr>
            <p:custDataLst>
              <p:tags r:id="rId1"/>
            </p:custDataLst>
          </p:nvPr>
        </p:nvSpPr>
        <p:spPr>
          <a:xfrm>
            <a:off x="594936" y="113321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设计模式分类</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14" name="Rectangle 4"/>
          <p:cNvSpPr>
            <a:spLocks noChangeArrowheads="1"/>
          </p:cNvSpPr>
          <p:nvPr>
            <p:custDataLst>
              <p:tags r:id="rId2"/>
            </p:custDataLst>
          </p:nvPr>
        </p:nvSpPr>
        <p:spPr bwMode="auto">
          <a:xfrm>
            <a:off x="756454" y="1752447"/>
            <a:ext cx="6412281" cy="2736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zh-CN" altLang="en-US" sz="2000" b="1" dirty="0">
                <a:latin typeface="Times New Roman" panose="02020603050405020304" pitchFamily="18" charset="0"/>
                <a:ea typeface="宋体" panose="02010600030101010101" pitchFamily="2" charset="-122"/>
              </a:rPr>
              <a:t>根据模式的使用目的，可以分为三类</a:t>
            </a:r>
            <a:endParaRPr lang="en-US" altLang="zh-CN" b="1" dirty="0">
              <a:solidFill>
                <a:srgbClr val="282828"/>
              </a:solidFill>
              <a:latin typeface="Times New Roman" panose="02020603050405020304" pitchFamily="18" charset="0"/>
              <a:ea typeface="宋体" panose="02010600030101010101" pitchFamily="2" charset="-122"/>
            </a:endParaRPr>
          </a:p>
          <a:p>
            <a:pPr marL="342900" lvl="1"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rPr>
              <a:t>创建型</a:t>
            </a:r>
            <a:endParaRPr lang="en-US" altLang="zh-CN" sz="2000" b="1" dirty="0">
              <a:solidFill>
                <a:srgbClr val="C00000"/>
              </a:solidFill>
              <a:latin typeface="Times New Roman" panose="02020603050405020304" pitchFamily="18" charset="0"/>
              <a:ea typeface="宋体" panose="02010600030101010101" pitchFamily="2" charset="-122"/>
            </a:endParaRPr>
          </a:p>
          <a:p>
            <a:pPr lvl="1">
              <a:lnSpc>
                <a:spcPct val="130000"/>
              </a:lnSpc>
            </a:pPr>
            <a:r>
              <a:rPr lang="zh-CN" altLang="en-US" b="1" dirty="0">
                <a:latin typeface="Times New Roman" panose="02020603050405020304" pitchFamily="18" charset="0"/>
                <a:ea typeface="宋体" panose="02010600030101010101" pitchFamily="2" charset="-122"/>
              </a:rPr>
              <a:t>与对象的创建有关</a:t>
            </a:r>
            <a:endParaRPr lang="en-US" altLang="zh-CN" sz="2000" b="1" dirty="0">
              <a:latin typeface="Times New Roman" panose="02020603050405020304" pitchFamily="18" charset="0"/>
              <a:ea typeface="宋体" panose="02010600030101010101" pitchFamily="2" charset="-122"/>
            </a:endParaRPr>
          </a:p>
          <a:p>
            <a:pPr marL="342900"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rPr>
              <a:t>结构型</a:t>
            </a:r>
            <a:endParaRPr lang="en-US" altLang="zh-CN" sz="2000" b="1" dirty="0">
              <a:solidFill>
                <a:srgbClr val="C00000"/>
              </a:solidFill>
              <a:latin typeface="Times New Roman" panose="02020603050405020304" pitchFamily="18" charset="0"/>
              <a:ea typeface="宋体" panose="02010600030101010101" pitchFamily="2" charset="-122"/>
            </a:endParaRPr>
          </a:p>
          <a:p>
            <a:pPr lvl="1">
              <a:lnSpc>
                <a:spcPct val="130000"/>
              </a:lnSpc>
            </a:pPr>
            <a:r>
              <a:rPr lang="zh-CN" altLang="en-US" b="1" dirty="0">
                <a:latin typeface="Times New Roman" panose="02020603050405020304" pitchFamily="18" charset="0"/>
                <a:ea typeface="宋体" panose="02010600030101010101" pitchFamily="2" charset="-122"/>
              </a:rPr>
              <a:t>描述如何将类或者对象结合在一起形成更大的结构</a:t>
            </a:r>
            <a:endParaRPr lang="en-US" altLang="zh-CN" b="1" dirty="0">
              <a:latin typeface="Times New Roman" panose="02020603050405020304" pitchFamily="18" charset="0"/>
              <a:ea typeface="宋体" panose="02010600030101010101" pitchFamily="2" charset="-122"/>
            </a:endParaRPr>
          </a:p>
          <a:p>
            <a:pPr marL="342900" lvl="1" indent="-342900">
              <a:lnSpc>
                <a:spcPct val="130000"/>
              </a:lnSpc>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rPr>
              <a:t>行为型</a:t>
            </a:r>
            <a:endParaRPr lang="en-US" altLang="zh-CN" sz="2000" b="1" dirty="0">
              <a:solidFill>
                <a:srgbClr val="C00000"/>
              </a:solidFill>
              <a:latin typeface="Times New Roman" panose="02020603050405020304" pitchFamily="18" charset="0"/>
              <a:ea typeface="宋体" panose="02010600030101010101" pitchFamily="2" charset="-122"/>
            </a:endParaRPr>
          </a:p>
          <a:p>
            <a:pPr marL="457200" lvl="2">
              <a:lnSpc>
                <a:spcPct val="130000"/>
              </a:lnSpc>
            </a:pPr>
            <a:r>
              <a:rPr lang="zh-CN" altLang="en-US" b="1" dirty="0">
                <a:latin typeface="Times New Roman" panose="02020603050405020304" pitchFamily="18" charset="0"/>
                <a:ea typeface="宋体" panose="02010600030101010101" pitchFamily="2" charset="-122"/>
              </a:rPr>
              <a:t>描述类或对象怎样交互、怎样分配职责</a:t>
            </a:r>
            <a:endParaRPr lang="en-US" altLang="zh-CN" sz="2000" b="1" dirty="0">
              <a:latin typeface="Times New Roman" panose="02020603050405020304" pitchFamily="18"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设计模式分类</a:t>
            </a:r>
            <a:endParaRPr lang="zh-CN" altLang="en-US" dirty="0"/>
          </a:p>
        </p:txBody>
      </p:sp>
      <p:sp>
        <p:nvSpPr>
          <p:cNvPr id="3" name="标题 1"/>
          <p:cNvSpPr txBox="1"/>
          <p:nvPr>
            <p:custDataLst>
              <p:tags r:id="rId1"/>
            </p:custDataLst>
          </p:nvPr>
        </p:nvSpPr>
        <p:spPr>
          <a:xfrm>
            <a:off x="594936" y="113321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设计模式分类</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1026" name="Picture 2"/>
          <p:cNvPicPr>
            <a:picLocks noChangeAspect="1" noChangeArrowheads="1"/>
          </p:cNvPicPr>
          <p:nvPr>
            <p:custDataLst>
              <p:tags r:id="rId2"/>
            </p:custDataLst>
          </p:nvPr>
        </p:nvPicPr>
        <p:blipFill rotWithShape="1">
          <a:blip r:embed="rId3" cstate="print">
            <a:extLst>
              <a:ext uri="{28A0092B-C50C-407E-A947-70E740481C1C}">
                <a14:useLocalDpi xmlns:a14="http://schemas.microsoft.com/office/drawing/2010/main" val="0"/>
              </a:ext>
            </a:extLst>
          </a:blip>
          <a:srcRect t="2525" r="4932" b="5378"/>
          <a:stretch>
            <a:fillRect/>
          </a:stretch>
        </p:blipFill>
        <p:spPr bwMode="auto">
          <a:xfrm>
            <a:off x="381000" y="2033905"/>
            <a:ext cx="7282815" cy="37077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设计模式分类</a:t>
            </a:r>
            <a:endParaRPr lang="zh-CN" altLang="en-US" dirty="0"/>
          </a:p>
        </p:txBody>
      </p:sp>
      <p:sp>
        <p:nvSpPr>
          <p:cNvPr id="3" name="标题 1"/>
          <p:cNvSpPr txBox="1"/>
          <p:nvPr>
            <p:custDataLst>
              <p:tags r:id="rId1"/>
            </p:custDataLst>
          </p:nvPr>
        </p:nvSpPr>
        <p:spPr>
          <a:xfrm>
            <a:off x="594936" y="113321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创建型设计模式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8" name="图片 7"/>
          <p:cNvPicPr>
            <a:picLocks noChangeAspect="1"/>
          </p:cNvPicPr>
          <p:nvPr>
            <p:custDataLst>
              <p:tags r:id="rId2"/>
            </p:custDataLst>
          </p:nvPr>
        </p:nvPicPr>
        <p:blipFill>
          <a:blip r:embed="rId3"/>
          <a:stretch>
            <a:fillRect/>
          </a:stretch>
        </p:blipFill>
        <p:spPr>
          <a:xfrm>
            <a:off x="710053" y="1752483"/>
            <a:ext cx="6757921" cy="38995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设计模式分类</a:t>
            </a:r>
            <a:endParaRPr lang="zh-CN" altLang="en-US" dirty="0"/>
          </a:p>
        </p:txBody>
      </p:sp>
      <p:sp>
        <p:nvSpPr>
          <p:cNvPr id="3" name="标题 1"/>
          <p:cNvSpPr txBox="1"/>
          <p:nvPr>
            <p:custDataLst>
              <p:tags r:id="rId1"/>
            </p:custDataLst>
          </p:nvPr>
        </p:nvSpPr>
        <p:spPr>
          <a:xfrm>
            <a:off x="594936" y="113321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结构型设计模式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5" name="图片 4"/>
          <p:cNvPicPr>
            <a:picLocks noChangeAspect="1"/>
          </p:cNvPicPr>
          <p:nvPr>
            <p:custDataLst>
              <p:tags r:id="rId2"/>
            </p:custDataLst>
          </p:nvPr>
        </p:nvPicPr>
        <p:blipFill>
          <a:blip r:embed="rId3"/>
          <a:stretch>
            <a:fillRect/>
          </a:stretch>
        </p:blipFill>
        <p:spPr>
          <a:xfrm>
            <a:off x="762124" y="1556925"/>
            <a:ext cx="6840731" cy="46329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设计模式分类</a:t>
            </a:r>
            <a:endParaRPr lang="zh-CN" altLang="en-US" dirty="0"/>
          </a:p>
        </p:txBody>
      </p:sp>
      <p:sp>
        <p:nvSpPr>
          <p:cNvPr id="3" name="标题 1"/>
          <p:cNvSpPr txBox="1"/>
          <p:nvPr>
            <p:custDataLst>
              <p:tags r:id="rId1"/>
            </p:custDataLst>
          </p:nvPr>
        </p:nvSpPr>
        <p:spPr>
          <a:xfrm>
            <a:off x="594936" y="113321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行为型设计模式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2" name="图片 1"/>
          <p:cNvPicPr>
            <a:picLocks noChangeAspect="1"/>
          </p:cNvPicPr>
          <p:nvPr>
            <p:custDataLst>
              <p:tags r:id="rId2"/>
            </p:custDataLst>
          </p:nvPr>
        </p:nvPicPr>
        <p:blipFill>
          <a:blip r:embed="rId3"/>
          <a:stretch>
            <a:fillRect/>
          </a:stretch>
        </p:blipFill>
        <p:spPr>
          <a:xfrm>
            <a:off x="685924" y="1600215"/>
            <a:ext cx="6840731" cy="46498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设计模式分类</a:t>
            </a:r>
            <a:endParaRPr lang="zh-CN" altLang="en-US" dirty="0"/>
          </a:p>
        </p:txBody>
      </p:sp>
      <p:sp>
        <p:nvSpPr>
          <p:cNvPr id="3" name="标题 1"/>
          <p:cNvSpPr txBox="1"/>
          <p:nvPr>
            <p:custDataLst>
              <p:tags r:id="rId1"/>
            </p:custDataLst>
          </p:nvPr>
        </p:nvSpPr>
        <p:spPr>
          <a:xfrm>
            <a:off x="594936" y="113321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行为型设计模式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4" name="图片 3"/>
          <p:cNvPicPr>
            <a:picLocks noChangeAspect="1"/>
          </p:cNvPicPr>
          <p:nvPr>
            <p:custDataLst>
              <p:tags r:id="rId2"/>
            </p:custDataLst>
          </p:nvPr>
        </p:nvPicPr>
        <p:blipFill>
          <a:blip r:embed="rId3"/>
          <a:stretch>
            <a:fillRect/>
          </a:stretch>
        </p:blipFill>
        <p:spPr>
          <a:xfrm>
            <a:off x="685800" y="1828902"/>
            <a:ext cx="7172325" cy="38933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设计模式分类</a:t>
            </a:r>
            <a:endParaRPr lang="zh-CN" altLang="en-US" dirty="0"/>
          </a:p>
        </p:txBody>
      </p:sp>
      <p:sp>
        <p:nvSpPr>
          <p:cNvPr id="3" name="标题 1"/>
          <p:cNvSpPr txBox="1"/>
          <p:nvPr>
            <p:custDataLst>
              <p:tags r:id="rId1"/>
            </p:custDataLst>
          </p:nvPr>
        </p:nvSpPr>
        <p:spPr>
          <a:xfrm>
            <a:off x="594936" y="113321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设计模式之间的关系</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5" name="文本框 4"/>
          <p:cNvSpPr txBox="1"/>
          <p:nvPr/>
        </p:nvSpPr>
        <p:spPr>
          <a:xfrm>
            <a:off x="614680" y="1679575"/>
            <a:ext cx="7154545" cy="286131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a:t>这些模式经常会绑在一起使用，例如，组合模式常和迭代器模式或者访问者模式一起使用；</a:t>
            </a:r>
            <a:endParaRPr lang="zh-CN" altLang="en-US" sz="2000"/>
          </a:p>
          <a:p>
            <a:pPr marL="342900" indent="-342900">
              <a:lnSpc>
                <a:spcPct val="150000"/>
              </a:lnSpc>
              <a:buFont typeface="Arial" panose="020B0604020202020204" pitchFamily="34" charset="0"/>
              <a:buChar char="•"/>
            </a:pPr>
            <a:r>
              <a:rPr lang="zh-CN" altLang="en-US" sz="2000"/>
              <a:t>有些模式是可替代的，例如，原型模式常常用来替代抽象工厂模式；</a:t>
            </a:r>
            <a:endParaRPr lang="zh-CN" altLang="en-US" sz="2000"/>
          </a:p>
          <a:p>
            <a:pPr marL="342900" indent="-342900">
              <a:lnSpc>
                <a:spcPct val="150000"/>
              </a:lnSpc>
              <a:buFont typeface="Arial" panose="020B0604020202020204" pitchFamily="34" charset="0"/>
              <a:buChar char="•"/>
            </a:pPr>
            <a:r>
              <a:rPr lang="zh-CN" altLang="en-US" sz="2000"/>
              <a:t>有些模式虽然使用意图不同，但是产生的设计结果是很相似的，例如，组合模式和装饰器模式的结构体是相似的。</a:t>
            </a:r>
            <a:endParaRPr lang="zh-CN"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设计模式分类</a:t>
            </a:r>
            <a:endParaRPr lang="zh-CN" altLang="en-US" dirty="0"/>
          </a:p>
        </p:txBody>
      </p:sp>
      <p:sp>
        <p:nvSpPr>
          <p:cNvPr id="3" name="标题 1"/>
          <p:cNvSpPr txBox="1"/>
          <p:nvPr>
            <p:custDataLst>
              <p:tags r:id="rId1"/>
            </p:custDataLst>
          </p:nvPr>
        </p:nvSpPr>
        <p:spPr>
          <a:xfrm>
            <a:off x="594936" y="113321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设计模式之间的关系</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2052" name="Picture 4"/>
          <p:cNvPicPr>
            <a:picLocks noChangeAspect="1" noChangeArrowheads="1"/>
          </p:cNvPicPr>
          <p:nvPr>
            <p:custDataLst>
              <p:tags r:id="rId2"/>
            </p:custDataLst>
          </p:nvPr>
        </p:nvPicPr>
        <p:blipFill rotWithShape="1">
          <a:blip r:embed="rId3">
            <a:extLst>
              <a:ext uri="{28A0092B-C50C-407E-A947-70E740481C1C}">
                <a14:useLocalDpi xmlns:a14="http://schemas.microsoft.com/office/drawing/2010/main" val="0"/>
              </a:ext>
            </a:extLst>
          </a:blip>
          <a:srcRect l="3501" t="4408" r="3672" b="5500"/>
          <a:stretch>
            <a:fillRect/>
          </a:stretch>
        </p:blipFill>
        <p:spPr bwMode="auto">
          <a:xfrm>
            <a:off x="1496060" y="909320"/>
            <a:ext cx="5819775" cy="54629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单例模式概述</a:t>
            </a:r>
            <a:endParaRPr lang="zh-CN" altLang="en-US" dirty="0"/>
          </a:p>
        </p:txBody>
      </p:sp>
      <p:sp>
        <p:nvSpPr>
          <p:cNvPr id="42" name="标题 1"/>
          <p:cNvSpPr txBox="1"/>
          <p:nvPr>
            <p:custDataLst>
              <p:tags r:id="rId1"/>
            </p:custDataLst>
          </p:nvPr>
        </p:nvSpPr>
        <p:spPr>
          <a:xfrm>
            <a:off x="609541" y="1447535"/>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宋体" panose="02010600030101010101" pitchFamily="2" charset="-122"/>
                <a:ea typeface="宋体" panose="02010600030101010101" pitchFamily="2" charset="-122"/>
              </a:rPr>
              <a:t>单例模式的定义</a:t>
            </a:r>
            <a:endParaRPr lang="zh-CN" altLang="en-US" sz="2600" b="1" dirty="0">
              <a:solidFill>
                <a:schemeClr val="tx1"/>
              </a:solidFill>
              <a:latin typeface="宋体" panose="02010600030101010101" pitchFamily="2" charset="-122"/>
              <a:ea typeface="宋体" panose="02010600030101010101" pitchFamily="2" charset="-122"/>
            </a:endParaRPr>
          </a:p>
        </p:txBody>
      </p:sp>
      <p:sp>
        <p:nvSpPr>
          <p:cNvPr id="48" name="Rectangle 4"/>
          <p:cNvSpPr>
            <a:spLocks noChangeArrowheads="1"/>
          </p:cNvSpPr>
          <p:nvPr>
            <p:custDataLst>
              <p:tags r:id="rId2"/>
            </p:custDataLst>
          </p:nvPr>
        </p:nvSpPr>
        <p:spPr bwMode="auto">
          <a:xfrm>
            <a:off x="756285" y="2057400"/>
            <a:ext cx="7023735" cy="329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30000"/>
              </a:lnSpc>
              <a:buFont typeface="Arial" panose="020B0604020202020204" pitchFamily="34" charset="0"/>
              <a:buChar char="•"/>
            </a:pPr>
            <a:r>
              <a:rPr sz="2000" b="1" dirty="0">
                <a:solidFill>
                  <a:srgbClr val="282828"/>
                </a:solidFill>
                <a:latin typeface="Times New Roman" panose="02020603050405020304" pitchFamily="18" charset="0"/>
                <a:ea typeface="+mn-ea"/>
                <a:cs typeface="Times New Roman" panose="02020603050405020304" pitchFamily="18" charset="0"/>
              </a:rPr>
              <a:t>单例模式（Singleton）是一种创建型模式，旨在确保</a:t>
            </a:r>
            <a:r>
              <a:rPr sz="2000" b="1" dirty="0">
                <a:solidFill>
                  <a:srgbClr val="C00000"/>
                </a:solidFill>
                <a:latin typeface="Times New Roman" panose="02020603050405020304" pitchFamily="18" charset="0"/>
                <a:ea typeface="+mn-ea"/>
                <a:cs typeface="Times New Roman" panose="02020603050405020304" pitchFamily="18" charset="0"/>
              </a:rPr>
              <a:t>目标类只有一个实例对象</a:t>
            </a:r>
            <a:r>
              <a:rPr sz="2000" b="1" dirty="0">
                <a:solidFill>
                  <a:srgbClr val="282828"/>
                </a:solidFill>
                <a:latin typeface="Times New Roman" panose="02020603050405020304" pitchFamily="18" charset="0"/>
                <a:ea typeface="+mn-ea"/>
                <a:cs typeface="Times New Roman" panose="02020603050405020304" pitchFamily="18" charset="0"/>
              </a:rPr>
              <a:t>，并且向使用该对象的客户端提供访问单例的全局方法。</a:t>
            </a:r>
            <a:endParaRPr sz="2000" b="1" dirty="0">
              <a:solidFill>
                <a:srgbClr val="282828"/>
              </a:solidFill>
              <a:latin typeface="Times New Roman" panose="02020603050405020304" pitchFamily="18" charset="0"/>
              <a:ea typeface="+mn-ea"/>
              <a:cs typeface="Times New Roman" panose="02020603050405020304" pitchFamily="18" charset="0"/>
            </a:endParaRPr>
          </a:p>
          <a:p>
            <a:pPr marL="342900" indent="-342900">
              <a:lnSpc>
                <a:spcPct val="130000"/>
              </a:lnSpc>
              <a:buFont typeface="Arial" panose="020B0604020202020204" pitchFamily="34" charset="0"/>
              <a:buChar char="•"/>
            </a:pPr>
            <a:endParaRPr sz="2000" b="1" dirty="0">
              <a:solidFill>
                <a:srgbClr val="282828"/>
              </a:solidFill>
              <a:latin typeface="Times New Roman" panose="02020603050405020304" pitchFamily="18" charset="0"/>
              <a:ea typeface="+mn-ea"/>
              <a:cs typeface="Times New Roman" panose="02020603050405020304" pitchFamily="18" charset="0"/>
            </a:endParaRPr>
          </a:p>
          <a:p>
            <a:pPr marL="342900" indent="-342900">
              <a:lnSpc>
                <a:spcPct val="130000"/>
              </a:lnSpc>
              <a:buFont typeface="Arial" panose="020B0604020202020204" pitchFamily="34" charset="0"/>
              <a:buChar char="•"/>
            </a:pPr>
            <a:r>
              <a:rPr sz="2000" b="1" dirty="0">
                <a:solidFill>
                  <a:srgbClr val="282828"/>
                </a:solidFill>
                <a:latin typeface="Times New Roman" panose="02020603050405020304" pitchFamily="18" charset="0"/>
                <a:ea typeface="+mn-ea"/>
                <a:cs typeface="Times New Roman" panose="02020603050405020304" pitchFamily="18" charset="0"/>
              </a:rPr>
              <a:t>与一般类的区别：单例类在创建对象的时候，无论我们调用多少次创建对象的方法，得到的结果都是内存中唯一的对象。</a:t>
            </a:r>
            <a:endParaRPr sz="2000" b="1" dirty="0">
              <a:solidFill>
                <a:srgbClr val="282828"/>
              </a:solidFill>
              <a:latin typeface="Times New Roman" panose="02020603050405020304" pitchFamily="18" charset="0"/>
              <a:ea typeface="+mn-ea"/>
              <a:cs typeface="Times New Roman" panose="02020603050405020304" pitchFamily="18" charset="0"/>
            </a:endParaRPr>
          </a:p>
          <a:p>
            <a:pPr marL="342900" indent="-342900">
              <a:lnSpc>
                <a:spcPct val="130000"/>
              </a:lnSpc>
              <a:buFont typeface="Arial" panose="020B0604020202020204" pitchFamily="34" charset="0"/>
              <a:buChar char="•"/>
            </a:pPr>
            <a:endParaRPr lang="en-US" altLang="zh-CN" sz="2000" b="1" dirty="0">
              <a:solidFill>
                <a:srgbClr val="282828"/>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单例模式概述</a:t>
            </a:r>
            <a:endParaRPr lang="zh-CN" altLang="en-US" dirty="0"/>
          </a:p>
        </p:txBody>
      </p:sp>
      <p:sp>
        <p:nvSpPr>
          <p:cNvPr id="2"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什么时候用到单例模式？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6" name="Rectangle 4"/>
          <p:cNvSpPr>
            <a:spLocks noChangeArrowheads="1"/>
          </p:cNvSpPr>
          <p:nvPr>
            <p:custDataLst>
              <p:tags r:id="rId2"/>
            </p:custDataLst>
          </p:nvPr>
        </p:nvSpPr>
        <p:spPr bwMode="auto">
          <a:xfrm>
            <a:off x="685800" y="2208530"/>
            <a:ext cx="7125970" cy="249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buFont typeface="Arial" panose="020B0604020202020204" pitchFamily="34" charset="0"/>
            </a:pPr>
            <a:r>
              <a:rPr lang="zh-CN" altLang="en-US" sz="2000" b="1" dirty="0">
                <a:solidFill>
                  <a:srgbClr val="282828"/>
                </a:solidFill>
                <a:latin typeface="Times New Roman" panose="02020603050405020304" pitchFamily="18" charset="0"/>
                <a:cs typeface="Times New Roman" panose="02020603050405020304" pitchFamily="18" charset="0"/>
              </a:rPr>
              <a:t>软件开发过程中，使用单例模式的场景有如下两种：</a:t>
            </a:r>
            <a:endParaRPr lang="zh-CN" altLang="en-US" sz="2000" b="1" dirty="0">
              <a:solidFill>
                <a:srgbClr val="282828"/>
              </a:solidFill>
              <a:latin typeface="Times New Roman" panose="02020603050405020304" pitchFamily="18" charset="0"/>
              <a:cs typeface="Times New Roman" panose="02020603050405020304" pitchFamily="18" charset="0"/>
            </a:endParaRPr>
          </a:p>
          <a:p>
            <a:pPr algn="l">
              <a:lnSpc>
                <a:spcPct val="130000"/>
              </a:lnSpc>
              <a:buFont typeface="Arial" panose="020B0604020202020204" pitchFamily="34" charset="0"/>
            </a:pPr>
            <a:endParaRPr lang="zh-CN" altLang="en-US" sz="2000" b="1" dirty="0">
              <a:solidFill>
                <a:srgbClr val="282828"/>
              </a:solidFill>
              <a:latin typeface="Times New Roman" panose="02020603050405020304" pitchFamily="18" charset="0"/>
              <a:cs typeface="Times New Roman" panose="02020603050405020304" pitchFamily="18" charset="0"/>
            </a:endParaRPr>
          </a:p>
          <a:p>
            <a:pPr marL="342900" indent="-342900" algn="l">
              <a:lnSpc>
                <a:spcPct val="130000"/>
              </a:lnSpc>
              <a:buFont typeface="Arial" panose="020B0604020202020204" pitchFamily="34" charset="0"/>
              <a:buChar char="•"/>
            </a:pPr>
            <a:r>
              <a:rPr lang="zh-CN" altLang="en-US" sz="2000" b="1" dirty="0">
                <a:solidFill>
                  <a:schemeClr val="accent5">
                    <a:lumMod val="50000"/>
                  </a:schemeClr>
                </a:solidFill>
                <a:latin typeface="Times New Roman" panose="02020603050405020304" pitchFamily="18" charset="0"/>
                <a:cs typeface="Times New Roman" panose="02020603050405020304" pitchFamily="18" charset="0"/>
              </a:rPr>
              <a:t>一个类只能有一个实例，并且客户端需要访问该实例。</a:t>
            </a:r>
            <a:endParaRPr lang="zh-CN" altLang="en-US" sz="2000" b="1" dirty="0">
              <a:solidFill>
                <a:schemeClr val="accent5">
                  <a:lumMod val="50000"/>
                </a:schemeClr>
              </a:solidFill>
              <a:latin typeface="Times New Roman" panose="02020603050405020304" pitchFamily="18" charset="0"/>
              <a:cs typeface="Times New Roman" panose="02020603050405020304" pitchFamily="18" charset="0"/>
            </a:endParaRPr>
          </a:p>
          <a:p>
            <a:pPr marL="342900" indent="-342900" algn="l">
              <a:lnSpc>
                <a:spcPct val="130000"/>
              </a:lnSpc>
              <a:buFont typeface="Arial" panose="020B0604020202020204" pitchFamily="34" charset="0"/>
              <a:buChar char="•"/>
            </a:pPr>
            <a:endParaRPr lang="zh-CN" altLang="en-US" sz="2000" b="1" dirty="0">
              <a:solidFill>
                <a:schemeClr val="accent5">
                  <a:lumMod val="50000"/>
                </a:schemeClr>
              </a:solidFill>
              <a:latin typeface="Times New Roman" panose="02020603050405020304" pitchFamily="18" charset="0"/>
              <a:cs typeface="Times New Roman" panose="02020603050405020304" pitchFamily="18" charset="0"/>
            </a:endParaRPr>
          </a:p>
          <a:p>
            <a:pPr marL="342900" indent="-342900" algn="l">
              <a:lnSpc>
                <a:spcPct val="130000"/>
              </a:lnSpc>
              <a:buFont typeface="Arial" panose="020B0604020202020204" pitchFamily="34" charset="0"/>
              <a:buChar char="•"/>
            </a:pPr>
            <a:r>
              <a:rPr lang="zh-CN" altLang="en-US" sz="2000" b="1" dirty="0">
                <a:solidFill>
                  <a:schemeClr val="accent5">
                    <a:lumMod val="50000"/>
                  </a:schemeClr>
                </a:solidFill>
                <a:latin typeface="Times New Roman" panose="02020603050405020304" pitchFamily="18" charset="0"/>
                <a:cs typeface="Times New Roman" panose="02020603050405020304" pitchFamily="18" charset="0"/>
              </a:rPr>
              <a:t>一个类的实例化代价很大，没必要在每个类中都实例化一个新的。</a:t>
            </a:r>
            <a:endParaRPr lang="zh-CN" altLang="en-US" sz="2000" b="1" dirty="0">
              <a:solidFill>
                <a:schemeClr val="accent5">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单例模式概述</a:t>
            </a:r>
            <a:endParaRPr lang="zh-CN" altLang="en-US" dirty="0"/>
          </a:p>
        </p:txBody>
      </p:sp>
      <p:sp>
        <p:nvSpPr>
          <p:cNvPr id="2"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什么时候用到单例模式？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6" name="Rectangle 4"/>
          <p:cNvSpPr>
            <a:spLocks noChangeArrowheads="1"/>
          </p:cNvSpPr>
          <p:nvPr>
            <p:custDataLst>
              <p:tags r:id="rId2"/>
            </p:custDataLst>
          </p:nvPr>
        </p:nvSpPr>
        <p:spPr bwMode="auto">
          <a:xfrm>
            <a:off x="685800" y="2208530"/>
            <a:ext cx="7125970" cy="329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lvl="0" indent="-342900" algn="just">
              <a:lnSpc>
                <a:spcPct val="130000"/>
              </a:lnSpc>
              <a:buFont typeface="Wingdings" panose="05000000000000000000" charset="0"/>
              <a:buChar char="Ø"/>
            </a:pPr>
            <a:r>
              <a:rPr lang="zh-CN" altLang="en-US" sz="2000" b="1" dirty="0">
                <a:solidFill>
                  <a:schemeClr val="accent1">
                    <a:lumMod val="50000"/>
                  </a:schemeClr>
                </a:solidFill>
                <a:latin typeface="Microsoft JhengHei Light" panose="020B0304030504040204" pitchFamily="34" charset="-120"/>
                <a:sym typeface="+mn-ea"/>
              </a:rPr>
              <a:t>一个类只能有一个实例，并且客户端需要访问该实例。</a:t>
            </a:r>
            <a:endParaRPr lang="zh-CN" altLang="en-US" sz="2000" b="1" dirty="0">
              <a:solidFill>
                <a:srgbClr val="282828"/>
              </a:solidFill>
              <a:latin typeface="Microsoft JhengHei Light" panose="020B0304030504040204" pitchFamily="34" charset="-120"/>
              <a:ea typeface="宋体" panose="02010600030101010101" pitchFamily="2" charset="-122"/>
            </a:endParaRPr>
          </a:p>
          <a:p>
            <a:pPr marL="800100" lvl="1" indent="-342900">
              <a:lnSpc>
                <a:spcPct val="130000"/>
              </a:lnSpc>
              <a:buFont typeface="Wingdings" panose="05000000000000000000" charset="0"/>
              <a:buChar char="ü"/>
            </a:pPr>
            <a:r>
              <a:rPr lang="zh-CN" altLang="en-US" sz="2000" b="1" dirty="0">
                <a:solidFill>
                  <a:srgbClr val="282828"/>
                </a:solidFill>
                <a:latin typeface="Microsoft JhengHei Light" panose="020B0304030504040204" pitchFamily="34" charset="-120"/>
                <a:sym typeface="+mn-ea"/>
              </a:rPr>
              <a:t>音乐播放器同一时间只能播放一首歌曲</a:t>
            </a:r>
            <a:endParaRPr lang="zh-CN" altLang="en-US" sz="2000" b="1" dirty="0">
              <a:solidFill>
                <a:srgbClr val="282828"/>
              </a:solidFill>
              <a:latin typeface="Microsoft JhengHei Light" panose="020B0304030504040204" pitchFamily="34" charset="-120"/>
              <a:ea typeface="宋体" panose="02010600030101010101" pitchFamily="2" charset="-122"/>
            </a:endParaRPr>
          </a:p>
          <a:p>
            <a:pPr marL="800100" lvl="1" indent="-342900">
              <a:lnSpc>
                <a:spcPct val="130000"/>
              </a:lnSpc>
              <a:buFont typeface="Wingdings" panose="05000000000000000000" charset="0"/>
              <a:buChar char="ü"/>
            </a:pPr>
            <a:r>
              <a:rPr lang="zh-CN" altLang="en-US" sz="2000" b="1" dirty="0">
                <a:solidFill>
                  <a:srgbClr val="282828"/>
                </a:solidFill>
                <a:latin typeface="Microsoft JhengHei Light" panose="020B0304030504040204" pitchFamily="34" charset="-120"/>
                <a:sym typeface="+mn-ea"/>
              </a:rPr>
              <a:t>打印机同一时间只能执行一个打印任务</a:t>
            </a:r>
            <a:endParaRPr lang="zh-CN" altLang="en-US" sz="2000" b="1" dirty="0">
              <a:solidFill>
                <a:srgbClr val="282828"/>
              </a:solidFill>
              <a:latin typeface="Microsoft JhengHei Light" panose="020B0304030504040204" pitchFamily="34" charset="-120"/>
              <a:ea typeface="宋体" panose="02010600030101010101" pitchFamily="2" charset="-122"/>
            </a:endParaRPr>
          </a:p>
          <a:p>
            <a:pPr marL="800100" lvl="1" indent="-342900">
              <a:lnSpc>
                <a:spcPct val="130000"/>
              </a:lnSpc>
              <a:buFont typeface="Wingdings" panose="05000000000000000000" charset="0"/>
              <a:buChar char="ü"/>
            </a:pPr>
            <a:r>
              <a:rPr lang="zh-CN" altLang="en-US" sz="2000" b="1" dirty="0">
                <a:solidFill>
                  <a:srgbClr val="282828"/>
                </a:solidFill>
                <a:latin typeface="Microsoft JhengHei Light" panose="020B0304030504040204" pitchFamily="34" charset="-120"/>
                <a:sym typeface="+mn-ea"/>
              </a:rPr>
              <a:t>网站的计数器</a:t>
            </a:r>
            <a:endParaRPr lang="zh-CN" altLang="en-US" sz="2000" b="1" dirty="0">
              <a:solidFill>
                <a:srgbClr val="282828"/>
              </a:solidFill>
              <a:latin typeface="Microsoft JhengHei Light" panose="020B0304030504040204" pitchFamily="34" charset="-120"/>
              <a:ea typeface="宋体" panose="02010600030101010101" pitchFamily="2" charset="-122"/>
            </a:endParaRPr>
          </a:p>
          <a:p>
            <a:pPr marL="800100" lvl="1" indent="-342900">
              <a:lnSpc>
                <a:spcPct val="130000"/>
              </a:lnSpc>
              <a:buFont typeface="Wingdings" panose="05000000000000000000" charset="0"/>
              <a:buChar char="ü"/>
            </a:pPr>
            <a:r>
              <a:rPr lang="zh-CN" altLang="en-US" sz="2000" b="1" dirty="0">
                <a:solidFill>
                  <a:srgbClr val="282828"/>
                </a:solidFill>
                <a:latin typeface="Microsoft JhengHei Light" panose="020B0304030504040204" pitchFamily="34" charset="-120"/>
                <a:sym typeface="+mn-ea"/>
              </a:rPr>
              <a:t>应用程序的日志应用</a:t>
            </a:r>
            <a:endParaRPr lang="zh-CN" altLang="en-US" sz="2000" b="1" dirty="0">
              <a:solidFill>
                <a:srgbClr val="282828"/>
              </a:solidFill>
              <a:latin typeface="Microsoft JhengHei Light" panose="020B0304030504040204" pitchFamily="34" charset="-120"/>
              <a:ea typeface="宋体" panose="02010600030101010101" pitchFamily="2" charset="-122"/>
            </a:endParaRPr>
          </a:p>
          <a:p>
            <a:pPr marL="800100" lvl="1" indent="-342900">
              <a:lnSpc>
                <a:spcPct val="130000"/>
              </a:lnSpc>
              <a:buFont typeface="Wingdings" panose="05000000000000000000" charset="0"/>
              <a:buChar char="ü"/>
            </a:pPr>
            <a:r>
              <a:rPr lang="zh-CN" altLang="en-US" sz="2000" b="1" dirty="0">
                <a:solidFill>
                  <a:srgbClr val="282828"/>
                </a:solidFill>
                <a:latin typeface="Microsoft JhengHei Light" panose="020B0304030504040204" pitchFamily="34" charset="-120"/>
                <a:sym typeface="+mn-ea"/>
              </a:rPr>
              <a:t>Windows的任务管理器</a:t>
            </a:r>
            <a:endParaRPr lang="zh-CN" altLang="en-US" sz="2000" b="1" dirty="0">
              <a:solidFill>
                <a:srgbClr val="282828"/>
              </a:solidFill>
              <a:latin typeface="Microsoft JhengHei Light" panose="020B0304030504040204" pitchFamily="34" charset="-120"/>
              <a:ea typeface="宋体" panose="02010600030101010101" pitchFamily="2" charset="-122"/>
            </a:endParaRPr>
          </a:p>
          <a:p>
            <a:pPr marL="800100" lvl="1" indent="-342900">
              <a:lnSpc>
                <a:spcPct val="130000"/>
              </a:lnSpc>
              <a:buFont typeface="Wingdings" panose="05000000000000000000" charset="0"/>
              <a:buChar char="ü"/>
            </a:pPr>
            <a:r>
              <a:rPr lang="zh-CN" altLang="en-US" sz="2000" b="1" dirty="0">
                <a:solidFill>
                  <a:srgbClr val="282828"/>
                </a:solidFill>
                <a:latin typeface="Microsoft JhengHei Light" panose="020B0304030504040204" pitchFamily="34" charset="-120"/>
                <a:sym typeface="+mn-ea"/>
              </a:rPr>
              <a:t>windows的回收站</a:t>
            </a:r>
            <a:endParaRPr lang="zh-CN" altLang="en-US" sz="2000" b="1" dirty="0">
              <a:solidFill>
                <a:srgbClr val="282828"/>
              </a:solidFill>
              <a:latin typeface="Microsoft JhengHei Light" panose="020B0304030504040204" pitchFamily="34" charset="-120"/>
              <a:ea typeface="宋体" panose="02010600030101010101" pitchFamily="2" charset="-122"/>
            </a:endParaRPr>
          </a:p>
          <a:p>
            <a:pPr marL="800100" lvl="1" indent="-342900">
              <a:lnSpc>
                <a:spcPct val="130000"/>
              </a:lnSpc>
              <a:buFont typeface="Wingdings" panose="05000000000000000000" charset="0"/>
              <a:buChar char="ü"/>
            </a:pPr>
            <a:r>
              <a:rPr lang="en-US" altLang="zh-CN" sz="2000" b="1" dirty="0">
                <a:solidFill>
                  <a:srgbClr val="282828"/>
                </a:solidFill>
                <a:latin typeface="Microsoft JhengHei Light" panose="020B0304030504040204" pitchFamily="34" charset="-120"/>
                <a:sym typeface="+mn-ea"/>
              </a:rPr>
              <a:t>... ...</a:t>
            </a:r>
            <a:endParaRPr lang="zh-CN" altLang="en-US" sz="2000" b="1" dirty="0">
              <a:solidFill>
                <a:srgbClr val="28282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单例模式概述</a:t>
            </a:r>
            <a:endParaRPr lang="zh-CN" altLang="en-US" dirty="0"/>
          </a:p>
        </p:txBody>
      </p:sp>
      <p:sp>
        <p:nvSpPr>
          <p:cNvPr id="2"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什么时候用到单例模式？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6" name="Rectangle 4"/>
          <p:cNvSpPr>
            <a:spLocks noChangeArrowheads="1"/>
          </p:cNvSpPr>
          <p:nvPr>
            <p:custDataLst>
              <p:tags r:id="rId2"/>
            </p:custDataLst>
          </p:nvPr>
        </p:nvSpPr>
        <p:spPr bwMode="auto">
          <a:xfrm>
            <a:off x="685800" y="2208530"/>
            <a:ext cx="7125970" cy="1691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lvl="0" indent="-342900" algn="just">
              <a:lnSpc>
                <a:spcPct val="130000"/>
              </a:lnSpc>
              <a:buFont typeface="Wingdings" panose="05000000000000000000" charset="0"/>
              <a:buChar char="Ø"/>
            </a:pPr>
            <a:r>
              <a:rPr lang="zh-CN" altLang="en-US" sz="2000" b="1" dirty="0">
                <a:solidFill>
                  <a:schemeClr val="accent1">
                    <a:lumMod val="50000"/>
                  </a:schemeClr>
                </a:solidFill>
                <a:latin typeface="Microsoft JhengHei Light" panose="020B0304030504040204" pitchFamily="34" charset="-120"/>
                <a:sym typeface="+mn-ea"/>
              </a:rPr>
              <a:t>一个类的实例化代价很大，没必要在每个类中都实例化一个新的。</a:t>
            </a:r>
            <a:endParaRPr lang="zh-CN" altLang="en-US" sz="2000" b="1" dirty="0">
              <a:solidFill>
                <a:schemeClr val="accent1">
                  <a:lumMod val="50000"/>
                </a:schemeClr>
              </a:solidFill>
              <a:latin typeface="Microsoft JhengHei Light" panose="020B0304030504040204" pitchFamily="34" charset="-120"/>
              <a:ea typeface="宋体" panose="02010600030101010101" pitchFamily="2" charset="-122"/>
            </a:endParaRPr>
          </a:p>
          <a:p>
            <a:pPr marL="800100" lvl="1" indent="-342900" algn="l">
              <a:lnSpc>
                <a:spcPct val="130000"/>
              </a:lnSpc>
              <a:buFont typeface="Wingdings" panose="05000000000000000000" charset="0"/>
              <a:buChar char="ü"/>
            </a:pPr>
            <a:r>
              <a:rPr lang="en-US" altLang="zh-CN" sz="2000" b="1" dirty="0">
                <a:latin typeface="Times New Roman" panose="02020603050405020304" pitchFamily="18" charset="0"/>
                <a:cs typeface="Times New Roman" panose="02020603050405020304" pitchFamily="18" charset="0"/>
                <a:sym typeface="+mn-ea"/>
              </a:rPr>
              <a:t>在javaJDK中Calendar的实现本身就只能通过单</a:t>
            </a:r>
            <a:r>
              <a:rPr lang="zh-CN" altLang="en-US" sz="2000" b="1" dirty="0">
                <a:latin typeface="Times New Roman" panose="02020603050405020304" pitchFamily="18" charset="0"/>
                <a:cs typeface="Times New Roman" panose="02020603050405020304" pitchFamily="18" charset="0"/>
                <a:sym typeface="+mn-ea"/>
              </a:rPr>
              <a:t>例</a:t>
            </a:r>
            <a:r>
              <a:rPr lang="en-US" altLang="zh-CN" sz="2000" b="1" dirty="0">
                <a:latin typeface="Times New Roman" panose="02020603050405020304" pitchFamily="18" charset="0"/>
                <a:cs typeface="Times New Roman" panose="02020603050405020304" pitchFamily="18" charset="0"/>
                <a:sym typeface="+mn-ea"/>
              </a:rPr>
              <a:t>模式实现</a:t>
            </a:r>
            <a:endParaRPr lang="zh-CN" altLang="en-US" sz="2000" b="1" dirty="0">
              <a:solidFill>
                <a:srgbClr val="28282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单例模式概述</a:t>
            </a:r>
            <a:endParaRPr lang="zh-CN" altLang="en-US" dirty="0"/>
          </a:p>
        </p:txBody>
      </p:sp>
      <p:pic>
        <p:nvPicPr>
          <p:cNvPr id="3" name="图片 2"/>
          <p:cNvPicPr>
            <a:picLocks noChangeAspect="1"/>
          </p:cNvPicPr>
          <p:nvPr>
            <p:custDataLst>
              <p:tags r:id="rId1"/>
            </p:custDataLst>
          </p:nvPr>
        </p:nvPicPr>
        <p:blipFill>
          <a:blip r:embed="rId2"/>
          <a:stretch>
            <a:fillRect/>
          </a:stretch>
        </p:blipFill>
        <p:spPr>
          <a:xfrm>
            <a:off x="1196340" y="1447800"/>
            <a:ext cx="6271260" cy="466153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单例模式概述</a:t>
            </a:r>
            <a:endParaRPr lang="zh-CN" altLang="en-US" dirty="0"/>
          </a:p>
        </p:txBody>
      </p:sp>
      <p:sp>
        <p:nvSpPr>
          <p:cNvPr id="2"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什么时候用到单例模式？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6" name="Rectangle 4"/>
          <p:cNvSpPr>
            <a:spLocks noChangeArrowheads="1"/>
          </p:cNvSpPr>
          <p:nvPr>
            <p:custDataLst>
              <p:tags r:id="rId2"/>
            </p:custDataLst>
          </p:nvPr>
        </p:nvSpPr>
        <p:spPr bwMode="auto">
          <a:xfrm>
            <a:off x="685800" y="2208530"/>
            <a:ext cx="7125970" cy="1691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lvl="0" indent="-342900" algn="just">
              <a:lnSpc>
                <a:spcPct val="130000"/>
              </a:lnSpc>
              <a:buFont typeface="Wingdings" panose="05000000000000000000" charset="0"/>
              <a:buChar char="Ø"/>
            </a:pPr>
            <a:r>
              <a:rPr lang="zh-CN" altLang="en-US" sz="2000" b="1" dirty="0">
                <a:solidFill>
                  <a:schemeClr val="accent1">
                    <a:lumMod val="50000"/>
                  </a:schemeClr>
                </a:solidFill>
                <a:latin typeface="Microsoft JhengHei Light" panose="020B0304030504040204" pitchFamily="34" charset="-120"/>
                <a:sym typeface="+mn-ea"/>
              </a:rPr>
              <a:t>一个类的实例化代价很大，没必要在每个类中都实例化一个新的。</a:t>
            </a:r>
            <a:endParaRPr lang="zh-CN" altLang="en-US" sz="2000" b="1" dirty="0">
              <a:solidFill>
                <a:schemeClr val="accent1">
                  <a:lumMod val="50000"/>
                </a:schemeClr>
              </a:solidFill>
              <a:latin typeface="Microsoft JhengHei Light" panose="020B0304030504040204" pitchFamily="34" charset="-120"/>
              <a:ea typeface="宋体" panose="02010600030101010101" pitchFamily="2" charset="-122"/>
            </a:endParaRPr>
          </a:p>
          <a:p>
            <a:pPr marL="800100" lvl="1" indent="-342900" algn="l">
              <a:lnSpc>
                <a:spcPct val="130000"/>
              </a:lnSpc>
              <a:buFont typeface="Wingdings" panose="05000000000000000000" charset="0"/>
              <a:buChar char="ü"/>
            </a:pPr>
            <a:r>
              <a:rPr lang="en-US" altLang="zh-CN" sz="2000" b="1" dirty="0">
                <a:latin typeface="Times New Roman" panose="02020603050405020304" pitchFamily="18" charset="0"/>
                <a:cs typeface="Times New Roman" panose="02020603050405020304" pitchFamily="18" charset="0"/>
                <a:sym typeface="+mn-ea"/>
              </a:rPr>
              <a:t>在javaJDK中Calendar的实现本身就只能通过单</a:t>
            </a:r>
            <a:r>
              <a:rPr lang="zh-CN" altLang="en-US" sz="2000" b="1" dirty="0">
                <a:latin typeface="Times New Roman" panose="02020603050405020304" pitchFamily="18" charset="0"/>
                <a:cs typeface="Times New Roman" panose="02020603050405020304" pitchFamily="18" charset="0"/>
                <a:sym typeface="+mn-ea"/>
              </a:rPr>
              <a:t>例</a:t>
            </a:r>
            <a:r>
              <a:rPr lang="en-US" altLang="zh-CN" sz="2000" b="1" dirty="0">
                <a:latin typeface="Times New Roman" panose="02020603050405020304" pitchFamily="18" charset="0"/>
                <a:cs typeface="Times New Roman" panose="02020603050405020304" pitchFamily="18" charset="0"/>
                <a:sym typeface="+mn-ea"/>
              </a:rPr>
              <a:t>模式实现</a:t>
            </a:r>
            <a:endParaRPr lang="zh-CN" altLang="en-US" sz="2000" b="1" dirty="0">
              <a:solidFill>
                <a:srgbClr val="282828"/>
              </a:solidFill>
              <a:latin typeface="Times New Roman" panose="02020603050405020304" pitchFamily="18" charset="0"/>
              <a:cs typeface="Times New Roman" panose="02020603050405020304" pitchFamily="18" charset="0"/>
            </a:endParaRPr>
          </a:p>
        </p:txBody>
      </p:sp>
      <p:pic>
        <p:nvPicPr>
          <p:cNvPr id="3" name="图片 2"/>
          <p:cNvPicPr>
            <a:picLocks noChangeAspect="1"/>
          </p:cNvPicPr>
          <p:nvPr>
            <p:custDataLst>
              <p:tags r:id="rId3"/>
            </p:custDataLst>
          </p:nvPr>
        </p:nvPicPr>
        <p:blipFill>
          <a:blip r:embed="rId4"/>
          <a:stretch>
            <a:fillRect/>
          </a:stretch>
        </p:blipFill>
        <p:spPr>
          <a:xfrm>
            <a:off x="1524000" y="4114800"/>
            <a:ext cx="5210175" cy="16573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单例模式实现</a:t>
            </a:r>
            <a:endParaRPr lang="zh-CN" altLang="en-US" dirty="0"/>
          </a:p>
        </p:txBody>
      </p:sp>
      <p:sp>
        <p:nvSpPr>
          <p:cNvPr id="2"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a:t>
            </a:r>
            <a:r>
              <a:rPr lang="en-US" altLang="zh-CN" sz="2600" b="1" dirty="0">
                <a:solidFill>
                  <a:schemeClr val="tx1"/>
                </a:solidFill>
                <a:latin typeface="Times New Roman" panose="02020603050405020304" pitchFamily="18" charset="0"/>
                <a:ea typeface="宋体" panose="02010600030101010101" pitchFamily="2" charset="-122"/>
              </a:rPr>
              <a:t>1</a:t>
            </a:r>
            <a:r>
              <a:rPr lang="zh-CN" altLang="en-US" sz="2600" b="1" dirty="0">
                <a:solidFill>
                  <a:schemeClr val="tx1"/>
                </a:solidFill>
                <a:latin typeface="Times New Roman" panose="02020603050405020304" pitchFamily="18" charset="0"/>
                <a:ea typeface="宋体" panose="02010600030101010101" pitchFamily="2" charset="-122"/>
              </a:rPr>
              <a:t>）懒汉式，线程不安全</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5" name="图片 4"/>
          <p:cNvPicPr>
            <a:picLocks noChangeAspect="1"/>
          </p:cNvPicPr>
          <p:nvPr>
            <p:custDataLst>
              <p:tags r:id="rId2"/>
            </p:custDataLst>
          </p:nvPr>
        </p:nvPicPr>
        <p:blipFill>
          <a:blip r:embed="rId3"/>
          <a:stretch>
            <a:fillRect/>
          </a:stretch>
        </p:blipFill>
        <p:spPr>
          <a:xfrm>
            <a:off x="762000" y="2438400"/>
            <a:ext cx="4442460" cy="2893695"/>
          </a:xfrm>
          <a:prstGeom prst="rect">
            <a:avLst/>
          </a:prstGeom>
          <a:effectLst>
            <a:outerShdw blurRad="50800" dist="38100" algn="l" rotWithShape="0">
              <a:prstClr val="black">
                <a:alpha val="40000"/>
              </a:prstClr>
            </a:outerShdw>
          </a:effectLst>
        </p:spPr>
      </p:pic>
      <p:sp>
        <p:nvSpPr>
          <p:cNvPr id="8" name="文本框 7"/>
          <p:cNvSpPr txBox="1"/>
          <p:nvPr>
            <p:custDataLst>
              <p:tags r:id="rId4"/>
            </p:custDataLst>
          </p:nvPr>
        </p:nvSpPr>
        <p:spPr>
          <a:xfrm>
            <a:off x="5580380" y="2286000"/>
            <a:ext cx="2349500" cy="3415030"/>
          </a:xfrm>
          <a:prstGeom prst="rect">
            <a:avLst/>
          </a:prstGeom>
          <a:noFill/>
        </p:spPr>
        <p:txBody>
          <a:bodyPr wrap="square" rtlCol="0">
            <a:spAutoFit/>
          </a:bodyPr>
          <a:lstStyle/>
          <a:p>
            <a:pPr algn="just"/>
            <a:r>
              <a:rPr lang="zh-CN" altLang="en-US" b="1">
                <a:solidFill>
                  <a:srgbClr val="00B050"/>
                </a:solidFill>
              </a:rPr>
              <a:t>优点：</a:t>
            </a:r>
            <a:endParaRPr lang="zh-CN" altLang="en-US" b="1">
              <a:solidFill>
                <a:srgbClr val="00B050"/>
              </a:solidFill>
            </a:endParaRPr>
          </a:p>
          <a:p>
            <a:pPr algn="just"/>
            <a:r>
              <a:rPr lang="zh-CN" altLang="en-US" b="1">
                <a:solidFill>
                  <a:srgbClr val="00B050"/>
                </a:solidFill>
              </a:rPr>
              <a:t>延迟加载。避免内存浪费。</a:t>
            </a:r>
            <a:endParaRPr lang="zh-CN" altLang="en-US" b="1">
              <a:solidFill>
                <a:srgbClr val="00B050"/>
              </a:solidFill>
            </a:endParaRPr>
          </a:p>
          <a:p>
            <a:pPr algn="just"/>
            <a:endParaRPr lang="zh-CN" altLang="en-US"/>
          </a:p>
          <a:p>
            <a:pPr algn="just"/>
            <a:r>
              <a:rPr lang="zh-CN" altLang="en-US" b="1">
                <a:solidFill>
                  <a:srgbClr val="0070C0"/>
                </a:solidFill>
                <a:latin typeface="Times New Roman" panose="02020603050405020304" pitchFamily="18" charset="0"/>
                <a:cs typeface="Times New Roman" panose="02020603050405020304" pitchFamily="18" charset="0"/>
              </a:rPr>
              <a:t>缺陷：</a:t>
            </a:r>
            <a:endParaRPr lang="zh-CN" altLang="en-US" b="1">
              <a:solidFill>
                <a:srgbClr val="0070C0"/>
              </a:solidFill>
              <a:latin typeface="Times New Roman" panose="02020603050405020304" pitchFamily="18" charset="0"/>
              <a:cs typeface="Times New Roman" panose="02020603050405020304" pitchFamily="18" charset="0"/>
            </a:endParaRPr>
          </a:p>
          <a:p>
            <a:pPr algn="just"/>
            <a:r>
              <a:rPr lang="zh-CN" altLang="en-US" b="1">
                <a:solidFill>
                  <a:srgbClr val="0070C0"/>
                </a:solidFill>
                <a:latin typeface="Times New Roman" panose="02020603050405020304" pitchFamily="18" charset="0"/>
                <a:cs typeface="Times New Roman" panose="02020603050405020304" pitchFamily="18" charset="0"/>
              </a:rPr>
              <a:t>多线程不安全。如果存在多个线程同时访问getInstance()，由于没有锁机制，会导致实例化出现两个实例的情况。</a:t>
            </a:r>
            <a:endParaRPr lang="zh-CN" altLang="en-US" b="1">
              <a:solidFill>
                <a:srgbClr val="0070C0"/>
              </a:solidFill>
              <a:latin typeface="Times New Roman" panose="02020603050405020304" pitchFamily="18" charset="0"/>
              <a:cs typeface="Times New Roman" panose="02020603050405020304" pitchFamily="18" charset="0"/>
            </a:endParaRPr>
          </a:p>
          <a:p>
            <a:pPr algn="just"/>
            <a:endParaRPr lang="zh-CN" altLang="en-US" b="1">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单例模式实现</a:t>
            </a:r>
            <a:endParaRPr lang="zh-CN" altLang="en-US" dirty="0"/>
          </a:p>
        </p:txBody>
      </p:sp>
      <p:sp>
        <p:nvSpPr>
          <p:cNvPr id="2"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a:t>
            </a:r>
            <a:r>
              <a:rPr lang="en-US" altLang="zh-CN" sz="2600" b="1" dirty="0">
                <a:solidFill>
                  <a:schemeClr val="tx1"/>
                </a:solidFill>
                <a:latin typeface="Times New Roman" panose="02020603050405020304" pitchFamily="18" charset="0"/>
                <a:ea typeface="宋体" panose="02010600030101010101" pitchFamily="2" charset="-122"/>
              </a:rPr>
              <a:t>2</a:t>
            </a:r>
            <a:r>
              <a:rPr lang="zh-CN" altLang="en-US" sz="2600" b="1" dirty="0">
                <a:solidFill>
                  <a:schemeClr val="tx1"/>
                </a:solidFill>
                <a:latin typeface="Times New Roman" panose="02020603050405020304" pitchFamily="18" charset="0"/>
                <a:ea typeface="宋体" panose="02010600030101010101" pitchFamily="2" charset="-122"/>
              </a:rPr>
              <a:t>）懒汉式，线程安全</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3" name="文本框 2"/>
          <p:cNvSpPr txBox="1"/>
          <p:nvPr>
            <p:custDataLst>
              <p:tags r:id="rId2"/>
            </p:custDataLst>
          </p:nvPr>
        </p:nvSpPr>
        <p:spPr>
          <a:xfrm>
            <a:off x="6475730" y="2552700"/>
            <a:ext cx="1738630" cy="2629535"/>
          </a:xfrm>
          <a:prstGeom prst="rect">
            <a:avLst/>
          </a:prstGeom>
          <a:noFill/>
        </p:spPr>
        <p:txBody>
          <a:bodyPr wrap="square" rtlCol="0">
            <a:noAutofit/>
          </a:bodyPr>
          <a:lstStyle/>
          <a:p>
            <a:pPr algn="just"/>
            <a:r>
              <a:rPr lang="zh-CN" altLang="en-US" b="1">
                <a:solidFill>
                  <a:srgbClr val="00B050"/>
                </a:solidFill>
              </a:rPr>
              <a:t>优点：</a:t>
            </a:r>
            <a:endParaRPr lang="zh-CN" altLang="en-US" b="1">
              <a:solidFill>
                <a:srgbClr val="00B050"/>
              </a:solidFill>
            </a:endParaRPr>
          </a:p>
          <a:p>
            <a:pPr algn="just"/>
            <a:r>
              <a:rPr lang="zh-CN" altLang="en-US" b="1">
                <a:solidFill>
                  <a:srgbClr val="00B050"/>
                </a:solidFill>
              </a:rPr>
              <a:t>延迟加载。避免内存浪费。</a:t>
            </a:r>
            <a:endParaRPr lang="zh-CN" altLang="en-US"/>
          </a:p>
          <a:p>
            <a:pPr algn="just"/>
            <a:r>
              <a:rPr lang="zh-CN" altLang="en-US" b="1">
                <a:solidFill>
                  <a:srgbClr val="0070C0"/>
                </a:solidFill>
              </a:rPr>
              <a:t>缺陷：</a:t>
            </a:r>
            <a:endParaRPr lang="zh-CN" altLang="en-US" b="1">
              <a:solidFill>
                <a:srgbClr val="0070C0"/>
              </a:solidFill>
            </a:endParaRPr>
          </a:p>
          <a:p>
            <a:pPr algn="just"/>
            <a:r>
              <a:rPr lang="zh-CN" altLang="en-US" b="1">
                <a:solidFill>
                  <a:srgbClr val="0070C0"/>
                </a:solidFill>
              </a:rPr>
              <a:t>加锁导致性能较低，大部分时间并不需要同步。</a:t>
            </a:r>
            <a:endParaRPr lang="zh-CN" altLang="en-US" b="1">
              <a:solidFill>
                <a:srgbClr val="0070C0"/>
              </a:solidFill>
            </a:endParaRPr>
          </a:p>
        </p:txBody>
      </p:sp>
      <p:pic>
        <p:nvPicPr>
          <p:cNvPr id="4" name="图片 3"/>
          <p:cNvPicPr>
            <a:picLocks noChangeAspect="1"/>
          </p:cNvPicPr>
          <p:nvPr>
            <p:custDataLst>
              <p:tags r:id="rId3"/>
            </p:custDataLst>
          </p:nvPr>
        </p:nvPicPr>
        <p:blipFill>
          <a:blip r:embed="rId4"/>
          <a:stretch>
            <a:fillRect/>
          </a:stretch>
        </p:blipFill>
        <p:spPr>
          <a:xfrm>
            <a:off x="609600" y="2447925"/>
            <a:ext cx="5665470" cy="2581910"/>
          </a:xfrm>
          <a:prstGeom prst="rect">
            <a:avLst/>
          </a:prstGeom>
          <a:effectLst>
            <a:outerShdw blurRad="50800" dist="38100" dir="2700000" algn="tl" rotWithShape="0">
              <a:prstClr val="black">
                <a:alpha val="40000"/>
              </a:prstClr>
            </a:outerShdw>
          </a:effectLst>
        </p:spPr>
      </p:pic>
      <p:sp>
        <p:nvSpPr>
          <p:cNvPr id="6" name="矩形 5"/>
          <p:cNvSpPr/>
          <p:nvPr>
            <p:custDataLst>
              <p:tags r:id="rId5"/>
            </p:custDataLst>
          </p:nvPr>
        </p:nvSpPr>
        <p:spPr>
          <a:xfrm>
            <a:off x="2438400" y="3276600"/>
            <a:ext cx="1296035" cy="285750"/>
          </a:xfrm>
          <a:prstGeom prst="rect">
            <a:avLst/>
          </a:prstGeom>
          <a:noFill/>
          <a:ln w="28575">
            <a:solidFill>
              <a:srgbClr val="C0000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单例模式实现</a:t>
            </a:r>
            <a:endParaRPr lang="zh-CN" altLang="en-US" dirty="0"/>
          </a:p>
        </p:txBody>
      </p:sp>
      <p:sp>
        <p:nvSpPr>
          <p:cNvPr id="2"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a:t>
            </a:r>
            <a:r>
              <a:rPr lang="en-US" altLang="zh-CN" sz="2600" b="1" dirty="0">
                <a:solidFill>
                  <a:schemeClr val="tx1"/>
                </a:solidFill>
                <a:latin typeface="Times New Roman" panose="02020603050405020304" pitchFamily="18" charset="0"/>
                <a:ea typeface="宋体" panose="02010600030101010101" pitchFamily="2" charset="-122"/>
              </a:rPr>
              <a:t>3</a:t>
            </a:r>
            <a:r>
              <a:rPr lang="zh-CN" altLang="en-US" sz="2600" b="1" dirty="0">
                <a:solidFill>
                  <a:schemeClr val="tx1"/>
                </a:solidFill>
                <a:latin typeface="Times New Roman" panose="02020603050405020304" pitchFamily="18" charset="0"/>
                <a:ea typeface="宋体" panose="02010600030101010101" pitchFamily="2" charset="-122"/>
              </a:rPr>
              <a:t>）饿汉式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8" name="文本框 7"/>
          <p:cNvSpPr txBox="1"/>
          <p:nvPr>
            <p:custDataLst>
              <p:tags r:id="rId2"/>
            </p:custDataLst>
          </p:nvPr>
        </p:nvSpPr>
        <p:spPr>
          <a:xfrm>
            <a:off x="843280" y="4537075"/>
            <a:ext cx="6576695" cy="1518285"/>
          </a:xfrm>
          <a:prstGeom prst="rect">
            <a:avLst/>
          </a:prstGeom>
          <a:noFill/>
        </p:spPr>
        <p:txBody>
          <a:bodyPr wrap="square" rtlCol="0">
            <a:noAutofit/>
          </a:bodyPr>
          <a:lstStyle/>
          <a:p>
            <a:pPr algn="just"/>
            <a:r>
              <a:rPr lang="zh-CN" altLang="en-US" b="1">
                <a:solidFill>
                  <a:srgbClr val="00B050"/>
                </a:solidFill>
              </a:rPr>
              <a:t>优点：</a:t>
            </a:r>
            <a:endParaRPr lang="zh-CN" altLang="en-US" b="1">
              <a:solidFill>
                <a:srgbClr val="00B050"/>
              </a:solidFill>
            </a:endParaRPr>
          </a:p>
          <a:p>
            <a:pPr algn="just"/>
            <a:r>
              <a:rPr lang="zh-CN" altLang="en-US" b="1">
                <a:solidFill>
                  <a:srgbClr val="00B050"/>
                </a:solidFill>
              </a:rPr>
              <a:t>没有加锁，执行效率高。</a:t>
            </a:r>
            <a:endParaRPr lang="zh-CN" altLang="en-US" b="1">
              <a:solidFill>
                <a:srgbClr val="00B050"/>
              </a:solidFill>
            </a:endParaRPr>
          </a:p>
          <a:p>
            <a:pPr algn="just"/>
            <a:endParaRPr lang="zh-CN" altLang="en-US"/>
          </a:p>
          <a:p>
            <a:pPr algn="just"/>
            <a:r>
              <a:rPr lang="zh-CN" altLang="en-US" b="1">
                <a:solidFill>
                  <a:srgbClr val="0070C0"/>
                </a:solidFill>
              </a:rPr>
              <a:t>缺陷：</a:t>
            </a:r>
            <a:endParaRPr lang="zh-CN" altLang="en-US" b="1">
              <a:solidFill>
                <a:srgbClr val="0070C0"/>
              </a:solidFill>
            </a:endParaRPr>
          </a:p>
          <a:p>
            <a:pPr algn="just"/>
            <a:r>
              <a:rPr lang="zh-CN" altLang="en-US" b="1">
                <a:solidFill>
                  <a:srgbClr val="0070C0"/>
                </a:solidFill>
              </a:rPr>
              <a:t>类加载时就进行初始化，导致内存浪费。</a:t>
            </a:r>
            <a:endParaRPr lang="zh-CN" altLang="en-US" b="1">
              <a:solidFill>
                <a:srgbClr val="0070C0"/>
              </a:solidFill>
            </a:endParaRPr>
          </a:p>
        </p:txBody>
      </p:sp>
      <p:pic>
        <p:nvPicPr>
          <p:cNvPr id="5" name="图片 4"/>
          <p:cNvPicPr>
            <a:picLocks noChangeAspect="1"/>
          </p:cNvPicPr>
          <p:nvPr>
            <p:custDataLst>
              <p:tags r:id="rId3"/>
            </p:custDataLst>
          </p:nvPr>
        </p:nvPicPr>
        <p:blipFill>
          <a:blip r:embed="rId4"/>
          <a:stretch>
            <a:fillRect/>
          </a:stretch>
        </p:blipFill>
        <p:spPr>
          <a:xfrm>
            <a:off x="838200" y="2155825"/>
            <a:ext cx="6677660" cy="2143125"/>
          </a:xfrm>
          <a:prstGeom prst="rect">
            <a:avLst/>
          </a:prstGeom>
          <a:effectLst>
            <a:outerShdw blurRad="50800" dist="38100" dir="2700000" algn="tl" rotWithShape="0">
              <a:prstClr val="black">
                <a:alpha val="40000"/>
              </a:prstClr>
            </a:outerShdw>
          </a:effectLst>
        </p:spPr>
      </p:pic>
      <p:cxnSp>
        <p:nvCxnSpPr>
          <p:cNvPr id="9" name="直接连接符 8"/>
          <p:cNvCxnSpPr/>
          <p:nvPr>
            <p:custDataLst>
              <p:tags r:id="rId5"/>
            </p:custDataLst>
          </p:nvPr>
        </p:nvCxnSpPr>
        <p:spPr>
          <a:xfrm>
            <a:off x="1381125" y="2828925"/>
            <a:ext cx="59817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单例模式实现</a:t>
            </a:r>
            <a:endParaRPr lang="zh-CN" altLang="en-US" dirty="0"/>
          </a:p>
        </p:txBody>
      </p:sp>
      <p:sp>
        <p:nvSpPr>
          <p:cNvPr id="2" name="标题 1"/>
          <p:cNvSpPr txBox="1"/>
          <p:nvPr>
            <p:custDataLst>
              <p:tags r:id="rId1"/>
            </p:custDataLst>
          </p:nvPr>
        </p:nvSpPr>
        <p:spPr>
          <a:xfrm>
            <a:off x="569595" y="1478915"/>
            <a:ext cx="7272020" cy="3937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a:t>
            </a:r>
            <a:r>
              <a:rPr lang="en-US" altLang="zh-CN" sz="2600" b="1" dirty="0">
                <a:solidFill>
                  <a:schemeClr val="tx1"/>
                </a:solidFill>
                <a:latin typeface="Times New Roman" panose="02020603050405020304" pitchFamily="18" charset="0"/>
                <a:ea typeface="宋体" panose="02010600030101010101" pitchFamily="2" charset="-122"/>
              </a:rPr>
              <a:t>4</a:t>
            </a:r>
            <a:r>
              <a:rPr lang="zh-CN" altLang="en-US" sz="2600" b="1" dirty="0">
                <a:solidFill>
                  <a:schemeClr val="tx1"/>
                </a:solidFill>
                <a:latin typeface="Times New Roman" panose="02020603050405020304" pitchFamily="18" charset="0"/>
                <a:ea typeface="宋体" panose="02010600030101010101" pitchFamily="2" charset="-122"/>
              </a:rPr>
              <a:t>）双检锁式(Double-checked Locking, DCL)</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3" name="文本框 2"/>
          <p:cNvSpPr txBox="1"/>
          <p:nvPr>
            <p:custDataLst>
              <p:tags r:id="rId2"/>
            </p:custDataLst>
          </p:nvPr>
        </p:nvSpPr>
        <p:spPr>
          <a:xfrm>
            <a:off x="6392545" y="2875915"/>
            <a:ext cx="1662430" cy="2956560"/>
          </a:xfrm>
          <a:prstGeom prst="rect">
            <a:avLst/>
          </a:prstGeom>
          <a:noFill/>
        </p:spPr>
        <p:txBody>
          <a:bodyPr wrap="square" rtlCol="0">
            <a:noAutofit/>
          </a:bodyPr>
          <a:lstStyle/>
          <a:p>
            <a:pPr algn="l"/>
            <a:r>
              <a:rPr lang="zh-CN" altLang="en-US" b="1">
                <a:solidFill>
                  <a:srgbClr val="00B050"/>
                </a:solidFill>
              </a:rPr>
              <a:t>优点：</a:t>
            </a:r>
            <a:endParaRPr lang="zh-CN" altLang="en-US" b="1">
              <a:solidFill>
                <a:srgbClr val="00B050"/>
              </a:solidFill>
            </a:endParaRPr>
          </a:p>
          <a:p>
            <a:pPr algn="l"/>
            <a:r>
              <a:rPr lang="zh-CN" altLang="en-US" b="1">
                <a:solidFill>
                  <a:srgbClr val="00B050"/>
                </a:solidFill>
              </a:rPr>
              <a:t>实现延迟加载支持线程并发</a:t>
            </a:r>
            <a:endParaRPr lang="zh-CN" altLang="en-US" b="1">
              <a:solidFill>
                <a:srgbClr val="00B050"/>
              </a:solidFill>
            </a:endParaRPr>
          </a:p>
          <a:p>
            <a:pPr algn="l"/>
            <a:r>
              <a:rPr lang="zh-CN" altLang="en-US" b="1">
                <a:solidFill>
                  <a:srgbClr val="00B050"/>
                </a:solidFill>
              </a:rPr>
              <a:t>提高执行效率</a:t>
            </a:r>
            <a:endParaRPr lang="zh-CN" altLang="en-US" b="1">
              <a:solidFill>
                <a:srgbClr val="00B050"/>
              </a:solidFill>
            </a:endParaRPr>
          </a:p>
          <a:p>
            <a:pPr algn="l"/>
            <a:endParaRPr lang="zh-CN" altLang="en-US" b="1">
              <a:solidFill>
                <a:schemeClr val="accent1">
                  <a:lumMod val="75000"/>
                </a:schemeClr>
              </a:solidFill>
            </a:endParaRPr>
          </a:p>
          <a:p>
            <a:pPr algn="l"/>
            <a:r>
              <a:rPr lang="zh-CN" altLang="en-US" b="1">
                <a:solidFill>
                  <a:srgbClr val="0070C0"/>
                </a:solidFill>
                <a:sym typeface="+mn-ea"/>
              </a:rPr>
              <a:t>缺陷：</a:t>
            </a:r>
            <a:endParaRPr lang="zh-CN" altLang="en-US" b="1">
              <a:solidFill>
                <a:srgbClr val="0070C0"/>
              </a:solidFill>
            </a:endParaRPr>
          </a:p>
          <a:p>
            <a:pPr algn="l"/>
            <a:r>
              <a:rPr lang="zh-CN" altLang="en-US" b="1">
                <a:solidFill>
                  <a:srgbClr val="0070C0"/>
                </a:solidFill>
              </a:rPr>
              <a:t>实现较为复杂</a:t>
            </a:r>
            <a:endParaRPr lang="zh-CN" altLang="en-US" b="1">
              <a:solidFill>
                <a:srgbClr val="0070C0"/>
              </a:solidFill>
            </a:endParaRPr>
          </a:p>
          <a:p>
            <a:pPr algn="l"/>
            <a:endParaRPr lang="zh-CN" altLang="en-US" b="1">
              <a:solidFill>
                <a:schemeClr val="accent1">
                  <a:lumMod val="75000"/>
                </a:schemeClr>
              </a:solidFill>
            </a:endParaRPr>
          </a:p>
          <a:p>
            <a:pPr algn="l"/>
            <a:endParaRPr lang="zh-CN" altLang="en-US" b="1">
              <a:solidFill>
                <a:schemeClr val="accent1">
                  <a:lumMod val="75000"/>
                </a:schemeClr>
              </a:solidFill>
            </a:endParaRPr>
          </a:p>
        </p:txBody>
      </p:sp>
      <p:pic>
        <p:nvPicPr>
          <p:cNvPr id="4" name="图片 3"/>
          <p:cNvPicPr>
            <a:picLocks noChangeAspect="1"/>
          </p:cNvPicPr>
          <p:nvPr>
            <p:custDataLst>
              <p:tags r:id="rId3"/>
            </p:custDataLst>
          </p:nvPr>
        </p:nvPicPr>
        <p:blipFill>
          <a:blip r:embed="rId4"/>
          <a:stretch>
            <a:fillRect/>
          </a:stretch>
        </p:blipFill>
        <p:spPr>
          <a:xfrm>
            <a:off x="963930" y="2057400"/>
            <a:ext cx="5295900" cy="3832860"/>
          </a:xfrm>
          <a:prstGeom prst="rect">
            <a:avLst/>
          </a:prstGeom>
          <a:effectLst>
            <a:outerShdw blurRad="50800" dist="38100" algn="l" rotWithShape="0">
              <a:prstClr val="black">
                <a:alpha val="40000"/>
              </a:prstClr>
            </a:outerShdw>
          </a:effectLst>
        </p:spPr>
      </p:pic>
      <p:sp>
        <p:nvSpPr>
          <p:cNvPr id="10" name="矩形 9"/>
          <p:cNvSpPr/>
          <p:nvPr>
            <p:custDataLst>
              <p:tags r:id="rId5"/>
            </p:custDataLst>
          </p:nvPr>
        </p:nvSpPr>
        <p:spPr>
          <a:xfrm>
            <a:off x="1838960" y="3400425"/>
            <a:ext cx="1409700" cy="285750"/>
          </a:xfrm>
          <a:prstGeom prst="rect">
            <a:avLst/>
          </a:prstGeom>
          <a:noFill/>
          <a:ln w="28575">
            <a:solidFill>
              <a:srgbClr val="C0000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custDataLst>
              <p:tags r:id="rId6"/>
            </p:custDataLst>
          </p:nvPr>
        </p:nvSpPr>
        <p:spPr>
          <a:xfrm>
            <a:off x="2242185" y="2317750"/>
            <a:ext cx="1006475" cy="285750"/>
          </a:xfrm>
          <a:prstGeom prst="rect">
            <a:avLst/>
          </a:prstGeom>
          <a:noFill/>
          <a:ln w="28575">
            <a:solidFill>
              <a:srgbClr val="C0000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单例模式实现</a:t>
            </a:r>
            <a:endParaRPr lang="zh-CN" altLang="en-US" dirty="0"/>
          </a:p>
        </p:txBody>
      </p:sp>
      <p:sp>
        <p:nvSpPr>
          <p:cNvPr id="2" name="标题 1"/>
          <p:cNvSpPr txBox="1"/>
          <p:nvPr>
            <p:custDataLst>
              <p:tags r:id="rId1"/>
            </p:custDataLst>
          </p:nvPr>
        </p:nvSpPr>
        <p:spPr>
          <a:xfrm>
            <a:off x="569595" y="1478915"/>
            <a:ext cx="7272020" cy="3937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a:t>
            </a:r>
            <a:r>
              <a:rPr lang="en-US" altLang="zh-CN" sz="2600" b="1" dirty="0">
                <a:solidFill>
                  <a:schemeClr val="tx1"/>
                </a:solidFill>
                <a:latin typeface="Times New Roman" panose="02020603050405020304" pitchFamily="18" charset="0"/>
                <a:ea typeface="宋体" panose="02010600030101010101" pitchFamily="2" charset="-122"/>
              </a:rPr>
              <a:t>5</a:t>
            </a:r>
            <a:r>
              <a:rPr lang="zh-CN" altLang="en-US" sz="2600" b="1" dirty="0">
                <a:solidFill>
                  <a:schemeClr val="tx1"/>
                </a:solidFill>
                <a:latin typeface="Times New Roman" panose="02020603050405020304" pitchFamily="18" charset="0"/>
                <a:ea typeface="宋体" panose="02010600030101010101" pitchFamily="2" charset="-122"/>
              </a:rPr>
              <a:t>）登记式/静态内部类</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8" name="文本框 7"/>
          <p:cNvSpPr txBox="1"/>
          <p:nvPr>
            <p:custDataLst>
              <p:tags r:id="rId2"/>
            </p:custDataLst>
          </p:nvPr>
        </p:nvSpPr>
        <p:spPr>
          <a:xfrm>
            <a:off x="1127760" y="4683125"/>
            <a:ext cx="6711315" cy="1237615"/>
          </a:xfrm>
          <a:prstGeom prst="rect">
            <a:avLst/>
          </a:prstGeom>
          <a:noFill/>
        </p:spPr>
        <p:txBody>
          <a:bodyPr wrap="square" rtlCol="0">
            <a:noAutofit/>
          </a:bodyPr>
          <a:lstStyle/>
          <a:p>
            <a:pPr algn="l"/>
            <a:r>
              <a:rPr lang="zh-CN" altLang="en-US" b="1">
                <a:solidFill>
                  <a:srgbClr val="00B050"/>
                </a:solidFill>
              </a:rPr>
              <a:t>优点：</a:t>
            </a:r>
            <a:endParaRPr lang="zh-CN" altLang="en-US" b="1">
              <a:solidFill>
                <a:srgbClr val="00B050"/>
              </a:solidFill>
            </a:endParaRPr>
          </a:p>
          <a:p>
            <a:pPr algn="l"/>
            <a:r>
              <a:rPr lang="zh-CN" altLang="en-US" b="1">
                <a:solidFill>
                  <a:srgbClr val="00B050"/>
                </a:solidFill>
              </a:rPr>
              <a:t>同时保证延迟加载和线程安全</a:t>
            </a:r>
            <a:endParaRPr lang="zh-CN" altLang="en-US" b="1">
              <a:solidFill>
                <a:srgbClr val="00B050"/>
              </a:solidFill>
            </a:endParaRPr>
          </a:p>
          <a:p>
            <a:pPr algn="l"/>
            <a:r>
              <a:rPr lang="zh-CN" altLang="en-US" b="1">
                <a:solidFill>
                  <a:srgbClr val="0070C0"/>
                </a:solidFill>
                <a:sym typeface="+mn-ea"/>
              </a:rPr>
              <a:t>缺陷：</a:t>
            </a:r>
            <a:endParaRPr lang="zh-CN" altLang="en-US" b="1">
              <a:solidFill>
                <a:srgbClr val="0070C0"/>
              </a:solidFill>
            </a:endParaRPr>
          </a:p>
          <a:p>
            <a:pPr algn="l"/>
            <a:r>
              <a:rPr lang="zh-CN" altLang="en-US" b="1">
                <a:solidFill>
                  <a:srgbClr val="0070C0"/>
                </a:solidFill>
              </a:rPr>
              <a:t>可能存在反射攻击或者反序列化攻击</a:t>
            </a:r>
            <a:endParaRPr lang="zh-CN" altLang="en-US" b="1">
              <a:solidFill>
                <a:srgbClr val="0070C0"/>
              </a:solidFill>
            </a:endParaRPr>
          </a:p>
        </p:txBody>
      </p:sp>
      <p:pic>
        <p:nvPicPr>
          <p:cNvPr id="5" name="图片 4"/>
          <p:cNvPicPr>
            <a:picLocks noChangeAspect="1"/>
          </p:cNvPicPr>
          <p:nvPr>
            <p:custDataLst>
              <p:tags r:id="rId3"/>
            </p:custDataLst>
          </p:nvPr>
        </p:nvPicPr>
        <p:blipFill>
          <a:blip r:embed="rId4"/>
          <a:stretch>
            <a:fillRect/>
          </a:stretch>
        </p:blipFill>
        <p:spPr>
          <a:xfrm>
            <a:off x="1128395" y="2042795"/>
            <a:ext cx="6617970" cy="244157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单例模式实现</a:t>
            </a:r>
            <a:endParaRPr lang="zh-CN" altLang="en-US" dirty="0"/>
          </a:p>
        </p:txBody>
      </p:sp>
      <p:sp>
        <p:nvSpPr>
          <p:cNvPr id="2" name="标题 1"/>
          <p:cNvSpPr txBox="1"/>
          <p:nvPr>
            <p:custDataLst>
              <p:tags r:id="rId1"/>
            </p:custDataLst>
          </p:nvPr>
        </p:nvSpPr>
        <p:spPr>
          <a:xfrm>
            <a:off x="569595" y="1478915"/>
            <a:ext cx="7272020" cy="3937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a:t>
            </a:r>
            <a:r>
              <a:rPr lang="en-US" altLang="zh-CN" sz="2600" b="1" dirty="0">
                <a:solidFill>
                  <a:schemeClr val="tx1"/>
                </a:solidFill>
                <a:latin typeface="Times New Roman" panose="02020603050405020304" pitchFamily="18" charset="0"/>
                <a:ea typeface="宋体" panose="02010600030101010101" pitchFamily="2" charset="-122"/>
              </a:rPr>
              <a:t>6</a:t>
            </a:r>
            <a:r>
              <a:rPr lang="zh-CN" altLang="en-US" sz="2600" b="1" dirty="0">
                <a:solidFill>
                  <a:schemeClr val="tx1"/>
                </a:solidFill>
                <a:latin typeface="Times New Roman" panose="02020603050405020304" pitchFamily="18" charset="0"/>
                <a:ea typeface="宋体" panose="02010600030101010101" pitchFamily="2" charset="-122"/>
              </a:rPr>
              <a:t>）枚举</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3" name="图片 2"/>
          <p:cNvPicPr>
            <a:picLocks noChangeAspect="1"/>
          </p:cNvPicPr>
          <p:nvPr>
            <p:custDataLst>
              <p:tags r:id="rId2"/>
            </p:custDataLst>
          </p:nvPr>
        </p:nvPicPr>
        <p:blipFill>
          <a:blip r:embed="rId3"/>
          <a:stretch>
            <a:fillRect/>
          </a:stretch>
        </p:blipFill>
        <p:spPr>
          <a:xfrm>
            <a:off x="3221355" y="4083685"/>
            <a:ext cx="4905375" cy="2070100"/>
          </a:xfrm>
          <a:prstGeom prst="rect">
            <a:avLst/>
          </a:prstGeom>
        </p:spPr>
      </p:pic>
      <p:sp>
        <p:nvSpPr>
          <p:cNvPr id="4" name="文本框 3"/>
          <p:cNvSpPr txBox="1"/>
          <p:nvPr>
            <p:custDataLst>
              <p:tags r:id="rId4"/>
            </p:custDataLst>
          </p:nvPr>
        </p:nvSpPr>
        <p:spPr>
          <a:xfrm>
            <a:off x="5680075" y="2188210"/>
            <a:ext cx="2227580" cy="1638935"/>
          </a:xfrm>
          <a:prstGeom prst="rect">
            <a:avLst/>
          </a:prstGeom>
          <a:noFill/>
        </p:spPr>
        <p:txBody>
          <a:bodyPr wrap="square" rtlCol="0">
            <a:noAutofit/>
          </a:bodyPr>
          <a:lstStyle/>
          <a:p>
            <a:pPr algn="l"/>
            <a:r>
              <a:rPr lang="zh-CN" altLang="en-US" b="1">
                <a:solidFill>
                  <a:srgbClr val="00B050"/>
                </a:solidFill>
              </a:rPr>
              <a:t>优点：</a:t>
            </a:r>
            <a:endParaRPr lang="zh-CN" altLang="en-US" b="1">
              <a:solidFill>
                <a:srgbClr val="00B050"/>
              </a:solidFill>
            </a:endParaRPr>
          </a:p>
          <a:p>
            <a:pPr algn="just"/>
            <a:r>
              <a:rPr lang="zh-CN" altLang="en-US" b="1">
                <a:solidFill>
                  <a:srgbClr val="00B050"/>
                </a:solidFill>
              </a:rPr>
              <a:t>简洁，是最安全的单例，不可被反射破坏。非常高效</a:t>
            </a:r>
            <a:endParaRPr lang="zh-CN" altLang="en-US" b="1">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6" name="图片 5"/>
          <p:cNvPicPr>
            <a:picLocks noChangeAspect="1"/>
          </p:cNvPicPr>
          <p:nvPr>
            <p:custDataLst>
              <p:tags r:id="rId5"/>
            </p:custDataLst>
          </p:nvPr>
        </p:nvPicPr>
        <p:blipFill>
          <a:blip r:embed="rId6"/>
          <a:stretch>
            <a:fillRect/>
          </a:stretch>
        </p:blipFill>
        <p:spPr>
          <a:xfrm>
            <a:off x="1099185" y="2135505"/>
            <a:ext cx="4402455" cy="1678940"/>
          </a:xfrm>
          <a:prstGeom prst="rect">
            <a:avLst/>
          </a:prstGeom>
          <a:effectLst>
            <a:outerShdw blurRad="50800" dist="38100" algn="l" rotWithShape="0">
              <a:prstClr val="black">
                <a:alpha val="40000"/>
              </a:prst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单例模式实现</a:t>
            </a:r>
            <a:endParaRPr lang="zh-CN" altLang="en-US" dirty="0"/>
          </a:p>
        </p:txBody>
      </p:sp>
      <p:sp>
        <p:nvSpPr>
          <p:cNvPr id="2" name="标题 1"/>
          <p:cNvSpPr txBox="1"/>
          <p:nvPr>
            <p:custDataLst>
              <p:tags r:id="rId1"/>
            </p:custDataLst>
          </p:nvPr>
        </p:nvSpPr>
        <p:spPr>
          <a:xfrm>
            <a:off x="569595" y="1478915"/>
            <a:ext cx="7272020" cy="3937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sz="2600" b="1" dirty="0">
                <a:solidFill>
                  <a:schemeClr val="tx1"/>
                </a:solidFill>
                <a:latin typeface="Times New Roman" panose="02020603050405020304" pitchFamily="18" charset="0"/>
                <a:ea typeface="宋体" panose="02010600030101010101" pitchFamily="2" charset="-122"/>
              </a:rPr>
              <a:t>结论</a:t>
            </a:r>
            <a:endParaRPr lang="zh-CN" sz="2600" b="1" dirty="0">
              <a:solidFill>
                <a:schemeClr val="tx1"/>
              </a:solidFill>
              <a:latin typeface="Times New Roman" panose="02020603050405020304" pitchFamily="18" charset="0"/>
              <a:ea typeface="宋体" panose="02010600030101010101" pitchFamily="2" charset="-122"/>
            </a:endParaRPr>
          </a:p>
        </p:txBody>
      </p:sp>
      <p:sp>
        <p:nvSpPr>
          <p:cNvPr id="5" name="文本框 4"/>
          <p:cNvSpPr txBox="1"/>
          <p:nvPr/>
        </p:nvSpPr>
        <p:spPr>
          <a:xfrm>
            <a:off x="1058545" y="1998345"/>
            <a:ext cx="6942455" cy="2584450"/>
          </a:xfrm>
          <a:prstGeom prst="rect">
            <a:avLst/>
          </a:prstGeom>
          <a:noFill/>
        </p:spPr>
        <p:txBody>
          <a:bodyPr wrap="square" rtlCol="0" anchor="t">
            <a:spAutoFit/>
          </a:bodyPr>
          <a:lstStyle/>
          <a:p>
            <a:endParaRPr lang="zh-CN" altLang="en-US" dirty="0"/>
          </a:p>
          <a:p>
            <a:pPr marL="285750" indent="-285750">
              <a:lnSpc>
                <a:spcPct val="200000"/>
              </a:lnSpc>
              <a:buFont typeface="Wingdings" panose="05000000000000000000" charset="0"/>
              <a:buChar char="n"/>
            </a:pPr>
            <a:r>
              <a:rPr lang="zh-CN" altLang="en-US" dirty="0"/>
              <a:t>​单例模式的实现方法中饿汉式可用，但是存在性能问题；</a:t>
            </a:r>
            <a:endParaRPr lang="zh-CN" altLang="en-US" dirty="0"/>
          </a:p>
          <a:p>
            <a:pPr marL="285750" indent="-285750">
              <a:lnSpc>
                <a:spcPct val="200000"/>
              </a:lnSpc>
              <a:buFont typeface="Wingdings" panose="05000000000000000000" charset="0"/>
              <a:buChar char="n"/>
            </a:pPr>
            <a:r>
              <a:rPr lang="zh-CN" altLang="en-US" dirty="0"/>
              <a:t>懒汉式方法不推荐，存在线程安全问题，加同步锁方法的方式解决了线程的问题，但是性能极差；</a:t>
            </a:r>
            <a:endParaRPr lang="zh-CN" altLang="en-US" dirty="0"/>
          </a:p>
          <a:p>
            <a:pPr marL="285750" indent="-285750">
              <a:lnSpc>
                <a:spcPct val="200000"/>
              </a:lnSpc>
              <a:buFont typeface="Wingdings" panose="05000000000000000000" charset="0"/>
              <a:buChar char="n"/>
            </a:pPr>
            <a:r>
              <a:rPr lang="zh-CN" altLang="en-US" dirty="0"/>
              <a:t>最后三种单例模式（双检锁式</a:t>
            </a:r>
            <a:r>
              <a:rPr lang="en-US" altLang="zh-CN" dirty="0"/>
              <a:t>/</a:t>
            </a:r>
            <a:r>
              <a:rPr lang="zh-CN" altLang="en-US" dirty="0"/>
              <a:t>静态内部类</a:t>
            </a:r>
            <a:r>
              <a:rPr lang="en-US" altLang="zh-CN" dirty="0"/>
              <a:t>/</a:t>
            </a:r>
            <a:r>
              <a:rPr lang="zh-CN" altLang="en-US" dirty="0"/>
              <a:t>枚举）值得推荐</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单例模式总结</a:t>
            </a:r>
            <a:endParaRPr lang="zh-CN" altLang="en-US" dirty="0"/>
          </a:p>
        </p:txBody>
      </p:sp>
      <p:sp>
        <p:nvSpPr>
          <p:cNvPr id="48" name="Rectangle 4"/>
          <p:cNvSpPr>
            <a:spLocks noChangeArrowheads="1"/>
          </p:cNvSpPr>
          <p:nvPr>
            <p:custDataLst>
              <p:tags r:id="rId1"/>
            </p:custDataLst>
          </p:nvPr>
        </p:nvSpPr>
        <p:spPr bwMode="auto">
          <a:xfrm>
            <a:off x="838369" y="1940407"/>
            <a:ext cx="6412281" cy="409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0" algn="just">
              <a:lnSpc>
                <a:spcPct val="130000"/>
              </a:lnSpc>
              <a:buFont typeface="Arial" panose="020B0604020202020204" pitchFamily="34" charset="0"/>
              <a:buNone/>
            </a:pPr>
            <a:r>
              <a:rPr lang="en-US" altLang="zh-CN" sz="2000" b="1" dirty="0">
                <a:solidFill>
                  <a:srgbClr val="00B050"/>
                </a:solidFill>
                <a:latin typeface="宋体" panose="02010600030101010101" pitchFamily="2" charset="-122"/>
              </a:rPr>
              <a:t>优点：</a:t>
            </a:r>
            <a:endParaRPr lang="en-US" altLang="zh-CN" sz="2000" b="1" dirty="0">
              <a:solidFill>
                <a:srgbClr val="00B050"/>
              </a:solidFill>
              <a:latin typeface="宋体" panose="02010600030101010101" pitchFamily="2" charset="-122"/>
            </a:endParaRPr>
          </a:p>
          <a:p>
            <a:pPr marL="342900" indent="-342900" algn="just">
              <a:lnSpc>
                <a:spcPct val="130000"/>
              </a:lnSpc>
              <a:buFont typeface="Arial" panose="020B0604020202020204" pitchFamily="34" charset="0"/>
              <a:buChar char="•"/>
            </a:pPr>
            <a:r>
              <a:rPr lang="en-US" altLang="zh-CN" sz="2000" b="1" dirty="0">
                <a:latin typeface="宋体" panose="02010600030101010101" pitchFamily="2" charset="-122"/>
              </a:rPr>
              <a:t>提供了对唯一实例的受控访问</a:t>
            </a:r>
            <a:endParaRPr lang="en-US" altLang="zh-CN" sz="2000" b="1" dirty="0">
              <a:latin typeface="宋体" panose="02010600030101010101" pitchFamily="2" charset="-122"/>
            </a:endParaRPr>
          </a:p>
          <a:p>
            <a:pPr marL="342900" indent="-342900" algn="just">
              <a:lnSpc>
                <a:spcPct val="130000"/>
              </a:lnSpc>
              <a:buFont typeface="Arial" panose="020B0604020202020204" pitchFamily="34" charset="0"/>
              <a:buChar char="•"/>
            </a:pPr>
            <a:r>
              <a:rPr lang="en-US" altLang="zh-CN" sz="2000" b="1" dirty="0">
                <a:latin typeface="宋体" panose="02010600030101010101" pitchFamily="2" charset="-122"/>
              </a:rPr>
              <a:t>可以节约系统资源，提高系统的性能</a:t>
            </a:r>
            <a:endParaRPr lang="en-US" altLang="zh-CN" sz="2000" b="1" dirty="0">
              <a:latin typeface="宋体" panose="02010600030101010101" pitchFamily="2" charset="-122"/>
            </a:endParaRPr>
          </a:p>
          <a:p>
            <a:pPr marL="342900" indent="-342900" algn="just">
              <a:lnSpc>
                <a:spcPct val="130000"/>
              </a:lnSpc>
              <a:buFont typeface="Arial" panose="020B0604020202020204" pitchFamily="34" charset="0"/>
              <a:buChar char="•"/>
            </a:pPr>
            <a:r>
              <a:rPr lang="en-US" altLang="zh-CN" sz="2000" b="1" dirty="0">
                <a:latin typeface="宋体" panose="02010600030101010101" pitchFamily="2" charset="-122"/>
              </a:rPr>
              <a:t>允许可变数目的实例（多例类）</a:t>
            </a:r>
            <a:endParaRPr lang="en-US" altLang="zh-CN" sz="2000" b="1" dirty="0">
              <a:latin typeface="宋体" panose="02010600030101010101" pitchFamily="2" charset="-122"/>
            </a:endParaRPr>
          </a:p>
          <a:p>
            <a:pPr marL="342900" indent="-342900" algn="just">
              <a:lnSpc>
                <a:spcPct val="130000"/>
              </a:lnSpc>
              <a:buFont typeface="Arial" panose="020B0604020202020204" pitchFamily="34" charset="0"/>
              <a:buChar char="•"/>
            </a:pPr>
            <a:endParaRPr lang="en-US" altLang="zh-CN" sz="2000" b="1" dirty="0">
              <a:latin typeface="宋体" panose="02010600030101010101" pitchFamily="2" charset="-122"/>
            </a:endParaRPr>
          </a:p>
          <a:p>
            <a:pPr indent="0" algn="just">
              <a:lnSpc>
                <a:spcPct val="130000"/>
              </a:lnSpc>
              <a:buFont typeface="Arial" panose="020B0604020202020204" pitchFamily="34" charset="0"/>
              <a:buNone/>
            </a:pPr>
            <a:r>
              <a:rPr lang="en-US" altLang="zh-CN" sz="2000" b="1" dirty="0">
                <a:solidFill>
                  <a:srgbClr val="0070C0"/>
                </a:solidFill>
                <a:latin typeface="宋体" panose="02010600030101010101" pitchFamily="2" charset="-122"/>
              </a:rPr>
              <a:t>缺点：</a:t>
            </a:r>
            <a:endParaRPr lang="en-US" altLang="zh-CN" sz="2000" b="1" dirty="0">
              <a:solidFill>
                <a:srgbClr val="0070C0"/>
              </a:solidFill>
              <a:latin typeface="宋体" panose="02010600030101010101" pitchFamily="2" charset="-122"/>
            </a:endParaRPr>
          </a:p>
          <a:p>
            <a:pPr marL="342900" indent="-342900" algn="just">
              <a:lnSpc>
                <a:spcPct val="130000"/>
              </a:lnSpc>
              <a:buFont typeface="Arial" panose="020B0604020202020204" pitchFamily="34" charset="0"/>
              <a:buChar char="•"/>
            </a:pPr>
            <a:r>
              <a:rPr lang="en-US" altLang="zh-CN" sz="2000" b="1" dirty="0">
                <a:latin typeface="宋体" panose="02010600030101010101" pitchFamily="2" charset="-122"/>
              </a:rPr>
              <a:t>扩展困难（缺少抽象层）</a:t>
            </a:r>
            <a:endParaRPr lang="en-US" altLang="zh-CN" sz="2000" b="1" dirty="0">
              <a:latin typeface="宋体" panose="02010600030101010101" pitchFamily="2" charset="-122"/>
            </a:endParaRPr>
          </a:p>
          <a:p>
            <a:pPr marL="342900" indent="-342900" algn="just">
              <a:lnSpc>
                <a:spcPct val="130000"/>
              </a:lnSpc>
              <a:buFont typeface="Arial" panose="020B0604020202020204" pitchFamily="34" charset="0"/>
              <a:buChar char="•"/>
            </a:pPr>
            <a:r>
              <a:rPr lang="en-US" altLang="zh-CN" sz="2000" b="1" dirty="0">
                <a:latin typeface="宋体" panose="02010600030101010101" pitchFamily="2" charset="-122"/>
              </a:rPr>
              <a:t>单例类的职责过重。单例模式与单一职责原则有冲突</a:t>
            </a:r>
            <a:endParaRPr lang="en-US" altLang="zh-CN" sz="2000" b="1" dirty="0">
              <a:latin typeface="宋体" panose="02010600030101010101" pitchFamily="2" charset="-122"/>
            </a:endParaRPr>
          </a:p>
          <a:p>
            <a:pPr marL="342900" indent="-342900" algn="just">
              <a:lnSpc>
                <a:spcPct val="130000"/>
              </a:lnSpc>
              <a:buFont typeface="Arial" panose="020B0604020202020204" pitchFamily="34" charset="0"/>
              <a:buChar char="•"/>
            </a:pPr>
            <a:r>
              <a:rPr lang="en-US" altLang="zh-CN" sz="2000" b="1" dirty="0">
                <a:latin typeface="宋体" panose="02010600030101010101" pitchFamily="2" charset="-122"/>
              </a:rPr>
              <a:t>由于自动垃圾回收机制，可能会导致共享的单例对象的状态丢失</a:t>
            </a:r>
            <a:endParaRPr lang="zh-CN" altLang="en-US" sz="2000" b="1" dirty="0">
              <a:latin typeface="宋体" panose="02010600030101010101" pitchFamily="2" charset="-122"/>
            </a:endParaRPr>
          </a:p>
        </p:txBody>
      </p:sp>
      <p:sp>
        <p:nvSpPr>
          <p:cNvPr id="42" name="标题 1"/>
          <p:cNvSpPr txBox="1"/>
          <p:nvPr>
            <p:custDataLst>
              <p:tags r:id="rId2"/>
            </p:custDataLst>
          </p:nvPr>
        </p:nvSpPr>
        <p:spPr>
          <a:xfrm>
            <a:off x="609541" y="1447535"/>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宋体" panose="02010600030101010101" pitchFamily="2" charset="-122"/>
                <a:ea typeface="宋体" panose="02010600030101010101" pitchFamily="2" charset="-122"/>
              </a:rPr>
              <a:t>单例模式的优缺点</a:t>
            </a:r>
            <a:endParaRPr lang="zh-CN" altLang="en-US" sz="2600" b="1" dirty="0">
              <a:solidFill>
                <a:schemeClr val="tx1"/>
              </a:solidFill>
              <a:latin typeface="宋体" panose="02010600030101010101" pitchFamily="2" charset="-122"/>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工厂模式概述</a:t>
            </a:r>
            <a:endParaRPr lang="zh-CN" altLang="en-US" dirty="0"/>
          </a:p>
        </p:txBody>
      </p:sp>
      <p:sp>
        <p:nvSpPr>
          <p:cNvPr id="42" name="标题 1"/>
          <p:cNvSpPr txBox="1"/>
          <p:nvPr>
            <p:custDataLst>
              <p:tags r:id="rId1"/>
            </p:custDataLst>
          </p:nvPr>
        </p:nvSpPr>
        <p:spPr>
          <a:xfrm>
            <a:off x="609541" y="1447535"/>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宋体" panose="02010600030101010101" pitchFamily="2" charset="-122"/>
                <a:ea typeface="宋体" panose="02010600030101010101" pitchFamily="2" charset="-122"/>
              </a:rPr>
              <a:t>工厂模式的定义</a:t>
            </a:r>
            <a:endParaRPr lang="zh-CN" altLang="en-US" sz="2600" b="1" dirty="0">
              <a:solidFill>
                <a:schemeClr val="tx1"/>
              </a:solidFill>
              <a:latin typeface="宋体" panose="02010600030101010101" pitchFamily="2" charset="-122"/>
              <a:ea typeface="宋体" panose="02010600030101010101" pitchFamily="2" charset="-122"/>
            </a:endParaRPr>
          </a:p>
        </p:txBody>
      </p:sp>
      <p:sp>
        <p:nvSpPr>
          <p:cNvPr id="4" name="Rectangle 4"/>
          <p:cNvSpPr>
            <a:spLocks noChangeArrowheads="1"/>
          </p:cNvSpPr>
          <p:nvPr>
            <p:custDataLst>
              <p:tags r:id="rId2"/>
            </p:custDataLst>
          </p:nvPr>
        </p:nvSpPr>
        <p:spPr bwMode="auto">
          <a:xfrm>
            <a:off x="756285" y="2176145"/>
            <a:ext cx="6922770" cy="3323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50000"/>
              </a:lnSpc>
              <a:buFont typeface="Arial" panose="020B0604020202020204" pitchFamily="34" charset="0"/>
              <a:buChar char="•"/>
            </a:pPr>
            <a:r>
              <a:rPr sz="2000" b="1" dirty="0">
                <a:latin typeface="Times New Roman" panose="02020603050405020304" pitchFamily="18" charset="0"/>
              </a:rPr>
              <a:t>该模式用于封装和管理对象的创建，是一种创建型模式</a:t>
            </a:r>
            <a:r>
              <a:rPr lang="zh-CN" sz="2000" b="1" dirty="0">
                <a:latin typeface="Times New Roman" panose="02020603050405020304" pitchFamily="18" charset="0"/>
              </a:rPr>
              <a:t>，</a:t>
            </a:r>
            <a:r>
              <a:rPr lang="en-US" altLang="zh-CN" sz="2000" b="1" dirty="0">
                <a:solidFill>
                  <a:srgbClr val="282828"/>
                </a:solidFill>
                <a:latin typeface="Times New Roman" panose="02020603050405020304" pitchFamily="18" charset="0"/>
              </a:rPr>
              <a:t>它提供了一种创建对象的最佳方式；</a:t>
            </a:r>
            <a:endParaRPr lang="en-US" altLang="zh-CN" sz="2000" b="1" dirty="0">
              <a:solidFill>
                <a:srgbClr val="282828"/>
              </a:solidFill>
              <a:latin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sz="2000" b="1" dirty="0">
                <a:solidFill>
                  <a:srgbClr val="282828"/>
                </a:solidFill>
                <a:latin typeface="Times New Roman" panose="02020603050405020304" pitchFamily="18" charset="0"/>
              </a:rPr>
              <a:t>在工厂模式中，我们在创建对象时不会对客户端暴露创建逻辑，并且是通过使用一个共同的接口来指向新创建的对象；</a:t>
            </a:r>
            <a:endParaRPr lang="en-US" altLang="zh-CN" sz="2000" b="1" dirty="0">
              <a:solidFill>
                <a:srgbClr val="282828"/>
              </a:solidFill>
              <a:latin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sz="2000" b="1" dirty="0">
                <a:solidFill>
                  <a:srgbClr val="282828"/>
                </a:solidFill>
                <a:latin typeface="Times New Roman" panose="02020603050405020304" pitchFamily="18" charset="0"/>
              </a:rPr>
              <a:t>让代码扩展性更好，便于二次开发维护</a:t>
            </a:r>
            <a:endParaRPr lang="en-US" altLang="zh-CN" sz="2000" b="1" dirty="0">
              <a:solidFill>
                <a:srgbClr val="282828"/>
              </a:solidFill>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工厂模式概述</a:t>
            </a:r>
            <a:endParaRPr lang="zh-CN" altLang="en-US" dirty="0"/>
          </a:p>
        </p:txBody>
      </p:sp>
      <p:sp>
        <p:nvSpPr>
          <p:cNvPr id="48" name="Rectangle 4"/>
          <p:cNvSpPr>
            <a:spLocks noChangeArrowheads="1"/>
          </p:cNvSpPr>
          <p:nvPr>
            <p:custDataLst>
              <p:tags r:id="rId1"/>
            </p:custDataLst>
          </p:nvPr>
        </p:nvSpPr>
        <p:spPr bwMode="auto">
          <a:xfrm>
            <a:off x="609600" y="2133600"/>
            <a:ext cx="7332980" cy="2891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just">
              <a:lnSpc>
                <a:spcPct val="130000"/>
              </a:lnSpc>
              <a:buFont typeface="Arial" panose="020B0604020202020204" pitchFamily="34" charset="0"/>
              <a:buChar char="•"/>
            </a:pPr>
            <a:r>
              <a:rPr lang="zh-CN" altLang="en-US" sz="2000" b="1" dirty="0">
                <a:solidFill>
                  <a:srgbClr val="282828"/>
                </a:solidFill>
                <a:latin typeface="Times New Roman" panose="02020603050405020304" pitchFamily="18" charset="0"/>
                <a:cs typeface="Times New Roman" panose="02020603050405020304" pitchFamily="18" charset="0"/>
              </a:rPr>
              <a:t>分为三类：简单工厂，工厂方法，抽象工厂</a:t>
            </a:r>
            <a:endParaRPr lang="en-US" altLang="zh-CN" sz="2000" b="1" dirty="0">
              <a:solidFill>
                <a:srgbClr val="282828"/>
              </a:solidFill>
              <a:latin typeface="Times New Roman" panose="02020603050405020304" pitchFamily="18" charset="0"/>
              <a:cs typeface="Times New Roman" panose="02020603050405020304" pitchFamily="18" charset="0"/>
            </a:endParaRPr>
          </a:p>
          <a:p>
            <a:pPr marL="342900" indent="-342900" algn="just">
              <a:lnSpc>
                <a:spcPct val="130000"/>
              </a:lnSpc>
              <a:buFont typeface="Arial" panose="020B0604020202020204" pitchFamily="34" charset="0"/>
              <a:buChar char="•"/>
            </a:pPr>
            <a:r>
              <a:rPr lang="en-US" altLang="zh-CN" sz="2000" b="1" dirty="0">
                <a:solidFill>
                  <a:srgbClr val="282828"/>
                </a:solidFill>
                <a:latin typeface="Times New Roman" panose="02020603050405020304" pitchFamily="18" charset="0"/>
                <a:cs typeface="Times New Roman" panose="02020603050405020304" pitchFamily="18" charset="0"/>
              </a:rPr>
              <a:t>其中简单工厂其实不是一个标准的设计模式。GoF</a:t>
            </a:r>
            <a:r>
              <a:rPr lang="zh-CN" altLang="en-US" sz="2000" b="1" dirty="0">
                <a:solidFill>
                  <a:srgbClr val="282828"/>
                </a:solidFill>
                <a:latin typeface="Times New Roman" panose="02020603050405020304" pitchFamily="18" charset="0"/>
                <a:cs typeface="Times New Roman" panose="02020603050405020304" pitchFamily="18" charset="0"/>
              </a:rPr>
              <a:t>总结的</a:t>
            </a:r>
            <a:r>
              <a:rPr lang="en-US" altLang="zh-CN" sz="2000" b="1" dirty="0">
                <a:solidFill>
                  <a:srgbClr val="282828"/>
                </a:solidFill>
                <a:latin typeface="Times New Roman" panose="02020603050405020304" pitchFamily="18" charset="0"/>
                <a:cs typeface="Times New Roman" panose="02020603050405020304" pitchFamily="18" charset="0"/>
              </a:rPr>
              <a:t> 23 种设计模式中只有「工厂方法模式」与「抽象工厂模式」。</a:t>
            </a:r>
            <a:endParaRPr lang="en-US" altLang="zh-CN" sz="2000" b="1" dirty="0">
              <a:solidFill>
                <a:srgbClr val="282828"/>
              </a:solidFill>
              <a:latin typeface="Times New Roman" panose="02020603050405020304" pitchFamily="18" charset="0"/>
              <a:cs typeface="Times New Roman" panose="02020603050405020304" pitchFamily="18" charset="0"/>
            </a:endParaRPr>
          </a:p>
          <a:p>
            <a:pPr marL="342900" indent="-342900" algn="just">
              <a:lnSpc>
                <a:spcPct val="130000"/>
              </a:lnSpc>
              <a:buFont typeface="Arial" panose="020B0604020202020204" pitchFamily="34" charset="0"/>
              <a:buChar char="•"/>
            </a:pPr>
            <a:r>
              <a:rPr lang="en-US" altLang="zh-CN" sz="2000" b="1" dirty="0">
                <a:solidFill>
                  <a:srgbClr val="282828"/>
                </a:solidFill>
                <a:latin typeface="Times New Roman" panose="02020603050405020304" pitchFamily="18" charset="0"/>
                <a:cs typeface="Times New Roman" panose="02020603050405020304" pitchFamily="18" charset="0"/>
              </a:rPr>
              <a:t>简单工厂模式可以看为工厂方法模式的一种特例。</a:t>
            </a:r>
            <a:endParaRPr lang="en-US" altLang="zh-CN" sz="2000" b="1" dirty="0">
              <a:solidFill>
                <a:srgbClr val="282828"/>
              </a:solidFill>
              <a:latin typeface="Times New Roman" panose="02020603050405020304" pitchFamily="18" charset="0"/>
              <a:cs typeface="Times New Roman" panose="02020603050405020304" pitchFamily="18" charset="0"/>
            </a:endParaRPr>
          </a:p>
          <a:p>
            <a:pPr marL="342900" indent="-342900" algn="just">
              <a:lnSpc>
                <a:spcPct val="130000"/>
              </a:lnSpc>
              <a:buFont typeface="Arial" panose="020B0604020202020204" pitchFamily="34" charset="0"/>
              <a:buChar char="•"/>
            </a:pPr>
            <a:r>
              <a:rPr lang="en-US" altLang="zh-CN" sz="2000" b="1" dirty="0">
                <a:solidFill>
                  <a:srgbClr val="282828"/>
                </a:solidFill>
                <a:latin typeface="Times New Roman" panose="02020603050405020304" pitchFamily="18" charset="0"/>
                <a:cs typeface="Times New Roman" panose="02020603050405020304" pitchFamily="18" charset="0"/>
              </a:rPr>
              <a:t>在这三种细分的工厂模式中，简单工厂、工厂方法原理比较简单，在实际的项目中也比较常用。而抽象工厂的原理稍微复杂点，在实际的项目中相对也不常用。</a:t>
            </a:r>
            <a:endParaRPr lang="en-US" altLang="zh-CN" sz="2000" b="1" dirty="0">
              <a:solidFill>
                <a:srgbClr val="28282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3" name="文本框 2"/>
          <p:cNvSpPr txBox="1"/>
          <p:nvPr/>
        </p:nvSpPr>
        <p:spPr>
          <a:xfrm>
            <a:off x="735330" y="2275205"/>
            <a:ext cx="7103110" cy="2168525"/>
          </a:xfrm>
          <a:prstGeom prst="rect">
            <a:avLst/>
          </a:prstGeom>
          <a:noFill/>
        </p:spPr>
        <p:txBody>
          <a:bodyPr wrap="square" rtlCol="0" anchor="t">
            <a:spAutoFit/>
          </a:bodyPr>
          <a:lstStyle/>
          <a:p>
            <a:pPr marL="285750" indent="-285750" algn="just">
              <a:lnSpc>
                <a:spcPct val="150000"/>
              </a:lnSpc>
              <a:buFont typeface="Arial" panose="020B0604020202020204" pitchFamily="34" charset="0"/>
              <a:buChar char="•"/>
            </a:pPr>
            <a:r>
              <a:rPr lang="zh-CN" altLang="en-US">
                <a:latin typeface="宋体" panose="02010600030101010101" pitchFamily="2" charset="-122"/>
                <a:sym typeface="+mn-ea"/>
              </a:rPr>
              <a:t>简单工厂模式也被称为静态工厂模式，定义一个工厂类，根据不同的参数，创建并返回不同的产品类的实例。其中这些产品类具有一个公共的父类或是一个接口。</a:t>
            </a:r>
            <a:endParaRPr lang="zh-CN" altLang="en-US">
              <a:latin typeface="宋体" panose="02010600030101010101" pitchFamily="2" charset="-122"/>
            </a:endParaRPr>
          </a:p>
          <a:p>
            <a:pPr algn="just">
              <a:lnSpc>
                <a:spcPct val="150000"/>
              </a:lnSpc>
            </a:pPr>
            <a:endParaRPr lang="zh-CN" altLang="en-US">
              <a:latin typeface="宋体" panose="02010600030101010101" pitchFamily="2" charset="-122"/>
            </a:endParaRPr>
          </a:p>
          <a:p>
            <a:pPr marL="285750" indent="-285750" algn="just">
              <a:lnSpc>
                <a:spcPct val="150000"/>
              </a:lnSpc>
              <a:buFont typeface="Arial" panose="020B0604020202020204" pitchFamily="34" charset="0"/>
              <a:buChar char="•"/>
            </a:pPr>
            <a:r>
              <a:rPr lang="zh-CN" altLang="en-US">
                <a:latin typeface="宋体" panose="02010600030101010101" pitchFamily="2" charset="-122"/>
                <a:sym typeface="+mn-ea"/>
              </a:rPr>
              <a:t>也就是说简单工厂模式专门定义了一个类来创建其他类的实例。</a:t>
            </a:r>
            <a:endParaRPr lang="zh-CN" altLang="en-US">
              <a:latin typeface="宋体" panose="02010600030101010101" pitchFamily="2" charset="-122"/>
              <a:sym typeface="+mn-ea"/>
            </a:endParaRPr>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简单工厂模式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3" name="文本框 2"/>
          <p:cNvSpPr txBox="1"/>
          <p:nvPr/>
        </p:nvSpPr>
        <p:spPr>
          <a:xfrm>
            <a:off x="735330" y="2275205"/>
            <a:ext cx="7103110" cy="2168525"/>
          </a:xfrm>
          <a:prstGeom prst="rect">
            <a:avLst/>
          </a:prstGeom>
          <a:noFill/>
        </p:spPr>
        <p:txBody>
          <a:bodyPr wrap="square" rtlCol="0" anchor="t">
            <a:spAutoFit/>
          </a:bodyPr>
          <a:lstStyle/>
          <a:p>
            <a:pPr marL="285750" indent="-285750" algn="just">
              <a:lnSpc>
                <a:spcPct val="150000"/>
              </a:lnSpc>
              <a:buFont typeface="Arial" panose="020B0604020202020204" pitchFamily="34" charset="0"/>
              <a:buChar char="•"/>
            </a:pPr>
            <a:r>
              <a:rPr lang="zh-CN" altLang="en-US">
                <a:latin typeface="宋体" panose="02010600030101010101" pitchFamily="2" charset="-122"/>
                <a:sym typeface="+mn-ea"/>
              </a:rPr>
              <a:t>简单工厂模式也被称为静态工厂模式，定义一个工厂类，根据不同的参数，创建并返回不同的产品类的实例。其中这些产品类具有一个公共的父类或是一个接口。</a:t>
            </a:r>
            <a:endParaRPr lang="zh-CN" altLang="en-US">
              <a:latin typeface="宋体" panose="02010600030101010101" pitchFamily="2" charset="-122"/>
            </a:endParaRPr>
          </a:p>
          <a:p>
            <a:pPr algn="just">
              <a:lnSpc>
                <a:spcPct val="150000"/>
              </a:lnSpc>
            </a:pPr>
            <a:endParaRPr lang="zh-CN" altLang="en-US">
              <a:latin typeface="宋体" panose="02010600030101010101" pitchFamily="2" charset="-122"/>
            </a:endParaRPr>
          </a:p>
          <a:p>
            <a:pPr marL="285750" indent="-285750" algn="just">
              <a:lnSpc>
                <a:spcPct val="150000"/>
              </a:lnSpc>
              <a:buFont typeface="Arial" panose="020B0604020202020204" pitchFamily="34" charset="0"/>
              <a:buChar char="•"/>
            </a:pPr>
            <a:r>
              <a:rPr lang="zh-CN" altLang="en-US">
                <a:latin typeface="宋体" panose="02010600030101010101" pitchFamily="2" charset="-122"/>
                <a:sym typeface="+mn-ea"/>
              </a:rPr>
              <a:t>也就是说简单工厂模式专门定义了一个类来创建其他类的实例。</a:t>
            </a:r>
            <a:endParaRPr lang="zh-CN" altLang="en-US">
              <a:latin typeface="宋体" panose="02010600030101010101" pitchFamily="2" charset="-122"/>
              <a:sym typeface="+mn-ea"/>
            </a:endParaRPr>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简单工厂模式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cxnSp>
        <p:nvCxnSpPr>
          <p:cNvPr id="2" name="直接箭头连接符 1"/>
          <p:cNvCxnSpPr/>
          <p:nvPr>
            <p:custDataLst>
              <p:tags r:id="rId2"/>
            </p:custDataLst>
          </p:nvPr>
        </p:nvCxnSpPr>
        <p:spPr>
          <a:xfrm flipH="1" flipV="1">
            <a:off x="6263005" y="1967230"/>
            <a:ext cx="13335" cy="471170"/>
          </a:xfrm>
          <a:prstGeom prst="straightConnector1">
            <a:avLst/>
          </a:prstGeom>
          <a:ln w="28575">
            <a:solidFill>
              <a:srgbClr val="C00000"/>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5" name="文本框 4"/>
          <p:cNvSpPr txBox="1"/>
          <p:nvPr>
            <p:custDataLst>
              <p:tags r:id="rId3"/>
            </p:custDataLst>
          </p:nvPr>
        </p:nvSpPr>
        <p:spPr>
          <a:xfrm>
            <a:off x="5586730" y="1598930"/>
            <a:ext cx="1504315" cy="368300"/>
          </a:xfrm>
          <a:prstGeom prst="rect">
            <a:avLst/>
          </a:prstGeom>
          <a:noFill/>
        </p:spPr>
        <p:txBody>
          <a:bodyPr wrap="square" rtlCol="0">
            <a:spAutoFit/>
          </a:bodyPr>
          <a:lstStyle/>
          <a:p>
            <a:r>
              <a:rPr lang="zh-CN" altLang="en-US" b="1">
                <a:solidFill>
                  <a:srgbClr val="C00000"/>
                </a:solidFill>
              </a:rPr>
              <a:t>手机工厂类</a:t>
            </a:r>
            <a:endParaRPr lang="zh-CN" altLang="en-US" b="1">
              <a:solidFill>
                <a:srgbClr val="C00000"/>
              </a:solidFill>
            </a:endParaRPr>
          </a:p>
        </p:txBody>
      </p:sp>
      <p:cxnSp>
        <p:nvCxnSpPr>
          <p:cNvPr id="8" name="直接连接符 7"/>
          <p:cNvCxnSpPr/>
          <p:nvPr>
            <p:custDataLst>
              <p:tags r:id="rId4"/>
            </p:custDataLst>
          </p:nvPr>
        </p:nvCxnSpPr>
        <p:spPr>
          <a:xfrm flipV="1">
            <a:off x="5955665" y="2780665"/>
            <a:ext cx="659130" cy="8255"/>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custDataLst>
              <p:tags r:id="rId5"/>
            </p:custDataLst>
          </p:nvPr>
        </p:nvCxnSpPr>
        <p:spPr>
          <a:xfrm>
            <a:off x="3886200" y="3200400"/>
            <a:ext cx="0" cy="1505585"/>
          </a:xfrm>
          <a:prstGeom prst="straightConnector1">
            <a:avLst/>
          </a:prstGeom>
          <a:ln w="28575">
            <a:solidFill>
              <a:srgbClr val="00B050"/>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6"/>
            </p:custDataLst>
          </p:nvPr>
        </p:nvSpPr>
        <p:spPr>
          <a:xfrm>
            <a:off x="3200400" y="4846320"/>
            <a:ext cx="1504315" cy="922020"/>
          </a:xfrm>
          <a:prstGeom prst="rect">
            <a:avLst/>
          </a:prstGeom>
          <a:noFill/>
          <a:ln>
            <a:noFill/>
          </a:ln>
        </p:spPr>
        <p:txBody>
          <a:bodyPr wrap="square" rtlCol="0">
            <a:spAutoFit/>
          </a:bodyPr>
          <a:lstStyle/>
          <a:p>
            <a:r>
              <a:rPr lang="zh-CN" altLang="en-US" b="1">
                <a:solidFill>
                  <a:srgbClr val="00B050"/>
                </a:solidFill>
              </a:rPr>
              <a:t>华为手机类</a:t>
            </a:r>
            <a:endParaRPr lang="zh-CN" altLang="en-US" b="1">
              <a:solidFill>
                <a:srgbClr val="00B050"/>
              </a:solidFill>
            </a:endParaRPr>
          </a:p>
          <a:p>
            <a:r>
              <a:rPr lang="zh-CN" altLang="en-US" b="1">
                <a:solidFill>
                  <a:srgbClr val="00B050"/>
                </a:solidFill>
              </a:rPr>
              <a:t>小米手机类</a:t>
            </a:r>
            <a:endParaRPr lang="zh-CN" altLang="en-US" b="1">
              <a:solidFill>
                <a:srgbClr val="00B050"/>
              </a:solidFill>
            </a:endParaRPr>
          </a:p>
          <a:p>
            <a:r>
              <a:rPr lang="en-US" altLang="zh-CN" b="1">
                <a:solidFill>
                  <a:srgbClr val="00B050"/>
                </a:solidFill>
              </a:rPr>
              <a:t>oppo</a:t>
            </a:r>
            <a:r>
              <a:rPr lang="zh-CN" altLang="en-US" b="1">
                <a:solidFill>
                  <a:srgbClr val="00B050"/>
                </a:solidFill>
              </a:rPr>
              <a:t>手机类</a:t>
            </a:r>
            <a:endParaRPr lang="zh-CN" altLang="en-US" b="1">
              <a:solidFill>
                <a:srgbClr val="00B050"/>
              </a:solidFill>
            </a:endParaRPr>
          </a:p>
        </p:txBody>
      </p:sp>
      <p:cxnSp>
        <p:nvCxnSpPr>
          <p:cNvPr id="11" name="直接连接符 10"/>
          <p:cNvCxnSpPr/>
          <p:nvPr>
            <p:custDataLst>
              <p:tags r:id="rId7"/>
            </p:custDataLst>
          </p:nvPr>
        </p:nvCxnSpPr>
        <p:spPr>
          <a:xfrm flipV="1">
            <a:off x="3200400" y="3136265"/>
            <a:ext cx="1381125" cy="762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custDataLst>
              <p:tags r:id="rId8"/>
            </p:custDataLst>
          </p:nvPr>
        </p:nvCxnSpPr>
        <p:spPr>
          <a:xfrm>
            <a:off x="2286000" y="3657600"/>
            <a:ext cx="25400" cy="894715"/>
          </a:xfrm>
          <a:prstGeom prst="straightConnector1">
            <a:avLst/>
          </a:prstGeom>
          <a:ln w="28575">
            <a:solidFill>
              <a:srgbClr val="00B0F0"/>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3" name="文本框 12"/>
          <p:cNvSpPr txBox="1"/>
          <p:nvPr>
            <p:custDataLst>
              <p:tags r:id="rId9"/>
            </p:custDataLst>
          </p:nvPr>
        </p:nvSpPr>
        <p:spPr>
          <a:xfrm>
            <a:off x="1828800" y="4648200"/>
            <a:ext cx="955675" cy="368300"/>
          </a:xfrm>
          <a:prstGeom prst="rect">
            <a:avLst/>
          </a:prstGeom>
          <a:noFill/>
          <a:ln>
            <a:noFill/>
          </a:ln>
        </p:spPr>
        <p:txBody>
          <a:bodyPr wrap="square" rtlCol="0">
            <a:spAutoFit/>
          </a:bodyPr>
          <a:lstStyle/>
          <a:p>
            <a:r>
              <a:rPr lang="zh-CN" altLang="en-US" b="1">
                <a:solidFill>
                  <a:srgbClr val="00B0F0"/>
                </a:solidFill>
              </a:rPr>
              <a:t>手机类</a:t>
            </a:r>
            <a:endParaRPr lang="zh-CN" altLang="en-US" b="1">
              <a:solidFill>
                <a:srgbClr val="00B0F0"/>
              </a:solidFill>
            </a:endParaRPr>
          </a:p>
        </p:txBody>
      </p:sp>
      <p:cxnSp>
        <p:nvCxnSpPr>
          <p:cNvPr id="14" name="直接连接符 13"/>
          <p:cNvCxnSpPr/>
          <p:nvPr>
            <p:custDataLst>
              <p:tags r:id="rId10"/>
            </p:custDataLst>
          </p:nvPr>
        </p:nvCxnSpPr>
        <p:spPr>
          <a:xfrm flipV="1">
            <a:off x="1981200" y="3581400"/>
            <a:ext cx="609600" cy="1143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简单工厂模式类图</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101" name="图片 100"/>
          <p:cNvPicPr/>
          <p:nvPr>
            <p:custDataLst>
              <p:tags r:id="rId2"/>
            </p:custDataLst>
          </p:nvPr>
        </p:nvPicPr>
        <p:blipFill>
          <a:blip r:embed="rId3"/>
          <a:stretch>
            <a:fillRect/>
          </a:stretch>
        </p:blipFill>
        <p:spPr>
          <a:xfrm>
            <a:off x="2486660" y="2051050"/>
            <a:ext cx="4191635" cy="2912745"/>
          </a:xfrm>
          <a:prstGeom prst="rect">
            <a:avLst/>
          </a:prstGeom>
          <a:noFill/>
          <a:ln w="9525">
            <a:noFill/>
          </a:ln>
        </p:spPr>
      </p:pic>
      <p:sp>
        <p:nvSpPr>
          <p:cNvPr id="8" name="文本框 7"/>
          <p:cNvSpPr txBox="1"/>
          <p:nvPr>
            <p:custDataLst>
              <p:tags r:id="rId4"/>
            </p:custDataLst>
          </p:nvPr>
        </p:nvSpPr>
        <p:spPr>
          <a:xfrm>
            <a:off x="4060825" y="4963795"/>
            <a:ext cx="4070985" cy="1076325"/>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zh-CN" altLang="en-US" sz="1600"/>
              <a:t>Factory（工厂角色）：即工厂类，它是简单工厂模式的核心，负责实现创建所有产品实例的内部逻辑；其可以被外界直接调用，创建所需的产品对象。</a:t>
            </a:r>
            <a:endParaRPr lang="zh-CN" altLang="en-US" sz="1600"/>
          </a:p>
        </p:txBody>
      </p:sp>
      <p:cxnSp>
        <p:nvCxnSpPr>
          <p:cNvPr id="9" name="直接连接符 8"/>
          <p:cNvCxnSpPr/>
          <p:nvPr>
            <p:custDataLst>
              <p:tags r:id="rId5"/>
            </p:custDataLst>
          </p:nvPr>
        </p:nvCxnSpPr>
        <p:spPr>
          <a:xfrm>
            <a:off x="6492875" y="3346450"/>
            <a:ext cx="6559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6"/>
            </p:custDataLst>
          </p:nvPr>
        </p:nvCxnSpPr>
        <p:spPr>
          <a:xfrm flipH="1">
            <a:off x="7115810" y="3354705"/>
            <a:ext cx="8255" cy="159893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简单工厂模式类图</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2" name="图片 1"/>
          <p:cNvPicPr/>
          <p:nvPr>
            <p:custDataLst>
              <p:tags r:id="rId2"/>
            </p:custDataLst>
          </p:nvPr>
        </p:nvPicPr>
        <p:blipFill>
          <a:blip r:embed="rId3"/>
          <a:stretch>
            <a:fillRect/>
          </a:stretch>
        </p:blipFill>
        <p:spPr>
          <a:xfrm>
            <a:off x="2486660" y="2051050"/>
            <a:ext cx="4191635" cy="2912745"/>
          </a:xfrm>
          <a:prstGeom prst="rect">
            <a:avLst/>
          </a:prstGeom>
          <a:noFill/>
          <a:ln w="9525">
            <a:noFill/>
          </a:ln>
        </p:spPr>
      </p:pic>
      <p:sp>
        <p:nvSpPr>
          <p:cNvPr id="3" name="文本框 2"/>
          <p:cNvSpPr txBox="1"/>
          <p:nvPr>
            <p:custDataLst>
              <p:tags r:id="rId4"/>
            </p:custDataLst>
          </p:nvPr>
        </p:nvSpPr>
        <p:spPr>
          <a:xfrm>
            <a:off x="854710" y="3505200"/>
            <a:ext cx="1713865" cy="181483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zh-CN" altLang="en-US" sz="1600"/>
              <a:t>AbstractProduct（抽象产品角色）：它是工厂类创建的所有对象的父类，封装了各种产品对象的共有方法。</a:t>
            </a:r>
            <a:endParaRPr lang="zh-CN" altLang="en-US" sz="1600"/>
          </a:p>
        </p:txBody>
      </p:sp>
      <p:cxnSp>
        <p:nvCxnSpPr>
          <p:cNvPr id="5" name="直接连接符 4"/>
          <p:cNvCxnSpPr/>
          <p:nvPr>
            <p:custDataLst>
              <p:tags r:id="rId5"/>
            </p:custDataLst>
          </p:nvPr>
        </p:nvCxnSpPr>
        <p:spPr>
          <a:xfrm flipV="1">
            <a:off x="2581910" y="3272790"/>
            <a:ext cx="368935" cy="22987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简单工厂模式类图</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101" name="图片 100"/>
          <p:cNvPicPr/>
          <p:nvPr>
            <p:custDataLst>
              <p:tags r:id="rId2"/>
            </p:custDataLst>
          </p:nvPr>
        </p:nvPicPr>
        <p:blipFill>
          <a:blip r:embed="rId3"/>
          <a:stretch>
            <a:fillRect/>
          </a:stretch>
        </p:blipFill>
        <p:spPr>
          <a:xfrm>
            <a:off x="2486660" y="2051050"/>
            <a:ext cx="4191635" cy="2912745"/>
          </a:xfrm>
          <a:prstGeom prst="rect">
            <a:avLst/>
          </a:prstGeom>
          <a:noFill/>
          <a:ln w="9525">
            <a:noFill/>
          </a:ln>
        </p:spPr>
      </p:pic>
      <p:cxnSp>
        <p:nvCxnSpPr>
          <p:cNvPr id="6" name="直接连接符 5"/>
          <p:cNvCxnSpPr/>
          <p:nvPr>
            <p:custDataLst>
              <p:tags r:id="rId4"/>
            </p:custDataLst>
          </p:nvPr>
        </p:nvCxnSpPr>
        <p:spPr>
          <a:xfrm flipH="1" flipV="1">
            <a:off x="2855595" y="4592320"/>
            <a:ext cx="5080" cy="648335"/>
          </a:xfrm>
          <a:prstGeom prst="line">
            <a:avLst/>
          </a:prstGeom>
        </p:spPr>
        <p:style>
          <a:lnRef idx="1">
            <a:schemeClr val="accent1"/>
          </a:lnRef>
          <a:fillRef idx="0">
            <a:schemeClr val="accent1"/>
          </a:fillRef>
          <a:effectRef idx="0">
            <a:schemeClr val="accent1"/>
          </a:effectRef>
          <a:fontRef idx="minor">
            <a:schemeClr val="tx1"/>
          </a:fontRef>
        </p:style>
      </p:cxnSp>
      <p:sp>
        <p:nvSpPr>
          <p:cNvPr id="7" name="文本框 6"/>
          <p:cNvSpPr txBox="1"/>
          <p:nvPr>
            <p:custDataLst>
              <p:tags r:id="rId5"/>
            </p:custDataLst>
          </p:nvPr>
        </p:nvSpPr>
        <p:spPr>
          <a:xfrm>
            <a:off x="1772920" y="5238750"/>
            <a:ext cx="5077460" cy="829945"/>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zh-CN" altLang="en-US" sz="1600"/>
              <a:t>Product1（具体产品角色）：它是简单工厂模式的创建目标，所有被创建的对象都充当这个角色的某个具体类的实例。</a:t>
            </a:r>
            <a:endParaRPr lang="zh-CN" altLang="en-US" sz="16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简单工厂模式</a:t>
            </a:r>
            <a:r>
              <a:rPr lang="zh-CN" altLang="en-US" sz="2600" b="1" dirty="0">
                <a:latin typeface="Times New Roman" panose="02020603050405020304" pitchFamily="18" charset="0"/>
                <a:ea typeface="宋体" panose="02010600030101010101" pitchFamily="2" charset="-122"/>
              </a:rPr>
              <a:t>分析</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9" name="文本框 8"/>
          <p:cNvSpPr txBox="1"/>
          <p:nvPr/>
        </p:nvSpPr>
        <p:spPr>
          <a:xfrm>
            <a:off x="602751" y="2212116"/>
            <a:ext cx="7322049" cy="3415030"/>
          </a:xfrm>
          <a:prstGeom prst="rect">
            <a:avLst/>
          </a:prstGeom>
          <a:noFill/>
        </p:spPr>
        <p:txBody>
          <a:bodyPr wrap="square" rtlCol="0" anchor="t">
            <a:spAutoFit/>
          </a:bodyPr>
          <a:lstStyle/>
          <a:p>
            <a:r>
              <a:rPr lang="zh-CN" altLang="en-US" b="1" dirty="0">
                <a:latin typeface="+mn-ea"/>
                <a:ea typeface="+mn-ea"/>
                <a:cs typeface="Times New Roman" panose="02020603050405020304" pitchFamily="18" charset="0"/>
                <a:sym typeface="+mn-ea"/>
              </a:rPr>
              <a:t>优点：</a:t>
            </a:r>
            <a:endParaRPr lang="zh-CN" altLang="en-US" b="1" dirty="0">
              <a:latin typeface="+mn-ea"/>
              <a:ea typeface="+mn-ea"/>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dirty="0">
                <a:latin typeface="+mn-ea"/>
                <a:ea typeface="+mn-ea"/>
                <a:cs typeface="Times New Roman" panose="02020603050405020304" pitchFamily="18" charset="0"/>
                <a:sym typeface="+mn-ea"/>
              </a:rPr>
              <a:t>很明显，简单工厂的特点就是“简单粗暴”，通过一个含参的工厂方法，我们可以实例化任何产品类。</a:t>
            </a:r>
            <a:endParaRPr lang="zh-CN" altLang="en-US" dirty="0">
              <a:latin typeface="+mn-ea"/>
              <a:ea typeface="+mn-ea"/>
              <a:cs typeface="Times New Roman" panose="02020603050405020304" pitchFamily="18" charset="0"/>
            </a:endParaRPr>
          </a:p>
          <a:p>
            <a:endParaRPr lang="zh-CN" altLang="en-US" dirty="0">
              <a:latin typeface="+mn-ea"/>
              <a:ea typeface="+mn-ea"/>
              <a:cs typeface="Times New Roman" panose="02020603050405020304" pitchFamily="18" charset="0"/>
            </a:endParaRPr>
          </a:p>
          <a:p>
            <a:r>
              <a:rPr lang="zh-CN" altLang="en-US" b="1" dirty="0">
                <a:latin typeface="+mn-ea"/>
                <a:ea typeface="+mn-ea"/>
                <a:cs typeface="Times New Roman" panose="02020603050405020304" pitchFamily="18" charset="0"/>
                <a:sym typeface="+mn-ea"/>
              </a:rPr>
              <a:t>缺点：</a:t>
            </a:r>
            <a:endParaRPr lang="zh-CN" altLang="en-US" b="1" dirty="0">
              <a:latin typeface="+mn-ea"/>
              <a:ea typeface="+mn-ea"/>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dirty="0">
                <a:latin typeface="+mn-ea"/>
                <a:ea typeface="+mn-ea"/>
                <a:cs typeface="Times New Roman" panose="02020603050405020304" pitchFamily="18" charset="0"/>
                <a:sym typeface="+mn-ea"/>
              </a:rPr>
              <a:t>任何”东西“的子类都可以被生产，负担太重。当所要生产的产品种类非常多时，工厂方法的代码量可能会很庞大。</a:t>
            </a:r>
            <a:endParaRPr lang="zh-CN" altLang="en-US" dirty="0">
              <a:latin typeface="+mn-ea"/>
              <a:ea typeface="+mn-ea"/>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dirty="0">
                <a:latin typeface="+mn-ea"/>
                <a:ea typeface="+mn-ea"/>
                <a:cs typeface="Times New Roman" panose="02020603050405020304" pitchFamily="18" charset="0"/>
                <a:sym typeface="+mn-ea"/>
              </a:rPr>
              <a:t>每当新增加产品都会修改工厂类，违背开闭原则，也违反了单一职责原则</a:t>
            </a:r>
            <a:endParaRPr lang="zh-CN" altLang="en-US" dirty="0">
              <a:latin typeface="+mn-ea"/>
              <a:ea typeface="+mn-ea"/>
              <a:cs typeface="Times New Roman" panose="02020603050405020304" pitchFamily="18" charset="0"/>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工厂方法模式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8" name="文本框 7"/>
          <p:cNvSpPr txBox="1"/>
          <p:nvPr/>
        </p:nvSpPr>
        <p:spPr>
          <a:xfrm>
            <a:off x="631824" y="2103812"/>
            <a:ext cx="7216775" cy="2104872"/>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dirty="0">
                <a:latin typeface="+mn-ea"/>
                <a:ea typeface="+mn-ea"/>
                <a:cs typeface="Microsoft JhengHei Light" panose="020B0304030504040204" pitchFamily="34" charset="-120"/>
                <a:sym typeface="+mn-ea"/>
              </a:rPr>
              <a:t>工厂方法模式，又称工厂模式、多态工厂模式和虚拟构造器模式，通过工厂父类定义负责创建产品的公共接口，子类负责生产具体对象。</a:t>
            </a:r>
            <a:endParaRPr lang="zh-CN" altLang="en-US" dirty="0">
              <a:latin typeface="+mn-ea"/>
              <a:ea typeface="+mn-ea"/>
              <a:cs typeface="Microsoft JhengHei Light" panose="020B0304030504040204" pitchFamily="34" charset="-120"/>
            </a:endParaRPr>
          </a:p>
          <a:p>
            <a:pPr marL="285750" indent="-285750" algn="just">
              <a:lnSpc>
                <a:spcPct val="150000"/>
              </a:lnSpc>
              <a:buFont typeface="Arial" panose="020B0604020202020204" pitchFamily="34" charset="0"/>
              <a:buChar char="•"/>
            </a:pPr>
            <a:r>
              <a:rPr lang="zh-CN" altLang="en-US" dirty="0">
                <a:latin typeface="+mn-ea"/>
                <a:ea typeface="+mn-ea"/>
                <a:cs typeface="Microsoft JhengHei Light" panose="020B0304030504040204" pitchFamily="34" charset="-120"/>
                <a:sym typeface="+mn-ea"/>
              </a:rPr>
              <a:t> 即，</a:t>
            </a:r>
            <a:r>
              <a:rPr lang="zh-CN" altLang="en-US" dirty="0">
                <a:solidFill>
                  <a:schemeClr val="tx1"/>
                </a:solidFill>
                <a:latin typeface="+mn-ea"/>
                <a:ea typeface="+mn-ea"/>
                <a:cs typeface="Microsoft JhengHei Light" panose="020B0304030504040204" pitchFamily="34" charset="-120"/>
                <a:sym typeface="+mn-ea"/>
              </a:rPr>
              <a:t>定义了一个创建对象的接口</a:t>
            </a:r>
            <a:r>
              <a:rPr lang="zh-CN" altLang="en-US" dirty="0">
                <a:latin typeface="+mn-ea"/>
                <a:ea typeface="+mn-ea"/>
                <a:cs typeface="Microsoft JhengHei Light" panose="020B0304030504040204" pitchFamily="34" charset="-120"/>
                <a:sym typeface="+mn-ea"/>
              </a:rPr>
              <a:t>，但由子类决定要实例化的类是哪一个。工厂方法让类的实例化推迟到子类</a:t>
            </a:r>
            <a:endParaRPr lang="zh-CN" altLang="en-US" dirty="0">
              <a:latin typeface="+mn-ea"/>
              <a:ea typeface="+mn-ea"/>
              <a:cs typeface="Microsoft JhengHei Light" panose="020B0304030504040204" pitchFamily="34" charset="-12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工厂方法模式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8" name="文本框 7"/>
          <p:cNvSpPr txBox="1"/>
          <p:nvPr/>
        </p:nvSpPr>
        <p:spPr>
          <a:xfrm>
            <a:off x="631824" y="2103812"/>
            <a:ext cx="7216775" cy="3766865"/>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dirty="0">
                <a:latin typeface="+mn-ea"/>
                <a:ea typeface="+mn-ea"/>
                <a:cs typeface="Microsoft JhengHei Light" panose="020B0304030504040204" pitchFamily="34" charset="-120"/>
                <a:sym typeface="+mn-ea"/>
              </a:rPr>
              <a:t>工厂方法模式，又称工厂模式、多态工厂模式和虚拟构造器模式，通过工厂父类定义负责创建产品的公共接口，子类负责生产具体对象。</a:t>
            </a:r>
            <a:endParaRPr lang="zh-CN" altLang="en-US" dirty="0">
              <a:latin typeface="+mn-ea"/>
              <a:ea typeface="+mn-ea"/>
              <a:cs typeface="Microsoft JhengHei Light" panose="020B0304030504040204" pitchFamily="34" charset="-120"/>
            </a:endParaRPr>
          </a:p>
          <a:p>
            <a:pPr marL="285750" indent="-285750" algn="just">
              <a:lnSpc>
                <a:spcPct val="150000"/>
              </a:lnSpc>
              <a:buFont typeface="Arial" panose="020B0604020202020204" pitchFamily="34" charset="0"/>
              <a:buChar char="•"/>
            </a:pPr>
            <a:r>
              <a:rPr lang="zh-CN" altLang="en-US" dirty="0">
                <a:latin typeface="+mn-ea"/>
                <a:ea typeface="+mn-ea"/>
                <a:cs typeface="Microsoft JhengHei Light" panose="020B0304030504040204" pitchFamily="34" charset="-120"/>
                <a:sym typeface="+mn-ea"/>
              </a:rPr>
              <a:t> 即，</a:t>
            </a:r>
            <a:r>
              <a:rPr lang="zh-CN" altLang="en-US" dirty="0">
                <a:solidFill>
                  <a:schemeClr val="tx1"/>
                </a:solidFill>
                <a:latin typeface="+mn-ea"/>
                <a:ea typeface="+mn-ea"/>
                <a:cs typeface="Microsoft JhengHei Light" panose="020B0304030504040204" pitchFamily="34" charset="-120"/>
                <a:sym typeface="+mn-ea"/>
              </a:rPr>
              <a:t>定义了一个创建对象的接口</a:t>
            </a:r>
            <a:r>
              <a:rPr lang="zh-CN" altLang="en-US" dirty="0">
                <a:latin typeface="+mn-ea"/>
                <a:ea typeface="+mn-ea"/>
                <a:cs typeface="Microsoft JhengHei Light" panose="020B0304030504040204" pitchFamily="34" charset="-120"/>
                <a:sym typeface="+mn-ea"/>
              </a:rPr>
              <a:t>，但由子类决定要实例化的类是哪一个。工厂方法让类的实例化推迟到子类</a:t>
            </a:r>
            <a:endParaRPr lang="zh-CN" altLang="en-US" dirty="0">
              <a:latin typeface="+mn-ea"/>
              <a:ea typeface="+mn-ea"/>
              <a:cs typeface="Microsoft JhengHei Light" panose="020B0304030504040204" pitchFamily="34" charset="-120"/>
              <a:sym typeface="+mn-ea"/>
            </a:endParaRPr>
          </a:p>
          <a:p>
            <a:pPr marL="285750" indent="-285750">
              <a:lnSpc>
                <a:spcPct val="150000"/>
              </a:lnSpc>
              <a:buFont typeface="Arial" panose="020B0604020202020204" pitchFamily="34" charset="0"/>
              <a:buChar char="•"/>
            </a:pPr>
            <a:r>
              <a:rPr lang="zh-CN" altLang="en-US" dirty="0">
                <a:latin typeface="+mn-ea"/>
                <a:ea typeface="+mn-ea"/>
                <a:cs typeface="Microsoft JhengHei Light" panose="020B0304030504040204" pitchFamily="34" charset="-120"/>
                <a:sym typeface="+mn-ea"/>
              </a:rPr>
              <a:t>和简单工厂模式中工厂负责生产所有产品相比，工厂方法模式将生成具体产品的任务分发给具体的产品工厂，也就是定义一个抽象工厂，其定义了产品的生产接口，但不负责具体的产品，将生产任务交给不同的派生类工厂。这样不用通过指定类型来创建对象了。</a:t>
            </a:r>
            <a:endParaRPr lang="zh-CN" altLang="en-US" dirty="0">
              <a:latin typeface="+mn-ea"/>
              <a:ea typeface="+mn-ea"/>
              <a:cs typeface="Microsoft JhengHei Light" panose="020B0304030504040204" pitchFamily="34" charset="-120"/>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工厂方法模式类图</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7" name="图片 6"/>
          <p:cNvPicPr/>
          <p:nvPr/>
        </p:nvPicPr>
        <p:blipFill>
          <a:blip r:embed="rId2"/>
          <a:srcRect l="2260" r="1718"/>
          <a:stretch>
            <a:fillRect/>
          </a:stretch>
        </p:blipFill>
        <p:spPr>
          <a:xfrm>
            <a:off x="1498600" y="2209800"/>
            <a:ext cx="5961380" cy="2901315"/>
          </a:xfrm>
          <a:prstGeom prst="rect">
            <a:avLst/>
          </a:prstGeom>
          <a:noFill/>
          <a:ln w="9525">
            <a:noFill/>
          </a:ln>
        </p:spPr>
      </p:pic>
      <p:sp>
        <p:nvSpPr>
          <p:cNvPr id="9" name="文本框 8"/>
          <p:cNvSpPr txBox="1"/>
          <p:nvPr/>
        </p:nvSpPr>
        <p:spPr>
          <a:xfrm>
            <a:off x="1802130" y="5340985"/>
            <a:ext cx="5120005" cy="645160"/>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lstStyle/>
          <a:p>
            <a:r>
              <a:rPr lang="zh-CN" altLang="en-US"/>
              <a:t>AbstractProduct（抽象产品）：它是定义产品的接口，是工厂方法模式所创建对象的公共父类。</a:t>
            </a:r>
            <a:endParaRPr lang="zh-CN" altLang="en-US"/>
          </a:p>
        </p:txBody>
      </p:sp>
      <p:cxnSp>
        <p:nvCxnSpPr>
          <p:cNvPr id="10" name="直接连接符 9"/>
          <p:cNvCxnSpPr>
            <a:stCxn id="9" idx="1"/>
          </p:cNvCxnSpPr>
          <p:nvPr/>
        </p:nvCxnSpPr>
        <p:spPr>
          <a:xfrm flipH="1">
            <a:off x="1236980" y="5663565"/>
            <a:ext cx="565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custDataLst>
              <p:tags r:id="rId3"/>
            </p:custDataLst>
          </p:nvPr>
        </p:nvCxnSpPr>
        <p:spPr>
          <a:xfrm>
            <a:off x="1236980" y="3643630"/>
            <a:ext cx="8256" cy="2019935"/>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直接连接符 11"/>
          <p:cNvCxnSpPr/>
          <p:nvPr>
            <p:custDataLst>
              <p:tags r:id="rId4"/>
            </p:custDataLst>
          </p:nvPr>
        </p:nvCxnSpPr>
        <p:spPr>
          <a:xfrm flipH="1">
            <a:off x="1236980" y="3643630"/>
            <a:ext cx="533400" cy="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工厂方法模式类图</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13" name="图片 12"/>
          <p:cNvPicPr/>
          <p:nvPr/>
        </p:nvPicPr>
        <p:blipFill>
          <a:blip r:embed="rId2"/>
          <a:srcRect l="2260" r="1718"/>
          <a:stretch>
            <a:fillRect/>
          </a:stretch>
        </p:blipFill>
        <p:spPr>
          <a:xfrm>
            <a:off x="1498600" y="2042795"/>
            <a:ext cx="5961380" cy="2901315"/>
          </a:xfrm>
          <a:prstGeom prst="rect">
            <a:avLst/>
          </a:prstGeom>
          <a:noFill/>
          <a:ln w="9525">
            <a:noFill/>
          </a:ln>
        </p:spPr>
      </p:pic>
      <p:sp>
        <p:nvSpPr>
          <p:cNvPr id="14" name="文本框 13"/>
          <p:cNvSpPr txBox="1"/>
          <p:nvPr/>
        </p:nvSpPr>
        <p:spPr>
          <a:xfrm>
            <a:off x="1621790" y="5173980"/>
            <a:ext cx="5300345" cy="922020"/>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lstStyle/>
          <a:p>
            <a:r>
              <a:rPr lang="zh-CN" altLang="en-US"/>
              <a:t>Product1（具体产品）：它实现了抽象产品接口，某种类型的具体产品由专门的具体工厂创建，具体工厂和具体产品之间一一对应。</a:t>
            </a:r>
            <a:endParaRPr lang="zh-CN" altLang="en-US"/>
          </a:p>
        </p:txBody>
      </p:sp>
      <p:cxnSp>
        <p:nvCxnSpPr>
          <p:cNvPr id="15" name="直接连接符 14"/>
          <p:cNvCxnSpPr/>
          <p:nvPr>
            <p:custDataLst>
              <p:tags r:id="rId3"/>
            </p:custDataLst>
          </p:nvPr>
        </p:nvCxnSpPr>
        <p:spPr>
          <a:xfrm>
            <a:off x="1748790" y="4485005"/>
            <a:ext cx="5080" cy="68072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工厂方法模式类图</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13" name="图片 12"/>
          <p:cNvPicPr/>
          <p:nvPr/>
        </p:nvPicPr>
        <p:blipFill>
          <a:blip r:embed="rId2"/>
          <a:srcRect l="2260" r="1718"/>
          <a:stretch>
            <a:fillRect/>
          </a:stretch>
        </p:blipFill>
        <p:spPr>
          <a:xfrm>
            <a:off x="1498600" y="2042795"/>
            <a:ext cx="5961380" cy="2901315"/>
          </a:xfrm>
          <a:prstGeom prst="rect">
            <a:avLst/>
          </a:prstGeom>
          <a:noFill/>
          <a:ln w="9525">
            <a:noFill/>
          </a:ln>
        </p:spPr>
      </p:pic>
      <p:sp>
        <p:nvSpPr>
          <p:cNvPr id="9" name="文本框 8"/>
          <p:cNvSpPr txBox="1"/>
          <p:nvPr/>
        </p:nvSpPr>
        <p:spPr>
          <a:xfrm>
            <a:off x="2171700" y="5173980"/>
            <a:ext cx="5744845" cy="922020"/>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lstStyle/>
          <a:p>
            <a:r>
              <a:rPr lang="zh-CN" altLang="en-US"/>
              <a:t>AbstractFactory（抽象工厂）：在抽象工厂类中声明了工厂方法，用于返回一个产品。</a:t>
            </a:r>
            <a:r>
              <a:rPr lang="zh-CN" altLang="en-US" b="1">
                <a:solidFill>
                  <a:srgbClr val="C00000"/>
                </a:solidFill>
              </a:rPr>
              <a:t>抽象工厂是工厂方法模式的核心，所有创建对象的工厂类都必须实现该接口。</a:t>
            </a:r>
            <a:endParaRPr lang="zh-CN" altLang="en-US" b="1">
              <a:solidFill>
                <a:srgbClr val="C00000"/>
              </a:solidFill>
            </a:endParaRPr>
          </a:p>
        </p:txBody>
      </p:sp>
      <p:cxnSp>
        <p:nvCxnSpPr>
          <p:cNvPr id="10" name="直接连接符 9"/>
          <p:cNvCxnSpPr/>
          <p:nvPr>
            <p:custDataLst>
              <p:tags r:id="rId3"/>
            </p:custDataLst>
          </p:nvPr>
        </p:nvCxnSpPr>
        <p:spPr>
          <a:xfrm flipH="1">
            <a:off x="7763510" y="2459990"/>
            <a:ext cx="8255" cy="271399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custDataLst>
              <p:tags r:id="rId4"/>
            </p:custDataLst>
          </p:nvPr>
        </p:nvCxnSpPr>
        <p:spPr>
          <a:xfrm>
            <a:off x="6468110" y="2451735"/>
            <a:ext cx="1295400" cy="8255"/>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工厂方法模式类图</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13" name="图片 12"/>
          <p:cNvPicPr/>
          <p:nvPr/>
        </p:nvPicPr>
        <p:blipFill>
          <a:blip r:embed="rId2"/>
          <a:srcRect l="2260" r="1718"/>
          <a:stretch>
            <a:fillRect/>
          </a:stretch>
        </p:blipFill>
        <p:spPr>
          <a:xfrm>
            <a:off x="1498600" y="2042795"/>
            <a:ext cx="5961380" cy="2901315"/>
          </a:xfrm>
          <a:prstGeom prst="rect">
            <a:avLst/>
          </a:prstGeom>
          <a:noFill/>
          <a:ln w="9525">
            <a:noFill/>
          </a:ln>
        </p:spPr>
      </p:pic>
      <p:sp>
        <p:nvSpPr>
          <p:cNvPr id="12" name="文本框 11"/>
          <p:cNvSpPr txBox="1"/>
          <p:nvPr/>
        </p:nvSpPr>
        <p:spPr>
          <a:xfrm>
            <a:off x="2171700" y="5173980"/>
            <a:ext cx="5701665" cy="922020"/>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lstStyle/>
          <a:p>
            <a:r>
              <a:rPr lang="zh-CN" altLang="en-US"/>
              <a:t>ConcreteFactory1（具体工厂）：它是抽象工厂类的子类，实现了在抽象工厂中声明的工厂方法，并可由客户端调用，返回一个具体产品类的实例。</a:t>
            </a:r>
            <a:endParaRPr lang="zh-CN" altLang="en-US"/>
          </a:p>
        </p:txBody>
      </p:sp>
      <p:cxnSp>
        <p:nvCxnSpPr>
          <p:cNvPr id="14" name="直接连接符 13"/>
          <p:cNvCxnSpPr/>
          <p:nvPr>
            <p:custDataLst>
              <p:tags r:id="rId3"/>
            </p:custDataLst>
          </p:nvPr>
        </p:nvCxnSpPr>
        <p:spPr>
          <a:xfrm>
            <a:off x="4623435" y="3714115"/>
            <a:ext cx="0" cy="1426845"/>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solidFill>
                  <a:schemeClr val="tx1"/>
                </a:solidFill>
                <a:latin typeface="Times New Roman" panose="02020603050405020304" pitchFamily="18" charset="0"/>
                <a:ea typeface="宋体" panose="02010600030101010101" pitchFamily="2" charset="-122"/>
              </a:rPr>
              <a:t>工厂方法模式</a:t>
            </a:r>
            <a:r>
              <a:rPr lang="zh-CN" altLang="en-US" sz="2600" b="1" dirty="0">
                <a:latin typeface="Times New Roman" panose="02020603050405020304" pitchFamily="18" charset="0"/>
                <a:ea typeface="宋体" panose="02010600030101010101" pitchFamily="2" charset="-122"/>
              </a:rPr>
              <a:t>分析</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9" name="文本框 8"/>
          <p:cNvSpPr txBox="1"/>
          <p:nvPr/>
        </p:nvSpPr>
        <p:spPr>
          <a:xfrm>
            <a:off x="685800" y="2147570"/>
            <a:ext cx="7239000" cy="3415030"/>
          </a:xfrm>
          <a:prstGeom prst="rect">
            <a:avLst/>
          </a:prstGeom>
          <a:noFill/>
        </p:spPr>
        <p:txBody>
          <a:bodyPr wrap="square" rtlCol="0" anchor="t">
            <a:spAutoFit/>
          </a:bodyPr>
          <a:lstStyle/>
          <a:p>
            <a:pPr indent="0" algn="just">
              <a:buNone/>
            </a:pPr>
            <a:r>
              <a:rPr lang="zh-CN" altLang="en-US" dirty="0">
                <a:latin typeface="+mn-ea"/>
                <a:ea typeface="+mn-ea"/>
                <a:cs typeface="Microsoft JhengHei Light" panose="020B0304030504040204" pitchFamily="34" charset="-120"/>
                <a:sym typeface="+mn-ea"/>
              </a:rPr>
              <a:t>优点：</a:t>
            </a:r>
            <a:endParaRPr lang="zh-CN" altLang="en-US" dirty="0">
              <a:latin typeface="+mn-ea"/>
              <a:ea typeface="+mn-ea"/>
              <a:cs typeface="Microsoft JhengHei Light" panose="020B0304030504040204" pitchFamily="34" charset="-120"/>
              <a:sym typeface="+mn-ea"/>
            </a:endParaRPr>
          </a:p>
          <a:p>
            <a:pPr marL="285750" indent="-285750" algn="just" fontAlgn="auto">
              <a:lnSpc>
                <a:spcPct val="150000"/>
              </a:lnSpc>
              <a:buFont typeface="Arial" panose="020B0604020202020204" pitchFamily="34" charset="0"/>
              <a:buChar char="•"/>
            </a:pPr>
            <a:r>
              <a:rPr lang="zh-CN" altLang="en-US" dirty="0">
                <a:latin typeface="+mn-ea"/>
                <a:ea typeface="+mn-ea"/>
                <a:cs typeface="Microsoft JhengHei Light" panose="020B0304030504040204" pitchFamily="34" charset="-120"/>
                <a:sym typeface="+mn-ea"/>
              </a:rPr>
              <a:t>遵循了开闭原则和单一职责原则，扩展性强。增加产品类时不需要改变原有代码，可维护性高。客户端不需要知道具体产品类的类名 , 只需要知道所对应的工厂即可 , 具体的产品对象 , 由对应的工厂创建。</a:t>
            </a:r>
            <a:endParaRPr lang="zh-CN" altLang="en-US" dirty="0">
              <a:latin typeface="+mn-ea"/>
              <a:ea typeface="+mn-ea"/>
              <a:cs typeface="Microsoft JhengHei Light" panose="020B0304030504040204" pitchFamily="34" charset="-120"/>
            </a:endParaRPr>
          </a:p>
          <a:p>
            <a:pPr marL="285750" indent="-285750" algn="just">
              <a:buFont typeface="Arial" panose="020B0604020202020204" pitchFamily="34" charset="0"/>
              <a:buChar char="•"/>
            </a:pPr>
            <a:endParaRPr lang="zh-CN" altLang="en-US" dirty="0">
              <a:latin typeface="+mn-ea"/>
              <a:ea typeface="+mn-ea"/>
              <a:cs typeface="Microsoft JhengHei Light" panose="020B0304030504040204" pitchFamily="34" charset="-120"/>
            </a:endParaRPr>
          </a:p>
          <a:p>
            <a:pPr indent="0" algn="just">
              <a:buNone/>
            </a:pPr>
            <a:r>
              <a:rPr lang="zh-CN" altLang="en-US" dirty="0">
                <a:latin typeface="+mn-ea"/>
                <a:ea typeface="+mn-ea"/>
                <a:cs typeface="Microsoft JhengHei Light" panose="020B0304030504040204" pitchFamily="34" charset="-120"/>
                <a:sym typeface="+mn-ea"/>
              </a:rPr>
              <a:t>缺点：</a:t>
            </a:r>
            <a:endParaRPr lang="zh-CN" altLang="en-US" dirty="0">
              <a:latin typeface="+mn-ea"/>
              <a:ea typeface="+mn-ea"/>
              <a:cs typeface="Microsoft JhengHei Light" panose="020B0304030504040204" pitchFamily="34" charset="-120"/>
              <a:sym typeface="+mn-ea"/>
            </a:endParaRPr>
          </a:p>
          <a:p>
            <a:pPr marL="285750" indent="-285750" algn="just" fontAlgn="auto">
              <a:lnSpc>
                <a:spcPct val="150000"/>
              </a:lnSpc>
              <a:buFont typeface="Arial" panose="020B0604020202020204" pitchFamily="34" charset="0"/>
              <a:buChar char="•"/>
            </a:pPr>
            <a:r>
              <a:rPr lang="zh-CN" altLang="en-US" dirty="0">
                <a:latin typeface="+mn-ea"/>
                <a:ea typeface="+mn-ea"/>
                <a:cs typeface="Microsoft JhengHei Light" panose="020B0304030504040204" pitchFamily="34" charset="-120"/>
                <a:sym typeface="+mn-ea"/>
              </a:rPr>
              <a:t>增加了类的数量，当有成千上万个类型的产品时，就需要有成千上万个工厂类来生产这些产品。</a:t>
            </a:r>
            <a:endParaRPr lang="zh-CN" altLang="en-US" dirty="0">
              <a:latin typeface="+mn-ea"/>
              <a:ea typeface="+mn-ea"/>
              <a:cs typeface="Microsoft JhengHei Light" panose="020B0304030504040204" pitchFamily="34" charset="-12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latin typeface="Times New Roman" panose="02020603050405020304" pitchFamily="18" charset="0"/>
                <a:ea typeface="宋体" panose="02010600030101010101" pitchFamily="2" charset="-122"/>
              </a:rPr>
              <a:t>抽象工厂</a:t>
            </a:r>
            <a:r>
              <a:rPr lang="zh-CN" altLang="en-US" sz="2600" b="1" dirty="0">
                <a:solidFill>
                  <a:schemeClr val="tx1"/>
                </a:solidFill>
                <a:latin typeface="Times New Roman" panose="02020603050405020304" pitchFamily="18" charset="0"/>
                <a:ea typeface="宋体" panose="02010600030101010101" pitchFamily="2" charset="-122"/>
              </a:rPr>
              <a:t>模式</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7" name="文本框 6"/>
          <p:cNvSpPr txBox="1"/>
          <p:nvPr/>
        </p:nvSpPr>
        <p:spPr>
          <a:xfrm>
            <a:off x="685800" y="2103812"/>
            <a:ext cx="7162800" cy="3139321"/>
          </a:xfrm>
          <a:prstGeom prst="rect">
            <a:avLst/>
          </a:prstGeom>
          <a:noFill/>
        </p:spPr>
        <p:txBody>
          <a:bodyPr wrap="square" rtlCol="0" anchor="t">
            <a:spAutoFit/>
          </a:bodyPr>
          <a:lstStyle/>
          <a:p>
            <a:r>
              <a:rPr lang="zh-CN" altLang="en-US" b="1" dirty="0">
                <a:latin typeface="Times New Roman" panose="02020603050405020304" pitchFamily="18" charset="0"/>
                <a:ea typeface="+mn-ea"/>
                <a:cs typeface="Times New Roman" panose="02020603050405020304" pitchFamily="18" charset="0"/>
              </a:rPr>
              <a:t>上面两种模式不管工厂怎么拆分抽象，都只是针对一类产品</a:t>
            </a:r>
            <a:r>
              <a:rPr lang="en-US" altLang="zh-CN" b="1" dirty="0">
                <a:latin typeface="Times New Roman" panose="02020603050405020304" pitchFamily="18" charset="0"/>
                <a:ea typeface="+mn-ea"/>
                <a:cs typeface="Times New Roman" panose="02020603050405020304" pitchFamily="18" charset="0"/>
              </a:rPr>
              <a:t>(</a:t>
            </a:r>
            <a:r>
              <a:rPr lang="zh-CN" altLang="en-US" b="1" dirty="0">
                <a:latin typeface="Times New Roman" panose="02020603050405020304" pitchFamily="18" charset="0"/>
                <a:ea typeface="+mn-ea"/>
                <a:cs typeface="Times New Roman" panose="02020603050405020304" pitchFamily="18" charset="0"/>
              </a:rPr>
              <a:t>Abstract Product</a:t>
            </a:r>
            <a:r>
              <a:rPr lang="en-US" altLang="zh-CN" b="1" dirty="0">
                <a:latin typeface="Times New Roman" panose="02020603050405020304" pitchFamily="18" charset="0"/>
                <a:ea typeface="+mn-ea"/>
                <a:cs typeface="Times New Roman" panose="02020603050405020304" pitchFamily="18" charset="0"/>
              </a:rPr>
              <a:t>)</a:t>
            </a:r>
            <a:r>
              <a:rPr lang="zh-CN" altLang="en-US" b="1" dirty="0">
                <a:latin typeface="Times New Roman" panose="02020603050405020304" pitchFamily="18" charset="0"/>
                <a:ea typeface="+mn-ea"/>
                <a:cs typeface="Times New Roman" panose="02020603050405020304" pitchFamily="18" charset="0"/>
              </a:rPr>
              <a:t>，对于多类产品应该怎么表示呢？</a:t>
            </a:r>
            <a:endParaRPr lang="zh-CN" altLang="en-US" b="1" dirty="0">
              <a:latin typeface="Times New Roman" panose="02020603050405020304" pitchFamily="18" charset="0"/>
              <a:ea typeface="+mn-ea"/>
              <a:cs typeface="Times New Roman" panose="02020603050405020304" pitchFamily="18" charset="0"/>
            </a:endParaRPr>
          </a:p>
          <a:p>
            <a:endParaRPr lang="zh-CN" altLang="en-US" dirty="0">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zh-CN" altLang="en-US" dirty="0">
                <a:latin typeface="Times New Roman" panose="02020603050405020304" pitchFamily="18" charset="0"/>
                <a:ea typeface="+mn-ea"/>
                <a:cs typeface="Times New Roman" panose="02020603050405020304" pitchFamily="18" charset="0"/>
              </a:rPr>
              <a:t>最简单的方式是把工厂方法模式完全复制一份，不过这次生产的是另一类产品。但同时也就意味着我们要完全复制和修改原来生产管理的所有代码，显然这是一个笨办法，并不利于扩展和维护。</a:t>
            </a:r>
            <a:endParaRPr lang="zh-CN" altLang="en-US" dirty="0">
              <a:latin typeface="Times New Roman" panose="02020603050405020304" pitchFamily="18" charset="0"/>
              <a:ea typeface="+mn-ea"/>
              <a:cs typeface="Times New Roman" panose="02020603050405020304" pitchFamily="18" charset="0"/>
            </a:endParaRPr>
          </a:p>
          <a:p>
            <a:pPr indent="0">
              <a:buFont typeface="Arial" panose="020B0604020202020204" pitchFamily="34" charset="0"/>
              <a:buNone/>
            </a:pPr>
            <a:endParaRPr lang="zh-CN" altLang="en-US" dirty="0">
              <a:latin typeface="Times New Roman" panose="02020603050405020304" pitchFamily="18" charset="0"/>
              <a:ea typeface="+mn-ea"/>
              <a:cs typeface="Times New Roman" panose="02020603050405020304" pitchFamily="18" charset="0"/>
              <a:sym typeface="+mn-ea"/>
            </a:endParaRPr>
          </a:p>
          <a:p>
            <a:pPr marL="285750" indent="-285750">
              <a:buFont typeface="Arial" panose="020B0604020202020204" pitchFamily="34" charset="0"/>
              <a:buChar char="•"/>
            </a:pPr>
            <a:r>
              <a:rPr lang="zh-CN" altLang="en-US" dirty="0">
                <a:latin typeface="Times New Roman" panose="02020603050405020304" pitchFamily="18" charset="0"/>
                <a:ea typeface="+mn-ea"/>
                <a:cs typeface="Times New Roman" panose="02020603050405020304" pitchFamily="18" charset="0"/>
                <a:sym typeface="+mn-ea"/>
              </a:rPr>
              <a:t>在工厂方法模式中，一个具体的工厂负责生产一类具体的产品，即一对一的关系，但是，</a:t>
            </a:r>
            <a:r>
              <a:rPr lang="zh-CN" altLang="en-US" dirty="0">
                <a:solidFill>
                  <a:srgbClr val="C00000"/>
                </a:solidFill>
                <a:latin typeface="Times New Roman" panose="02020603050405020304" pitchFamily="18" charset="0"/>
                <a:ea typeface="+mn-ea"/>
                <a:cs typeface="Times New Roman" panose="02020603050405020304" pitchFamily="18" charset="0"/>
                <a:sym typeface="+mn-ea"/>
              </a:rPr>
              <a:t>如果需要一个具体的工厂生产多种产品对象，就需要用到抽象工厂模式了。即，每个具体工厂生产一组具体产品类的实例。</a:t>
            </a:r>
            <a:endParaRPr lang="zh-CN" altLang="en-US" dirty="0">
              <a:solidFill>
                <a:srgbClr val="C00000"/>
              </a:solidFill>
              <a:latin typeface="Times New Roman" panose="02020603050405020304" pitchFamily="18" charset="0"/>
              <a:ea typeface="+mn-ea"/>
              <a:cs typeface="Times New Roman" panose="02020603050405020304" pitchFamily="18" charset="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latin typeface="Times New Roman" panose="02020603050405020304" pitchFamily="18" charset="0"/>
                <a:ea typeface="宋体" panose="02010600030101010101" pitchFamily="2" charset="-122"/>
              </a:rPr>
              <a:t>抽象工厂</a:t>
            </a:r>
            <a:r>
              <a:rPr lang="zh-CN" altLang="en-US" sz="2600" b="1" dirty="0">
                <a:solidFill>
                  <a:schemeClr val="tx1"/>
                </a:solidFill>
                <a:latin typeface="Times New Roman" panose="02020603050405020304" pitchFamily="18" charset="0"/>
                <a:ea typeface="宋体" panose="02010600030101010101" pitchFamily="2" charset="-122"/>
              </a:rPr>
              <a:t>模式</a:t>
            </a:r>
            <a:r>
              <a:rPr lang="zh-CN" altLang="en-US" sz="2600" b="1" dirty="0">
                <a:latin typeface="Times New Roman" panose="02020603050405020304" pitchFamily="18" charset="0"/>
                <a:ea typeface="宋体" panose="02010600030101010101" pitchFamily="2" charset="-122"/>
              </a:rPr>
              <a:t>类图</a:t>
            </a:r>
            <a:endParaRPr lang="zh-CN" altLang="en-US" sz="2600" b="1" dirty="0">
              <a:solidFill>
                <a:schemeClr val="tx1"/>
              </a:solidFill>
              <a:latin typeface="Times New Roman" panose="02020603050405020304" pitchFamily="18" charset="0"/>
              <a:ea typeface="宋体" panose="02010600030101010101" pitchFamily="2" charset="-122"/>
            </a:endParaRPr>
          </a:p>
        </p:txBody>
      </p:sp>
      <p:pic>
        <p:nvPicPr>
          <p:cNvPr id="8" name="图片 7"/>
          <p:cNvPicPr/>
          <p:nvPr/>
        </p:nvPicPr>
        <p:blipFill>
          <a:blip r:embed="rId2"/>
          <a:stretch>
            <a:fillRect/>
          </a:stretch>
        </p:blipFill>
        <p:spPr>
          <a:xfrm>
            <a:off x="1371600" y="1872558"/>
            <a:ext cx="5967730" cy="3354070"/>
          </a:xfrm>
          <a:prstGeom prst="rect">
            <a:avLst/>
          </a:prstGeom>
          <a:noFill/>
          <a:ln w="9525">
            <a:noFill/>
          </a:ln>
        </p:spPr>
      </p:pic>
      <p:sp>
        <p:nvSpPr>
          <p:cNvPr id="9" name="文本框 8"/>
          <p:cNvSpPr txBox="1"/>
          <p:nvPr/>
        </p:nvSpPr>
        <p:spPr>
          <a:xfrm>
            <a:off x="1423670" y="5326380"/>
            <a:ext cx="6272530" cy="922020"/>
          </a:xfrm>
          <a:prstGeom prst="rect">
            <a:avLst/>
          </a:prstGeom>
          <a:noFill/>
        </p:spPr>
        <p:txBody>
          <a:bodyPr wrap="square" rtlCol="0" anchor="t">
            <a:spAutoFit/>
          </a:bodyPr>
          <a:lstStyle/>
          <a:p>
            <a:pPr indent="0">
              <a:buFont typeface="Arial" panose="020B0604020202020204" pitchFamily="34" charset="0"/>
              <a:buNone/>
            </a:pPr>
            <a:r>
              <a:rPr lang="zh-CN" altLang="en-US" dirty="0">
                <a:latin typeface="Times New Roman" panose="02020603050405020304" pitchFamily="18" charset="0"/>
                <a:ea typeface="+mn-ea"/>
                <a:cs typeface="Times New Roman" panose="02020603050405020304" pitchFamily="18" charset="0"/>
                <a:sym typeface="+mn-ea"/>
              </a:rPr>
              <a:t>抽象工厂模式通过</a:t>
            </a:r>
            <a:r>
              <a:rPr lang="zh-CN" altLang="en-US" dirty="0">
                <a:solidFill>
                  <a:srgbClr val="C00000"/>
                </a:solidFill>
                <a:latin typeface="Times New Roman" panose="02020603050405020304" pitchFamily="18" charset="0"/>
                <a:ea typeface="+mn-ea"/>
                <a:cs typeface="Times New Roman" panose="02020603050405020304" pitchFamily="18" charset="0"/>
                <a:sym typeface="+mn-ea"/>
              </a:rPr>
              <a:t>在AbstarctFactory中增加创建产品的接口，并在具体子工厂中实现新加产品的创建</a:t>
            </a:r>
            <a:r>
              <a:rPr lang="zh-CN" altLang="en-US" dirty="0">
                <a:latin typeface="Times New Roman" panose="02020603050405020304" pitchFamily="18" charset="0"/>
                <a:ea typeface="+mn-ea"/>
                <a:cs typeface="Times New Roman" panose="02020603050405020304" pitchFamily="18" charset="0"/>
                <a:sym typeface="+mn-ea"/>
              </a:rPr>
              <a:t>，当然前提是子工厂支持生产该产品。</a:t>
            </a:r>
            <a:endParaRPr lang="zh-CN" altLang="en-US" dirty="0">
              <a:latin typeface="Times New Roman" panose="02020603050405020304" pitchFamily="18" charset="0"/>
              <a:ea typeface="+mn-ea"/>
              <a:cs typeface="Times New Roman" panose="02020603050405020304" pitchFamily="18" charset="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latin typeface="Times New Roman" panose="02020603050405020304" pitchFamily="18" charset="0"/>
                <a:ea typeface="宋体" panose="02010600030101010101" pitchFamily="2" charset="-122"/>
              </a:rPr>
              <a:t>抽象工厂</a:t>
            </a:r>
            <a:r>
              <a:rPr lang="zh-CN" altLang="en-US" sz="2600" b="1" dirty="0">
                <a:solidFill>
                  <a:schemeClr val="tx1"/>
                </a:solidFill>
                <a:latin typeface="Times New Roman" panose="02020603050405020304" pitchFamily="18" charset="0"/>
                <a:ea typeface="宋体" panose="02010600030101010101" pitchFamily="2" charset="-122"/>
              </a:rPr>
              <a:t>模式分析</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10" name="文本框 9"/>
          <p:cNvSpPr txBox="1"/>
          <p:nvPr>
            <p:custDataLst>
              <p:tags r:id="rId2"/>
            </p:custDataLst>
          </p:nvPr>
        </p:nvSpPr>
        <p:spPr>
          <a:xfrm>
            <a:off x="593697" y="1951413"/>
            <a:ext cx="8028940" cy="3034030"/>
          </a:xfrm>
          <a:prstGeom prst="rect">
            <a:avLst/>
          </a:prstGeom>
          <a:noFill/>
        </p:spPr>
        <p:txBody>
          <a:bodyPr wrap="square" rtlCol="0">
            <a:noAutofit/>
          </a:bodyPr>
          <a:lstStyle/>
          <a:p>
            <a:pPr fontAlgn="auto">
              <a:lnSpc>
                <a:spcPct val="150000"/>
              </a:lnSpc>
            </a:pPr>
            <a:r>
              <a:rPr lang="zh-CN" altLang="en-US" sz="2000" dirty="0">
                <a:latin typeface="+mn-ea"/>
                <a:ea typeface="+mn-ea"/>
                <a:cs typeface="Microsoft JhengHei Light" panose="020B0304030504040204" pitchFamily="34" charset="-120"/>
              </a:rPr>
              <a:t>优点：</a:t>
            </a:r>
            <a:endParaRPr lang="zh-CN" altLang="en-US" sz="2000" dirty="0">
              <a:latin typeface="+mn-ea"/>
              <a:ea typeface="+mn-ea"/>
              <a:cs typeface="Microsoft JhengHei Light" panose="020B0304030504040204" pitchFamily="34" charset="-120"/>
            </a:endParaRPr>
          </a:p>
          <a:p>
            <a:pPr marL="285750" indent="-285750" fontAlgn="auto">
              <a:lnSpc>
                <a:spcPct val="150000"/>
              </a:lnSpc>
              <a:buFont typeface="Arial" panose="020B0604020202020204" pitchFamily="34" charset="0"/>
              <a:buChar char="•"/>
            </a:pPr>
            <a:r>
              <a:rPr lang="zh-CN" altLang="en-US" sz="2000" dirty="0">
                <a:latin typeface="+mn-ea"/>
                <a:ea typeface="+mn-ea"/>
                <a:cs typeface="Microsoft JhengHei Light" panose="020B0304030504040204" pitchFamily="34" charset="-120"/>
              </a:rPr>
              <a:t>增加固定类型产品的不同具体工厂比较方便。即，支持增加产品族</a:t>
            </a:r>
            <a:endParaRPr lang="zh-CN" altLang="en-US" sz="2000" dirty="0">
              <a:latin typeface="+mn-ea"/>
              <a:ea typeface="+mn-ea"/>
              <a:cs typeface="Microsoft JhengHei Light" panose="020B0304030504040204" pitchFamily="34" charset="-120"/>
            </a:endParaRPr>
          </a:p>
          <a:p>
            <a:pPr fontAlgn="auto">
              <a:lnSpc>
                <a:spcPct val="150000"/>
              </a:lnSpc>
            </a:pPr>
            <a:r>
              <a:rPr lang="zh-CN" altLang="en-US" sz="2000" dirty="0">
                <a:latin typeface="+mn-ea"/>
                <a:ea typeface="+mn-ea"/>
                <a:cs typeface="Microsoft JhengHei Light" panose="020B0304030504040204" pitchFamily="34" charset="-120"/>
              </a:rPr>
              <a:t>缺点：</a:t>
            </a:r>
            <a:endParaRPr lang="zh-CN" altLang="en-US" sz="2000" dirty="0">
              <a:latin typeface="+mn-ea"/>
              <a:ea typeface="+mn-ea"/>
              <a:cs typeface="Microsoft JhengHei Light" panose="020B0304030504040204" pitchFamily="34" charset="-120"/>
            </a:endParaRPr>
          </a:p>
          <a:p>
            <a:pPr marL="285750" indent="-285750" fontAlgn="auto">
              <a:lnSpc>
                <a:spcPct val="150000"/>
              </a:lnSpc>
              <a:buFont typeface="Arial" panose="020B0604020202020204" pitchFamily="34" charset="0"/>
              <a:buChar char="•"/>
            </a:pPr>
            <a:r>
              <a:rPr lang="zh-CN" altLang="en-US" sz="2000" dirty="0">
                <a:latin typeface="+mn-ea"/>
                <a:ea typeface="+mn-ea"/>
                <a:cs typeface="Microsoft JhengHei Light" panose="020B0304030504040204" pitchFamily="34" charset="-120"/>
              </a:rPr>
              <a:t>类图复杂，可读性没有工厂方法模式那么好</a:t>
            </a:r>
            <a:endParaRPr lang="zh-CN" altLang="en-US" sz="2000" dirty="0">
              <a:latin typeface="+mn-ea"/>
              <a:ea typeface="+mn-ea"/>
              <a:cs typeface="Microsoft JhengHei Light" panose="020B0304030504040204" pitchFamily="34" charset="-120"/>
            </a:endParaRPr>
          </a:p>
          <a:p>
            <a:pPr marL="285750" indent="-285750" fontAlgn="auto">
              <a:lnSpc>
                <a:spcPct val="150000"/>
              </a:lnSpc>
              <a:buFont typeface="Arial" panose="020B0604020202020204" pitchFamily="34" charset="0"/>
              <a:buChar char="•"/>
            </a:pPr>
            <a:r>
              <a:rPr lang="zh-CN" altLang="en-US" sz="2000" dirty="0">
                <a:latin typeface="+mn-ea"/>
                <a:ea typeface="+mn-ea"/>
                <a:cs typeface="Microsoft JhengHei Light" panose="020B0304030504040204" pitchFamily="34" charset="-120"/>
              </a:rPr>
              <a:t>产品族扩展非常困难，要增加一个系列的某一产品，既要在抽象工厂和抽象产品里加代码，又要在具体子工厂里加代码</a:t>
            </a:r>
            <a:endParaRPr lang="zh-CN" altLang="en-US" sz="2000" dirty="0">
              <a:latin typeface="+mn-ea"/>
              <a:ea typeface="+mn-ea"/>
              <a:cs typeface="Microsoft JhengHei Light" panose="020B0304030504040204" pitchFamily="34" charset="-12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工厂模式分类</a:t>
            </a:r>
            <a:endParaRPr lang="zh-CN" altLang="en-US" dirty="0"/>
          </a:p>
        </p:txBody>
      </p:sp>
      <p:sp>
        <p:nvSpPr>
          <p:cNvPr id="4" name="标题 1"/>
          <p:cNvSpPr txBox="1"/>
          <p:nvPr>
            <p:custDataLst>
              <p:tags r:id="rId1"/>
            </p:custDataLst>
          </p:nvPr>
        </p:nvSpPr>
        <p:spPr>
          <a:xfrm>
            <a:off x="569536" y="1478650"/>
            <a:ext cx="5778843" cy="3939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600" b="1" dirty="0">
                <a:latin typeface="Times New Roman" panose="02020603050405020304" pitchFamily="18" charset="0"/>
                <a:ea typeface="宋体" panose="02010600030101010101" pitchFamily="2" charset="-122"/>
              </a:rPr>
              <a:t>抽象工厂</a:t>
            </a:r>
            <a:r>
              <a:rPr lang="zh-CN" altLang="en-US" sz="2600" b="1" dirty="0">
                <a:solidFill>
                  <a:schemeClr val="tx1"/>
                </a:solidFill>
                <a:latin typeface="Times New Roman" panose="02020603050405020304" pitchFamily="18" charset="0"/>
                <a:ea typeface="宋体" panose="02010600030101010101" pitchFamily="2" charset="-122"/>
              </a:rPr>
              <a:t>模式优点</a:t>
            </a:r>
            <a:endParaRPr lang="zh-CN" altLang="en-US" sz="2600" b="1" dirty="0">
              <a:solidFill>
                <a:schemeClr val="tx1"/>
              </a:solidFill>
              <a:latin typeface="Times New Roman" panose="02020603050405020304" pitchFamily="18" charset="0"/>
              <a:ea typeface="宋体" panose="02010600030101010101" pitchFamily="2" charset="-122"/>
            </a:endParaRPr>
          </a:p>
        </p:txBody>
      </p:sp>
      <p:sp>
        <p:nvSpPr>
          <p:cNvPr id="7" name="Rectangle 4"/>
          <p:cNvSpPr>
            <a:spLocks noChangeArrowheads="1"/>
          </p:cNvSpPr>
          <p:nvPr>
            <p:custDataLst>
              <p:tags r:id="rId2"/>
            </p:custDataLst>
          </p:nvPr>
        </p:nvSpPr>
        <p:spPr bwMode="auto">
          <a:xfrm>
            <a:off x="569536" y="1872558"/>
            <a:ext cx="6934200" cy="1828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just">
              <a:lnSpc>
                <a:spcPct val="200000"/>
              </a:lnSpc>
              <a:buFont typeface="Arial" panose="020B0604020202020204" pitchFamily="34" charset="0"/>
              <a:buChar char="•"/>
            </a:pPr>
            <a:r>
              <a:rPr lang="en-US" altLang="zh-CN" sz="2000" b="1" dirty="0">
                <a:latin typeface="+mn-ea"/>
                <a:ea typeface="+mn-ea"/>
              </a:rPr>
              <a:t>可以使代码结构清晰，有效地封装变化</a:t>
            </a:r>
            <a:endParaRPr lang="en-US" altLang="zh-CN" sz="2000" b="1" dirty="0">
              <a:latin typeface="+mn-ea"/>
              <a:ea typeface="+mn-ea"/>
            </a:endParaRPr>
          </a:p>
          <a:p>
            <a:pPr marL="342900" indent="-342900" algn="just">
              <a:lnSpc>
                <a:spcPct val="200000"/>
              </a:lnSpc>
              <a:buFont typeface="Arial" panose="020B0604020202020204" pitchFamily="34" charset="0"/>
              <a:buChar char="•"/>
            </a:pPr>
            <a:r>
              <a:rPr lang="en-US" altLang="zh-CN" sz="2000" b="1" dirty="0">
                <a:latin typeface="+mn-ea"/>
                <a:ea typeface="+mn-ea"/>
              </a:rPr>
              <a:t>对调用者屏蔽具体的产品类</a:t>
            </a:r>
            <a:endParaRPr lang="en-US" altLang="zh-CN" sz="2000" b="1" dirty="0">
              <a:latin typeface="+mn-ea"/>
              <a:ea typeface="+mn-ea"/>
            </a:endParaRPr>
          </a:p>
          <a:p>
            <a:pPr marL="342900" indent="-342900" algn="just">
              <a:lnSpc>
                <a:spcPct val="200000"/>
              </a:lnSpc>
              <a:buFont typeface="Arial" panose="020B0604020202020204" pitchFamily="34" charset="0"/>
              <a:buChar char="•"/>
            </a:pPr>
            <a:r>
              <a:rPr lang="en-US" altLang="zh-CN" sz="2000" b="1" dirty="0">
                <a:latin typeface="+mn-ea"/>
                <a:ea typeface="+mn-ea"/>
              </a:rPr>
              <a:t>降低耦合度</a:t>
            </a:r>
            <a:endParaRPr lang="zh-CN" altLang="en-US" sz="2000" b="1" dirty="0">
              <a:latin typeface="+mn-ea"/>
              <a:ea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观察者模式</a:t>
            </a:r>
            <a:endParaRPr lang="zh-CN" altLang="en-US" dirty="0"/>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16787" r="13899"/>
          <a:stretch>
            <a:fillRect/>
          </a:stretch>
        </p:blipFill>
        <p:spPr bwMode="auto">
          <a:xfrm>
            <a:off x="2247900" y="1524000"/>
            <a:ext cx="4648200" cy="39098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观察者模式</a:t>
            </a:r>
            <a:endParaRPr lang="zh-CN" altLang="en-US" dirty="0"/>
          </a:p>
        </p:txBody>
      </p:sp>
      <p:sp>
        <p:nvSpPr>
          <p:cNvPr id="4" name="标题 1"/>
          <p:cNvSpPr txBox="1"/>
          <p:nvPr>
            <p:custDataLst>
              <p:tags r:id="rId1"/>
            </p:custDataLst>
          </p:nvPr>
        </p:nvSpPr>
        <p:spPr>
          <a:xfrm>
            <a:off x="304800" y="1387025"/>
            <a:ext cx="7583864" cy="46173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100000"/>
              </a:lnSpc>
              <a:buFont typeface="Wingdings" panose="05000000000000000000" pitchFamily="2" charset="2"/>
              <a:buChar char="p"/>
            </a:pPr>
            <a:r>
              <a:rPr lang="zh-CN" altLang="en-US" sz="2600" dirty="0">
                <a:solidFill>
                  <a:schemeClr val="tx1"/>
                </a:solidFill>
                <a:latin typeface="Times New Roman" panose="02020603050405020304" pitchFamily="18" charset="0"/>
                <a:ea typeface="宋体" panose="02010600030101010101" pitchFamily="2" charset="-122"/>
              </a:rPr>
              <a:t>观察者模式属于对象</a:t>
            </a:r>
            <a:r>
              <a:rPr lang="zh-CN" altLang="en-US" sz="2600" b="1" dirty="0">
                <a:solidFill>
                  <a:schemeClr val="tx1"/>
                </a:solidFill>
                <a:latin typeface="Times New Roman" panose="02020603050405020304" pitchFamily="18" charset="0"/>
                <a:ea typeface="宋体" panose="02010600030101010101" pitchFamily="2" charset="-122"/>
              </a:rPr>
              <a:t>行为型模式</a:t>
            </a:r>
            <a:r>
              <a:rPr lang="zh-CN" altLang="en-US" sz="2600" dirty="0">
                <a:solidFill>
                  <a:schemeClr val="tx1"/>
                </a:solidFill>
                <a:latin typeface="Times New Roman" panose="02020603050405020304" pitchFamily="18" charset="0"/>
                <a:ea typeface="宋体" panose="02010600030101010101" pitchFamily="2" charset="-122"/>
              </a:rPr>
              <a:t>。是定义对象间一种</a:t>
            </a:r>
            <a:r>
              <a:rPr lang="zh-CN" altLang="en-US" sz="2600" b="1" dirty="0">
                <a:solidFill>
                  <a:schemeClr val="tx1"/>
                </a:solidFill>
                <a:latin typeface="Times New Roman" panose="02020603050405020304" pitchFamily="18" charset="0"/>
                <a:ea typeface="宋体" panose="02010600030101010101" pitchFamily="2" charset="-122"/>
              </a:rPr>
              <a:t>一对多的依赖关系</a:t>
            </a:r>
            <a:r>
              <a:rPr lang="zh-CN" altLang="en-US" sz="2600" dirty="0">
                <a:solidFill>
                  <a:schemeClr val="tx1"/>
                </a:solidFill>
                <a:latin typeface="Times New Roman" panose="02020603050405020304" pitchFamily="18" charset="0"/>
                <a:ea typeface="宋体" panose="02010600030101010101" pitchFamily="2" charset="-122"/>
              </a:rPr>
              <a:t>。</a:t>
            </a:r>
            <a:endParaRPr lang="en-US" altLang="zh-CN" sz="2600" dirty="0">
              <a:solidFill>
                <a:schemeClr val="tx1"/>
              </a:solidFill>
              <a:latin typeface="Times New Roman" panose="02020603050405020304" pitchFamily="18" charset="0"/>
              <a:ea typeface="宋体" panose="02010600030101010101" pitchFamily="2" charset="-122"/>
            </a:endParaRPr>
          </a:p>
          <a:p>
            <a:pPr marL="457200" indent="-457200">
              <a:lnSpc>
                <a:spcPct val="100000"/>
              </a:lnSpc>
              <a:buFont typeface="Wingdings" panose="05000000000000000000" pitchFamily="2" charset="2"/>
              <a:buChar char="p"/>
            </a:pPr>
            <a:r>
              <a:rPr lang="zh-CN" altLang="en-US" sz="2600" b="1" dirty="0">
                <a:solidFill>
                  <a:srgbClr val="FF0000"/>
                </a:solidFill>
                <a:latin typeface="Times New Roman" panose="02020603050405020304" pitchFamily="18" charset="0"/>
                <a:ea typeface="宋体" panose="02010600030101010101" pitchFamily="2" charset="-122"/>
              </a:rPr>
              <a:t>当一个对象的状态发生改变时，所有依赖于它的对象都得到通知，并被自动更新。</a:t>
            </a:r>
            <a:endParaRPr lang="en-US" altLang="zh-CN" sz="2600" b="1" dirty="0">
              <a:solidFill>
                <a:srgbClr val="FF0000"/>
              </a:solidFill>
              <a:latin typeface="Times New Roman" panose="02020603050405020304" pitchFamily="18" charset="0"/>
              <a:ea typeface="宋体" panose="02010600030101010101" pitchFamily="2" charset="-122"/>
            </a:endParaRPr>
          </a:p>
          <a:p>
            <a:pPr marL="457200" indent="-457200">
              <a:lnSpc>
                <a:spcPct val="100000"/>
              </a:lnSpc>
              <a:buFont typeface="Wingdings" panose="05000000000000000000" pitchFamily="2" charset="2"/>
              <a:buChar char="p"/>
            </a:pPr>
            <a:r>
              <a:rPr lang="zh-CN" altLang="en-US" sz="2600" dirty="0">
                <a:solidFill>
                  <a:schemeClr val="tx1"/>
                </a:solidFill>
                <a:latin typeface="Times New Roman" panose="02020603050405020304" pitchFamily="18" charset="0"/>
                <a:ea typeface="宋体" panose="02010600030101010101" pitchFamily="2" charset="-122"/>
              </a:rPr>
              <a:t>观察者模式的关键对象是</a:t>
            </a:r>
            <a:r>
              <a:rPr lang="zh-CN" altLang="en-US" sz="2600" b="1" dirty="0">
                <a:solidFill>
                  <a:schemeClr val="tx1"/>
                </a:solidFill>
                <a:latin typeface="Times New Roman" panose="02020603050405020304" pitchFamily="18" charset="0"/>
                <a:ea typeface="宋体" panose="02010600030101010101" pitchFamily="2" charset="-122"/>
              </a:rPr>
              <a:t>目标</a:t>
            </a:r>
            <a:r>
              <a:rPr lang="zh-CN" altLang="en-US" sz="2600" dirty="0">
                <a:solidFill>
                  <a:schemeClr val="tx1"/>
                </a:solidFill>
                <a:latin typeface="Times New Roman" panose="02020603050405020304" pitchFamily="18" charset="0"/>
                <a:ea typeface="宋体" panose="02010600030101010101" pitchFamily="2" charset="-122"/>
              </a:rPr>
              <a:t>和</a:t>
            </a:r>
            <a:r>
              <a:rPr lang="zh-CN" altLang="en-US" sz="2600" b="1" dirty="0">
                <a:solidFill>
                  <a:schemeClr val="tx1"/>
                </a:solidFill>
                <a:latin typeface="Times New Roman" panose="02020603050405020304" pitchFamily="18" charset="0"/>
                <a:ea typeface="宋体" panose="02010600030101010101" pitchFamily="2" charset="-122"/>
              </a:rPr>
              <a:t>观察者</a:t>
            </a:r>
            <a:r>
              <a:rPr lang="zh-CN" altLang="en-US" sz="2600" dirty="0">
                <a:solidFill>
                  <a:schemeClr val="tx1"/>
                </a:solidFill>
                <a:latin typeface="Times New Roman" panose="02020603050405020304" pitchFamily="18" charset="0"/>
                <a:ea typeface="宋体" panose="02010600030101010101" pitchFamily="2" charset="-122"/>
              </a:rPr>
              <a:t>。一个目标可以有很多依赖它的观察者，一旦目标状态发生变化，观察者都将得到通知。作为对这个通知的响应，这些观察者将对目标进行查询并自动更新，以使其状态与目标的状态同步。</a:t>
            </a:r>
            <a:endParaRPr lang="en-US" altLang="zh-CN" sz="2600" dirty="0">
              <a:solidFill>
                <a:schemeClr val="tx1"/>
              </a:solidFill>
              <a:latin typeface="Times New Roman" panose="02020603050405020304" pitchFamily="18" charset="0"/>
              <a:ea typeface="宋体" panose="02010600030101010101" pitchFamily="2" charset="-122"/>
            </a:endParaRPr>
          </a:p>
          <a:p>
            <a:pPr marL="457200" indent="-457200">
              <a:lnSpc>
                <a:spcPct val="100000"/>
              </a:lnSpc>
              <a:buFont typeface="Wingdings" panose="05000000000000000000" pitchFamily="2" charset="2"/>
              <a:buChar char="p"/>
            </a:pPr>
            <a:r>
              <a:rPr lang="zh-CN" altLang="en-US" sz="2600" dirty="0">
                <a:latin typeface="Times New Roman" panose="02020603050405020304" pitchFamily="18" charset="0"/>
                <a:ea typeface="宋体" panose="02010600030101010101" pitchFamily="2" charset="-122"/>
              </a:rPr>
              <a:t>也称“发布</a:t>
            </a:r>
            <a:r>
              <a:rPr lang="en-US" altLang="zh-CN" sz="2600" dirty="0">
                <a:latin typeface="Times New Roman" panose="02020603050405020304" pitchFamily="18" charset="0"/>
                <a:ea typeface="宋体" panose="02010600030101010101" pitchFamily="2" charset="-122"/>
              </a:rPr>
              <a:t>-</a:t>
            </a:r>
            <a:r>
              <a:rPr lang="zh-CN" altLang="en-US" sz="2600" dirty="0">
                <a:latin typeface="Times New Roman" panose="02020603050405020304" pitchFamily="18" charset="0"/>
                <a:ea typeface="宋体" panose="02010600030101010101" pitchFamily="2" charset="-122"/>
              </a:rPr>
              <a:t>订阅”模式：目标是通知的发布者，只需要发出通知并不需要知道谁是它的观察者，可以有任意多个观察者订阅并且接收通知。</a:t>
            </a:r>
            <a:endParaRPr lang="zh-CN" altLang="en-US" sz="26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观察者模式</a:t>
            </a:r>
            <a:endParaRPr lang="zh-CN" altLang="en-US" dirty="0"/>
          </a:p>
        </p:txBody>
      </p:sp>
      <p:sp>
        <p:nvSpPr>
          <p:cNvPr id="4" name="标题 1"/>
          <p:cNvSpPr txBox="1"/>
          <p:nvPr>
            <p:custDataLst>
              <p:tags r:id="rId1"/>
            </p:custDataLst>
          </p:nvPr>
        </p:nvSpPr>
        <p:spPr>
          <a:xfrm>
            <a:off x="304800" y="1387025"/>
            <a:ext cx="4419602" cy="46173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100000"/>
              </a:lnSpc>
              <a:buFont typeface="Wingdings" panose="05000000000000000000" pitchFamily="2" charset="2"/>
              <a:buChar char="p"/>
            </a:pPr>
            <a:r>
              <a:rPr lang="zh-CN" altLang="en-US" sz="2600" dirty="0">
                <a:latin typeface="Times New Roman" panose="02020603050405020304" pitchFamily="18" charset="0"/>
                <a:ea typeface="宋体" panose="02010600030101010101" pitchFamily="2" charset="-122"/>
              </a:rPr>
              <a:t>适用情景：</a:t>
            </a:r>
            <a:endParaRPr lang="en-US" altLang="zh-CN" sz="2600" dirty="0">
              <a:latin typeface="Times New Roman" panose="02020603050405020304" pitchFamily="18" charset="0"/>
              <a:ea typeface="宋体" panose="02010600030101010101" pitchFamily="2" charset="-122"/>
            </a:endParaRPr>
          </a:p>
          <a:p>
            <a:pPr marL="457200" indent="-457200">
              <a:lnSpc>
                <a:spcPct val="100000"/>
              </a:lnSpc>
              <a:buFont typeface="Wingdings" panose="05000000000000000000" pitchFamily="2" charset="2"/>
              <a:buChar char="Ø"/>
            </a:pPr>
            <a:r>
              <a:rPr lang="zh-CN" altLang="en-US" sz="2600" dirty="0">
                <a:solidFill>
                  <a:schemeClr val="tx1"/>
                </a:solidFill>
                <a:latin typeface="Times New Roman" panose="02020603050405020304" pitchFamily="18" charset="0"/>
                <a:ea typeface="宋体" panose="02010600030101010101" pitchFamily="2" charset="-122"/>
              </a:rPr>
              <a:t>当一个抽象模式可以分为两个方面，将二者封装在分别独立的对象中，各自独立地改变和复用；</a:t>
            </a:r>
            <a:endParaRPr lang="en-US" altLang="zh-CN" sz="2600" dirty="0">
              <a:solidFill>
                <a:schemeClr val="tx1"/>
              </a:solidFill>
              <a:latin typeface="Times New Roman" panose="02020603050405020304" pitchFamily="18" charset="0"/>
              <a:ea typeface="宋体" panose="02010600030101010101" pitchFamily="2" charset="-122"/>
            </a:endParaRPr>
          </a:p>
          <a:p>
            <a:pPr marL="457200" indent="-457200">
              <a:lnSpc>
                <a:spcPct val="100000"/>
              </a:lnSpc>
              <a:buFont typeface="Wingdings" panose="05000000000000000000" pitchFamily="2" charset="2"/>
              <a:buChar char="Ø"/>
            </a:pPr>
            <a:r>
              <a:rPr lang="zh-CN" altLang="en-US" sz="2600" dirty="0">
                <a:latin typeface="Times New Roman" panose="02020603050405020304" pitchFamily="18" charset="0"/>
                <a:ea typeface="宋体" panose="02010600030101010101" pitchFamily="2" charset="-122"/>
              </a:rPr>
              <a:t>当对一个对象的改变需要同时改变其他对象，而不知道具体有多少对象有待改变；</a:t>
            </a:r>
            <a:endParaRPr lang="en-US" altLang="zh-CN" sz="2600" dirty="0">
              <a:latin typeface="Times New Roman" panose="02020603050405020304" pitchFamily="18" charset="0"/>
              <a:ea typeface="宋体" panose="02010600030101010101" pitchFamily="2" charset="-122"/>
            </a:endParaRPr>
          </a:p>
          <a:p>
            <a:pPr marL="457200" indent="-457200">
              <a:lnSpc>
                <a:spcPct val="100000"/>
              </a:lnSpc>
              <a:buFont typeface="Wingdings" panose="05000000000000000000" pitchFamily="2" charset="2"/>
              <a:buChar char="Ø"/>
            </a:pPr>
            <a:r>
              <a:rPr lang="zh-CN" altLang="en-US" sz="2600" dirty="0">
                <a:solidFill>
                  <a:schemeClr val="tx1"/>
                </a:solidFill>
                <a:latin typeface="Times New Roman" panose="02020603050405020304" pitchFamily="18" charset="0"/>
                <a:ea typeface="宋体" panose="02010600030101010101" pitchFamily="2" charset="-122"/>
              </a:rPr>
              <a:t>当一个对象必须通知其他对象，而它又不能假定其他对象是谁。</a:t>
            </a:r>
            <a:endParaRPr lang="zh-CN" altLang="en-US" sz="2600" dirty="0">
              <a:solidFill>
                <a:schemeClr val="tx1"/>
              </a:solidFill>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rotWithShape="1">
          <a:blip r:embed="rId2"/>
          <a:srcRect l="6801" t="5124" r="3517" b="5124"/>
          <a:stretch>
            <a:fillRect/>
          </a:stretch>
        </p:blipFill>
        <p:spPr>
          <a:xfrm>
            <a:off x="4724402" y="1905000"/>
            <a:ext cx="3657600" cy="39624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观察者模式</a:t>
            </a:r>
            <a:endParaRPr lang="zh-CN" altLang="en-US" dirty="0"/>
          </a:p>
        </p:txBody>
      </p:sp>
      <p:pic>
        <p:nvPicPr>
          <p:cNvPr id="6" name="图片 5"/>
          <p:cNvPicPr>
            <a:picLocks noChangeAspect="1"/>
          </p:cNvPicPr>
          <p:nvPr/>
        </p:nvPicPr>
        <p:blipFill>
          <a:blip r:embed="rId1"/>
          <a:stretch>
            <a:fillRect/>
          </a:stretch>
        </p:blipFill>
        <p:spPr>
          <a:xfrm>
            <a:off x="1762125" y="1228725"/>
            <a:ext cx="5619750" cy="440055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观察者模式</a:t>
            </a:r>
            <a:endParaRPr lang="zh-CN" altLang="en-US" dirty="0"/>
          </a:p>
        </p:txBody>
      </p:sp>
      <p:pic>
        <p:nvPicPr>
          <p:cNvPr id="307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295400"/>
            <a:ext cx="4424242" cy="28956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3090964"/>
            <a:ext cx="3924300" cy="3333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ClrTx/>
              <a:buSzTx/>
              <a:buFontTx/>
              <a:buNone/>
            </a:pPr>
            <a:fld id="{BB962C8B-B14F-4D97-AF65-F5344CB8AC3E}" type="datetime1">
              <a:rPr lang="zh-CN" altLang="en-US" sz="1000" dirty="0"/>
            </a:fld>
            <a:endParaRPr lang="zh-CN" altLang="en-US" sz="1000" dirty="0"/>
          </a:p>
        </p:txBody>
      </p:sp>
      <p:sp>
        <p:nvSpPr>
          <p:cNvPr id="6148" name="灯片编号占位符 5"/>
          <p:cNvSpPr txBox="1">
            <a:spLocks noGrp="1"/>
          </p:cNvSpPr>
          <p:nvPr>
            <p:ph type="sldNum" sz="quarter" idx="12"/>
          </p:nvPr>
        </p:nvSpPr>
        <p:spPr/>
        <p:txBody>
          <a:bodyPr/>
          <a:lstStyle/>
          <a:p>
            <a:pPr marL="0" indent="0" algn="r" eaLnBrk="1" hangingPunct="1">
              <a:spcBef>
                <a:spcPct val="0"/>
              </a:spcBef>
              <a:buClrTx/>
              <a:buSzTx/>
              <a:buFontTx/>
              <a:buNone/>
            </a:pPr>
            <a:fld id="{9A0DB2DC-4C9A-4742-B13C-FB6460FD3503}" type="slidenum">
              <a:rPr lang="en-US" altLang="zh-CN" sz="1000" dirty="0"/>
            </a:fld>
            <a:endParaRPr lang="en-US" altLang="zh-CN" sz="1000" dirty="0"/>
          </a:p>
        </p:txBody>
      </p:sp>
      <p:sp>
        <p:nvSpPr>
          <p:cNvPr id="6149" name="Rectangle 2"/>
          <p:cNvSpPr>
            <a:spLocks noGrp="1"/>
          </p:cNvSpPr>
          <p:nvPr>
            <p:ph type="title"/>
          </p:nvPr>
        </p:nvSpPr>
        <p:spPr>
          <a:xfrm>
            <a:off x="457200" y="122238"/>
            <a:ext cx="7010400" cy="1020762"/>
          </a:xfrm>
        </p:spPr>
        <p:txBody>
          <a:bodyPr vert="horz" wrap="square" lIns="91440" tIns="45720" rIns="91440" bIns="45720" anchor="b" anchorCtr="0"/>
          <a:lstStyle/>
          <a:p>
            <a:pPr eaLnBrk="1" hangingPunct="1"/>
            <a:r>
              <a:rPr lang="zh-CN" altLang="en-US" dirty="0"/>
              <a:t>观察者模式</a:t>
            </a:r>
            <a:endParaRPr lang="zh-CN" altLang="en-US" dirty="0"/>
          </a:p>
        </p:txBody>
      </p:sp>
      <p:sp>
        <p:nvSpPr>
          <p:cNvPr id="4" name="文本框 3"/>
          <p:cNvSpPr txBox="1"/>
          <p:nvPr/>
        </p:nvSpPr>
        <p:spPr>
          <a:xfrm>
            <a:off x="457200" y="1720840"/>
            <a:ext cx="8001000" cy="3416320"/>
          </a:xfrm>
          <a:prstGeom prst="rect">
            <a:avLst/>
          </a:prstGeom>
          <a:noFill/>
        </p:spPr>
        <p:txBody>
          <a:bodyPr wrap="square">
            <a:spAutoFit/>
          </a:bodyPr>
          <a:lstStyle/>
          <a:p>
            <a:pPr algn="l"/>
            <a:r>
              <a:rPr lang="zh-CN" altLang="en-US" sz="2400" b="0" i="0" dirty="0">
                <a:solidFill>
                  <a:srgbClr val="212529"/>
                </a:solidFill>
                <a:effectLst/>
                <a:highlight>
                  <a:srgbClr val="FFFFFF"/>
                </a:highlight>
                <a:latin typeface="system-ui"/>
              </a:rPr>
              <a:t>其主要优点：</a:t>
            </a:r>
            <a:endParaRPr lang="en-US" altLang="zh-CN" sz="2400" b="0" i="0" dirty="0">
              <a:solidFill>
                <a:srgbClr val="212529"/>
              </a:solidFill>
              <a:effectLst/>
              <a:highlight>
                <a:srgbClr val="FFFFFF"/>
              </a:highlight>
              <a:latin typeface="system-ui"/>
            </a:endParaRPr>
          </a:p>
          <a:p>
            <a:pPr marL="342900" indent="-342900" algn="l">
              <a:buFont typeface="Arial" panose="020B0604020202020204" pitchFamily="34" charset="0"/>
              <a:buChar char="•"/>
            </a:pPr>
            <a:r>
              <a:rPr lang="zh-CN" altLang="en-US" sz="2400" b="0" i="0" dirty="0">
                <a:solidFill>
                  <a:srgbClr val="212529"/>
                </a:solidFill>
                <a:effectLst/>
                <a:highlight>
                  <a:srgbClr val="FFFFFF"/>
                </a:highlight>
                <a:latin typeface="system-ui"/>
              </a:rPr>
              <a:t>降低了目标与观察者之间的耦合关系，两者之间是抽象耦合关系。符合依赖倒置原则。</a:t>
            </a:r>
            <a:endParaRPr lang="zh-CN" altLang="en-US" sz="2400" b="0" i="0" dirty="0">
              <a:solidFill>
                <a:srgbClr val="212529"/>
              </a:solidFill>
              <a:effectLst/>
              <a:highlight>
                <a:srgbClr val="FFFFFF"/>
              </a:highlight>
              <a:latin typeface="system-ui"/>
            </a:endParaRPr>
          </a:p>
          <a:p>
            <a:pPr marL="342900" indent="-342900" algn="l">
              <a:buFont typeface="Arial" panose="020B0604020202020204" pitchFamily="34" charset="0"/>
              <a:buChar char="•"/>
            </a:pPr>
            <a:r>
              <a:rPr lang="zh-CN" altLang="en-US" sz="2400" b="0" i="0" dirty="0">
                <a:solidFill>
                  <a:srgbClr val="212529"/>
                </a:solidFill>
                <a:effectLst/>
                <a:highlight>
                  <a:srgbClr val="FFFFFF"/>
                </a:highlight>
                <a:latin typeface="system-ui"/>
              </a:rPr>
              <a:t>目标与观察者之间建立了一套触发机制。</a:t>
            </a:r>
            <a:endParaRPr lang="zh-CN" altLang="en-US" sz="2400" b="0" i="0" dirty="0">
              <a:solidFill>
                <a:srgbClr val="212529"/>
              </a:solidFill>
              <a:effectLst/>
              <a:highlight>
                <a:srgbClr val="FFFFFF"/>
              </a:highlight>
              <a:latin typeface="system-ui"/>
            </a:endParaRPr>
          </a:p>
          <a:p>
            <a:pPr algn="l"/>
            <a:r>
              <a:rPr lang="zh-CN" altLang="en-US" sz="2400" b="0" i="0" dirty="0">
                <a:solidFill>
                  <a:srgbClr val="212529"/>
                </a:solidFill>
                <a:effectLst/>
                <a:highlight>
                  <a:srgbClr val="FFFFFF"/>
                </a:highlight>
                <a:latin typeface="system-ui"/>
              </a:rPr>
              <a:t>它的主要缺点如下。</a:t>
            </a:r>
            <a:endParaRPr lang="zh-CN" altLang="en-US" sz="2400" b="0" i="0" dirty="0">
              <a:solidFill>
                <a:srgbClr val="212529"/>
              </a:solidFill>
              <a:effectLst/>
              <a:highlight>
                <a:srgbClr val="FFFFFF"/>
              </a:highlight>
              <a:latin typeface="system-ui"/>
            </a:endParaRPr>
          </a:p>
          <a:p>
            <a:pPr marL="342900" indent="-342900" algn="l">
              <a:buFont typeface="Arial" panose="020B0604020202020204" pitchFamily="34" charset="0"/>
              <a:buChar char="•"/>
            </a:pPr>
            <a:r>
              <a:rPr lang="zh-CN" altLang="en-US" sz="2400" b="0" i="0" dirty="0">
                <a:solidFill>
                  <a:srgbClr val="212529"/>
                </a:solidFill>
                <a:effectLst/>
                <a:highlight>
                  <a:srgbClr val="FFFFFF"/>
                </a:highlight>
                <a:latin typeface="system-ui"/>
              </a:rPr>
              <a:t>目标与观察者之间的依赖关系并没有完全解除，而且有可能出现循环引用。</a:t>
            </a:r>
            <a:endParaRPr lang="zh-CN" altLang="en-US" sz="2400" b="0" i="0" dirty="0">
              <a:solidFill>
                <a:srgbClr val="212529"/>
              </a:solidFill>
              <a:effectLst/>
              <a:highlight>
                <a:srgbClr val="FFFFFF"/>
              </a:highlight>
              <a:latin typeface="system-ui"/>
            </a:endParaRPr>
          </a:p>
          <a:p>
            <a:pPr marL="342900" indent="-342900" algn="l">
              <a:buFont typeface="Arial" panose="020B0604020202020204" pitchFamily="34" charset="0"/>
              <a:buChar char="•"/>
            </a:pPr>
            <a:r>
              <a:rPr lang="zh-CN" altLang="en-US" sz="2400" b="0" i="0" dirty="0">
                <a:solidFill>
                  <a:srgbClr val="212529"/>
                </a:solidFill>
                <a:effectLst/>
                <a:highlight>
                  <a:srgbClr val="FFFFFF"/>
                </a:highlight>
                <a:latin typeface="system-ui"/>
              </a:rPr>
              <a:t>当观察者对象很多时，通知的发布会花费很多时间，影响程序的效率，并且可能会导致意外的更新。</a:t>
            </a:r>
            <a:endParaRPr lang="zh-CN" altLang="en-US" sz="2400" b="0" i="0" dirty="0">
              <a:solidFill>
                <a:srgbClr val="212529"/>
              </a:solidFill>
              <a:effectLst/>
              <a:highlight>
                <a:srgbClr val="FFFFFF"/>
              </a:highlight>
              <a:latin typeface="system-u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设计模式使用策略</a:t>
            </a:r>
            <a:endParaRPr lang="zh-CN" altLang="en-US" dirty="0"/>
          </a:p>
        </p:txBody>
      </p:sp>
      <p:sp>
        <p:nvSpPr>
          <p:cNvPr id="4" name="内容占位符 3"/>
          <p:cNvSpPr>
            <a:spLocks noGrp="1"/>
          </p:cNvSpPr>
          <p:nvPr>
            <p:ph idx="1"/>
          </p:nvPr>
        </p:nvSpPr>
        <p:spPr/>
        <p:txBody>
          <a:bodyPr/>
          <a:lstStyle/>
          <a:p>
            <a:r>
              <a:rPr lang="en-US" altLang="zh-CN" dirty="0"/>
              <a:t>1. </a:t>
            </a:r>
            <a:r>
              <a:rPr lang="zh-CN" altLang="en-US" dirty="0"/>
              <a:t>设计模式的选择</a:t>
            </a:r>
            <a:endParaRPr lang="en-US" altLang="zh-CN" dirty="0"/>
          </a:p>
          <a:p>
            <a:pPr lvl="1"/>
            <a:r>
              <a:rPr lang="en-US" altLang="zh-CN" dirty="0"/>
              <a:t>1</a:t>
            </a:r>
            <a:r>
              <a:rPr lang="zh-CN" altLang="en-US" dirty="0"/>
              <a:t>）理解问题需求。</a:t>
            </a:r>
            <a:endParaRPr lang="en-US" altLang="zh-CN" dirty="0"/>
          </a:p>
          <a:p>
            <a:pPr lvl="1"/>
            <a:r>
              <a:rPr lang="en-US" altLang="zh-CN" dirty="0"/>
              <a:t>2</a:t>
            </a:r>
            <a:r>
              <a:rPr lang="zh-CN" altLang="en-US" dirty="0"/>
              <a:t>）研究和掌握设计模式是如何解决设计问题的。</a:t>
            </a:r>
            <a:endParaRPr lang="zh-CN" altLang="en-US" dirty="0"/>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设计模式使用策略</a:t>
            </a:r>
            <a:endParaRPr lang="zh-CN" altLang="en-US" dirty="0"/>
          </a:p>
        </p:txBody>
      </p:sp>
      <p:sp>
        <p:nvSpPr>
          <p:cNvPr id="4" name="内容占位符 3"/>
          <p:cNvSpPr>
            <a:spLocks noGrp="1"/>
          </p:cNvSpPr>
          <p:nvPr>
            <p:ph idx="1"/>
          </p:nvPr>
        </p:nvSpPr>
        <p:spPr/>
        <p:txBody>
          <a:bodyPr/>
          <a:lstStyle/>
          <a:p>
            <a:r>
              <a:rPr lang="en-US" altLang="zh-CN" dirty="0"/>
              <a:t>1. </a:t>
            </a:r>
            <a:r>
              <a:rPr lang="zh-CN" altLang="en-US" dirty="0"/>
              <a:t>设计模式的选择</a:t>
            </a:r>
            <a:endParaRPr lang="en-US" altLang="zh-CN" dirty="0"/>
          </a:p>
          <a:p>
            <a:pPr lvl="1"/>
            <a:r>
              <a:rPr lang="en-US" altLang="zh-CN" dirty="0"/>
              <a:t>1</a:t>
            </a:r>
            <a:r>
              <a:rPr lang="zh-CN" altLang="en-US" dirty="0"/>
              <a:t>）理解问题需求。</a:t>
            </a:r>
            <a:endParaRPr lang="en-US" altLang="zh-CN" dirty="0"/>
          </a:p>
          <a:p>
            <a:pPr lvl="1"/>
            <a:r>
              <a:rPr lang="zh-CN" altLang="en-US" sz="2400" dirty="0"/>
              <a:t>首先理解问题需求，然后循序渐进地不断找出可能要用到的模式或模式组，从宏观的角度上选择设计模式的方法在设计过程中是值得推荐的。</a:t>
            </a:r>
            <a:endParaRPr lang="en-US" altLang="zh-CN" sz="2400" dirty="0"/>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设计模式使用策略</a:t>
            </a:r>
            <a:endParaRPr lang="zh-CN" altLang="en-US" dirty="0"/>
          </a:p>
        </p:txBody>
      </p:sp>
      <p:sp>
        <p:nvSpPr>
          <p:cNvPr id="4" name="内容占位符 3"/>
          <p:cNvSpPr>
            <a:spLocks noGrp="1"/>
          </p:cNvSpPr>
          <p:nvPr>
            <p:ph idx="1"/>
          </p:nvPr>
        </p:nvSpPr>
        <p:spPr/>
        <p:txBody>
          <a:bodyPr/>
          <a:lstStyle/>
          <a:p>
            <a:r>
              <a:rPr lang="en-US" altLang="zh-CN" dirty="0"/>
              <a:t>1. </a:t>
            </a:r>
            <a:r>
              <a:rPr lang="zh-CN" altLang="en-US" dirty="0"/>
              <a:t>设计模式的选择</a:t>
            </a:r>
            <a:endParaRPr lang="en-US" altLang="zh-CN" dirty="0"/>
          </a:p>
          <a:p>
            <a:pPr lvl="1"/>
            <a:r>
              <a:rPr lang="en-US" altLang="zh-CN" dirty="0"/>
              <a:t>2</a:t>
            </a:r>
            <a:r>
              <a:rPr lang="zh-CN" altLang="en-US" dirty="0"/>
              <a:t>）研究和掌握设计模式是如何解决设计问题的。</a:t>
            </a:r>
            <a:endParaRPr lang="en-US" altLang="zh-CN" dirty="0"/>
          </a:p>
          <a:p>
            <a:pPr lvl="1"/>
            <a:r>
              <a:rPr lang="zh-CN" altLang="en-US" sz="2400" dirty="0"/>
              <a:t>每一种模式都用来具体解決某一类数件的设计问题，每一个模式均有其目的，研究每个模式的目的，然后找出与实际问题相关的一个或多个模式。这是从微观角度上选择设计模式的方法，它要求设计人员对各种模式有比较清楚的理解和掌握。</a:t>
            </a:r>
            <a:endParaRPr lang="en-US" altLang="zh-CN" sz="2400" dirty="0"/>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设计模式使用策略</a:t>
            </a:r>
            <a:endParaRPr lang="zh-CN" altLang="en-US" dirty="0"/>
          </a:p>
        </p:txBody>
      </p:sp>
      <p:sp>
        <p:nvSpPr>
          <p:cNvPr id="4" name="内容占位符 3"/>
          <p:cNvSpPr>
            <a:spLocks noGrp="1"/>
          </p:cNvSpPr>
          <p:nvPr>
            <p:ph idx="1"/>
          </p:nvPr>
        </p:nvSpPr>
        <p:spPr/>
        <p:txBody>
          <a:bodyPr/>
          <a:lstStyle/>
          <a:p>
            <a:r>
              <a:rPr lang="en-US" altLang="zh-CN" dirty="0"/>
              <a:t>2. </a:t>
            </a:r>
            <a:r>
              <a:rPr lang="zh-CN" altLang="en-US" dirty="0"/>
              <a:t>设计模式的使用</a:t>
            </a:r>
            <a:endParaRPr lang="en-US" altLang="zh-CN" dirty="0"/>
          </a:p>
          <a:p>
            <a:pPr lvl="1"/>
            <a:r>
              <a:rPr lang="zh-CN" altLang="en-US" sz="2400" dirty="0"/>
              <a:t>理解所选择的模式</a:t>
            </a:r>
            <a:endParaRPr lang="en-US" altLang="zh-CN" sz="2400" dirty="0"/>
          </a:p>
          <a:p>
            <a:pPr lvl="1"/>
            <a:r>
              <a:rPr lang="zh-CN" altLang="en-US" sz="2400" dirty="0"/>
              <a:t>研究模式的结构、组成以及它们之间如何协作</a:t>
            </a:r>
            <a:endParaRPr lang="en-US" altLang="zh-CN" sz="2400" dirty="0"/>
          </a:p>
          <a:p>
            <a:pPr lvl="1"/>
            <a:r>
              <a:rPr lang="zh-CN" altLang="en-US" sz="2400" dirty="0"/>
              <a:t>选择模式参与者的名字，使这些名字在具体应用中有意义</a:t>
            </a:r>
            <a:endParaRPr lang="en-US" altLang="zh-CN" sz="2400" dirty="0"/>
          </a:p>
          <a:p>
            <a:pPr lvl="1"/>
            <a:r>
              <a:rPr lang="zh-CN" altLang="en-US" sz="2400" dirty="0"/>
              <a:t>定义类，声明它们之间的接口，建立它们的继承关系，定义代表数据和对象引用的实例变量。标识出模式在具体应用中可能影响到的类，并做出相应的修改。</a:t>
            </a:r>
            <a:endParaRPr lang="en-US" altLang="zh-CN" sz="2400" dirty="0"/>
          </a:p>
          <a:p>
            <a:pPr lvl="1"/>
            <a:r>
              <a:rPr lang="zh-CN" altLang="en-US" sz="2400" dirty="0"/>
              <a:t>定义模式中专用于具体应用的操作名称，操作名称一般依赖于应用，使用的操作名称必须一致。</a:t>
            </a:r>
            <a:endParaRPr lang="en-US" altLang="zh-CN" sz="2400" dirty="0"/>
          </a:p>
          <a:p>
            <a:pPr lvl="1"/>
            <a:r>
              <a:rPr lang="zh-CN" altLang="en-US" sz="2400" dirty="0"/>
              <a:t>实现执行模式中责任和协作的操作。</a:t>
            </a:r>
            <a:endParaRPr lang="en-US" altLang="zh-CN" sz="2400" dirty="0"/>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设计模式作用和意义</a:t>
            </a:r>
            <a:endParaRPr lang="zh-CN" altLang="en-US" dirty="0"/>
          </a:p>
        </p:txBody>
      </p:sp>
      <p:sp>
        <p:nvSpPr>
          <p:cNvPr id="4" name="内容占位符 3"/>
          <p:cNvSpPr>
            <a:spLocks noGrp="1"/>
          </p:cNvSpPr>
          <p:nvPr>
            <p:ph idx="1"/>
          </p:nvPr>
        </p:nvSpPr>
        <p:spPr/>
        <p:txBody>
          <a:bodyPr/>
          <a:lstStyle/>
          <a:p>
            <a:pPr marL="0" indent="0">
              <a:buNone/>
            </a:pPr>
            <a:r>
              <a:rPr lang="zh-CN" altLang="en-US" dirty="0"/>
              <a:t>设计模式记录和提炼了软件人员在面向对象软件设计中的成功经验和问题的解决方案，是系统可复用的基础。正确使用设计模式，有助于快速开发出可复用的系统。作用和研究意义体现在：</a:t>
            </a:r>
            <a:endParaRPr lang="en-US" altLang="zh-CN" dirty="0"/>
          </a:p>
          <a:p>
            <a:r>
              <a:rPr lang="zh-CN" altLang="en-US" b="1" dirty="0"/>
              <a:t>优化的设计经验</a:t>
            </a:r>
            <a:endParaRPr lang="en-US" altLang="zh-CN" b="1" dirty="0"/>
          </a:p>
          <a:p>
            <a:r>
              <a:rPr lang="zh-CN" altLang="en-US" b="1" dirty="0"/>
              <a:t>极高的复用性</a:t>
            </a:r>
            <a:endParaRPr lang="en-US" altLang="zh-CN" b="1" dirty="0"/>
          </a:p>
          <a:p>
            <a:r>
              <a:rPr lang="zh-CN" altLang="en-US" b="1" dirty="0"/>
              <a:t>丰富的表达能力</a:t>
            </a:r>
            <a:endParaRPr lang="en-US" altLang="zh-CN" b="1" dirty="0"/>
          </a:p>
          <a:p>
            <a:r>
              <a:rPr lang="zh-CN" altLang="en-US" b="1" dirty="0"/>
              <a:t>极低的耦合度</a:t>
            </a:r>
            <a:endParaRPr lang="zh-CN" altLang="en-US" b="1" dirty="0"/>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设计模式作用和意义</a:t>
            </a:r>
            <a:endParaRPr lang="zh-CN" altLang="en-US" dirty="0"/>
          </a:p>
        </p:txBody>
      </p:sp>
      <p:sp>
        <p:nvSpPr>
          <p:cNvPr id="4" name="内容占位符 3"/>
          <p:cNvSpPr>
            <a:spLocks noGrp="1"/>
          </p:cNvSpPr>
          <p:nvPr>
            <p:ph idx="1"/>
          </p:nvPr>
        </p:nvSpPr>
        <p:spPr/>
        <p:txBody>
          <a:bodyPr/>
          <a:lstStyle/>
          <a:p>
            <a:pPr marL="0" indent="0">
              <a:buNone/>
            </a:pPr>
            <a:r>
              <a:rPr lang="en-US" altLang="zh-CN" dirty="0"/>
              <a:t>1</a:t>
            </a:r>
            <a:r>
              <a:rPr lang="zh-CN" altLang="en-US" dirty="0"/>
              <a:t>）</a:t>
            </a:r>
            <a:r>
              <a:rPr lang="zh-CN" altLang="en-US" b="1" dirty="0"/>
              <a:t>优化的设计经验</a:t>
            </a:r>
            <a:endParaRPr lang="en-US" altLang="zh-CN" b="1" dirty="0"/>
          </a:p>
          <a:p>
            <a:pPr marL="0" indent="0">
              <a:buNone/>
            </a:pPr>
            <a:r>
              <a:rPr lang="zh-CN" altLang="en-US" dirty="0"/>
              <a:t>设计模式为开发者提供了良好的经过优化的设计经验。模式中所描述的解决方案是人们从不同角度对某个问题进行研究，然后得出来最通用、最灵活的解决方案。其中蕴含了有经验的程序员的设计经验，反映了开发者的经验、知识和洞察力，使新系统的开发者更容易理解，避免没必要的失误。</a:t>
            </a:r>
            <a:endParaRPr lang="en-US" altLang="zh-CN" dirty="0"/>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设计模式作用和意义</a:t>
            </a:r>
            <a:endParaRPr lang="zh-CN" altLang="en-US" dirty="0"/>
          </a:p>
        </p:txBody>
      </p:sp>
      <p:sp>
        <p:nvSpPr>
          <p:cNvPr id="4" name="内容占位符 3"/>
          <p:cNvSpPr>
            <a:spLocks noGrp="1"/>
          </p:cNvSpPr>
          <p:nvPr>
            <p:ph idx="1"/>
          </p:nvPr>
        </p:nvSpPr>
        <p:spPr/>
        <p:txBody>
          <a:bodyPr/>
          <a:lstStyle/>
          <a:p>
            <a:pPr marL="0" indent="0">
              <a:buNone/>
            </a:pPr>
            <a:r>
              <a:rPr lang="en-US" altLang="zh-CN" dirty="0"/>
              <a:t>2</a:t>
            </a:r>
            <a:r>
              <a:rPr lang="zh-CN" altLang="en-US" dirty="0"/>
              <a:t>）</a:t>
            </a:r>
            <a:r>
              <a:rPr lang="zh-CN" altLang="en-US" b="1" dirty="0"/>
              <a:t>极高的复用性</a:t>
            </a:r>
            <a:endParaRPr lang="en-US" altLang="zh-CN" b="1" dirty="0"/>
          </a:p>
          <a:p>
            <a:pPr marL="0" indent="0">
              <a:buNone/>
            </a:pPr>
            <a:r>
              <a:rPr lang="zh-CN" altLang="en-US" dirty="0"/>
              <a:t>设计模式为重用面向对象代码提供了一种方便的途径，使得复用某些成功的设计和结构更加容易。没有经验的程序员也可借助设计模式提高设计水平。多个模式可以组合起来构成完整的系统，这种基于模式的设计具有更大的灵活性、可扩展性和更好的可重用性。</a:t>
            </a:r>
            <a:endParaRPr lang="en-US" altLang="zh-CN" dirty="0"/>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设计模式作用和意义</a:t>
            </a:r>
            <a:endParaRPr lang="zh-CN" altLang="en-US" dirty="0"/>
          </a:p>
        </p:txBody>
      </p:sp>
      <p:sp>
        <p:nvSpPr>
          <p:cNvPr id="4" name="内容占位符 3"/>
          <p:cNvSpPr>
            <a:spLocks noGrp="1"/>
          </p:cNvSpPr>
          <p:nvPr>
            <p:ph idx="1"/>
          </p:nvPr>
        </p:nvSpPr>
        <p:spPr/>
        <p:txBody>
          <a:bodyPr/>
          <a:lstStyle/>
          <a:p>
            <a:pPr marL="0" indent="0">
              <a:buNone/>
            </a:pPr>
            <a:r>
              <a:rPr lang="en-US" altLang="zh-CN" b="1" dirty="0"/>
              <a:t>3</a:t>
            </a:r>
            <a:r>
              <a:rPr lang="zh-CN" altLang="en-US" b="1" dirty="0"/>
              <a:t>）丰富的表达能力</a:t>
            </a:r>
            <a:endParaRPr lang="en-US" altLang="zh-CN" b="1" dirty="0"/>
          </a:p>
          <a:p>
            <a:pPr marL="0" indent="0">
              <a:buNone/>
            </a:pPr>
            <a:r>
              <a:rPr lang="zh-CN" altLang="en-US" dirty="0"/>
              <a:t>设计模式极富表现力。在面向对象的编程中，软件编程人员往往更加注重以往代码的重用性和可维护性。通过提供某些类和对象的相互作用关系以及它们之间潜在联系的说明规范，设计模式甚至能够提高已有系统的文档管理和系统维护的有效性。</a:t>
            </a:r>
            <a:endParaRPr lang="en-US" altLang="zh-CN" dirty="0"/>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设计模式作用和意义</a:t>
            </a:r>
            <a:endParaRPr lang="zh-CN" altLang="en-US" dirty="0"/>
          </a:p>
        </p:txBody>
      </p:sp>
      <p:sp>
        <p:nvSpPr>
          <p:cNvPr id="4" name="内容占位符 3"/>
          <p:cNvSpPr>
            <a:spLocks noGrp="1"/>
          </p:cNvSpPr>
          <p:nvPr>
            <p:ph idx="1"/>
          </p:nvPr>
        </p:nvSpPr>
        <p:spPr/>
        <p:txBody>
          <a:bodyPr/>
          <a:lstStyle/>
          <a:p>
            <a:pPr marL="0" indent="0">
              <a:buNone/>
            </a:pPr>
            <a:r>
              <a:rPr lang="en-US" altLang="zh-CN" b="1" dirty="0"/>
              <a:t>4</a:t>
            </a:r>
            <a:r>
              <a:rPr lang="zh-CN" altLang="en-US" b="1" dirty="0"/>
              <a:t>）极低的耦合度</a:t>
            </a:r>
            <a:endParaRPr lang="en-US" altLang="zh-CN" b="1" dirty="0"/>
          </a:p>
          <a:p>
            <a:pPr marL="0" indent="0">
              <a:buNone/>
            </a:pPr>
            <a:r>
              <a:rPr lang="zh-CN" altLang="en-US" dirty="0"/>
              <a:t>设计模式的基本思想是将程序中可能变化的部分与不变的部分分离，尽量减少对象之间的耦合，当某些对象发生变化时，不会导致其他对象都发生变化。这样使得代码更容易扩展和维护，而且也让程序更容易读懂。</a:t>
            </a:r>
            <a:endParaRPr lang="en-US" altLang="zh-CN" dirty="0"/>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57EAB43-4DB3-4584-9D1A-14CB316047E7}"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PP_MARK_KEY" val="d0262c7d-d13f-4e4c-8b16-3906471d0464"/>
  <p:tag name="COMMONDATA" val="eyJoZGlkIjoiMWJmYmVhMGQ2YWQwOTc0ZDFkYmVkZTE0NzFkNThlYzIifQ=="/>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6401</Words>
  <Application>WPS 演示</Application>
  <PresentationFormat>全屏显示(4:3)</PresentationFormat>
  <Paragraphs>716</Paragraphs>
  <Slides>63</Slides>
  <Notes>66</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63</vt:i4>
      </vt:variant>
    </vt:vector>
  </HeadingPairs>
  <TitlesOfParts>
    <vt:vector size="78" baseType="lpstr">
      <vt:lpstr>Arial</vt:lpstr>
      <vt:lpstr>宋体</vt:lpstr>
      <vt:lpstr>Wingdings</vt:lpstr>
      <vt:lpstr>Times New Roman</vt:lpstr>
      <vt:lpstr>楷体</vt:lpstr>
      <vt:lpstr>微软雅黑</vt:lpstr>
      <vt:lpstr>Arial Unicode MS</vt:lpstr>
      <vt:lpstr>Wingdings</vt:lpstr>
      <vt:lpstr>Microsoft JhengHei Light</vt:lpstr>
      <vt:lpstr>system-ui</vt:lpstr>
      <vt:lpstr>ksdb</vt:lpstr>
      <vt:lpstr>Helvetica Neue</vt:lpstr>
      <vt:lpstr>-apple-system</vt:lpstr>
      <vt:lpstr>Network</vt:lpstr>
      <vt:lpstr>1_Network</vt:lpstr>
      <vt:lpstr>软件系统分析与设计</vt:lpstr>
      <vt:lpstr>设计模式概述</vt:lpstr>
      <vt:lpstr>设计模式概述</vt:lpstr>
      <vt:lpstr>设计模式概述</vt:lpstr>
      <vt:lpstr>设计模式概述</vt:lpstr>
      <vt:lpstr>设计模式原则</vt:lpstr>
      <vt:lpstr>设计模式原则</vt:lpstr>
      <vt:lpstr>设计模式分类</vt:lpstr>
      <vt:lpstr>设计模式分类</vt:lpstr>
      <vt:lpstr>设计模式分类</vt:lpstr>
      <vt:lpstr>设计模式分类</vt:lpstr>
      <vt:lpstr>设计模式分类</vt:lpstr>
      <vt:lpstr>设计模式分类</vt:lpstr>
      <vt:lpstr>设计模式分类</vt:lpstr>
      <vt:lpstr>设计模式分类</vt:lpstr>
      <vt:lpstr>单例模式概述</vt:lpstr>
      <vt:lpstr>单例模式概述</vt:lpstr>
      <vt:lpstr>单例模式概述</vt:lpstr>
      <vt:lpstr>单例模式概述</vt:lpstr>
      <vt:lpstr>单例模式概述</vt:lpstr>
      <vt:lpstr>单例模式概述</vt:lpstr>
      <vt:lpstr>单例模式实现</vt:lpstr>
      <vt:lpstr>单例模式实现</vt:lpstr>
      <vt:lpstr>单例模式实现</vt:lpstr>
      <vt:lpstr>单例模式实现</vt:lpstr>
      <vt:lpstr>单例模式实现</vt:lpstr>
      <vt:lpstr>单例模式实现</vt:lpstr>
      <vt:lpstr>单例模式实现</vt:lpstr>
      <vt:lpstr>单例模式总结</vt:lpstr>
      <vt:lpstr>工厂模式概述</vt:lpstr>
      <vt:lpstr>工厂模式概述</vt:lpstr>
      <vt:lpstr>工厂模式分类</vt:lpstr>
      <vt:lpstr>工厂模式分类</vt:lpstr>
      <vt:lpstr>工厂模式分类</vt:lpstr>
      <vt:lpstr>工厂模式分类</vt:lpstr>
      <vt:lpstr>工厂模式分类</vt:lpstr>
      <vt:lpstr>工厂模式分类</vt:lpstr>
      <vt:lpstr>工厂模式分类</vt:lpstr>
      <vt:lpstr>工厂模式分类</vt:lpstr>
      <vt:lpstr>工厂模式分类</vt:lpstr>
      <vt:lpstr>工厂模式分类</vt:lpstr>
      <vt:lpstr>工厂模式分类</vt:lpstr>
      <vt:lpstr>工厂模式分类</vt:lpstr>
      <vt:lpstr>工厂模式分类</vt:lpstr>
      <vt:lpstr>工厂模式分类</vt:lpstr>
      <vt:lpstr>工厂模式分类</vt:lpstr>
      <vt:lpstr>工厂模式分类</vt:lpstr>
      <vt:lpstr>工厂模式分类</vt:lpstr>
      <vt:lpstr>观察者模式</vt:lpstr>
      <vt:lpstr>观察者模式</vt:lpstr>
      <vt:lpstr>观察者模式</vt:lpstr>
      <vt:lpstr>观察者模式</vt:lpstr>
      <vt:lpstr>观察者模式</vt:lpstr>
      <vt:lpstr>观察者模式</vt:lpstr>
      <vt:lpstr>设计模式使用策略</vt:lpstr>
      <vt:lpstr>设计模式使用策略</vt:lpstr>
      <vt:lpstr>设计模式使用策略</vt:lpstr>
      <vt:lpstr>设计模式使用策略</vt:lpstr>
      <vt:lpstr>设计模式作用和意义</vt:lpstr>
      <vt:lpstr>设计模式作用和意义</vt:lpstr>
      <vt:lpstr>设计模式作用和意义</vt:lpstr>
      <vt:lpstr>设计模式作用和意义</vt:lpstr>
      <vt:lpstr>设计模式作用和意义</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Think</dc:creator>
  <cp:lastModifiedBy>小兔子乖乖</cp:lastModifiedBy>
  <cp:revision>230</cp:revision>
  <dcterms:created xsi:type="dcterms:W3CDTF">2023-06-07T09:52:00Z</dcterms:created>
  <dcterms:modified xsi:type="dcterms:W3CDTF">2025-06-17T12:48:36Z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FFB61329C20B46118EAFF2218E797D3B_13</vt:lpwstr>
  </property>
  <property fmtid="{D5CDD505-2E9C-101B-9397-08002B2CF9AE}" pid="4" name="KSOProductBuildVer">
    <vt:lpwstr>2052-11.1.0.12165</vt:lpwstr>
  </property>
</Properties>
</file>