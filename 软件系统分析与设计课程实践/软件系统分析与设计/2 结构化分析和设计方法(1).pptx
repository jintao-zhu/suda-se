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6"/>
  </p:handoutMasterIdLst>
  <p:sldIdLst>
    <p:sldId id="258" r:id="rId3"/>
    <p:sldId id="743" r:id="rId5"/>
    <p:sldId id="641" r:id="rId6"/>
    <p:sldId id="644" r:id="rId7"/>
    <p:sldId id="645" r:id="rId8"/>
    <p:sldId id="646" r:id="rId9"/>
    <p:sldId id="744" r:id="rId10"/>
    <p:sldId id="648" r:id="rId11"/>
    <p:sldId id="649" r:id="rId12"/>
    <p:sldId id="650" r:id="rId13"/>
    <p:sldId id="651" r:id="rId14"/>
    <p:sldId id="640" r:id="rId15"/>
    <p:sldId id="745" r:id="rId16"/>
    <p:sldId id="653" r:id="rId17"/>
    <p:sldId id="654" r:id="rId18"/>
    <p:sldId id="655" r:id="rId19"/>
    <p:sldId id="656" r:id="rId20"/>
    <p:sldId id="657" r:id="rId21"/>
    <p:sldId id="658" r:id="rId22"/>
    <p:sldId id="761" r:id="rId23"/>
    <p:sldId id="762" r:id="rId24"/>
    <p:sldId id="763" r:id="rId25"/>
    <p:sldId id="764" r:id="rId26"/>
    <p:sldId id="765" r:id="rId27"/>
    <p:sldId id="766" r:id="rId28"/>
    <p:sldId id="659" r:id="rId29"/>
    <p:sldId id="662" r:id="rId30"/>
    <p:sldId id="663" r:id="rId31"/>
    <p:sldId id="746" r:id="rId32"/>
    <p:sldId id="665" r:id="rId33"/>
    <p:sldId id="667" r:id="rId34"/>
    <p:sldId id="668" r:id="rId35"/>
    <p:sldId id="669" r:id="rId36"/>
    <p:sldId id="671" r:id="rId37"/>
    <p:sldId id="672" r:id="rId38"/>
    <p:sldId id="673" r:id="rId39"/>
    <p:sldId id="674" r:id="rId40"/>
    <p:sldId id="676" r:id="rId41"/>
    <p:sldId id="677" r:id="rId42"/>
    <p:sldId id="678" r:id="rId43"/>
    <p:sldId id="679" r:id="rId44"/>
    <p:sldId id="748" r:id="rId45"/>
  </p:sldIdLst>
  <p:sldSz cx="9144000" cy="6858000" type="screen4x3"/>
  <p:notesSz cx="6858000" cy="9144000"/>
  <p:custDataLst>
    <p:tags r:id="rId50"/>
  </p:custDataLst>
  <p:defaultTextStyle>
    <a:defPPr>
      <a:defRPr lang="en-US"/>
    </a:defPPr>
    <a:lvl1pPr marL="0" lvl="0"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D7FFB0"/>
    <a:srgbClr val="A8C9EA"/>
    <a:srgbClr val="CCFF66"/>
    <a:srgbClr val="FFFFCC"/>
    <a:srgbClr val="F9DF9F"/>
    <a:srgbClr val="FFFF66"/>
    <a:srgbClr val="CCECFF"/>
    <a:srgbClr val="0A06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828" autoAdjust="0"/>
    <p:restoredTop sz="56244" autoAdjust="0"/>
  </p:normalViewPr>
  <p:slideViewPr>
    <p:cSldViewPr showGuides="1">
      <p:cViewPr varScale="1">
        <p:scale>
          <a:sx n="42" d="100"/>
          <a:sy n="42" d="100"/>
        </p:scale>
        <p:origin x="2205" y="27"/>
      </p:cViewPr>
      <p:guideLst>
        <p:guide orient="horz" pos="2151"/>
        <p:guide pos="285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0" Type="http://schemas.openxmlformats.org/officeDocument/2006/relationships/tags" Target="tags/tag1.xml"/><Relationship Id="rId5" Type="http://schemas.openxmlformats.org/officeDocument/2006/relationships/slide" Target="slides/slide2.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handoutMaster" Target="handoutMasters/handoutMaster1.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035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98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9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sym typeface="Wingdings" panose="05000000000000000000" pitchFamily="2" charset="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直接连接符 23"/>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5" name="矩形 24"/>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椭圆 29"/>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标题 7"/>
          <p:cNvSpPr>
            <a:spLocks noGrp="1"/>
          </p:cNvSpPr>
          <p:nvPr>
            <p:ph type="ctrTitle"/>
          </p:nvPr>
        </p:nvSpPr>
        <p:spPr>
          <a:xfrm>
            <a:off x="2286000" y="3124200"/>
            <a:ext cx="6172200" cy="1894362"/>
          </a:xfrm>
        </p:spPr>
        <p:txBody>
          <a:bodyPr/>
          <a:lstStyle>
            <a:lvl1pPr>
              <a:defRPr sz="4000" b="1"/>
            </a:lvl1pPr>
          </a:lstStyle>
          <a:p>
            <a:r>
              <a:rPr lang="zh-CN" altLang="en-US" dirty="0"/>
              <a:t>单击此处编辑母版标题样式</a:t>
            </a:r>
            <a:endParaRPr lang="en-US" dirty="0"/>
          </a:p>
        </p:txBody>
      </p:sp>
      <p:sp>
        <p:nvSpPr>
          <p:cNvPr id="9" name="副标题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dirty="0"/>
              <a:t>单击此处编辑母版副标题样式</a:t>
            </a:r>
            <a:endParaRPr lang="en-US" dirty="0"/>
          </a:p>
        </p:txBody>
      </p:sp>
      <p:sp>
        <p:nvSpPr>
          <p:cNvPr id="31" name="灯片编号占位符 28"/>
          <p:cNvSpPr>
            <a:spLocks noGrp="1"/>
          </p:cNvSpPr>
          <p:nvPr>
            <p:ph type="sldNum" sz="quarter" idx="4"/>
          </p:nvPr>
        </p:nvSpPr>
        <p:spPr bwMode="auto">
          <a:xfrm>
            <a:off x="1325563" y="4929188"/>
            <a:ext cx="609600" cy="517525"/>
          </a:xfrm>
          <a:prstGeom prst="rect">
            <a:avLst/>
          </a:prstGeom>
        </p:spPr>
        <p:txBody>
          <a:bodyPr vert="horz" anchor="ctr"/>
          <a:lstStyle/>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1"/>
            </a:lvl1pPr>
          </a:lstStyle>
          <a:p>
            <a:r>
              <a:rPr lang="zh-CN" altLang="en-US" dirty="0"/>
              <a:t>单击此处编辑母版标题样式</a:t>
            </a:r>
            <a:endParaRPr lang="en-US" dirty="0"/>
          </a:p>
        </p:txBody>
      </p:sp>
      <p:sp>
        <p:nvSpPr>
          <p:cNvPr id="8" name="内容占位符 7"/>
          <p:cNvSpPr>
            <a:spLocks noGrp="1"/>
          </p:cNvSpPr>
          <p:nvPr>
            <p:ph sz="quarter" idx="1"/>
          </p:nvPr>
        </p:nvSpPr>
        <p:spPr>
          <a:xfrm>
            <a:off x="457200" y="1600200"/>
            <a:ext cx="7467600" cy="4873752"/>
          </a:xfrm>
        </p:spPr>
        <p:txBody>
          <a:bodyPr>
            <a:normAutofit/>
          </a:bodyPr>
          <a:lstStyle>
            <a:lvl1pPr>
              <a:defRPr sz="2400" b="1"/>
            </a:lvl1pPr>
            <a:lvl2pPr>
              <a:defRPr sz="2400" b="1"/>
            </a:lvl2pPr>
            <a:lvl3pPr>
              <a:defRPr sz="2400" b="1"/>
            </a:lvl3pPr>
            <a:lvl4pPr>
              <a:defRPr sz="2400" b="1"/>
            </a:lvl4pPr>
            <a:lvl5pPr>
              <a:defRPr sz="2400" b="1"/>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1" name="灯片编号占位符 8"/>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2"/>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矩形 23"/>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5" name="椭圆 24"/>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直接连接符 29"/>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a:xfrm>
            <a:off x="2286000" y="2895600"/>
            <a:ext cx="6172200" cy="2053590"/>
          </a:xfrm>
        </p:spPr>
        <p:txBody>
          <a:bodyPr/>
          <a:lstStyle>
            <a:lvl1pPr algn="l">
              <a:buNone/>
              <a:defRPr sz="3000" b="1" cap="small" baseline="0"/>
            </a:lvl1pPr>
          </a:lstStyle>
          <a:p>
            <a:r>
              <a:rPr lang="zh-CN" altLang="en-US"/>
              <a:t>单击此处编辑母版标题样式</a:t>
            </a:r>
            <a:endParaRPr lang="en-US"/>
          </a:p>
        </p:txBody>
      </p:sp>
      <p:sp>
        <p:nvSpPr>
          <p:cNvPr id="3" name="文本占位符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31" name="灯片编号占位符 5"/>
          <p:cNvSpPr>
            <a:spLocks noGrp="1"/>
          </p:cNvSpPr>
          <p:nvPr>
            <p:ph type="sldNum" sz="quarter" idx="4"/>
          </p:nvPr>
        </p:nvSpPr>
        <p:spPr bwMode="auto">
          <a:xfrm>
            <a:off x="1339850" y="4929188"/>
            <a:ext cx="609600" cy="517525"/>
          </a:xfrm>
          <a:prstGeom prst="rect">
            <a:avLst/>
          </a:prstGeom>
        </p:spPr>
        <p:txBody>
          <a:bodyPr vert="horz" anchor="ctr"/>
          <a:lstStyle/>
          <a:p>
            <a:pPr algn="ctr">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9" name="内容占位符 8"/>
          <p:cNvSpPr>
            <a:spLocks noGrp="1"/>
          </p:cNvSpPr>
          <p:nvPr>
            <p:ph sz="quarter" idx="1"/>
          </p:nvPr>
        </p:nvSpPr>
        <p:spPr>
          <a:xfrm>
            <a:off x="457200"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1" name="内容占位符 10"/>
          <p:cNvSpPr>
            <a:spLocks noGrp="1"/>
          </p:cNvSpPr>
          <p:nvPr>
            <p:ph sz="quarter" idx="2"/>
          </p:nvPr>
        </p:nvSpPr>
        <p:spPr>
          <a:xfrm>
            <a:off x="4270248"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7543800" cy="1143000"/>
          </a:xfrm>
        </p:spPr>
        <p:txBody>
          <a:bodyPr/>
          <a:lstStyle>
            <a:lvl1pPr>
              <a:defRPr/>
            </a:lvl1pPr>
          </a:lstStyle>
          <a:p>
            <a:r>
              <a:rPr lang="zh-CN" altLang="en-US"/>
              <a:t>单击此处编辑母版标题样式</a:t>
            </a:r>
            <a:endParaRPr lang="en-US"/>
          </a:p>
        </p:txBody>
      </p:sp>
      <p:sp>
        <p:nvSpPr>
          <p:cNvPr id="11" name="内容占位符 10"/>
          <p:cNvSpPr>
            <a:spLocks noGrp="1"/>
          </p:cNvSpPr>
          <p:nvPr>
            <p:ph sz="quarter" idx="2"/>
          </p:nvPr>
        </p:nvSpPr>
        <p:spPr>
          <a:xfrm>
            <a:off x="457200"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3" name="内容占位符 12"/>
          <p:cNvSpPr>
            <a:spLocks noGrp="1"/>
          </p:cNvSpPr>
          <p:nvPr>
            <p:ph sz="quarter" idx="4"/>
          </p:nvPr>
        </p:nvSpPr>
        <p:spPr>
          <a:xfrm>
            <a:off x="4371975"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2" name="文本占位符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14" name="文本占位符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11" name="灯片编号占位符 6"/>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13" name="直接连接符 12"/>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6148" name="直接连接符 14"/>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6149" name="直接连接符 16"/>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7" name="矩形 16"/>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6151" name="直接连接符 18"/>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9" name="椭圆 18"/>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rot="5400000">
            <a:off x="3371850" y="3200400"/>
            <a:ext cx="6309360" cy="457200"/>
          </a:xfrm>
        </p:spPr>
        <p:txBody>
          <a:bodyPr/>
          <a:lstStyle>
            <a:lvl1pPr algn="l">
              <a:buNone/>
              <a:defRPr sz="2000" b="1" cap="small" baseline="0"/>
            </a:lvl1pPr>
          </a:lstStyle>
          <a:p>
            <a:r>
              <a:rPr lang="zh-CN" altLang="en-US"/>
              <a:t>单击此处编辑母版标题样式</a:t>
            </a:r>
            <a:endParaRPr lang="en-US"/>
          </a:p>
        </p:txBody>
      </p:sp>
      <p:sp>
        <p:nvSpPr>
          <p:cNvPr id="3" name="文本占位符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zh-CN" altLang="en-US"/>
              <a:t>单击此处编辑母版文本样式</a:t>
            </a:r>
            <a:endParaRPr lang="zh-CN" altLang="en-US"/>
          </a:p>
        </p:txBody>
      </p:sp>
      <p:sp>
        <p:nvSpPr>
          <p:cNvPr id="18" name="内容占位符 17"/>
          <p:cNvSpPr>
            <a:spLocks noGrp="1"/>
          </p:cNvSpPr>
          <p:nvPr>
            <p:ph sz="quarter" idx="1"/>
          </p:nvPr>
        </p:nvSpPr>
        <p:spPr>
          <a:xfrm>
            <a:off x="304800" y="274320"/>
            <a:ext cx="5638800" cy="632764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20" name="灯片编号占位符 21"/>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3" name="椭圆 12"/>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7172" name="直接连接符 14"/>
          <p:cNvSpPr/>
          <p:nvPr/>
        </p:nvSpPr>
        <p:spPr>
          <a:xfrm>
            <a:off x="8991600" y="0"/>
            <a:ext cx="0" cy="6858000"/>
          </a:xfrm>
          <a:prstGeom prst="line">
            <a:avLst/>
          </a:prstGeom>
          <a:ln w="9525" cap="flat" cmpd="sng">
            <a:solidFill>
              <a:schemeClr val="tx1"/>
            </a:solidFill>
            <a:prstDash val="solid"/>
            <a:headEnd type="none" w="med" len="med"/>
            <a:tailEnd type="none" w="med" len="med"/>
          </a:ln>
        </p:spPr>
      </p:sp>
      <p:sp>
        <p:nvSpPr>
          <p:cNvPr id="15" name="矩形 14"/>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7174" name="直接连接符 17"/>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8" name="直接连接符 1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7176" name="直接连接符 19"/>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2" name="标题 1"/>
          <p:cNvSpPr>
            <a:spLocks noGrp="1"/>
          </p:cNvSpPr>
          <p:nvPr>
            <p:ph type="title"/>
          </p:nvPr>
        </p:nvSpPr>
        <p:spPr>
          <a:xfrm rot="5400000">
            <a:off x="3350133" y="3200400"/>
            <a:ext cx="6309360" cy="457200"/>
          </a:xfrm>
        </p:spPr>
        <p:txBody>
          <a:bodyPr/>
          <a:lstStyle>
            <a:lvl1pPr algn="l">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3200" b="1" i="0" u="none" strike="noStrike" kern="1200" cap="none" spc="0" normalizeH="0" baseline="0" noProof="0">
                <a:ln>
                  <a:noFill/>
                </a:ln>
                <a:solidFill>
                  <a:schemeClr val="lt1"/>
                </a:solidFill>
                <a:effectLst/>
                <a:uLnTx/>
                <a:uFillTx/>
                <a:latin typeface="+mn-lt"/>
                <a:ea typeface="+mn-ea"/>
                <a:cs typeface="+mn-cs"/>
              </a:rPr>
              <a:t>单击图标添加图片</a:t>
            </a:r>
            <a:endParaRPr kumimoji="0" lang="en-US" sz="3200" b="1" i="0" u="none" strike="noStrike" kern="1200" cap="none" spc="0" normalizeH="0" baseline="0" noProof="0" dirty="0">
              <a:ln>
                <a:noFill/>
              </a:ln>
              <a:solidFill>
                <a:schemeClr val="lt1"/>
              </a:solidFill>
              <a:effectLst/>
              <a:uLnTx/>
              <a:uFillTx/>
              <a:latin typeface="+mn-lt"/>
              <a:ea typeface="+mn-ea"/>
              <a:cs typeface="+mn-cs"/>
            </a:endParaRPr>
          </a:p>
        </p:txBody>
      </p:sp>
      <p:sp>
        <p:nvSpPr>
          <p:cNvPr id="4" name="文本占位符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zh-CN" altLang="en-US"/>
              <a:t>单击此处编辑母版文本样式</a:t>
            </a:r>
            <a:endParaRPr lang="zh-CN" altLang="en-US"/>
          </a:p>
        </p:txBody>
      </p:sp>
      <p:sp>
        <p:nvSpPr>
          <p:cNvPr id="20" name="灯片编号占位符 17"/>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1676400" cy="585152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直接连接符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22" name="标题占位符 21"/>
          <p:cNvSpPr>
            <a:spLocks noGrp="1"/>
          </p:cNvSpPr>
          <p:nvPr>
            <p:ph type="title"/>
          </p:nvPr>
        </p:nvSpPr>
        <p:spPr>
          <a:xfrm>
            <a:off x="457200" y="274638"/>
            <a:ext cx="7467600" cy="1143000"/>
          </a:xfrm>
          <a:prstGeom prst="rect">
            <a:avLst/>
          </a:prstGeom>
        </p:spPr>
        <p:txBody>
          <a:bodyPr vert="horz" anchor="b"/>
          <a:lstStyle/>
          <a:p>
            <a:pPr lvl="0"/>
            <a:r>
              <a:rPr lang="zh-CN" altLang="en-US" dirty="0"/>
              <a:t>单击此处编辑母版标题样式</a:t>
            </a:r>
            <a:endParaRPr lang="zh-CN" altLang="en-US" dirty="0"/>
          </a:p>
        </p:txBody>
      </p:sp>
      <p:sp>
        <p:nvSpPr>
          <p:cNvPr id="1028" name="文本占位符 12"/>
          <p:cNvSpPr>
            <a:spLocks noGrp="1"/>
          </p:cNvSpPr>
          <p:nvPr>
            <p:ph type="body" idx="1"/>
          </p:nvPr>
        </p:nvSpPr>
        <p:spPr>
          <a:xfrm>
            <a:off x="457200" y="1600200"/>
            <a:ext cx="7467600" cy="487362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直接连接符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030" name="直接连接符 8"/>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0" name="矩形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032" name="直接连接符 10"/>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2" name="椭圆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3" name="灯片编号占位符 22"/>
          <p:cNvSpPr>
            <a:spLocks noGrp="1"/>
          </p:cNvSpPr>
          <p:nvPr>
            <p:ph type="sldNum" sz="quarter" idx="4"/>
          </p:nvPr>
        </p:nvSpPr>
        <p:spPr>
          <a:xfrm>
            <a:off x="8129588" y="5734050"/>
            <a:ext cx="609600" cy="520700"/>
          </a:xfrm>
          <a:prstGeom prst="rect">
            <a:avLst/>
          </a:prstGeom>
        </p:spPr>
        <p:txBody>
          <a:bodyPr vert="horz" anchor="ctr"/>
          <a:lstStyle>
            <a:lvl1pPr algn="ctr">
              <a:defRPr sz="1400" b="1">
                <a:solidFill>
                  <a:srgbClr val="FFFFFF"/>
                </a:solidFill>
              </a:defRPr>
            </a:lvl1p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200" b="1" kern="1200" cap="small">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Century Schoolbook" panose="02040604050505020304" pitchFamily="18" charset="0"/>
        </a:defRPr>
      </a:lvl2pPr>
      <a:lvl3pPr algn="l" rtl="0" eaLnBrk="0" fontAlgn="base" hangingPunct="0">
        <a:spcBef>
          <a:spcPct val="0"/>
        </a:spcBef>
        <a:spcAft>
          <a:spcPct val="0"/>
        </a:spcAft>
        <a:defRPr sz="3200" b="1">
          <a:solidFill>
            <a:schemeClr val="tx2"/>
          </a:solidFill>
          <a:latin typeface="Century Schoolbook" panose="02040604050505020304" pitchFamily="18" charset="0"/>
        </a:defRPr>
      </a:lvl3pPr>
      <a:lvl4pPr algn="l" rtl="0" eaLnBrk="0" fontAlgn="base" hangingPunct="0">
        <a:spcBef>
          <a:spcPct val="0"/>
        </a:spcBef>
        <a:spcAft>
          <a:spcPct val="0"/>
        </a:spcAft>
        <a:defRPr sz="3200" b="1">
          <a:solidFill>
            <a:schemeClr val="tx2"/>
          </a:solidFill>
          <a:latin typeface="Century Schoolbook" panose="02040604050505020304" pitchFamily="18" charset="0"/>
        </a:defRPr>
      </a:lvl4pPr>
      <a:lvl5pPr algn="l" rtl="0" eaLnBrk="0" fontAlgn="base" hangingPunct="0">
        <a:spcBef>
          <a:spcPct val="0"/>
        </a:spcBef>
        <a:spcAft>
          <a:spcPct val="0"/>
        </a:spcAft>
        <a:defRPr sz="3200" b="1">
          <a:solidFill>
            <a:schemeClr val="tx2"/>
          </a:solidFill>
          <a:latin typeface="Century Schoolbook" panose="02040604050505020304" pitchFamily="18" charset="0"/>
        </a:defRPr>
      </a:lvl5pPr>
      <a:lvl6pPr marL="457200" algn="l" rtl="0" fontAlgn="base">
        <a:spcBef>
          <a:spcPct val="0"/>
        </a:spcBef>
        <a:spcAft>
          <a:spcPct val="0"/>
        </a:spcAft>
        <a:defRPr sz="3200" b="1">
          <a:solidFill>
            <a:schemeClr val="tx2"/>
          </a:solidFill>
          <a:latin typeface="Century Schoolbook" panose="02040604050505020304" pitchFamily="18" charset="0"/>
        </a:defRPr>
      </a:lvl6pPr>
      <a:lvl7pPr marL="914400" algn="l" rtl="0" fontAlgn="base">
        <a:spcBef>
          <a:spcPct val="0"/>
        </a:spcBef>
        <a:spcAft>
          <a:spcPct val="0"/>
        </a:spcAft>
        <a:defRPr sz="3200" b="1">
          <a:solidFill>
            <a:schemeClr val="tx2"/>
          </a:solidFill>
          <a:latin typeface="Century Schoolbook" panose="02040604050505020304" pitchFamily="18" charset="0"/>
        </a:defRPr>
      </a:lvl7pPr>
      <a:lvl8pPr marL="1371600" algn="l" rtl="0" fontAlgn="base">
        <a:spcBef>
          <a:spcPct val="0"/>
        </a:spcBef>
        <a:spcAft>
          <a:spcPct val="0"/>
        </a:spcAft>
        <a:defRPr sz="3200" b="1">
          <a:solidFill>
            <a:schemeClr val="tx2"/>
          </a:solidFill>
          <a:latin typeface="Century Schoolbook" panose="02040604050505020304" pitchFamily="18" charset="0"/>
        </a:defRPr>
      </a:lvl8pPr>
      <a:lvl9pPr marL="1828800" algn="l" rtl="0" fontAlgn="base">
        <a:spcBef>
          <a:spcPct val="0"/>
        </a:spcBef>
        <a:spcAft>
          <a:spcPct val="0"/>
        </a:spcAft>
        <a:defRPr sz="3200" b="1">
          <a:solidFill>
            <a:schemeClr val="tx2"/>
          </a:solidFill>
          <a:latin typeface="Century Schoolbook" panose="02040604050505020304"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1.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ChangeArrowheads="1"/>
          </p:cNvSpPr>
          <p:nvPr>
            <p:ph type="ctrTitle"/>
          </p:nvPr>
        </p:nvSpPr>
        <p:spPr>
          <a:xfrm>
            <a:off x="2339975" y="2060575"/>
            <a:ext cx="6172200" cy="2165350"/>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软件系统分析与设计</a:t>
            </a:r>
            <a:br>
              <a:rPr kumimoji="0" lang="en-US" altLang="zh-CN"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Software System Analysis and Design</a:t>
            </a:r>
            <a:endParaRPr kumimoji="0" lang="zh-CN" altLang="en-US"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95" name="灯片编号占位符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回顾</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18435" name="内容占位符 2"/>
          <p:cNvSpPr>
            <a:spLocks noGrp="1"/>
          </p:cNvSpPr>
          <p:nvPr>
            <p:ph sz="quarter" idx="1"/>
          </p:nvPr>
        </p:nvSpPr>
        <p:spPr>
          <a:xfrm>
            <a:off x="457200" y="1600200"/>
            <a:ext cx="7872095" cy="4873625"/>
          </a:xfrm>
        </p:spPr>
        <p:txBody>
          <a:bodyPr vert="horz" wrap="square" lIns="91440" tIns="45720" rIns="91440" bIns="45720" numCol="1" anchor="t" anchorCtr="0" compatLnSpc="1">
            <a:normAutofit/>
          </a:bodyPr>
          <a:lstStyle/>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软件的发展</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软件危机的产生</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软件工程的提出</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软件工程三要素</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1097280" marR="0" lvl="2"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模型｜方法｜工具</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软件开发过程模型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1097280" marR="0" lvl="2"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线性模型｜增量模型｜螺旋模型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软件开发方法</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1097280" marR="0" lvl="2"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结构化方法｜面向对象方法</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软件开发工具</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1097280" marR="0" lvl="2"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工具｜工具接口｜用户接口</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1097280" marR="0" lvl="2"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计算机辅助软件工程</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CASE</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回顾</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18435" name="内容占位符 2"/>
          <p:cNvSpPr>
            <a:spLocks noGrp="1"/>
          </p:cNvSpPr>
          <p:nvPr>
            <p:ph sz="quarter" idx="1"/>
          </p:nvPr>
        </p:nvSpPr>
        <p:spPr>
          <a:xfrm>
            <a:off x="457200" y="1600200"/>
            <a:ext cx="7872095" cy="4873625"/>
          </a:xfrm>
        </p:spPr>
        <p:txBody>
          <a:bodyPr vert="horz" wrap="square" lIns="91440" tIns="45720" rIns="91440" bIns="45720" numCol="1" anchor="t" anchorCtr="0" compatLnSpc="1">
            <a:normAutofit/>
          </a:bodyPr>
          <a:lstStyle/>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软件的发展</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软件危机的产生</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软件工程的提出</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软件工程三要素</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1097280" marR="0" lvl="2"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模型｜方法｜工具</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软件开发过程模型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1097280" marR="0" lvl="2"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线性模型｜增量模型｜螺旋模型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软件开发方法</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1097280" marR="0" lvl="2"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highlight>
                  <a:srgbClr val="FFFF00"/>
                </a:highlight>
                <a:uLnTx/>
                <a:uFillTx/>
                <a:latin typeface="+mn-lt"/>
                <a:ea typeface="+mn-ea"/>
                <a:cs typeface="+mn-cs"/>
              </a:rPr>
              <a:t>结构化方法</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｜面向对象方法</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软件开发工具</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1097280" marR="0" lvl="2"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工具｜工具接口｜用户接口</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1097280" marR="0" lvl="2"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计算机辅助软件工程</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CASE</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结构化分析和设计方法</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a:bodyPr>
          <a:lstStyle/>
          <a:p>
            <a:pPr eaLnBrk="1" hangingPunct="1"/>
            <a:r>
              <a:rPr lang="zh-CN" altLang="zh-CN" dirty="0">
                <a:sym typeface="+mn-ea"/>
              </a:rPr>
              <a:t>软件开发始于</a:t>
            </a:r>
            <a:r>
              <a:rPr lang="zh-CN" altLang="zh-CN" dirty="0">
                <a:solidFill>
                  <a:srgbClr val="00B050"/>
                </a:solidFill>
                <a:sym typeface="+mn-ea"/>
              </a:rPr>
              <a:t>可行性研究</a:t>
            </a:r>
            <a:r>
              <a:rPr lang="zh-CN" altLang="zh-CN" dirty="0">
                <a:sym typeface="+mn-ea"/>
              </a:rPr>
              <a:t>，本章讨论的是确立可行性之后，如何用结构化的思想、工具和方法，逐步进行分析与设计？</a:t>
            </a:r>
            <a:endParaRPr lang="zh-CN" altLang="zh-CN" dirty="0">
              <a:sym typeface="+mn-ea"/>
            </a:endParaRPr>
          </a:p>
          <a:p>
            <a:pPr eaLnBrk="1" hangingPunct="1"/>
            <a:endParaRPr lang="zh-CN" altLang="zh-CN" dirty="0">
              <a:sym typeface="+mn-ea"/>
            </a:endParaRPr>
          </a:p>
          <a:p>
            <a:pPr eaLnBrk="1" hangingPunct="1"/>
            <a:r>
              <a:rPr lang="zh-CN" altLang="zh-CN" dirty="0">
                <a:sym typeface="+mn-ea"/>
              </a:rPr>
              <a:t>本章要求：</a:t>
            </a:r>
            <a:endParaRPr lang="zh-CN" altLang="zh-CN" dirty="0">
              <a:sym typeface="+mn-ea"/>
            </a:endParaRPr>
          </a:p>
          <a:p>
            <a:pPr eaLnBrk="1" hangingPunct="1"/>
            <a:r>
              <a:rPr lang="zh-CN" altLang="zh-CN" dirty="0">
                <a:sym typeface="+mn-ea"/>
              </a:rPr>
              <a:t>理解结构化分析和设计方法思想和基本过程</a:t>
            </a:r>
            <a:endParaRPr lang="zh-CN" altLang="zh-CN" b="1" dirty="0"/>
          </a:p>
          <a:p>
            <a:pPr eaLnBrk="1" hangingPunct="1"/>
            <a:r>
              <a:rPr lang="zh-CN" altLang="zh-CN" dirty="0">
                <a:sym typeface="+mn-ea"/>
              </a:rPr>
              <a:t>了解并使用结构化分析中的工具数据流图、</a:t>
            </a:r>
            <a:r>
              <a:rPr lang="en-US" altLang="zh-CN" dirty="0">
                <a:sym typeface="+mn-ea"/>
              </a:rPr>
              <a:t>NS</a:t>
            </a:r>
            <a:r>
              <a:rPr lang="zh-CN" altLang="zh-CN" dirty="0">
                <a:sym typeface="+mn-ea"/>
              </a:rPr>
              <a:t>图等</a:t>
            </a:r>
            <a:endParaRPr lang="zh-CN" altLang="zh-CN" b="1" dirty="0"/>
          </a:p>
          <a:p>
            <a:pPr eaLnBrk="1" hangingPunct="1"/>
            <a:r>
              <a:rPr lang="zh-CN" altLang="zh-CN" dirty="0">
                <a:sym typeface="+mn-ea"/>
              </a:rPr>
              <a:t>能应用结构化方法进行软件系统的分析设计</a:t>
            </a:r>
            <a:endParaRPr kumimoji="0" lang="zh-CN" altLang="en-US" sz="2400" b="1" i="0" u="none" strike="noStrike" kern="1200" cap="none" spc="0" normalizeH="0" baseline="0" noProof="0" dirty="0">
              <a:ln>
                <a:noFill/>
              </a:ln>
              <a:solidFill>
                <a:srgbClr val="C00000"/>
              </a:solidFill>
              <a:effectLst/>
              <a:uLnTx/>
              <a:uFillTx/>
              <a:latin typeface="+mn-lt"/>
              <a:ea typeface="+mn-ea"/>
              <a:cs typeface="+mn-cs"/>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结构化分析和设计方法</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a:bodyPr>
          <a:lstStyle/>
          <a:p>
            <a:pPr eaLnBrk="1" hangingPunct="1"/>
            <a:r>
              <a:rPr lang="zh-CN" altLang="zh-CN" dirty="0">
                <a:sym typeface="+mn-ea"/>
              </a:rPr>
              <a:t>软件开发始于</a:t>
            </a:r>
            <a:r>
              <a:rPr lang="zh-CN" altLang="zh-CN" dirty="0">
                <a:solidFill>
                  <a:srgbClr val="00B050"/>
                </a:solidFill>
                <a:sym typeface="+mn-ea"/>
              </a:rPr>
              <a:t>可行性研究</a:t>
            </a:r>
            <a:r>
              <a:rPr lang="zh-CN" altLang="zh-CN" dirty="0">
                <a:sym typeface="+mn-ea"/>
              </a:rPr>
              <a:t>，本章讨论的是确立可行性之后，如何用结构化的思想、工具和方法，逐步进行分析与设计？</a:t>
            </a:r>
            <a:endParaRPr lang="zh-CN" altLang="zh-CN" dirty="0">
              <a:sym typeface="+mn-ea"/>
            </a:endParaRPr>
          </a:p>
          <a:p>
            <a:pPr eaLnBrk="1" hangingPunct="1"/>
            <a:endParaRPr lang="zh-CN" altLang="zh-CN" dirty="0">
              <a:sym typeface="+mn-ea"/>
            </a:endParaRPr>
          </a:p>
          <a:p>
            <a:pPr eaLnBrk="1" hangingPunct="1"/>
            <a:r>
              <a:rPr kumimoji="0" lang="zh-CN" altLang="en-US" sz="2400" b="1" i="0" u="none" strike="noStrike" kern="1200" cap="none" spc="0" normalizeH="0" baseline="0" noProof="0" dirty="0">
                <a:ln>
                  <a:noFill/>
                </a:ln>
                <a:solidFill>
                  <a:srgbClr val="00B050"/>
                </a:solidFill>
                <a:effectLst/>
                <a:uLnTx/>
                <a:uFillTx/>
                <a:latin typeface="+mn-lt"/>
                <a:ea typeface="+mn-ea"/>
                <a:cs typeface="+mn-cs"/>
              </a:rPr>
              <a:t>可行性研究：</a:t>
            </a:r>
            <a:r>
              <a:rPr kumimoji="1" lang="zh-CN" altLang="en-US" b="0" noProof="0" dirty="0">
                <a:ln>
                  <a:noFill/>
                </a:ln>
                <a:solidFill>
                  <a:schemeClr val="tx1"/>
                </a:solidFill>
                <a:effectLst>
                  <a:outerShdw blurRad="38100" dist="38100" dir="2700000" algn="tl">
                    <a:srgbClr val="C0C0C0"/>
                  </a:outerShdw>
                </a:effectLst>
                <a:uLnTx/>
                <a:uFillTx/>
                <a:latin typeface="+mn-ea"/>
                <a:sym typeface="+mn-ea"/>
              </a:rPr>
              <a:t>从</a:t>
            </a:r>
            <a:r>
              <a:rPr kumimoji="1" lang="zh-CN" altLang="en-US" noProof="0" dirty="0">
                <a:ln>
                  <a:noFill/>
                </a:ln>
                <a:solidFill>
                  <a:schemeClr val="tx1"/>
                </a:solidFill>
                <a:effectLst>
                  <a:outerShdw blurRad="38100" dist="38100" dir="2700000" algn="tl">
                    <a:srgbClr val="C0C0C0"/>
                  </a:outerShdw>
                </a:effectLst>
                <a:uLnTx/>
                <a:uFillTx/>
                <a:latin typeface="+mn-ea"/>
                <a:sym typeface="+mn-ea"/>
              </a:rPr>
              <a:t>经济可行性、技术可行性、法律可行性</a:t>
            </a:r>
            <a:r>
              <a:rPr kumimoji="1" lang="zh-CN" altLang="en-US" b="0" noProof="0" dirty="0">
                <a:ln>
                  <a:noFill/>
                </a:ln>
                <a:solidFill>
                  <a:schemeClr val="tx1"/>
                </a:solidFill>
                <a:effectLst>
                  <a:outerShdw blurRad="38100" dist="38100" dir="2700000" algn="tl">
                    <a:srgbClr val="C0C0C0"/>
                  </a:outerShdw>
                </a:effectLst>
                <a:uLnTx/>
                <a:uFillTx/>
                <a:latin typeface="+mn-ea"/>
                <a:sym typeface="+mn-ea"/>
              </a:rPr>
              <a:t>和</a:t>
            </a:r>
            <a:r>
              <a:rPr kumimoji="1" lang="zh-CN" altLang="en-US" noProof="0" dirty="0">
                <a:ln>
                  <a:noFill/>
                </a:ln>
                <a:solidFill>
                  <a:schemeClr val="tx1"/>
                </a:solidFill>
                <a:effectLst>
                  <a:outerShdw blurRad="38100" dist="38100" dir="2700000" algn="tl">
                    <a:srgbClr val="C0C0C0"/>
                  </a:outerShdw>
                </a:effectLst>
                <a:uLnTx/>
                <a:uFillTx/>
                <a:latin typeface="+mn-ea"/>
                <a:sym typeface="+mn-ea"/>
              </a:rPr>
              <a:t>用户操作可行性</a:t>
            </a:r>
            <a:r>
              <a:rPr kumimoji="1" lang="zh-CN" altLang="en-US" b="0" noProof="0" dirty="0">
                <a:ln>
                  <a:noFill/>
                </a:ln>
                <a:solidFill>
                  <a:schemeClr val="tx1"/>
                </a:solidFill>
                <a:effectLst>
                  <a:outerShdw blurRad="38100" dist="38100" dir="2700000" algn="tl">
                    <a:srgbClr val="C0C0C0"/>
                  </a:outerShdw>
                </a:effectLst>
                <a:uLnTx/>
                <a:uFillTx/>
                <a:latin typeface="+mn-ea"/>
                <a:sym typeface="+mn-ea"/>
              </a:rPr>
              <a:t>等方面研究可行性。</a:t>
            </a:r>
            <a:endParaRPr kumimoji="1" lang="zh-CN" altLang="en-US"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cs"/>
            </a:endParaRPr>
          </a:p>
          <a:p>
            <a:pPr eaLnBrk="1" hangingPunct="1"/>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cs"/>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结构化分析和设计方法</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a:bodyPr>
          <a:lstStyle/>
          <a:p>
            <a:pPr marR="0" lvl="0" algn="l" defTabSz="914400" rtl="0" eaLnBrk="1" fontAlgn="base" latinLnBrk="0" hangingPunct="1">
              <a:lnSpc>
                <a:spcPct val="100000"/>
              </a:lnSpc>
              <a:spcBef>
                <a:spcPct val="20000"/>
              </a:spcBef>
              <a:spcAft>
                <a:spcPct val="0"/>
              </a:spcAft>
              <a:buClr>
                <a:srgbClr val="990099"/>
              </a:buClr>
              <a:buSzPct val="55000"/>
              <a:defRPr/>
            </a:pPr>
            <a:r>
              <a:rPr lang="zh-CN" altLang="en-US" kern="0" noProof="0" dirty="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可行性研究的步骤</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990600" marR="0" lvl="1" indent="-5334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AutoNum type="arabicParenR"/>
              <a:defRPr/>
            </a:pPr>
            <a:r>
              <a:rPr lang="zh-CN" altLang="en-US" b="0" kern="0" noProof="0" dirty="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确定项目的规模和目标</a:t>
            </a:r>
            <a:endParaRPr kumimoji="0" lang="zh-CN" altLang="en-US" b="0" i="0" u="none" strike="noStrike" kern="0" cap="none" spc="0" normalizeH="0" baseline="0" noProof="0" dirty="0">
              <a:ln>
                <a:noFill/>
              </a:ln>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AutoNum type="arabicParenR"/>
              <a:defRPr/>
            </a:pPr>
            <a:r>
              <a:rPr lang="zh-CN" altLang="en-US" b="0" kern="0" noProof="0" dirty="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研究当前正在运行的系统</a:t>
            </a:r>
            <a:endParaRPr kumimoji="0" lang="zh-CN" altLang="en-US" b="0" i="0" u="none" strike="noStrike" kern="0" cap="none" spc="0" normalizeH="0" baseline="0" noProof="0" dirty="0">
              <a:ln>
                <a:noFill/>
              </a:ln>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AutoNum type="arabicParenR"/>
              <a:defRPr/>
            </a:pPr>
            <a:r>
              <a:rPr lang="zh-CN" altLang="en-US" b="0" kern="0" noProof="0" dirty="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建立新系统的高层逻辑模型</a:t>
            </a:r>
            <a:endParaRPr kumimoji="0" lang="zh-CN" altLang="en-US" b="0" i="0" u="none" strike="noStrike" kern="0" cap="none" spc="0" normalizeH="0" baseline="0" noProof="0" dirty="0">
              <a:ln>
                <a:noFill/>
              </a:ln>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AutoNum type="arabicParenR"/>
              <a:defRPr/>
            </a:pPr>
            <a:r>
              <a:rPr lang="zh-CN" altLang="en-US" b="0" kern="0" noProof="0" dirty="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导出和评价各种方案</a:t>
            </a:r>
            <a:endParaRPr kumimoji="0" lang="zh-CN" altLang="en-US" b="0" i="0" u="none" strike="noStrike" kern="0" cap="none" spc="0" normalizeH="0" baseline="0" noProof="0" dirty="0">
              <a:ln>
                <a:noFill/>
              </a:ln>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AutoNum type="arabicParenR"/>
              <a:defRPr/>
            </a:pPr>
            <a:r>
              <a:rPr lang="zh-CN" altLang="en-US" b="0" kern="0" noProof="0" dirty="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推荐可行的方案</a:t>
            </a:r>
            <a:endParaRPr kumimoji="0" lang="zh-CN" altLang="en-US" b="0" i="0" u="none" strike="noStrike" kern="0" cap="none" spc="0" normalizeH="0" baseline="0" noProof="0" dirty="0">
              <a:ln>
                <a:noFill/>
              </a:ln>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AutoNum type="arabicParenR"/>
              <a:defRPr/>
            </a:pPr>
            <a:r>
              <a:rPr lang="zh-CN" altLang="en-US" b="0" kern="0" noProof="0" dirty="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编写可行性研究报告</a:t>
            </a:r>
            <a:endParaRPr kumimoji="0" lang="zh-CN" altLang="en-US" b="0" i="0" u="none" strike="noStrike" kern="0" cap="none" spc="0" normalizeH="0" baseline="0" noProof="0" dirty="0">
              <a:ln>
                <a:noFill/>
              </a:ln>
              <a:effectLst>
                <a:outerShdw blurRad="38100" dist="38100" dir="2700000" algn="tl">
                  <a:srgbClr val="C0C0C0"/>
                </a:outerShdw>
              </a:effectLst>
              <a:uLnTx/>
              <a:uFillTx/>
              <a:latin typeface="Times New Roman" panose="02020603050405020304" pitchFamily="18" charset="0"/>
              <a:ea typeface="仿宋_GB2312" pitchFamily="49" charset="-122"/>
            </a:endParaRPr>
          </a:p>
          <a:p>
            <a:pPr eaLnBrk="1" hangingPunct="1"/>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cs"/>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结构化分析和设计方法</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a:bodyPr>
          <a:lstStyle/>
          <a:p>
            <a:pPr eaLnBrk="1" hangingPunct="1"/>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cs"/>
              </a:rPr>
              <a:t>经济可行性（成本</a:t>
            </a:r>
            <a:r>
              <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cs"/>
              </a:rPr>
              <a:t>-</a:t>
            </a: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cs"/>
              </a:rPr>
              <a:t>效益分析）</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cs"/>
            </a:endParaRPr>
          </a:p>
          <a:p>
            <a:pPr eaLnBrk="1" hangingPunct="1"/>
            <a:r>
              <a:rPr lang="zh-CN" altLang="en-US" dirty="0">
                <a:solidFill>
                  <a:srgbClr val="2C1A88"/>
                </a:solidFill>
                <a:latin typeface="+mn-ea"/>
                <a:cs typeface="+mn-ea"/>
                <a:sym typeface="+mn-ea"/>
              </a:rPr>
              <a:t>成本估算</a:t>
            </a:r>
            <a:endParaRPr lang="zh-CN" altLang="en-US" b="1" dirty="0">
              <a:solidFill>
                <a:srgbClr val="2C1A88"/>
              </a:solidFill>
              <a:latin typeface="+mn-ea"/>
              <a:cs typeface="+mn-ea"/>
            </a:endParaRPr>
          </a:p>
          <a:p>
            <a:pPr lvl="2" eaLnBrk="1" hangingPunct="1">
              <a:buClr>
                <a:srgbClr val="990099"/>
              </a:buClr>
              <a:buFont typeface="Wingdings" panose="05000000000000000000" pitchFamily="2" charset="2"/>
              <a:buChar char="Ø"/>
            </a:pPr>
            <a:r>
              <a:rPr lang="zh-CN" altLang="en-US" dirty="0">
                <a:solidFill>
                  <a:srgbClr val="008000"/>
                </a:solidFill>
                <a:latin typeface="+mn-ea"/>
                <a:cs typeface="+mn-ea"/>
                <a:sym typeface="+mn-ea"/>
              </a:rPr>
              <a:t> 专家估算技术（</a:t>
            </a:r>
            <a:r>
              <a:rPr lang="en-US" altLang="zh-CN" dirty="0">
                <a:solidFill>
                  <a:srgbClr val="008000"/>
                </a:solidFill>
                <a:latin typeface="+mn-ea"/>
                <a:cs typeface="+mn-ea"/>
                <a:sym typeface="+mn-ea"/>
              </a:rPr>
              <a:t>Delphi</a:t>
            </a:r>
            <a:r>
              <a:rPr lang="zh-CN" altLang="en-US" dirty="0">
                <a:solidFill>
                  <a:srgbClr val="008000"/>
                </a:solidFill>
                <a:latin typeface="+mn-ea"/>
                <a:cs typeface="+mn-ea"/>
                <a:sym typeface="+mn-ea"/>
              </a:rPr>
              <a:t>技术）</a:t>
            </a:r>
            <a:endParaRPr lang="zh-CN" altLang="en-US" b="1" dirty="0">
              <a:solidFill>
                <a:srgbClr val="008000"/>
              </a:solidFill>
              <a:latin typeface="+mn-ea"/>
              <a:cs typeface="+mn-ea"/>
            </a:endParaRPr>
          </a:p>
          <a:p>
            <a:pPr lvl="2" eaLnBrk="1" hangingPunct="1">
              <a:buClr>
                <a:srgbClr val="990099"/>
              </a:buClr>
              <a:buFont typeface="Wingdings" panose="05000000000000000000" pitchFamily="2" charset="2"/>
              <a:buChar char="Ø"/>
            </a:pPr>
            <a:r>
              <a:rPr lang="zh-CN" altLang="en-US" dirty="0">
                <a:solidFill>
                  <a:srgbClr val="008000"/>
                </a:solidFill>
                <a:latin typeface="+mn-ea"/>
                <a:cs typeface="+mn-ea"/>
                <a:sym typeface="+mn-ea"/>
              </a:rPr>
              <a:t> 成本估算模型（</a:t>
            </a:r>
            <a:r>
              <a:rPr lang="en-US" altLang="zh-CN" dirty="0">
                <a:solidFill>
                  <a:srgbClr val="008000"/>
                </a:solidFill>
                <a:latin typeface="+mn-ea"/>
                <a:cs typeface="+mn-ea"/>
                <a:sym typeface="+mn-ea"/>
              </a:rPr>
              <a:t>COCOMO</a:t>
            </a:r>
            <a:r>
              <a:rPr lang="zh-CN" altLang="en-US" dirty="0">
                <a:solidFill>
                  <a:srgbClr val="008000"/>
                </a:solidFill>
                <a:latin typeface="+mn-ea"/>
                <a:cs typeface="+mn-ea"/>
                <a:sym typeface="+mn-ea"/>
              </a:rPr>
              <a:t>）</a:t>
            </a:r>
            <a:endParaRPr lang="zh-CN" altLang="en-US" b="1" dirty="0">
              <a:solidFill>
                <a:srgbClr val="008000"/>
              </a:solidFill>
              <a:latin typeface="+mn-ea"/>
              <a:cs typeface="+mn-ea"/>
            </a:endParaRPr>
          </a:p>
          <a:p>
            <a:pPr lvl="2" eaLnBrk="1" hangingPunct="1">
              <a:buClr>
                <a:srgbClr val="990099"/>
              </a:buClr>
              <a:buFont typeface="Wingdings" panose="05000000000000000000" pitchFamily="2" charset="2"/>
              <a:buChar char="Ø"/>
            </a:pPr>
            <a:endParaRPr lang="zh-CN" altLang="en-US" b="1" dirty="0">
              <a:solidFill>
                <a:srgbClr val="008000"/>
              </a:solidFill>
              <a:latin typeface="+mn-ea"/>
              <a:cs typeface="+mn-ea"/>
            </a:endParaRPr>
          </a:p>
          <a:p>
            <a:pPr lvl="1" eaLnBrk="1" hangingPunct="1">
              <a:buClr>
                <a:srgbClr val="990099"/>
              </a:buClr>
            </a:pPr>
            <a:r>
              <a:rPr lang="zh-CN" altLang="en-US" dirty="0">
                <a:solidFill>
                  <a:srgbClr val="2C1A88"/>
                </a:solidFill>
                <a:latin typeface="+mn-ea"/>
                <a:cs typeface="+mn-ea"/>
                <a:sym typeface="+mn-ea"/>
              </a:rPr>
              <a:t>效益估算</a:t>
            </a:r>
            <a:endParaRPr lang="zh-CN" altLang="en-US" b="1" dirty="0">
              <a:solidFill>
                <a:srgbClr val="2C1A88"/>
              </a:solidFill>
              <a:latin typeface="+mn-ea"/>
              <a:cs typeface="+mn-ea"/>
            </a:endParaRPr>
          </a:p>
          <a:p>
            <a:pPr lvl="2" eaLnBrk="1" hangingPunct="1">
              <a:buClr>
                <a:srgbClr val="990099"/>
              </a:buClr>
              <a:buFont typeface="Wingdings" panose="05000000000000000000" pitchFamily="2" charset="2"/>
              <a:buChar char="Ø"/>
            </a:pPr>
            <a:r>
              <a:rPr lang="zh-CN" altLang="en-US" dirty="0">
                <a:solidFill>
                  <a:srgbClr val="008000"/>
                </a:solidFill>
                <a:latin typeface="+mn-ea"/>
                <a:cs typeface="+mn-ea"/>
                <a:sym typeface="+mn-ea"/>
              </a:rPr>
              <a:t> 投资回收期</a:t>
            </a:r>
            <a:endParaRPr lang="zh-CN" altLang="en-US" b="1" dirty="0">
              <a:solidFill>
                <a:srgbClr val="008000"/>
              </a:solidFill>
              <a:latin typeface="+mn-ea"/>
              <a:cs typeface="+mn-ea"/>
            </a:endParaRPr>
          </a:p>
          <a:p>
            <a:pPr lvl="2" eaLnBrk="1" hangingPunct="1">
              <a:buClr>
                <a:srgbClr val="990099"/>
              </a:buClr>
              <a:buFont typeface="Wingdings" panose="05000000000000000000" pitchFamily="2" charset="2"/>
              <a:buChar char="Ø"/>
            </a:pPr>
            <a:r>
              <a:rPr lang="zh-CN" altLang="en-US" dirty="0">
                <a:solidFill>
                  <a:srgbClr val="008000"/>
                </a:solidFill>
                <a:latin typeface="+mn-ea"/>
                <a:cs typeface="+mn-ea"/>
                <a:sym typeface="+mn-ea"/>
              </a:rPr>
              <a:t> 纯收入</a:t>
            </a:r>
            <a:endParaRPr lang="zh-CN" altLang="en-US" b="1" dirty="0">
              <a:solidFill>
                <a:srgbClr val="008000"/>
              </a:solidFill>
              <a:latin typeface="+mn-ea"/>
              <a:cs typeface="+mn-ea"/>
            </a:endParaRPr>
          </a:p>
          <a:p>
            <a:pPr lvl="2" eaLnBrk="1" hangingPunct="1">
              <a:buClr>
                <a:srgbClr val="990099"/>
              </a:buClr>
              <a:buFont typeface="Wingdings" panose="05000000000000000000" pitchFamily="2" charset="2"/>
              <a:buChar char="Ø"/>
            </a:pPr>
            <a:r>
              <a:rPr lang="zh-CN" altLang="en-US" dirty="0">
                <a:solidFill>
                  <a:srgbClr val="008000"/>
                </a:solidFill>
                <a:latin typeface="+mn-ea"/>
                <a:cs typeface="+mn-ea"/>
                <a:sym typeface="+mn-ea"/>
              </a:rPr>
              <a:t> 投资回收率</a:t>
            </a:r>
            <a:endParaRPr lang="zh-CN" altLang="en-US" b="1" dirty="0">
              <a:solidFill>
                <a:srgbClr val="008000"/>
              </a:solidFill>
              <a:latin typeface="+mn-ea"/>
              <a:cs typeface="+mn-ea"/>
            </a:endParaRPr>
          </a:p>
          <a:p>
            <a:pPr eaLnBrk="1" hangingPunct="1"/>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结构化分析和设计方法</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a:xfrm>
            <a:off x="457200" y="1600200"/>
            <a:ext cx="8072755" cy="4873625"/>
          </a:xfrm>
        </p:spPr>
        <p:txBody>
          <a:bodyPr vert="horz" wrap="square" lIns="91440" tIns="45720" rIns="91440" bIns="45720" numCol="1" anchor="t" anchorCtr="0" compatLnSpc="1">
            <a:normAutofit/>
          </a:bodyPr>
          <a:lstStyle/>
          <a:p>
            <a:pPr eaLnBrk="1" hangingPunct="1"/>
            <a:r>
              <a:rPr lang="en-US" altLang="zh-CN" dirty="0">
                <a:sym typeface="+mn-ea"/>
              </a:rPr>
              <a:t>Delphi</a:t>
            </a:r>
            <a:r>
              <a:rPr lang="zh-CN" altLang="en-US" dirty="0">
                <a:sym typeface="+mn-ea"/>
              </a:rPr>
              <a:t>法的步骤：</a:t>
            </a:r>
            <a:endParaRPr lang="zh-CN" altLang="en-US" dirty="0">
              <a:sym typeface="+mn-ea"/>
            </a:endParaRPr>
          </a:p>
          <a:p>
            <a:pPr marL="0" indent="0" eaLnBrk="1" hangingPunct="1">
              <a:buNone/>
            </a:pPr>
            <a:br>
              <a:rPr lang="zh-CN" altLang="en-US" dirty="0">
                <a:sym typeface="+mn-ea"/>
              </a:rPr>
            </a:br>
            <a:r>
              <a:rPr lang="en-US" altLang="zh-CN" dirty="0">
                <a:sym typeface="+mn-ea"/>
              </a:rPr>
              <a:t>1</a:t>
            </a:r>
            <a:r>
              <a:rPr lang="zh-CN" altLang="en-US" dirty="0">
                <a:sym typeface="+mn-ea"/>
              </a:rPr>
              <a:t>、协调人向各专家提供项目规格和估计表格； </a:t>
            </a:r>
            <a:br>
              <a:rPr lang="zh-CN" altLang="en-US" dirty="0">
                <a:sym typeface="+mn-ea"/>
              </a:rPr>
            </a:br>
            <a:r>
              <a:rPr lang="en-US" altLang="zh-CN" dirty="0">
                <a:sym typeface="+mn-ea"/>
              </a:rPr>
              <a:t>2</a:t>
            </a:r>
            <a:r>
              <a:rPr lang="zh-CN" altLang="en-US" dirty="0">
                <a:sym typeface="+mn-ea"/>
              </a:rPr>
              <a:t>、协调人召集小组会各专家讨论与规模相关的因素；</a:t>
            </a:r>
            <a:br>
              <a:rPr lang="zh-CN" altLang="en-US" dirty="0">
                <a:sym typeface="+mn-ea"/>
              </a:rPr>
            </a:br>
            <a:r>
              <a:rPr lang="en-US" altLang="zh-CN" dirty="0">
                <a:sym typeface="+mn-ea"/>
              </a:rPr>
              <a:t>3</a:t>
            </a:r>
            <a:r>
              <a:rPr lang="zh-CN" altLang="en-US" dirty="0">
                <a:sym typeface="+mn-ea"/>
              </a:rPr>
              <a:t>、各专家匿名填写迭代表格；</a:t>
            </a:r>
            <a:br>
              <a:rPr lang="zh-CN" altLang="en-US" dirty="0">
                <a:sym typeface="+mn-ea"/>
              </a:rPr>
            </a:br>
            <a:r>
              <a:rPr lang="en-US" altLang="zh-CN" dirty="0">
                <a:sym typeface="+mn-ea"/>
              </a:rPr>
              <a:t>4</a:t>
            </a:r>
            <a:r>
              <a:rPr lang="zh-CN" altLang="en-US" dirty="0">
                <a:sym typeface="+mn-ea"/>
              </a:rPr>
              <a:t>、协调人整理出一个估计总结，以迭代表的形式返回专家；</a:t>
            </a:r>
            <a:br>
              <a:rPr lang="zh-CN" altLang="en-US" dirty="0">
                <a:sym typeface="+mn-ea"/>
              </a:rPr>
            </a:br>
            <a:r>
              <a:rPr lang="en-US" altLang="zh-CN" dirty="0">
                <a:sym typeface="+mn-ea"/>
              </a:rPr>
              <a:t>5</a:t>
            </a:r>
            <a:r>
              <a:rPr lang="zh-CN" altLang="en-US" dirty="0">
                <a:sym typeface="+mn-ea"/>
              </a:rPr>
              <a:t>、协调人召集小组会，讨论较大的估计差异；</a:t>
            </a:r>
            <a:br>
              <a:rPr lang="zh-CN" altLang="en-US" dirty="0">
                <a:sym typeface="+mn-ea"/>
              </a:rPr>
            </a:br>
            <a:r>
              <a:rPr lang="en-US" altLang="zh-CN" dirty="0">
                <a:sym typeface="+mn-ea"/>
              </a:rPr>
              <a:t>6</a:t>
            </a:r>
            <a:r>
              <a:rPr lang="zh-CN" altLang="en-US" dirty="0">
                <a:sym typeface="+mn-ea"/>
              </a:rPr>
              <a:t>、专家复查估计总结并在迭代表上提交另一个匿名估计；</a:t>
            </a:r>
            <a:br>
              <a:rPr lang="zh-CN" altLang="en-US" dirty="0">
                <a:sym typeface="+mn-ea"/>
              </a:rPr>
            </a:br>
            <a:r>
              <a:rPr lang="en-US" altLang="zh-CN" dirty="0">
                <a:sym typeface="+mn-ea"/>
              </a:rPr>
              <a:t>7</a:t>
            </a:r>
            <a:r>
              <a:rPr lang="zh-CN" altLang="en-US" dirty="0">
                <a:sym typeface="+mn-ea"/>
              </a:rPr>
              <a:t>、重复</a:t>
            </a:r>
            <a:r>
              <a:rPr lang="en-US" altLang="zh-CN" dirty="0">
                <a:sym typeface="+mn-ea"/>
              </a:rPr>
              <a:t>4-6</a:t>
            </a:r>
            <a:r>
              <a:rPr lang="zh-CN" altLang="en-US" dirty="0">
                <a:sym typeface="+mn-ea"/>
              </a:rPr>
              <a:t>， 直到达到一个最低和最高估计的一致。 </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结构化分析和设计方法</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a:bodyPr>
          <a:lstStyle/>
          <a:p>
            <a:pPr eaLnBrk="1" hangingPunct="1"/>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cs"/>
              </a:rPr>
              <a:t>技术可行性（技术风险分析）</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cs"/>
            </a:endParaRPr>
          </a:p>
          <a:p>
            <a:pPr marL="342900" marR="0" lvl="0" indent="-342900" algn="l" defTabSz="914400" rtl="0" eaLnBrk="1" fontAlgn="base" latinLnBrk="0" hangingPunct="1">
              <a:lnSpc>
                <a:spcPct val="100000"/>
              </a:lnSpc>
              <a:spcBef>
                <a:spcPct val="20000"/>
              </a:spcBef>
              <a:spcAft>
                <a:spcPct val="0"/>
              </a:spcAft>
              <a:buClr>
                <a:srgbClr val="990099"/>
              </a:buClr>
              <a:buSzPct val="70000"/>
              <a:buFont typeface="Wingdings" panose="05000000000000000000" pitchFamily="2" charset="2"/>
              <a:buChar char="l"/>
              <a:defRPr/>
            </a:pPr>
            <a:r>
              <a:rPr lang="zh-CN" altLang="en-US" kern="0" noProof="0" dirty="0">
                <a:ln>
                  <a:noFill/>
                </a:ln>
                <a:solidFill>
                  <a:srgbClr val="2C1A88"/>
                </a:solidFill>
                <a:effectLst>
                  <a:outerShdw blurRad="38100" dist="38100" dir="2700000" algn="tl">
                    <a:srgbClr val="C0C0C0"/>
                  </a:outerShdw>
                </a:effectLst>
                <a:uLnTx/>
                <a:uFillTx/>
                <a:latin typeface="+mn-ea"/>
                <a:cs typeface="+mn-ea"/>
                <a:sym typeface="+mn-ea"/>
              </a:rPr>
              <a:t>技术解决方案的实用性</a:t>
            </a:r>
            <a:endParaRPr kumimoji="0" lang="zh-CN" altLang="en-US" b="1" i="0" u="none" strike="noStrike" kern="0" cap="none" spc="0" normalizeH="0" baseline="0" noProof="0" dirty="0">
              <a:ln>
                <a:noFill/>
              </a:ln>
              <a:solidFill>
                <a:srgbClr val="2C1A88"/>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0000"/>
              </a:lnSpc>
              <a:spcBef>
                <a:spcPct val="20000"/>
              </a:spcBef>
              <a:spcAft>
                <a:spcPct val="0"/>
              </a:spcAft>
              <a:buClr>
                <a:srgbClr val="990099"/>
              </a:buClr>
              <a:buSzPct val="70000"/>
              <a:buFont typeface="Wingdings" panose="05000000000000000000" pitchFamily="2" charset="2"/>
              <a:buChar char="Ø"/>
              <a:defRPr/>
            </a:pPr>
            <a:r>
              <a:rPr lang="zh-CN" altLang="en-US" kern="0" noProof="0" dirty="0">
                <a:ln>
                  <a:noFill/>
                </a:ln>
                <a:solidFill>
                  <a:srgbClr val="2C1A88"/>
                </a:solidFill>
                <a:effectLst>
                  <a:outerShdw blurRad="38100" dist="38100" dir="2700000" algn="tl">
                    <a:srgbClr val="C0C0C0"/>
                  </a:outerShdw>
                </a:effectLst>
                <a:uLnTx/>
                <a:uFillTx/>
                <a:latin typeface="+mn-ea"/>
                <a:cs typeface="+mn-ea"/>
                <a:sym typeface="+mn-ea"/>
              </a:rPr>
              <a:t> </a:t>
            </a:r>
            <a:r>
              <a:rPr lang="zh-CN" altLang="en-US" kern="0" noProof="0" dirty="0">
                <a:ln>
                  <a:noFill/>
                </a:ln>
                <a:solidFill>
                  <a:srgbClr val="008000"/>
                </a:solidFill>
                <a:effectLst>
                  <a:outerShdw blurRad="38100" dist="38100" dir="2700000" algn="tl">
                    <a:srgbClr val="C0C0C0"/>
                  </a:outerShdw>
                </a:effectLst>
                <a:uLnTx/>
                <a:uFillTx/>
                <a:latin typeface="+mn-ea"/>
                <a:cs typeface="+mn-ea"/>
                <a:sym typeface="+mn-ea"/>
              </a:rPr>
              <a:t>使用的技术实用化程度</a:t>
            </a:r>
            <a:endParaRPr kumimoji="0" lang="zh-CN" altLang="en-US" b="1" i="0" u="none" strike="noStrike" kern="0" cap="none" spc="0" normalizeH="0" baseline="0" noProof="0" dirty="0">
              <a:ln>
                <a:noFill/>
              </a:ln>
              <a:solidFill>
                <a:srgbClr val="008000"/>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0000"/>
              </a:lnSpc>
              <a:spcBef>
                <a:spcPct val="20000"/>
              </a:spcBef>
              <a:spcAft>
                <a:spcPct val="0"/>
              </a:spcAft>
              <a:buClr>
                <a:srgbClr val="990099"/>
              </a:buClr>
              <a:buSzPct val="70000"/>
              <a:buFont typeface="Wingdings" panose="05000000000000000000" pitchFamily="2" charset="2"/>
              <a:buChar char="Ø"/>
              <a:defRPr/>
            </a:pPr>
            <a:r>
              <a:rPr lang="zh-CN" altLang="en-US" kern="0" noProof="0" dirty="0">
                <a:ln>
                  <a:noFill/>
                </a:ln>
                <a:solidFill>
                  <a:srgbClr val="008000"/>
                </a:solidFill>
                <a:effectLst>
                  <a:outerShdw blurRad="38100" dist="38100" dir="2700000" algn="tl">
                    <a:srgbClr val="C0C0C0"/>
                  </a:outerShdw>
                </a:effectLst>
                <a:uLnTx/>
                <a:uFillTx/>
                <a:latin typeface="+mn-ea"/>
                <a:cs typeface="+mn-ea"/>
                <a:sym typeface="+mn-ea"/>
              </a:rPr>
              <a:t> 技术解决方案合理程度</a:t>
            </a:r>
            <a:endParaRPr kumimoji="0" lang="zh-CN" altLang="en-US" b="1" i="0" u="none" strike="noStrike" kern="0" cap="none" spc="0" normalizeH="0" baseline="0" noProof="0" dirty="0">
              <a:ln>
                <a:noFill/>
              </a:ln>
              <a:solidFill>
                <a:srgbClr val="008000"/>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0000"/>
              </a:lnSpc>
              <a:spcBef>
                <a:spcPct val="20000"/>
              </a:spcBef>
              <a:spcAft>
                <a:spcPct val="0"/>
              </a:spcAft>
              <a:buClr>
                <a:srgbClr val="990099"/>
              </a:buClr>
              <a:buSzPct val="70000"/>
              <a:buFont typeface="Wingdings" panose="05000000000000000000" pitchFamily="2" charset="2"/>
              <a:buChar char="Ø"/>
              <a:defRPr/>
            </a:pPr>
            <a:endParaRPr kumimoji="0" lang="zh-CN" altLang="en-US" b="1" i="0" u="none" strike="noStrike" kern="0" cap="none" spc="0" normalizeH="0" baseline="0" noProof="0" dirty="0">
              <a:ln>
                <a:noFill/>
              </a:ln>
              <a:solidFill>
                <a:srgbClr val="00800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0000"/>
              </a:lnSpc>
              <a:spcBef>
                <a:spcPct val="20000"/>
              </a:spcBef>
              <a:spcAft>
                <a:spcPct val="0"/>
              </a:spcAft>
              <a:buClr>
                <a:srgbClr val="990099"/>
              </a:buClr>
              <a:buSzPct val="70000"/>
              <a:buFont typeface="Wingdings" panose="05000000000000000000" pitchFamily="2" charset="2"/>
              <a:buChar char="l"/>
              <a:defRPr/>
            </a:pPr>
            <a:r>
              <a:rPr lang="zh-CN" altLang="en-US" kern="0" noProof="0" dirty="0">
                <a:ln>
                  <a:noFill/>
                </a:ln>
                <a:solidFill>
                  <a:srgbClr val="2C1A88"/>
                </a:solidFill>
                <a:effectLst>
                  <a:outerShdw blurRad="38100" dist="38100" dir="2700000" algn="tl">
                    <a:srgbClr val="C0C0C0"/>
                  </a:outerShdw>
                </a:effectLst>
                <a:uLnTx/>
                <a:uFillTx/>
                <a:latin typeface="+mn-ea"/>
                <a:cs typeface="+mn-ea"/>
                <a:sym typeface="+mn-ea"/>
              </a:rPr>
              <a:t>技术资源的可用性</a:t>
            </a:r>
            <a:endParaRPr kumimoji="0" lang="zh-CN" altLang="en-US" b="1" i="0" u="none" strike="noStrike" kern="0" cap="none" spc="0" normalizeH="0" baseline="0" noProof="0" dirty="0">
              <a:ln>
                <a:noFill/>
              </a:ln>
              <a:solidFill>
                <a:srgbClr val="2C1A88"/>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0000"/>
              </a:lnSpc>
              <a:spcBef>
                <a:spcPct val="20000"/>
              </a:spcBef>
              <a:spcAft>
                <a:spcPct val="0"/>
              </a:spcAft>
              <a:buClr>
                <a:srgbClr val="990099"/>
              </a:buClr>
              <a:buSzPct val="70000"/>
              <a:buFont typeface="Wingdings" panose="05000000000000000000" pitchFamily="2" charset="2"/>
              <a:buChar char="Ø"/>
              <a:defRPr/>
            </a:pPr>
            <a:r>
              <a:rPr lang="zh-CN" altLang="en-US" kern="0" noProof="0" dirty="0">
                <a:ln>
                  <a:noFill/>
                </a:ln>
                <a:solidFill>
                  <a:srgbClr val="2C1A88"/>
                </a:solidFill>
                <a:effectLst>
                  <a:outerShdw blurRad="38100" dist="38100" dir="2700000" algn="tl">
                    <a:srgbClr val="C0C0C0"/>
                  </a:outerShdw>
                </a:effectLst>
                <a:uLnTx/>
                <a:uFillTx/>
                <a:latin typeface="+mn-ea"/>
                <a:cs typeface="+mn-ea"/>
                <a:sym typeface="+mn-ea"/>
              </a:rPr>
              <a:t> </a:t>
            </a:r>
            <a:r>
              <a:rPr lang="zh-CN" altLang="en-US" kern="0" noProof="0" dirty="0">
                <a:ln>
                  <a:noFill/>
                </a:ln>
                <a:solidFill>
                  <a:srgbClr val="008000"/>
                </a:solidFill>
                <a:effectLst>
                  <a:outerShdw blurRad="38100" dist="38100" dir="2700000" algn="tl">
                    <a:srgbClr val="C0C0C0"/>
                  </a:outerShdw>
                </a:effectLst>
                <a:uLnTx/>
                <a:uFillTx/>
                <a:latin typeface="+mn-ea"/>
                <a:cs typeface="+mn-ea"/>
                <a:sym typeface="+mn-ea"/>
              </a:rPr>
              <a:t>参与人员的工作基础</a:t>
            </a:r>
            <a:endParaRPr kumimoji="0" lang="zh-CN" altLang="en-US" b="1" i="0" u="none" strike="noStrike" kern="0" cap="none" spc="0" normalizeH="0" baseline="0" noProof="0" dirty="0">
              <a:ln>
                <a:noFill/>
              </a:ln>
              <a:solidFill>
                <a:srgbClr val="008000"/>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0000"/>
              </a:lnSpc>
              <a:spcBef>
                <a:spcPct val="20000"/>
              </a:spcBef>
              <a:spcAft>
                <a:spcPct val="0"/>
              </a:spcAft>
              <a:buClr>
                <a:srgbClr val="990099"/>
              </a:buClr>
              <a:buSzPct val="70000"/>
              <a:buFont typeface="Wingdings" panose="05000000000000000000" pitchFamily="2" charset="2"/>
              <a:buChar char="Ø"/>
              <a:defRPr/>
            </a:pPr>
            <a:r>
              <a:rPr lang="zh-CN" altLang="en-US" kern="0" noProof="0" dirty="0">
                <a:ln>
                  <a:noFill/>
                </a:ln>
                <a:solidFill>
                  <a:srgbClr val="008000"/>
                </a:solidFill>
                <a:effectLst>
                  <a:outerShdw blurRad="38100" dist="38100" dir="2700000" algn="tl">
                    <a:srgbClr val="C0C0C0"/>
                  </a:outerShdw>
                </a:effectLst>
                <a:uLnTx/>
                <a:uFillTx/>
                <a:latin typeface="+mn-ea"/>
                <a:cs typeface="+mn-ea"/>
                <a:sym typeface="+mn-ea"/>
              </a:rPr>
              <a:t> 基础硬件</a:t>
            </a:r>
            <a:r>
              <a:rPr lang="en-US" altLang="zh-CN" kern="0" noProof="0" dirty="0">
                <a:ln>
                  <a:noFill/>
                </a:ln>
                <a:solidFill>
                  <a:srgbClr val="008000"/>
                </a:solidFill>
                <a:effectLst>
                  <a:outerShdw blurRad="38100" dist="38100" dir="2700000" algn="tl">
                    <a:srgbClr val="C0C0C0"/>
                  </a:outerShdw>
                </a:effectLst>
                <a:uLnTx/>
                <a:uFillTx/>
                <a:latin typeface="+mn-ea"/>
                <a:cs typeface="+mn-ea"/>
                <a:sym typeface="+mn-ea"/>
              </a:rPr>
              <a:t>/</a:t>
            </a:r>
            <a:r>
              <a:rPr lang="zh-CN" altLang="en-US" kern="0" noProof="0" dirty="0">
                <a:ln>
                  <a:noFill/>
                </a:ln>
                <a:solidFill>
                  <a:srgbClr val="008000"/>
                </a:solidFill>
                <a:effectLst>
                  <a:outerShdw blurRad="38100" dist="38100" dir="2700000" algn="tl">
                    <a:srgbClr val="C0C0C0"/>
                  </a:outerShdw>
                </a:effectLst>
                <a:uLnTx/>
                <a:uFillTx/>
                <a:latin typeface="+mn-ea"/>
                <a:cs typeface="+mn-ea"/>
                <a:sym typeface="+mn-ea"/>
              </a:rPr>
              <a:t>软件的可用性</a:t>
            </a:r>
            <a:endParaRPr kumimoji="0" lang="zh-CN" altLang="en-US" b="1" i="0" u="none" strike="noStrike" kern="0" cap="none" spc="0" normalizeH="0" baseline="0" noProof="0" dirty="0">
              <a:ln>
                <a:noFill/>
              </a:ln>
              <a:solidFill>
                <a:srgbClr val="008000"/>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0000"/>
              </a:lnSpc>
              <a:spcBef>
                <a:spcPct val="20000"/>
              </a:spcBef>
              <a:spcAft>
                <a:spcPct val="0"/>
              </a:spcAft>
              <a:buClr>
                <a:srgbClr val="990099"/>
              </a:buClr>
              <a:buSzPct val="70000"/>
              <a:buFont typeface="Wingdings" panose="05000000000000000000" pitchFamily="2" charset="2"/>
              <a:buChar char="Ø"/>
              <a:defRPr/>
            </a:pPr>
            <a:r>
              <a:rPr lang="zh-CN" altLang="en-US" kern="0" noProof="0" dirty="0">
                <a:ln>
                  <a:noFill/>
                </a:ln>
                <a:solidFill>
                  <a:srgbClr val="008000"/>
                </a:solidFill>
                <a:effectLst>
                  <a:outerShdw blurRad="38100" dist="38100" dir="2700000" algn="tl">
                    <a:srgbClr val="C0C0C0"/>
                  </a:outerShdw>
                </a:effectLst>
                <a:uLnTx/>
                <a:uFillTx/>
                <a:latin typeface="+mn-ea"/>
                <a:cs typeface="+mn-ea"/>
                <a:sym typeface="+mn-ea"/>
              </a:rPr>
              <a:t> 软件工具实用性</a:t>
            </a:r>
            <a:endParaRPr kumimoji="0" lang="zh-CN" altLang="en-US" b="1" i="0" u="none" strike="noStrike" kern="0" cap="none" spc="0" normalizeH="0" baseline="0" noProof="0" dirty="0">
              <a:ln>
                <a:noFill/>
              </a:ln>
              <a:solidFill>
                <a:srgbClr val="008000"/>
              </a:solidFill>
              <a:effectLst>
                <a:outerShdw blurRad="38100" dist="38100" dir="2700000" algn="tl">
                  <a:srgbClr val="C0C0C0"/>
                </a:outerShdw>
              </a:effectLst>
              <a:uLnTx/>
              <a:uFillTx/>
              <a:latin typeface="+mn-ea"/>
              <a:cs typeface="+mn-ea"/>
            </a:endParaRPr>
          </a:p>
          <a:p>
            <a:pPr eaLnBrk="1" hangingPunct="1"/>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结构化分析和设计方法</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a:bodyPr>
          <a:lstStyle/>
          <a:p>
            <a:pPr eaLnBrk="1" hangingPunct="1"/>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cs"/>
              </a:rPr>
              <a:t>法律可行性（侵权和责任问题）</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cs"/>
            </a:endParaRPr>
          </a:p>
          <a:p>
            <a:pPr marL="342900" marR="0" lvl="0" indent="-342900" algn="l" defTabSz="914400" rtl="0" eaLnBrk="1" fontAlgn="base" latinLnBrk="0" hangingPunct="1">
              <a:lnSpc>
                <a:spcPct val="100000"/>
              </a:lnSpc>
              <a:spcBef>
                <a:spcPct val="20000"/>
              </a:spcBef>
              <a:spcAft>
                <a:spcPct val="0"/>
              </a:spcAft>
              <a:buClr>
                <a:srgbClr val="990099"/>
              </a:buClr>
              <a:buSzPct val="70000"/>
              <a:buFont typeface="Wingdings" panose="05000000000000000000" pitchFamily="2" charset="2"/>
              <a:buChar char="l"/>
              <a:defRPr/>
            </a:pPr>
            <a:r>
              <a:rPr lang="zh-CN" altLang="en-US" kern="0" noProof="0" dirty="0">
                <a:ln>
                  <a:noFill/>
                </a:ln>
                <a:solidFill>
                  <a:srgbClr val="2C1A88"/>
                </a:solidFill>
                <a:effectLst>
                  <a:outerShdw blurRad="38100" dist="38100" dir="2700000" algn="tl">
                    <a:srgbClr val="C0C0C0"/>
                  </a:outerShdw>
                </a:effectLst>
                <a:uLnTx/>
                <a:uFillTx/>
                <a:latin typeface="+mn-ea"/>
                <a:sym typeface="+mn-ea"/>
              </a:rPr>
              <a:t>专利法</a:t>
            </a:r>
            <a:endParaRPr kumimoji="0" lang="zh-CN" altLang="en-US" b="1" i="0" u="none" strike="noStrike" kern="0" cap="none" spc="0" normalizeH="0" baseline="0" noProof="0" dirty="0">
              <a:ln>
                <a:noFill/>
              </a:ln>
              <a:solidFill>
                <a:srgbClr val="2C1A88"/>
              </a:solidFill>
              <a:effectLst>
                <a:outerShdw blurRad="38100" dist="38100" dir="2700000" algn="tl">
                  <a:srgbClr val="C0C0C0"/>
                </a:outerShdw>
              </a:effectLst>
              <a:uLnTx/>
              <a:uFillTx/>
              <a:latin typeface="+mn-ea"/>
              <a:cs typeface="+mn-cs"/>
            </a:endParaRPr>
          </a:p>
          <a:p>
            <a:pPr marL="342900" marR="0" lvl="0" indent="-342900" algn="l" defTabSz="914400" rtl="0" eaLnBrk="1" fontAlgn="base" latinLnBrk="0" hangingPunct="1">
              <a:lnSpc>
                <a:spcPct val="100000"/>
              </a:lnSpc>
              <a:spcBef>
                <a:spcPct val="20000"/>
              </a:spcBef>
              <a:spcAft>
                <a:spcPct val="0"/>
              </a:spcAft>
              <a:buClr>
                <a:srgbClr val="990099"/>
              </a:buClr>
              <a:buSzPct val="70000"/>
              <a:buFont typeface="Wingdings" panose="05000000000000000000" pitchFamily="2" charset="2"/>
              <a:buChar char="l"/>
              <a:defRPr/>
            </a:pPr>
            <a:r>
              <a:rPr lang="zh-CN" altLang="en-US" kern="0" noProof="0" dirty="0">
                <a:ln>
                  <a:noFill/>
                </a:ln>
                <a:solidFill>
                  <a:srgbClr val="2C1A88"/>
                </a:solidFill>
                <a:effectLst>
                  <a:outerShdw blurRad="38100" dist="38100" dir="2700000" algn="tl">
                    <a:srgbClr val="C0C0C0"/>
                  </a:outerShdw>
                </a:effectLst>
                <a:uLnTx/>
                <a:uFillTx/>
                <a:latin typeface="+mn-ea"/>
                <a:sym typeface="+mn-ea"/>
              </a:rPr>
              <a:t>著作权法</a:t>
            </a:r>
            <a:endParaRPr kumimoji="0" lang="zh-CN" altLang="en-US" b="1" i="0" u="none" strike="noStrike" kern="0" cap="none" spc="0" normalizeH="0" baseline="0" noProof="0" dirty="0">
              <a:ln>
                <a:noFill/>
              </a:ln>
              <a:solidFill>
                <a:srgbClr val="2C1A88"/>
              </a:solidFill>
              <a:effectLst>
                <a:outerShdw blurRad="38100" dist="38100" dir="2700000" algn="tl">
                  <a:srgbClr val="C0C0C0"/>
                </a:outerShdw>
              </a:effectLst>
              <a:uLnTx/>
              <a:uFillTx/>
              <a:latin typeface="+mn-ea"/>
              <a:cs typeface="+mn-cs"/>
            </a:endParaRPr>
          </a:p>
          <a:p>
            <a:pPr marL="342900" marR="0" lvl="0" indent="-342900" algn="l" defTabSz="914400" rtl="0" eaLnBrk="1" fontAlgn="base" latinLnBrk="0" hangingPunct="1">
              <a:lnSpc>
                <a:spcPct val="100000"/>
              </a:lnSpc>
              <a:spcBef>
                <a:spcPct val="20000"/>
              </a:spcBef>
              <a:spcAft>
                <a:spcPct val="0"/>
              </a:spcAft>
              <a:buClr>
                <a:srgbClr val="990099"/>
              </a:buClr>
              <a:buSzPct val="70000"/>
              <a:buFont typeface="Wingdings" panose="05000000000000000000" pitchFamily="2" charset="2"/>
              <a:buChar char="l"/>
              <a:defRPr/>
            </a:pPr>
            <a:r>
              <a:rPr lang="zh-CN" altLang="en-US" kern="0" noProof="0" dirty="0">
                <a:ln>
                  <a:noFill/>
                </a:ln>
                <a:solidFill>
                  <a:srgbClr val="2C1A88"/>
                </a:solidFill>
                <a:effectLst>
                  <a:outerShdw blurRad="38100" dist="38100" dir="2700000" algn="tl">
                    <a:srgbClr val="C0C0C0"/>
                  </a:outerShdw>
                </a:effectLst>
                <a:uLnTx/>
                <a:uFillTx/>
                <a:latin typeface="+mn-ea"/>
                <a:sym typeface="+mn-ea"/>
              </a:rPr>
              <a:t>软件保护条例</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结构化分析和设计方法</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a:bodyPr>
          <a:lstStyle/>
          <a:p>
            <a:pPr eaLnBrk="1" hangingPunct="1"/>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cs"/>
              </a:rPr>
              <a:t>用户操作可行性</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cs"/>
            </a:endParaRPr>
          </a:p>
          <a:p>
            <a:pPr eaLnBrk="1" hangingPunct="1"/>
            <a:r>
              <a:rPr lang="zh-CN" altLang="en-US" dirty="0">
                <a:solidFill>
                  <a:srgbClr val="2C1A88"/>
                </a:solidFill>
                <a:latin typeface="+mn-ea"/>
                <a:cs typeface="+mn-ea"/>
                <a:sym typeface="+mn-ea"/>
              </a:rPr>
              <a:t>用户类型</a:t>
            </a:r>
            <a:endParaRPr lang="zh-CN" altLang="en-US" b="1" dirty="0">
              <a:solidFill>
                <a:srgbClr val="2C1A88"/>
              </a:solidFill>
              <a:latin typeface="+mn-ea"/>
              <a:cs typeface="+mn-ea"/>
            </a:endParaRPr>
          </a:p>
          <a:p>
            <a:pPr lvl="1" eaLnBrk="1" hangingPunct="1">
              <a:lnSpc>
                <a:spcPct val="105000"/>
              </a:lnSpc>
              <a:buClr>
                <a:srgbClr val="990099"/>
              </a:buClr>
              <a:buFont typeface="Wingdings" panose="05000000000000000000" pitchFamily="2" charset="2"/>
              <a:buChar char="Ø"/>
            </a:pPr>
            <a:r>
              <a:rPr lang="zh-CN" altLang="en-US" dirty="0">
                <a:solidFill>
                  <a:srgbClr val="2C1A88"/>
                </a:solidFill>
                <a:latin typeface="+mn-ea"/>
                <a:cs typeface="+mn-ea"/>
                <a:sym typeface="+mn-ea"/>
              </a:rPr>
              <a:t> </a:t>
            </a:r>
            <a:r>
              <a:rPr lang="zh-CN" altLang="en-US" dirty="0">
                <a:solidFill>
                  <a:srgbClr val="008000"/>
                </a:solidFill>
                <a:latin typeface="+mn-ea"/>
                <a:cs typeface="+mn-ea"/>
                <a:sym typeface="+mn-ea"/>
              </a:rPr>
              <a:t>外行型</a:t>
            </a:r>
            <a:endParaRPr lang="zh-CN" altLang="en-US" b="1" dirty="0">
              <a:solidFill>
                <a:srgbClr val="008000"/>
              </a:solidFill>
              <a:latin typeface="+mn-ea"/>
              <a:cs typeface="+mn-ea"/>
            </a:endParaRPr>
          </a:p>
          <a:p>
            <a:pPr lvl="1" eaLnBrk="1" hangingPunct="1">
              <a:lnSpc>
                <a:spcPct val="105000"/>
              </a:lnSpc>
              <a:buClr>
                <a:srgbClr val="990099"/>
              </a:buClr>
              <a:buFont typeface="Wingdings" panose="05000000000000000000" pitchFamily="2" charset="2"/>
              <a:buChar char="Ø"/>
            </a:pPr>
            <a:r>
              <a:rPr lang="zh-CN" altLang="en-US" dirty="0">
                <a:solidFill>
                  <a:srgbClr val="008000"/>
                </a:solidFill>
                <a:latin typeface="+mn-ea"/>
                <a:cs typeface="+mn-ea"/>
                <a:sym typeface="+mn-ea"/>
              </a:rPr>
              <a:t> 熟练型</a:t>
            </a:r>
            <a:endParaRPr lang="zh-CN" altLang="en-US" b="1" dirty="0">
              <a:solidFill>
                <a:srgbClr val="008000"/>
              </a:solidFill>
              <a:latin typeface="+mn-ea"/>
              <a:cs typeface="+mn-ea"/>
            </a:endParaRPr>
          </a:p>
          <a:p>
            <a:pPr lvl="1" eaLnBrk="1" hangingPunct="1">
              <a:lnSpc>
                <a:spcPct val="105000"/>
              </a:lnSpc>
              <a:buClr>
                <a:srgbClr val="990099"/>
              </a:buClr>
              <a:buFont typeface="Wingdings" panose="05000000000000000000" pitchFamily="2" charset="2"/>
              <a:buChar char="Ø"/>
            </a:pPr>
            <a:r>
              <a:rPr lang="zh-CN" altLang="en-US" dirty="0">
                <a:solidFill>
                  <a:srgbClr val="008000"/>
                </a:solidFill>
                <a:latin typeface="+mn-ea"/>
                <a:cs typeface="+mn-ea"/>
                <a:sym typeface="+mn-ea"/>
              </a:rPr>
              <a:t> 专家型</a:t>
            </a:r>
            <a:endParaRPr lang="zh-CN" altLang="en-US" b="1" dirty="0">
              <a:solidFill>
                <a:srgbClr val="008000"/>
              </a:solidFill>
              <a:latin typeface="+mn-ea"/>
              <a:cs typeface="+mn-ea"/>
            </a:endParaRPr>
          </a:p>
          <a:p>
            <a:pPr eaLnBrk="1" hangingPunct="1">
              <a:lnSpc>
                <a:spcPct val="105000"/>
              </a:lnSpc>
              <a:buClr>
                <a:srgbClr val="990099"/>
              </a:buClr>
            </a:pPr>
            <a:r>
              <a:rPr lang="zh-CN" altLang="en-US" dirty="0">
                <a:solidFill>
                  <a:srgbClr val="2C1A88"/>
                </a:solidFill>
                <a:latin typeface="+mn-ea"/>
                <a:cs typeface="+mn-ea"/>
                <a:sym typeface="+mn-ea"/>
              </a:rPr>
              <a:t>操作习惯</a:t>
            </a:r>
            <a:endParaRPr lang="zh-CN" altLang="en-US" b="1" dirty="0">
              <a:solidFill>
                <a:srgbClr val="2C1A88"/>
              </a:solidFill>
              <a:latin typeface="+mn-ea"/>
              <a:cs typeface="+mn-ea"/>
            </a:endParaRPr>
          </a:p>
          <a:p>
            <a:pPr eaLnBrk="1" hangingPunct="1">
              <a:lnSpc>
                <a:spcPct val="105000"/>
              </a:lnSpc>
              <a:buClr>
                <a:srgbClr val="990099"/>
              </a:buClr>
            </a:pPr>
            <a:r>
              <a:rPr lang="zh-CN" altLang="en-US" dirty="0">
                <a:solidFill>
                  <a:srgbClr val="2C1A88"/>
                </a:solidFill>
                <a:latin typeface="+mn-ea"/>
                <a:cs typeface="+mn-ea"/>
                <a:sym typeface="+mn-ea"/>
              </a:rPr>
              <a:t>使用单位的计算机使用情况</a:t>
            </a:r>
            <a:endParaRPr lang="zh-CN" altLang="en-US" b="1" dirty="0">
              <a:solidFill>
                <a:srgbClr val="2C1A88"/>
              </a:solidFill>
              <a:latin typeface="+mn-ea"/>
              <a:cs typeface="+mn-ea"/>
            </a:endParaRPr>
          </a:p>
          <a:p>
            <a:pPr eaLnBrk="1" hangingPunct="1">
              <a:lnSpc>
                <a:spcPct val="105000"/>
              </a:lnSpc>
              <a:buClr>
                <a:srgbClr val="990099"/>
              </a:buClr>
            </a:pPr>
            <a:r>
              <a:rPr lang="zh-CN" altLang="en-US" dirty="0">
                <a:solidFill>
                  <a:srgbClr val="2C1A88"/>
                </a:solidFill>
                <a:latin typeface="+mn-ea"/>
                <a:cs typeface="+mn-ea"/>
                <a:sym typeface="+mn-ea"/>
              </a:rPr>
              <a:t>使用单位的规章制度</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结构化分析和设计方法</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a:bodyPr>
          <a:lstStyle/>
          <a:p>
            <a:pPr marR="0" lvl="0" algn="l" defTabSz="914400" rtl="0" eaLnBrk="1" fontAlgn="base" latinLnBrk="0" hangingPunct="1">
              <a:lnSpc>
                <a:spcPct val="100000"/>
              </a:lnSpc>
              <a:spcBef>
                <a:spcPct val="20000"/>
              </a:spcBef>
              <a:spcAft>
                <a:spcPct val="0"/>
              </a:spcAft>
              <a:buClr>
                <a:schemeClr val="accent1"/>
              </a:buClr>
              <a:buSzPct val="80000"/>
              <a:defRPr/>
            </a:pPr>
            <a:r>
              <a:rPr kumimoji="0" lang="zh-CN" altLang="en-US" sz="2400" b="1" i="0" u="none" strike="noStrike" kern="1200" cap="none" spc="0" normalizeH="0" baseline="0" noProof="0" dirty="0">
                <a:ln>
                  <a:noFill/>
                </a:ln>
                <a:solidFill>
                  <a:srgbClr val="C00000"/>
                </a:solidFill>
                <a:effectLst/>
                <a:uLnTx/>
                <a:uFillTx/>
                <a:latin typeface="+mn-lt"/>
                <a:ea typeface="+mn-ea"/>
                <a:cs typeface="+mn-cs"/>
              </a:rPr>
              <a:t>结构</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是指系统内各组成要素之间相互联系、相互作用的框架。</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base" latinLnBrk="0" hangingPunct="1">
              <a:lnSpc>
                <a:spcPct val="100000"/>
              </a:lnSpc>
              <a:spcBef>
                <a:spcPct val="20000"/>
              </a:spcBef>
              <a:spcAft>
                <a:spcPct val="0"/>
              </a:spcAft>
              <a:buClr>
                <a:schemeClr val="accent1"/>
              </a:buClr>
              <a:buSzPct val="80000"/>
              <a:defRPr/>
            </a:pPr>
            <a:r>
              <a:rPr lang="zh-CN" altLang="en-US" noProof="0" dirty="0">
                <a:ln>
                  <a:noFill/>
                </a:ln>
                <a:effectLst/>
                <a:uLnTx/>
                <a:uFillTx/>
                <a:cs typeface="Times New Roman" panose="02020603050405020304" pitchFamily="18" charset="0"/>
                <a:sym typeface="+mn-ea"/>
              </a:rPr>
              <a:t>基本原则：功能的分解与抽象</a:t>
            </a:r>
            <a:endParaRPr lang="en-US" altLang="zh-CN" noProof="0" dirty="0">
              <a:ln>
                <a:noFill/>
              </a:ln>
              <a:effectLst/>
              <a:uLnTx/>
              <a:uFillTx/>
              <a:cs typeface="Times New Roman" panose="02020603050405020304" pitchFamily="18" charset="0"/>
              <a:sym typeface="+mn-ea"/>
            </a:endParaRPr>
          </a:p>
          <a:p>
            <a:pPr eaLnBrk="1" hangingPunct="1">
              <a:spcBef>
                <a:spcPct val="20000"/>
              </a:spcBef>
              <a:buSzPct val="80000"/>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指导思想：</a:t>
            </a:r>
            <a:r>
              <a:rPr kumimoji="0" lang="zh-CN" altLang="en-US" sz="2400" b="1" i="0" u="none" strike="noStrike" kern="1200" cap="none" spc="0" normalizeH="0" baseline="0" noProof="0" dirty="0">
                <a:ln>
                  <a:noFill/>
                </a:ln>
                <a:solidFill>
                  <a:srgbClr val="C00000"/>
                </a:solidFill>
                <a:effectLst/>
                <a:uLnTx/>
                <a:uFillTx/>
                <a:latin typeface="+mn-lt"/>
                <a:ea typeface="+mn-ea"/>
                <a:cs typeface="+mn-cs"/>
              </a:rPr>
              <a:t>自顶向下，逐步求精</a:t>
            </a:r>
            <a:endParaRPr kumimoji="0" lang="zh-CN" altLang="en-US" sz="2400" b="1" i="0" u="none" strike="noStrike" kern="1200" cap="none" spc="0" normalizeH="0" baseline="0" noProof="0" dirty="0">
              <a:ln>
                <a:noFill/>
              </a:ln>
              <a:solidFill>
                <a:srgbClr val="C00000"/>
              </a:solidFill>
              <a:effectLst/>
              <a:uLnTx/>
              <a:uFillTx/>
              <a:latin typeface="+mn-lt"/>
              <a:ea typeface="+mn-ea"/>
              <a:cs typeface="+mn-cs"/>
            </a:endParaRPr>
          </a:p>
          <a:p>
            <a:pPr marR="0" lvl="0" algn="l" defTabSz="914400" rtl="0" eaLnBrk="1" fontAlgn="base" latinLnBrk="0" hangingPunct="1">
              <a:lnSpc>
                <a:spcPct val="100000"/>
              </a:lnSpc>
              <a:spcBef>
                <a:spcPct val="20000"/>
              </a:spcBef>
              <a:spcAft>
                <a:spcPct val="0"/>
              </a:spcAft>
              <a:buClr>
                <a:schemeClr val="accent1"/>
              </a:buClr>
              <a:buSzPct val="80000"/>
              <a:defRPr/>
            </a:pPr>
            <a:endParaRPr kumimoji="0" lang="zh-CN" altLang="en-US" sz="2400" b="1" i="0" u="none" strike="noStrike" kern="1200" cap="none" spc="0" normalizeH="0" baseline="0" noProof="0" dirty="0">
              <a:ln>
                <a:noFill/>
              </a:ln>
              <a:solidFill>
                <a:srgbClr val="C00000"/>
              </a:solidFill>
              <a:effectLst/>
              <a:uLnTx/>
              <a:uFillTx/>
              <a:latin typeface="+mn-lt"/>
              <a:ea typeface="+mn-ea"/>
              <a:cs typeface="+mn-cs"/>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结构化分析与设计方法</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a:bodyPr>
          <a:lstStyle/>
          <a:p>
            <a:pPr lvl="0" eaLnBrk="1" hangingPunct="1">
              <a:buSzPct val="80000"/>
            </a:pPr>
            <a:r>
              <a:rPr lang="zh-CN" altLang="en-US" dirty="0">
                <a:ea typeface="宋体" panose="02010600030101010101" pitchFamily="2" charset="-122"/>
                <a:sym typeface="+mn-ea"/>
              </a:rPr>
              <a:t>结构化方法包括：</a:t>
            </a:r>
            <a:endParaRPr lang="zh-CN" altLang="en-US" dirty="0">
              <a:ea typeface="宋体" panose="02010600030101010101" pitchFamily="2" charset="-122"/>
              <a:sym typeface="+mn-ea"/>
            </a:endParaRPr>
          </a:p>
          <a:p>
            <a:pPr lvl="2" eaLnBrk="1" hangingPunct="1">
              <a:buSzPct val="80000"/>
            </a:pPr>
            <a:r>
              <a:rPr lang="zh-CN" altLang="en-US" dirty="0">
                <a:ea typeface="宋体" panose="02010600030101010101" pitchFamily="2" charset="-122"/>
                <a:sym typeface="+mn-ea"/>
              </a:rPr>
              <a:t>结构化分析（Structured Analysis，</a:t>
            </a:r>
            <a:r>
              <a:rPr lang="en-US" altLang="zh-CN" dirty="0">
                <a:ea typeface="宋体" panose="02010600030101010101" pitchFamily="2" charset="-122"/>
                <a:sym typeface="+mn-ea"/>
              </a:rPr>
              <a:t>SA</a:t>
            </a:r>
            <a:r>
              <a:rPr lang="zh-CN" altLang="en-US" dirty="0">
                <a:ea typeface="宋体" panose="02010600030101010101" pitchFamily="2" charset="-122"/>
                <a:sym typeface="+mn-ea"/>
              </a:rPr>
              <a:t>）</a:t>
            </a:r>
            <a:endParaRPr lang="en-US" altLang="zh-CN" dirty="0">
              <a:ea typeface="宋体" panose="02010600030101010101" pitchFamily="2" charset="-122"/>
              <a:sym typeface="+mn-ea"/>
            </a:endParaRPr>
          </a:p>
          <a:p>
            <a:pPr lvl="2" eaLnBrk="1" hangingPunct="1">
              <a:buSzPct val="80000"/>
            </a:pPr>
            <a:r>
              <a:rPr lang="zh-CN" altLang="en-US" dirty="0">
                <a:ea typeface="宋体" panose="02010600030101010101" pitchFamily="2" charset="-122"/>
                <a:sym typeface="+mn-ea"/>
              </a:rPr>
              <a:t>结构化设计（Structured Design，</a:t>
            </a:r>
            <a:r>
              <a:rPr lang="en-US" altLang="zh-CN" dirty="0">
                <a:ea typeface="宋体" panose="02010600030101010101" pitchFamily="2" charset="-122"/>
                <a:sym typeface="+mn-ea"/>
              </a:rPr>
              <a:t>SD</a:t>
            </a:r>
            <a:r>
              <a:rPr lang="zh-CN" altLang="en-US" dirty="0">
                <a:ea typeface="宋体" panose="02010600030101010101" pitchFamily="2" charset="-122"/>
                <a:sym typeface="+mn-ea"/>
              </a:rPr>
              <a:t>）</a:t>
            </a:r>
            <a:endParaRPr lang="zh-CN" altLang="en-US" dirty="0">
              <a:ea typeface="宋体" panose="02010600030101010101" pitchFamily="2" charset="-122"/>
              <a:sym typeface="+mn-ea"/>
            </a:endParaRPr>
          </a:p>
          <a:p>
            <a:pPr lvl="2" eaLnBrk="1" hangingPunct="1">
              <a:buSzPct val="80000"/>
            </a:pPr>
            <a:r>
              <a:rPr lang="zh-CN" altLang="en-US" dirty="0">
                <a:ea typeface="宋体" panose="02010600030101010101" pitchFamily="2" charset="-122"/>
                <a:sym typeface="+mn-ea"/>
              </a:rPr>
              <a:t>结构化实现（Structured </a:t>
            </a:r>
            <a:r>
              <a:rPr lang="en-US" altLang="zh-CN" dirty="0">
                <a:ea typeface="宋体" panose="02010600030101010101" pitchFamily="2" charset="-122"/>
                <a:sym typeface="+mn-ea"/>
              </a:rPr>
              <a:t>I</a:t>
            </a:r>
            <a:r>
              <a:rPr lang="zh-CN" altLang="en-US" dirty="0">
                <a:ea typeface="宋体" panose="02010600030101010101" pitchFamily="2" charset="-122"/>
                <a:sym typeface="+mn-ea"/>
              </a:rPr>
              <a:t>mplementation，</a:t>
            </a:r>
            <a:r>
              <a:rPr lang="en-US" altLang="zh-CN" dirty="0">
                <a:ea typeface="宋体" panose="02010600030101010101" pitchFamily="2" charset="-122"/>
                <a:sym typeface="+mn-ea"/>
              </a:rPr>
              <a:t>SI</a:t>
            </a:r>
            <a:r>
              <a:rPr lang="zh-CN" altLang="en-US" dirty="0">
                <a:ea typeface="宋体" panose="02010600030101010101" pitchFamily="2" charset="-122"/>
                <a:sym typeface="+mn-ea"/>
              </a:rPr>
              <a:t>）</a:t>
            </a:r>
            <a:endParaRPr lang="en-US" altLang="zh-CN" kern="1200" dirty="0">
              <a:latin typeface="+mn-lt"/>
              <a:ea typeface="宋体" panose="02010600030101010101" pitchFamily="2" charset="-122"/>
              <a:cs typeface="+mn-cs"/>
            </a:endParaRPr>
          </a:p>
          <a:p>
            <a:pPr lvl="0" eaLnBrk="1" hangingPunct="1">
              <a:buSzPct val="80000"/>
            </a:pPr>
            <a:r>
              <a:rPr lang="zh-CN" altLang="en-US" dirty="0">
                <a:ea typeface="宋体" panose="02010600030101010101" pitchFamily="2" charset="-122"/>
                <a:sym typeface="+mn-ea"/>
              </a:rPr>
              <a:t>出现较早，适用于数据处理领域，不适用于规模大以及特别复杂的项目</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5000"/>
              </a:lnSpc>
              <a:spcBef>
                <a:spcPct val="20000"/>
              </a:spcBef>
              <a:spcAft>
                <a:spcPct val="0"/>
              </a:spcAft>
              <a:buClr>
                <a:srgbClr val="990099"/>
              </a:buClr>
              <a:buSzPct val="55000"/>
              <a:buFont typeface="Wingdings" panose="05000000000000000000" pitchFamily="2" charset="2"/>
              <a:buChar char="l"/>
              <a:defRPr/>
            </a:pPr>
            <a:r>
              <a:rPr lang="zh-CN" altLang="en-US" kern="0" noProof="0" dirty="0">
                <a:ln>
                  <a:noFill/>
                </a:ln>
                <a:effectLst>
                  <a:outerShdw blurRad="38100" dist="38100" dir="2700000" algn="tl">
                    <a:srgbClr val="C0C0C0"/>
                  </a:outerShdw>
                </a:effectLst>
                <a:uLnTx/>
                <a:uFillTx/>
                <a:latin typeface="+mn-ea"/>
                <a:cs typeface="+mn-ea"/>
                <a:sym typeface="+mn-ea"/>
              </a:rPr>
              <a:t>对软件需求的完全理解对软件开发工作的成功是至关重要的。</a:t>
            </a:r>
            <a:endParaRPr lang="en-US" altLang="zh-CN" kern="0" noProof="0" dirty="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05000"/>
              </a:lnSpc>
              <a:spcBef>
                <a:spcPct val="20000"/>
              </a:spcBef>
              <a:spcAft>
                <a:spcPct val="0"/>
              </a:spcAft>
              <a:buClr>
                <a:srgbClr val="990099"/>
              </a:buClr>
              <a:buSzPct val="55000"/>
              <a:buFont typeface="Wingdings" panose="05000000000000000000" pitchFamily="2" charset="2"/>
              <a:buChar char="l"/>
              <a:defRPr/>
            </a:pP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20000"/>
              </a:spcBef>
              <a:spcAft>
                <a:spcPct val="0"/>
              </a:spcAft>
              <a:buClr>
                <a:srgbClr val="990099"/>
              </a:buClr>
              <a:buSzPct val="55000"/>
              <a:buFont typeface="Wingdings" panose="05000000000000000000" pitchFamily="2" charset="2"/>
              <a:buChar char="l"/>
              <a:defRPr/>
            </a:pPr>
            <a:r>
              <a:rPr lang="zh-CN" altLang="en-US" kern="0" noProof="0" dirty="0">
                <a:ln>
                  <a:noFill/>
                </a:ln>
                <a:effectLst>
                  <a:outerShdw blurRad="38100" dist="38100" dir="2700000" algn="tl">
                    <a:srgbClr val="C0C0C0"/>
                  </a:outerShdw>
                </a:effectLst>
                <a:uLnTx/>
                <a:uFillTx/>
                <a:latin typeface="+mn-ea"/>
                <a:cs typeface="+mn-ea"/>
                <a:sym typeface="+mn-ea"/>
              </a:rPr>
              <a:t>需求分析的任务是</a:t>
            </a:r>
            <a:r>
              <a:rPr lang="zh-CN" altLang="en-US" kern="0" noProof="0" dirty="0">
                <a:ln>
                  <a:noFill/>
                </a:ln>
                <a:solidFill>
                  <a:srgbClr val="CC3300"/>
                </a:solidFill>
                <a:effectLst>
                  <a:outerShdw blurRad="38100" dist="38100" dir="2700000" algn="tl">
                    <a:srgbClr val="C0C0C0"/>
                  </a:outerShdw>
                </a:effectLst>
                <a:uLnTx/>
                <a:uFillTx/>
                <a:latin typeface="+mn-ea"/>
                <a:cs typeface="+mn-ea"/>
                <a:sym typeface="+mn-ea"/>
              </a:rPr>
              <a:t>发现</a:t>
            </a:r>
            <a:r>
              <a:rPr lang="zh-CN" altLang="en-US" kern="0" noProof="0" dirty="0">
                <a:ln>
                  <a:noFill/>
                </a:ln>
                <a:effectLst>
                  <a:outerShdw blurRad="38100" dist="38100" dir="2700000" algn="tl">
                    <a:srgbClr val="C0C0C0"/>
                  </a:outerShdw>
                </a:effectLst>
                <a:uLnTx/>
                <a:uFillTx/>
                <a:latin typeface="+mn-ea"/>
                <a:cs typeface="+mn-ea"/>
                <a:sym typeface="+mn-ea"/>
              </a:rPr>
              <a:t>、</a:t>
            </a:r>
            <a:r>
              <a:rPr lang="zh-CN" altLang="en-US" kern="0" noProof="0" dirty="0">
                <a:ln>
                  <a:noFill/>
                </a:ln>
                <a:solidFill>
                  <a:srgbClr val="CC3300"/>
                </a:solidFill>
                <a:effectLst>
                  <a:outerShdw blurRad="38100" dist="38100" dir="2700000" algn="tl">
                    <a:srgbClr val="C0C0C0"/>
                  </a:outerShdw>
                </a:effectLst>
                <a:uLnTx/>
                <a:uFillTx/>
                <a:latin typeface="+mn-ea"/>
                <a:cs typeface="+mn-ea"/>
                <a:sym typeface="+mn-ea"/>
              </a:rPr>
              <a:t>求精</a:t>
            </a:r>
            <a:r>
              <a:rPr lang="zh-CN" altLang="en-US" kern="0" noProof="0" dirty="0">
                <a:ln>
                  <a:noFill/>
                </a:ln>
                <a:effectLst>
                  <a:outerShdw blurRad="38100" dist="38100" dir="2700000" algn="tl">
                    <a:srgbClr val="C0C0C0"/>
                  </a:outerShdw>
                </a:effectLst>
                <a:uLnTx/>
                <a:uFillTx/>
                <a:latin typeface="+mn-ea"/>
                <a:cs typeface="+mn-ea"/>
                <a:sym typeface="+mn-ea"/>
              </a:rPr>
              <a:t>、</a:t>
            </a:r>
            <a:r>
              <a:rPr lang="zh-CN" altLang="en-US" kern="0" noProof="0" dirty="0">
                <a:ln>
                  <a:noFill/>
                </a:ln>
                <a:solidFill>
                  <a:srgbClr val="CC3300"/>
                </a:solidFill>
                <a:effectLst>
                  <a:outerShdw blurRad="38100" dist="38100" dir="2700000" algn="tl">
                    <a:srgbClr val="C0C0C0"/>
                  </a:outerShdw>
                </a:effectLst>
                <a:uLnTx/>
                <a:uFillTx/>
                <a:latin typeface="+mn-ea"/>
                <a:cs typeface="+mn-ea"/>
                <a:sym typeface="+mn-ea"/>
              </a:rPr>
              <a:t>建模</a:t>
            </a:r>
            <a:r>
              <a:rPr lang="zh-CN" altLang="en-US" kern="0" noProof="0" dirty="0">
                <a:ln>
                  <a:noFill/>
                </a:ln>
                <a:effectLst>
                  <a:outerShdw blurRad="38100" dist="38100" dir="2700000" algn="tl">
                    <a:srgbClr val="C0C0C0"/>
                  </a:outerShdw>
                </a:effectLst>
                <a:uLnTx/>
                <a:uFillTx/>
                <a:latin typeface="+mn-ea"/>
                <a:cs typeface="+mn-ea"/>
                <a:sym typeface="+mn-ea"/>
              </a:rPr>
              <a:t>和</a:t>
            </a:r>
            <a:r>
              <a:rPr lang="zh-CN" altLang="en-US" kern="0" noProof="0" dirty="0">
                <a:ln>
                  <a:noFill/>
                </a:ln>
                <a:solidFill>
                  <a:srgbClr val="CC3300"/>
                </a:solidFill>
                <a:effectLst>
                  <a:outerShdw blurRad="38100" dist="38100" dir="2700000" algn="tl">
                    <a:srgbClr val="C0C0C0"/>
                  </a:outerShdw>
                </a:effectLst>
                <a:uLnTx/>
                <a:uFillTx/>
                <a:latin typeface="+mn-ea"/>
                <a:cs typeface="+mn-ea"/>
                <a:sym typeface="+mn-ea"/>
              </a:rPr>
              <a:t>规格说明</a:t>
            </a:r>
            <a:r>
              <a:rPr lang="zh-CN" altLang="en-US" kern="0" noProof="0" dirty="0">
                <a:ln>
                  <a:noFill/>
                </a:ln>
                <a:effectLst>
                  <a:outerShdw blurRad="38100" dist="38100" dir="2700000" algn="tl">
                    <a:srgbClr val="C0C0C0"/>
                  </a:outerShdw>
                </a:effectLst>
                <a:uLnTx/>
                <a:uFillTx/>
                <a:latin typeface="+mn-ea"/>
                <a:cs typeface="+mn-ea"/>
                <a:sym typeface="+mn-ea"/>
              </a:rPr>
              <a:t>的过程。包括</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5000"/>
              </a:lnSpc>
              <a:spcBef>
                <a:spcPct val="20000"/>
              </a:spcBef>
              <a:spcAft>
                <a:spcPct val="0"/>
              </a:spcAft>
              <a:buClr>
                <a:srgbClr val="008000"/>
              </a:buClr>
              <a:buSzPct val="85000"/>
              <a:buFont typeface="Wingdings" panose="05000000000000000000" pitchFamily="2" charset="2"/>
              <a:buChar char="l"/>
              <a:defRPr/>
            </a:pPr>
            <a:r>
              <a:rPr lang="zh-CN" altLang="en-US" kern="0" noProof="0" dirty="0">
                <a:ln>
                  <a:noFill/>
                </a:ln>
                <a:effectLst>
                  <a:outerShdw blurRad="38100" dist="38100" dir="2700000" algn="tl">
                    <a:srgbClr val="C0C0C0"/>
                  </a:outerShdw>
                </a:effectLst>
                <a:uLnTx/>
                <a:uFillTx/>
                <a:latin typeface="+mn-ea"/>
                <a:cs typeface="+mn-ea"/>
                <a:sym typeface="+mn-ea"/>
              </a:rPr>
              <a:t> 细化在项目开发计划中规定的</a:t>
            </a:r>
            <a:r>
              <a:rPr lang="zh-CN" altLang="en-US" kern="0" noProof="0" dirty="0">
                <a:ln>
                  <a:noFill/>
                </a:ln>
                <a:solidFill>
                  <a:srgbClr val="CC3300"/>
                </a:solidFill>
                <a:effectLst>
                  <a:outerShdw blurRad="38100" dist="38100" dir="2700000" algn="tl">
                    <a:srgbClr val="C0C0C0"/>
                  </a:outerShdw>
                </a:effectLst>
                <a:uLnTx/>
                <a:uFillTx/>
                <a:latin typeface="+mn-ea"/>
                <a:cs typeface="+mn-ea"/>
                <a:sym typeface="+mn-ea"/>
              </a:rPr>
              <a:t>软件范围</a:t>
            </a:r>
            <a:r>
              <a:rPr lang="zh-CN" altLang="en-US" kern="0" noProof="0" dirty="0">
                <a:ln>
                  <a:noFill/>
                </a:ln>
                <a:effectLst>
                  <a:outerShdw blurRad="38100" dist="38100" dir="2700000" algn="tl">
                    <a:srgbClr val="C0C0C0"/>
                  </a:outerShdw>
                </a:effectLst>
                <a:uLnTx/>
                <a:uFillTx/>
                <a:latin typeface="+mn-ea"/>
                <a:cs typeface="+mn-ea"/>
                <a:sym typeface="+mn-ea"/>
              </a:rPr>
              <a:t>；</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5000"/>
              </a:lnSpc>
              <a:spcBef>
                <a:spcPct val="20000"/>
              </a:spcBef>
              <a:spcAft>
                <a:spcPct val="0"/>
              </a:spcAft>
              <a:buClr>
                <a:srgbClr val="008000"/>
              </a:buClr>
              <a:buSzPct val="85000"/>
              <a:buFont typeface="Wingdings" panose="05000000000000000000" pitchFamily="2" charset="2"/>
              <a:buChar char="l"/>
              <a:defRPr/>
            </a:pPr>
            <a:r>
              <a:rPr lang="zh-CN" altLang="en-US" kern="0" noProof="0" dirty="0">
                <a:ln>
                  <a:noFill/>
                </a:ln>
                <a:effectLst>
                  <a:outerShdw blurRad="38100" dist="38100" dir="2700000" algn="tl">
                    <a:srgbClr val="C0C0C0"/>
                  </a:outerShdw>
                </a:effectLst>
                <a:uLnTx/>
                <a:uFillTx/>
                <a:latin typeface="+mn-ea"/>
                <a:cs typeface="+mn-ea"/>
                <a:sym typeface="+mn-ea"/>
              </a:rPr>
              <a:t> 创建所需的</a:t>
            </a:r>
            <a:r>
              <a:rPr lang="zh-CN" altLang="en-US" kern="0" noProof="0" dirty="0">
                <a:ln>
                  <a:noFill/>
                </a:ln>
                <a:solidFill>
                  <a:srgbClr val="CC3300"/>
                </a:solidFill>
                <a:effectLst>
                  <a:outerShdw blurRad="38100" dist="38100" dir="2700000" algn="tl">
                    <a:srgbClr val="C0C0C0"/>
                  </a:outerShdw>
                </a:effectLst>
                <a:uLnTx/>
                <a:uFillTx/>
                <a:latin typeface="+mn-ea"/>
                <a:cs typeface="+mn-ea"/>
                <a:sym typeface="+mn-ea"/>
              </a:rPr>
              <a:t>数据模型</a:t>
            </a:r>
            <a:r>
              <a:rPr lang="zh-CN" altLang="en-US" kern="0" noProof="0" dirty="0">
                <a:ln>
                  <a:noFill/>
                </a:ln>
                <a:effectLst>
                  <a:outerShdw blurRad="38100" dist="38100" dir="2700000" algn="tl">
                    <a:srgbClr val="C0C0C0"/>
                  </a:outerShdw>
                </a:effectLst>
                <a:uLnTx/>
                <a:uFillTx/>
                <a:latin typeface="+mn-ea"/>
                <a:cs typeface="+mn-ea"/>
                <a:sym typeface="+mn-ea"/>
              </a:rPr>
              <a:t>、</a:t>
            </a:r>
            <a:r>
              <a:rPr lang="zh-CN" altLang="en-US" kern="0" noProof="0" dirty="0">
                <a:ln>
                  <a:noFill/>
                </a:ln>
                <a:solidFill>
                  <a:srgbClr val="CC3300"/>
                </a:solidFill>
                <a:effectLst>
                  <a:outerShdw blurRad="38100" dist="38100" dir="2700000" algn="tl">
                    <a:srgbClr val="C0C0C0"/>
                  </a:outerShdw>
                </a:effectLst>
                <a:uLnTx/>
                <a:uFillTx/>
                <a:latin typeface="+mn-ea"/>
                <a:cs typeface="+mn-ea"/>
                <a:sym typeface="+mn-ea"/>
              </a:rPr>
              <a:t>功能模型</a:t>
            </a:r>
            <a:r>
              <a:rPr lang="zh-CN" altLang="en-US" kern="0" noProof="0" dirty="0">
                <a:ln>
                  <a:noFill/>
                </a:ln>
                <a:effectLst>
                  <a:outerShdw blurRad="38100" dist="38100" dir="2700000" algn="tl">
                    <a:srgbClr val="C0C0C0"/>
                  </a:outerShdw>
                </a:effectLst>
                <a:uLnTx/>
                <a:uFillTx/>
                <a:latin typeface="+mn-ea"/>
                <a:cs typeface="+mn-ea"/>
                <a:sym typeface="+mn-ea"/>
              </a:rPr>
              <a:t>和</a:t>
            </a:r>
            <a:r>
              <a:rPr lang="zh-CN" altLang="en-US" kern="0" noProof="0" dirty="0">
                <a:ln>
                  <a:noFill/>
                </a:ln>
                <a:solidFill>
                  <a:srgbClr val="CC3300"/>
                </a:solidFill>
                <a:effectLst>
                  <a:outerShdw blurRad="38100" dist="38100" dir="2700000" algn="tl">
                    <a:srgbClr val="C0C0C0"/>
                  </a:outerShdw>
                </a:effectLst>
                <a:uLnTx/>
                <a:uFillTx/>
                <a:latin typeface="+mn-ea"/>
                <a:cs typeface="+mn-ea"/>
                <a:sym typeface="+mn-ea"/>
              </a:rPr>
              <a:t>控制模型</a:t>
            </a:r>
            <a:r>
              <a:rPr lang="zh-CN" altLang="en-US" kern="0" noProof="0" dirty="0">
                <a:ln>
                  <a:noFill/>
                </a:ln>
                <a:effectLst>
                  <a:outerShdw blurRad="38100" dist="38100" dir="2700000" algn="tl">
                    <a:srgbClr val="C0C0C0"/>
                  </a:outerShdw>
                </a:effectLst>
                <a:uLnTx/>
                <a:uFillTx/>
                <a:latin typeface="+mn-ea"/>
                <a:cs typeface="+mn-ea"/>
                <a:sym typeface="+mn-ea"/>
              </a:rPr>
              <a:t>；</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5000"/>
              </a:lnSpc>
              <a:spcBef>
                <a:spcPct val="20000"/>
              </a:spcBef>
              <a:spcAft>
                <a:spcPct val="0"/>
              </a:spcAft>
              <a:buClr>
                <a:srgbClr val="008000"/>
              </a:buClr>
              <a:buSzPct val="85000"/>
              <a:buFont typeface="Wingdings" panose="05000000000000000000" pitchFamily="2" charset="2"/>
              <a:buChar char="l"/>
              <a:defRPr/>
            </a:pPr>
            <a:r>
              <a:rPr lang="zh-CN" altLang="en-US" kern="0" noProof="0" dirty="0">
                <a:ln>
                  <a:noFill/>
                </a:ln>
                <a:effectLst>
                  <a:outerShdw blurRad="38100" dist="38100" dir="2700000" algn="tl">
                    <a:srgbClr val="C0C0C0"/>
                  </a:outerShdw>
                </a:effectLst>
                <a:uLnTx/>
                <a:uFillTx/>
                <a:latin typeface="+mn-ea"/>
                <a:cs typeface="+mn-ea"/>
                <a:sym typeface="+mn-ea"/>
              </a:rPr>
              <a:t> 分析可选择的</a:t>
            </a:r>
            <a:r>
              <a:rPr lang="zh-CN" altLang="en-US" kern="0" noProof="0" dirty="0">
                <a:ln>
                  <a:noFill/>
                </a:ln>
                <a:solidFill>
                  <a:srgbClr val="CC3300"/>
                </a:solidFill>
                <a:effectLst>
                  <a:outerShdw blurRad="38100" dist="38100" dir="2700000" algn="tl">
                    <a:srgbClr val="C0C0C0"/>
                  </a:outerShdw>
                </a:effectLst>
                <a:uLnTx/>
                <a:uFillTx/>
                <a:latin typeface="+mn-ea"/>
                <a:cs typeface="+mn-ea"/>
                <a:sym typeface="+mn-ea"/>
              </a:rPr>
              <a:t>解决方案</a:t>
            </a:r>
            <a:r>
              <a:rPr lang="zh-CN" altLang="en-US" kern="0" noProof="0" dirty="0">
                <a:ln>
                  <a:noFill/>
                </a:ln>
                <a:effectLst>
                  <a:outerShdw blurRad="38100" dist="38100" dir="2700000" algn="tl">
                    <a:srgbClr val="C0C0C0"/>
                  </a:outerShdw>
                </a:effectLst>
                <a:uLnTx/>
                <a:uFillTx/>
                <a:latin typeface="+mn-ea"/>
                <a:cs typeface="+mn-ea"/>
                <a:sym typeface="+mn-ea"/>
              </a:rPr>
              <a:t>，并将它们分配到各个软件成分中去。</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lvl="0" eaLnBrk="1" hangingPunct="1">
              <a:buSzPct val="80000"/>
            </a:pP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a:bodyPr>
          <a:lstStyle/>
          <a:p>
            <a:pPr marL="609600" marR="0" lvl="0" indent="-60960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需求分析是一项软件工程活动，它包括：</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609600" marR="0" lvl="0" indent="-60960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l"/>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990600" marR="0" lvl="1" indent="-533400" algn="l" defTabSz="914400" rtl="0" eaLnBrk="1" fontAlgn="base" latinLnBrk="0" hangingPunct="1">
              <a:lnSpc>
                <a:spcPct val="90000"/>
              </a:lnSpc>
              <a:spcBef>
                <a:spcPct val="20000"/>
              </a:spcBef>
              <a:spcAft>
                <a:spcPct val="0"/>
              </a:spcAft>
              <a:buClr>
                <a:schemeClr val="tx2"/>
              </a:buClr>
              <a:buSzTx/>
              <a:buFont typeface="Wingdings" panose="05000000000000000000" pitchFamily="2" charset="2"/>
              <a:buAutoNum type="arabicParenR"/>
              <a:defRPr/>
            </a:pPr>
            <a:r>
              <a:rPr lang="zh-CN" altLang="en-US" kern="0" noProof="0">
                <a:ln>
                  <a:noFill/>
                </a:ln>
                <a:effectLst>
                  <a:outerShdw blurRad="38100" dist="38100" dir="2700000" algn="tl">
                    <a:srgbClr val="C0C0C0"/>
                  </a:outerShdw>
                </a:effectLst>
                <a:uLnTx/>
                <a:uFillTx/>
                <a:latin typeface="+mn-ea"/>
                <a:cs typeface="+mn-ea"/>
                <a:sym typeface="+mn-ea"/>
              </a:rPr>
              <a:t>问题识别（需求获取）</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1371600" marR="0" lvl="2" indent="-457200" algn="l" defTabSz="914400" rtl="0" eaLnBrk="1" fontAlgn="base" latinLnBrk="0" hangingPunct="1">
              <a:lnSpc>
                <a:spcPct val="90000"/>
              </a:lnSpc>
              <a:spcBef>
                <a:spcPct val="20000"/>
              </a:spcBef>
              <a:spcAft>
                <a:spcPct val="0"/>
              </a:spcAft>
              <a:buClr>
                <a:schemeClr val="accent1"/>
              </a:buClr>
              <a:buSzPct val="70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刻划出</a:t>
            </a:r>
            <a:r>
              <a:rPr lang="zh-CN" altLang="en-US" kern="0" noProof="0">
                <a:ln>
                  <a:noFill/>
                </a:ln>
                <a:solidFill>
                  <a:srgbClr val="CC3300"/>
                </a:solidFill>
                <a:effectLst>
                  <a:outerShdw blurRad="38100" dist="38100" dir="2700000" algn="tl">
                    <a:srgbClr val="C0C0C0"/>
                  </a:outerShdw>
                </a:effectLst>
                <a:uLnTx/>
                <a:uFillTx/>
                <a:latin typeface="+mn-ea"/>
                <a:cs typeface="+mn-ea"/>
                <a:sym typeface="+mn-ea"/>
              </a:rPr>
              <a:t>软件的功能</a:t>
            </a:r>
            <a:r>
              <a:rPr lang="zh-CN" altLang="en-US" kern="0" noProof="0">
                <a:ln>
                  <a:noFill/>
                </a:ln>
                <a:effectLst>
                  <a:outerShdw blurRad="38100" dist="38100" dir="2700000" algn="tl">
                    <a:srgbClr val="C0C0C0"/>
                  </a:outerShdw>
                </a:effectLst>
                <a:uLnTx/>
                <a:uFillTx/>
                <a:latin typeface="+mn-ea"/>
                <a:cs typeface="+mn-ea"/>
                <a:sym typeface="+mn-ea"/>
              </a:rPr>
              <a:t>和</a:t>
            </a:r>
            <a:r>
              <a:rPr lang="zh-CN" altLang="en-US" kern="0" noProof="0">
                <a:ln>
                  <a:noFill/>
                </a:ln>
                <a:solidFill>
                  <a:srgbClr val="CC3300"/>
                </a:solidFill>
                <a:effectLst>
                  <a:outerShdw blurRad="38100" dist="38100" dir="2700000" algn="tl">
                    <a:srgbClr val="C0C0C0"/>
                  </a:outerShdw>
                </a:effectLst>
                <a:uLnTx/>
                <a:uFillTx/>
                <a:latin typeface="+mn-ea"/>
                <a:cs typeface="+mn-ea"/>
                <a:sym typeface="+mn-ea"/>
              </a:rPr>
              <a:t>性能</a:t>
            </a:r>
            <a:r>
              <a:rPr lang="zh-CN" altLang="en-US" kern="0" noProof="0">
                <a:ln>
                  <a:noFill/>
                </a:ln>
                <a:effectLst>
                  <a:outerShdw blurRad="38100" dist="38100" dir="2700000" algn="tl">
                    <a:srgbClr val="C0C0C0"/>
                  </a:outerShdw>
                </a:effectLst>
                <a:uLnTx/>
                <a:uFillTx/>
                <a:latin typeface="+mn-ea"/>
                <a:cs typeface="+mn-ea"/>
                <a:sym typeface="+mn-ea"/>
              </a:rPr>
              <a:t>；</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1371600" marR="0" lvl="2" indent="-457200" algn="l" defTabSz="914400" rtl="0" eaLnBrk="1" fontAlgn="base" latinLnBrk="0" hangingPunct="1">
              <a:lnSpc>
                <a:spcPct val="90000"/>
              </a:lnSpc>
              <a:spcBef>
                <a:spcPct val="20000"/>
              </a:spcBef>
              <a:spcAft>
                <a:spcPct val="0"/>
              </a:spcAft>
              <a:buClr>
                <a:schemeClr val="accent1"/>
              </a:buClr>
              <a:buSzPct val="70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指明</a:t>
            </a:r>
            <a:r>
              <a:rPr lang="zh-CN" altLang="en-US" kern="0" noProof="0">
                <a:ln>
                  <a:noFill/>
                </a:ln>
                <a:solidFill>
                  <a:srgbClr val="CC3300"/>
                </a:solidFill>
                <a:effectLst>
                  <a:outerShdw blurRad="38100" dist="38100" dir="2700000" algn="tl">
                    <a:srgbClr val="C0C0C0"/>
                  </a:outerShdw>
                </a:effectLst>
                <a:uLnTx/>
                <a:uFillTx/>
                <a:latin typeface="+mn-ea"/>
                <a:cs typeface="+mn-ea"/>
                <a:sym typeface="+mn-ea"/>
              </a:rPr>
              <a:t>软件与其他系统元素的接口</a:t>
            </a:r>
            <a:r>
              <a:rPr lang="zh-CN" altLang="en-US" kern="0" noProof="0">
                <a:ln>
                  <a:noFill/>
                </a:ln>
                <a:effectLst>
                  <a:outerShdw blurRad="38100" dist="38100" dir="2700000" algn="tl">
                    <a:srgbClr val="C0C0C0"/>
                  </a:outerShdw>
                </a:effectLst>
                <a:uLnTx/>
                <a:uFillTx/>
                <a:latin typeface="+mn-ea"/>
                <a:cs typeface="+mn-ea"/>
                <a:sym typeface="+mn-ea"/>
              </a:rPr>
              <a:t>；</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1371600" marR="0" lvl="2" indent="-457200" algn="l" defTabSz="914400" rtl="0" eaLnBrk="1" fontAlgn="base" latinLnBrk="0" hangingPunct="1">
              <a:lnSpc>
                <a:spcPct val="90000"/>
              </a:lnSpc>
              <a:spcBef>
                <a:spcPct val="20000"/>
              </a:spcBef>
              <a:spcAft>
                <a:spcPct val="0"/>
              </a:spcAft>
              <a:buClr>
                <a:schemeClr val="accent1"/>
              </a:buClr>
              <a:buSzPct val="70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建立</a:t>
            </a:r>
            <a:r>
              <a:rPr lang="zh-CN" altLang="en-US" kern="0" noProof="0">
                <a:ln>
                  <a:noFill/>
                </a:ln>
                <a:solidFill>
                  <a:srgbClr val="CC3300"/>
                </a:solidFill>
                <a:effectLst>
                  <a:outerShdw blurRad="38100" dist="38100" dir="2700000" algn="tl">
                    <a:srgbClr val="C0C0C0"/>
                  </a:outerShdw>
                </a:effectLst>
                <a:uLnTx/>
                <a:uFillTx/>
                <a:latin typeface="+mn-ea"/>
                <a:cs typeface="+mn-ea"/>
                <a:sym typeface="+mn-ea"/>
              </a:rPr>
              <a:t>软件必须满足的约束</a:t>
            </a:r>
            <a:r>
              <a:rPr lang="zh-CN" altLang="en-US" kern="0" noProof="0">
                <a:ln>
                  <a:noFill/>
                </a:ln>
                <a:effectLst>
                  <a:outerShdw blurRad="38100" dist="38100" dir="2700000" algn="tl">
                    <a:srgbClr val="C0C0C0"/>
                  </a:outerShdw>
                </a:effectLst>
                <a:uLnTx/>
                <a:uFillTx/>
                <a:latin typeface="+mn-ea"/>
                <a:cs typeface="+mn-ea"/>
                <a:sym typeface="+mn-ea"/>
              </a:rPr>
              <a:t>。</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1371600" marR="0" lvl="2" indent="-457200" algn="l" defTabSz="914400" rtl="0" eaLnBrk="1" fontAlgn="base" latinLnBrk="0" hangingPunct="1">
              <a:lnSpc>
                <a:spcPct val="90000"/>
              </a:lnSpc>
              <a:spcBef>
                <a:spcPct val="20000"/>
              </a:spcBef>
              <a:spcAft>
                <a:spcPct val="0"/>
              </a:spcAft>
              <a:buClr>
                <a:schemeClr val="accent1"/>
              </a:buClr>
              <a:buSzPct val="70000"/>
              <a:buFont typeface="Wingdings" panose="05000000000000000000" pitchFamily="2" charset="2"/>
              <a:buChar char="l"/>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990600" marR="0" lvl="1" indent="-533400" algn="l" defTabSz="914400" rtl="0" eaLnBrk="1" fontAlgn="base" latinLnBrk="0" hangingPunct="1">
              <a:lnSpc>
                <a:spcPct val="90000"/>
              </a:lnSpc>
              <a:spcBef>
                <a:spcPct val="20000"/>
              </a:spcBef>
              <a:spcAft>
                <a:spcPct val="0"/>
              </a:spcAft>
              <a:buClr>
                <a:schemeClr val="tx2"/>
              </a:buClr>
              <a:buSzTx/>
              <a:buFont typeface="Wingdings" panose="05000000000000000000" pitchFamily="2" charset="2"/>
              <a:buAutoNum type="arabicParenR"/>
              <a:defRPr/>
            </a:pPr>
            <a:r>
              <a:rPr lang="zh-CN" altLang="en-US" kern="0" noProof="0">
                <a:ln>
                  <a:noFill/>
                </a:ln>
                <a:effectLst>
                  <a:outerShdw blurRad="38100" dist="38100" dir="2700000" algn="tl">
                    <a:srgbClr val="C0C0C0"/>
                  </a:outerShdw>
                </a:effectLst>
                <a:uLnTx/>
                <a:uFillTx/>
                <a:latin typeface="+mn-ea"/>
                <a:cs typeface="+mn-ea"/>
                <a:sym typeface="+mn-ea"/>
              </a:rPr>
              <a:t>分析与综合（需求建模）</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990600" marR="0" lvl="1" indent="-53340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None/>
              <a:defRPr/>
            </a:pPr>
            <a:r>
              <a:rPr lang="zh-CN" altLang="en-US" kern="0" noProof="0">
                <a:ln>
                  <a:noFill/>
                </a:ln>
                <a:effectLst>
                  <a:outerShdw blurRad="38100" dist="38100" dir="2700000" algn="tl">
                    <a:srgbClr val="C0C0C0"/>
                  </a:outerShdw>
                </a:effectLst>
                <a:uLnTx/>
                <a:uFillTx/>
                <a:latin typeface="+mn-ea"/>
                <a:cs typeface="+mn-ea"/>
                <a:sym typeface="+mn-ea"/>
              </a:rPr>
              <a:t>	需求分析建立起来的模型为日后软件设计人员提供了可被翻译成</a:t>
            </a:r>
            <a:r>
              <a:rPr lang="zh-CN" altLang="en-US" kern="0" noProof="0">
                <a:ln>
                  <a:noFill/>
                </a:ln>
                <a:solidFill>
                  <a:srgbClr val="CC3300"/>
                </a:solidFill>
                <a:effectLst>
                  <a:outerShdw blurRad="38100" dist="38100" dir="2700000" algn="tl">
                    <a:srgbClr val="C0C0C0"/>
                  </a:outerShdw>
                </a:effectLst>
                <a:uLnTx/>
                <a:uFillTx/>
                <a:latin typeface="+mn-ea"/>
                <a:cs typeface="+mn-ea"/>
                <a:sym typeface="+mn-ea"/>
              </a:rPr>
              <a:t>数据</a:t>
            </a:r>
            <a:r>
              <a:rPr lang="zh-CN" altLang="en-US" kern="0" noProof="0">
                <a:ln>
                  <a:noFill/>
                </a:ln>
                <a:effectLst>
                  <a:outerShdw blurRad="38100" dist="38100" dir="2700000" algn="tl">
                    <a:srgbClr val="C0C0C0"/>
                  </a:outerShdw>
                </a:effectLst>
                <a:uLnTx/>
                <a:uFillTx/>
                <a:latin typeface="+mn-ea"/>
                <a:cs typeface="+mn-ea"/>
                <a:sym typeface="+mn-ea"/>
              </a:rPr>
              <a:t>、</a:t>
            </a:r>
            <a:r>
              <a:rPr lang="zh-CN" altLang="en-US" kern="0" noProof="0">
                <a:ln>
                  <a:noFill/>
                </a:ln>
                <a:solidFill>
                  <a:srgbClr val="CC3300"/>
                </a:solidFill>
                <a:effectLst>
                  <a:outerShdw blurRad="38100" dist="38100" dir="2700000" algn="tl">
                    <a:srgbClr val="C0C0C0"/>
                  </a:outerShdw>
                </a:effectLst>
                <a:uLnTx/>
                <a:uFillTx/>
                <a:latin typeface="+mn-ea"/>
                <a:cs typeface="+mn-ea"/>
                <a:sym typeface="+mn-ea"/>
              </a:rPr>
              <a:t>体系结构</a:t>
            </a:r>
            <a:r>
              <a:rPr lang="zh-CN" altLang="en-US" kern="0" noProof="0">
                <a:ln>
                  <a:noFill/>
                </a:ln>
                <a:effectLst>
                  <a:outerShdw blurRad="38100" dist="38100" dir="2700000" algn="tl">
                    <a:srgbClr val="C0C0C0"/>
                  </a:outerShdw>
                </a:effectLst>
                <a:uLnTx/>
                <a:uFillTx/>
                <a:latin typeface="+mn-ea"/>
                <a:cs typeface="+mn-ea"/>
                <a:sym typeface="+mn-ea"/>
              </a:rPr>
              <a:t>、</a:t>
            </a:r>
            <a:r>
              <a:rPr lang="zh-CN" altLang="en-US" kern="0" noProof="0">
                <a:ln>
                  <a:noFill/>
                </a:ln>
                <a:solidFill>
                  <a:srgbClr val="CC3300"/>
                </a:solidFill>
                <a:effectLst>
                  <a:outerShdw blurRad="38100" dist="38100" dir="2700000" algn="tl">
                    <a:srgbClr val="C0C0C0"/>
                  </a:outerShdw>
                </a:effectLst>
                <a:uLnTx/>
                <a:uFillTx/>
                <a:latin typeface="+mn-ea"/>
                <a:cs typeface="+mn-ea"/>
                <a:sym typeface="+mn-ea"/>
              </a:rPr>
              <a:t>接口</a:t>
            </a:r>
            <a:r>
              <a:rPr lang="zh-CN" altLang="en-US" kern="0" noProof="0">
                <a:ln>
                  <a:noFill/>
                </a:ln>
                <a:effectLst>
                  <a:outerShdw blurRad="38100" dist="38100" dir="2700000" algn="tl">
                    <a:srgbClr val="C0C0C0"/>
                  </a:outerShdw>
                </a:effectLst>
                <a:uLnTx/>
                <a:uFillTx/>
                <a:latin typeface="+mn-ea"/>
                <a:cs typeface="+mn-ea"/>
                <a:sym typeface="+mn-ea"/>
              </a:rPr>
              <a:t>和</a:t>
            </a:r>
            <a:r>
              <a:rPr lang="zh-CN" altLang="en-US" kern="0" noProof="0">
                <a:ln>
                  <a:noFill/>
                </a:ln>
                <a:solidFill>
                  <a:srgbClr val="CC3300"/>
                </a:solidFill>
                <a:effectLst>
                  <a:outerShdw blurRad="38100" dist="38100" dir="2700000" algn="tl">
                    <a:srgbClr val="C0C0C0"/>
                  </a:outerShdw>
                </a:effectLst>
                <a:uLnTx/>
                <a:uFillTx/>
                <a:latin typeface="+mn-ea"/>
                <a:cs typeface="+mn-ea"/>
                <a:sym typeface="+mn-ea"/>
              </a:rPr>
              <a:t>过程</a:t>
            </a:r>
            <a:r>
              <a:rPr lang="zh-CN" altLang="en-US" kern="0" noProof="0">
                <a:ln>
                  <a:noFill/>
                </a:ln>
                <a:effectLst>
                  <a:outerShdw blurRad="38100" dist="38100" dir="2700000" algn="tl">
                    <a:srgbClr val="C0C0C0"/>
                  </a:outerShdw>
                </a:effectLst>
                <a:uLnTx/>
                <a:uFillTx/>
                <a:latin typeface="+mn-ea"/>
                <a:cs typeface="+mn-ea"/>
                <a:sym typeface="+mn-ea"/>
              </a:rPr>
              <a:t>设计的模型。</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lvl="0" eaLnBrk="1" hangingPunct="1">
              <a:buSzPct val="80000"/>
            </a:pP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lnSpcReduction="10000"/>
          </a:bodyPr>
          <a:lstStyle/>
          <a:p>
            <a:pPr marL="609600" marR="0" lvl="0" indent="-60960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需求分析是一项软件工程活动，它包括：</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609600" marR="0" lvl="0" indent="-60960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l"/>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990600" marR="0" lvl="1" indent="-533400" algn="l" defTabSz="914400" rtl="0" eaLnBrk="1" fontAlgn="base" latinLnBrk="0" hangingPunct="1">
              <a:lnSpc>
                <a:spcPct val="105000"/>
              </a:lnSpc>
              <a:spcBef>
                <a:spcPct val="20000"/>
              </a:spcBef>
              <a:spcAft>
                <a:spcPct val="0"/>
              </a:spcAft>
              <a:buClr>
                <a:schemeClr val="tx2"/>
              </a:buClr>
              <a:buSzTx/>
              <a:buFont typeface="Wingdings" panose="05000000000000000000" pitchFamily="2" charset="2"/>
              <a:buAutoNum type="arabicParenR" startAt="3"/>
              <a:defRPr/>
            </a:pPr>
            <a:r>
              <a:rPr lang="zh-CN" altLang="en-US" kern="0" noProof="0">
                <a:ln>
                  <a:noFill/>
                </a:ln>
                <a:effectLst>
                  <a:outerShdw blurRad="38100" dist="38100" dir="2700000" algn="tl">
                    <a:srgbClr val="C0C0C0"/>
                  </a:outerShdw>
                </a:effectLst>
                <a:uLnTx/>
                <a:uFillTx/>
                <a:latin typeface="+mn-ea"/>
                <a:cs typeface="+mn-ea"/>
                <a:sym typeface="+mn-ea"/>
              </a:rPr>
              <a:t>需求描述（需求规格说明</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rPr>
              <a:t>）</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457200" marR="0" lvl="1" indent="0" algn="l" defTabSz="914400" rtl="0" eaLnBrk="1" fontAlgn="base" latinLnBrk="0" hangingPunct="1">
              <a:lnSpc>
                <a:spcPct val="105000"/>
              </a:lnSpc>
              <a:spcBef>
                <a:spcPct val="20000"/>
              </a:spcBef>
              <a:spcAft>
                <a:spcPct val="0"/>
              </a:spcAft>
              <a:buClr>
                <a:schemeClr val="tx2"/>
              </a:buClr>
              <a:buSzTx/>
              <a:buFont typeface="Wingdings" panose="05000000000000000000" pitchFamily="2" charset="2"/>
              <a:buNone/>
              <a:defRPr/>
            </a:pPr>
            <a:r>
              <a:rPr lang="zh-CN" altLang="en-US" kern="0" noProof="0">
                <a:ln>
                  <a:noFill/>
                </a:ln>
                <a:effectLst>
                  <a:outerShdw blurRad="38100" dist="38100" dir="2700000" algn="tl">
                    <a:srgbClr val="C0C0C0"/>
                  </a:outerShdw>
                </a:effectLst>
                <a:uLnTx/>
                <a:uFillTx/>
                <a:latin typeface="+mn-ea"/>
                <a:cs typeface="+mn-ea"/>
                <a:sym typeface="+mn-ea"/>
              </a:rPr>
              <a:t>	需求规格说明书</a:t>
            </a:r>
            <a:r>
              <a:rPr lang="en-US" altLang="zh-CN" kern="0" noProof="0">
                <a:ln>
                  <a:noFill/>
                </a:ln>
                <a:effectLst>
                  <a:outerShdw blurRad="38100" dist="38100" dir="2700000" algn="tl">
                    <a:srgbClr val="C0C0C0"/>
                  </a:outerShdw>
                </a:effectLst>
                <a:uLnTx/>
                <a:uFillTx/>
                <a:latin typeface="+mn-ea"/>
                <a:cs typeface="+mn-ea"/>
                <a:sym typeface="+mn-ea"/>
              </a:rPr>
              <a:t>SRS</a:t>
            </a:r>
            <a:r>
              <a:rPr lang="zh-CN" altLang="en-US" kern="0" noProof="0">
                <a:ln>
                  <a:noFill/>
                </a:ln>
                <a:effectLst>
                  <a:outerShdw blurRad="38100" dist="38100" dir="2700000" algn="tl">
                    <a:srgbClr val="C0C0C0"/>
                  </a:outerShdw>
                </a:effectLst>
                <a:uLnTx/>
                <a:uFillTx/>
                <a:latin typeface="+mn-ea"/>
                <a:cs typeface="+mn-ea"/>
                <a:sym typeface="+mn-ea"/>
              </a:rPr>
              <a:t>为开发人员和用户提供软件开发完成时质量评价的依据</a:t>
            </a:r>
            <a:r>
              <a:rPr lang="zh-CN" altLang="en-US" b="0" kern="0" noProof="0">
                <a:ln>
                  <a:noFill/>
                </a:ln>
                <a:effectLst/>
                <a:uLnTx/>
                <a:uFillTx/>
                <a:latin typeface="+mn-ea"/>
                <a:cs typeface="+mn-ea"/>
                <a:sym typeface="+mn-ea"/>
              </a:rPr>
              <a:t>。</a:t>
            </a:r>
            <a:endParaRPr kumimoji="0" lang="zh-CN" altLang="en-US" b="0" i="0" u="none" strike="noStrike" kern="0" cap="none" spc="0" normalizeH="0" baseline="0" noProof="0">
              <a:ln>
                <a:noFill/>
              </a:ln>
              <a:solidFill>
                <a:schemeClr val="tx1"/>
              </a:solidFill>
              <a:effectLst/>
              <a:uLnTx/>
              <a:uFillTx/>
              <a:latin typeface="+mn-ea"/>
              <a:cs typeface="+mn-ea"/>
            </a:endParaRPr>
          </a:p>
          <a:p>
            <a:pPr marL="990600" marR="0" lvl="1" indent="-533400" algn="l" defTabSz="914400" rtl="0" eaLnBrk="1" fontAlgn="base" latinLnBrk="0" hangingPunct="1">
              <a:lnSpc>
                <a:spcPct val="105000"/>
              </a:lnSpc>
              <a:spcBef>
                <a:spcPct val="20000"/>
              </a:spcBef>
              <a:spcAft>
                <a:spcPct val="0"/>
              </a:spcAft>
              <a:buClr>
                <a:schemeClr val="tx2"/>
              </a:buClr>
              <a:buSzTx/>
              <a:buFont typeface="Wingdings" panose="05000000000000000000" pitchFamily="2" charset="2"/>
              <a:buNone/>
              <a:defRPr/>
            </a:pPr>
            <a:endParaRPr kumimoji="0" lang="zh-CN" altLang="en-US" b="0" i="0" u="none" strike="noStrike" kern="0" cap="none" spc="0" normalizeH="0" baseline="0" noProof="0">
              <a:ln>
                <a:noFill/>
              </a:ln>
              <a:solidFill>
                <a:schemeClr val="tx1"/>
              </a:solidFill>
              <a:effectLst/>
              <a:uLnTx/>
              <a:uFillTx/>
              <a:latin typeface="+mn-ea"/>
              <a:cs typeface="+mn-ea"/>
            </a:endParaRPr>
          </a:p>
          <a:p>
            <a:pPr marL="990600" marR="0" lvl="1" indent="-533400" algn="l" defTabSz="914400" rtl="0" eaLnBrk="1" fontAlgn="base" latinLnBrk="0" hangingPunct="1">
              <a:lnSpc>
                <a:spcPct val="105000"/>
              </a:lnSpc>
              <a:spcBef>
                <a:spcPct val="20000"/>
              </a:spcBef>
              <a:spcAft>
                <a:spcPct val="0"/>
              </a:spcAft>
              <a:buClr>
                <a:schemeClr val="tx2"/>
              </a:buClr>
              <a:buSzTx/>
              <a:buFont typeface="Wingdings" panose="05000000000000000000" pitchFamily="2" charset="2"/>
              <a:buAutoNum type="arabicParenR" startAt="4"/>
              <a:defRPr/>
            </a:pPr>
            <a:r>
              <a:rPr lang="zh-CN" altLang="en-US" kern="0" noProof="0">
                <a:ln>
                  <a:noFill/>
                </a:ln>
                <a:effectLst>
                  <a:outerShdw blurRad="38100" dist="38100" dir="2700000" algn="tl">
                    <a:srgbClr val="C0C0C0"/>
                  </a:outerShdw>
                </a:effectLst>
                <a:uLnTx/>
                <a:uFillTx/>
                <a:latin typeface="+mn-ea"/>
                <a:cs typeface="+mn-ea"/>
                <a:sym typeface="+mn-ea"/>
              </a:rPr>
              <a:t>需求评审（验证）</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1371600" marR="0" lvl="2" indent="-457200" algn="l" defTabSz="914400" rtl="0" eaLnBrk="1" fontAlgn="base" latinLnBrk="0" hangingPunct="1">
              <a:lnSpc>
                <a:spcPct val="105000"/>
              </a:lnSpc>
              <a:spcBef>
                <a:spcPct val="20000"/>
              </a:spcBef>
              <a:spcAft>
                <a:spcPct val="0"/>
              </a:spcAft>
              <a:buClr>
                <a:schemeClr val="accent1"/>
              </a:buClr>
              <a:buSzTx/>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需求分析研究的对象是</a:t>
            </a:r>
            <a:r>
              <a:rPr lang="zh-CN" altLang="en-US" kern="0" noProof="0">
                <a:ln>
                  <a:noFill/>
                </a:ln>
                <a:solidFill>
                  <a:srgbClr val="CC3300"/>
                </a:solidFill>
                <a:effectLst>
                  <a:outerShdw blurRad="38100" dist="38100" dir="2700000" algn="tl">
                    <a:srgbClr val="C0C0C0"/>
                  </a:outerShdw>
                </a:effectLst>
                <a:uLnTx/>
                <a:uFillTx/>
                <a:latin typeface="+mn-ea"/>
                <a:cs typeface="+mn-ea"/>
                <a:sym typeface="+mn-ea"/>
              </a:rPr>
              <a:t>用户的要求</a:t>
            </a:r>
            <a:r>
              <a:rPr lang="zh-CN" altLang="en-US" kern="0" noProof="0">
                <a:ln>
                  <a:noFill/>
                </a:ln>
                <a:effectLst>
                  <a:outerShdw blurRad="38100" dist="38100" dir="2700000" algn="tl">
                    <a:srgbClr val="C0C0C0"/>
                  </a:outerShdw>
                </a:effectLst>
                <a:uLnTx/>
                <a:uFillTx/>
                <a:latin typeface="+mn-ea"/>
                <a:cs typeface="+mn-ea"/>
                <a:sym typeface="+mn-ea"/>
              </a:rPr>
              <a:t>。</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1371600" marR="0" lvl="2" indent="-457200" algn="l" defTabSz="914400" rtl="0" eaLnBrk="1" fontAlgn="base" latinLnBrk="0" hangingPunct="1">
              <a:lnSpc>
                <a:spcPct val="105000"/>
              </a:lnSpc>
              <a:spcBef>
                <a:spcPct val="20000"/>
              </a:spcBef>
              <a:spcAft>
                <a:spcPct val="0"/>
              </a:spcAft>
              <a:buClr>
                <a:schemeClr val="accent1"/>
              </a:buClr>
              <a:buSzTx/>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必须</a:t>
            </a:r>
            <a:r>
              <a:rPr lang="zh-CN" altLang="en-US" kern="0" noProof="0">
                <a:ln>
                  <a:noFill/>
                </a:ln>
                <a:solidFill>
                  <a:srgbClr val="CC3300"/>
                </a:solidFill>
                <a:effectLst>
                  <a:outerShdw blurRad="38100" dist="38100" dir="2700000" algn="tl">
                    <a:srgbClr val="C0C0C0"/>
                  </a:outerShdw>
                </a:effectLst>
                <a:uLnTx/>
                <a:uFillTx/>
                <a:latin typeface="+mn-ea"/>
                <a:cs typeface="+mn-ea"/>
                <a:sym typeface="+mn-ea"/>
              </a:rPr>
              <a:t>全面理解</a:t>
            </a:r>
            <a:r>
              <a:rPr lang="zh-CN" altLang="en-US" kern="0" noProof="0">
                <a:ln>
                  <a:noFill/>
                </a:ln>
                <a:effectLst>
                  <a:outerShdw blurRad="38100" dist="38100" dir="2700000" algn="tl">
                    <a:srgbClr val="C0C0C0"/>
                  </a:outerShdw>
                </a:effectLst>
                <a:uLnTx/>
                <a:uFillTx/>
                <a:latin typeface="+mn-ea"/>
                <a:cs typeface="+mn-ea"/>
                <a:sym typeface="+mn-ea"/>
              </a:rPr>
              <a:t>用户的各项要求，</a:t>
            </a:r>
            <a:r>
              <a:rPr lang="zh-CN" altLang="en-US" kern="0" noProof="0">
                <a:ln>
                  <a:noFill/>
                </a:ln>
                <a:solidFill>
                  <a:srgbClr val="CC3300"/>
                </a:solidFill>
                <a:effectLst>
                  <a:outerShdw blurRad="38100" dist="38100" dir="2700000" algn="tl">
                    <a:srgbClr val="C0C0C0"/>
                  </a:outerShdw>
                </a:effectLst>
                <a:uLnTx/>
                <a:uFillTx/>
                <a:latin typeface="+mn-ea"/>
                <a:cs typeface="+mn-ea"/>
                <a:sym typeface="+mn-ea"/>
              </a:rPr>
              <a:t>准确表达</a:t>
            </a:r>
            <a:r>
              <a:rPr lang="zh-CN" altLang="en-US" kern="0" noProof="0">
                <a:ln>
                  <a:noFill/>
                </a:ln>
                <a:effectLst>
                  <a:outerShdw blurRad="38100" dist="38100" dir="2700000" algn="tl">
                    <a:srgbClr val="C0C0C0"/>
                  </a:outerShdw>
                </a:effectLst>
                <a:uLnTx/>
                <a:uFillTx/>
                <a:latin typeface="+mn-ea"/>
                <a:cs typeface="+mn-ea"/>
                <a:sym typeface="+mn-ea"/>
              </a:rPr>
              <a:t>被接受的用户要求。</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1371600" marR="0" lvl="2" indent="-457200" algn="l" defTabSz="914400" rtl="0" eaLnBrk="1" fontAlgn="base" latinLnBrk="0" hangingPunct="1">
              <a:lnSpc>
                <a:spcPct val="105000"/>
              </a:lnSpc>
              <a:spcBef>
                <a:spcPct val="20000"/>
              </a:spcBef>
              <a:spcAft>
                <a:spcPct val="0"/>
              </a:spcAft>
              <a:buClr>
                <a:schemeClr val="accent1"/>
              </a:buClr>
              <a:buSzTx/>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只有经过确切描述的软件需求才能成为软件设计的基础。</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a:bodyPr>
          <a:lstStyle/>
          <a:p>
            <a:pPr marL="0" marR="0" lvl="0" indent="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None/>
              <a:defRPr/>
            </a:pPr>
            <a:r>
              <a:rPr lang="zh-CN" altLang="en-US" kern="0" noProof="0" dirty="0">
                <a:ln>
                  <a:noFill/>
                </a:ln>
                <a:solidFill>
                  <a:schemeClr val="tx2"/>
                </a:solidFill>
                <a:effectLst>
                  <a:outerShdw blurRad="38100" dist="38100" dir="2700000" algn="tl">
                    <a:srgbClr val="C0C0C0"/>
                  </a:outerShdw>
                </a:effectLst>
                <a:uLnTx/>
                <a:uFillTx/>
                <a:latin typeface="+mn-ea"/>
                <a:sym typeface="+mn-ea"/>
              </a:rPr>
              <a:t>需求分析阶段一：问题识别（需求获取）</a:t>
            </a:r>
            <a:endParaRPr kumimoji="0" lang="zh-CN" altLang="en-US" b="1" i="0" u="none" strike="noStrike" kern="0" cap="none" spc="0" normalizeH="0" baseline="0" noProof="0" dirty="0">
              <a:ln>
                <a:noFill/>
              </a:ln>
              <a:solidFill>
                <a:schemeClr val="tx2"/>
              </a:solidFill>
              <a:effectLst>
                <a:outerShdw blurRad="38100" dist="38100" dir="2700000" algn="tl">
                  <a:srgbClr val="C0C0C0"/>
                </a:outerShdw>
              </a:effectLst>
              <a:uLnTx/>
              <a:uFillTx/>
              <a:latin typeface="+mn-ea"/>
              <a:cs typeface="+mn-cs"/>
            </a:endParaRPr>
          </a:p>
          <a:p>
            <a:pPr marL="609600" marR="0" lvl="0" indent="-6096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AutoNum type="arabicParenR"/>
              <a:defRPr/>
            </a:pPr>
            <a:endParaRPr kumimoji="0" lang="zh-CN" altLang="en-US" b="1" i="0" u="none" strike="noStrike" kern="0" cap="none" spc="0" normalizeH="0" baseline="0" noProof="0" dirty="0">
              <a:ln>
                <a:noFill/>
              </a:ln>
              <a:solidFill>
                <a:schemeClr val="tx2"/>
              </a:solidFill>
              <a:effectLst>
                <a:outerShdw blurRad="38100" dist="38100" dir="2700000" algn="tl">
                  <a:srgbClr val="C0C0C0"/>
                </a:outerShdw>
              </a:effectLst>
              <a:uLnTx/>
              <a:uFillTx/>
              <a:latin typeface="+mn-ea"/>
              <a:cs typeface="+mn-cs"/>
            </a:endParaRPr>
          </a:p>
          <a:p>
            <a:pPr marL="990600" marR="0" lvl="1" indent="-533400" algn="l"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lang="zh-CN" altLang="en-US" kern="0" noProof="0" dirty="0">
                <a:ln>
                  <a:noFill/>
                </a:ln>
                <a:effectLst>
                  <a:outerShdw blurRad="38100" dist="38100" dir="2700000" algn="tl">
                    <a:srgbClr val="C0C0C0"/>
                  </a:outerShdw>
                </a:effectLst>
                <a:uLnTx/>
                <a:uFillTx/>
                <a:latin typeface="+mn-ea"/>
                <a:sym typeface="+mn-ea"/>
              </a:rPr>
              <a:t>研究系统的</a:t>
            </a:r>
            <a:r>
              <a:rPr lang="zh-CN" altLang="en-US" kern="0" noProof="0" dirty="0">
                <a:ln>
                  <a:noFill/>
                </a:ln>
                <a:solidFill>
                  <a:srgbClr val="CC3300"/>
                </a:solidFill>
                <a:effectLst>
                  <a:outerShdw blurRad="38100" dist="38100" dir="2700000" algn="tl">
                    <a:srgbClr val="C0C0C0"/>
                  </a:outerShdw>
                </a:effectLst>
                <a:uLnTx/>
                <a:uFillTx/>
                <a:latin typeface="+mn-ea"/>
                <a:sym typeface="+mn-ea"/>
              </a:rPr>
              <a:t>可行性分析报告</a:t>
            </a:r>
            <a:r>
              <a:rPr lang="zh-CN" altLang="en-US" kern="0" noProof="0" dirty="0">
                <a:ln>
                  <a:noFill/>
                </a:ln>
                <a:effectLst>
                  <a:outerShdw blurRad="38100" dist="38100" dir="2700000" algn="tl">
                    <a:srgbClr val="C0C0C0"/>
                  </a:outerShdw>
                </a:effectLst>
                <a:uLnTx/>
                <a:uFillTx/>
                <a:latin typeface="+mn-ea"/>
                <a:sym typeface="+mn-ea"/>
              </a:rPr>
              <a:t>和</a:t>
            </a:r>
            <a:r>
              <a:rPr lang="zh-CN" altLang="en-US" kern="0" noProof="0" dirty="0">
                <a:ln>
                  <a:noFill/>
                </a:ln>
                <a:solidFill>
                  <a:srgbClr val="CC3300"/>
                </a:solidFill>
                <a:effectLst>
                  <a:outerShdw blurRad="38100" dist="38100" dir="2700000" algn="tl">
                    <a:srgbClr val="C0C0C0"/>
                  </a:outerShdw>
                </a:effectLst>
                <a:uLnTx/>
                <a:uFillTx/>
                <a:latin typeface="+mn-ea"/>
                <a:sym typeface="+mn-ea"/>
              </a:rPr>
              <a:t>软件项目实施计划</a:t>
            </a:r>
            <a:r>
              <a:rPr lang="zh-CN" altLang="en-US" kern="0" noProof="0" dirty="0">
                <a:ln>
                  <a:noFill/>
                </a:ln>
                <a:effectLst>
                  <a:outerShdw blurRad="38100" dist="38100" dir="2700000" algn="tl">
                    <a:srgbClr val="C0C0C0"/>
                  </a:outerShdw>
                </a:effectLst>
                <a:uLnTx/>
                <a:uFillTx/>
                <a:latin typeface="+mn-ea"/>
                <a:sym typeface="+mn-ea"/>
              </a:rPr>
              <a:t>。</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endParaRPr>
          </a:p>
          <a:p>
            <a:pPr marL="990600" marR="0" lvl="1" indent="-533400" algn="l"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lang="zh-CN" altLang="en-US" kern="0" noProof="0" dirty="0">
                <a:ln>
                  <a:noFill/>
                </a:ln>
                <a:effectLst>
                  <a:outerShdw blurRad="38100" dist="38100" dir="2700000" algn="tl">
                    <a:srgbClr val="C0C0C0"/>
                  </a:outerShdw>
                </a:effectLst>
                <a:uLnTx/>
                <a:uFillTx/>
                <a:latin typeface="+mn-ea"/>
                <a:sym typeface="+mn-ea"/>
              </a:rPr>
              <a:t>从系统角度来理解软件并评审用于产生计划估算的</a:t>
            </a:r>
            <a:r>
              <a:rPr lang="zh-CN" altLang="en-US" kern="0" noProof="0" dirty="0">
                <a:ln>
                  <a:noFill/>
                </a:ln>
                <a:solidFill>
                  <a:srgbClr val="CC3300"/>
                </a:solidFill>
                <a:effectLst>
                  <a:outerShdw blurRad="38100" dist="38100" dir="2700000" algn="tl">
                    <a:srgbClr val="C0C0C0"/>
                  </a:outerShdw>
                </a:effectLst>
                <a:uLnTx/>
                <a:uFillTx/>
                <a:latin typeface="+mn-ea"/>
                <a:sym typeface="+mn-ea"/>
              </a:rPr>
              <a:t>软件范围是否恰当</a:t>
            </a:r>
            <a:r>
              <a:rPr lang="zh-CN" altLang="en-US" kern="0" noProof="0" dirty="0">
                <a:ln>
                  <a:noFill/>
                </a:ln>
                <a:effectLst>
                  <a:outerShdw blurRad="38100" dist="38100" dir="2700000" algn="tl">
                    <a:srgbClr val="C0C0C0"/>
                  </a:outerShdw>
                </a:effectLst>
                <a:uLnTx/>
                <a:uFillTx/>
                <a:latin typeface="+mn-ea"/>
                <a:sym typeface="+mn-ea"/>
              </a:rPr>
              <a:t>；</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endParaRPr>
          </a:p>
          <a:p>
            <a:pPr marL="990600" marR="0" lvl="1" indent="-533400" algn="l"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lang="zh-CN" altLang="en-US" kern="0" noProof="0" dirty="0">
                <a:ln>
                  <a:noFill/>
                </a:ln>
                <a:effectLst>
                  <a:outerShdw blurRad="38100" dist="38100" dir="2700000" algn="tl">
                    <a:srgbClr val="C0C0C0"/>
                  </a:outerShdw>
                </a:effectLst>
                <a:uLnTx/>
                <a:uFillTx/>
                <a:latin typeface="+mn-ea"/>
                <a:sym typeface="+mn-ea"/>
              </a:rPr>
              <a:t>确定</a:t>
            </a:r>
            <a:r>
              <a:rPr lang="zh-CN" altLang="en-US" kern="0" noProof="0" dirty="0">
                <a:ln>
                  <a:noFill/>
                </a:ln>
                <a:solidFill>
                  <a:srgbClr val="CC3300"/>
                </a:solidFill>
                <a:effectLst>
                  <a:outerShdw blurRad="38100" dist="38100" dir="2700000" algn="tl">
                    <a:srgbClr val="C0C0C0"/>
                  </a:outerShdw>
                </a:effectLst>
                <a:uLnTx/>
                <a:uFillTx/>
                <a:latin typeface="+mn-ea"/>
                <a:sym typeface="+mn-ea"/>
              </a:rPr>
              <a:t>对目标系统的需求</a:t>
            </a:r>
            <a:r>
              <a:rPr lang="zh-CN" altLang="en-US" kern="0" noProof="0" dirty="0">
                <a:ln>
                  <a:noFill/>
                </a:ln>
                <a:effectLst>
                  <a:outerShdw blurRad="38100" dist="38100" dir="2700000" algn="tl">
                    <a:srgbClr val="C0C0C0"/>
                  </a:outerShdw>
                </a:effectLst>
                <a:uLnTx/>
                <a:uFillTx/>
                <a:latin typeface="+mn-ea"/>
                <a:sym typeface="+mn-ea"/>
              </a:rPr>
              <a:t>；</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endParaRPr>
          </a:p>
          <a:p>
            <a:pPr marL="990600" marR="0" lvl="1" indent="-533400" algn="l"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lang="zh-CN" altLang="en-US" kern="0" noProof="0" dirty="0">
                <a:ln>
                  <a:noFill/>
                </a:ln>
                <a:effectLst>
                  <a:outerShdw blurRad="38100" dist="38100" dir="2700000" algn="tl">
                    <a:srgbClr val="C0C0C0"/>
                  </a:outerShdw>
                </a:effectLst>
                <a:uLnTx/>
                <a:uFillTx/>
                <a:latin typeface="+mn-ea"/>
                <a:sym typeface="+mn-ea"/>
              </a:rPr>
              <a:t>提出这些</a:t>
            </a:r>
            <a:r>
              <a:rPr lang="zh-CN" altLang="en-US" kern="0" noProof="0" dirty="0">
                <a:ln>
                  <a:noFill/>
                </a:ln>
                <a:solidFill>
                  <a:srgbClr val="CC3300"/>
                </a:solidFill>
                <a:effectLst>
                  <a:outerShdw blurRad="38100" dist="38100" dir="2700000" algn="tl">
                    <a:srgbClr val="C0C0C0"/>
                  </a:outerShdw>
                </a:effectLst>
                <a:uLnTx/>
                <a:uFillTx/>
                <a:latin typeface="+mn-ea"/>
                <a:sym typeface="+mn-ea"/>
              </a:rPr>
              <a:t>需求实现条件</a:t>
            </a:r>
            <a:r>
              <a:rPr lang="zh-CN" altLang="en-US" kern="0" noProof="0" dirty="0">
                <a:ln>
                  <a:noFill/>
                </a:ln>
                <a:effectLst>
                  <a:outerShdw blurRad="38100" dist="38100" dir="2700000" algn="tl">
                    <a:srgbClr val="C0C0C0"/>
                  </a:outerShdw>
                </a:effectLst>
                <a:uLnTx/>
                <a:uFillTx/>
                <a:latin typeface="+mn-ea"/>
                <a:sym typeface="+mn-ea"/>
              </a:rPr>
              <a:t>，以及</a:t>
            </a:r>
            <a:r>
              <a:rPr lang="zh-CN" altLang="en-US" kern="0" noProof="0" dirty="0">
                <a:ln>
                  <a:noFill/>
                </a:ln>
                <a:solidFill>
                  <a:srgbClr val="CC3300"/>
                </a:solidFill>
                <a:effectLst>
                  <a:outerShdw blurRad="38100" dist="38100" dir="2700000" algn="tl">
                    <a:srgbClr val="C0C0C0"/>
                  </a:outerShdw>
                </a:effectLst>
                <a:uLnTx/>
                <a:uFillTx/>
                <a:latin typeface="+mn-ea"/>
                <a:sym typeface="+mn-ea"/>
              </a:rPr>
              <a:t>需求应达到的标准</a:t>
            </a:r>
            <a:r>
              <a:rPr lang="zh-CN" altLang="en-US" kern="0" noProof="0" dirty="0">
                <a:ln>
                  <a:noFill/>
                </a:ln>
                <a:effectLst>
                  <a:outerShdw blurRad="38100" dist="38100" dir="2700000" algn="tl">
                    <a:srgbClr val="C0C0C0"/>
                  </a:outerShdw>
                </a:effectLst>
                <a:uLnTx/>
                <a:uFillTx/>
                <a:latin typeface="+mn-ea"/>
                <a:sym typeface="+mn-ea"/>
              </a:rPr>
              <a:t>。</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endParaRPr>
          </a:p>
          <a:p>
            <a:pPr marL="0" marR="0" lvl="0" indent="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None/>
              <a:defRPr/>
            </a:pP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a:bodyPr>
          <a:lstStyle/>
          <a:p>
            <a:pPr marL="0" marR="0" lvl="0" indent="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None/>
              <a:defRPr/>
            </a:pPr>
            <a:r>
              <a:rPr lang="zh-CN" altLang="en-US" kern="0" noProof="0" dirty="0">
                <a:ln>
                  <a:noFill/>
                </a:ln>
                <a:solidFill>
                  <a:schemeClr val="tx2"/>
                </a:solidFill>
                <a:effectLst>
                  <a:outerShdw blurRad="38100" dist="38100" dir="2700000" algn="tl">
                    <a:srgbClr val="C0C0C0"/>
                  </a:outerShdw>
                </a:effectLst>
                <a:uLnTx/>
                <a:uFillTx/>
                <a:latin typeface="+mn-ea"/>
                <a:sym typeface="+mn-ea"/>
              </a:rPr>
              <a:t>需求分析阶段二：分析与综合（需求建模）</a:t>
            </a:r>
            <a:endParaRPr kumimoji="0" lang="zh-CN" altLang="en-US" b="1" i="0" u="none" strike="noStrike" kern="0" cap="none" spc="0" normalizeH="0" baseline="0" noProof="0" dirty="0">
              <a:ln>
                <a:noFill/>
              </a:ln>
              <a:solidFill>
                <a:schemeClr val="tx2"/>
              </a:solidFill>
              <a:effectLst>
                <a:outerShdw blurRad="38100" dist="38100" dir="2700000" algn="tl">
                  <a:srgbClr val="C0C0C0"/>
                </a:outerShdw>
              </a:effectLst>
              <a:uLnTx/>
              <a:uFillTx/>
              <a:latin typeface="+mn-ea"/>
              <a:cs typeface="+mn-cs"/>
            </a:endParaRPr>
          </a:p>
          <a:p>
            <a:pPr marL="609600" marR="0" lvl="0" indent="-6096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AutoNum type="arabicParenR"/>
              <a:defRPr/>
            </a:pPr>
            <a:endParaRPr kumimoji="0" lang="zh-CN" altLang="en-US" b="1" i="0" u="none" strike="noStrike" kern="0" cap="none" spc="0" normalizeH="0" baseline="0" noProof="0" dirty="0">
              <a:ln>
                <a:noFill/>
              </a:ln>
              <a:solidFill>
                <a:schemeClr val="tx2"/>
              </a:solidFill>
              <a:effectLst>
                <a:outerShdw blurRad="38100" dist="38100" dir="2700000" algn="tl">
                  <a:srgbClr val="C0C0C0"/>
                </a:outerShdw>
              </a:effectLst>
              <a:uLnTx/>
              <a:uFillTx/>
              <a:latin typeface="+mn-ea"/>
              <a:cs typeface="+mn-cs"/>
            </a:endParaRPr>
          </a:p>
          <a:p>
            <a:pPr marL="990600" marR="0" lvl="1" indent="-533400" algn="just"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lang="zh-CN" altLang="en-US" kern="0" noProof="0" dirty="0">
                <a:ln>
                  <a:noFill/>
                </a:ln>
                <a:effectLst>
                  <a:outerShdw blurRad="38100" dist="38100" dir="2700000" algn="tl">
                    <a:srgbClr val="C0C0C0"/>
                  </a:outerShdw>
                </a:effectLst>
                <a:uLnTx/>
                <a:uFillTx/>
                <a:latin typeface="+mn-ea"/>
                <a:sym typeface="+mn-ea"/>
              </a:rPr>
              <a:t>进行各种要求的</a:t>
            </a:r>
            <a:r>
              <a:rPr lang="zh-CN" altLang="en-US" kern="0" noProof="0" dirty="0">
                <a:ln>
                  <a:noFill/>
                </a:ln>
                <a:solidFill>
                  <a:srgbClr val="CC3300"/>
                </a:solidFill>
                <a:effectLst>
                  <a:outerShdw blurRad="38100" dist="38100" dir="2700000" algn="tl">
                    <a:srgbClr val="C0C0C0"/>
                  </a:outerShdw>
                </a:effectLst>
                <a:uLnTx/>
                <a:uFillTx/>
                <a:latin typeface="+mn-ea"/>
                <a:sym typeface="+mn-ea"/>
              </a:rPr>
              <a:t>一致性</a:t>
            </a:r>
            <a:r>
              <a:rPr lang="zh-CN" altLang="en-US" kern="0" noProof="0" dirty="0">
                <a:ln>
                  <a:noFill/>
                </a:ln>
                <a:effectLst>
                  <a:outerShdw blurRad="38100" dist="38100" dir="2700000" algn="tl">
                    <a:srgbClr val="C0C0C0"/>
                  </a:outerShdw>
                </a:effectLst>
                <a:uLnTx/>
                <a:uFillTx/>
                <a:latin typeface="+mn-ea"/>
                <a:sym typeface="+mn-ea"/>
              </a:rPr>
              <a:t>检查；</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endParaRPr>
          </a:p>
          <a:p>
            <a:pPr marL="990600" marR="0" lvl="1" indent="-533400" algn="just"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lang="zh-CN" altLang="en-US" kern="0" noProof="0" dirty="0">
                <a:ln>
                  <a:noFill/>
                </a:ln>
                <a:effectLst>
                  <a:outerShdw blurRad="38100" dist="38100" dir="2700000" algn="tl">
                    <a:srgbClr val="C0C0C0"/>
                  </a:outerShdw>
                </a:effectLst>
                <a:uLnTx/>
                <a:uFillTx/>
                <a:latin typeface="+mn-ea"/>
                <a:sym typeface="+mn-ea"/>
              </a:rPr>
              <a:t>逐步细化所有的</a:t>
            </a:r>
            <a:r>
              <a:rPr lang="zh-CN" altLang="en-US" kern="0" noProof="0" dirty="0">
                <a:ln>
                  <a:noFill/>
                </a:ln>
                <a:solidFill>
                  <a:srgbClr val="CC3300"/>
                </a:solidFill>
                <a:effectLst>
                  <a:outerShdw blurRad="38100" dist="38100" dir="2700000" algn="tl">
                    <a:srgbClr val="C0C0C0"/>
                  </a:outerShdw>
                </a:effectLst>
                <a:uLnTx/>
                <a:uFillTx/>
                <a:latin typeface="+mn-ea"/>
                <a:sym typeface="+mn-ea"/>
              </a:rPr>
              <a:t>软件功能</a:t>
            </a:r>
            <a:r>
              <a:rPr lang="zh-CN" altLang="en-US" kern="0" noProof="0" dirty="0">
                <a:ln>
                  <a:noFill/>
                </a:ln>
                <a:effectLst>
                  <a:outerShdw blurRad="38100" dist="38100" dir="2700000" algn="tl">
                    <a:srgbClr val="C0C0C0"/>
                  </a:outerShdw>
                </a:effectLst>
                <a:uLnTx/>
                <a:uFillTx/>
                <a:latin typeface="+mn-ea"/>
                <a:sym typeface="+mn-ea"/>
              </a:rPr>
              <a:t>；</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endParaRPr>
          </a:p>
          <a:p>
            <a:pPr marL="990600" marR="0" lvl="1" indent="-533400" algn="just"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lang="zh-CN" altLang="en-US" kern="0" noProof="0" dirty="0">
                <a:ln>
                  <a:noFill/>
                </a:ln>
                <a:effectLst>
                  <a:outerShdw blurRad="38100" dist="38100" dir="2700000" algn="tl">
                    <a:srgbClr val="C0C0C0"/>
                  </a:outerShdw>
                </a:effectLst>
                <a:uLnTx/>
                <a:uFillTx/>
                <a:latin typeface="+mn-ea"/>
                <a:sym typeface="+mn-ea"/>
              </a:rPr>
              <a:t>分解数据域，分配给各个子功能；</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endParaRPr>
          </a:p>
          <a:p>
            <a:pPr marL="990600" marR="0" lvl="1" indent="-533400" algn="just"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lang="zh-CN" altLang="en-US" kern="0" noProof="0" dirty="0">
                <a:ln>
                  <a:noFill/>
                </a:ln>
                <a:effectLst>
                  <a:outerShdw blurRad="38100" dist="38100" dir="2700000" algn="tl">
                    <a:srgbClr val="C0C0C0"/>
                  </a:outerShdw>
                </a:effectLst>
                <a:uLnTx/>
                <a:uFillTx/>
                <a:latin typeface="+mn-ea"/>
                <a:sym typeface="+mn-ea"/>
              </a:rPr>
              <a:t>找出</a:t>
            </a:r>
            <a:r>
              <a:rPr lang="zh-CN" altLang="en-US" kern="0" noProof="0" dirty="0">
                <a:ln>
                  <a:noFill/>
                </a:ln>
                <a:solidFill>
                  <a:srgbClr val="CC3300"/>
                </a:solidFill>
                <a:effectLst>
                  <a:outerShdw blurRad="38100" dist="38100" dir="2700000" algn="tl">
                    <a:srgbClr val="C0C0C0"/>
                  </a:outerShdw>
                </a:effectLst>
                <a:uLnTx/>
                <a:uFillTx/>
                <a:latin typeface="+mn-ea"/>
                <a:sym typeface="+mn-ea"/>
              </a:rPr>
              <a:t>系统各成分之间的联系</a:t>
            </a:r>
            <a:r>
              <a:rPr lang="zh-CN" altLang="en-US" kern="0" noProof="0" dirty="0">
                <a:ln>
                  <a:noFill/>
                </a:ln>
                <a:effectLst>
                  <a:outerShdw blurRad="38100" dist="38100" dir="2700000" algn="tl">
                    <a:srgbClr val="C0C0C0"/>
                  </a:outerShdw>
                </a:effectLst>
                <a:uLnTx/>
                <a:uFillTx/>
                <a:latin typeface="+mn-ea"/>
                <a:sym typeface="+mn-ea"/>
              </a:rPr>
              <a:t>、</a:t>
            </a:r>
            <a:r>
              <a:rPr lang="zh-CN" altLang="en-US" kern="0" noProof="0" dirty="0">
                <a:ln>
                  <a:noFill/>
                </a:ln>
                <a:solidFill>
                  <a:srgbClr val="CC3300"/>
                </a:solidFill>
                <a:effectLst>
                  <a:outerShdw blurRad="38100" dist="38100" dir="2700000" algn="tl">
                    <a:srgbClr val="C0C0C0"/>
                  </a:outerShdw>
                </a:effectLst>
                <a:uLnTx/>
                <a:uFillTx/>
                <a:latin typeface="+mn-ea"/>
                <a:sym typeface="+mn-ea"/>
              </a:rPr>
              <a:t>接口特性</a:t>
            </a:r>
            <a:r>
              <a:rPr lang="zh-CN" altLang="en-US" kern="0" noProof="0" dirty="0">
                <a:ln>
                  <a:noFill/>
                </a:ln>
                <a:effectLst>
                  <a:outerShdw blurRad="38100" dist="38100" dir="2700000" algn="tl">
                    <a:srgbClr val="C0C0C0"/>
                  </a:outerShdw>
                </a:effectLst>
                <a:uLnTx/>
                <a:uFillTx/>
                <a:latin typeface="+mn-ea"/>
                <a:sym typeface="+mn-ea"/>
              </a:rPr>
              <a:t>和</a:t>
            </a:r>
            <a:r>
              <a:rPr lang="zh-CN" altLang="en-US" kern="0" noProof="0" dirty="0">
                <a:ln>
                  <a:noFill/>
                </a:ln>
                <a:solidFill>
                  <a:srgbClr val="CC3300"/>
                </a:solidFill>
                <a:effectLst>
                  <a:outerShdw blurRad="38100" dist="38100" dir="2700000" algn="tl">
                    <a:srgbClr val="C0C0C0"/>
                  </a:outerShdw>
                </a:effectLst>
                <a:uLnTx/>
                <a:uFillTx/>
                <a:latin typeface="+mn-ea"/>
                <a:sym typeface="+mn-ea"/>
              </a:rPr>
              <a:t>设计限制</a:t>
            </a:r>
            <a:r>
              <a:rPr lang="zh-CN" altLang="en-US" kern="0" noProof="0" dirty="0">
                <a:ln>
                  <a:noFill/>
                </a:ln>
                <a:effectLst>
                  <a:outerShdw blurRad="38100" dist="38100" dir="2700000" algn="tl">
                    <a:srgbClr val="C0C0C0"/>
                  </a:outerShdw>
                </a:effectLst>
                <a:uLnTx/>
                <a:uFillTx/>
                <a:latin typeface="+mn-ea"/>
                <a:sym typeface="+mn-ea"/>
              </a:rPr>
              <a:t>。</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endParaRPr>
          </a:p>
          <a:p>
            <a:pPr marL="990600" marR="0" lvl="1" indent="-533400" algn="just"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lang="zh-CN" altLang="en-US" kern="0" noProof="0" dirty="0">
                <a:ln>
                  <a:noFill/>
                </a:ln>
                <a:effectLst>
                  <a:outerShdw blurRad="38100" dist="38100" dir="2700000" algn="tl">
                    <a:srgbClr val="C0C0C0"/>
                  </a:outerShdw>
                </a:effectLst>
                <a:uLnTx/>
                <a:uFillTx/>
                <a:latin typeface="+mn-ea"/>
                <a:sym typeface="+mn-ea"/>
              </a:rPr>
              <a:t>判断是否存在</a:t>
            </a:r>
            <a:r>
              <a:rPr lang="zh-CN" altLang="en-US" kern="0" noProof="0" dirty="0">
                <a:ln>
                  <a:noFill/>
                </a:ln>
                <a:solidFill>
                  <a:srgbClr val="CC3300"/>
                </a:solidFill>
                <a:effectLst>
                  <a:outerShdw blurRad="38100" dist="38100" dir="2700000" algn="tl">
                    <a:srgbClr val="C0C0C0"/>
                  </a:outerShdw>
                </a:effectLst>
                <a:uLnTx/>
                <a:uFillTx/>
                <a:latin typeface="+mn-ea"/>
                <a:sym typeface="+mn-ea"/>
              </a:rPr>
              <a:t>不合理的用户要求</a:t>
            </a:r>
            <a:r>
              <a:rPr lang="zh-CN" altLang="en-US" kern="0" noProof="0" dirty="0">
                <a:ln>
                  <a:noFill/>
                </a:ln>
                <a:effectLst>
                  <a:outerShdw blurRad="38100" dist="38100" dir="2700000" algn="tl">
                    <a:srgbClr val="C0C0C0"/>
                  </a:outerShdw>
                </a:effectLst>
                <a:uLnTx/>
                <a:uFillTx/>
                <a:latin typeface="+mn-ea"/>
                <a:sym typeface="+mn-ea"/>
              </a:rPr>
              <a:t>或</a:t>
            </a:r>
            <a:r>
              <a:rPr lang="zh-CN" altLang="en-US" kern="0" noProof="0" dirty="0">
                <a:ln>
                  <a:noFill/>
                </a:ln>
                <a:solidFill>
                  <a:srgbClr val="CC3300"/>
                </a:solidFill>
                <a:effectLst>
                  <a:outerShdw blurRad="38100" dist="38100" dir="2700000" algn="tl">
                    <a:srgbClr val="C0C0C0"/>
                  </a:outerShdw>
                </a:effectLst>
                <a:uLnTx/>
                <a:uFillTx/>
                <a:latin typeface="+mn-ea"/>
                <a:sym typeface="+mn-ea"/>
              </a:rPr>
              <a:t>用户尚未提出的潜在要求</a:t>
            </a:r>
            <a:r>
              <a:rPr lang="zh-CN" altLang="en-US" kern="0" noProof="0" dirty="0">
                <a:ln>
                  <a:noFill/>
                </a:ln>
                <a:effectLst>
                  <a:outerShdw blurRad="38100" dist="38100" dir="2700000" algn="tl">
                    <a:srgbClr val="C0C0C0"/>
                  </a:outerShdw>
                </a:effectLst>
                <a:uLnTx/>
                <a:uFillTx/>
                <a:latin typeface="+mn-ea"/>
                <a:sym typeface="+mn-ea"/>
              </a:rPr>
              <a:t>。</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endParaRPr>
          </a:p>
          <a:p>
            <a:pPr marL="990600" marR="0" lvl="1" indent="-533400" algn="just"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lang="zh-CN" altLang="en-US" kern="0" noProof="0" dirty="0">
                <a:ln>
                  <a:noFill/>
                </a:ln>
                <a:effectLst>
                  <a:outerShdw blurRad="38100" dist="38100" dir="2700000" algn="tl">
                    <a:srgbClr val="C0C0C0"/>
                  </a:outerShdw>
                </a:effectLst>
                <a:uLnTx/>
                <a:uFillTx/>
                <a:latin typeface="+mn-ea"/>
                <a:sym typeface="+mn-ea"/>
              </a:rPr>
              <a:t>综合成</a:t>
            </a:r>
            <a:r>
              <a:rPr lang="zh-CN" altLang="en-US" kern="0" noProof="0" dirty="0">
                <a:ln>
                  <a:noFill/>
                </a:ln>
                <a:solidFill>
                  <a:srgbClr val="CC3300"/>
                </a:solidFill>
                <a:effectLst>
                  <a:outerShdw blurRad="38100" dist="38100" dir="2700000" algn="tl">
                    <a:srgbClr val="C0C0C0"/>
                  </a:outerShdw>
                </a:effectLst>
                <a:uLnTx/>
                <a:uFillTx/>
                <a:latin typeface="+mn-ea"/>
                <a:sym typeface="+mn-ea"/>
              </a:rPr>
              <a:t>系统的解决方案</a:t>
            </a:r>
            <a:r>
              <a:rPr lang="zh-CN" altLang="en-US" kern="0" noProof="0" dirty="0">
                <a:ln>
                  <a:noFill/>
                </a:ln>
                <a:effectLst>
                  <a:outerShdw blurRad="38100" dist="38100" dir="2700000" algn="tl">
                    <a:srgbClr val="C0C0C0"/>
                  </a:outerShdw>
                </a:effectLst>
                <a:uLnTx/>
                <a:uFillTx/>
                <a:latin typeface="+mn-ea"/>
                <a:sym typeface="+mn-ea"/>
              </a:rPr>
              <a:t>，给出目标系统的详细逻辑模型。</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lnSpcReduction="10000"/>
          </a:bodyPr>
          <a:lstStyle/>
          <a:p>
            <a:pPr marL="0" marR="0" lvl="0" indent="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None/>
              <a:defRPr/>
            </a:pPr>
            <a:r>
              <a:rPr lang="zh-CN" altLang="en-US" kern="0" noProof="0">
                <a:ln>
                  <a:noFill/>
                </a:ln>
                <a:solidFill>
                  <a:schemeClr val="tx2"/>
                </a:solidFill>
                <a:effectLst>
                  <a:outerShdw blurRad="38100" dist="38100" dir="2700000" algn="tl">
                    <a:srgbClr val="C0C0C0"/>
                  </a:outerShdw>
                </a:effectLst>
                <a:uLnTx/>
                <a:uFillTx/>
                <a:latin typeface="+mn-ea"/>
                <a:sym typeface="+mn-ea"/>
              </a:rPr>
              <a:t>需求分析阶段三：需求描述，编制需求分析阶段的文档</a:t>
            </a:r>
            <a:endParaRPr kumimoji="0" lang="zh-CN" altLang="en-US" b="1" i="0" u="none" strike="noStrike" kern="0" cap="none" spc="0" normalizeH="0" baseline="0" noProof="0">
              <a:ln>
                <a:noFill/>
              </a:ln>
              <a:solidFill>
                <a:schemeClr val="tx2"/>
              </a:solidFill>
              <a:effectLst>
                <a:outerShdw blurRad="38100" dist="38100" dir="2700000" algn="tl">
                  <a:srgbClr val="C0C0C0"/>
                </a:outerShdw>
              </a:effectLst>
              <a:uLnTx/>
              <a:uFillTx/>
              <a:latin typeface="+mn-ea"/>
              <a:cs typeface="+mn-cs"/>
            </a:endParaRPr>
          </a:p>
          <a:p>
            <a:pPr marL="990600" marR="0" lvl="1" indent="-533400" algn="just"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软件需求规格说明</a:t>
            </a:r>
            <a:r>
              <a:rPr lang="en-US" altLang="zh-CN" kern="0" noProof="0">
                <a:ln>
                  <a:noFill/>
                </a:ln>
                <a:effectLst>
                  <a:outerShdw blurRad="38100" dist="38100" dir="2700000" algn="tl">
                    <a:srgbClr val="C0C0C0"/>
                  </a:outerShdw>
                </a:effectLst>
                <a:uLnTx/>
                <a:uFillTx/>
                <a:latin typeface="+mn-ea"/>
                <a:cs typeface="+mn-ea"/>
                <a:sym typeface="+mn-ea"/>
              </a:rPr>
              <a:t>SRS</a:t>
            </a:r>
            <a:r>
              <a:rPr lang="zh-CN" altLang="en-US" kern="0" noProof="0">
                <a:ln>
                  <a:noFill/>
                </a:ln>
                <a:effectLst>
                  <a:outerShdw blurRad="38100" dist="38100" dir="2700000" algn="tl">
                    <a:srgbClr val="C0C0C0"/>
                  </a:outerShdw>
                </a:effectLst>
                <a:uLnTx/>
                <a:uFillTx/>
                <a:latin typeface="+mn-ea"/>
                <a:cs typeface="+mn-ea"/>
                <a:sym typeface="+mn-ea"/>
              </a:rPr>
              <a:t>；</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990600" marR="0" lvl="1" indent="-533400" algn="just"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初步的用户手册 </a:t>
            </a:r>
            <a:r>
              <a:rPr lang="en-US" altLang="zh-CN" kern="0" noProof="0">
                <a:ln>
                  <a:noFill/>
                </a:ln>
                <a:effectLst>
                  <a:outerShdw blurRad="38100" dist="38100" dir="2700000" algn="tl">
                    <a:srgbClr val="C0C0C0"/>
                  </a:outerShdw>
                </a:effectLst>
                <a:uLnTx/>
                <a:uFillTx/>
                <a:latin typeface="+mn-ea"/>
                <a:cs typeface="+mn-ea"/>
                <a:sym typeface="+mn-ea"/>
              </a:rPr>
              <a:t>User Guide</a:t>
            </a:r>
            <a:r>
              <a:rPr lang="zh-CN" altLang="en-US" kern="0" noProof="0">
                <a:ln>
                  <a:noFill/>
                </a:ln>
                <a:effectLst>
                  <a:outerShdw blurRad="38100" dist="38100" dir="2700000" algn="tl">
                    <a:srgbClr val="C0C0C0"/>
                  </a:outerShdw>
                </a:effectLst>
                <a:uLnTx/>
                <a:uFillTx/>
                <a:latin typeface="+mn-ea"/>
                <a:cs typeface="+mn-ea"/>
                <a:sym typeface="+mn-ea"/>
              </a:rPr>
              <a:t>；</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990600" marR="0" lvl="1" indent="-533400" algn="just"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确认测试计划；</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990600" marR="0" lvl="1" indent="-533400" algn="just"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修改和完善软件开发计划。</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sym typeface="+mn-ea"/>
            </a:endParaRPr>
          </a:p>
          <a:p>
            <a:pPr marL="990600" marR="0" lvl="1" indent="-533400" algn="just"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endParaRPr lang="zh-CN" altLang="en-US" kern="0" noProof="0">
              <a:ln>
                <a:noFill/>
              </a:ln>
              <a:solidFill>
                <a:schemeClr val="tx2"/>
              </a:solidFill>
              <a:effectLst>
                <a:outerShdw blurRad="38100" dist="38100" dir="2700000" algn="tl">
                  <a:srgbClr val="C0C0C0"/>
                </a:outerShdw>
              </a:effectLst>
              <a:uLnTx/>
              <a:uFillTx/>
              <a:latin typeface="+mn-ea"/>
              <a:cs typeface="+mn-ea"/>
              <a:sym typeface="+mn-ea"/>
            </a:endParaRPr>
          </a:p>
          <a:p>
            <a:pPr marL="990600" marR="0" lvl="1" indent="-533400" algn="just"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endParaRPr lang="zh-CN" altLang="en-US" kern="0" noProof="0">
              <a:ln>
                <a:noFill/>
              </a:ln>
              <a:solidFill>
                <a:schemeClr val="tx2"/>
              </a:solidFill>
              <a:effectLst>
                <a:outerShdw blurRad="38100" dist="38100" dir="2700000" algn="tl">
                  <a:srgbClr val="C0C0C0"/>
                </a:outerShdw>
              </a:effectLst>
              <a:uLnTx/>
              <a:uFillTx/>
              <a:latin typeface="+mn-ea"/>
              <a:cs typeface="+mn-ea"/>
              <a:sym typeface="+mn-ea"/>
            </a:endParaRPr>
          </a:p>
          <a:p>
            <a:pPr marL="0" marR="0" lvl="0" indent="0" algn="just"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None/>
              <a:defRPr/>
            </a:pPr>
            <a:r>
              <a:rPr lang="zh-CN" altLang="en-US" kern="0" noProof="0">
                <a:ln>
                  <a:noFill/>
                </a:ln>
                <a:solidFill>
                  <a:schemeClr val="tx2"/>
                </a:solidFill>
                <a:effectLst>
                  <a:outerShdw blurRad="38100" dist="38100" dir="2700000" algn="tl">
                    <a:srgbClr val="C0C0C0"/>
                  </a:outerShdw>
                </a:effectLst>
                <a:uLnTx/>
                <a:uFillTx/>
                <a:latin typeface="+mn-ea"/>
                <a:cs typeface="+mn-ea"/>
                <a:sym typeface="+mn-ea"/>
              </a:rPr>
              <a:t>需求分析阶段四：需求评审</a:t>
            </a:r>
            <a:r>
              <a:rPr lang="en-US" altLang="zh-CN" kern="0" noProof="0">
                <a:ln>
                  <a:noFill/>
                </a:ln>
                <a:solidFill>
                  <a:schemeClr val="tx2"/>
                </a:solidFill>
                <a:effectLst>
                  <a:outerShdw blurRad="38100" dist="38100" dir="2700000" algn="tl">
                    <a:srgbClr val="C0C0C0"/>
                  </a:outerShdw>
                </a:effectLst>
                <a:uLnTx/>
                <a:uFillTx/>
                <a:latin typeface="+mn-ea"/>
                <a:cs typeface="+mn-ea"/>
                <a:sym typeface="+mn-ea"/>
              </a:rPr>
              <a:t>(</a:t>
            </a:r>
            <a:r>
              <a:rPr lang="zh-CN" altLang="en-US" kern="0" noProof="0">
                <a:ln>
                  <a:noFill/>
                </a:ln>
                <a:solidFill>
                  <a:schemeClr val="tx2"/>
                </a:solidFill>
                <a:effectLst>
                  <a:outerShdw blurRad="38100" dist="38100" dir="2700000" algn="tl">
                    <a:srgbClr val="C0C0C0"/>
                  </a:outerShdw>
                </a:effectLst>
                <a:uLnTx/>
                <a:uFillTx/>
                <a:latin typeface="+mn-ea"/>
                <a:cs typeface="+mn-ea"/>
                <a:sym typeface="+mn-ea"/>
              </a:rPr>
              <a:t>验证）</a:t>
            </a:r>
            <a:endParaRPr kumimoji="0" lang="zh-CN" altLang="en-US" b="1" i="0" u="none" strike="noStrike" kern="0" cap="none" spc="0" normalizeH="0" baseline="0" noProof="0">
              <a:ln>
                <a:noFill/>
              </a:ln>
              <a:solidFill>
                <a:schemeClr val="tx2"/>
              </a:solidFill>
              <a:effectLst>
                <a:outerShdw blurRad="38100" dist="38100" dir="2700000" algn="tl">
                  <a:srgbClr val="C0C0C0"/>
                </a:outerShdw>
              </a:effectLst>
              <a:uLnTx/>
              <a:uFillTx/>
              <a:latin typeface="+mn-ea"/>
              <a:cs typeface="+mn-ea"/>
            </a:endParaRPr>
          </a:p>
          <a:p>
            <a:pPr marL="990600" marR="0" lvl="1" indent="-533400" algn="just"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作为需求分析阶段工作的复查手段，应该对</a:t>
            </a:r>
            <a:r>
              <a:rPr lang="zh-CN" altLang="en-US" kern="0" noProof="0">
                <a:ln>
                  <a:noFill/>
                </a:ln>
                <a:solidFill>
                  <a:srgbClr val="CC3300"/>
                </a:solidFill>
                <a:effectLst>
                  <a:outerShdw blurRad="38100" dist="38100" dir="2700000" algn="tl">
                    <a:srgbClr val="C0C0C0"/>
                  </a:outerShdw>
                </a:effectLst>
                <a:uLnTx/>
                <a:uFillTx/>
                <a:latin typeface="+mn-ea"/>
                <a:cs typeface="+mn-ea"/>
                <a:sym typeface="+mn-ea"/>
              </a:rPr>
              <a:t>功能的正确性</a:t>
            </a:r>
            <a:r>
              <a:rPr lang="zh-CN" altLang="en-US" kern="0" noProof="0">
                <a:ln>
                  <a:noFill/>
                </a:ln>
                <a:effectLst>
                  <a:outerShdw blurRad="38100" dist="38100" dir="2700000" algn="tl">
                    <a:srgbClr val="C0C0C0"/>
                  </a:outerShdw>
                </a:effectLst>
                <a:uLnTx/>
                <a:uFillTx/>
                <a:latin typeface="+mn-ea"/>
                <a:cs typeface="+mn-ea"/>
                <a:sym typeface="+mn-ea"/>
              </a:rPr>
              <a:t>、</a:t>
            </a:r>
            <a:r>
              <a:rPr lang="zh-CN" altLang="en-US" kern="0" noProof="0">
                <a:ln>
                  <a:noFill/>
                </a:ln>
                <a:solidFill>
                  <a:srgbClr val="CC3300"/>
                </a:solidFill>
                <a:effectLst>
                  <a:outerShdw blurRad="38100" dist="38100" dir="2700000" algn="tl">
                    <a:srgbClr val="C0C0C0"/>
                  </a:outerShdw>
                </a:effectLst>
                <a:uLnTx/>
                <a:uFillTx/>
                <a:latin typeface="+mn-ea"/>
                <a:cs typeface="+mn-ea"/>
                <a:sym typeface="+mn-ea"/>
              </a:rPr>
              <a:t>文档的一致性</a:t>
            </a:r>
            <a:r>
              <a:rPr lang="zh-CN" altLang="en-US" kern="0" noProof="0">
                <a:ln>
                  <a:noFill/>
                </a:ln>
                <a:effectLst>
                  <a:outerShdw blurRad="38100" dist="38100" dir="2700000" algn="tl">
                    <a:srgbClr val="C0C0C0"/>
                  </a:outerShdw>
                </a:effectLst>
                <a:uLnTx/>
                <a:uFillTx/>
                <a:latin typeface="+mn-ea"/>
                <a:cs typeface="+mn-ea"/>
                <a:sym typeface="+mn-ea"/>
              </a:rPr>
              <a:t>、</a:t>
            </a:r>
            <a:r>
              <a:rPr lang="zh-CN" altLang="en-US" kern="0" noProof="0">
                <a:ln>
                  <a:noFill/>
                </a:ln>
                <a:solidFill>
                  <a:srgbClr val="CC3300"/>
                </a:solidFill>
                <a:effectLst>
                  <a:outerShdw blurRad="38100" dist="38100" dir="2700000" algn="tl">
                    <a:srgbClr val="C0C0C0"/>
                  </a:outerShdw>
                </a:effectLst>
                <a:uLnTx/>
                <a:uFillTx/>
                <a:latin typeface="+mn-ea"/>
                <a:cs typeface="+mn-ea"/>
                <a:sym typeface="+mn-ea"/>
              </a:rPr>
              <a:t>完备性</a:t>
            </a:r>
            <a:r>
              <a:rPr lang="zh-CN" altLang="en-US" kern="0" noProof="0">
                <a:ln>
                  <a:noFill/>
                </a:ln>
                <a:effectLst>
                  <a:outerShdw blurRad="38100" dist="38100" dir="2700000" algn="tl">
                    <a:srgbClr val="C0C0C0"/>
                  </a:outerShdw>
                </a:effectLst>
                <a:uLnTx/>
                <a:uFillTx/>
                <a:latin typeface="+mn-ea"/>
                <a:cs typeface="+mn-ea"/>
                <a:sym typeface="+mn-ea"/>
              </a:rPr>
              <a:t>、</a:t>
            </a:r>
            <a:r>
              <a:rPr lang="zh-CN" altLang="en-US" kern="0" noProof="0">
                <a:ln>
                  <a:noFill/>
                </a:ln>
                <a:solidFill>
                  <a:srgbClr val="CC3300"/>
                </a:solidFill>
                <a:effectLst>
                  <a:outerShdw blurRad="38100" dist="38100" dir="2700000" algn="tl">
                    <a:srgbClr val="C0C0C0"/>
                  </a:outerShdw>
                </a:effectLst>
                <a:uLnTx/>
                <a:uFillTx/>
                <a:latin typeface="+mn-ea"/>
                <a:cs typeface="+mn-ea"/>
                <a:sym typeface="+mn-ea"/>
              </a:rPr>
              <a:t>准确性</a:t>
            </a:r>
            <a:r>
              <a:rPr lang="zh-CN" altLang="en-US" kern="0" noProof="0">
                <a:ln>
                  <a:noFill/>
                </a:ln>
                <a:effectLst>
                  <a:outerShdw blurRad="38100" dist="38100" dir="2700000" algn="tl">
                    <a:srgbClr val="C0C0C0"/>
                  </a:outerShdw>
                </a:effectLst>
                <a:uLnTx/>
                <a:uFillTx/>
                <a:latin typeface="+mn-ea"/>
                <a:cs typeface="+mn-ea"/>
                <a:sym typeface="+mn-ea"/>
              </a:rPr>
              <a:t>和</a:t>
            </a:r>
            <a:r>
              <a:rPr lang="zh-CN" altLang="en-US" kern="0" noProof="0">
                <a:ln>
                  <a:noFill/>
                </a:ln>
                <a:solidFill>
                  <a:srgbClr val="CC3300"/>
                </a:solidFill>
                <a:effectLst>
                  <a:outerShdw blurRad="38100" dist="38100" dir="2700000" algn="tl">
                    <a:srgbClr val="C0C0C0"/>
                  </a:outerShdw>
                </a:effectLst>
                <a:uLnTx/>
                <a:uFillTx/>
                <a:latin typeface="+mn-ea"/>
                <a:cs typeface="+mn-ea"/>
                <a:sym typeface="+mn-ea"/>
              </a:rPr>
              <a:t>清晰性</a:t>
            </a:r>
            <a:r>
              <a:rPr lang="zh-CN" altLang="en-US" kern="0" noProof="0">
                <a:ln>
                  <a:noFill/>
                </a:ln>
                <a:effectLst>
                  <a:outerShdw blurRad="38100" dist="38100" dir="2700000" algn="tl">
                    <a:srgbClr val="C0C0C0"/>
                  </a:outerShdw>
                </a:effectLst>
                <a:uLnTx/>
                <a:uFillTx/>
                <a:latin typeface="+mn-ea"/>
                <a:cs typeface="+mn-ea"/>
                <a:sym typeface="+mn-ea"/>
              </a:rPr>
              <a:t>，以及其它需求给予评价。</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a:bodyPr>
          <a:lstStyle/>
          <a:p>
            <a:pPr marL="0" marR="0" lvl="0" indent="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rPr>
              <a:t>需求规格说明书的一般格式：</a:t>
            </a:r>
            <a:endPar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457200" marR="0" lvl="0" indent="-4572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AutoNum type="arabicPeriod"/>
              <a:defRPr/>
            </a:pPr>
            <a:r>
              <a:rPr kumimoji="1" lang="zh-CN" altLang="en-US" dirty="0">
                <a:effectLst>
                  <a:outerShdw blurRad="38100" dist="38100" dir="2700000" algn="tl">
                    <a:srgbClr val="C0C0C0"/>
                  </a:outerShdw>
                </a:effectLst>
                <a:latin typeface="+mn-ea"/>
                <a:cs typeface="+mn-ea"/>
              </a:rPr>
              <a:t>引言</a:t>
            </a:r>
            <a:endParaRPr kumimoji="1" lang="en-US" altLang="zh-CN" dirty="0">
              <a:effectLst>
                <a:outerShdw blurRad="38100" dist="38100" dir="2700000" algn="tl">
                  <a:srgbClr val="C0C0C0"/>
                </a:outerShdw>
              </a:effectLst>
              <a:latin typeface="+mn-ea"/>
              <a:cs typeface="+mn-ea"/>
            </a:endParaRPr>
          </a:p>
          <a:p>
            <a:pPr marL="457200" marR="0" lvl="0" indent="-4572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AutoNum type="arabicPeriod"/>
              <a:defRPr/>
            </a:pP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rPr>
              <a:t>概述</a:t>
            </a:r>
            <a:endPar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457200" marR="0" lvl="0" indent="-4572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AutoNum type="arabicPeriod"/>
              <a:defRPr/>
            </a:pPr>
            <a:r>
              <a:rPr kumimoji="1" lang="zh-CN" altLang="en-US" dirty="0">
                <a:effectLst>
                  <a:outerShdw blurRad="38100" dist="38100" dir="2700000" algn="tl">
                    <a:srgbClr val="C0C0C0"/>
                  </a:outerShdw>
                </a:effectLst>
                <a:latin typeface="+mn-ea"/>
                <a:cs typeface="+mn-ea"/>
              </a:rPr>
              <a:t>数据流图、数据字典、加工说明</a:t>
            </a:r>
            <a:endParaRPr kumimoji="1" lang="en-US" altLang="zh-CN" dirty="0">
              <a:effectLst>
                <a:outerShdw blurRad="38100" dist="38100" dir="2700000" algn="tl">
                  <a:srgbClr val="C0C0C0"/>
                </a:outerShdw>
              </a:effectLst>
              <a:latin typeface="+mn-ea"/>
              <a:cs typeface="+mn-ea"/>
            </a:endParaRPr>
          </a:p>
          <a:p>
            <a:pPr marL="457200" marR="0" lvl="0" indent="-4572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AutoNum type="arabicPeriod"/>
              <a:defRPr/>
            </a:pP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rPr>
              <a:t>接口</a:t>
            </a:r>
            <a:endPar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457200" marR="0" lvl="0" indent="-4572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AutoNum type="arabicPeriod"/>
              <a:defRPr/>
            </a:pPr>
            <a:r>
              <a:rPr kumimoji="1" lang="zh-CN" altLang="en-US" dirty="0">
                <a:effectLst>
                  <a:outerShdw blurRad="38100" dist="38100" dir="2700000" algn="tl">
                    <a:srgbClr val="C0C0C0"/>
                  </a:outerShdw>
                </a:effectLst>
                <a:latin typeface="+mn-ea"/>
                <a:cs typeface="+mn-ea"/>
              </a:rPr>
              <a:t>性能需求</a:t>
            </a:r>
            <a:endParaRPr kumimoji="1" lang="en-US" altLang="zh-CN" dirty="0">
              <a:effectLst>
                <a:outerShdw blurRad="38100" dist="38100" dir="2700000" algn="tl">
                  <a:srgbClr val="C0C0C0"/>
                </a:outerShdw>
              </a:effectLst>
              <a:latin typeface="+mn-ea"/>
              <a:cs typeface="+mn-ea"/>
            </a:endParaRPr>
          </a:p>
          <a:p>
            <a:pPr marL="457200" marR="0" lvl="0" indent="-4572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AutoNum type="arabicPeriod"/>
              <a:defRPr/>
            </a:pP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rPr>
              <a:t>属性</a:t>
            </a:r>
            <a:endPar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457200" marR="0" lvl="0" indent="-4572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AutoNum type="arabicPeriod"/>
              <a:defRPr/>
            </a:pPr>
            <a:r>
              <a:rPr kumimoji="1" lang="zh-CN" altLang="en-US" dirty="0">
                <a:effectLst>
                  <a:outerShdw blurRad="38100" dist="38100" dir="2700000" algn="tl">
                    <a:srgbClr val="C0C0C0"/>
                  </a:outerShdw>
                </a:effectLst>
                <a:latin typeface="+mn-ea"/>
                <a:cs typeface="+mn-ea"/>
              </a:rPr>
              <a:t>其他需求</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0384" y="1383358"/>
            <a:ext cx="8316416" cy="5054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 name="内容占位符 3"/>
          <p:cNvSpPr>
            <a:spLocks noGrp="1"/>
          </p:cNvSpPr>
          <p:nvPr>
            <p:ph sz="quarter" idx="1"/>
          </p:nvPr>
        </p:nvSpPr>
        <p:spPr/>
        <p:txBody>
          <a:bodyPr/>
          <a:lstStyle/>
          <a:p>
            <a:endParaRPr lang="zh-CN" altLang="en-US"/>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4812" y="1474660"/>
            <a:ext cx="8127628" cy="51087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 name="内容占位符 3"/>
          <p:cNvSpPr>
            <a:spLocks noGrp="1"/>
          </p:cNvSpPr>
          <p:nvPr>
            <p:ph sz="quarter" idx="1"/>
          </p:nvPr>
        </p:nvSpPr>
        <p:spPr/>
        <p:txBody>
          <a:bodyPr/>
          <a:lstStyle/>
          <a:p>
            <a:endParaRPr lang="zh-CN" altLang="en-US"/>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9148" y="1447752"/>
            <a:ext cx="8075240" cy="51786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3348" y="1605910"/>
            <a:ext cx="8229600" cy="47259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1560" y="2300288"/>
            <a:ext cx="7920880" cy="2257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a:bodyPr>
          <a:lstStyle/>
          <a:p>
            <a:pPr marL="0" marR="0" lvl="0" indent="0" algn="l" defTabSz="914400" rtl="0" eaLnBrk="1" fontAlgn="base" latinLnBrk="0" hangingPunct="1">
              <a:lnSpc>
                <a:spcPct val="150000"/>
              </a:lnSpc>
              <a:spcBef>
                <a:spcPct val="20000"/>
              </a:spcBef>
              <a:spcAft>
                <a:spcPct val="0"/>
              </a:spcAft>
              <a:buClr>
                <a:srgbClr val="990099"/>
              </a:buClr>
              <a:buSzPct val="70000"/>
              <a:buFont typeface="Wingdings" panose="05000000000000000000" pitchFamily="2" charset="2"/>
              <a:buNone/>
              <a:defRPr/>
            </a:pPr>
            <a:r>
              <a:rPr lang="zh-CN" altLang="en-US" kern="0" noProof="0" dirty="0">
                <a:ln>
                  <a:noFill/>
                </a:ln>
                <a:solidFill>
                  <a:schemeClr val="tx2"/>
                </a:solidFill>
                <a:effectLst>
                  <a:outerShdw blurRad="38100" dist="38100" dir="2700000" algn="tl">
                    <a:srgbClr val="C0C0C0"/>
                  </a:outerShdw>
                </a:effectLst>
                <a:uLnTx/>
                <a:uFillTx/>
                <a:latin typeface="+mn-ea"/>
                <a:sym typeface="+mn-ea"/>
              </a:rPr>
              <a:t>结构化需求分析的原则：</a:t>
            </a:r>
            <a:endParaRPr lang="zh-CN" altLang="en-US" kern="0" noProof="0" dirty="0">
              <a:ln>
                <a:noFill/>
              </a:ln>
              <a:solidFill>
                <a:schemeClr val="tx2"/>
              </a:solidFill>
              <a:effectLst>
                <a:outerShdw blurRad="38100" dist="38100" dir="2700000" algn="tl">
                  <a:srgbClr val="C0C0C0"/>
                </a:outerShdw>
              </a:effectLst>
              <a:uLnTx/>
              <a:uFillTx/>
              <a:latin typeface="+mn-ea"/>
              <a:sym typeface="+mn-ea"/>
            </a:endParaRPr>
          </a:p>
          <a:p>
            <a:pPr marR="0" lvl="0" algn="l" defTabSz="914400" rtl="0" eaLnBrk="1" fontAlgn="base" latinLnBrk="0" hangingPunct="1">
              <a:lnSpc>
                <a:spcPct val="150000"/>
              </a:lnSpc>
              <a:spcBef>
                <a:spcPct val="20000"/>
              </a:spcBef>
              <a:spcAft>
                <a:spcPct val="0"/>
              </a:spcAft>
              <a:buClr>
                <a:srgbClr val="990099"/>
              </a:buClr>
              <a:buSzPct val="70000"/>
              <a:buFont typeface="Wingdings" panose="05000000000000000000" charset="0"/>
              <a:buChar char=""/>
              <a:defRPr/>
            </a:pPr>
            <a:r>
              <a:rPr lang="zh-CN" altLang="en-US" b="0" kern="0" noProof="0" dirty="0">
                <a:ln>
                  <a:noFill/>
                </a:ln>
                <a:solidFill>
                  <a:schemeClr val="tx1"/>
                </a:solidFill>
                <a:effectLst>
                  <a:outerShdw blurRad="38100" dist="38100" dir="2700000" algn="tl">
                    <a:srgbClr val="C0C0C0"/>
                  </a:outerShdw>
                </a:effectLst>
                <a:uLnTx/>
                <a:uFillTx/>
                <a:latin typeface="+mn-ea"/>
                <a:sym typeface="+mn-ea"/>
              </a:rPr>
              <a:t>需要能够表达和理解问题的信息域和功能域</a:t>
            </a:r>
            <a:endParaRPr kumimoji="0" lang="zh-CN" altLang="en-US" b="0"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cs"/>
            </a:endParaRPr>
          </a:p>
          <a:p>
            <a:pPr marR="0" lvl="0" algn="l" defTabSz="914400" rtl="0" eaLnBrk="1" fontAlgn="base" latinLnBrk="0" hangingPunct="1">
              <a:lnSpc>
                <a:spcPct val="150000"/>
              </a:lnSpc>
              <a:spcBef>
                <a:spcPct val="20000"/>
              </a:spcBef>
              <a:spcAft>
                <a:spcPct val="0"/>
              </a:spcAft>
              <a:buClr>
                <a:srgbClr val="990099"/>
              </a:buClr>
              <a:buSzPct val="70000"/>
              <a:buFont typeface="Wingdings" panose="05000000000000000000" charset="0"/>
              <a:buChar char=""/>
              <a:defRPr/>
            </a:pPr>
            <a:r>
              <a:rPr lang="zh-CN" altLang="en-US" b="0" kern="0" noProof="0" dirty="0">
                <a:ln>
                  <a:noFill/>
                </a:ln>
                <a:solidFill>
                  <a:schemeClr val="tx1"/>
                </a:solidFill>
                <a:effectLst>
                  <a:outerShdw blurRad="38100" dist="38100" dir="2700000" algn="tl">
                    <a:srgbClr val="C0C0C0"/>
                  </a:outerShdw>
                </a:effectLst>
                <a:uLnTx/>
                <a:uFillTx/>
                <a:latin typeface="+mn-ea"/>
                <a:sym typeface="+mn-ea"/>
              </a:rPr>
              <a:t>以层次化的方式对问题进行分解和不断细化</a:t>
            </a:r>
            <a:endParaRPr lang="zh-CN" altLang="en-US" b="0" kern="0" noProof="0" dirty="0">
              <a:ln>
                <a:noFill/>
              </a:ln>
              <a:solidFill>
                <a:schemeClr val="tx1"/>
              </a:solidFill>
              <a:effectLst>
                <a:outerShdw blurRad="38100" dist="38100" dir="2700000" algn="tl">
                  <a:srgbClr val="C0C0C0"/>
                </a:outerShdw>
              </a:effectLst>
              <a:uLnTx/>
              <a:uFillTx/>
              <a:latin typeface="+mn-ea"/>
              <a:sym typeface="+mn-ea"/>
            </a:endParaRPr>
          </a:p>
          <a:p>
            <a:pPr marR="0" lvl="0" algn="l" defTabSz="914400" rtl="0" eaLnBrk="1" fontAlgn="base" latinLnBrk="0" hangingPunct="1">
              <a:lnSpc>
                <a:spcPct val="150000"/>
              </a:lnSpc>
              <a:spcBef>
                <a:spcPct val="20000"/>
              </a:spcBef>
              <a:spcAft>
                <a:spcPct val="0"/>
              </a:spcAft>
              <a:buClr>
                <a:srgbClr val="990099"/>
              </a:buClr>
              <a:buSzPct val="70000"/>
              <a:buFont typeface="Wingdings" panose="05000000000000000000" charset="0"/>
              <a:buChar char=""/>
              <a:defRPr/>
            </a:pPr>
            <a:r>
              <a:rPr lang="zh-CN" altLang="en-US" b="0" kern="0" noProof="0" dirty="0">
                <a:ln>
                  <a:noFill/>
                </a:ln>
                <a:solidFill>
                  <a:schemeClr val="tx1"/>
                </a:solidFill>
                <a:effectLst>
                  <a:outerShdw blurRad="38100" dist="38100" dir="2700000" algn="tl">
                    <a:srgbClr val="C0C0C0"/>
                  </a:outerShdw>
                </a:effectLst>
                <a:uLnTx/>
                <a:uFillTx/>
                <a:latin typeface="+mn-ea"/>
                <a:sym typeface="+mn-ea"/>
              </a:rPr>
              <a:t>给出系统的逻辑视图和物理视图</a:t>
            </a:r>
            <a:endParaRPr kumimoji="0" lang="zh-CN" altLang="en-US" b="0"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cs"/>
            </a:endParaRPr>
          </a:p>
          <a:p>
            <a:pPr marL="0" marR="0" lvl="0" indent="0" algn="l" defTabSz="914400" rtl="0" eaLnBrk="1" fontAlgn="base" latinLnBrk="0" hangingPunct="1">
              <a:lnSpc>
                <a:spcPct val="105000"/>
              </a:lnSpc>
              <a:spcBef>
                <a:spcPct val="20000"/>
              </a:spcBef>
              <a:spcAft>
                <a:spcPct val="0"/>
              </a:spcAft>
              <a:buClr>
                <a:srgbClr val="990099"/>
              </a:buClr>
              <a:buSzPct val="70000"/>
              <a:buFont typeface="Wingdings" panose="05000000000000000000" charset="0"/>
              <a:buNone/>
              <a:defRPr/>
            </a:pPr>
            <a:endParaRPr kumimoji="0" lang="zh-CN" altLang="en-US" b="0"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cs"/>
              <a:sym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a:bodyPr>
          <a:lstStyle/>
          <a:p>
            <a:pPr marL="0" marR="0" lvl="0" indent="0" algn="l" defTabSz="914400" rtl="0" eaLnBrk="1" fontAlgn="base" latinLnBrk="0" hangingPunct="1">
              <a:lnSpc>
                <a:spcPct val="150000"/>
              </a:lnSpc>
              <a:spcBef>
                <a:spcPct val="20000"/>
              </a:spcBef>
              <a:spcAft>
                <a:spcPct val="0"/>
              </a:spcAft>
              <a:buClr>
                <a:srgbClr val="990099"/>
              </a:buClr>
              <a:buSzPct val="70000"/>
              <a:buFont typeface="Wingdings" panose="05000000000000000000" pitchFamily="2" charset="2"/>
              <a:buNone/>
              <a:defRPr/>
            </a:pPr>
            <a:r>
              <a:rPr lang="zh-CN" altLang="en-US" kern="0" noProof="0">
                <a:ln>
                  <a:noFill/>
                </a:ln>
                <a:solidFill>
                  <a:schemeClr val="tx2"/>
                </a:solidFill>
                <a:effectLst>
                  <a:outerShdw blurRad="38100" dist="38100" dir="2700000" algn="tl">
                    <a:srgbClr val="C0C0C0"/>
                  </a:outerShdw>
                </a:effectLst>
                <a:uLnTx/>
                <a:uFillTx/>
                <a:latin typeface="+mn-ea"/>
                <a:sym typeface="+mn-ea"/>
              </a:rPr>
              <a:t>结构化需求分析的原则：</a:t>
            </a:r>
            <a:endParaRPr lang="zh-CN" altLang="en-US" kern="0" noProof="0">
              <a:ln>
                <a:noFill/>
              </a:ln>
              <a:solidFill>
                <a:schemeClr val="tx2"/>
              </a:solidFill>
              <a:effectLst>
                <a:outerShdw blurRad="38100" dist="38100" dir="2700000" algn="tl">
                  <a:srgbClr val="C0C0C0"/>
                </a:outerShdw>
              </a:effectLst>
              <a:uLnTx/>
              <a:uFillTx/>
              <a:latin typeface="+mn-ea"/>
              <a:sym typeface="+mn-ea"/>
            </a:endParaRPr>
          </a:p>
          <a:p>
            <a:pPr marR="0" lvl="0" algn="l" defTabSz="914400" rtl="0" eaLnBrk="1" fontAlgn="base" latinLnBrk="0" hangingPunct="1">
              <a:lnSpc>
                <a:spcPct val="150000"/>
              </a:lnSpc>
              <a:spcBef>
                <a:spcPct val="20000"/>
              </a:spcBef>
              <a:spcAft>
                <a:spcPct val="0"/>
              </a:spcAft>
              <a:buClr>
                <a:srgbClr val="990099"/>
              </a:buClr>
              <a:buSzPct val="70000"/>
              <a:buFont typeface="Wingdings" panose="05000000000000000000" charset="0"/>
              <a:buChar char=""/>
              <a:defRPr/>
            </a:pPr>
            <a:r>
              <a:rPr lang="zh-CN" altLang="en-US" b="0" kern="0" noProof="0">
                <a:ln>
                  <a:noFill/>
                </a:ln>
                <a:solidFill>
                  <a:schemeClr val="tx1"/>
                </a:solidFill>
                <a:effectLst>
                  <a:outerShdw blurRad="38100" dist="38100" dir="2700000" algn="tl">
                    <a:srgbClr val="C0C0C0"/>
                  </a:outerShdw>
                </a:effectLst>
                <a:uLnTx/>
                <a:uFillTx/>
                <a:latin typeface="+mn-ea"/>
                <a:sym typeface="+mn-ea"/>
              </a:rPr>
              <a:t>给出系统的逻辑视图和物理视图</a:t>
            </a:r>
            <a:endParaRPr lang="zh-CN" altLang="en-US" b="0" kern="0" noProof="0">
              <a:ln>
                <a:noFill/>
              </a:ln>
              <a:solidFill>
                <a:schemeClr val="tx1"/>
              </a:solidFill>
              <a:effectLst>
                <a:outerShdw blurRad="38100" dist="38100" dir="2700000" algn="tl">
                  <a:srgbClr val="C0C0C0"/>
                </a:outerShdw>
              </a:effectLst>
              <a:uLnTx/>
              <a:uFillTx/>
              <a:latin typeface="+mn-ea"/>
              <a:sym typeface="+mn-ea"/>
            </a:endParaRPr>
          </a:p>
          <a:p>
            <a:pPr marR="0" lvl="1" algn="l" defTabSz="914400" rtl="0" eaLnBrk="1" fontAlgn="base" latinLnBrk="0" hangingPunct="1">
              <a:lnSpc>
                <a:spcPct val="150000"/>
              </a:lnSpc>
              <a:spcBef>
                <a:spcPct val="20000"/>
              </a:spcBef>
              <a:spcAft>
                <a:spcPct val="0"/>
              </a:spcAft>
              <a:buClr>
                <a:srgbClr val="990099"/>
              </a:buClr>
              <a:buSzPct val="70000"/>
              <a:buFont typeface="Wingdings" panose="05000000000000000000" charset="0"/>
              <a:buChar char=""/>
              <a:defRPr/>
            </a:pPr>
            <a:r>
              <a:rPr lang="zh-CN" altLang="en-US" kern="0" noProof="0">
                <a:ln>
                  <a:noFill/>
                </a:ln>
                <a:effectLst>
                  <a:outerShdw blurRad="38100" dist="38100" dir="2700000" algn="tl">
                    <a:srgbClr val="C0C0C0"/>
                  </a:outerShdw>
                </a:effectLst>
                <a:uLnTx/>
                <a:uFillTx/>
                <a:latin typeface="+mn-ea"/>
                <a:sym typeface="+mn-ea"/>
              </a:rPr>
              <a:t>软件需求的逻辑视图给出的是软件要达到的功能和要处理的数据之间的关系，而不是实现的细节</a:t>
            </a:r>
            <a:endParaRPr lang="zh-CN" altLang="en-US" kern="0" noProof="0">
              <a:ln>
                <a:noFill/>
              </a:ln>
              <a:effectLst>
                <a:outerShdw blurRad="38100" dist="38100" dir="2700000" algn="tl">
                  <a:srgbClr val="C0C0C0"/>
                </a:outerShdw>
              </a:effectLst>
              <a:uLnTx/>
              <a:uFillTx/>
              <a:latin typeface="+mn-ea"/>
              <a:sym typeface="+mn-ea"/>
            </a:endParaRPr>
          </a:p>
          <a:p>
            <a:pPr marR="0" lvl="1" algn="l" defTabSz="914400" rtl="0" eaLnBrk="1" fontAlgn="base" latinLnBrk="0" hangingPunct="1">
              <a:lnSpc>
                <a:spcPct val="150000"/>
              </a:lnSpc>
              <a:spcBef>
                <a:spcPct val="20000"/>
              </a:spcBef>
              <a:spcAft>
                <a:spcPct val="0"/>
              </a:spcAft>
              <a:buClr>
                <a:srgbClr val="990099"/>
              </a:buClr>
              <a:buSzPct val="70000"/>
              <a:buFont typeface="Wingdings" panose="05000000000000000000" charset="0"/>
              <a:buChar char=""/>
              <a:defRPr/>
            </a:pPr>
            <a:r>
              <a:rPr lang="zh-CN" altLang="en-US" kern="0" noProof="0">
                <a:ln>
                  <a:noFill/>
                </a:ln>
                <a:effectLst>
                  <a:outerShdw blurRad="38100" dist="38100" dir="2700000" algn="tl">
                    <a:srgbClr val="C0C0C0"/>
                  </a:outerShdw>
                </a:effectLst>
                <a:uLnTx/>
                <a:uFillTx/>
                <a:latin typeface="+mn-ea"/>
                <a:sym typeface="+mn-ea"/>
              </a:rPr>
              <a:t>软件需求的逻辑描述是软件设计的基础。</a:t>
            </a:r>
            <a:endParaRPr lang="zh-CN" altLang="en-US" kern="0" noProof="0">
              <a:ln>
                <a:noFill/>
              </a:ln>
              <a:effectLst>
                <a:outerShdw blurRad="38100" dist="38100" dir="2700000" algn="tl">
                  <a:srgbClr val="C0C0C0"/>
                </a:outerShdw>
              </a:effectLst>
              <a:uLnTx/>
              <a:uFillTx/>
              <a:latin typeface="+mn-ea"/>
              <a:sym typeface="+mn-ea"/>
            </a:endParaRPr>
          </a:p>
          <a:p>
            <a:pPr marR="0" lvl="1" algn="l" defTabSz="914400" rtl="0" eaLnBrk="1" fontAlgn="base" latinLnBrk="0" hangingPunct="1">
              <a:lnSpc>
                <a:spcPct val="150000"/>
              </a:lnSpc>
              <a:spcBef>
                <a:spcPct val="20000"/>
              </a:spcBef>
              <a:spcAft>
                <a:spcPct val="0"/>
              </a:spcAft>
              <a:buClr>
                <a:srgbClr val="990099"/>
              </a:buClr>
              <a:buSzPct val="70000"/>
              <a:buFont typeface="Wingdings" panose="05000000000000000000" charset="0"/>
              <a:buChar char=""/>
              <a:defRPr/>
            </a:pPr>
            <a:r>
              <a:rPr lang="zh-CN" altLang="en-US" kern="0" noProof="0">
                <a:ln>
                  <a:noFill/>
                </a:ln>
                <a:effectLst>
                  <a:outerShdw blurRad="38100" dist="38100" dir="2700000" algn="tl">
                    <a:srgbClr val="C0C0C0"/>
                  </a:outerShdw>
                </a:effectLst>
                <a:uLnTx/>
                <a:uFillTx/>
                <a:latin typeface="+mn-ea"/>
                <a:sym typeface="+mn-ea"/>
              </a:rPr>
              <a:t>软件需求的物理视图给出的是处理功能和数据结构的实际表现形式，这往往是由设备本身决定的，因此推迟到设计阶段考虑。</a:t>
            </a:r>
            <a:endParaRPr kumimoji="0" lang="zh-CN" altLang="en-US" b="0"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cs"/>
              <a:sym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a:xfrm>
            <a:off x="457200" y="1600200"/>
            <a:ext cx="7903845" cy="4873625"/>
          </a:xfrm>
        </p:spPr>
        <p:txBody>
          <a:bodyPr vert="horz" wrap="square" lIns="91440" tIns="45720" rIns="91440" bIns="45720" numCol="1" anchor="t" anchorCtr="0" compatLnSpc="1">
            <a:normAutofit/>
          </a:bodyPr>
          <a:lstStyle/>
          <a:p>
            <a:pPr marL="0" marR="0" lvl="0" indent="0" algn="l" defTabSz="914400" rtl="0" eaLnBrk="1" fontAlgn="base" latinLnBrk="0" hangingPunct="1">
              <a:lnSpc>
                <a:spcPct val="150000"/>
              </a:lnSpc>
              <a:spcBef>
                <a:spcPct val="20000"/>
              </a:spcBef>
              <a:spcAft>
                <a:spcPct val="0"/>
              </a:spcAft>
              <a:buClr>
                <a:srgbClr val="990099"/>
              </a:buClr>
              <a:buSzPct val="70000"/>
              <a:buFont typeface="Wingdings" panose="05000000000000000000" pitchFamily="2" charset="2"/>
              <a:buNone/>
              <a:defRPr/>
            </a:pPr>
            <a:r>
              <a:rPr lang="zh-CN" altLang="en-US" kern="0" noProof="0" dirty="0">
                <a:ln>
                  <a:noFill/>
                </a:ln>
                <a:solidFill>
                  <a:schemeClr val="tx2"/>
                </a:solidFill>
                <a:effectLst>
                  <a:outerShdw blurRad="38100" dist="38100" dir="2700000" algn="tl">
                    <a:srgbClr val="C0C0C0"/>
                  </a:outerShdw>
                </a:effectLst>
                <a:uLnTx/>
                <a:uFillTx/>
                <a:latin typeface="+mn-ea"/>
                <a:sym typeface="+mn-ea"/>
              </a:rPr>
              <a:t>需求获取技术</a:t>
            </a:r>
            <a:endParaRPr lang="zh-CN" altLang="en-US" kern="0" noProof="0" dirty="0">
              <a:ln>
                <a:noFill/>
              </a:ln>
              <a:solidFill>
                <a:schemeClr val="tx2"/>
              </a:solidFill>
              <a:effectLst>
                <a:outerShdw blurRad="38100" dist="38100" dir="2700000" algn="tl">
                  <a:srgbClr val="C0C0C0"/>
                </a:outerShdw>
              </a:effectLst>
              <a:uLnTx/>
              <a:uFillTx/>
              <a:latin typeface="+mn-ea"/>
              <a:sym typeface="+mn-ea"/>
            </a:endParaRPr>
          </a:p>
          <a:p>
            <a:pPr marR="0" lvl="0" algn="l" defTabSz="914400" rtl="0" eaLnBrk="1" fontAlgn="base" latinLnBrk="0" hangingPunct="1">
              <a:lnSpc>
                <a:spcPct val="150000"/>
              </a:lnSpc>
              <a:spcBef>
                <a:spcPct val="20000"/>
              </a:spcBef>
              <a:spcAft>
                <a:spcPct val="0"/>
              </a:spcAft>
              <a:buClr>
                <a:srgbClr val="990099"/>
              </a:buClr>
              <a:buSzPct val="70000"/>
              <a:defRPr/>
            </a:pPr>
            <a:r>
              <a:rPr lang="zh-CN" altLang="en-US" b="0" kern="0" noProof="0" dirty="0">
                <a:ln>
                  <a:noFill/>
                </a:ln>
                <a:solidFill>
                  <a:schemeClr val="tx1"/>
                </a:solidFill>
                <a:effectLst/>
                <a:uLnTx/>
                <a:uFillTx/>
                <a:latin typeface="+mn-ea"/>
                <a:cs typeface="+mn-ea"/>
                <a:sym typeface="+mn-ea"/>
              </a:rPr>
              <a:t>需求获取是在问题及其最终解决方案之间架设桥梁的第一步。</a:t>
            </a:r>
            <a:endParaRPr kumimoji="0" lang="zh-CN" altLang="en-US" b="0" i="0" u="none" strike="noStrike" kern="0" cap="none" spc="0" normalizeH="0" baseline="0" noProof="0" dirty="0">
              <a:ln>
                <a:noFill/>
              </a:ln>
              <a:solidFill>
                <a:schemeClr val="tx1"/>
              </a:solidFill>
              <a:effectLst/>
              <a:uLnTx/>
              <a:uFillTx/>
              <a:latin typeface="+mn-ea"/>
              <a:cs typeface="+mn-ea"/>
            </a:endParaRPr>
          </a:p>
          <a:p>
            <a:pPr marR="0" lvl="0" algn="l" defTabSz="914400" rtl="0" eaLnBrk="1" fontAlgn="base" latinLnBrk="0" hangingPunct="1">
              <a:lnSpc>
                <a:spcPct val="105000"/>
              </a:lnSpc>
              <a:spcBef>
                <a:spcPct val="15000"/>
              </a:spcBef>
              <a:spcAft>
                <a:spcPct val="0"/>
              </a:spcAft>
              <a:buClr>
                <a:srgbClr val="990099"/>
              </a:buClr>
              <a:buSzPct val="70000"/>
              <a:defRPr/>
            </a:pPr>
            <a:r>
              <a:rPr lang="zh-CN" altLang="en-US" b="0" kern="0" noProof="0" dirty="0">
                <a:ln>
                  <a:noFill/>
                </a:ln>
                <a:solidFill>
                  <a:schemeClr val="tx1"/>
                </a:solidFill>
                <a:effectLst/>
                <a:uLnTx/>
                <a:uFillTx/>
                <a:latin typeface="+mn-ea"/>
                <a:cs typeface="+mn-ea"/>
                <a:sym typeface="+mn-ea"/>
              </a:rPr>
              <a:t>获取需求的一个必不可少的结果是对项目中描述的客户需求的普遍理解。一旦理解了需求，分析人员、开发人员和客户就能探索出描述这些需求的多种解决方案。</a:t>
            </a:r>
            <a:endParaRPr kumimoji="0" lang="zh-CN" altLang="en-US" b="0" i="0" u="none" strike="noStrike" kern="0" cap="none" spc="0" normalizeH="0" baseline="0" noProof="0" dirty="0">
              <a:ln>
                <a:noFill/>
              </a:ln>
              <a:solidFill>
                <a:schemeClr val="tx1"/>
              </a:solidFill>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endParaRPr kumimoji="0" lang="zh-CN" altLang="en-US" b="0" i="0" u="none" strike="noStrike" kern="0" cap="none" spc="0" normalizeH="0" baseline="0" noProof="0" dirty="0">
              <a:ln>
                <a:noFill/>
              </a:ln>
              <a:solidFill>
                <a:schemeClr val="tx1"/>
              </a:solidFill>
              <a:effectLst/>
              <a:uLnTx/>
              <a:uFillTx/>
              <a:latin typeface="+mn-ea"/>
              <a:cs typeface="+mn-ea"/>
            </a:endParaRPr>
          </a:p>
          <a:p>
            <a:pPr marR="0" lvl="0" algn="l" defTabSz="914400" rtl="0" eaLnBrk="1" fontAlgn="base" latinLnBrk="0" hangingPunct="1">
              <a:lnSpc>
                <a:spcPct val="105000"/>
              </a:lnSpc>
              <a:spcBef>
                <a:spcPct val="15000"/>
              </a:spcBef>
              <a:spcAft>
                <a:spcPct val="0"/>
              </a:spcAft>
              <a:buClr>
                <a:srgbClr val="990099"/>
              </a:buClr>
              <a:buSzPct val="70000"/>
              <a:defRPr/>
            </a:pPr>
            <a:r>
              <a:rPr lang="zh-CN" altLang="en-US" b="0" kern="0" noProof="0" dirty="0">
                <a:ln>
                  <a:noFill/>
                </a:ln>
                <a:solidFill>
                  <a:schemeClr val="tx1"/>
                </a:solidFill>
                <a:effectLst>
                  <a:outerShdw blurRad="38100" dist="38100" dir="2700000" algn="tl">
                    <a:srgbClr val="C0C0C0"/>
                  </a:outerShdw>
                </a:effectLst>
                <a:uLnTx/>
                <a:uFillTx/>
                <a:latin typeface="+mn-ea"/>
                <a:cs typeface="+mn-ea"/>
                <a:sym typeface="+mn-ea"/>
              </a:rPr>
              <a:t>需求获取技术包括两方面的工作：</a:t>
            </a:r>
            <a:endParaRPr kumimoji="0" lang="zh-CN" altLang="en-US" b="0"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742950" marR="0" lvl="1" indent="-285750" algn="l"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lang="zh-CN" altLang="en-US" kern="0" noProof="0" dirty="0">
                <a:ln>
                  <a:noFill/>
                </a:ln>
                <a:solidFill>
                  <a:srgbClr val="0070C0"/>
                </a:solidFill>
                <a:effectLst>
                  <a:outerShdw blurRad="38100" dist="38100" dir="2700000" algn="tl">
                    <a:srgbClr val="C0C0C0"/>
                  </a:outerShdw>
                </a:effectLst>
                <a:uLnTx/>
                <a:uFillTx/>
                <a:latin typeface="+mn-ea"/>
                <a:cs typeface="+mn-ea"/>
                <a:sym typeface="+mn-ea"/>
              </a:rPr>
              <a:t> 建立获取用户要求的方法的框架；</a:t>
            </a:r>
            <a:endParaRPr kumimoji="0" lang="zh-CN" altLang="en-US" i="0" u="none" strike="noStrike" kern="0" cap="none" spc="0" normalizeH="0" baseline="0" noProof="0" dirty="0">
              <a:ln>
                <a:noFill/>
              </a:ln>
              <a:solidFill>
                <a:srgbClr val="0070C0"/>
              </a:solidFill>
              <a:effectLst>
                <a:outerShdw blurRad="38100" dist="38100" dir="2700000" algn="tl">
                  <a:srgbClr val="C0C0C0"/>
                </a:outerShdw>
              </a:effectLst>
              <a:uLnTx/>
              <a:uFillTx/>
              <a:latin typeface="+mn-ea"/>
              <a:cs typeface="+mn-ea"/>
            </a:endParaRPr>
          </a:p>
          <a:p>
            <a:pPr marL="742950" marR="0" lvl="1" indent="-285750" algn="l"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lang="zh-CN" altLang="en-US" kern="0" noProof="0" dirty="0">
                <a:ln>
                  <a:noFill/>
                </a:ln>
                <a:solidFill>
                  <a:srgbClr val="0070C0"/>
                </a:solidFill>
                <a:effectLst>
                  <a:outerShdw blurRad="38100" dist="38100" dir="2700000" algn="tl">
                    <a:srgbClr val="C0C0C0"/>
                  </a:outerShdw>
                </a:effectLst>
                <a:uLnTx/>
                <a:uFillTx/>
                <a:latin typeface="+mn-ea"/>
                <a:cs typeface="+mn-ea"/>
                <a:sym typeface="+mn-ea"/>
              </a:rPr>
              <a:t> 支持和监控需求获取的过程的机制。</a:t>
            </a:r>
            <a:endParaRPr kumimoji="0" lang="zh-CN" altLang="en-US" i="0" u="none" strike="noStrike" kern="0" cap="none" spc="0" normalizeH="0" baseline="0" noProof="0" dirty="0">
              <a:ln>
                <a:noFill/>
              </a:ln>
              <a:solidFill>
                <a:srgbClr val="0070C0"/>
              </a:solidFill>
              <a:effectLst>
                <a:outerShdw blurRad="38100" dist="38100" dir="2700000" algn="tl">
                  <a:srgbClr val="C0C0C0"/>
                </a:outerShdw>
              </a:effectLst>
              <a:uLnTx/>
              <a:uFillTx/>
              <a:latin typeface="+mn-ea"/>
              <a:cs typeface="+mn-ea"/>
              <a:sym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a:xfrm>
            <a:off x="457200" y="1600200"/>
            <a:ext cx="7903845" cy="4873625"/>
          </a:xfrm>
        </p:spPr>
        <p:txBody>
          <a:bodyPr vert="horz" wrap="square" lIns="91440" tIns="45720" rIns="91440" bIns="45720" numCol="1" anchor="t" anchorCtr="0" compatLnSpc="1">
            <a:normAutofit/>
          </a:bodyPr>
          <a:lstStyle/>
          <a:p>
            <a:pPr marL="0" marR="0" lvl="0" indent="0" algn="l" defTabSz="914400" rtl="0" eaLnBrk="1" fontAlgn="base" latinLnBrk="0" hangingPunct="1">
              <a:lnSpc>
                <a:spcPct val="150000"/>
              </a:lnSpc>
              <a:spcBef>
                <a:spcPct val="20000"/>
              </a:spcBef>
              <a:spcAft>
                <a:spcPct val="0"/>
              </a:spcAft>
              <a:buClr>
                <a:srgbClr val="990099"/>
              </a:buClr>
              <a:buSzPct val="70000"/>
              <a:buFont typeface="Wingdings" panose="05000000000000000000" pitchFamily="2" charset="2"/>
              <a:buNone/>
              <a:defRPr/>
            </a:pPr>
            <a:r>
              <a:rPr lang="zh-CN" altLang="en-US" kern="0" noProof="0" dirty="0">
                <a:ln>
                  <a:noFill/>
                </a:ln>
                <a:solidFill>
                  <a:schemeClr val="tx2"/>
                </a:solidFill>
                <a:effectLst>
                  <a:outerShdw blurRad="38100" dist="38100" dir="2700000" algn="tl">
                    <a:srgbClr val="C0C0C0"/>
                  </a:outerShdw>
                </a:effectLst>
                <a:uLnTx/>
                <a:uFillTx/>
                <a:latin typeface="+mn-ea"/>
                <a:sym typeface="+mn-ea"/>
              </a:rPr>
              <a:t>软件需求的层次</a:t>
            </a:r>
            <a:endParaRPr lang="zh-CN" altLang="en-US" kern="0" noProof="0" dirty="0">
              <a:ln>
                <a:noFill/>
              </a:ln>
              <a:solidFill>
                <a:schemeClr val="tx2"/>
              </a:solidFill>
              <a:effectLst>
                <a:outerShdw blurRad="38100" dist="38100" dir="2700000" algn="tl">
                  <a:srgbClr val="C0C0C0"/>
                </a:outerShdw>
              </a:effectLst>
              <a:uLnTx/>
              <a:uFillTx/>
              <a:latin typeface="+mn-ea"/>
              <a:sym typeface="+mn-ea"/>
            </a:endParaRPr>
          </a:p>
          <a:p>
            <a:pPr eaLnBrk="1" latinLnBrk="0" hangingPunct="1">
              <a:lnSpc>
                <a:spcPct val="100000"/>
              </a:lnSpc>
              <a:buClr>
                <a:srgbClr val="990099"/>
              </a:buClr>
            </a:pPr>
            <a:r>
              <a:rPr lang="zh-CN" altLang="en-US" dirty="0">
                <a:solidFill>
                  <a:srgbClr val="0070C0"/>
                </a:solidFill>
                <a:latin typeface="+mn-ea"/>
                <a:cs typeface="+mn-ea"/>
                <a:sym typeface="+mn-ea"/>
              </a:rPr>
              <a:t>业务需求</a:t>
            </a:r>
            <a:endParaRPr lang="zh-CN" altLang="en-US" dirty="0">
              <a:solidFill>
                <a:srgbClr val="0070C0"/>
              </a:solidFill>
              <a:latin typeface="+mn-ea"/>
              <a:cs typeface="+mn-ea"/>
              <a:sym typeface="+mn-ea"/>
            </a:endParaRPr>
          </a:p>
          <a:p>
            <a:pPr marL="0" indent="0" eaLnBrk="1" latinLnBrk="0" hangingPunct="1">
              <a:lnSpc>
                <a:spcPct val="100000"/>
              </a:lnSpc>
              <a:buClr>
                <a:srgbClr val="990099"/>
              </a:buClr>
              <a:buNone/>
            </a:pPr>
            <a:r>
              <a:rPr lang="en-US" altLang="zh-CN" b="0" dirty="0">
                <a:latin typeface="+mn-ea"/>
                <a:cs typeface="+mn-ea"/>
                <a:sym typeface="+mn-ea"/>
              </a:rPr>
              <a:t>  </a:t>
            </a:r>
            <a:r>
              <a:rPr lang="zh-CN" altLang="en-US" b="0" dirty="0">
                <a:latin typeface="+mn-ea"/>
                <a:cs typeface="+mn-ea"/>
                <a:sym typeface="+mn-ea"/>
              </a:rPr>
              <a:t>反映了组织或客户开展相关业务的工作流和业务规则，是对系统、产品高层次的目标要求，与该组织或客户的业务领域有关。</a:t>
            </a:r>
            <a:endParaRPr lang="zh-CN" altLang="en-US" b="0" dirty="0">
              <a:latin typeface="+mn-ea"/>
              <a:cs typeface="+mn-ea"/>
            </a:endParaRPr>
          </a:p>
          <a:p>
            <a:pPr eaLnBrk="1" latinLnBrk="0" hangingPunct="1">
              <a:lnSpc>
                <a:spcPct val="100000"/>
              </a:lnSpc>
              <a:buClr>
                <a:srgbClr val="990099"/>
              </a:buClr>
            </a:pPr>
            <a:r>
              <a:rPr lang="zh-CN" altLang="en-US" dirty="0">
                <a:solidFill>
                  <a:srgbClr val="0070C0"/>
                </a:solidFill>
                <a:latin typeface="+mn-ea"/>
                <a:cs typeface="+mn-ea"/>
                <a:sym typeface="+mn-ea"/>
              </a:rPr>
              <a:t>用户需求</a:t>
            </a:r>
            <a:endParaRPr lang="zh-CN" altLang="en-US" dirty="0">
              <a:solidFill>
                <a:srgbClr val="0070C0"/>
              </a:solidFill>
              <a:latin typeface="+mn-ea"/>
              <a:cs typeface="+mn-ea"/>
              <a:sym typeface="+mn-ea"/>
            </a:endParaRPr>
          </a:p>
          <a:p>
            <a:pPr marL="0" indent="0" eaLnBrk="1" latinLnBrk="0" hangingPunct="1">
              <a:lnSpc>
                <a:spcPct val="100000"/>
              </a:lnSpc>
              <a:buClr>
                <a:srgbClr val="990099"/>
              </a:buClr>
              <a:buNone/>
            </a:pPr>
            <a:r>
              <a:rPr lang="en-US" altLang="zh-CN" b="0" dirty="0">
                <a:latin typeface="+mn-ea"/>
                <a:cs typeface="+mn-ea"/>
                <a:sym typeface="+mn-ea"/>
              </a:rPr>
              <a:t>  </a:t>
            </a:r>
            <a:r>
              <a:rPr lang="zh-CN" altLang="en-US" b="0" dirty="0">
                <a:latin typeface="+mn-ea"/>
                <a:cs typeface="+mn-ea"/>
                <a:sym typeface="+mn-ea"/>
              </a:rPr>
              <a:t>描述用户使用软件需要完成哪些任务，可通过用例 </a:t>
            </a:r>
            <a:r>
              <a:rPr lang="en-US" altLang="zh-CN" b="0" dirty="0">
                <a:latin typeface="+mn-ea"/>
                <a:cs typeface="+mn-ea"/>
                <a:sym typeface="+mn-ea"/>
              </a:rPr>
              <a:t>(use case</a:t>
            </a:r>
            <a:r>
              <a:rPr lang="zh-CN" altLang="en-US" b="0" dirty="0">
                <a:latin typeface="+mn-ea"/>
                <a:cs typeface="+mn-ea"/>
                <a:sym typeface="+mn-ea"/>
              </a:rPr>
              <a:t>图或场景说明加以阐明（面向对象的方法）。</a:t>
            </a:r>
            <a:endParaRPr lang="zh-CN" altLang="en-US" b="0" dirty="0">
              <a:latin typeface="+mn-ea"/>
              <a:cs typeface="+mn-ea"/>
            </a:endParaRPr>
          </a:p>
          <a:p>
            <a:pPr eaLnBrk="1" latinLnBrk="0" hangingPunct="1">
              <a:lnSpc>
                <a:spcPct val="100000"/>
              </a:lnSpc>
              <a:buClr>
                <a:srgbClr val="990099"/>
              </a:buClr>
            </a:pPr>
            <a:r>
              <a:rPr lang="zh-CN" altLang="en-US" dirty="0">
                <a:solidFill>
                  <a:srgbClr val="0070C0"/>
                </a:solidFill>
                <a:latin typeface="+mn-ea"/>
                <a:cs typeface="+mn-ea"/>
                <a:sym typeface="+mn-ea"/>
              </a:rPr>
              <a:t>功能</a:t>
            </a:r>
            <a:r>
              <a:rPr lang="en-US" altLang="zh-CN" dirty="0">
                <a:solidFill>
                  <a:srgbClr val="0070C0"/>
                </a:solidFill>
                <a:latin typeface="+mn-ea"/>
                <a:cs typeface="+mn-ea"/>
                <a:sym typeface="+mn-ea"/>
              </a:rPr>
              <a:t>―</a:t>
            </a:r>
            <a:r>
              <a:rPr lang="zh-CN" altLang="en-US" dirty="0">
                <a:solidFill>
                  <a:srgbClr val="0070C0"/>
                </a:solidFill>
                <a:latin typeface="+mn-ea"/>
                <a:cs typeface="+mn-ea"/>
                <a:sym typeface="+mn-ea"/>
              </a:rPr>
              <a:t>非功能需求</a:t>
            </a:r>
            <a:endParaRPr lang="zh-CN" altLang="en-US" dirty="0">
              <a:solidFill>
                <a:srgbClr val="0070C0"/>
              </a:solidFill>
              <a:latin typeface="+mn-ea"/>
              <a:cs typeface="+mn-ea"/>
              <a:sym typeface="+mn-ea"/>
            </a:endParaRPr>
          </a:p>
          <a:p>
            <a:pPr marL="0" indent="0" eaLnBrk="1" latinLnBrk="0" hangingPunct="1">
              <a:lnSpc>
                <a:spcPct val="100000"/>
              </a:lnSpc>
              <a:buClr>
                <a:srgbClr val="990099"/>
              </a:buClr>
              <a:buNone/>
            </a:pPr>
            <a:r>
              <a:rPr lang="en-US" altLang="zh-CN" b="0" dirty="0">
                <a:latin typeface="+mn-ea"/>
                <a:cs typeface="+mn-ea"/>
                <a:sym typeface="+mn-ea"/>
              </a:rPr>
              <a:t>  </a:t>
            </a:r>
            <a:r>
              <a:rPr lang="zh-CN" altLang="en-US" b="0" dirty="0">
                <a:latin typeface="+mn-ea"/>
                <a:cs typeface="+mn-ea"/>
                <a:sym typeface="+mn-ea"/>
              </a:rPr>
              <a:t>定义了开发人员必须实现的软件功能，而非功能需求如表所示</a:t>
            </a:r>
            <a:r>
              <a:rPr lang="en-US" altLang="zh-CN" b="0" dirty="0">
                <a:latin typeface="+mn-ea"/>
                <a:cs typeface="+mn-ea"/>
                <a:sym typeface="+mn-ea"/>
              </a:rPr>
              <a:t>:</a:t>
            </a:r>
            <a:endParaRPr kumimoji="0" lang="zh-CN" altLang="en-US" b="0" i="0" u="none" strike="noStrike" kern="0" cap="none" spc="0" normalizeH="0" baseline="0" noProof="0" dirty="0">
              <a:ln>
                <a:noFill/>
              </a:ln>
              <a:solidFill>
                <a:srgbClr val="0070C0"/>
              </a:solidFill>
              <a:effectLst>
                <a:outerShdw blurRad="38100" dist="38100" dir="2700000" algn="tl">
                  <a:srgbClr val="C0C0C0"/>
                </a:outerShdw>
              </a:effectLst>
              <a:uLnTx/>
              <a:uFillTx/>
              <a:latin typeface="+mn-ea"/>
              <a:cs typeface="+mn-ea"/>
              <a:sym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graphicFrame>
        <p:nvGraphicFramePr>
          <p:cNvPr id="4" name="Object 2"/>
          <p:cNvGraphicFramePr>
            <a:graphicFrameLocks noChangeAspect="1"/>
          </p:cNvGraphicFramePr>
          <p:nvPr/>
        </p:nvGraphicFramePr>
        <p:xfrm>
          <a:off x="520065" y="1523365"/>
          <a:ext cx="7622540" cy="5306060"/>
        </p:xfrm>
        <a:graphic>
          <a:graphicData uri="http://schemas.openxmlformats.org/presentationml/2006/ole">
            <mc:AlternateContent xmlns:mc="http://schemas.openxmlformats.org/markup-compatibility/2006">
              <mc:Choice xmlns:v="urn:schemas-microsoft-com:vml" Requires="v">
                <p:oleObj spid="_x0000_s3" name="" r:id="rId1" imgW="7364095" imgH="4885055" progId="Word.Document.8">
                  <p:embed/>
                </p:oleObj>
              </mc:Choice>
              <mc:Fallback>
                <p:oleObj name="" r:id="rId1" imgW="7364095" imgH="4885055" progId="Word.Document.8">
                  <p:embed/>
                  <p:pic>
                    <p:nvPicPr>
                      <p:cNvPr id="0" name="图片 3075"/>
                      <p:cNvPicPr/>
                      <p:nvPr/>
                    </p:nvPicPr>
                    <p:blipFill>
                      <a:blip r:embed="rId2"/>
                      <a:stretch>
                        <a:fillRect/>
                      </a:stretch>
                    </p:blipFill>
                    <p:spPr>
                      <a:xfrm>
                        <a:off x="520065" y="1523365"/>
                        <a:ext cx="7622540" cy="5306060"/>
                      </a:xfrm>
                      <a:prstGeom prst="rect">
                        <a:avLst/>
                      </a:prstGeom>
                      <a:noFill/>
                      <a:ln w="38100">
                        <a:noFill/>
                        <a:miter/>
                      </a:ln>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a:xfrm>
            <a:off x="457200" y="1600200"/>
            <a:ext cx="7903845" cy="4873625"/>
          </a:xfrm>
        </p:spPr>
        <p:txBody>
          <a:bodyPr vert="horz" wrap="square" lIns="91440" tIns="45720" rIns="91440" bIns="45720" numCol="1" anchor="t" anchorCtr="0" compatLnSpc="1">
            <a:normAutofit/>
          </a:bodyPr>
          <a:lstStyle/>
          <a:p>
            <a:pPr marL="0" marR="0" lvl="0" indent="0" algn="l" defTabSz="914400" rtl="0" eaLnBrk="1" fontAlgn="base" latinLnBrk="0" hangingPunct="1">
              <a:lnSpc>
                <a:spcPct val="150000"/>
              </a:lnSpc>
              <a:spcBef>
                <a:spcPct val="20000"/>
              </a:spcBef>
              <a:spcAft>
                <a:spcPct val="0"/>
              </a:spcAft>
              <a:buClr>
                <a:srgbClr val="990099"/>
              </a:buClr>
              <a:buSzPct val="70000"/>
              <a:buFont typeface="Wingdings" panose="05000000000000000000" pitchFamily="2" charset="2"/>
              <a:buNone/>
              <a:defRPr/>
            </a:pPr>
            <a:r>
              <a:rPr lang="zh-CN" altLang="en-US" kern="0" noProof="0">
                <a:ln>
                  <a:noFill/>
                </a:ln>
                <a:solidFill>
                  <a:schemeClr val="tx2"/>
                </a:solidFill>
                <a:effectLst>
                  <a:outerShdw blurRad="38100" dist="38100" dir="2700000" algn="tl">
                    <a:srgbClr val="C0C0C0"/>
                  </a:outerShdw>
                </a:effectLst>
                <a:uLnTx/>
                <a:uFillTx/>
                <a:latin typeface="+mn-ea"/>
                <a:sym typeface="+mn-ea"/>
              </a:rPr>
              <a:t>需求获取的步骤</a:t>
            </a:r>
            <a:endParaRPr lang="zh-CN" altLang="en-US" kern="0" noProof="0">
              <a:ln>
                <a:noFill/>
              </a:ln>
              <a:solidFill>
                <a:schemeClr val="tx2"/>
              </a:solidFill>
              <a:effectLst>
                <a:outerShdw blurRad="38100" dist="38100" dir="2700000" algn="tl">
                  <a:srgbClr val="C0C0C0"/>
                </a:outerShdw>
              </a:effectLst>
              <a:uLnTx/>
              <a:uFillTx/>
              <a:latin typeface="+mn-ea"/>
              <a:sym typeface="+mn-ea"/>
            </a:endParaRPr>
          </a:p>
          <a:p>
            <a:pPr marL="457200" indent="-457200" eaLnBrk="1" hangingPunct="1">
              <a:lnSpc>
                <a:spcPct val="105000"/>
              </a:lnSpc>
              <a:buClr>
                <a:srgbClr val="7030A0"/>
              </a:buClr>
              <a:buFont typeface="+mj-ea"/>
              <a:buAutoNum type="circleNumDbPlain"/>
            </a:pPr>
            <a:r>
              <a:rPr lang="zh-CN" altLang="en-US" sz="2200" dirty="0">
                <a:solidFill>
                  <a:srgbClr val="7030A0"/>
                </a:solidFill>
                <a:latin typeface="+mn-ea"/>
                <a:cs typeface="+mn-ea"/>
                <a:sym typeface="+mn-ea"/>
              </a:rPr>
              <a:t>定义项目的视图和范围：</a:t>
            </a:r>
            <a:r>
              <a:rPr lang="zh-CN" altLang="en-US" sz="2200" dirty="0">
                <a:latin typeface="+mn-ea"/>
                <a:cs typeface="+mn-ea"/>
                <a:sym typeface="+mn-ea"/>
              </a:rPr>
              <a:t>包括组织结构图、各部门的岗位</a:t>
            </a:r>
            <a:r>
              <a:rPr lang="en-US" altLang="zh-CN" sz="2200" dirty="0">
                <a:latin typeface="+mn-ea"/>
                <a:cs typeface="+mn-ea"/>
                <a:sym typeface="+mn-ea"/>
              </a:rPr>
              <a:t>/</a:t>
            </a:r>
            <a:r>
              <a:rPr lang="zh-CN" altLang="en-US" sz="2200" dirty="0">
                <a:latin typeface="+mn-ea"/>
                <a:cs typeface="+mn-ea"/>
                <a:sym typeface="+mn-ea"/>
              </a:rPr>
              <a:t>角色列表。</a:t>
            </a:r>
            <a:endParaRPr lang="zh-CN" altLang="en-US" sz="2200" b="1" dirty="0">
              <a:latin typeface="+mn-ea"/>
              <a:cs typeface="+mn-ea"/>
            </a:endParaRPr>
          </a:p>
          <a:p>
            <a:pPr marL="457200" indent="-457200" eaLnBrk="1" hangingPunct="1">
              <a:lnSpc>
                <a:spcPct val="105000"/>
              </a:lnSpc>
              <a:buClr>
                <a:srgbClr val="7030A0"/>
              </a:buClr>
              <a:buFont typeface="+mj-ea"/>
              <a:buAutoNum type="circleNumDbPlain"/>
            </a:pPr>
            <a:r>
              <a:rPr lang="zh-CN" altLang="en-US" sz="2200" dirty="0">
                <a:solidFill>
                  <a:srgbClr val="7030A0"/>
                </a:solidFill>
                <a:latin typeface="+mn-ea"/>
                <a:cs typeface="+mn-ea"/>
                <a:sym typeface="+mn-ea"/>
              </a:rPr>
              <a:t>确定用户类：</a:t>
            </a:r>
            <a:r>
              <a:rPr lang="zh-CN" altLang="en-US" sz="2200" dirty="0">
                <a:latin typeface="+mn-ea"/>
                <a:cs typeface="+mn-ea"/>
                <a:sym typeface="+mn-ea"/>
              </a:rPr>
              <a:t>包括人员</a:t>
            </a:r>
            <a:r>
              <a:rPr lang="en-US" altLang="zh-CN" sz="2200" dirty="0">
                <a:latin typeface="+mn-ea"/>
                <a:cs typeface="+mn-ea"/>
                <a:sym typeface="+mn-ea"/>
              </a:rPr>
              <a:t>/</a:t>
            </a:r>
            <a:r>
              <a:rPr lang="zh-CN" altLang="en-US" sz="2200" dirty="0">
                <a:latin typeface="+mn-ea"/>
                <a:cs typeface="+mn-ea"/>
                <a:sym typeface="+mn-ea"/>
              </a:rPr>
              <a:t>责任矩阵。</a:t>
            </a:r>
            <a:endParaRPr lang="zh-CN" altLang="en-US" sz="2200" dirty="0">
              <a:latin typeface="+mn-ea"/>
              <a:cs typeface="+mn-ea"/>
              <a:sym typeface="+mn-ea"/>
            </a:endParaRPr>
          </a:p>
          <a:p>
            <a:pPr marL="457200" indent="-457200" eaLnBrk="1" latinLnBrk="0" hangingPunct="1">
              <a:lnSpc>
                <a:spcPct val="105000"/>
              </a:lnSpc>
              <a:buClr>
                <a:srgbClr val="7030A0"/>
              </a:buClr>
              <a:buFont typeface="+mj-ea"/>
              <a:buAutoNum type="circleNumDbPlain"/>
            </a:pPr>
            <a:r>
              <a:rPr lang="zh-CN" altLang="en-US" sz="2200" dirty="0">
                <a:solidFill>
                  <a:srgbClr val="7030A0"/>
                </a:solidFill>
                <a:latin typeface="+mn-ea"/>
                <a:cs typeface="+mn-ea"/>
                <a:sym typeface="+mn-ea"/>
              </a:rPr>
              <a:t>确定目标系统的业务工作流：</a:t>
            </a:r>
            <a:r>
              <a:rPr lang="zh-CN" altLang="en-US" sz="2200" dirty="0">
                <a:latin typeface="+mn-ea"/>
                <a:cs typeface="+mn-ea"/>
                <a:sym typeface="+mn-ea"/>
              </a:rPr>
              <a:t>包括物流、资金流、信息流，建立业务工作流模型。</a:t>
            </a:r>
            <a:endParaRPr lang="zh-CN" altLang="en-US" sz="2200" dirty="0">
              <a:latin typeface="+mn-ea"/>
              <a:cs typeface="+mn-ea"/>
              <a:sym typeface="+mn-ea"/>
            </a:endParaRPr>
          </a:p>
          <a:p>
            <a:pPr marL="457200" indent="-457200" eaLnBrk="1" hangingPunct="1">
              <a:lnSpc>
                <a:spcPct val="105000"/>
              </a:lnSpc>
              <a:buClr>
                <a:srgbClr val="7030A0"/>
              </a:buClr>
              <a:buFont typeface="+mj-ea"/>
              <a:buAutoNum type="circleNumDbPlain"/>
            </a:pPr>
            <a:r>
              <a:rPr lang="zh-CN" altLang="en-US" sz="2200" dirty="0">
                <a:solidFill>
                  <a:srgbClr val="7030A0"/>
                </a:solidFill>
                <a:latin typeface="+mn-ea"/>
                <a:cs typeface="+mn-ea"/>
                <a:sym typeface="+mn-ea"/>
              </a:rPr>
              <a:t>运用需求获取技术开发用例（或数据流图）并设置优先级</a:t>
            </a:r>
            <a:r>
              <a:rPr lang="zh-CN" altLang="en-US" sz="2200" dirty="0">
                <a:solidFill>
                  <a:srgbClr val="006600"/>
                </a:solidFill>
                <a:latin typeface="+mn-ea"/>
                <a:cs typeface="+mn-ea"/>
                <a:sym typeface="+mn-ea"/>
              </a:rPr>
              <a:t>    </a:t>
            </a:r>
            <a:r>
              <a:rPr lang="zh-CN" altLang="en-US" sz="2200" dirty="0">
                <a:latin typeface="+mn-ea"/>
                <a:cs typeface="+mn-ea"/>
                <a:sym typeface="+mn-ea"/>
              </a:rPr>
              <a:t>用以掌握主要业务规则。</a:t>
            </a:r>
            <a:endParaRPr lang="zh-CN" altLang="en-US" sz="2200" dirty="0">
              <a:latin typeface="+mn-ea"/>
              <a:cs typeface="+mn-ea"/>
              <a:sym typeface="+mn-ea"/>
            </a:endParaRPr>
          </a:p>
          <a:p>
            <a:pPr marL="457200" indent="-457200" eaLnBrk="1" hangingPunct="1">
              <a:lnSpc>
                <a:spcPct val="105000"/>
              </a:lnSpc>
              <a:buClr>
                <a:srgbClr val="7030A0"/>
              </a:buClr>
              <a:buFont typeface="+mj-ea"/>
              <a:buAutoNum type="circleNumDbPlain"/>
            </a:pPr>
            <a:r>
              <a:rPr lang="zh-CN" altLang="en-US" sz="2200" dirty="0">
                <a:solidFill>
                  <a:srgbClr val="7030A0"/>
                </a:solidFill>
                <a:latin typeface="+mn-ea"/>
                <a:cs typeface="+mn-ea"/>
                <a:sym typeface="+mn-ea"/>
              </a:rPr>
              <a:t>收集来自用户的质量特性信息和其他非功能需求：</a:t>
            </a:r>
            <a:r>
              <a:rPr lang="zh-CN" altLang="en-US" sz="2200" dirty="0">
                <a:latin typeface="+mn-ea"/>
                <a:cs typeface="+mn-ea"/>
                <a:sym typeface="+mn-ea"/>
              </a:rPr>
              <a:t>将性能、安全性、可靠性等需求和其他设计约束结合业务规则，形成功能需求。</a:t>
            </a:r>
            <a:endParaRPr lang="zh-CN" altLang="en-US" sz="2200" b="1" dirty="0">
              <a:latin typeface="+mn-ea"/>
              <a:cs typeface="+mn-ea"/>
            </a:endParaRPr>
          </a:p>
          <a:p>
            <a:pPr marL="0" marR="0" lvl="0" indent="0" algn="l" defTabSz="914400" rtl="0" eaLnBrk="1" fontAlgn="base" latinLnBrk="0" hangingPunct="1">
              <a:lnSpc>
                <a:spcPct val="150000"/>
              </a:lnSpc>
              <a:spcBef>
                <a:spcPct val="20000"/>
              </a:spcBef>
              <a:spcAft>
                <a:spcPct val="0"/>
              </a:spcAft>
              <a:buClr>
                <a:srgbClr val="990099"/>
              </a:buClr>
              <a:buSzPct val="70000"/>
              <a:buFont typeface="Wingdings" panose="05000000000000000000" pitchFamily="2" charset="2"/>
              <a:buNone/>
              <a:defRPr/>
            </a:pPr>
            <a:endPar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sym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a:xfrm>
            <a:off x="457200" y="1600200"/>
            <a:ext cx="7903845" cy="4873625"/>
          </a:xfrm>
        </p:spPr>
        <p:txBody>
          <a:bodyPr vert="horz" wrap="square" lIns="91440" tIns="45720" rIns="91440" bIns="45720" numCol="1" anchor="t" anchorCtr="0" compatLnSpc="1">
            <a:normAutofit lnSpcReduction="10000"/>
          </a:bodyPr>
          <a:lstStyle/>
          <a:p>
            <a:pPr marL="0" marR="0" lvl="0" indent="0" algn="l" defTabSz="914400" rtl="0" eaLnBrk="1" fontAlgn="base" latinLnBrk="0" hangingPunct="1">
              <a:lnSpc>
                <a:spcPct val="150000"/>
              </a:lnSpc>
              <a:spcBef>
                <a:spcPct val="20000"/>
              </a:spcBef>
              <a:spcAft>
                <a:spcPct val="0"/>
              </a:spcAft>
              <a:buClr>
                <a:srgbClr val="990099"/>
              </a:buClr>
              <a:buSzPct val="70000"/>
              <a:buFont typeface="Wingdings" panose="05000000000000000000" pitchFamily="2" charset="2"/>
              <a:buNone/>
              <a:defRPr/>
            </a:pPr>
            <a:r>
              <a:rPr lang="zh-CN" altLang="en-US" kern="0" noProof="0">
                <a:ln>
                  <a:noFill/>
                </a:ln>
                <a:solidFill>
                  <a:schemeClr val="tx2"/>
                </a:solidFill>
                <a:effectLst>
                  <a:outerShdw blurRad="38100" dist="38100" dir="2700000" algn="tl">
                    <a:srgbClr val="C0C0C0"/>
                  </a:outerShdw>
                </a:effectLst>
                <a:uLnTx/>
                <a:uFillTx/>
                <a:latin typeface="+mn-ea"/>
                <a:sym typeface="+mn-ea"/>
              </a:rPr>
              <a:t>需求获取的步骤</a:t>
            </a:r>
            <a:endParaRPr lang="zh-CN" altLang="en-US" kern="0" noProof="0">
              <a:ln>
                <a:noFill/>
              </a:ln>
              <a:solidFill>
                <a:schemeClr val="tx2"/>
              </a:solidFill>
              <a:effectLst>
                <a:outerShdw blurRad="38100" dist="38100" dir="2700000" algn="tl">
                  <a:srgbClr val="C0C0C0"/>
                </a:outerShdw>
              </a:effectLst>
              <a:uLnTx/>
              <a:uFillTx/>
              <a:latin typeface="+mn-ea"/>
              <a:sym typeface="+mn-ea"/>
            </a:endParaRPr>
          </a:p>
          <a:p>
            <a:pPr marL="457200" indent="-457200" eaLnBrk="1" latinLnBrk="0" hangingPunct="1">
              <a:lnSpc>
                <a:spcPct val="135000"/>
              </a:lnSpc>
              <a:spcBef>
                <a:spcPts val="600"/>
              </a:spcBef>
              <a:buClr>
                <a:srgbClr val="7030A0"/>
              </a:buClr>
              <a:buFont typeface="+mj-ea"/>
              <a:buAutoNum type="circleNumDbPlain" startAt="6"/>
            </a:pPr>
            <a:r>
              <a:rPr lang="zh-CN" altLang="en-US" sz="2200" dirty="0">
                <a:solidFill>
                  <a:srgbClr val="7030A0"/>
                </a:solidFill>
                <a:latin typeface="+mn-ea"/>
                <a:cs typeface="+mn-ea"/>
                <a:sym typeface="+mn-ea"/>
              </a:rPr>
              <a:t>分类在用例（或数据流图）中涉及的数据：</a:t>
            </a:r>
            <a:r>
              <a:rPr lang="zh-CN" altLang="en-US" sz="2200" dirty="0">
                <a:latin typeface="+mn-ea"/>
                <a:cs typeface="+mn-ea"/>
                <a:sym typeface="+mn-ea"/>
              </a:rPr>
              <a:t>包括数据的组成和数据之间的关系。</a:t>
            </a:r>
            <a:endParaRPr lang="zh-CN" altLang="en-US" sz="2200" dirty="0">
              <a:latin typeface="+mn-ea"/>
              <a:cs typeface="+mn-ea"/>
              <a:sym typeface="+mn-ea"/>
            </a:endParaRPr>
          </a:p>
          <a:p>
            <a:pPr marL="457200" indent="-457200" eaLnBrk="1" latinLnBrk="0" hangingPunct="1">
              <a:lnSpc>
                <a:spcPct val="135000"/>
              </a:lnSpc>
              <a:spcBef>
                <a:spcPts val="600"/>
              </a:spcBef>
              <a:buClr>
                <a:srgbClr val="7030A0"/>
              </a:buClr>
              <a:buFont typeface="+mj-ea"/>
              <a:buAutoNum type="circleNumDbPlain" startAt="6"/>
            </a:pPr>
            <a:r>
              <a:rPr lang="zh-CN" altLang="en-US" sz="2200" dirty="0">
                <a:solidFill>
                  <a:srgbClr val="7030A0"/>
                </a:solidFill>
                <a:latin typeface="+mn-ea"/>
                <a:cs typeface="+mn-ea"/>
                <a:sym typeface="+mn-ea"/>
              </a:rPr>
              <a:t>详细拟订用例（或数据流图）：</a:t>
            </a:r>
            <a:r>
              <a:rPr lang="zh-CN" altLang="en-US" sz="2200" dirty="0">
                <a:latin typeface="+mn-ea"/>
                <a:cs typeface="+mn-ea"/>
                <a:sym typeface="+mn-ea"/>
              </a:rPr>
              <a:t>建立功能模型，并进行审查，用以澄清需求获取的参与者对需求的理解。</a:t>
            </a:r>
            <a:endParaRPr lang="zh-CN" altLang="en-US" sz="2200" dirty="0">
              <a:latin typeface="+mn-ea"/>
              <a:cs typeface="+mn-ea"/>
              <a:sym typeface="+mn-ea"/>
            </a:endParaRPr>
          </a:p>
          <a:p>
            <a:pPr marL="457200" indent="-457200" eaLnBrk="1" latinLnBrk="0" hangingPunct="1">
              <a:lnSpc>
                <a:spcPct val="135000"/>
              </a:lnSpc>
              <a:spcBef>
                <a:spcPts val="600"/>
              </a:spcBef>
              <a:buClr>
                <a:srgbClr val="7030A0"/>
              </a:buClr>
              <a:buFont typeface="+mj-ea"/>
              <a:buAutoNum type="circleNumDbPlain" startAt="6"/>
            </a:pPr>
            <a:r>
              <a:rPr lang="zh-CN" altLang="en-US" sz="2200" dirty="0">
                <a:solidFill>
                  <a:srgbClr val="7030A0"/>
                </a:solidFill>
                <a:latin typeface="+mn-ea"/>
                <a:cs typeface="+mn-ea"/>
                <a:sym typeface="+mn-ea"/>
              </a:rPr>
              <a:t>开发并评估界面原型：</a:t>
            </a:r>
            <a:r>
              <a:rPr lang="zh-CN" altLang="en-US" sz="2200" dirty="0">
                <a:latin typeface="+mn-ea"/>
                <a:cs typeface="+mn-ea"/>
                <a:sym typeface="+mn-ea"/>
              </a:rPr>
              <a:t>设想输入设备、输出设备、显示风格、显示方式、输出格式等，建立接口规范和信息流传输规则。</a:t>
            </a:r>
            <a:endParaRPr lang="zh-CN" altLang="en-US" sz="2200" dirty="0">
              <a:latin typeface="+mn-ea"/>
              <a:cs typeface="+mn-ea"/>
              <a:sym typeface="+mn-ea"/>
            </a:endParaRPr>
          </a:p>
          <a:p>
            <a:pPr marL="457200" indent="-457200" eaLnBrk="1" latinLnBrk="0" hangingPunct="1">
              <a:lnSpc>
                <a:spcPct val="135000"/>
              </a:lnSpc>
              <a:spcBef>
                <a:spcPts val="600"/>
              </a:spcBef>
              <a:buClr>
                <a:srgbClr val="7030A0"/>
              </a:buClr>
              <a:buFont typeface="+mj-ea"/>
              <a:buAutoNum type="circleNumDbPlain" startAt="6"/>
            </a:pPr>
            <a:r>
              <a:rPr lang="zh-CN" altLang="en-US" sz="2200" dirty="0">
                <a:solidFill>
                  <a:srgbClr val="7030A0"/>
                </a:solidFill>
                <a:latin typeface="+mn-ea"/>
                <a:cs typeface="+mn-ea"/>
                <a:sym typeface="+mn-ea"/>
              </a:rPr>
              <a:t>从功能描述中开发概念测试用例：</a:t>
            </a:r>
            <a:r>
              <a:rPr lang="zh-CN" altLang="en-US" sz="2200" dirty="0">
                <a:latin typeface="+mn-ea"/>
                <a:cs typeface="+mn-ea"/>
                <a:sym typeface="+mn-ea"/>
              </a:rPr>
              <a:t>用测试用例来验证用例（或数据流图）、功能需求和原型。</a:t>
            </a:r>
            <a:endParaRPr lang="zh-CN" altLang="en-US" sz="2200" dirty="0">
              <a:latin typeface="+mn-ea"/>
              <a:cs typeface="+mn-ea"/>
            </a:endParaRPr>
          </a:p>
          <a:p>
            <a:pPr marL="457200" indent="-457200" eaLnBrk="1" hangingPunct="1">
              <a:lnSpc>
                <a:spcPct val="105000"/>
              </a:lnSpc>
              <a:buClr>
                <a:srgbClr val="7030A0"/>
              </a:buClr>
              <a:buFont typeface="+mj-ea"/>
              <a:buAutoNum type="circleNumDbPlain"/>
            </a:pPr>
            <a:endParaRPr kumimoji="0" lang="zh-CN" altLang="en-US" sz="2200"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sym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a:xfrm>
            <a:off x="457200" y="1600200"/>
            <a:ext cx="7903845" cy="4873625"/>
          </a:xfrm>
        </p:spPr>
        <p:txBody>
          <a:bodyPr vert="horz" wrap="square" lIns="91440" tIns="45720" rIns="91440" bIns="45720" numCol="1" anchor="t" anchorCtr="0" compatLnSpc="1">
            <a:normAutofit/>
          </a:bodyPr>
          <a:lstStyle/>
          <a:p>
            <a:pPr eaLnBrk="1" hangingPunct="1">
              <a:lnSpc>
                <a:spcPct val="105000"/>
              </a:lnSpc>
            </a:pPr>
            <a:r>
              <a:rPr lang="zh-CN" altLang="en-US" dirty="0">
                <a:latin typeface="+mn-ea"/>
                <a:cs typeface="+mn-ea"/>
                <a:sym typeface="+mn-ea"/>
              </a:rPr>
              <a:t>需求获取可能是软件开发中最困难、最关键、最易出错及最需要交流的方面。表现在：</a:t>
            </a:r>
            <a:endParaRPr lang="zh-CN" altLang="en-US" b="1" dirty="0">
              <a:latin typeface="+mn-ea"/>
              <a:cs typeface="+mn-ea"/>
            </a:endParaRPr>
          </a:p>
          <a:p>
            <a:pPr eaLnBrk="1" hangingPunct="1">
              <a:lnSpc>
                <a:spcPct val="105000"/>
              </a:lnSpc>
            </a:pPr>
            <a:endParaRPr lang="zh-CN" altLang="en-US" b="1" dirty="0">
              <a:latin typeface="+mn-ea"/>
              <a:cs typeface="+mn-ea"/>
            </a:endParaRPr>
          </a:p>
          <a:p>
            <a:pPr lvl="1" eaLnBrk="1" hangingPunct="1">
              <a:lnSpc>
                <a:spcPct val="105000"/>
              </a:lnSpc>
            </a:pPr>
            <a:r>
              <a:rPr lang="zh-CN" altLang="en-US" dirty="0">
                <a:latin typeface="+mn-ea"/>
                <a:cs typeface="+mn-ea"/>
                <a:sym typeface="+mn-ea"/>
              </a:rPr>
              <a:t> </a:t>
            </a:r>
            <a:r>
              <a:rPr lang="zh-CN" altLang="en-US" dirty="0">
                <a:solidFill>
                  <a:schemeClr val="tx2"/>
                </a:solidFill>
                <a:latin typeface="+mn-ea"/>
                <a:cs typeface="+mn-ea"/>
                <a:sym typeface="+mn-ea"/>
              </a:rPr>
              <a:t>需求的不稳定性</a:t>
            </a:r>
            <a:r>
              <a:rPr lang="zh-CN" altLang="en-US" dirty="0">
                <a:latin typeface="+mn-ea"/>
                <a:cs typeface="+mn-ea"/>
                <a:sym typeface="+mn-ea"/>
              </a:rPr>
              <a:t>：在整个软件生存周期内软件需求会随着时间的推移发生变化；</a:t>
            </a:r>
            <a:endParaRPr lang="zh-CN" altLang="en-US" b="1" dirty="0">
              <a:latin typeface="+mn-ea"/>
              <a:cs typeface="+mn-ea"/>
            </a:endParaRPr>
          </a:p>
          <a:p>
            <a:pPr lvl="1" eaLnBrk="1" hangingPunct="1">
              <a:lnSpc>
                <a:spcPct val="105000"/>
              </a:lnSpc>
            </a:pPr>
            <a:endParaRPr lang="zh-CN" altLang="en-US" b="1" dirty="0">
              <a:latin typeface="+mn-ea"/>
              <a:cs typeface="+mn-ea"/>
            </a:endParaRPr>
          </a:p>
          <a:p>
            <a:pPr lvl="1" eaLnBrk="1" hangingPunct="1">
              <a:lnSpc>
                <a:spcPct val="105000"/>
              </a:lnSpc>
            </a:pPr>
            <a:r>
              <a:rPr lang="zh-CN" altLang="en-US" dirty="0">
                <a:latin typeface="+mn-ea"/>
                <a:cs typeface="+mn-ea"/>
                <a:sym typeface="+mn-ea"/>
              </a:rPr>
              <a:t> </a:t>
            </a:r>
            <a:r>
              <a:rPr lang="zh-CN" altLang="en-US" dirty="0">
                <a:solidFill>
                  <a:schemeClr val="tx2"/>
                </a:solidFill>
                <a:latin typeface="+mn-ea"/>
                <a:cs typeface="+mn-ea"/>
                <a:sym typeface="+mn-ea"/>
              </a:rPr>
              <a:t>需求的不准确性</a:t>
            </a:r>
            <a:r>
              <a:rPr lang="zh-CN" altLang="en-US" dirty="0">
                <a:latin typeface="+mn-ea"/>
                <a:cs typeface="+mn-ea"/>
                <a:sym typeface="+mn-ea"/>
              </a:rPr>
              <a:t>：用户和开发人员的认识会随着使用系统实现业务流程的实践逐步提高，一开始不可能设想得面面俱到。</a:t>
            </a:r>
            <a:endParaRPr lang="zh-CN" altLang="en-US" b="1" dirty="0">
              <a:latin typeface="+mn-ea"/>
              <a:cs typeface="+mn-ea"/>
            </a:endParaRPr>
          </a:p>
          <a:p>
            <a:pPr lvl="1" eaLnBrk="1" hangingPunct="1">
              <a:lnSpc>
                <a:spcPct val="105000"/>
              </a:lnSpc>
            </a:pPr>
            <a:endParaRPr lang="zh-CN" altLang="en-US" b="1" dirty="0">
              <a:latin typeface="+mn-ea"/>
              <a:cs typeface="+mn-ea"/>
            </a:endParaRPr>
          </a:p>
          <a:p>
            <a:pPr eaLnBrk="1" hangingPunct="1">
              <a:lnSpc>
                <a:spcPct val="105000"/>
              </a:lnSpc>
            </a:pPr>
            <a:r>
              <a:rPr lang="zh-CN" altLang="en-US" dirty="0">
                <a:latin typeface="+mn-ea"/>
                <a:cs typeface="+mn-ea"/>
                <a:sym typeface="+mn-ea"/>
              </a:rPr>
              <a:t>需求获取只有通过有效的客户</a:t>
            </a:r>
            <a:r>
              <a:rPr lang="en-US" altLang="zh-CN" dirty="0">
                <a:latin typeface="+mn-ea"/>
                <a:cs typeface="+mn-ea"/>
                <a:sym typeface="+mn-ea"/>
              </a:rPr>
              <a:t>/</a:t>
            </a:r>
            <a:r>
              <a:rPr lang="zh-CN" altLang="en-US" dirty="0">
                <a:latin typeface="+mn-ea"/>
                <a:cs typeface="+mn-ea"/>
                <a:sym typeface="+mn-ea"/>
              </a:rPr>
              <a:t>开发者的合作才能成功。</a:t>
            </a:r>
            <a:endParaRPr kumimoji="0" lang="zh-CN" altLang="en-US"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sym typeface="+mn-ea"/>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3" name="内容占位符 2"/>
          <p:cNvSpPr>
            <a:spLocks noGrp="1"/>
          </p:cNvSpPr>
          <p:nvPr>
            <p:ph sz="quarter" idx="1"/>
          </p:nvPr>
        </p:nvSpPr>
        <p:spPr>
          <a:xfrm>
            <a:off x="457200" y="1600200"/>
            <a:ext cx="7907655" cy="4873625"/>
          </a:xfrm>
        </p:spPr>
        <p:txBody>
          <a:bodyPr>
            <a:normAutofit lnSpcReduction="10000"/>
          </a:bodyPr>
          <a:lstStyle/>
          <a:p>
            <a:pPr marL="0" indent="0" algn="just" eaLnBrk="1" hangingPunct="1">
              <a:lnSpc>
                <a:spcPct val="105000"/>
              </a:lnSpc>
              <a:spcBef>
                <a:spcPct val="15000"/>
              </a:spcBef>
              <a:buClr>
                <a:srgbClr val="990099"/>
              </a:buClr>
              <a:buNone/>
            </a:pPr>
            <a:r>
              <a:rPr lang="zh-CN" altLang="en-US" kern="0" noProof="0">
                <a:ln>
                  <a:noFill/>
                </a:ln>
                <a:solidFill>
                  <a:schemeClr val="tx2"/>
                </a:solidFill>
                <a:effectLst>
                  <a:outerShdw blurRad="38100" dist="38100" dir="2700000" algn="tl">
                    <a:srgbClr val="C0C0C0"/>
                  </a:outerShdw>
                </a:effectLst>
                <a:uLnTx/>
                <a:uFillTx/>
                <a:latin typeface="+mn-ea"/>
                <a:sym typeface="+mn-ea"/>
              </a:rPr>
              <a:t>需求调研的方法</a:t>
            </a:r>
            <a:endParaRPr lang="zh-CN" altLang="en-US" kern="0" noProof="0">
              <a:ln>
                <a:noFill/>
              </a:ln>
              <a:solidFill>
                <a:schemeClr val="tx2"/>
              </a:solidFill>
              <a:effectLst>
                <a:outerShdw blurRad="38100" dist="38100" dir="2700000" algn="tl">
                  <a:srgbClr val="C0C0C0"/>
                </a:outerShdw>
              </a:effectLst>
              <a:uLnTx/>
              <a:uFillTx/>
              <a:latin typeface="+mn-ea"/>
              <a:sym typeface="+mn-ea"/>
            </a:endParaRPr>
          </a:p>
          <a:p>
            <a:pPr algn="just" eaLnBrk="1" hangingPunct="1">
              <a:lnSpc>
                <a:spcPct val="105000"/>
              </a:lnSpc>
              <a:spcBef>
                <a:spcPct val="15000"/>
              </a:spcBef>
              <a:buClr>
                <a:srgbClr val="990099"/>
              </a:buClr>
            </a:pPr>
            <a:r>
              <a:rPr lang="zh-CN" altLang="en-US" dirty="0">
                <a:latin typeface="+mn-ea"/>
                <a:cs typeface="+mn-ea"/>
                <a:sym typeface="+mn-ea"/>
              </a:rPr>
              <a:t>调研用户的组织结构、岗位设置、职责定义，从功能上区分有多少个子系统，划分系统的大致范围，明确系统的目标。</a:t>
            </a:r>
            <a:endParaRPr lang="zh-CN" altLang="en-US" b="1" dirty="0">
              <a:latin typeface="+mn-ea"/>
              <a:cs typeface="+mn-ea"/>
            </a:endParaRPr>
          </a:p>
          <a:p>
            <a:pPr algn="just" eaLnBrk="1" hangingPunct="1">
              <a:lnSpc>
                <a:spcPct val="105000"/>
              </a:lnSpc>
              <a:spcBef>
                <a:spcPct val="15000"/>
              </a:spcBef>
              <a:buClr>
                <a:srgbClr val="990099"/>
              </a:buClr>
            </a:pPr>
            <a:endParaRPr lang="zh-CN" altLang="en-US" b="1" dirty="0">
              <a:latin typeface="+mn-ea"/>
              <a:cs typeface="+mn-ea"/>
            </a:endParaRPr>
          </a:p>
          <a:p>
            <a:pPr algn="just" eaLnBrk="1" hangingPunct="1">
              <a:lnSpc>
                <a:spcPct val="105000"/>
              </a:lnSpc>
              <a:spcBef>
                <a:spcPct val="15000"/>
              </a:spcBef>
              <a:buClr>
                <a:srgbClr val="990099"/>
              </a:buClr>
            </a:pPr>
            <a:r>
              <a:rPr lang="zh-CN" altLang="en-US" dirty="0">
                <a:latin typeface="+mn-ea"/>
                <a:cs typeface="+mn-ea"/>
                <a:sym typeface="+mn-ea"/>
              </a:rPr>
              <a:t>调研每个子系统的工作流程、功能与处理规则，收集原始信息资料，用数据流来表示物流、资金流、信息流三者的关系。</a:t>
            </a:r>
            <a:endParaRPr lang="zh-CN" altLang="en-US" b="1" dirty="0">
              <a:latin typeface="+mn-ea"/>
              <a:cs typeface="+mn-ea"/>
            </a:endParaRPr>
          </a:p>
          <a:p>
            <a:pPr algn="just" eaLnBrk="1" hangingPunct="1">
              <a:lnSpc>
                <a:spcPct val="105000"/>
              </a:lnSpc>
              <a:spcBef>
                <a:spcPct val="15000"/>
              </a:spcBef>
              <a:buClr>
                <a:srgbClr val="990099"/>
              </a:buClr>
            </a:pPr>
            <a:endParaRPr lang="zh-CN" altLang="en-US" b="1" dirty="0">
              <a:latin typeface="+mn-ea"/>
              <a:cs typeface="+mn-ea"/>
            </a:endParaRPr>
          </a:p>
          <a:p>
            <a:pPr algn="just" eaLnBrk="1" hangingPunct="1">
              <a:lnSpc>
                <a:spcPct val="105000"/>
              </a:lnSpc>
              <a:spcBef>
                <a:spcPct val="15000"/>
              </a:spcBef>
              <a:buClr>
                <a:srgbClr val="990099"/>
              </a:buClr>
            </a:pPr>
            <a:r>
              <a:rPr lang="zh-CN" altLang="en-US" dirty="0">
                <a:latin typeface="+mn-ea"/>
                <a:cs typeface="+mn-ea"/>
                <a:sym typeface="+mn-ea"/>
              </a:rPr>
              <a:t> 对调研内容事先准备，针对不同管理层次的用户询问不同的问题，列出问题清单。将操作层、管理层、决策层的需求既联系又区分开来，形成一个需求的层次。</a:t>
            </a:r>
            <a:endParaRPr lang="zh-CN" altLang="en-US">
              <a:latin typeface="+mn-ea"/>
              <a:cs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5058" name="Rectangle 2"/>
          <p:cNvSpPr>
            <a:spLocks noGrp="1" noChangeArrowheads="1"/>
          </p:cNvSpPr>
          <p:nvPr>
            <p:ph idx="1"/>
          </p:nvPr>
        </p:nvSpPr>
        <p:spPr>
          <a:xfrm>
            <a:off x="723900" y="1602740"/>
            <a:ext cx="7654290" cy="4835525"/>
          </a:xfrm>
        </p:spPr>
        <p:txBody>
          <a:bodyPr vert="horz" wrap="square" lIns="91440" tIns="45720" rIns="91440" bIns="45720" numCol="1" anchor="t" anchorCtr="0" compatLnSpc="1"/>
          <a:lstStyle/>
          <a:p>
            <a:pPr marR="0" lvl="0" algn="just" defTabSz="914400" rtl="0" eaLnBrk="1" fontAlgn="base" latinLnBrk="0" hangingPunct="1">
              <a:lnSpc>
                <a:spcPct val="105000"/>
              </a:lnSpc>
              <a:spcBef>
                <a:spcPct val="5000"/>
              </a:spcBef>
              <a:spcAft>
                <a:spcPct val="0"/>
              </a:spcAft>
              <a:buClr>
                <a:srgbClr val="990099"/>
              </a:buClr>
              <a:buSzPct val="70000"/>
              <a:defRPr/>
            </a:pPr>
            <a:r>
              <a:rPr kumimoji="0" lang="zh-CN" altLang="en-US" sz="2600" b="1" i="0" u="none" strike="noStrike" kern="0" cap="none" spc="0" normalizeH="0" baseline="0" noProof="0">
                <a:ln>
                  <a:noFill/>
                </a:ln>
                <a:solidFill>
                  <a:schemeClr val="tx1"/>
                </a:solidFill>
                <a:effectLst/>
                <a:uLnTx/>
                <a:uFillTx/>
                <a:latin typeface="Times New Roman" panose="02020603050405020304" pitchFamily="18" charset="0"/>
                <a:ea typeface="仿宋_GB2312" pitchFamily="49" charset="-122"/>
                <a:cs typeface="+mn-cs"/>
              </a:rPr>
              <a:t>对与用户沟通的情况及时总结归纳，整理调研结果，初步构成需求基线。若基线符合要求，则需求获取完成。</a:t>
            </a:r>
            <a:endParaRPr kumimoji="0" lang="zh-CN" altLang="en-US" sz="2600" b="1" i="0" u="none" strike="noStrike" kern="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a:p>
            <a:pPr marL="342900" marR="0" lvl="0" indent="-342900" algn="just" defTabSz="914400" rtl="0" eaLnBrk="1" fontAlgn="base" latinLnBrk="0" hangingPunct="1">
              <a:lnSpc>
                <a:spcPct val="105000"/>
              </a:lnSpc>
              <a:spcBef>
                <a:spcPct val="5000"/>
              </a:spcBef>
              <a:spcAft>
                <a:spcPct val="0"/>
              </a:spcAft>
              <a:buClr>
                <a:srgbClr val="990099"/>
              </a:buClr>
              <a:buSzPct val="70000"/>
              <a:buFont typeface="Wingdings" panose="05000000000000000000" pitchFamily="2" charset="2"/>
              <a:buChar char="l"/>
              <a:defRPr/>
            </a:pPr>
            <a:r>
              <a:rPr kumimoji="0" lang="zh-CN" altLang="en-US" sz="2600" b="1" i="0" u="none" strike="noStrike" kern="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需求调研的主要手段：</a:t>
            </a:r>
            <a:endParaRPr kumimoji="0" lang="zh-CN" altLang="en-US" sz="2600" b="1" i="0" u="none" strike="noStrike" kern="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742950" marR="0" lvl="1" indent="-285750" algn="just" defTabSz="914400" rtl="0" eaLnBrk="1" fontAlgn="base" latinLnBrk="0" hangingPunct="1">
              <a:lnSpc>
                <a:spcPct val="105000"/>
              </a:lnSpc>
              <a:spcBef>
                <a:spcPct val="5000"/>
              </a:spcBef>
              <a:spcAft>
                <a:spcPct val="0"/>
              </a:spcAft>
              <a:buClr>
                <a:schemeClr val="accent2"/>
              </a:buClr>
              <a:buSzPct val="85000"/>
              <a:buFont typeface="Wingdings" panose="05000000000000000000" pitchFamily="2" charset="2"/>
              <a:buChar char="l"/>
              <a:defRPr/>
            </a:pPr>
            <a:r>
              <a:rPr kumimoji="0" lang="zh-CN" altLang="en-US" sz="2600" b="1" i="0" u="none" strike="noStrike" kern="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rPr>
              <a:t> 发调查表；</a:t>
            </a:r>
            <a:endParaRPr kumimoji="0" lang="zh-CN" altLang="en-US" sz="2600" b="1" i="0" u="none" strike="noStrike" kern="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742950" marR="0" lvl="1" indent="-285750" algn="l" defTabSz="914400" rtl="0" eaLnBrk="1" fontAlgn="base" latinLnBrk="0" hangingPunct="1">
              <a:lnSpc>
                <a:spcPct val="105000"/>
              </a:lnSpc>
              <a:spcBef>
                <a:spcPct val="5000"/>
              </a:spcBef>
              <a:spcAft>
                <a:spcPct val="0"/>
              </a:spcAft>
              <a:buClr>
                <a:schemeClr val="accent2"/>
              </a:buClr>
              <a:buSzPct val="85000"/>
              <a:buFont typeface="Wingdings" panose="05000000000000000000" pitchFamily="2" charset="2"/>
              <a:buChar char="l"/>
              <a:defRPr/>
            </a:pPr>
            <a:r>
              <a:rPr kumimoji="0" lang="zh-CN" altLang="en-US" sz="2600" b="1" i="0" u="none" strike="noStrike" kern="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rPr>
              <a:t> 召开调查会；</a:t>
            </a:r>
            <a:endParaRPr kumimoji="0" lang="zh-CN" altLang="en-US" sz="2600" b="1" i="0" u="none" strike="noStrike" kern="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742950" marR="0" lvl="1" indent="-285750" algn="l" defTabSz="914400" rtl="0" eaLnBrk="1" fontAlgn="base" latinLnBrk="0" hangingPunct="1">
              <a:lnSpc>
                <a:spcPct val="105000"/>
              </a:lnSpc>
              <a:spcBef>
                <a:spcPct val="5000"/>
              </a:spcBef>
              <a:spcAft>
                <a:spcPct val="0"/>
              </a:spcAft>
              <a:buClr>
                <a:schemeClr val="accent2"/>
              </a:buClr>
              <a:buSzPct val="85000"/>
              <a:buFont typeface="Wingdings" panose="05000000000000000000" pitchFamily="2" charset="2"/>
              <a:buChar char="l"/>
              <a:defRPr/>
            </a:pPr>
            <a:r>
              <a:rPr kumimoji="0" lang="zh-CN" altLang="en-US" sz="2600" b="1" i="0" u="none" strike="noStrike" kern="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rPr>
              <a:t> 向用户领域的专家个别咨询；</a:t>
            </a:r>
            <a:endParaRPr kumimoji="0" lang="zh-CN" altLang="en-US" sz="2600" b="1" i="0" u="none" strike="noStrike" kern="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742950" marR="0" lvl="1" indent="-285750" algn="l" defTabSz="914400" rtl="0" eaLnBrk="1" fontAlgn="base" latinLnBrk="0" hangingPunct="1">
              <a:lnSpc>
                <a:spcPct val="105000"/>
              </a:lnSpc>
              <a:spcBef>
                <a:spcPct val="5000"/>
              </a:spcBef>
              <a:spcAft>
                <a:spcPct val="0"/>
              </a:spcAft>
              <a:buClr>
                <a:schemeClr val="accent2"/>
              </a:buClr>
              <a:buSzPct val="85000"/>
              <a:buFont typeface="Wingdings" panose="05000000000000000000" pitchFamily="2" charset="2"/>
              <a:buChar char="l"/>
              <a:defRPr/>
            </a:pPr>
            <a:r>
              <a:rPr kumimoji="0" lang="zh-CN" altLang="en-US" sz="2600" b="1" i="0" u="none" strike="noStrike" kern="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rPr>
              <a:t> 实地考察，</a:t>
            </a:r>
            <a:endParaRPr kumimoji="0" lang="zh-CN" altLang="en-US" sz="2600" b="1" i="0" u="none" strike="noStrike" kern="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742950" marR="0" lvl="1" indent="-285750" algn="l" defTabSz="914400" rtl="0" eaLnBrk="1" fontAlgn="base" latinLnBrk="0" hangingPunct="1">
              <a:lnSpc>
                <a:spcPct val="105000"/>
              </a:lnSpc>
              <a:spcBef>
                <a:spcPct val="5000"/>
              </a:spcBef>
              <a:spcAft>
                <a:spcPct val="0"/>
              </a:spcAft>
              <a:buClr>
                <a:schemeClr val="accent2"/>
              </a:buClr>
              <a:buSzPct val="85000"/>
              <a:buFont typeface="Wingdings" panose="05000000000000000000" pitchFamily="2" charset="2"/>
              <a:buChar char="l"/>
              <a:defRPr/>
            </a:pPr>
            <a:r>
              <a:rPr kumimoji="0" lang="zh-CN" altLang="en-US" sz="2600" b="1" i="0" u="none" strike="noStrike" kern="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rPr>
              <a:t> 跟踪现场业务流程；</a:t>
            </a:r>
            <a:endParaRPr kumimoji="0" lang="zh-CN" altLang="en-US" sz="2600" b="1" i="0" u="none" strike="noStrike" kern="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742950" marR="0" lvl="1" indent="-285750" algn="l" defTabSz="914400" rtl="0" eaLnBrk="1" fontAlgn="base" latinLnBrk="0" hangingPunct="1">
              <a:lnSpc>
                <a:spcPct val="105000"/>
              </a:lnSpc>
              <a:spcBef>
                <a:spcPct val="5000"/>
              </a:spcBef>
              <a:spcAft>
                <a:spcPct val="0"/>
              </a:spcAft>
              <a:buClr>
                <a:schemeClr val="accent2"/>
              </a:buClr>
              <a:buSzPct val="85000"/>
              <a:buFont typeface="Wingdings" panose="05000000000000000000" pitchFamily="2" charset="2"/>
              <a:buChar char="l"/>
              <a:defRPr/>
            </a:pPr>
            <a:r>
              <a:rPr kumimoji="0" lang="zh-CN" altLang="en-US" sz="2600" b="1" i="0" u="none" strike="noStrike" kern="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rPr>
              <a:t> 查阅与待开发系统有关的资料；</a:t>
            </a:r>
            <a:endParaRPr kumimoji="0" lang="zh-CN" altLang="en-US" sz="2600" b="1" i="0" u="none" strike="noStrike" kern="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742950" marR="0" lvl="1" indent="-285750" algn="l" defTabSz="914400" rtl="0" eaLnBrk="1" fontAlgn="base" latinLnBrk="0" hangingPunct="1">
              <a:lnSpc>
                <a:spcPct val="105000"/>
              </a:lnSpc>
              <a:spcBef>
                <a:spcPct val="5000"/>
              </a:spcBef>
              <a:spcAft>
                <a:spcPct val="0"/>
              </a:spcAft>
              <a:buClr>
                <a:schemeClr val="accent2"/>
              </a:buClr>
              <a:buSzPct val="85000"/>
              <a:buFont typeface="Wingdings" panose="05000000000000000000" pitchFamily="2" charset="2"/>
              <a:buChar char="l"/>
              <a:defRPr/>
            </a:pPr>
            <a:r>
              <a:rPr kumimoji="0" lang="zh-CN" altLang="en-US" sz="2600" b="1" i="0" u="none" strike="noStrike" kern="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rPr>
              <a:t> 使用各种调查工具等。</a:t>
            </a:r>
            <a:endParaRPr kumimoji="0" lang="zh-CN" altLang="en-US" sz="2600" b="1" i="0" u="none" strike="noStrike" kern="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7106" name="Rectangle 2"/>
          <p:cNvSpPr>
            <a:spLocks noGrp="1" noChangeArrowheads="1"/>
          </p:cNvSpPr>
          <p:nvPr>
            <p:ph idx="1"/>
          </p:nvPr>
        </p:nvSpPr>
        <p:spPr>
          <a:xfrm>
            <a:off x="762000" y="1582420"/>
            <a:ext cx="7162800" cy="4870450"/>
          </a:xfrm>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0"/>
              </a:spcAft>
              <a:buClr>
                <a:srgbClr val="990099"/>
              </a:buClr>
              <a:buSzPct val="55000"/>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结构化分析方法最初只是着眼于数据流，自顶向下，逐层分解，建立系统的处理流程，以</a:t>
            </a:r>
            <a:r>
              <a:rPr kumimoji="0" lang="zh-CN" altLang="en-US" sz="2600" b="1" i="0" u="none" strike="noStrike" kern="0" cap="none" spc="0" normalizeH="0" baseline="0" noProof="0" dirty="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数据流图</a:t>
            </a:r>
            <a:r>
              <a:rPr kumimoji="0" lang="en-US" altLang="zh-CN" sz="2600" b="1" i="0" u="none" strike="noStrike" kern="0" cap="none" spc="0" normalizeH="0" baseline="0" noProof="0" dirty="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(DFD)</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和</a:t>
            </a:r>
            <a:r>
              <a:rPr kumimoji="0" lang="zh-CN" altLang="en-US" sz="2600" b="1" i="0" u="none" strike="noStrike" kern="0" cap="none" spc="0" normalizeH="0" baseline="0" noProof="0" dirty="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数据字典</a:t>
            </a:r>
            <a:r>
              <a:rPr kumimoji="0" lang="en-US" altLang="zh-CN" sz="2600" b="1" i="0" u="none" strike="noStrike" kern="0" cap="none" spc="0" normalizeH="0" baseline="0" noProof="0" dirty="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(DD)</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为主要工具，建立系统的逻辑模型。</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342900" marR="0" lvl="0" indent="-342900" algn="l" defTabSz="914400" rtl="0" eaLnBrk="1" fontAlgn="base" latinLnBrk="0" hangingPunct="1">
              <a:lnSpc>
                <a:spcPct val="110000"/>
              </a:lnSpc>
              <a:spcBef>
                <a:spcPct val="20000"/>
              </a:spcBef>
              <a:spcAft>
                <a:spcPct val="0"/>
              </a:spcAft>
              <a:buClr>
                <a:srgbClr val="990099"/>
              </a:buClr>
              <a:buSzPct val="55000"/>
              <a:buFont typeface="Wingdings" panose="05000000000000000000" pitchFamily="2" charset="2"/>
              <a:buChar char="n"/>
              <a:defRPr/>
            </a:pP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342900" marR="0" lvl="0" indent="-342900" algn="l" defTabSz="914400" rtl="0" eaLnBrk="1" fontAlgn="base" latinLnBrk="0" hangingPunct="1">
              <a:lnSpc>
                <a:spcPct val="110000"/>
              </a:lnSpc>
              <a:spcBef>
                <a:spcPct val="20000"/>
              </a:spcBef>
              <a:spcAft>
                <a:spcPct val="0"/>
              </a:spcAft>
              <a:buClr>
                <a:srgbClr val="990099"/>
              </a:buClr>
              <a:buSzPct val="55000"/>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扩充后，将建模技术扩展到数据建模、功能建模和行为建模，</a:t>
            </a:r>
            <a:r>
              <a:rPr kumimoji="0" lang="zh-CN" altLang="en-US" sz="260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以</a:t>
            </a:r>
            <a:r>
              <a:rPr kumimoji="0" lang="zh-CN" altLang="en-US" sz="2600" b="1" i="0" u="none" strike="noStrike" kern="0" cap="none" spc="0" normalizeH="0" baseline="0" noProof="0" dirty="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实体</a:t>
            </a:r>
            <a:r>
              <a:rPr kumimoji="0" lang="en-US" altLang="zh-CN" sz="2600" b="1" i="0" u="none" strike="noStrike" kern="0" cap="none" spc="0" normalizeH="0" baseline="0" noProof="0" dirty="0">
                <a:ln>
                  <a:noFill/>
                </a:ln>
                <a:solidFill>
                  <a:srgbClr val="CC3300"/>
                </a:solidFill>
                <a:effectLst>
                  <a:outerShdw blurRad="38100" dist="38100" dir="2700000" algn="tl">
                    <a:srgbClr val="C0C0C0"/>
                  </a:outerShdw>
                </a:effectLst>
                <a:uLnTx/>
                <a:uFillTx/>
                <a:latin typeface="Courier New" panose="02070309020205020404" pitchFamily="49" charset="0"/>
                <a:ea typeface="仿宋_GB2312" pitchFamily="49" charset="-122"/>
                <a:cs typeface="+mn-cs"/>
              </a:rPr>
              <a:t>-</a:t>
            </a:r>
            <a:r>
              <a:rPr kumimoji="0" lang="zh-CN" altLang="en-US" sz="2600" b="1" i="0" u="none" strike="noStrike" kern="0" cap="none" spc="0" normalizeH="0" baseline="0" noProof="0" dirty="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关系图</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a:t>
            </a:r>
            <a:r>
              <a:rPr kumimoji="0" lang="zh-CN" altLang="en-US" sz="2600" b="1" i="0" u="none" strike="noStrike" kern="0" cap="none" spc="0" normalizeH="0" baseline="0" noProof="0" dirty="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数据流图</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和</a:t>
            </a:r>
            <a:r>
              <a:rPr kumimoji="0" lang="zh-CN" altLang="en-US" sz="2600" b="1" i="0" u="none" strike="noStrike" kern="0" cap="none" spc="0" normalizeH="0" baseline="0" noProof="0" dirty="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控制流图</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a:t>
            </a:r>
            <a:r>
              <a:rPr kumimoji="0" lang="zh-CN" altLang="en-US" sz="2600" b="1" i="0" u="none" strike="noStrike" kern="0" cap="none" spc="0" normalizeH="0" baseline="0" noProof="0" dirty="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状态</a:t>
            </a:r>
            <a:r>
              <a:rPr kumimoji="0" lang="en-US" altLang="zh-CN" sz="2600" b="1" i="0" u="none" strike="noStrike" kern="0" cap="none" spc="0" normalizeH="0" baseline="0" noProof="0" dirty="0">
                <a:ln>
                  <a:noFill/>
                </a:ln>
                <a:solidFill>
                  <a:srgbClr val="CC3300"/>
                </a:solidFill>
                <a:effectLst>
                  <a:outerShdw blurRad="38100" dist="38100" dir="2700000" algn="tl">
                    <a:srgbClr val="C0C0C0"/>
                  </a:outerShdw>
                </a:effectLst>
                <a:uLnTx/>
                <a:uFillTx/>
                <a:latin typeface="Courier New" panose="02070309020205020404" pitchFamily="49" charset="0"/>
                <a:ea typeface="仿宋_GB2312" pitchFamily="49" charset="-122"/>
                <a:cs typeface="+mn-cs"/>
              </a:rPr>
              <a:t>-</a:t>
            </a:r>
            <a:r>
              <a:rPr kumimoji="0" lang="zh-CN" altLang="en-US" sz="2600" b="1" i="0" u="none" strike="noStrike" kern="0" cap="none" spc="0" normalizeH="0" baseline="0" noProof="0" dirty="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迁移图</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为工具，</a:t>
            </a:r>
            <a:r>
              <a:rPr kumimoji="0" lang="zh-CN" altLang="en-US" sz="2600" b="1" i="0" u="none" strike="noStrike" kern="0" cap="none" spc="0" normalizeH="0" baseline="0" noProof="0" dirty="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数据字典</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为核心，从不同视点建立系统的分析模型。</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0965" name="Rectangle 2"/>
          <p:cNvSpPr/>
          <p:nvPr/>
        </p:nvSpPr>
        <p:spPr>
          <a:xfrm>
            <a:off x="1023938" y="1235393"/>
            <a:ext cx="6648450" cy="779462"/>
          </a:xfrm>
          <a:prstGeom prst="rect">
            <a:avLst/>
          </a:prstGeom>
          <a:noFill/>
          <a:ln w="9525">
            <a:noFill/>
          </a:ln>
        </p:spPr>
        <p:txBody>
          <a:bodyPr lIns="92075" tIns="46038" rIns="92075" bIns="46038"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eaLnBrk="1" hangingPunct="1">
              <a:spcBef>
                <a:spcPct val="0"/>
              </a:spcBef>
              <a:buClrTx/>
              <a:buSzTx/>
              <a:buFontTx/>
              <a:buNone/>
            </a:pPr>
            <a:r>
              <a:rPr lang="zh-CN" altLang="en-US" sz="2800" b="1" u="sng" dirty="0">
                <a:solidFill>
                  <a:srgbClr val="CC0000"/>
                </a:solidFill>
                <a:latin typeface="华文楷体" panose="02010600040101010101" charset="-122"/>
                <a:ea typeface="华文楷体" panose="02010600040101010101" charset="-122"/>
              </a:rPr>
              <a:t>结构化分析的分析模型</a:t>
            </a:r>
            <a:endParaRPr lang="zh-CN" altLang="en-US" sz="2800" b="1" u="sng" dirty="0">
              <a:solidFill>
                <a:srgbClr val="CC0000"/>
              </a:solidFill>
              <a:latin typeface="华文楷体" panose="02010600040101010101" charset="-122"/>
              <a:ea typeface="华文楷体" panose="02010600040101010101" charset="-122"/>
            </a:endParaRPr>
          </a:p>
        </p:txBody>
      </p:sp>
      <p:sp>
        <p:nvSpPr>
          <p:cNvPr id="40966" name="Oval 3"/>
          <p:cNvSpPr/>
          <p:nvPr/>
        </p:nvSpPr>
        <p:spPr>
          <a:xfrm>
            <a:off x="1656715" y="1925320"/>
            <a:ext cx="5679440" cy="4249420"/>
          </a:xfrm>
          <a:prstGeom prst="ellipse">
            <a:avLst/>
          </a:prstGeom>
          <a:solidFill>
            <a:srgbClr val="CCFF66"/>
          </a:solidFill>
          <a:ln w="28575" cap="flat" cmpd="sng">
            <a:solidFill>
              <a:schemeClr val="tx1"/>
            </a:solidFill>
            <a:prstDash val="solid"/>
            <a:headEnd type="none" w="med" len="med"/>
            <a:tailEnd type="none" w="med" len="med"/>
          </a:ln>
          <a:effectLst>
            <a:outerShdw dist="107763" dir="2699999" algn="ctr" rotWithShape="0">
              <a:srgbClr val="808080"/>
            </a:outerShdw>
          </a:effec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endParaRPr lang="zh-CN" altLang="zh-CN" sz="1000" dirty="0">
              <a:latin typeface="Times New Roman" panose="02020603050405020304" pitchFamily="18" charset="0"/>
            </a:endParaRPr>
          </a:p>
        </p:txBody>
      </p:sp>
      <p:sp>
        <p:nvSpPr>
          <p:cNvPr id="40967" name="Oval 4"/>
          <p:cNvSpPr/>
          <p:nvPr/>
        </p:nvSpPr>
        <p:spPr>
          <a:xfrm>
            <a:off x="2332038" y="2525078"/>
            <a:ext cx="4267200" cy="3097212"/>
          </a:xfrm>
          <a:prstGeom prst="ellipse">
            <a:avLst/>
          </a:prstGeom>
          <a:solidFill>
            <a:srgbClr val="CCECFF"/>
          </a:solidFill>
          <a:ln w="19050"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endParaRPr lang="zh-CN" altLang="zh-CN" sz="1000" dirty="0">
              <a:latin typeface="Times New Roman" panose="02020603050405020304" pitchFamily="18" charset="0"/>
            </a:endParaRPr>
          </a:p>
        </p:txBody>
      </p:sp>
      <p:sp>
        <p:nvSpPr>
          <p:cNvPr id="40968" name="Line 5"/>
          <p:cNvSpPr/>
          <p:nvPr/>
        </p:nvSpPr>
        <p:spPr>
          <a:xfrm>
            <a:off x="4505325" y="1925320"/>
            <a:ext cx="635" cy="1460500"/>
          </a:xfrm>
          <a:prstGeom prst="line">
            <a:avLst/>
          </a:prstGeom>
          <a:ln w="38100" cap="flat" cmpd="sng">
            <a:solidFill>
              <a:schemeClr val="tx1"/>
            </a:solidFill>
            <a:prstDash val="solid"/>
            <a:headEnd type="none" w="med" len="med"/>
            <a:tailEnd type="none" w="med" len="med"/>
          </a:ln>
        </p:spPr>
      </p:sp>
      <p:sp>
        <p:nvSpPr>
          <p:cNvPr id="40969" name="Line 6"/>
          <p:cNvSpPr/>
          <p:nvPr/>
        </p:nvSpPr>
        <p:spPr>
          <a:xfrm flipV="1">
            <a:off x="2316480" y="4374515"/>
            <a:ext cx="1698625" cy="1053465"/>
          </a:xfrm>
          <a:prstGeom prst="line">
            <a:avLst/>
          </a:prstGeom>
          <a:ln w="38100" cap="flat" cmpd="sng">
            <a:solidFill>
              <a:schemeClr val="tx1"/>
            </a:solidFill>
            <a:prstDash val="solid"/>
            <a:headEnd type="none" w="med" len="med"/>
            <a:tailEnd type="none" w="med" len="med"/>
          </a:ln>
        </p:spPr>
      </p:sp>
      <p:sp>
        <p:nvSpPr>
          <p:cNvPr id="40970" name="Line 7"/>
          <p:cNvSpPr/>
          <p:nvPr/>
        </p:nvSpPr>
        <p:spPr>
          <a:xfrm>
            <a:off x="4948555" y="4374515"/>
            <a:ext cx="1814195" cy="1018540"/>
          </a:xfrm>
          <a:prstGeom prst="line">
            <a:avLst/>
          </a:prstGeom>
          <a:ln w="38100" cap="flat" cmpd="sng">
            <a:solidFill>
              <a:schemeClr val="tx1"/>
            </a:solidFill>
            <a:prstDash val="solid"/>
            <a:headEnd type="none" w="med" len="med"/>
            <a:tailEnd type="none" w="med" len="med"/>
          </a:ln>
        </p:spPr>
      </p:sp>
      <p:sp>
        <p:nvSpPr>
          <p:cNvPr id="40971" name="Text Box 8"/>
          <p:cNvSpPr txBox="1"/>
          <p:nvPr/>
        </p:nvSpPr>
        <p:spPr>
          <a:xfrm>
            <a:off x="2674938" y="3293428"/>
            <a:ext cx="1162050" cy="838200"/>
          </a:xfrm>
          <a:prstGeom prst="rect">
            <a:avLst/>
          </a:prstGeom>
          <a:noFill/>
          <a:ln w="9525" cap="flat" cmpd="sng">
            <a:solidFill>
              <a:srgbClr val="FFFFFF"/>
            </a:solidFill>
            <a:prstDash val="solid"/>
            <a:miter/>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CC0000"/>
                </a:solidFill>
                <a:latin typeface="Times New Roman" panose="02020603050405020304" pitchFamily="18" charset="0"/>
                <a:ea typeface="仿宋_GB2312" pitchFamily="49" charset="-122"/>
              </a:rPr>
              <a:t>实体</a:t>
            </a:r>
            <a:r>
              <a:rPr lang="en-US" altLang="zh-CN" sz="2400" b="1" dirty="0">
                <a:solidFill>
                  <a:srgbClr val="CC0000"/>
                </a:solidFill>
                <a:latin typeface="Times New Roman" panose="02020603050405020304" pitchFamily="18" charset="0"/>
                <a:ea typeface="仿宋_GB2312" pitchFamily="49" charset="-122"/>
              </a:rPr>
              <a:t>—</a:t>
            </a:r>
            <a:endParaRPr lang="en-US" altLang="zh-CN" sz="2400" b="1" dirty="0">
              <a:solidFill>
                <a:srgbClr val="CC0000"/>
              </a:solidFill>
              <a:latin typeface="Times New Roman" panose="02020603050405020304" pitchFamily="18" charset="0"/>
              <a:ea typeface="仿宋_GB2312" pitchFamily="49" charset="-122"/>
            </a:endParaRPr>
          </a:p>
          <a:p>
            <a:pPr marL="0" lvl="0" indent="0" algn="just">
              <a:spcBef>
                <a:spcPct val="0"/>
              </a:spcBef>
              <a:buClrTx/>
              <a:buSzTx/>
              <a:buFontTx/>
              <a:buNone/>
            </a:pPr>
            <a:r>
              <a:rPr lang="zh-CN" altLang="en-US" sz="2400" b="1" dirty="0">
                <a:solidFill>
                  <a:srgbClr val="CC0000"/>
                </a:solidFill>
                <a:latin typeface="Times New Roman" panose="02020603050405020304" pitchFamily="18" charset="0"/>
                <a:ea typeface="仿宋_GB2312" pitchFamily="49" charset="-122"/>
              </a:rPr>
              <a:t>关系图</a:t>
            </a:r>
            <a:endParaRPr lang="zh-CN" altLang="en-US" sz="2400" dirty="0">
              <a:latin typeface="Times New Roman" panose="02020603050405020304" pitchFamily="18" charset="0"/>
              <a:ea typeface="仿宋_GB2312" pitchFamily="49" charset="-122"/>
            </a:endParaRPr>
          </a:p>
        </p:txBody>
      </p:sp>
      <p:sp>
        <p:nvSpPr>
          <p:cNvPr id="40972" name="Text Box 9"/>
          <p:cNvSpPr txBox="1"/>
          <p:nvPr/>
        </p:nvSpPr>
        <p:spPr>
          <a:xfrm>
            <a:off x="3503613" y="4809490"/>
            <a:ext cx="2092325" cy="487363"/>
          </a:xfrm>
          <a:prstGeom prst="rect">
            <a:avLst/>
          </a:prstGeom>
          <a:noFill/>
          <a:ln w="9525" cap="flat" cmpd="sng">
            <a:solidFill>
              <a:srgbClr val="FFFFFF"/>
            </a:solidFill>
            <a:prstDash val="solid"/>
            <a:miter/>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CC0000"/>
                </a:solidFill>
                <a:latin typeface="Times New Roman" panose="02020603050405020304" pitchFamily="18" charset="0"/>
                <a:ea typeface="仿宋_GB2312" pitchFamily="49" charset="-122"/>
              </a:rPr>
              <a:t>状态</a:t>
            </a:r>
            <a:r>
              <a:rPr lang="en-US" altLang="zh-CN" sz="2400" b="1" dirty="0">
                <a:solidFill>
                  <a:srgbClr val="CC0000"/>
                </a:solidFill>
                <a:latin typeface="Times New Roman" panose="02020603050405020304" pitchFamily="18" charset="0"/>
                <a:ea typeface="仿宋_GB2312" pitchFamily="49" charset="-122"/>
              </a:rPr>
              <a:t>—</a:t>
            </a:r>
            <a:r>
              <a:rPr lang="zh-CN" altLang="en-US" sz="2400" b="1" dirty="0">
                <a:solidFill>
                  <a:srgbClr val="CC0000"/>
                </a:solidFill>
                <a:latin typeface="Times New Roman" panose="02020603050405020304" pitchFamily="18" charset="0"/>
                <a:ea typeface="仿宋_GB2312" pitchFamily="49" charset="-122"/>
              </a:rPr>
              <a:t>迁移图</a:t>
            </a:r>
            <a:endParaRPr lang="zh-CN" altLang="en-US" sz="1000" b="1" dirty="0">
              <a:latin typeface="Times New Roman" panose="02020603050405020304" pitchFamily="18" charset="0"/>
              <a:ea typeface="仿宋_GB2312" pitchFamily="49" charset="-122"/>
            </a:endParaRPr>
          </a:p>
        </p:txBody>
      </p:sp>
      <p:sp>
        <p:nvSpPr>
          <p:cNvPr id="48138" name="Text Box 10"/>
          <p:cNvSpPr txBox="1">
            <a:spLocks noChangeArrowheads="1"/>
          </p:cNvSpPr>
          <p:nvPr/>
        </p:nvSpPr>
        <p:spPr bwMode="auto">
          <a:xfrm>
            <a:off x="5132388" y="3288665"/>
            <a:ext cx="1101725" cy="849313"/>
          </a:xfrm>
          <a:prstGeom prst="rect">
            <a:avLst/>
          </a:prstGeom>
          <a:noFill/>
          <a:ln w="9525">
            <a:solidFill>
              <a:srgbClr val="FFFFFF"/>
            </a:solidFill>
            <a:miter lim="800000"/>
          </a:ln>
          <a:extLst>
            <a:ext uri="{909E8E84-426E-40DD-AFC4-6F175D3DCCD1}">
              <a14:hiddenFill xmlns:a14="http://schemas.microsoft.com/office/drawing/2010/main">
                <a:solidFill>
                  <a:srgbClr val="FFFFFF"/>
                </a:solidFill>
              </a14:hiddenFill>
            </a:ext>
          </a:extLst>
        </p:spPr>
        <p:txBody>
          <a:bodyPr/>
          <a:lstStyle/>
          <a:p>
            <a:pPr marR="0" algn="ctr" defTabSz="914400">
              <a:buClrTx/>
              <a:buSzTx/>
              <a:buFontTx/>
              <a:buNone/>
              <a:defRPr/>
            </a:pPr>
            <a:r>
              <a:rPr kumimoji="1" lang="zh-CN" altLang="en-US" sz="2400" b="1" kern="1200" cap="none" spc="0" normalizeH="0" baseline="0" noProof="0">
                <a:solidFill>
                  <a:srgbClr val="CC0000"/>
                </a:solidFill>
                <a:effectLst>
                  <a:outerShdw blurRad="38100" dist="38100" dir="2700000" algn="tl">
                    <a:srgbClr val="C0C0C0"/>
                  </a:outerShdw>
                </a:effectLst>
                <a:latin typeface="Times New Roman" panose="02020603050405020304" pitchFamily="18" charset="0"/>
                <a:ea typeface="仿宋_GB2312" pitchFamily="49" charset="-122"/>
                <a:cs typeface="+mn-cs"/>
              </a:rPr>
              <a:t>数据流图</a:t>
            </a:r>
            <a:endParaRPr kumimoji="1" lang="zh-CN" altLang="en-US" sz="2400" b="1" kern="1200" cap="none" spc="0" normalizeH="0" baseline="0" noProof="0">
              <a:solidFill>
                <a:srgbClr val="CC0000"/>
              </a:solidFill>
              <a:effectLst>
                <a:outerShdw blurRad="38100" dist="38100" dir="2700000" algn="tl">
                  <a:srgbClr val="C0C0C0"/>
                </a:outerShdw>
              </a:effectLst>
              <a:latin typeface="Times New Roman" panose="02020603050405020304" pitchFamily="18" charset="0"/>
              <a:ea typeface="仿宋_GB2312" pitchFamily="49" charset="-122"/>
              <a:cs typeface="+mn-cs"/>
            </a:endParaRPr>
          </a:p>
        </p:txBody>
      </p:sp>
      <p:sp>
        <p:nvSpPr>
          <p:cNvPr id="40974" name="Text Box 11"/>
          <p:cNvSpPr txBox="1"/>
          <p:nvPr/>
        </p:nvSpPr>
        <p:spPr>
          <a:xfrm>
            <a:off x="608013" y="2347278"/>
            <a:ext cx="2124075" cy="603250"/>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115000"/>
              </a:lnSpc>
              <a:spcBef>
                <a:spcPct val="0"/>
              </a:spcBef>
              <a:buClrTx/>
              <a:buSzTx/>
              <a:buFontTx/>
              <a:buNone/>
            </a:pPr>
            <a:r>
              <a:rPr lang="zh-CN" altLang="en-US" sz="2400" b="1" dirty="0">
                <a:solidFill>
                  <a:srgbClr val="000099"/>
                </a:solidFill>
                <a:latin typeface="Times New Roman" panose="02020603050405020304" pitchFamily="18" charset="0"/>
                <a:ea typeface="仿宋_GB2312" pitchFamily="49" charset="-122"/>
              </a:rPr>
              <a:t>数据对象描述</a:t>
            </a:r>
            <a:endParaRPr lang="zh-CN" altLang="en-US" sz="2400" b="1" dirty="0">
              <a:latin typeface="Times New Roman" panose="02020603050405020304" pitchFamily="18" charset="0"/>
              <a:ea typeface="仿宋_GB2312" pitchFamily="49" charset="-122"/>
            </a:endParaRPr>
          </a:p>
        </p:txBody>
      </p:sp>
      <p:sp>
        <p:nvSpPr>
          <p:cNvPr id="40975" name="Text Box 12"/>
          <p:cNvSpPr txBox="1"/>
          <p:nvPr/>
        </p:nvSpPr>
        <p:spPr>
          <a:xfrm>
            <a:off x="6199188" y="2423478"/>
            <a:ext cx="2085975" cy="601662"/>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lnSpc>
                <a:spcPct val="115000"/>
              </a:lnSpc>
              <a:spcBef>
                <a:spcPct val="0"/>
              </a:spcBef>
              <a:buClrTx/>
              <a:buSzTx/>
              <a:buFontTx/>
              <a:buNone/>
            </a:pPr>
            <a:r>
              <a:rPr lang="zh-CN" altLang="en-US" sz="2400" b="1" dirty="0">
                <a:solidFill>
                  <a:srgbClr val="000099"/>
                </a:solidFill>
                <a:latin typeface="Times New Roman" panose="02020603050405020304" pitchFamily="18" charset="0"/>
                <a:ea typeface="仿宋_GB2312" pitchFamily="49" charset="-122"/>
              </a:rPr>
              <a:t>加工规格说明</a:t>
            </a:r>
            <a:endParaRPr lang="zh-CN" altLang="en-US" sz="2400" b="1" dirty="0">
              <a:solidFill>
                <a:srgbClr val="000099"/>
              </a:solidFill>
              <a:latin typeface="Times New Roman" panose="02020603050405020304" pitchFamily="18" charset="0"/>
              <a:ea typeface="仿宋_GB2312" pitchFamily="49" charset="-122"/>
            </a:endParaRPr>
          </a:p>
        </p:txBody>
      </p:sp>
      <p:sp>
        <p:nvSpPr>
          <p:cNvPr id="40976" name="Oval 13"/>
          <p:cNvSpPr/>
          <p:nvPr/>
        </p:nvSpPr>
        <p:spPr>
          <a:xfrm>
            <a:off x="3848100" y="3393440"/>
            <a:ext cx="1257300" cy="12192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40977" name="Text Box 14"/>
          <p:cNvSpPr txBox="1"/>
          <p:nvPr/>
        </p:nvSpPr>
        <p:spPr>
          <a:xfrm>
            <a:off x="4095750" y="3604578"/>
            <a:ext cx="796925"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r" eaLnBrk="1" hangingPunct="1">
              <a:spcBef>
                <a:spcPct val="0"/>
              </a:spcBef>
              <a:buClrTx/>
              <a:buSzTx/>
              <a:buFontTx/>
              <a:buNone/>
            </a:pPr>
            <a:r>
              <a:rPr lang="zh-CN" altLang="en-US" sz="2400" b="1" dirty="0">
                <a:solidFill>
                  <a:srgbClr val="000099"/>
                </a:solidFill>
                <a:latin typeface="Times New Roman" panose="02020603050405020304" pitchFamily="18" charset="0"/>
                <a:ea typeface="仿宋_GB2312" pitchFamily="49" charset="-122"/>
              </a:rPr>
              <a:t>数据</a:t>
            </a:r>
            <a:endParaRPr lang="zh-CN" altLang="en-US" sz="2400" b="1" dirty="0">
              <a:solidFill>
                <a:srgbClr val="000099"/>
              </a:solidFill>
              <a:latin typeface="Times New Roman" panose="02020603050405020304" pitchFamily="18" charset="0"/>
              <a:ea typeface="仿宋_GB2312" pitchFamily="49" charset="-122"/>
            </a:endParaRPr>
          </a:p>
          <a:p>
            <a:pPr marL="0" lvl="0" indent="0" algn="r" eaLnBrk="1" hangingPunct="1">
              <a:spcBef>
                <a:spcPct val="0"/>
              </a:spcBef>
              <a:buClrTx/>
              <a:buSzTx/>
              <a:buFontTx/>
              <a:buNone/>
            </a:pPr>
            <a:r>
              <a:rPr lang="zh-CN" altLang="en-US" sz="2400" b="1" dirty="0">
                <a:solidFill>
                  <a:srgbClr val="000099"/>
                </a:solidFill>
                <a:latin typeface="Times New Roman" panose="02020603050405020304" pitchFamily="18" charset="0"/>
                <a:ea typeface="仿宋_GB2312" pitchFamily="49" charset="-122"/>
              </a:rPr>
              <a:t>字典</a:t>
            </a:r>
            <a:endParaRPr lang="zh-CN" altLang="en-US" sz="4800" b="1" dirty="0">
              <a:latin typeface="Times New Roman" panose="02020603050405020304" pitchFamily="18" charset="0"/>
              <a:ea typeface="仿宋_GB2312" pitchFamily="49" charset="-122"/>
            </a:endParaRPr>
          </a:p>
        </p:txBody>
      </p:sp>
      <p:sp>
        <p:nvSpPr>
          <p:cNvPr id="40978" name="Text Box 15"/>
          <p:cNvSpPr txBox="1"/>
          <p:nvPr/>
        </p:nvSpPr>
        <p:spPr>
          <a:xfrm>
            <a:off x="3360738" y="5954078"/>
            <a:ext cx="2228850" cy="620712"/>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115000"/>
              </a:lnSpc>
              <a:spcBef>
                <a:spcPct val="0"/>
              </a:spcBef>
              <a:buClrTx/>
              <a:buSzTx/>
              <a:buFontTx/>
              <a:buNone/>
            </a:pPr>
            <a:r>
              <a:rPr lang="zh-CN" altLang="en-US" sz="2400" b="1" dirty="0">
                <a:solidFill>
                  <a:srgbClr val="000099"/>
                </a:solidFill>
                <a:latin typeface="Times New Roman" panose="02020603050405020304" pitchFamily="18" charset="0"/>
                <a:ea typeface="仿宋_GB2312" pitchFamily="49" charset="-122"/>
              </a:rPr>
              <a:t>控制规格说明</a:t>
            </a:r>
            <a:endParaRPr lang="zh-CN" altLang="en-US" sz="2400" b="1" dirty="0">
              <a:latin typeface="Times New Roman" panose="02020603050405020304" pitchFamily="18" charset="0"/>
              <a:ea typeface="仿宋_GB2312"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0965" name="Rectangle 2"/>
          <p:cNvSpPr/>
          <p:nvPr/>
        </p:nvSpPr>
        <p:spPr>
          <a:xfrm>
            <a:off x="1023938" y="1235393"/>
            <a:ext cx="6648450" cy="779462"/>
          </a:xfrm>
          <a:prstGeom prst="rect">
            <a:avLst/>
          </a:prstGeom>
          <a:noFill/>
          <a:ln w="9525">
            <a:noFill/>
          </a:ln>
        </p:spPr>
        <p:txBody>
          <a:bodyPr lIns="92075" tIns="46038" rIns="92075" bIns="46038"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eaLnBrk="1" hangingPunct="1">
              <a:spcBef>
                <a:spcPct val="0"/>
              </a:spcBef>
              <a:buClrTx/>
              <a:buSzTx/>
              <a:buFontTx/>
              <a:buNone/>
            </a:pPr>
            <a:r>
              <a:rPr lang="zh-CN" altLang="en-US" sz="2800" b="1" u="sng" dirty="0">
                <a:solidFill>
                  <a:srgbClr val="CC0000"/>
                </a:solidFill>
                <a:latin typeface="华文楷体" panose="02010600040101010101" charset="-122"/>
                <a:ea typeface="华文楷体" panose="02010600040101010101" charset="-122"/>
              </a:rPr>
              <a:t>结构化分析的分析模型</a:t>
            </a:r>
            <a:endParaRPr lang="zh-CN" altLang="en-US" sz="2800" b="1" u="sng" dirty="0">
              <a:solidFill>
                <a:srgbClr val="CC0000"/>
              </a:solidFill>
              <a:latin typeface="华文楷体" panose="02010600040101010101" charset="-122"/>
              <a:ea typeface="华文楷体" panose="02010600040101010101" charset="-122"/>
            </a:endParaRPr>
          </a:p>
        </p:txBody>
      </p:sp>
      <p:grpSp>
        <p:nvGrpSpPr>
          <p:cNvPr id="3" name="组合 2"/>
          <p:cNvGrpSpPr/>
          <p:nvPr/>
        </p:nvGrpSpPr>
        <p:grpSpPr>
          <a:xfrm>
            <a:off x="536575" y="2284095"/>
            <a:ext cx="4747895" cy="3201670"/>
            <a:chOff x="958" y="3032"/>
            <a:chExt cx="12090" cy="7322"/>
          </a:xfrm>
        </p:grpSpPr>
        <p:sp>
          <p:nvSpPr>
            <p:cNvPr id="40966" name="Oval 3"/>
            <p:cNvSpPr/>
            <p:nvPr/>
          </p:nvSpPr>
          <p:spPr>
            <a:xfrm>
              <a:off x="2609" y="3032"/>
              <a:ext cx="8944" cy="6692"/>
            </a:xfrm>
            <a:prstGeom prst="ellipse">
              <a:avLst/>
            </a:prstGeom>
            <a:solidFill>
              <a:srgbClr val="CCFF66"/>
            </a:solidFill>
            <a:ln w="28575" cap="flat" cmpd="sng">
              <a:solidFill>
                <a:schemeClr val="tx1"/>
              </a:solidFill>
              <a:prstDash val="solid"/>
              <a:headEnd type="none" w="med" len="med"/>
              <a:tailEnd type="none" w="med" len="med"/>
            </a:ln>
            <a:effectLst>
              <a:outerShdw dist="107763" dir="2699999" algn="ctr" rotWithShape="0">
                <a:srgbClr val="808080"/>
              </a:outerShdw>
            </a:effec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spcBef>
                  <a:spcPct val="0"/>
                </a:spcBef>
                <a:buClrTx/>
                <a:buSzTx/>
                <a:buFontTx/>
                <a:buNone/>
              </a:pPr>
              <a:endParaRPr lang="zh-CN" altLang="zh-CN" sz="600" dirty="0">
                <a:latin typeface="Times New Roman" panose="02020603050405020304" pitchFamily="18" charset="0"/>
              </a:endParaRPr>
            </a:p>
          </p:txBody>
        </p:sp>
        <p:sp>
          <p:nvSpPr>
            <p:cNvPr id="40967" name="Oval 4"/>
            <p:cNvSpPr/>
            <p:nvPr/>
          </p:nvSpPr>
          <p:spPr>
            <a:xfrm>
              <a:off x="3673" y="3977"/>
              <a:ext cx="6720" cy="4877"/>
            </a:xfrm>
            <a:prstGeom prst="ellipse">
              <a:avLst/>
            </a:prstGeom>
            <a:solidFill>
              <a:srgbClr val="CCECFF"/>
            </a:solidFill>
            <a:ln w="19050"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spcBef>
                  <a:spcPct val="0"/>
                </a:spcBef>
                <a:buClrTx/>
                <a:buSzTx/>
                <a:buFontTx/>
                <a:buNone/>
              </a:pPr>
              <a:endParaRPr lang="zh-CN" altLang="zh-CN" sz="600" dirty="0">
                <a:latin typeface="Times New Roman" panose="02020603050405020304" pitchFamily="18" charset="0"/>
              </a:endParaRPr>
            </a:p>
          </p:txBody>
        </p:sp>
        <p:sp>
          <p:nvSpPr>
            <p:cNvPr id="40968" name="Line 5"/>
            <p:cNvSpPr/>
            <p:nvPr/>
          </p:nvSpPr>
          <p:spPr>
            <a:xfrm>
              <a:off x="7095" y="3032"/>
              <a:ext cx="1" cy="2300"/>
            </a:xfrm>
            <a:prstGeom prst="line">
              <a:avLst/>
            </a:prstGeom>
            <a:ln w="38100" cap="flat" cmpd="sng">
              <a:solidFill>
                <a:schemeClr val="tx1"/>
              </a:solidFill>
              <a:prstDash val="solid"/>
              <a:headEnd type="none" w="med" len="med"/>
              <a:tailEnd type="none" w="med" len="med"/>
            </a:ln>
          </p:spPr>
        </p:sp>
        <p:sp>
          <p:nvSpPr>
            <p:cNvPr id="40969" name="Line 6"/>
            <p:cNvSpPr/>
            <p:nvPr/>
          </p:nvSpPr>
          <p:spPr>
            <a:xfrm flipV="1">
              <a:off x="3648" y="6889"/>
              <a:ext cx="2675" cy="1659"/>
            </a:xfrm>
            <a:prstGeom prst="line">
              <a:avLst/>
            </a:prstGeom>
            <a:ln w="38100" cap="flat" cmpd="sng">
              <a:solidFill>
                <a:schemeClr val="tx1"/>
              </a:solidFill>
              <a:prstDash val="solid"/>
              <a:headEnd type="none" w="med" len="med"/>
              <a:tailEnd type="none" w="med" len="med"/>
            </a:ln>
          </p:spPr>
        </p:sp>
        <p:sp>
          <p:nvSpPr>
            <p:cNvPr id="40970" name="Line 7"/>
            <p:cNvSpPr/>
            <p:nvPr/>
          </p:nvSpPr>
          <p:spPr>
            <a:xfrm>
              <a:off x="7793" y="6889"/>
              <a:ext cx="2857" cy="1604"/>
            </a:xfrm>
            <a:prstGeom prst="line">
              <a:avLst/>
            </a:prstGeom>
            <a:ln w="38100" cap="flat" cmpd="sng">
              <a:solidFill>
                <a:schemeClr val="tx1"/>
              </a:solidFill>
              <a:prstDash val="solid"/>
              <a:headEnd type="none" w="med" len="med"/>
              <a:tailEnd type="none" w="med" len="med"/>
            </a:ln>
          </p:spPr>
        </p:sp>
        <p:sp>
          <p:nvSpPr>
            <p:cNvPr id="40971" name="Text Box 8"/>
            <p:cNvSpPr txBox="1"/>
            <p:nvPr/>
          </p:nvSpPr>
          <p:spPr>
            <a:xfrm>
              <a:off x="3530" y="5515"/>
              <a:ext cx="2513" cy="1320"/>
            </a:xfrm>
            <a:prstGeom prst="rect">
              <a:avLst/>
            </a:prstGeom>
            <a:noFill/>
            <a:ln w="9525" cap="flat" cmpd="sng">
              <a:solidFill>
                <a:srgbClr val="FFFFFF"/>
              </a:solidFill>
              <a:prstDash val="solid"/>
              <a:miter/>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spcBef>
                  <a:spcPct val="0"/>
                </a:spcBef>
                <a:buClrTx/>
                <a:buSzTx/>
                <a:buFontTx/>
                <a:buNone/>
              </a:pPr>
              <a:r>
                <a:rPr lang="zh-CN" altLang="en-US" sz="1400" b="1" dirty="0">
                  <a:solidFill>
                    <a:srgbClr val="CC0000"/>
                  </a:solidFill>
                  <a:latin typeface="Times New Roman" panose="02020603050405020304" pitchFamily="18" charset="0"/>
                  <a:ea typeface="仿宋_GB2312" pitchFamily="49" charset="-122"/>
                </a:rPr>
                <a:t>实体</a:t>
              </a:r>
              <a:r>
                <a:rPr lang="en-US" altLang="zh-CN" sz="1400" b="1" dirty="0">
                  <a:solidFill>
                    <a:srgbClr val="CC0000"/>
                  </a:solidFill>
                  <a:latin typeface="Times New Roman" panose="02020603050405020304" pitchFamily="18" charset="0"/>
                  <a:ea typeface="仿宋_GB2312" pitchFamily="49" charset="-122"/>
                </a:rPr>
                <a:t>—</a:t>
              </a:r>
              <a:endParaRPr lang="en-US" altLang="zh-CN" sz="1400" b="1" dirty="0">
                <a:solidFill>
                  <a:srgbClr val="CC0000"/>
                </a:solidFill>
                <a:latin typeface="Times New Roman" panose="02020603050405020304" pitchFamily="18" charset="0"/>
                <a:ea typeface="仿宋_GB2312" pitchFamily="49" charset="-122"/>
              </a:endParaRPr>
            </a:p>
            <a:p>
              <a:pPr marL="0" lvl="0" indent="0" algn="ctr">
                <a:spcBef>
                  <a:spcPct val="0"/>
                </a:spcBef>
                <a:buClrTx/>
                <a:buSzTx/>
                <a:buFontTx/>
                <a:buNone/>
              </a:pPr>
              <a:r>
                <a:rPr lang="zh-CN" altLang="en-US" sz="1400" b="1" dirty="0">
                  <a:solidFill>
                    <a:srgbClr val="CC0000"/>
                  </a:solidFill>
                  <a:latin typeface="Times New Roman" panose="02020603050405020304" pitchFamily="18" charset="0"/>
                  <a:ea typeface="仿宋_GB2312" pitchFamily="49" charset="-122"/>
                </a:rPr>
                <a:t>关系图</a:t>
              </a:r>
              <a:endParaRPr lang="zh-CN" altLang="en-US" sz="1400" b="1" dirty="0">
                <a:solidFill>
                  <a:srgbClr val="CC0000"/>
                </a:solidFill>
                <a:latin typeface="Times New Roman" panose="02020603050405020304" pitchFamily="18" charset="0"/>
                <a:ea typeface="仿宋_GB2312" pitchFamily="49" charset="-122"/>
              </a:endParaRPr>
            </a:p>
          </p:txBody>
        </p:sp>
        <p:sp>
          <p:nvSpPr>
            <p:cNvPr id="40972" name="Text Box 9"/>
            <p:cNvSpPr txBox="1"/>
            <p:nvPr/>
          </p:nvSpPr>
          <p:spPr>
            <a:xfrm>
              <a:off x="5518" y="7574"/>
              <a:ext cx="3295" cy="768"/>
            </a:xfrm>
            <a:prstGeom prst="rect">
              <a:avLst/>
            </a:prstGeom>
            <a:noFill/>
            <a:ln w="9525" cap="flat" cmpd="sng">
              <a:solidFill>
                <a:srgbClr val="FFFFFF"/>
              </a:solidFill>
              <a:prstDash val="solid"/>
              <a:miter/>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spcBef>
                  <a:spcPct val="0"/>
                </a:spcBef>
                <a:buClrTx/>
                <a:buSzTx/>
                <a:buFontTx/>
                <a:buNone/>
              </a:pPr>
              <a:r>
                <a:rPr lang="zh-CN" altLang="en-US" sz="1400" b="1" dirty="0">
                  <a:solidFill>
                    <a:srgbClr val="CC0000"/>
                  </a:solidFill>
                  <a:latin typeface="Times New Roman" panose="02020603050405020304" pitchFamily="18" charset="0"/>
                  <a:ea typeface="仿宋_GB2312" pitchFamily="49" charset="-122"/>
                </a:rPr>
                <a:t>状态</a:t>
              </a:r>
              <a:r>
                <a:rPr lang="en-US" altLang="zh-CN" sz="1400" b="1" dirty="0">
                  <a:solidFill>
                    <a:srgbClr val="CC0000"/>
                  </a:solidFill>
                  <a:latin typeface="Times New Roman" panose="02020603050405020304" pitchFamily="18" charset="0"/>
                  <a:ea typeface="仿宋_GB2312" pitchFamily="49" charset="-122"/>
                </a:rPr>
                <a:t>—</a:t>
              </a:r>
              <a:r>
                <a:rPr lang="zh-CN" altLang="en-US" sz="1400" b="1" dirty="0">
                  <a:solidFill>
                    <a:srgbClr val="CC0000"/>
                  </a:solidFill>
                  <a:latin typeface="Times New Roman" panose="02020603050405020304" pitchFamily="18" charset="0"/>
                  <a:ea typeface="仿宋_GB2312" pitchFamily="49" charset="-122"/>
                </a:rPr>
                <a:t>迁移图</a:t>
              </a:r>
              <a:endParaRPr lang="zh-CN" altLang="en-US" sz="1400" b="1" dirty="0">
                <a:solidFill>
                  <a:srgbClr val="CC0000"/>
                </a:solidFill>
                <a:latin typeface="Times New Roman" panose="02020603050405020304" pitchFamily="18" charset="0"/>
                <a:ea typeface="仿宋_GB2312" pitchFamily="49" charset="-122"/>
              </a:endParaRPr>
            </a:p>
          </p:txBody>
        </p:sp>
        <p:sp>
          <p:nvSpPr>
            <p:cNvPr id="48138" name="Text Box 10"/>
            <p:cNvSpPr txBox="1">
              <a:spLocks noChangeArrowheads="1"/>
            </p:cNvSpPr>
            <p:nvPr/>
          </p:nvSpPr>
          <p:spPr bwMode="auto">
            <a:xfrm>
              <a:off x="8083" y="5179"/>
              <a:ext cx="1735" cy="1338"/>
            </a:xfrm>
            <a:prstGeom prst="rect">
              <a:avLst/>
            </a:prstGeom>
            <a:noFill/>
            <a:ln w="9525">
              <a:solidFill>
                <a:srgbClr val="FFFFFF"/>
              </a:solidFill>
              <a:miter lim="800000"/>
            </a:ln>
            <a:extLst>
              <a:ext uri="{909E8E84-426E-40DD-AFC4-6F175D3DCCD1}">
                <a14:hiddenFill xmlns:a14="http://schemas.microsoft.com/office/drawing/2010/main">
                  <a:solidFill>
                    <a:srgbClr val="FFFFFF"/>
                  </a:solidFill>
                </a14:hiddenFill>
              </a:ext>
            </a:extLst>
          </p:spPr>
          <p:txBody>
            <a:bodyPr/>
            <a:lstStyle/>
            <a:p>
              <a:pPr marR="0" algn="ctr" defTabSz="914400">
                <a:buClrTx/>
                <a:buSzTx/>
                <a:buFontTx/>
                <a:buNone/>
                <a:defRPr/>
              </a:pPr>
              <a:r>
                <a:rPr kumimoji="1" lang="zh-CN" altLang="en-US" sz="1400" b="1" kern="1200" cap="none" spc="0" normalizeH="0" baseline="0" noProof="0">
                  <a:solidFill>
                    <a:srgbClr val="CC0000"/>
                  </a:solidFill>
                  <a:effectLst>
                    <a:outerShdw blurRad="38100" dist="38100" dir="2700000" algn="tl">
                      <a:srgbClr val="C0C0C0"/>
                    </a:outerShdw>
                  </a:effectLst>
                  <a:latin typeface="Times New Roman" panose="02020603050405020304" pitchFamily="18" charset="0"/>
                  <a:ea typeface="仿宋_GB2312" pitchFamily="49" charset="-122"/>
                  <a:cs typeface="+mn-cs"/>
                </a:rPr>
                <a:t>数据流图</a:t>
              </a:r>
              <a:endParaRPr kumimoji="1" lang="zh-CN" altLang="en-US" sz="1400" b="1" kern="1200" cap="none" spc="0" normalizeH="0" baseline="0" noProof="0">
                <a:solidFill>
                  <a:srgbClr val="CC0000"/>
                </a:solidFill>
                <a:effectLst>
                  <a:outerShdw blurRad="38100" dist="38100" dir="2700000" algn="tl">
                    <a:srgbClr val="C0C0C0"/>
                  </a:outerShdw>
                </a:effectLst>
                <a:latin typeface="Times New Roman" panose="02020603050405020304" pitchFamily="18" charset="0"/>
                <a:ea typeface="仿宋_GB2312" pitchFamily="49" charset="-122"/>
                <a:cs typeface="+mn-cs"/>
              </a:endParaRPr>
            </a:p>
          </p:txBody>
        </p:sp>
        <p:sp>
          <p:nvSpPr>
            <p:cNvPr id="40974" name="Text Box 11"/>
            <p:cNvSpPr txBox="1"/>
            <p:nvPr/>
          </p:nvSpPr>
          <p:spPr>
            <a:xfrm>
              <a:off x="958" y="3697"/>
              <a:ext cx="3345" cy="950"/>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115000"/>
                </a:lnSpc>
                <a:spcBef>
                  <a:spcPct val="0"/>
                </a:spcBef>
                <a:buClrTx/>
                <a:buSzTx/>
                <a:buFontTx/>
                <a:buNone/>
              </a:pPr>
              <a:r>
                <a:rPr lang="zh-CN" altLang="en-US" sz="1400" b="1" dirty="0">
                  <a:solidFill>
                    <a:srgbClr val="000099"/>
                  </a:solidFill>
                  <a:latin typeface="Times New Roman" panose="02020603050405020304" pitchFamily="18" charset="0"/>
                  <a:ea typeface="仿宋_GB2312" pitchFamily="49" charset="-122"/>
                </a:rPr>
                <a:t>数据对象描述</a:t>
              </a:r>
              <a:endParaRPr lang="zh-CN" altLang="en-US" sz="1400" b="1" dirty="0">
                <a:solidFill>
                  <a:srgbClr val="000099"/>
                </a:solidFill>
                <a:latin typeface="Times New Roman" panose="02020603050405020304" pitchFamily="18" charset="0"/>
                <a:ea typeface="仿宋_GB2312" pitchFamily="49" charset="-122"/>
              </a:endParaRPr>
            </a:p>
          </p:txBody>
        </p:sp>
        <p:sp>
          <p:nvSpPr>
            <p:cNvPr id="40975" name="Text Box 12"/>
            <p:cNvSpPr txBox="1"/>
            <p:nvPr/>
          </p:nvSpPr>
          <p:spPr>
            <a:xfrm>
              <a:off x="9763" y="3817"/>
              <a:ext cx="3285" cy="947"/>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115000"/>
                </a:lnSpc>
                <a:spcBef>
                  <a:spcPct val="0"/>
                </a:spcBef>
                <a:buClrTx/>
                <a:buSzTx/>
                <a:buFontTx/>
                <a:buNone/>
              </a:pPr>
              <a:r>
                <a:rPr lang="zh-CN" altLang="en-US" sz="1400" b="1" dirty="0">
                  <a:solidFill>
                    <a:srgbClr val="000099"/>
                  </a:solidFill>
                  <a:latin typeface="Times New Roman" panose="02020603050405020304" pitchFamily="18" charset="0"/>
                  <a:ea typeface="仿宋_GB2312" pitchFamily="49" charset="-122"/>
                </a:rPr>
                <a:t>加工规格说明</a:t>
              </a:r>
              <a:endParaRPr lang="zh-CN" altLang="en-US" sz="1400" b="1" dirty="0">
                <a:solidFill>
                  <a:srgbClr val="000099"/>
                </a:solidFill>
                <a:latin typeface="Times New Roman" panose="02020603050405020304" pitchFamily="18" charset="0"/>
                <a:ea typeface="仿宋_GB2312" pitchFamily="49" charset="-122"/>
              </a:endParaRPr>
            </a:p>
          </p:txBody>
        </p:sp>
        <p:sp>
          <p:nvSpPr>
            <p:cNvPr id="40976" name="Oval 13"/>
            <p:cNvSpPr/>
            <p:nvPr/>
          </p:nvSpPr>
          <p:spPr>
            <a:xfrm>
              <a:off x="6060" y="5344"/>
              <a:ext cx="1980" cy="192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eaLnBrk="1" hangingPunct="1">
                <a:spcBef>
                  <a:spcPct val="0"/>
                </a:spcBef>
                <a:buClrTx/>
                <a:buSzTx/>
                <a:buFontTx/>
                <a:buNone/>
              </a:pPr>
              <a:endParaRPr lang="zh-CN" altLang="en-US" sz="1000" dirty="0"/>
            </a:p>
          </p:txBody>
        </p:sp>
        <p:sp>
          <p:nvSpPr>
            <p:cNvPr id="40977" name="Text Box 14"/>
            <p:cNvSpPr txBox="1"/>
            <p:nvPr/>
          </p:nvSpPr>
          <p:spPr>
            <a:xfrm>
              <a:off x="6267" y="5678"/>
              <a:ext cx="1577" cy="1194"/>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eaLnBrk="1" hangingPunct="1">
                <a:spcBef>
                  <a:spcPct val="0"/>
                </a:spcBef>
                <a:buClrTx/>
                <a:buSzTx/>
                <a:buFontTx/>
                <a:buNone/>
              </a:pPr>
              <a:r>
                <a:rPr lang="zh-CN" altLang="en-US" sz="1400" b="1" dirty="0">
                  <a:solidFill>
                    <a:srgbClr val="000099"/>
                  </a:solidFill>
                  <a:latin typeface="Times New Roman" panose="02020603050405020304" pitchFamily="18" charset="0"/>
                  <a:ea typeface="仿宋_GB2312" pitchFamily="49" charset="-122"/>
                </a:rPr>
                <a:t>数据</a:t>
              </a:r>
              <a:endParaRPr lang="zh-CN" altLang="en-US" sz="1400" b="1" dirty="0">
                <a:solidFill>
                  <a:srgbClr val="000099"/>
                </a:solidFill>
                <a:latin typeface="Times New Roman" panose="02020603050405020304" pitchFamily="18" charset="0"/>
                <a:ea typeface="仿宋_GB2312" pitchFamily="49" charset="-122"/>
              </a:endParaRPr>
            </a:p>
            <a:p>
              <a:pPr marL="0" lvl="0" indent="0" algn="ctr" eaLnBrk="1" hangingPunct="1">
                <a:spcBef>
                  <a:spcPct val="0"/>
                </a:spcBef>
                <a:buClrTx/>
                <a:buSzTx/>
                <a:buFontTx/>
                <a:buNone/>
              </a:pPr>
              <a:r>
                <a:rPr lang="zh-CN" altLang="en-US" sz="1400" b="1" dirty="0">
                  <a:solidFill>
                    <a:srgbClr val="000099"/>
                  </a:solidFill>
                  <a:latin typeface="Times New Roman" panose="02020603050405020304" pitchFamily="18" charset="0"/>
                  <a:ea typeface="仿宋_GB2312" pitchFamily="49" charset="-122"/>
                </a:rPr>
                <a:t>字典</a:t>
              </a:r>
              <a:endParaRPr lang="zh-CN" altLang="en-US" sz="1400" b="1" dirty="0">
                <a:solidFill>
                  <a:srgbClr val="000099"/>
                </a:solidFill>
                <a:latin typeface="Times New Roman" panose="02020603050405020304" pitchFamily="18" charset="0"/>
                <a:ea typeface="仿宋_GB2312" pitchFamily="49" charset="-122"/>
              </a:endParaRPr>
            </a:p>
          </p:txBody>
        </p:sp>
        <p:sp>
          <p:nvSpPr>
            <p:cNvPr id="40978" name="Text Box 15"/>
            <p:cNvSpPr txBox="1"/>
            <p:nvPr/>
          </p:nvSpPr>
          <p:spPr>
            <a:xfrm>
              <a:off x="5293" y="9377"/>
              <a:ext cx="3510" cy="977"/>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115000"/>
                </a:lnSpc>
                <a:spcBef>
                  <a:spcPct val="0"/>
                </a:spcBef>
                <a:buClrTx/>
                <a:buSzTx/>
                <a:buFontTx/>
                <a:buNone/>
              </a:pPr>
              <a:r>
                <a:rPr lang="zh-CN" altLang="en-US" sz="1400" b="1" dirty="0">
                  <a:solidFill>
                    <a:srgbClr val="000099"/>
                  </a:solidFill>
                  <a:latin typeface="Times New Roman" panose="02020603050405020304" pitchFamily="18" charset="0"/>
                  <a:ea typeface="仿宋_GB2312" pitchFamily="49" charset="-122"/>
                </a:rPr>
                <a:t>控制规格说明</a:t>
              </a:r>
              <a:endParaRPr lang="zh-CN" altLang="en-US" sz="1400" b="1" dirty="0">
                <a:solidFill>
                  <a:srgbClr val="000099"/>
                </a:solidFill>
                <a:latin typeface="Times New Roman" panose="02020603050405020304" pitchFamily="18" charset="0"/>
                <a:ea typeface="仿宋_GB2312" pitchFamily="49" charset="-122"/>
              </a:endParaRPr>
            </a:p>
          </p:txBody>
        </p:sp>
      </p:grpSp>
      <p:sp>
        <p:nvSpPr>
          <p:cNvPr id="4" name="文本框 3"/>
          <p:cNvSpPr txBox="1"/>
          <p:nvPr/>
        </p:nvSpPr>
        <p:spPr>
          <a:xfrm>
            <a:off x="5130165" y="3253740"/>
            <a:ext cx="2956560" cy="2308860"/>
          </a:xfrm>
          <a:prstGeom prst="rect">
            <a:avLst/>
          </a:prstGeom>
          <a:noFill/>
        </p:spPr>
        <p:txBody>
          <a:bodyPr wrap="square" rtlCol="0">
            <a:noAutofit/>
          </a:bodyPr>
          <a:lstStyle/>
          <a:p>
            <a:r>
              <a:rPr lang="zh-CN" altLang="en-US" sz="2400" b="1"/>
              <a:t>数据流图（DFD）：</a:t>
            </a:r>
            <a:r>
              <a:rPr lang="zh-CN" altLang="en-US" sz="2400"/>
              <a:t>描述系统中数据如何被传送和变换，以及描述如何对数据流进行变换的功能，用于功能建模。</a:t>
            </a:r>
            <a:endParaRPr lang="zh-CN" altLang="en-US" sz="2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0965" name="Rectangle 2"/>
          <p:cNvSpPr/>
          <p:nvPr/>
        </p:nvSpPr>
        <p:spPr>
          <a:xfrm>
            <a:off x="1023938" y="1235393"/>
            <a:ext cx="6648450" cy="779462"/>
          </a:xfrm>
          <a:prstGeom prst="rect">
            <a:avLst/>
          </a:prstGeom>
          <a:noFill/>
          <a:ln w="9525">
            <a:noFill/>
          </a:ln>
        </p:spPr>
        <p:txBody>
          <a:bodyPr lIns="92075" tIns="46038" rIns="92075" bIns="46038"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eaLnBrk="1" hangingPunct="1">
              <a:spcBef>
                <a:spcPct val="0"/>
              </a:spcBef>
              <a:buClrTx/>
              <a:buSzTx/>
              <a:buFontTx/>
              <a:buNone/>
            </a:pPr>
            <a:r>
              <a:rPr lang="zh-CN" altLang="en-US" sz="2800" b="1" u="sng" dirty="0">
                <a:solidFill>
                  <a:srgbClr val="CC0000"/>
                </a:solidFill>
                <a:latin typeface="华文楷体" panose="02010600040101010101" charset="-122"/>
                <a:ea typeface="华文楷体" panose="02010600040101010101" charset="-122"/>
              </a:rPr>
              <a:t>结构化分析的分析模型</a:t>
            </a:r>
            <a:endParaRPr lang="zh-CN" altLang="en-US" sz="2800" b="1" u="sng" dirty="0">
              <a:solidFill>
                <a:srgbClr val="CC0000"/>
              </a:solidFill>
              <a:latin typeface="华文楷体" panose="02010600040101010101" charset="-122"/>
              <a:ea typeface="华文楷体" panose="02010600040101010101" charset="-122"/>
            </a:endParaRPr>
          </a:p>
        </p:txBody>
      </p:sp>
      <p:grpSp>
        <p:nvGrpSpPr>
          <p:cNvPr id="3" name="组合 2"/>
          <p:cNvGrpSpPr/>
          <p:nvPr/>
        </p:nvGrpSpPr>
        <p:grpSpPr>
          <a:xfrm>
            <a:off x="536575" y="2284095"/>
            <a:ext cx="4747895" cy="3201670"/>
            <a:chOff x="958" y="3032"/>
            <a:chExt cx="12090" cy="7322"/>
          </a:xfrm>
        </p:grpSpPr>
        <p:sp>
          <p:nvSpPr>
            <p:cNvPr id="40966" name="Oval 3"/>
            <p:cNvSpPr/>
            <p:nvPr/>
          </p:nvSpPr>
          <p:spPr>
            <a:xfrm>
              <a:off x="2609" y="3032"/>
              <a:ext cx="8944" cy="6692"/>
            </a:xfrm>
            <a:prstGeom prst="ellipse">
              <a:avLst/>
            </a:prstGeom>
            <a:solidFill>
              <a:srgbClr val="CCFF66"/>
            </a:solidFill>
            <a:ln w="28575" cap="flat" cmpd="sng">
              <a:solidFill>
                <a:schemeClr val="tx1"/>
              </a:solidFill>
              <a:prstDash val="solid"/>
              <a:headEnd type="none" w="med" len="med"/>
              <a:tailEnd type="none" w="med" len="med"/>
            </a:ln>
            <a:effectLst>
              <a:outerShdw dist="107763" dir="2699999" algn="ctr" rotWithShape="0">
                <a:srgbClr val="808080"/>
              </a:outerShdw>
            </a:effec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spcBef>
                  <a:spcPct val="0"/>
                </a:spcBef>
                <a:buClrTx/>
                <a:buSzTx/>
                <a:buFontTx/>
                <a:buNone/>
              </a:pPr>
              <a:endParaRPr lang="zh-CN" altLang="zh-CN" sz="600" dirty="0">
                <a:latin typeface="Times New Roman" panose="02020603050405020304" pitchFamily="18" charset="0"/>
              </a:endParaRPr>
            </a:p>
          </p:txBody>
        </p:sp>
        <p:sp>
          <p:nvSpPr>
            <p:cNvPr id="40967" name="Oval 4"/>
            <p:cNvSpPr/>
            <p:nvPr/>
          </p:nvSpPr>
          <p:spPr>
            <a:xfrm>
              <a:off x="3673" y="3977"/>
              <a:ext cx="6720" cy="4877"/>
            </a:xfrm>
            <a:prstGeom prst="ellipse">
              <a:avLst/>
            </a:prstGeom>
            <a:solidFill>
              <a:srgbClr val="CCECFF"/>
            </a:solidFill>
            <a:ln w="19050"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spcBef>
                  <a:spcPct val="0"/>
                </a:spcBef>
                <a:buClrTx/>
                <a:buSzTx/>
                <a:buFontTx/>
                <a:buNone/>
              </a:pPr>
              <a:endParaRPr lang="zh-CN" altLang="zh-CN" sz="600" dirty="0">
                <a:latin typeface="Times New Roman" panose="02020603050405020304" pitchFamily="18" charset="0"/>
              </a:endParaRPr>
            </a:p>
          </p:txBody>
        </p:sp>
        <p:sp>
          <p:nvSpPr>
            <p:cNvPr id="40968" name="Line 5"/>
            <p:cNvSpPr/>
            <p:nvPr/>
          </p:nvSpPr>
          <p:spPr>
            <a:xfrm>
              <a:off x="7095" y="3032"/>
              <a:ext cx="1" cy="2300"/>
            </a:xfrm>
            <a:prstGeom prst="line">
              <a:avLst/>
            </a:prstGeom>
            <a:ln w="38100" cap="flat" cmpd="sng">
              <a:solidFill>
                <a:schemeClr val="tx1"/>
              </a:solidFill>
              <a:prstDash val="solid"/>
              <a:headEnd type="none" w="med" len="med"/>
              <a:tailEnd type="none" w="med" len="med"/>
            </a:ln>
          </p:spPr>
        </p:sp>
        <p:sp>
          <p:nvSpPr>
            <p:cNvPr id="40969" name="Line 6"/>
            <p:cNvSpPr/>
            <p:nvPr/>
          </p:nvSpPr>
          <p:spPr>
            <a:xfrm flipV="1">
              <a:off x="3648" y="6889"/>
              <a:ext cx="2675" cy="1659"/>
            </a:xfrm>
            <a:prstGeom prst="line">
              <a:avLst/>
            </a:prstGeom>
            <a:ln w="38100" cap="flat" cmpd="sng">
              <a:solidFill>
                <a:schemeClr val="tx1"/>
              </a:solidFill>
              <a:prstDash val="solid"/>
              <a:headEnd type="none" w="med" len="med"/>
              <a:tailEnd type="none" w="med" len="med"/>
            </a:ln>
          </p:spPr>
        </p:sp>
        <p:sp>
          <p:nvSpPr>
            <p:cNvPr id="40970" name="Line 7"/>
            <p:cNvSpPr/>
            <p:nvPr/>
          </p:nvSpPr>
          <p:spPr>
            <a:xfrm>
              <a:off x="7793" y="6889"/>
              <a:ext cx="2857" cy="1604"/>
            </a:xfrm>
            <a:prstGeom prst="line">
              <a:avLst/>
            </a:prstGeom>
            <a:ln w="38100" cap="flat" cmpd="sng">
              <a:solidFill>
                <a:schemeClr val="tx1"/>
              </a:solidFill>
              <a:prstDash val="solid"/>
              <a:headEnd type="none" w="med" len="med"/>
              <a:tailEnd type="none" w="med" len="med"/>
            </a:ln>
          </p:spPr>
        </p:sp>
        <p:sp>
          <p:nvSpPr>
            <p:cNvPr id="40971" name="Text Box 8"/>
            <p:cNvSpPr txBox="1"/>
            <p:nvPr/>
          </p:nvSpPr>
          <p:spPr>
            <a:xfrm>
              <a:off x="3530" y="5515"/>
              <a:ext cx="2513" cy="1320"/>
            </a:xfrm>
            <a:prstGeom prst="rect">
              <a:avLst/>
            </a:prstGeom>
            <a:noFill/>
            <a:ln w="9525" cap="flat" cmpd="sng">
              <a:solidFill>
                <a:srgbClr val="FFFFFF"/>
              </a:solidFill>
              <a:prstDash val="solid"/>
              <a:miter/>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spcBef>
                  <a:spcPct val="0"/>
                </a:spcBef>
                <a:buClrTx/>
                <a:buSzTx/>
                <a:buFontTx/>
                <a:buNone/>
              </a:pPr>
              <a:r>
                <a:rPr lang="zh-CN" altLang="en-US" sz="1400" b="1" dirty="0">
                  <a:solidFill>
                    <a:srgbClr val="CC0000"/>
                  </a:solidFill>
                  <a:latin typeface="Times New Roman" panose="02020603050405020304" pitchFamily="18" charset="0"/>
                  <a:ea typeface="仿宋_GB2312" pitchFamily="49" charset="-122"/>
                </a:rPr>
                <a:t>实体</a:t>
              </a:r>
              <a:r>
                <a:rPr lang="en-US" altLang="zh-CN" sz="1400" b="1" dirty="0">
                  <a:solidFill>
                    <a:srgbClr val="CC0000"/>
                  </a:solidFill>
                  <a:latin typeface="Times New Roman" panose="02020603050405020304" pitchFamily="18" charset="0"/>
                  <a:ea typeface="仿宋_GB2312" pitchFamily="49" charset="-122"/>
                </a:rPr>
                <a:t>—</a:t>
              </a:r>
              <a:endParaRPr lang="en-US" altLang="zh-CN" sz="1400" b="1" dirty="0">
                <a:solidFill>
                  <a:srgbClr val="CC0000"/>
                </a:solidFill>
                <a:latin typeface="Times New Roman" panose="02020603050405020304" pitchFamily="18" charset="0"/>
                <a:ea typeface="仿宋_GB2312" pitchFamily="49" charset="-122"/>
              </a:endParaRPr>
            </a:p>
            <a:p>
              <a:pPr marL="0" lvl="0" indent="0" algn="ctr">
                <a:spcBef>
                  <a:spcPct val="0"/>
                </a:spcBef>
                <a:buClrTx/>
                <a:buSzTx/>
                <a:buFontTx/>
                <a:buNone/>
              </a:pPr>
              <a:r>
                <a:rPr lang="zh-CN" altLang="en-US" sz="1400" b="1" dirty="0">
                  <a:solidFill>
                    <a:srgbClr val="CC0000"/>
                  </a:solidFill>
                  <a:latin typeface="Times New Roman" panose="02020603050405020304" pitchFamily="18" charset="0"/>
                  <a:ea typeface="仿宋_GB2312" pitchFamily="49" charset="-122"/>
                </a:rPr>
                <a:t>关系图</a:t>
              </a:r>
              <a:endParaRPr lang="zh-CN" altLang="en-US" sz="1400" b="1" dirty="0">
                <a:solidFill>
                  <a:srgbClr val="CC0000"/>
                </a:solidFill>
                <a:latin typeface="Times New Roman" panose="02020603050405020304" pitchFamily="18" charset="0"/>
                <a:ea typeface="仿宋_GB2312" pitchFamily="49" charset="-122"/>
              </a:endParaRPr>
            </a:p>
          </p:txBody>
        </p:sp>
        <p:sp>
          <p:nvSpPr>
            <p:cNvPr id="40972" name="Text Box 9"/>
            <p:cNvSpPr txBox="1"/>
            <p:nvPr/>
          </p:nvSpPr>
          <p:spPr>
            <a:xfrm>
              <a:off x="5518" y="7574"/>
              <a:ext cx="3295" cy="768"/>
            </a:xfrm>
            <a:prstGeom prst="rect">
              <a:avLst/>
            </a:prstGeom>
            <a:noFill/>
            <a:ln w="9525" cap="flat" cmpd="sng">
              <a:solidFill>
                <a:srgbClr val="FFFFFF"/>
              </a:solidFill>
              <a:prstDash val="solid"/>
              <a:miter/>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spcBef>
                  <a:spcPct val="0"/>
                </a:spcBef>
                <a:buClrTx/>
                <a:buSzTx/>
                <a:buFontTx/>
                <a:buNone/>
              </a:pPr>
              <a:r>
                <a:rPr lang="zh-CN" altLang="en-US" sz="1400" b="1" dirty="0">
                  <a:solidFill>
                    <a:srgbClr val="CC0000"/>
                  </a:solidFill>
                  <a:latin typeface="Times New Roman" panose="02020603050405020304" pitchFamily="18" charset="0"/>
                  <a:ea typeface="仿宋_GB2312" pitchFamily="49" charset="-122"/>
                </a:rPr>
                <a:t>状态</a:t>
              </a:r>
              <a:r>
                <a:rPr lang="en-US" altLang="zh-CN" sz="1400" b="1" dirty="0">
                  <a:solidFill>
                    <a:srgbClr val="CC0000"/>
                  </a:solidFill>
                  <a:latin typeface="Times New Roman" panose="02020603050405020304" pitchFamily="18" charset="0"/>
                  <a:ea typeface="仿宋_GB2312" pitchFamily="49" charset="-122"/>
                </a:rPr>
                <a:t>—</a:t>
              </a:r>
              <a:r>
                <a:rPr lang="zh-CN" altLang="en-US" sz="1400" b="1" dirty="0">
                  <a:solidFill>
                    <a:srgbClr val="CC0000"/>
                  </a:solidFill>
                  <a:latin typeface="Times New Roman" panose="02020603050405020304" pitchFamily="18" charset="0"/>
                  <a:ea typeface="仿宋_GB2312" pitchFamily="49" charset="-122"/>
                </a:rPr>
                <a:t>迁移图</a:t>
              </a:r>
              <a:endParaRPr lang="zh-CN" altLang="en-US" sz="1400" b="1" dirty="0">
                <a:solidFill>
                  <a:srgbClr val="CC0000"/>
                </a:solidFill>
                <a:latin typeface="Times New Roman" panose="02020603050405020304" pitchFamily="18" charset="0"/>
                <a:ea typeface="仿宋_GB2312" pitchFamily="49" charset="-122"/>
              </a:endParaRPr>
            </a:p>
          </p:txBody>
        </p:sp>
        <p:sp>
          <p:nvSpPr>
            <p:cNvPr id="48138" name="Text Box 10"/>
            <p:cNvSpPr txBox="1">
              <a:spLocks noChangeArrowheads="1"/>
            </p:cNvSpPr>
            <p:nvPr/>
          </p:nvSpPr>
          <p:spPr bwMode="auto">
            <a:xfrm>
              <a:off x="8083" y="5179"/>
              <a:ext cx="1735" cy="1338"/>
            </a:xfrm>
            <a:prstGeom prst="rect">
              <a:avLst/>
            </a:prstGeom>
            <a:noFill/>
            <a:ln w="9525">
              <a:solidFill>
                <a:srgbClr val="FFFFFF"/>
              </a:solidFill>
              <a:miter lim="800000"/>
            </a:ln>
            <a:extLst>
              <a:ext uri="{909E8E84-426E-40DD-AFC4-6F175D3DCCD1}">
                <a14:hiddenFill xmlns:a14="http://schemas.microsoft.com/office/drawing/2010/main">
                  <a:solidFill>
                    <a:srgbClr val="FFFFFF"/>
                  </a:solidFill>
                </a14:hiddenFill>
              </a:ext>
            </a:extLst>
          </p:spPr>
          <p:txBody>
            <a:bodyPr/>
            <a:lstStyle/>
            <a:p>
              <a:pPr marR="0" algn="ctr" defTabSz="914400">
                <a:buClrTx/>
                <a:buSzTx/>
                <a:buFontTx/>
                <a:buNone/>
                <a:defRPr/>
              </a:pPr>
              <a:r>
                <a:rPr kumimoji="1" lang="zh-CN" altLang="en-US" sz="1400" b="1" kern="1200" cap="none" spc="0" normalizeH="0" baseline="0" noProof="0">
                  <a:solidFill>
                    <a:srgbClr val="CC0000"/>
                  </a:solidFill>
                  <a:effectLst>
                    <a:outerShdw blurRad="38100" dist="38100" dir="2700000" algn="tl">
                      <a:srgbClr val="C0C0C0"/>
                    </a:outerShdw>
                  </a:effectLst>
                  <a:latin typeface="Times New Roman" panose="02020603050405020304" pitchFamily="18" charset="0"/>
                  <a:ea typeface="仿宋_GB2312" pitchFamily="49" charset="-122"/>
                  <a:cs typeface="+mn-cs"/>
                </a:rPr>
                <a:t>数据流图</a:t>
              </a:r>
              <a:endParaRPr kumimoji="1" lang="zh-CN" altLang="en-US" sz="1400" b="1" kern="1200" cap="none" spc="0" normalizeH="0" baseline="0" noProof="0">
                <a:solidFill>
                  <a:srgbClr val="CC0000"/>
                </a:solidFill>
                <a:effectLst>
                  <a:outerShdw blurRad="38100" dist="38100" dir="2700000" algn="tl">
                    <a:srgbClr val="C0C0C0"/>
                  </a:outerShdw>
                </a:effectLst>
                <a:latin typeface="Times New Roman" panose="02020603050405020304" pitchFamily="18" charset="0"/>
                <a:ea typeface="仿宋_GB2312" pitchFamily="49" charset="-122"/>
                <a:cs typeface="+mn-cs"/>
              </a:endParaRPr>
            </a:p>
          </p:txBody>
        </p:sp>
        <p:sp>
          <p:nvSpPr>
            <p:cNvPr id="40974" name="Text Box 11"/>
            <p:cNvSpPr txBox="1"/>
            <p:nvPr/>
          </p:nvSpPr>
          <p:spPr>
            <a:xfrm>
              <a:off x="958" y="3697"/>
              <a:ext cx="3345" cy="950"/>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115000"/>
                </a:lnSpc>
                <a:spcBef>
                  <a:spcPct val="0"/>
                </a:spcBef>
                <a:buClrTx/>
                <a:buSzTx/>
                <a:buFontTx/>
                <a:buNone/>
              </a:pPr>
              <a:r>
                <a:rPr lang="zh-CN" altLang="en-US" sz="1400" b="1" dirty="0">
                  <a:solidFill>
                    <a:srgbClr val="000099"/>
                  </a:solidFill>
                  <a:latin typeface="Times New Roman" panose="02020603050405020304" pitchFamily="18" charset="0"/>
                  <a:ea typeface="仿宋_GB2312" pitchFamily="49" charset="-122"/>
                </a:rPr>
                <a:t>数据对象描述</a:t>
              </a:r>
              <a:endParaRPr lang="zh-CN" altLang="en-US" sz="1400" b="1" dirty="0">
                <a:solidFill>
                  <a:srgbClr val="000099"/>
                </a:solidFill>
                <a:latin typeface="Times New Roman" panose="02020603050405020304" pitchFamily="18" charset="0"/>
                <a:ea typeface="仿宋_GB2312" pitchFamily="49" charset="-122"/>
              </a:endParaRPr>
            </a:p>
          </p:txBody>
        </p:sp>
        <p:sp>
          <p:nvSpPr>
            <p:cNvPr id="40975" name="Text Box 12"/>
            <p:cNvSpPr txBox="1"/>
            <p:nvPr/>
          </p:nvSpPr>
          <p:spPr>
            <a:xfrm>
              <a:off x="9763" y="3817"/>
              <a:ext cx="3285" cy="947"/>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115000"/>
                </a:lnSpc>
                <a:spcBef>
                  <a:spcPct val="0"/>
                </a:spcBef>
                <a:buClrTx/>
                <a:buSzTx/>
                <a:buFontTx/>
                <a:buNone/>
              </a:pPr>
              <a:r>
                <a:rPr lang="zh-CN" altLang="en-US" sz="1400" b="1" dirty="0">
                  <a:solidFill>
                    <a:srgbClr val="000099"/>
                  </a:solidFill>
                  <a:latin typeface="Times New Roman" panose="02020603050405020304" pitchFamily="18" charset="0"/>
                  <a:ea typeface="仿宋_GB2312" pitchFamily="49" charset="-122"/>
                </a:rPr>
                <a:t>加工规格说明</a:t>
              </a:r>
              <a:endParaRPr lang="zh-CN" altLang="en-US" sz="1400" b="1" dirty="0">
                <a:solidFill>
                  <a:srgbClr val="000099"/>
                </a:solidFill>
                <a:latin typeface="Times New Roman" panose="02020603050405020304" pitchFamily="18" charset="0"/>
                <a:ea typeface="仿宋_GB2312" pitchFamily="49" charset="-122"/>
              </a:endParaRPr>
            </a:p>
          </p:txBody>
        </p:sp>
        <p:sp>
          <p:nvSpPr>
            <p:cNvPr id="40976" name="Oval 13"/>
            <p:cNvSpPr/>
            <p:nvPr/>
          </p:nvSpPr>
          <p:spPr>
            <a:xfrm>
              <a:off x="6060" y="5344"/>
              <a:ext cx="1980" cy="192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eaLnBrk="1" hangingPunct="1">
                <a:spcBef>
                  <a:spcPct val="0"/>
                </a:spcBef>
                <a:buClrTx/>
                <a:buSzTx/>
                <a:buFontTx/>
                <a:buNone/>
              </a:pPr>
              <a:endParaRPr lang="zh-CN" altLang="en-US" sz="1000" dirty="0"/>
            </a:p>
          </p:txBody>
        </p:sp>
        <p:sp>
          <p:nvSpPr>
            <p:cNvPr id="40977" name="Text Box 14"/>
            <p:cNvSpPr txBox="1"/>
            <p:nvPr/>
          </p:nvSpPr>
          <p:spPr>
            <a:xfrm>
              <a:off x="6267" y="5678"/>
              <a:ext cx="1577" cy="1194"/>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eaLnBrk="1" hangingPunct="1">
                <a:spcBef>
                  <a:spcPct val="0"/>
                </a:spcBef>
                <a:buClrTx/>
                <a:buSzTx/>
                <a:buFontTx/>
                <a:buNone/>
              </a:pPr>
              <a:r>
                <a:rPr lang="zh-CN" altLang="en-US" sz="1400" b="1" dirty="0">
                  <a:solidFill>
                    <a:srgbClr val="000099"/>
                  </a:solidFill>
                  <a:latin typeface="Times New Roman" panose="02020603050405020304" pitchFamily="18" charset="0"/>
                  <a:ea typeface="仿宋_GB2312" pitchFamily="49" charset="-122"/>
                </a:rPr>
                <a:t>数据</a:t>
              </a:r>
              <a:endParaRPr lang="zh-CN" altLang="en-US" sz="1400" b="1" dirty="0">
                <a:solidFill>
                  <a:srgbClr val="000099"/>
                </a:solidFill>
                <a:latin typeface="Times New Roman" panose="02020603050405020304" pitchFamily="18" charset="0"/>
                <a:ea typeface="仿宋_GB2312" pitchFamily="49" charset="-122"/>
              </a:endParaRPr>
            </a:p>
            <a:p>
              <a:pPr marL="0" lvl="0" indent="0" algn="ctr" eaLnBrk="1" hangingPunct="1">
                <a:spcBef>
                  <a:spcPct val="0"/>
                </a:spcBef>
                <a:buClrTx/>
                <a:buSzTx/>
                <a:buFontTx/>
                <a:buNone/>
              </a:pPr>
              <a:r>
                <a:rPr lang="zh-CN" altLang="en-US" sz="1400" b="1" dirty="0">
                  <a:solidFill>
                    <a:srgbClr val="000099"/>
                  </a:solidFill>
                  <a:latin typeface="Times New Roman" panose="02020603050405020304" pitchFamily="18" charset="0"/>
                  <a:ea typeface="仿宋_GB2312" pitchFamily="49" charset="-122"/>
                </a:rPr>
                <a:t>字典</a:t>
              </a:r>
              <a:endParaRPr lang="zh-CN" altLang="en-US" sz="1400" b="1" dirty="0">
                <a:solidFill>
                  <a:srgbClr val="000099"/>
                </a:solidFill>
                <a:latin typeface="Times New Roman" panose="02020603050405020304" pitchFamily="18" charset="0"/>
                <a:ea typeface="仿宋_GB2312" pitchFamily="49" charset="-122"/>
              </a:endParaRPr>
            </a:p>
          </p:txBody>
        </p:sp>
        <p:sp>
          <p:nvSpPr>
            <p:cNvPr id="40978" name="Text Box 15"/>
            <p:cNvSpPr txBox="1"/>
            <p:nvPr/>
          </p:nvSpPr>
          <p:spPr>
            <a:xfrm>
              <a:off x="5293" y="9377"/>
              <a:ext cx="3510" cy="977"/>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115000"/>
                </a:lnSpc>
                <a:spcBef>
                  <a:spcPct val="0"/>
                </a:spcBef>
                <a:buClrTx/>
                <a:buSzTx/>
                <a:buFontTx/>
                <a:buNone/>
              </a:pPr>
              <a:r>
                <a:rPr lang="zh-CN" altLang="en-US" sz="1400" b="1" dirty="0">
                  <a:solidFill>
                    <a:srgbClr val="000099"/>
                  </a:solidFill>
                  <a:latin typeface="Times New Roman" panose="02020603050405020304" pitchFamily="18" charset="0"/>
                  <a:ea typeface="仿宋_GB2312" pitchFamily="49" charset="-122"/>
                </a:rPr>
                <a:t>控制规格说明</a:t>
              </a:r>
              <a:endParaRPr lang="zh-CN" altLang="en-US" sz="1400" b="1" dirty="0">
                <a:solidFill>
                  <a:srgbClr val="000099"/>
                </a:solidFill>
                <a:latin typeface="Times New Roman" panose="02020603050405020304" pitchFamily="18" charset="0"/>
                <a:ea typeface="仿宋_GB2312" pitchFamily="49" charset="-122"/>
              </a:endParaRPr>
            </a:p>
          </p:txBody>
        </p:sp>
      </p:grpSp>
      <p:sp>
        <p:nvSpPr>
          <p:cNvPr id="4" name="文本框 3"/>
          <p:cNvSpPr txBox="1"/>
          <p:nvPr/>
        </p:nvSpPr>
        <p:spPr>
          <a:xfrm>
            <a:off x="5130165" y="3253740"/>
            <a:ext cx="2956560" cy="2308860"/>
          </a:xfrm>
          <a:prstGeom prst="rect">
            <a:avLst/>
          </a:prstGeom>
          <a:noFill/>
        </p:spPr>
        <p:txBody>
          <a:bodyPr wrap="square" rtlCol="0">
            <a:noAutofit/>
          </a:bodyPr>
          <a:lstStyle/>
          <a:p>
            <a:r>
              <a:rPr lang="zh-CN" altLang="en-US" sz="2400" b="1"/>
              <a:t>实体-关系图（E-R）：</a:t>
            </a:r>
            <a:r>
              <a:rPr lang="zh-CN" altLang="en-US" sz="2400"/>
              <a:t>描述数据对象及数据对象的关系，用于数据建模</a:t>
            </a:r>
            <a:endParaRPr lang="zh-CN" altLang="en-US" sz="2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0965" name="Rectangle 2"/>
          <p:cNvSpPr/>
          <p:nvPr/>
        </p:nvSpPr>
        <p:spPr>
          <a:xfrm>
            <a:off x="1023938" y="1235393"/>
            <a:ext cx="6648450" cy="779462"/>
          </a:xfrm>
          <a:prstGeom prst="rect">
            <a:avLst/>
          </a:prstGeom>
          <a:noFill/>
          <a:ln w="9525">
            <a:noFill/>
          </a:ln>
        </p:spPr>
        <p:txBody>
          <a:bodyPr lIns="92075" tIns="46038" rIns="92075" bIns="46038"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eaLnBrk="1" hangingPunct="1">
              <a:spcBef>
                <a:spcPct val="0"/>
              </a:spcBef>
              <a:buClrTx/>
              <a:buSzTx/>
              <a:buFontTx/>
              <a:buNone/>
            </a:pPr>
            <a:r>
              <a:rPr lang="zh-CN" altLang="en-US" sz="2800" b="1" u="sng" dirty="0">
                <a:solidFill>
                  <a:srgbClr val="CC0000"/>
                </a:solidFill>
                <a:latin typeface="华文楷体" panose="02010600040101010101" charset="-122"/>
                <a:ea typeface="华文楷体" panose="02010600040101010101" charset="-122"/>
              </a:rPr>
              <a:t>结构化分析的分析模型</a:t>
            </a:r>
            <a:endParaRPr lang="zh-CN" altLang="en-US" sz="2800" b="1" u="sng" dirty="0">
              <a:solidFill>
                <a:srgbClr val="CC0000"/>
              </a:solidFill>
              <a:latin typeface="华文楷体" panose="02010600040101010101" charset="-122"/>
              <a:ea typeface="华文楷体" panose="02010600040101010101" charset="-122"/>
            </a:endParaRPr>
          </a:p>
        </p:txBody>
      </p:sp>
      <p:grpSp>
        <p:nvGrpSpPr>
          <p:cNvPr id="3" name="组合 2"/>
          <p:cNvGrpSpPr/>
          <p:nvPr/>
        </p:nvGrpSpPr>
        <p:grpSpPr>
          <a:xfrm>
            <a:off x="536575" y="2284095"/>
            <a:ext cx="4747895" cy="3201670"/>
            <a:chOff x="958" y="3032"/>
            <a:chExt cx="12090" cy="7322"/>
          </a:xfrm>
        </p:grpSpPr>
        <p:sp>
          <p:nvSpPr>
            <p:cNvPr id="40966" name="Oval 3"/>
            <p:cNvSpPr/>
            <p:nvPr/>
          </p:nvSpPr>
          <p:spPr>
            <a:xfrm>
              <a:off x="2609" y="3032"/>
              <a:ext cx="8944" cy="6692"/>
            </a:xfrm>
            <a:prstGeom prst="ellipse">
              <a:avLst/>
            </a:prstGeom>
            <a:solidFill>
              <a:srgbClr val="CCFF66"/>
            </a:solidFill>
            <a:ln w="28575" cap="flat" cmpd="sng">
              <a:solidFill>
                <a:schemeClr val="tx1"/>
              </a:solidFill>
              <a:prstDash val="solid"/>
              <a:headEnd type="none" w="med" len="med"/>
              <a:tailEnd type="none" w="med" len="med"/>
            </a:ln>
            <a:effectLst>
              <a:outerShdw dist="107763" dir="2699999" algn="ctr" rotWithShape="0">
                <a:srgbClr val="808080"/>
              </a:outerShdw>
            </a:effec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spcBef>
                  <a:spcPct val="0"/>
                </a:spcBef>
                <a:buClrTx/>
                <a:buSzTx/>
                <a:buFontTx/>
                <a:buNone/>
              </a:pPr>
              <a:endParaRPr lang="zh-CN" altLang="zh-CN" sz="600" dirty="0">
                <a:latin typeface="Times New Roman" panose="02020603050405020304" pitchFamily="18" charset="0"/>
              </a:endParaRPr>
            </a:p>
          </p:txBody>
        </p:sp>
        <p:sp>
          <p:nvSpPr>
            <p:cNvPr id="40967" name="Oval 4"/>
            <p:cNvSpPr/>
            <p:nvPr/>
          </p:nvSpPr>
          <p:spPr>
            <a:xfrm>
              <a:off x="3673" y="3977"/>
              <a:ext cx="6720" cy="4877"/>
            </a:xfrm>
            <a:prstGeom prst="ellipse">
              <a:avLst/>
            </a:prstGeom>
            <a:solidFill>
              <a:srgbClr val="CCECFF"/>
            </a:solidFill>
            <a:ln w="19050"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spcBef>
                  <a:spcPct val="0"/>
                </a:spcBef>
                <a:buClrTx/>
                <a:buSzTx/>
                <a:buFontTx/>
                <a:buNone/>
              </a:pPr>
              <a:endParaRPr lang="zh-CN" altLang="zh-CN" sz="600" dirty="0">
                <a:latin typeface="Times New Roman" panose="02020603050405020304" pitchFamily="18" charset="0"/>
              </a:endParaRPr>
            </a:p>
          </p:txBody>
        </p:sp>
        <p:sp>
          <p:nvSpPr>
            <p:cNvPr id="40968" name="Line 5"/>
            <p:cNvSpPr/>
            <p:nvPr/>
          </p:nvSpPr>
          <p:spPr>
            <a:xfrm>
              <a:off x="7095" y="3032"/>
              <a:ext cx="1" cy="2300"/>
            </a:xfrm>
            <a:prstGeom prst="line">
              <a:avLst/>
            </a:prstGeom>
            <a:ln w="38100" cap="flat" cmpd="sng">
              <a:solidFill>
                <a:schemeClr val="tx1"/>
              </a:solidFill>
              <a:prstDash val="solid"/>
              <a:headEnd type="none" w="med" len="med"/>
              <a:tailEnd type="none" w="med" len="med"/>
            </a:ln>
          </p:spPr>
        </p:sp>
        <p:sp>
          <p:nvSpPr>
            <p:cNvPr id="40969" name="Line 6"/>
            <p:cNvSpPr/>
            <p:nvPr/>
          </p:nvSpPr>
          <p:spPr>
            <a:xfrm flipV="1">
              <a:off x="3648" y="6889"/>
              <a:ext cx="2675" cy="1659"/>
            </a:xfrm>
            <a:prstGeom prst="line">
              <a:avLst/>
            </a:prstGeom>
            <a:ln w="38100" cap="flat" cmpd="sng">
              <a:solidFill>
                <a:schemeClr val="tx1"/>
              </a:solidFill>
              <a:prstDash val="solid"/>
              <a:headEnd type="none" w="med" len="med"/>
              <a:tailEnd type="none" w="med" len="med"/>
            </a:ln>
          </p:spPr>
        </p:sp>
        <p:sp>
          <p:nvSpPr>
            <p:cNvPr id="40970" name="Line 7"/>
            <p:cNvSpPr/>
            <p:nvPr/>
          </p:nvSpPr>
          <p:spPr>
            <a:xfrm>
              <a:off x="7793" y="6889"/>
              <a:ext cx="2857" cy="1604"/>
            </a:xfrm>
            <a:prstGeom prst="line">
              <a:avLst/>
            </a:prstGeom>
            <a:ln w="38100" cap="flat" cmpd="sng">
              <a:solidFill>
                <a:schemeClr val="tx1"/>
              </a:solidFill>
              <a:prstDash val="solid"/>
              <a:headEnd type="none" w="med" len="med"/>
              <a:tailEnd type="none" w="med" len="med"/>
            </a:ln>
          </p:spPr>
        </p:sp>
        <p:sp>
          <p:nvSpPr>
            <p:cNvPr id="40971" name="Text Box 8"/>
            <p:cNvSpPr txBox="1"/>
            <p:nvPr/>
          </p:nvSpPr>
          <p:spPr>
            <a:xfrm>
              <a:off x="3530" y="5515"/>
              <a:ext cx="2513" cy="1320"/>
            </a:xfrm>
            <a:prstGeom prst="rect">
              <a:avLst/>
            </a:prstGeom>
            <a:noFill/>
            <a:ln w="9525" cap="flat" cmpd="sng">
              <a:solidFill>
                <a:srgbClr val="FFFFFF"/>
              </a:solidFill>
              <a:prstDash val="solid"/>
              <a:miter/>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spcBef>
                  <a:spcPct val="0"/>
                </a:spcBef>
                <a:buClrTx/>
                <a:buSzTx/>
                <a:buFontTx/>
                <a:buNone/>
              </a:pPr>
              <a:r>
                <a:rPr lang="zh-CN" altLang="en-US" sz="1400" b="1" dirty="0">
                  <a:solidFill>
                    <a:srgbClr val="CC0000"/>
                  </a:solidFill>
                  <a:latin typeface="Times New Roman" panose="02020603050405020304" pitchFamily="18" charset="0"/>
                  <a:ea typeface="仿宋_GB2312" pitchFamily="49" charset="-122"/>
                </a:rPr>
                <a:t>实体</a:t>
              </a:r>
              <a:r>
                <a:rPr lang="en-US" altLang="zh-CN" sz="1400" b="1" dirty="0">
                  <a:solidFill>
                    <a:srgbClr val="CC0000"/>
                  </a:solidFill>
                  <a:latin typeface="Times New Roman" panose="02020603050405020304" pitchFamily="18" charset="0"/>
                  <a:ea typeface="仿宋_GB2312" pitchFamily="49" charset="-122"/>
                </a:rPr>
                <a:t>—</a:t>
              </a:r>
              <a:endParaRPr lang="en-US" altLang="zh-CN" sz="1400" b="1" dirty="0">
                <a:solidFill>
                  <a:srgbClr val="CC0000"/>
                </a:solidFill>
                <a:latin typeface="Times New Roman" panose="02020603050405020304" pitchFamily="18" charset="0"/>
                <a:ea typeface="仿宋_GB2312" pitchFamily="49" charset="-122"/>
              </a:endParaRPr>
            </a:p>
            <a:p>
              <a:pPr marL="0" lvl="0" indent="0" algn="ctr">
                <a:spcBef>
                  <a:spcPct val="0"/>
                </a:spcBef>
                <a:buClrTx/>
                <a:buSzTx/>
                <a:buFontTx/>
                <a:buNone/>
              </a:pPr>
              <a:r>
                <a:rPr lang="zh-CN" altLang="en-US" sz="1400" b="1" dirty="0">
                  <a:solidFill>
                    <a:srgbClr val="CC0000"/>
                  </a:solidFill>
                  <a:latin typeface="Times New Roman" panose="02020603050405020304" pitchFamily="18" charset="0"/>
                  <a:ea typeface="仿宋_GB2312" pitchFamily="49" charset="-122"/>
                </a:rPr>
                <a:t>关系图</a:t>
              </a:r>
              <a:endParaRPr lang="zh-CN" altLang="en-US" sz="1400" b="1" dirty="0">
                <a:solidFill>
                  <a:srgbClr val="CC0000"/>
                </a:solidFill>
                <a:latin typeface="Times New Roman" panose="02020603050405020304" pitchFamily="18" charset="0"/>
                <a:ea typeface="仿宋_GB2312" pitchFamily="49" charset="-122"/>
              </a:endParaRPr>
            </a:p>
          </p:txBody>
        </p:sp>
        <p:sp>
          <p:nvSpPr>
            <p:cNvPr id="40972" name="Text Box 9"/>
            <p:cNvSpPr txBox="1"/>
            <p:nvPr/>
          </p:nvSpPr>
          <p:spPr>
            <a:xfrm>
              <a:off x="5518" y="7574"/>
              <a:ext cx="3295" cy="768"/>
            </a:xfrm>
            <a:prstGeom prst="rect">
              <a:avLst/>
            </a:prstGeom>
            <a:noFill/>
            <a:ln w="9525" cap="flat" cmpd="sng">
              <a:solidFill>
                <a:srgbClr val="FFFFFF"/>
              </a:solidFill>
              <a:prstDash val="solid"/>
              <a:miter/>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spcBef>
                  <a:spcPct val="0"/>
                </a:spcBef>
                <a:buClrTx/>
                <a:buSzTx/>
                <a:buFontTx/>
                <a:buNone/>
              </a:pPr>
              <a:r>
                <a:rPr lang="zh-CN" altLang="en-US" sz="1400" b="1" dirty="0">
                  <a:solidFill>
                    <a:srgbClr val="CC0000"/>
                  </a:solidFill>
                  <a:latin typeface="Times New Roman" panose="02020603050405020304" pitchFamily="18" charset="0"/>
                  <a:ea typeface="仿宋_GB2312" pitchFamily="49" charset="-122"/>
                </a:rPr>
                <a:t>状态</a:t>
              </a:r>
              <a:r>
                <a:rPr lang="en-US" altLang="zh-CN" sz="1400" b="1" dirty="0">
                  <a:solidFill>
                    <a:srgbClr val="CC0000"/>
                  </a:solidFill>
                  <a:latin typeface="Times New Roman" panose="02020603050405020304" pitchFamily="18" charset="0"/>
                  <a:ea typeface="仿宋_GB2312" pitchFamily="49" charset="-122"/>
                </a:rPr>
                <a:t>—</a:t>
              </a:r>
              <a:r>
                <a:rPr lang="zh-CN" altLang="en-US" sz="1400" b="1" dirty="0">
                  <a:solidFill>
                    <a:srgbClr val="CC0000"/>
                  </a:solidFill>
                  <a:latin typeface="Times New Roman" panose="02020603050405020304" pitchFamily="18" charset="0"/>
                  <a:ea typeface="仿宋_GB2312" pitchFamily="49" charset="-122"/>
                </a:rPr>
                <a:t>迁移图</a:t>
              </a:r>
              <a:endParaRPr lang="zh-CN" altLang="en-US" sz="1400" b="1" dirty="0">
                <a:solidFill>
                  <a:srgbClr val="CC0000"/>
                </a:solidFill>
                <a:latin typeface="Times New Roman" panose="02020603050405020304" pitchFamily="18" charset="0"/>
                <a:ea typeface="仿宋_GB2312" pitchFamily="49" charset="-122"/>
              </a:endParaRPr>
            </a:p>
          </p:txBody>
        </p:sp>
        <p:sp>
          <p:nvSpPr>
            <p:cNvPr id="48138" name="Text Box 10"/>
            <p:cNvSpPr txBox="1">
              <a:spLocks noChangeArrowheads="1"/>
            </p:cNvSpPr>
            <p:nvPr/>
          </p:nvSpPr>
          <p:spPr bwMode="auto">
            <a:xfrm>
              <a:off x="8083" y="5179"/>
              <a:ext cx="1735" cy="1338"/>
            </a:xfrm>
            <a:prstGeom prst="rect">
              <a:avLst/>
            </a:prstGeom>
            <a:noFill/>
            <a:ln w="9525">
              <a:solidFill>
                <a:srgbClr val="FFFFFF"/>
              </a:solidFill>
              <a:miter lim="800000"/>
            </a:ln>
            <a:extLst>
              <a:ext uri="{909E8E84-426E-40DD-AFC4-6F175D3DCCD1}">
                <a14:hiddenFill xmlns:a14="http://schemas.microsoft.com/office/drawing/2010/main">
                  <a:solidFill>
                    <a:srgbClr val="FFFFFF"/>
                  </a:solidFill>
                </a14:hiddenFill>
              </a:ext>
            </a:extLst>
          </p:spPr>
          <p:txBody>
            <a:bodyPr/>
            <a:lstStyle/>
            <a:p>
              <a:pPr marR="0" algn="ctr" defTabSz="914400">
                <a:buClrTx/>
                <a:buSzTx/>
                <a:buFontTx/>
                <a:buNone/>
                <a:defRPr/>
              </a:pPr>
              <a:r>
                <a:rPr kumimoji="1" lang="zh-CN" altLang="en-US" sz="1400" b="1" kern="1200" cap="none" spc="0" normalizeH="0" baseline="0" noProof="0">
                  <a:solidFill>
                    <a:srgbClr val="CC0000"/>
                  </a:solidFill>
                  <a:effectLst>
                    <a:outerShdw blurRad="38100" dist="38100" dir="2700000" algn="tl">
                      <a:srgbClr val="C0C0C0"/>
                    </a:outerShdw>
                  </a:effectLst>
                  <a:latin typeface="Times New Roman" panose="02020603050405020304" pitchFamily="18" charset="0"/>
                  <a:ea typeface="仿宋_GB2312" pitchFamily="49" charset="-122"/>
                  <a:cs typeface="+mn-cs"/>
                </a:rPr>
                <a:t>数据流图</a:t>
              </a:r>
              <a:endParaRPr kumimoji="1" lang="zh-CN" altLang="en-US" sz="1400" b="1" kern="1200" cap="none" spc="0" normalizeH="0" baseline="0" noProof="0">
                <a:solidFill>
                  <a:srgbClr val="CC0000"/>
                </a:solidFill>
                <a:effectLst>
                  <a:outerShdw blurRad="38100" dist="38100" dir="2700000" algn="tl">
                    <a:srgbClr val="C0C0C0"/>
                  </a:outerShdw>
                </a:effectLst>
                <a:latin typeface="Times New Roman" panose="02020603050405020304" pitchFamily="18" charset="0"/>
                <a:ea typeface="仿宋_GB2312" pitchFamily="49" charset="-122"/>
                <a:cs typeface="+mn-cs"/>
              </a:endParaRPr>
            </a:p>
          </p:txBody>
        </p:sp>
        <p:sp>
          <p:nvSpPr>
            <p:cNvPr id="40974" name="Text Box 11"/>
            <p:cNvSpPr txBox="1"/>
            <p:nvPr/>
          </p:nvSpPr>
          <p:spPr>
            <a:xfrm>
              <a:off x="958" y="3697"/>
              <a:ext cx="3345" cy="950"/>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115000"/>
                </a:lnSpc>
                <a:spcBef>
                  <a:spcPct val="0"/>
                </a:spcBef>
                <a:buClrTx/>
                <a:buSzTx/>
                <a:buFontTx/>
                <a:buNone/>
              </a:pPr>
              <a:r>
                <a:rPr lang="zh-CN" altLang="en-US" sz="1400" b="1" dirty="0">
                  <a:solidFill>
                    <a:srgbClr val="000099"/>
                  </a:solidFill>
                  <a:latin typeface="Times New Roman" panose="02020603050405020304" pitchFamily="18" charset="0"/>
                  <a:ea typeface="仿宋_GB2312" pitchFamily="49" charset="-122"/>
                </a:rPr>
                <a:t>数据对象描述</a:t>
              </a:r>
              <a:endParaRPr lang="zh-CN" altLang="en-US" sz="1400" b="1" dirty="0">
                <a:solidFill>
                  <a:srgbClr val="000099"/>
                </a:solidFill>
                <a:latin typeface="Times New Roman" panose="02020603050405020304" pitchFamily="18" charset="0"/>
                <a:ea typeface="仿宋_GB2312" pitchFamily="49" charset="-122"/>
              </a:endParaRPr>
            </a:p>
          </p:txBody>
        </p:sp>
        <p:sp>
          <p:nvSpPr>
            <p:cNvPr id="40975" name="Text Box 12"/>
            <p:cNvSpPr txBox="1"/>
            <p:nvPr/>
          </p:nvSpPr>
          <p:spPr>
            <a:xfrm>
              <a:off x="9763" y="3817"/>
              <a:ext cx="3285" cy="947"/>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115000"/>
                </a:lnSpc>
                <a:spcBef>
                  <a:spcPct val="0"/>
                </a:spcBef>
                <a:buClrTx/>
                <a:buSzTx/>
                <a:buFontTx/>
                <a:buNone/>
              </a:pPr>
              <a:r>
                <a:rPr lang="zh-CN" altLang="en-US" sz="1400" b="1" dirty="0">
                  <a:solidFill>
                    <a:srgbClr val="000099"/>
                  </a:solidFill>
                  <a:latin typeface="Times New Roman" panose="02020603050405020304" pitchFamily="18" charset="0"/>
                  <a:ea typeface="仿宋_GB2312" pitchFamily="49" charset="-122"/>
                </a:rPr>
                <a:t>加工规格说明</a:t>
              </a:r>
              <a:endParaRPr lang="zh-CN" altLang="en-US" sz="1400" b="1" dirty="0">
                <a:solidFill>
                  <a:srgbClr val="000099"/>
                </a:solidFill>
                <a:latin typeface="Times New Roman" panose="02020603050405020304" pitchFamily="18" charset="0"/>
                <a:ea typeface="仿宋_GB2312" pitchFamily="49" charset="-122"/>
              </a:endParaRPr>
            </a:p>
          </p:txBody>
        </p:sp>
        <p:sp>
          <p:nvSpPr>
            <p:cNvPr id="40976" name="Oval 13"/>
            <p:cNvSpPr/>
            <p:nvPr/>
          </p:nvSpPr>
          <p:spPr>
            <a:xfrm>
              <a:off x="6060" y="5344"/>
              <a:ext cx="1980" cy="192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eaLnBrk="1" hangingPunct="1">
                <a:spcBef>
                  <a:spcPct val="0"/>
                </a:spcBef>
                <a:buClrTx/>
                <a:buSzTx/>
                <a:buFontTx/>
                <a:buNone/>
              </a:pPr>
              <a:endParaRPr lang="zh-CN" altLang="en-US" sz="1000" dirty="0"/>
            </a:p>
          </p:txBody>
        </p:sp>
        <p:sp>
          <p:nvSpPr>
            <p:cNvPr id="40977" name="Text Box 14"/>
            <p:cNvSpPr txBox="1"/>
            <p:nvPr/>
          </p:nvSpPr>
          <p:spPr>
            <a:xfrm>
              <a:off x="6267" y="5678"/>
              <a:ext cx="1577" cy="1194"/>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eaLnBrk="1" hangingPunct="1">
                <a:spcBef>
                  <a:spcPct val="0"/>
                </a:spcBef>
                <a:buClrTx/>
                <a:buSzTx/>
                <a:buFontTx/>
                <a:buNone/>
              </a:pPr>
              <a:r>
                <a:rPr lang="zh-CN" altLang="en-US" sz="1400" b="1" dirty="0">
                  <a:solidFill>
                    <a:srgbClr val="000099"/>
                  </a:solidFill>
                  <a:latin typeface="Times New Roman" panose="02020603050405020304" pitchFamily="18" charset="0"/>
                  <a:ea typeface="仿宋_GB2312" pitchFamily="49" charset="-122"/>
                </a:rPr>
                <a:t>数据</a:t>
              </a:r>
              <a:endParaRPr lang="zh-CN" altLang="en-US" sz="1400" b="1" dirty="0">
                <a:solidFill>
                  <a:srgbClr val="000099"/>
                </a:solidFill>
                <a:latin typeface="Times New Roman" panose="02020603050405020304" pitchFamily="18" charset="0"/>
                <a:ea typeface="仿宋_GB2312" pitchFamily="49" charset="-122"/>
              </a:endParaRPr>
            </a:p>
            <a:p>
              <a:pPr marL="0" lvl="0" indent="0" algn="ctr" eaLnBrk="1" hangingPunct="1">
                <a:spcBef>
                  <a:spcPct val="0"/>
                </a:spcBef>
                <a:buClrTx/>
                <a:buSzTx/>
                <a:buFontTx/>
                <a:buNone/>
              </a:pPr>
              <a:r>
                <a:rPr lang="zh-CN" altLang="en-US" sz="1400" b="1" dirty="0">
                  <a:solidFill>
                    <a:srgbClr val="000099"/>
                  </a:solidFill>
                  <a:latin typeface="Times New Roman" panose="02020603050405020304" pitchFamily="18" charset="0"/>
                  <a:ea typeface="仿宋_GB2312" pitchFamily="49" charset="-122"/>
                </a:rPr>
                <a:t>字典</a:t>
              </a:r>
              <a:endParaRPr lang="zh-CN" altLang="en-US" sz="1400" b="1" dirty="0">
                <a:solidFill>
                  <a:srgbClr val="000099"/>
                </a:solidFill>
                <a:latin typeface="Times New Roman" panose="02020603050405020304" pitchFamily="18" charset="0"/>
                <a:ea typeface="仿宋_GB2312" pitchFamily="49" charset="-122"/>
              </a:endParaRPr>
            </a:p>
          </p:txBody>
        </p:sp>
        <p:sp>
          <p:nvSpPr>
            <p:cNvPr id="40978" name="Text Box 15"/>
            <p:cNvSpPr txBox="1"/>
            <p:nvPr/>
          </p:nvSpPr>
          <p:spPr>
            <a:xfrm>
              <a:off x="5293" y="9377"/>
              <a:ext cx="3510" cy="977"/>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115000"/>
                </a:lnSpc>
                <a:spcBef>
                  <a:spcPct val="0"/>
                </a:spcBef>
                <a:buClrTx/>
                <a:buSzTx/>
                <a:buFontTx/>
                <a:buNone/>
              </a:pPr>
              <a:r>
                <a:rPr lang="zh-CN" altLang="en-US" sz="1400" b="1" dirty="0">
                  <a:solidFill>
                    <a:srgbClr val="000099"/>
                  </a:solidFill>
                  <a:latin typeface="Times New Roman" panose="02020603050405020304" pitchFamily="18" charset="0"/>
                  <a:ea typeface="仿宋_GB2312" pitchFamily="49" charset="-122"/>
                </a:rPr>
                <a:t>控制规格说明</a:t>
              </a:r>
              <a:endParaRPr lang="zh-CN" altLang="en-US" sz="1400" b="1" dirty="0">
                <a:solidFill>
                  <a:srgbClr val="000099"/>
                </a:solidFill>
                <a:latin typeface="Times New Roman" panose="02020603050405020304" pitchFamily="18" charset="0"/>
                <a:ea typeface="仿宋_GB2312" pitchFamily="49" charset="-122"/>
              </a:endParaRPr>
            </a:p>
          </p:txBody>
        </p:sp>
      </p:grpSp>
      <p:sp>
        <p:nvSpPr>
          <p:cNvPr id="4" name="文本框 3"/>
          <p:cNvSpPr txBox="1"/>
          <p:nvPr/>
        </p:nvSpPr>
        <p:spPr>
          <a:xfrm>
            <a:off x="5130165" y="3253740"/>
            <a:ext cx="3089275" cy="2308860"/>
          </a:xfrm>
          <a:prstGeom prst="rect">
            <a:avLst/>
          </a:prstGeom>
          <a:noFill/>
        </p:spPr>
        <p:txBody>
          <a:bodyPr wrap="square" rtlCol="0">
            <a:noAutofit/>
          </a:bodyPr>
          <a:lstStyle/>
          <a:p>
            <a:r>
              <a:rPr lang="zh-CN" altLang="en-US" sz="2400" b="1"/>
              <a:t>状态-迁移图（STD）：</a:t>
            </a:r>
            <a:r>
              <a:rPr lang="zh-CN" altLang="en-US" sz="2400"/>
              <a:t>描述系统对外部事件如何响应，如何动作，用于行为建模</a:t>
            </a:r>
            <a:endParaRPr lang="zh-CN" altLang="en-US" sz="2400"/>
          </a:p>
          <a:p>
            <a:endParaRPr lang="zh-CN" altLang="en-US" sz="2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7106" name="Rectangle 2"/>
          <p:cNvSpPr>
            <a:spLocks noGrp="1" noChangeArrowheads="1"/>
          </p:cNvSpPr>
          <p:nvPr>
            <p:ph idx="1"/>
          </p:nvPr>
        </p:nvSpPr>
        <p:spPr>
          <a:xfrm>
            <a:off x="762000" y="1582420"/>
            <a:ext cx="7584440" cy="4870450"/>
          </a:xfrm>
        </p:spPr>
        <p:txBody>
          <a:bodyPr vert="horz" wrap="square" lIns="91440" tIns="45720" rIns="91440" bIns="45720" numCol="1" anchor="t" anchorCtr="0" compatLnSpc="1">
            <a:normAutofit/>
          </a:bodyPr>
          <a:lstStyle/>
          <a:p>
            <a:pPr marL="0" marR="0" lvl="0" indent="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None/>
              <a:defRPr/>
            </a:pPr>
            <a:r>
              <a:rPr lang="zh-CN" altLang="en-US" sz="2800" u="sng" kern="0" noProof="0" dirty="0">
                <a:ln>
                  <a:noFill/>
                </a:ln>
                <a:solidFill>
                  <a:srgbClr val="0070C0"/>
                </a:solidFill>
                <a:effectLst>
                  <a:outerShdw blurRad="38100" dist="38100" dir="2700000" algn="tl">
                    <a:srgbClr val="C0C0C0"/>
                  </a:outerShdw>
                </a:effectLst>
                <a:uLnTx/>
                <a:uFillTx/>
                <a:latin typeface="+mn-ea"/>
                <a:cs typeface="+mn-ea"/>
                <a:sym typeface="+mn-ea"/>
              </a:rPr>
              <a:t>数据字典</a:t>
            </a:r>
            <a:endParaRPr lang="en-US" altLang="zh-CN" sz="2800" u="sng" kern="0" noProof="0" dirty="0">
              <a:ln>
                <a:noFill/>
              </a:ln>
              <a:solidFill>
                <a:srgbClr val="0070C0"/>
              </a:solidFill>
              <a:effectLst>
                <a:outerShdw blurRad="38100" dist="38100" dir="2700000" algn="tl">
                  <a:srgbClr val="C0C0C0"/>
                </a:outerShdw>
              </a:effectLst>
              <a:uLnTx/>
              <a:uFillTx/>
              <a:latin typeface="+mn-ea"/>
              <a:cs typeface="+mn-ea"/>
              <a:sym typeface="+mn-ea"/>
            </a:endParaRPr>
          </a:p>
          <a:p>
            <a:pPr eaLnBrk="1" hangingPunct="1">
              <a:lnSpc>
                <a:spcPct val="110000"/>
              </a:lnSpc>
              <a:spcBef>
                <a:spcPct val="20000"/>
              </a:spcBef>
              <a:buClr>
                <a:srgbClr val="800080"/>
              </a:buClr>
              <a:buSzPct val="55000"/>
              <a:buFont typeface="Wingdings" panose="05000000000000000000" pitchFamily="2" charset="2"/>
              <a:buChar char="n"/>
              <a:defRPr/>
            </a:pPr>
            <a:r>
              <a:rPr kumimoji="0" lang="zh-CN" altLang="en-US" i="0" u="sng" strike="noStrike" kern="0" cap="none" spc="0" normalizeH="0" baseline="0" noProof="0" dirty="0">
                <a:ln>
                  <a:noFill/>
                </a:ln>
                <a:effectLst>
                  <a:outerShdw blurRad="38100" dist="38100" dir="2700000" algn="tl">
                    <a:srgbClr val="C0C0C0"/>
                  </a:outerShdw>
                </a:effectLst>
                <a:uLnTx/>
                <a:uFillTx/>
                <a:latin typeface="宋体" panose="02010600030101010101" pitchFamily="2" charset="-122"/>
                <a:ea typeface="宋体" panose="02010600030101010101" pitchFamily="2" charset="-122"/>
                <a:cs typeface="+mn-ea"/>
              </a:rPr>
              <a:t>用于定义数据流和数据存储的结构</a:t>
            </a:r>
            <a:r>
              <a:rPr lang="zh-CN" altLang="en-US" kern="0" dirty="0">
                <a:effectLst>
                  <a:outerShdw blurRad="38100" dist="38100" dir="2700000" algn="tl">
                    <a:srgbClr val="C0C0C0"/>
                  </a:outerShdw>
                </a:effectLst>
                <a:latin typeface="宋体" panose="02010600030101010101" pitchFamily="2" charset="-122"/>
                <a:ea typeface="宋体" panose="02010600030101010101" pitchFamily="2" charset="-122"/>
                <a:cs typeface="+mn-ea"/>
              </a:rPr>
              <a:t>，并给出构成所给出的数据流和数据存储的各数据项的基本数据类型。</a:t>
            </a:r>
            <a:endParaRPr lang="en-US" altLang="zh-CN" kern="0" dirty="0">
              <a:effectLst>
                <a:outerShdw blurRad="38100" dist="38100" dir="2700000" algn="tl">
                  <a:srgbClr val="C0C0C0"/>
                </a:outerShdw>
              </a:effectLst>
              <a:latin typeface="宋体" panose="02010600030101010101" pitchFamily="2" charset="-122"/>
              <a:ea typeface="宋体" panose="02010600030101010101" pitchFamily="2" charset="-122"/>
              <a:cs typeface="+mn-ea"/>
            </a:endParaRPr>
          </a:p>
          <a:p>
            <a:pPr eaLnBrk="1" hangingPunct="1">
              <a:lnSpc>
                <a:spcPct val="110000"/>
              </a:lnSpc>
              <a:spcBef>
                <a:spcPct val="20000"/>
              </a:spcBef>
              <a:buClr>
                <a:srgbClr val="800080"/>
              </a:buClr>
              <a:buSzPct val="55000"/>
              <a:buFont typeface="Wingdings" panose="05000000000000000000" pitchFamily="2" charset="2"/>
              <a:buChar char="n"/>
              <a:defRPr/>
            </a:pPr>
            <a:r>
              <a:rPr kumimoji="0" lang="zh-CN" altLang="en-US" i="0" u="sng" strike="noStrike" kern="0" cap="none" spc="0" normalizeH="0" baseline="0" noProof="0" dirty="0">
                <a:ln>
                  <a:noFill/>
                </a:ln>
                <a:effectLst>
                  <a:outerShdw blurRad="38100" dist="38100" dir="2700000" algn="tl">
                    <a:srgbClr val="C0C0C0"/>
                  </a:outerShdw>
                </a:effectLst>
                <a:uLnTx/>
                <a:uFillTx/>
                <a:latin typeface="宋体" panose="02010600030101010101" pitchFamily="2" charset="-122"/>
                <a:ea typeface="宋体" panose="02010600030101010101" pitchFamily="2" charset="-122"/>
                <a:cs typeface="+mn-ea"/>
              </a:rPr>
              <a:t>引入：一些逻辑操作符，用于定义数据结构</a:t>
            </a:r>
            <a:endParaRPr kumimoji="0" lang="en-US" altLang="zh-CN" i="0" u="sng" strike="noStrike" kern="0" cap="none" spc="0" normalizeH="0" baseline="0" noProof="0" dirty="0">
              <a:ln>
                <a:noFill/>
              </a:ln>
              <a:effectLst>
                <a:outerShdw blurRad="38100" dist="38100" dir="2700000" algn="tl">
                  <a:srgbClr val="C0C0C0"/>
                </a:outerShdw>
              </a:effectLst>
              <a:uLnTx/>
              <a:uFillTx/>
              <a:latin typeface="宋体" panose="02010600030101010101" pitchFamily="2" charset="-122"/>
              <a:ea typeface="宋体" panose="02010600030101010101" pitchFamily="2" charset="-122"/>
              <a:cs typeface="+mn-ea"/>
            </a:endParaRPr>
          </a:p>
          <a:p>
            <a:pPr eaLnBrk="1" hangingPunct="1">
              <a:lnSpc>
                <a:spcPct val="110000"/>
              </a:lnSpc>
              <a:spcBef>
                <a:spcPct val="20000"/>
              </a:spcBef>
              <a:buClr>
                <a:srgbClr val="800080"/>
              </a:buClr>
              <a:buSzPct val="55000"/>
              <a:buFont typeface="Wingdings" panose="05000000000000000000" pitchFamily="2" charset="2"/>
              <a:buChar char="n"/>
              <a:defRPr/>
            </a:pPr>
            <a:endParaRPr kumimoji="0" lang="en-US" altLang="zh-CN" i="0" u="sng" strike="noStrike" kern="0" cap="none" spc="0" normalizeH="0" baseline="0" noProof="0" dirty="0">
              <a:ln>
                <a:noFill/>
              </a:ln>
              <a:effectLst>
                <a:outerShdw blurRad="38100" dist="38100" dir="2700000" algn="tl">
                  <a:srgbClr val="C0C0C0"/>
                </a:outerShdw>
              </a:effectLst>
              <a:uLnTx/>
              <a:uFillTx/>
              <a:latin typeface="宋体" panose="02010600030101010101" pitchFamily="2" charset="-122"/>
              <a:ea typeface="宋体" panose="02010600030101010101" pitchFamily="2" charset="-122"/>
              <a:cs typeface="+mn-ea"/>
            </a:endParaRPr>
          </a:p>
        </p:txBody>
      </p:sp>
      <p:pic>
        <p:nvPicPr>
          <p:cNvPr id="4" name="图片 3"/>
          <p:cNvPicPr>
            <a:picLocks noChangeAspect="1"/>
          </p:cNvPicPr>
          <p:nvPr/>
        </p:nvPicPr>
        <p:blipFill rotWithShape="1">
          <a:blip r:embed="rId1"/>
          <a:srcRect r="6004"/>
          <a:stretch>
            <a:fillRect/>
          </a:stretch>
        </p:blipFill>
        <p:spPr>
          <a:xfrm>
            <a:off x="2598435" y="3715544"/>
            <a:ext cx="3592293" cy="253920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7106" name="Rectangle 2"/>
          <p:cNvSpPr>
            <a:spLocks noGrp="1" noChangeArrowheads="1"/>
          </p:cNvSpPr>
          <p:nvPr>
            <p:ph idx="1"/>
          </p:nvPr>
        </p:nvSpPr>
        <p:spPr>
          <a:xfrm>
            <a:off x="762000" y="1582420"/>
            <a:ext cx="7584440" cy="4870450"/>
          </a:xfrm>
        </p:spPr>
        <p:txBody>
          <a:bodyPr vert="horz" wrap="square" lIns="91440" tIns="45720" rIns="91440" bIns="45720" numCol="1" anchor="t" anchorCtr="0" compatLnSpc="1">
            <a:normAutofit/>
          </a:bodyPr>
          <a:lstStyle/>
          <a:p>
            <a:pPr marL="0" marR="0" lvl="0" indent="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None/>
              <a:defRPr/>
            </a:pPr>
            <a:r>
              <a:rPr lang="zh-CN" altLang="en-US" sz="2800" u="sng" kern="0" noProof="0" dirty="0">
                <a:ln>
                  <a:noFill/>
                </a:ln>
                <a:solidFill>
                  <a:srgbClr val="0070C0"/>
                </a:solidFill>
                <a:effectLst>
                  <a:outerShdw blurRad="38100" dist="38100" dir="2700000" algn="tl">
                    <a:srgbClr val="C0C0C0"/>
                  </a:outerShdw>
                </a:effectLst>
                <a:uLnTx/>
                <a:uFillTx/>
                <a:latin typeface="+mn-ea"/>
                <a:cs typeface="+mn-ea"/>
                <a:sym typeface="+mn-ea"/>
              </a:rPr>
              <a:t>数据字典</a:t>
            </a:r>
            <a:endParaRPr lang="en-US" altLang="zh-CN" sz="2800" u="sng" kern="0" noProof="0" dirty="0">
              <a:ln>
                <a:noFill/>
              </a:ln>
              <a:solidFill>
                <a:srgbClr val="0070C0"/>
              </a:solidFill>
              <a:effectLst>
                <a:outerShdw blurRad="38100" dist="38100" dir="2700000" algn="tl">
                  <a:srgbClr val="C0C0C0"/>
                </a:outerShdw>
              </a:effectLst>
              <a:uLnTx/>
              <a:uFillTx/>
              <a:latin typeface="+mn-ea"/>
              <a:cs typeface="+mn-ea"/>
              <a:sym typeface="+mn-ea"/>
            </a:endParaRPr>
          </a:p>
          <a:p>
            <a:pPr eaLnBrk="1" hangingPunct="1">
              <a:lnSpc>
                <a:spcPct val="110000"/>
              </a:lnSpc>
              <a:spcBef>
                <a:spcPct val="20000"/>
              </a:spcBef>
              <a:buClr>
                <a:srgbClr val="800080"/>
              </a:buClr>
              <a:buSzPct val="55000"/>
              <a:buFont typeface="Wingdings" panose="05000000000000000000" pitchFamily="2" charset="2"/>
              <a:buChar char="n"/>
              <a:defRPr/>
            </a:pPr>
            <a:endParaRPr kumimoji="0" lang="en-US" altLang="zh-CN" i="0" u="sng" strike="noStrike" kern="0" cap="none" spc="0" normalizeH="0" baseline="0" noProof="0" dirty="0">
              <a:ln>
                <a:noFill/>
              </a:ln>
              <a:effectLst>
                <a:outerShdw blurRad="38100" dist="38100" dir="2700000" algn="tl">
                  <a:srgbClr val="C0C0C0"/>
                </a:outerShdw>
              </a:effectLst>
              <a:uLnTx/>
              <a:uFillTx/>
              <a:latin typeface="宋体" panose="02010600030101010101" pitchFamily="2" charset="-122"/>
              <a:ea typeface="宋体" panose="02010600030101010101" pitchFamily="2" charset="-122"/>
              <a:cs typeface="+mn-ea"/>
            </a:endParaRPr>
          </a:p>
        </p:txBody>
      </p:sp>
      <p:pic>
        <p:nvPicPr>
          <p:cNvPr id="5" name="图片 4"/>
          <p:cNvPicPr>
            <a:picLocks noChangeAspect="1"/>
          </p:cNvPicPr>
          <p:nvPr/>
        </p:nvPicPr>
        <p:blipFill>
          <a:blip r:embed="rId1"/>
          <a:stretch>
            <a:fillRect/>
          </a:stretch>
        </p:blipFill>
        <p:spPr>
          <a:xfrm>
            <a:off x="1331640" y="2293737"/>
            <a:ext cx="6068835" cy="4159133"/>
          </a:xfrm>
          <a:prstGeom prst="rect">
            <a:avLst/>
          </a:prstGeom>
        </p:spPr>
      </p:pic>
    </p:spTree>
  </p:cSld>
  <p:clrMapOvr>
    <a:masterClrMapping/>
  </p:clrMapOvr>
</p:sld>
</file>

<file path=ppt/tags/tag1.xml><?xml version="1.0" encoding="utf-8"?>
<p:tagLst xmlns:p="http://schemas.openxmlformats.org/presentationml/2006/main">
  <p:tag name="KSO_WPP_MARK_KEY" val="af99ae26-fc3e-4c81-a6fa-5090138d2e7f"/>
  <p:tag name="COMMONDATA" val="eyJoZGlkIjoiMWJmYmVhMGQ2YWQwOTc0ZDFkYmVkZTE0NzFkNThlYzI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凸显">
  <a:themeElements>
    <a:clrScheme name="凸显">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凸显">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凸显">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0</TotalTime>
  <Words>4269</Words>
  <Application>WPS 演示</Application>
  <PresentationFormat>全屏显示(4:3)</PresentationFormat>
  <Paragraphs>485</Paragraphs>
  <Slides>42</Slides>
  <Notes>119</Notes>
  <HiddenSlides>8</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1</vt:i4>
      </vt:variant>
      <vt:variant>
        <vt:lpstr>幻灯片标题</vt:lpstr>
      </vt:variant>
      <vt:variant>
        <vt:i4>42</vt:i4>
      </vt:variant>
    </vt:vector>
  </HeadingPairs>
  <TitlesOfParts>
    <vt:vector size="67" baseType="lpstr">
      <vt:lpstr>Arial</vt:lpstr>
      <vt:lpstr>宋体</vt:lpstr>
      <vt:lpstr>Wingdings</vt:lpstr>
      <vt:lpstr>楷体_GB2312</vt:lpstr>
      <vt:lpstr>新宋体</vt:lpstr>
      <vt:lpstr>Century Schoolbook</vt:lpstr>
      <vt:lpstr>Wingdings 2</vt:lpstr>
      <vt:lpstr>Wingdings</vt:lpstr>
      <vt:lpstr>Times New Roman</vt:lpstr>
      <vt:lpstr>仿宋_GB2312</vt:lpstr>
      <vt:lpstr>仿宋</vt:lpstr>
      <vt:lpstr>微软雅黑</vt:lpstr>
      <vt:lpstr>Arial Unicode MS</vt:lpstr>
      <vt:lpstr>华文楷体</vt:lpstr>
      <vt:lpstr>Wingdings</vt:lpstr>
      <vt:lpstr>Courier New</vt:lpstr>
      <vt:lpstr>Times New Roman Regular</vt:lpstr>
      <vt:lpstr>黑体</vt:lpstr>
      <vt:lpstr>Helvetica Neue</vt:lpstr>
      <vt:lpstr>-apple-system</vt:lpstr>
      <vt:lpstr>华文新魏</vt:lpstr>
      <vt:lpstr>Symbol</vt:lpstr>
      <vt:lpstr>ksdb</vt:lpstr>
      <vt:lpstr>凸显</vt:lpstr>
      <vt:lpstr>Word.Document.8</vt:lpstr>
      <vt:lpstr>软件系统分析与设计 Software System Analysis and Design</vt:lpstr>
      <vt:lpstr> 回顾</vt:lpstr>
      <vt:lpstr> 回顾</vt:lpstr>
      <vt:lpstr>2 结构化分析和设计方法</vt:lpstr>
      <vt:lpstr>2 结构化分析和设计方法</vt:lpstr>
      <vt:lpstr>2 结构化分析和设计方法</vt:lpstr>
      <vt:lpstr>2 结构化分析和设计方法</vt:lpstr>
      <vt:lpstr>2 结构化分析和设计方法</vt:lpstr>
      <vt:lpstr>2 结构化分析和设计方法</vt:lpstr>
      <vt:lpstr>2 结构化分析和设计方法</vt:lpstr>
      <vt:lpstr>2 结构化分析和设计方法</vt:lpstr>
      <vt:lpstr>2 结构化分析和设计方法</vt:lpstr>
      <vt:lpstr>2 结构化分析与设计方法</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vector>
  </TitlesOfParts>
  <Company>elite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 1.1  程序设计与程序设计语言</dc:title>
  <dc:creator>shasha</dc:creator>
  <cp:lastModifiedBy>65187</cp:lastModifiedBy>
  <cp:revision>976</cp:revision>
  <cp:lastPrinted>2023-09-15T15:26:00Z</cp:lastPrinted>
  <dcterms:created xsi:type="dcterms:W3CDTF">2023-09-15T15:26:00Z</dcterms:created>
  <dcterms:modified xsi:type="dcterms:W3CDTF">2025-03-05T11:16:58Z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E35F20B3AD384AE49649C83924AE4084_12</vt:lpwstr>
  </property>
  <property fmtid="{D5CDD505-2E9C-101B-9397-08002B2CF9AE}" pid="3" name="KSOProductBuildVer">
    <vt:lpwstr>2052-11.1.0.12165</vt:lpwstr>
  </property>
</Properties>
</file>