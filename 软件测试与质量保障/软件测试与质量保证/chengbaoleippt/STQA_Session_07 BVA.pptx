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ink/ink1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45"/>
  </p:handoutMasterIdLst>
  <p:sldIdLst>
    <p:sldId id="350" r:id="rId3"/>
    <p:sldId id="351" r:id="rId4"/>
    <p:sldId id="304" r:id="rId6"/>
    <p:sldId id="389" r:id="rId7"/>
    <p:sldId id="379" r:id="rId8"/>
    <p:sldId id="380" r:id="rId9"/>
    <p:sldId id="382" r:id="rId10"/>
    <p:sldId id="388" r:id="rId11"/>
    <p:sldId id="392" r:id="rId12"/>
    <p:sldId id="394" r:id="rId13"/>
    <p:sldId id="395" r:id="rId14"/>
    <p:sldId id="391" r:id="rId15"/>
    <p:sldId id="393" r:id="rId16"/>
    <p:sldId id="472" r:id="rId17"/>
    <p:sldId id="383" r:id="rId18"/>
    <p:sldId id="384" r:id="rId19"/>
    <p:sldId id="385" r:id="rId20"/>
    <p:sldId id="386" r:id="rId21"/>
    <p:sldId id="397" r:id="rId22"/>
    <p:sldId id="398" r:id="rId23"/>
    <p:sldId id="436" r:id="rId24"/>
    <p:sldId id="404" r:id="rId25"/>
    <p:sldId id="405" r:id="rId26"/>
    <p:sldId id="437" r:id="rId27"/>
    <p:sldId id="438" r:id="rId28"/>
    <p:sldId id="453" r:id="rId29"/>
    <p:sldId id="454" r:id="rId30"/>
    <p:sldId id="457" r:id="rId31"/>
    <p:sldId id="414" r:id="rId32"/>
    <p:sldId id="415" r:id="rId33"/>
    <p:sldId id="416" r:id="rId34"/>
    <p:sldId id="417" r:id="rId35"/>
    <p:sldId id="418" r:id="rId36"/>
    <p:sldId id="458" r:id="rId37"/>
    <p:sldId id="459" r:id="rId38"/>
    <p:sldId id="461" r:id="rId39"/>
    <p:sldId id="464" r:id="rId40"/>
    <p:sldId id="460" r:id="rId41"/>
    <p:sldId id="430" r:id="rId42"/>
    <p:sldId id="462" r:id="rId43"/>
    <p:sldId id="466" r:id="rId44"/>
  </p:sldIdLst>
  <p:sldSz cx="9144000" cy="6858000" type="screen4x3"/>
  <p:notesSz cx="7099300" cy="10234930"/>
  <p:custDataLst>
    <p:tags r:id="rId49"/>
  </p:custDataLst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5F5F5F"/>
    <a:srgbClr val="DDDDDD"/>
    <a:srgbClr val="FEFEFE"/>
    <a:srgbClr val="EAEAEA"/>
    <a:srgbClr val="F8F8F8"/>
    <a:srgbClr val="FFFFFF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013"/>
    <p:restoredTop sz="78838"/>
  </p:normalViewPr>
  <p:slideViewPr>
    <p:cSldViewPr showGuides="1">
      <p:cViewPr varScale="1">
        <p:scale>
          <a:sx n="70" d="100"/>
          <a:sy n="70" d="100"/>
        </p:scale>
        <p:origin x="1204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9" Type="http://schemas.openxmlformats.org/officeDocument/2006/relationships/tags" Target="tags/tag1.xml"/><Relationship Id="rId48" Type="http://schemas.openxmlformats.org/officeDocument/2006/relationships/tableStyles" Target="tableStyles.xml"/><Relationship Id="rId47" Type="http://schemas.openxmlformats.org/officeDocument/2006/relationships/viewProps" Target="viewProps.xml"/><Relationship Id="rId46" Type="http://schemas.openxmlformats.org/officeDocument/2006/relationships/presProps" Target="presProps.xml"/><Relationship Id="rId45" Type="http://schemas.openxmlformats.org/officeDocument/2006/relationships/handoutMaster" Target="handoutMasters/handoutMaster1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4988" cy="511175"/>
          </a:xfrm>
          <a:prstGeom prst="rect">
            <a:avLst/>
          </a:prstGeom>
        </p:spPr>
        <p:txBody>
          <a:bodyPr vert="horz" lIns="94265" tIns="47133" rIns="94265" bIns="47133" rtlCol="0"/>
          <a:lstStyle>
            <a:lvl1pPr algn="l" eaLnBrk="1" latinLnBrk="1" hangingPunct="1">
              <a:spcBef>
                <a:spcPct val="50000"/>
              </a:spcBef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2725" y="0"/>
            <a:ext cx="3074988" cy="511175"/>
          </a:xfrm>
          <a:prstGeom prst="rect">
            <a:avLst/>
          </a:prstGeom>
        </p:spPr>
        <p:txBody>
          <a:bodyPr vert="horz" lIns="94265" tIns="47133" rIns="94265" bIns="47133" rtlCol="0"/>
          <a:lstStyle>
            <a:lvl1pPr algn="r" eaLnBrk="1" latinLnBrk="1" hangingPunct="1">
              <a:spcBef>
                <a:spcPct val="50000"/>
              </a:spcBef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2556DB4-0433-4C79-8378-0E2032C89DE2}" type="datetimeFigureOut">
              <a:rPr kumimoji="1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1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4988" cy="511175"/>
          </a:xfrm>
          <a:prstGeom prst="rect">
            <a:avLst/>
          </a:prstGeom>
        </p:spPr>
        <p:txBody>
          <a:bodyPr vert="horz" lIns="94265" tIns="47133" rIns="94265" bIns="47133" rtlCol="0" anchor="b"/>
          <a:lstStyle>
            <a:lvl1pPr algn="l" eaLnBrk="1" latinLnBrk="1" hangingPunct="1">
              <a:spcBef>
                <a:spcPct val="50000"/>
              </a:spcBef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2725" y="9721850"/>
            <a:ext cx="3074988" cy="511175"/>
          </a:xfrm>
          <a:prstGeom prst="rect">
            <a:avLst/>
          </a:prstGeom>
        </p:spPr>
        <p:txBody>
          <a:bodyPr vert="horz" wrap="square" lIns="94265" tIns="47133" rIns="94265" bIns="47133" numCol="1" anchor="b" anchorCtr="0" compatLnSpc="1"/>
          <a:lstStyle>
            <a:lvl1pPr algn="r" eaLnBrk="1" latinLnBrk="1" hangingPunct="1">
              <a:spcBef>
                <a:spcPct val="50000"/>
              </a:spcBef>
              <a:defRPr sz="1200"/>
            </a:lvl1pPr>
          </a:lstStyle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D41A6CD-3230-4A77-B664-49DC3F40B0DE}" type="slidenum">
              <a:rPr kumimoji="1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1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1-07T00:10:00"/>
    </inkml:context>
    <inkml:brush xml:id="br0">
      <inkml:brushProperty name="width" value="0.05292" units="cm"/>
      <inkml:brushProperty name="height" value="0.05292" units="cm"/>
      <inkml:brushProperty name="color" value="#1b7ccb"/>
      <inkml:brushProperty name="ignorePressure" value="0"/>
    </inkml:brush>
  </inkml:definitions>
  <inkml:trace contextRef="#ctx0" brushRef="#br0">13453 4082.59,'0'10,"0"45,0-11,0 11,0-11,-11-11,11 0,0 0,0 0,0-11,0-11,0 11,0-11,11-11,0 22,11-22,11 11,-22 10,22-10,0-11,0 22,-11-11,-11-11,10 0,-10 0,11 0,-22 22,11-22,11-11,11 11,0-22,-22 11,11 11,-11 0,-11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1-07T00:10:00"/>
    </inkml:context>
    <inkml:brush xml:id="br0">
      <inkml:brushProperty name="width" value="0.05292" units="cm"/>
      <inkml:brushProperty name="height" value="0.05292" units="cm"/>
      <inkml:brushProperty name="color" value="#1b7ccb"/>
      <inkml:brushProperty name="ignorePressure" value="0"/>
    </inkml:brush>
  </inkml:definitions>
  <inkml:trace contextRef="#ctx0" brushRef="#br0">13672 4202.59,'0'11,"0"33,0 11,0 11,0 0,0 11,0-23,0 12,0-33,0 0,0-22,0 22,0-11,0-11,0-11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1-07T00:10:00"/>
    </inkml:context>
    <inkml:brush xml:id="br0">
      <inkml:brushProperty name="width" value="0.05292" units="cm"/>
      <inkml:brushProperty name="height" value="0.05292" units="cm"/>
      <inkml:brushProperty name="color" value="#1b7ccb"/>
      <inkml:brushProperty name="ignorePressure" value="0"/>
    </inkml:brush>
  </inkml:definitions>
  <inkml:trace contextRef="#ctx0" brushRef="#br0">13892 4334.59,'0'22,"0"33,0-11,0 11,-11-12,11-10,0 0,-11 0,11-11,0-11,11-33,0-11,22-22,0-10,22-1,-22 0,0 22,0-22,-1 33,-21 11,11 11,-11 22,11 0,-11 44,-11-11,-11 22,11 0,0 0,0-1,0-10,0 11,0 0,0-22,0 11,0-22,0-22,0 11,-11-11,11-22,0 11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1-07T00:10:00"/>
    </inkml:context>
    <inkml:brush xml:id="br0">
      <inkml:brushProperty name="width" value="0.05292" units="cm"/>
      <inkml:brushProperty name="height" value="0.05292" units="cm"/>
      <inkml:brushProperty name="color" value="#1b7ccb"/>
      <inkml:brushProperty name="ignorePressure" value="0"/>
    </inkml:brush>
  </inkml:definitions>
  <inkml:trace contextRef="#ctx0" brushRef="#br0">14477 4466.59,'0'-22,"11"11,-11-11,22 22,-11 0,22 0,-12 0,12 0,-22 0,22 0,0 0,22 0,-11 0,11 0,-22 0,0 0,-22 0,11 0,-11 0,11 0,-22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1-07T00:10:00"/>
    </inkml:context>
    <inkml:brush xml:id="br0">
      <inkml:brushProperty name="width" value="0.05292" units="cm"/>
      <inkml:brushProperty name="height" value="0.05292" units="cm"/>
      <inkml:brushProperty name="color" value="#1b7ccb"/>
      <inkml:brushProperty name="ignorePressure" value="0"/>
    </inkml:brush>
  </inkml:definitions>
  <inkml:trace contextRef="#ctx0" brushRef="#br0">15181 3983.59,'-11'0,"-22"11,11 22,-11 32,22 1,-11 22,11 11,-11-22,22-11,-11 21,11-43,-22 11,22-22,0-22,0 11,0-11,11 11,-11-11,22-11,-22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1-07T00:10:00"/>
    </inkml:context>
    <inkml:brush xml:id="br0">
      <inkml:brushProperty name="width" value="0.05292" units="cm"/>
      <inkml:brushProperty name="height" value="0.05292" units="cm"/>
      <inkml:brushProperty name="color" value="#1b7ccb"/>
      <inkml:brushProperty name="ignorePressure" value="0"/>
    </inkml:brush>
  </inkml:definitions>
  <inkml:trace contextRef="#ctx0" brushRef="#br0">15462 4136.59,'0'22,"0"11,0 22,0 11,0-22,0 44,0-11,0-12,0 1,-11 0,-22-11,22-11,-11 11,11-22,11-22,-22 11,22-22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1-07T00:10:00"/>
    </inkml:context>
    <inkml:brush xml:id="br0">
      <inkml:brushProperty name="width" value="0.05292" units="cm"/>
      <inkml:brushProperty name="height" value="0.05292" units="cm"/>
      <inkml:brushProperty name="color" value="#1b7ccb"/>
      <inkml:brushProperty name="ignorePressure" value="0"/>
    </inkml:brush>
  </inkml:definitions>
  <inkml:trace contextRef="#ctx0" brushRef="#br0">14789.5 4499.59,'11'0,"22"0,11 0,11 0,11 0,0 0,-22 0,11 0,-23 0,-21 0,22 0,-11 0,-11 0,-11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1-07T00:10:00"/>
    </inkml:context>
    <inkml:brush xml:id="br0">
      <inkml:brushProperty name="width" value="0.05292" units="cm"/>
      <inkml:brushProperty name="height" value="0.05292" units="cm"/>
      <inkml:brushProperty name="color" value="#1b7ccb"/>
      <inkml:brushProperty name="ignorePressure" value="0"/>
    </inkml:brush>
  </inkml:definitions>
  <inkml:trace contextRef="#ctx0" brushRef="#br0">13286.5 5234.59,'11'-11,"-11"22,0 22,0-22,-11 22,0 0,-11 22,11-12,-22 23,11-33,-11 0,33 0,-11-33,11 22,0-11,11 11,0 11,22-22,22-11,-11 22,22-22,-1 0,-32 0,0-11,-11 11,-11 0,-11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1-07T00:10:00"/>
    </inkml:context>
    <inkml:brush xml:id="br0">
      <inkml:brushProperty name="width" value="0.05292" units="cm"/>
      <inkml:brushProperty name="height" value="0.05292" units="cm"/>
      <inkml:brushProperty name="color" value="#1b7ccb"/>
      <inkml:brushProperty name="ignorePressure" value="0"/>
    </inkml:brush>
  </inkml:definitions>
  <inkml:trace contextRef="#ctx0" brushRef="#br0">13527.5 5333.59,'-11'33,"0"11,-11 21,-11 1,22 0,-11 0,22 0,-11-33,11 0,-21-33,21 22,0-22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1-07T00:10:00"/>
    </inkml:context>
    <inkml:brush xml:id="br0">
      <inkml:brushProperty name="width" value="0.05292" units="cm"/>
      <inkml:brushProperty name="height" value="0.05292" units="cm"/>
      <inkml:brushProperty name="color" value="#1b7ccb"/>
      <inkml:brushProperty name="ignorePressure" value="0"/>
    </inkml:brush>
  </inkml:definitions>
  <inkml:trace contextRef="#ctx0" brushRef="#br0">13747.5 5618.59,'0'22,"0"33,-11-11,-11 11,22-11,-11-22,11-11,-22 10,33-53,22-34,0 0,0-33,21 22,-21-11,0 23,0-1,-22 22,11 22,-22 11,11-11,11 22,11 11,-22 22,11 22,-11 11,-11-1,0 1,0-22,0 22,0 0,0 0,-11 0,0-12,-11-10,11 11,-11-22,11 0,-11-22,11 11,11-11,0-11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1-07T00:10:00"/>
    </inkml:context>
    <inkml:brush xml:id="br0">
      <inkml:brushProperty name="width" value="0.05292" units="cm"/>
      <inkml:brushProperty name="height" value="0.05292" units="cm"/>
      <inkml:brushProperty name="color" value="#1b7ccb"/>
      <inkml:brushProperty name="ignorePressure" value="0"/>
    </inkml:brush>
  </inkml:definitions>
  <inkml:trace contextRef="#ctx0" brushRef="#br0">13988.5 5585.59,'22'-22,"-11"22,11 0,11 0,-22 0,22 0,-11 0,-11 0,11 0,-11 0,11 0,-11 0,11 0,-11 0,11 0,-22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1-07T00:10:00"/>
    </inkml:context>
    <inkml:brush xml:id="br0">
      <inkml:brushProperty name="width" value="0.05292" units="cm"/>
      <inkml:brushProperty name="height" value="0.05292" units="cm"/>
      <inkml:brushProperty name="color" value="#1b7ccb"/>
      <inkml:brushProperty name="ignorePressure" value="0"/>
    </inkml:brush>
  </inkml:definitions>
  <inkml:trace contextRef="#ctx0" brushRef="#br0">14339.5 5366.59,'0'-11,"0"33,-11 11,-11 21,11-10,-10 22,10 0,11-11,-22-22,22 0,-11-33,11 11,0-11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1-07T00:10:00"/>
    </inkml:context>
    <inkml:brush xml:id="br0">
      <inkml:brushProperty name="width" value="0.05292" units="cm"/>
      <inkml:brushProperty name="height" value="0.05292" units="cm"/>
      <inkml:brushProperty name="color" value="#1b7ccb"/>
      <inkml:brushProperty name="ignorePressure" value="0"/>
    </inkml:brush>
  </inkml:definitions>
  <inkml:trace contextRef="#ctx0" brushRef="#br0">13406.5 5453.59,'11'0,"0"0,44 11,11 22,11-22,11 22,11-11,-23-11,23 11,-11-11,-22-11,0 22,-22-22,-11 0,-12 0,-10 0,-11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1-07T00:10:00"/>
    </inkml:context>
    <inkml:brush xml:id="br0">
      <inkml:brushProperty name="width" value="0.05292" units="cm"/>
      <inkml:brushProperty name="height" value="0.05292" units="cm"/>
      <inkml:brushProperty name="color" value="#1b7ccb"/>
      <inkml:brushProperty name="ignorePressure" value="0"/>
    </inkml:brush>
  </inkml:definitions>
  <inkml:trace contextRef="#ctx0" brushRef="#br0">13648.5 5903.59,'-11'0,"-11"0,-22 22,-11 11,-11 11,1 22,21-33,-44 33,22-11,0-11,-11 22,22 21,11-21,23 11,10-11,11-33,11 0,-11-11,11-11,10-11,-10 0,11 0,-11 0,22 0,33 0,0-11,0 0,-11-22,-11 0,-11 0,-1-22,-10 11,11-11,-33-11,0 1,0 21,0-11,0 22,0 22,0-11,0 11,-33 11,-32 0,-1 0,22 0,-11 11,11-11,22 11,-11-11,22 0,-11 22,33-11,-11-11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1-07T00:10:00"/>
    </inkml:context>
    <inkml:brush xml:id="br0">
      <inkml:brushProperty name="width" value="0.05292" units="cm"/>
      <inkml:brushProperty name="height" value="0.05292" units="cm"/>
      <inkml:brushProperty name="color" value="#1b7ccb"/>
      <inkml:brushProperty name="ignorePressure" value="0"/>
    </inkml:brush>
  </inkml:definitions>
  <inkml:trace contextRef="#ctx0" brushRef="#br0">13681.5 6255.59,'0'11,"-11"11,-11 22,11-12,-11 1,-11 0,22 0,-11 0,22-11,-11-11,-11 11,22-11,-11 11,11-33,11-22,0-22,44-11,-11-11,11 12,-11-1,-11 11,22 11,-23-11,1 44,-22-11,11 22,-11 0,22 0,-11 0,-11 0,11 11,-11 22,11 0,-22 22,0-11,0 22,0-11,0 10,-11 1,-11 0,11-22,-11-11,11 22,11-22,-22 0,22-22,-11 11,11-11,0 11,0-22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1-07T00:10:00"/>
    </inkml:context>
    <inkml:brush xml:id="br0">
      <inkml:brushProperty name="width" value="0.05292" units="cm"/>
      <inkml:brushProperty name="height" value="0.05292" units="cm"/>
      <inkml:brushProperty name="color" value="#1b7ccb"/>
      <inkml:brushProperty name="ignorePressure" value="0"/>
    </inkml:brush>
  </inkml:definitions>
  <inkml:trace contextRef="#ctx0" brushRef="#br0">14153.5 6353.59,'22'0,"11"0,0 0,11 0,10 0,-21 0,-22 0,11 0,-11 0,-11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1-07T00:10:00"/>
    </inkml:context>
    <inkml:brush xml:id="br0">
      <inkml:brushProperty name="width" value="0.05292" units="cm"/>
      <inkml:brushProperty name="height" value="0.05292" units="cm"/>
      <inkml:brushProperty name="color" value="#1b7ccb"/>
      <inkml:brushProperty name="ignorePressure" value="0"/>
    </inkml:brush>
  </inkml:definitions>
  <inkml:trace contextRef="#ctx0" brushRef="#br0">14372.5 6156.59,'0'-11,"-11"11,-11 0,11 22,-11 11,-10 22,21-11,-22 21,11 23,11-44,-11 22,11-33,11 22,-22-44,22 11,0-11,-11 11,22-22,-11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1-07T00:10:00"/>
    </inkml:context>
    <inkml:brush xml:id="br0">
      <inkml:brushProperty name="width" value="0.05292" units="cm"/>
      <inkml:brushProperty name="height" value="0.05292" units="cm"/>
      <inkml:brushProperty name="color" value="#1b7ccb"/>
      <inkml:brushProperty name="ignorePressure" value="0"/>
    </inkml:brush>
  </inkml:definitions>
  <inkml:trace contextRef="#ctx0" brushRef="#br0">14735.5 6222.59,'0'33,"0"11,0 21,-11-10,-11-11,11 11,-11 11,11-22,11 11,-22-11,22-11,-11-11,11-12,0 12,0-11,0-11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1-07T00:10:00"/>
    </inkml:context>
    <inkml:brush xml:id="br0">
      <inkml:brushProperty name="width" value="0.05292" units="cm"/>
      <inkml:brushProperty name="height" value="0.05292" units="cm"/>
      <inkml:brushProperty name="color" value="#1b7ccb"/>
      <inkml:brushProperty name="ignorePressure" value="0"/>
    </inkml:brush>
  </inkml:definitions>
  <inkml:trace contextRef="#ctx0" brushRef="#br0">12989.5 7330.59,'-11'11,"-11"22,-10 11,21 22,-11-11,11-11,-11-11,22 0,0 0,0-1,11 1,-11 0,22 0,22 22,10-11,-10 11,11-11,-11-11,-11 22,-11-44,11 21,-22-10,11-11,-11 11,11-11,-11-11,-11 22,0-11,-11-11,-22 0,-11 22,-11-22,11 0,-44 0,22 0,1 0,21 0,-11 0,11 0,11 0,11 0,11 0,-11 0,11 0,-11 0,22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1-07T00:10:00"/>
    </inkml:context>
    <inkml:brush xml:id="br0">
      <inkml:brushProperty name="width" value="0.05292" units="cm"/>
      <inkml:brushProperty name="height" value="0.05292" units="cm"/>
      <inkml:brushProperty name="color" value="#1b7ccb"/>
      <inkml:brushProperty name="ignorePressure" value="0"/>
    </inkml:brush>
  </inkml:definitions>
  <inkml:trace contextRef="#ctx0" brushRef="#br0">12989.5 7692.59,'11'-21,"11"21,-11 0,11 0,-11 0,22 0,-11 0,11 11,-22-11,22 0,-11 0,-11 0,-11 21,0-21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1-07T00:10:00"/>
    </inkml:context>
    <inkml:brush xml:id="br0">
      <inkml:brushProperty name="width" value="0.05292" units="cm"/>
      <inkml:brushProperty name="height" value="0.05292" units="cm"/>
      <inkml:brushProperty name="color" value="#1b7ccb"/>
      <inkml:brushProperty name="ignorePressure" value="0"/>
    </inkml:brush>
  </inkml:definitions>
  <inkml:trace contextRef="#ctx0" brushRef="#br0">13450.5 7440.59,'0'-11,"0"22,0 0,0 22,0 0,-11 0,11-11,0-11,-22 11,11-11,22-33,0-11,22 0,0-22,0 11,0-11,0 22,0 0,-11 22,-11-11,11 22,-11 11,11 11,-22 11,0 11,0-11,0 33,0-11,0-22,-11 11,11-11,-22-11,11-11,11 10,0-10,-22-11,22 22,0-22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1-07T00:10:00"/>
    </inkml:context>
    <inkml:brush xml:id="br0">
      <inkml:brushProperty name="width" value="0.05292" units="cm"/>
      <inkml:brushProperty name="height" value="0.05292" units="cm"/>
      <inkml:brushProperty name="color" value="#1b7ccb"/>
      <inkml:brushProperty name="ignorePressure" value="0"/>
    </inkml:brush>
  </inkml:definitions>
  <inkml:trace contextRef="#ctx0" brushRef="#br0">12693.5 8724.59,'11'0,"11"0,-11 11,22-11,0 22,0-22,0 0,0 0,0 0,-12 0,-10 0,11 0,-22 11,0 22,0 22,0-11,0 22,0 0,0-12,0 12,0-33,-11 11,11 11,0-22,-22 0,11 0,11 0,-21-22,21 11,0-11,0 11,-11-12,11-10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1-07T00:10:00"/>
    </inkml:context>
    <inkml:brush xml:id="br0">
      <inkml:brushProperty name="width" value="0.05292" units="cm"/>
      <inkml:brushProperty name="height" value="0.05292" units="cm"/>
      <inkml:brushProperty name="color" value="#1b7ccb"/>
      <inkml:brushProperty name="ignorePressure" value="0"/>
    </inkml:brush>
  </inkml:definitions>
  <inkml:trace contextRef="#ctx0" brushRef="#br0">13220.5 8560.59,'0'-11,"0"22,-11 21,-11 1,11 0,-11 0,11 0,-11-22,33-22,11 0,11-22,0-22,11 12,-11-12,0 22,-11 22,-11-11,11 11,-12-11,12 22,11 0,-22 11,22 11,-11 11,-22 11,0-11,0 21,0-10,0-11,0 22,0-22,0 0,0-22,0 11,0-11,0 11,0-22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4265" tIns="47133" rIns="94265" bIns="47133" numCol="1" anchor="t" anchorCtr="0" compatLnSpc="1"/>
          <a:lstStyle>
            <a:lvl1pPr eaLnBrk="1" latinLnBrk="0" hangingPunct="1">
              <a:spcBef>
                <a:spcPct val="0"/>
              </a:spcBef>
              <a:defRPr kumimoji="0"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4988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4265" tIns="47133" rIns="94265" bIns="47133" numCol="1" anchor="t" anchorCtr="0" compatLnSpc="1"/>
          <a:lstStyle>
            <a:lvl1pPr algn="r" eaLnBrk="1" latinLnBrk="0" hangingPunct="1">
              <a:spcBef>
                <a:spcPct val="0"/>
              </a:spcBef>
              <a:defRPr kumimoji="0"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292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6763"/>
            <a:ext cx="5118100" cy="383857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45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11200" y="4860925"/>
            <a:ext cx="5678488" cy="46069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4265" tIns="47133" rIns="94265" bIns="47133" numCol="1" anchor="t" anchorCtr="0" compatLnSpc="1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45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4988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4265" tIns="47133" rIns="94265" bIns="47133" numCol="1" anchor="b" anchorCtr="0" compatLnSpc="1"/>
          <a:lstStyle>
            <a:lvl1pPr eaLnBrk="1" latinLnBrk="0" hangingPunct="1">
              <a:spcBef>
                <a:spcPct val="0"/>
              </a:spcBef>
              <a:defRPr kumimoji="0"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5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1850"/>
            <a:ext cx="3074988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4265" tIns="47133" rIns="94265" bIns="47133" numCol="1" anchor="b" anchorCtr="0" compatLnSpc="1"/>
          <a:lstStyle>
            <a:lvl1pPr algn="r" eaLnBrk="1" latinLnBrk="0" hangingPunct="1">
              <a:spcBef>
                <a:spcPct val="0"/>
              </a:spcBef>
              <a:defRPr kumimoji="0" sz="1200" b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1A2FD86-08B0-4AA2-B927-122F4D9C8385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1850"/>
            <a:ext cx="3074988" cy="511175"/>
          </a:xfrm>
          <a:prstGeom prst="rect">
            <a:avLst/>
          </a:prstGeom>
          <a:noFill/>
          <a:ln w="9525">
            <a:noFill/>
          </a:ln>
        </p:spPr>
        <p:txBody>
          <a:bodyPr lIns="94265" tIns="47133" rIns="94265" bIns="47133"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>
                <a:ea typeface="宋体" panose="02010600030101010101" pitchFamily="2" charset="-122"/>
              </a:rPr>
            </a:fld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6387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638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4265" tIns="47133" rIns="94265" bIns="47133" anchor="t" anchorCtr="0"/>
          <a:p>
            <a:pPr lvl="0" eaLnBrk="1" hangingPunct="1"/>
            <a:endParaRPr lang="en-I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685800" y="3197225"/>
            <a:ext cx="7772400" cy="17463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676401"/>
            <a:ext cx="7772400" cy="1538286"/>
          </a:xfrm>
        </p:spPr>
        <p:txBody>
          <a:bodyPr anchor="b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14686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>
          <a:xfrm>
            <a:off x="76200" y="6400800"/>
            <a:ext cx="3200400" cy="284163"/>
          </a:xfrm>
          <a:prstGeom prst="rect">
            <a:avLst/>
          </a:prstGeom>
        </p:spPr>
        <p:txBody>
          <a:bodyPr vert="horz" rtlCol="0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5334000" y="6400800"/>
            <a:ext cx="3733800" cy="284163"/>
          </a:xfrm>
          <a:prstGeom prst="rect">
            <a:avLst/>
          </a:prstGeom>
        </p:spPr>
        <p:txBody>
          <a:bodyPr vert="horz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114800" y="6400800"/>
            <a:ext cx="914400" cy="284163"/>
          </a:xfrm>
          <a:prstGeom prst="rect">
            <a:avLst/>
          </a:prstGeom>
        </p:spPr>
        <p:txBody>
          <a:bodyPr vert="horz" wrap="square" lIns="45720" tIns="45720" rIns="4572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DA2CA2C-9321-4A8A-916D-719BC69F9C87}" type="slidenum"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636363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100" b="0" i="0" u="none" strike="noStrike" kern="1200" cap="none" spc="0" normalizeH="0" baseline="0" noProof="0">
              <a:ln>
                <a:noFill/>
              </a:ln>
              <a:solidFill>
                <a:srgbClr val="63636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457200" y="1411288"/>
            <a:ext cx="8229600" cy="17463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>
          <a:xfrm>
            <a:off x="73025" y="6400800"/>
            <a:ext cx="3200400" cy="284163"/>
          </a:xfrm>
          <a:prstGeom prst="rect">
            <a:avLst/>
          </a:prstGeom>
        </p:spPr>
        <p:txBody>
          <a:bodyPr vert="horz" rtlCol="0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5330825" y="6400800"/>
            <a:ext cx="3733800" cy="284163"/>
          </a:xfrm>
          <a:prstGeom prst="rect">
            <a:avLst/>
          </a:prstGeom>
        </p:spPr>
        <p:txBody>
          <a:bodyPr vert="horz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114800" y="6400800"/>
            <a:ext cx="914400" cy="284163"/>
          </a:xfrm>
          <a:prstGeom prst="rect">
            <a:avLst/>
          </a:prstGeom>
        </p:spPr>
        <p:txBody>
          <a:bodyPr vert="horz" wrap="square" lIns="45720" tIns="45720" rIns="4572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40BF568-CD3B-4282-B0C1-D776548331FC}" type="slidenum"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636363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100" b="0" i="0" u="none" strike="noStrike" kern="1200" cap="none" spc="0" normalizeH="0" baseline="0" noProof="0">
              <a:ln>
                <a:noFill/>
              </a:ln>
              <a:solidFill>
                <a:srgbClr val="63636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685800" y="3143250"/>
            <a:ext cx="7772400" cy="17463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143248"/>
            <a:ext cx="7772400" cy="1362075"/>
          </a:xfrm>
        </p:spPr>
        <p:txBody>
          <a:bodyPr anchor="t"/>
          <a:lstStyle>
            <a:lvl1pPr algn="ctr">
              <a:defRPr sz="4000" b="0" cap="all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1643061"/>
            <a:ext cx="7772400" cy="1500187"/>
          </a:xfrm>
        </p:spPr>
        <p:txBody>
          <a:bodyPr anchor="b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>
          <a:xfrm>
            <a:off x="76200" y="6400800"/>
            <a:ext cx="3200400" cy="284163"/>
          </a:xfrm>
          <a:prstGeom prst="rect">
            <a:avLst/>
          </a:prstGeom>
        </p:spPr>
        <p:txBody>
          <a:bodyPr vert="horz" rtlCol="0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5334000" y="6400800"/>
            <a:ext cx="3733800" cy="284163"/>
          </a:xfrm>
          <a:prstGeom prst="rect">
            <a:avLst/>
          </a:prstGeom>
        </p:spPr>
        <p:txBody>
          <a:bodyPr vert="horz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114800" y="6400800"/>
            <a:ext cx="914400" cy="284163"/>
          </a:xfrm>
          <a:prstGeom prst="rect">
            <a:avLst/>
          </a:prstGeom>
        </p:spPr>
        <p:txBody>
          <a:bodyPr vert="horz" wrap="square" lIns="45720" tIns="45720" rIns="4572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80B1EF9-4D5D-4940-B636-EE82AB16DA92}" type="slidenum"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636363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100" b="0" i="0" u="none" strike="noStrike" kern="1200" cap="none" spc="0" normalizeH="0" baseline="0" noProof="0">
              <a:ln>
                <a:noFill/>
              </a:ln>
              <a:solidFill>
                <a:srgbClr val="63636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457200" y="1411288"/>
            <a:ext cx="8229600" cy="17463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0" name="日期占位符 4"/>
          <p:cNvSpPr>
            <a:spLocks noGrp="1"/>
          </p:cNvSpPr>
          <p:nvPr>
            <p:ph type="dt" sz="half" idx="12"/>
          </p:nvPr>
        </p:nvSpPr>
        <p:spPr>
          <a:xfrm>
            <a:off x="76200" y="6400800"/>
            <a:ext cx="3200400" cy="284163"/>
          </a:xfrm>
          <a:prstGeom prst="rect">
            <a:avLst/>
          </a:prstGeom>
        </p:spPr>
        <p:txBody>
          <a:bodyPr vert="horz" rtlCol="0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5"/>
          <p:cNvSpPr>
            <a:spLocks noGrp="1"/>
          </p:cNvSpPr>
          <p:nvPr>
            <p:ph type="ftr" sz="quarter" idx="3"/>
          </p:nvPr>
        </p:nvSpPr>
        <p:spPr>
          <a:xfrm>
            <a:off x="5334000" y="6400800"/>
            <a:ext cx="3733800" cy="284163"/>
          </a:xfrm>
          <a:prstGeom prst="rect">
            <a:avLst/>
          </a:prstGeom>
        </p:spPr>
        <p:txBody>
          <a:bodyPr vert="horz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4114800" y="6400800"/>
            <a:ext cx="914400" cy="284163"/>
          </a:xfrm>
          <a:prstGeom prst="rect">
            <a:avLst/>
          </a:prstGeom>
        </p:spPr>
        <p:txBody>
          <a:bodyPr vert="horz" wrap="square" lIns="45720" tIns="45720" rIns="4572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D99E8EE-9C51-43BE-B83F-1EAFD328A508}" type="slidenum"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636363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100" b="0" i="0" u="none" strike="noStrike" kern="1200" cap="none" spc="0" normalizeH="0" baseline="0" noProof="0">
              <a:ln>
                <a:noFill/>
              </a:ln>
              <a:solidFill>
                <a:srgbClr val="63636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457200" y="1411288"/>
            <a:ext cx="8229600" cy="17463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>
              <a:buNone/>
              <a:defRPr sz="20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2pPr>
            <a:lvl3pPr marL="914400" indent="0">
              <a:buNone/>
              <a:defRPr sz="18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3pPr>
            <a:lvl4pPr marL="13716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4pPr>
            <a:lvl5pPr marL="18288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>
              <a:buNone/>
              <a:defRPr sz="20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2pPr>
            <a:lvl3pPr marL="914400" indent="0">
              <a:buNone/>
              <a:defRPr sz="18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3pPr>
            <a:lvl4pPr marL="13716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4pPr>
            <a:lvl5pPr marL="18288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0" name="日期占位符 6"/>
          <p:cNvSpPr>
            <a:spLocks noGrp="1"/>
          </p:cNvSpPr>
          <p:nvPr>
            <p:ph type="dt" sz="half" idx="12"/>
          </p:nvPr>
        </p:nvSpPr>
        <p:spPr>
          <a:xfrm>
            <a:off x="76200" y="6400800"/>
            <a:ext cx="3200400" cy="284163"/>
          </a:xfrm>
          <a:prstGeom prst="rect">
            <a:avLst/>
          </a:prstGeom>
        </p:spPr>
        <p:txBody>
          <a:bodyPr vert="horz" rtlCol="0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7"/>
          <p:cNvSpPr>
            <a:spLocks noGrp="1"/>
          </p:cNvSpPr>
          <p:nvPr>
            <p:ph type="ftr" sz="quarter" idx="13"/>
          </p:nvPr>
        </p:nvSpPr>
        <p:spPr>
          <a:xfrm>
            <a:off x="5334000" y="6400800"/>
            <a:ext cx="3733800" cy="284163"/>
          </a:xfrm>
          <a:prstGeom prst="rect">
            <a:avLst/>
          </a:prstGeom>
        </p:spPr>
        <p:txBody>
          <a:bodyPr vert="horz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8"/>
          <p:cNvSpPr>
            <a:spLocks noGrp="1"/>
          </p:cNvSpPr>
          <p:nvPr>
            <p:ph type="sldNum" sz="quarter" idx="14"/>
          </p:nvPr>
        </p:nvSpPr>
        <p:spPr>
          <a:xfrm>
            <a:off x="4114800" y="6400800"/>
            <a:ext cx="914400" cy="284163"/>
          </a:xfrm>
          <a:prstGeom prst="rect">
            <a:avLst/>
          </a:prstGeom>
        </p:spPr>
        <p:txBody>
          <a:bodyPr vert="horz" wrap="square" lIns="45720" tIns="45720" rIns="4572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6582D45-ABED-4C99-8ED2-D396991FB5B3}" type="slidenum"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636363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100" b="0" i="0" u="none" strike="noStrike" kern="1200" cap="none" spc="0" normalizeH="0" baseline="0" noProof="0">
              <a:ln>
                <a:noFill/>
              </a:ln>
              <a:solidFill>
                <a:srgbClr val="63636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457200" y="1411288"/>
            <a:ext cx="8229600" cy="17463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10" name="日期占位符 2"/>
          <p:cNvSpPr>
            <a:spLocks noGrp="1"/>
          </p:cNvSpPr>
          <p:nvPr>
            <p:ph type="dt" sz="half" idx="2"/>
          </p:nvPr>
        </p:nvSpPr>
        <p:spPr>
          <a:xfrm>
            <a:off x="76200" y="6400800"/>
            <a:ext cx="3200400" cy="284163"/>
          </a:xfrm>
          <a:prstGeom prst="rect">
            <a:avLst/>
          </a:prstGeom>
        </p:spPr>
        <p:txBody>
          <a:bodyPr vert="horz" rtlCol="0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3"/>
          <p:cNvSpPr>
            <a:spLocks noGrp="1"/>
          </p:cNvSpPr>
          <p:nvPr>
            <p:ph type="ftr" sz="quarter" idx="3"/>
          </p:nvPr>
        </p:nvSpPr>
        <p:spPr>
          <a:xfrm>
            <a:off x="5334000" y="6400800"/>
            <a:ext cx="3733800" cy="284163"/>
          </a:xfrm>
          <a:prstGeom prst="rect">
            <a:avLst/>
          </a:prstGeom>
        </p:spPr>
        <p:txBody>
          <a:bodyPr vert="horz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4114800" y="6400800"/>
            <a:ext cx="914400" cy="284163"/>
          </a:xfrm>
          <a:prstGeom prst="rect">
            <a:avLst/>
          </a:prstGeom>
        </p:spPr>
        <p:txBody>
          <a:bodyPr vert="horz" wrap="square" lIns="45720" tIns="45720" rIns="4572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BACFF44-3A23-4221-BC1E-C47D698AE305}" type="slidenum"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636363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100" b="0" i="0" u="none" strike="noStrike" kern="1200" cap="none" spc="0" normalizeH="0" baseline="0" noProof="0">
              <a:ln>
                <a:noFill/>
              </a:ln>
              <a:solidFill>
                <a:srgbClr val="63636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日期占位符 1"/>
          <p:cNvSpPr>
            <a:spLocks noGrp="1"/>
          </p:cNvSpPr>
          <p:nvPr>
            <p:ph type="dt" sz="half" idx="2"/>
          </p:nvPr>
        </p:nvSpPr>
        <p:spPr>
          <a:xfrm>
            <a:off x="76200" y="6400800"/>
            <a:ext cx="3200400" cy="284163"/>
          </a:xfrm>
          <a:prstGeom prst="rect">
            <a:avLst/>
          </a:prstGeom>
        </p:spPr>
        <p:txBody>
          <a:bodyPr vert="horz" rtlCol="0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页脚占位符 2"/>
          <p:cNvSpPr>
            <a:spLocks noGrp="1"/>
          </p:cNvSpPr>
          <p:nvPr>
            <p:ph type="ftr" sz="quarter" idx="3"/>
          </p:nvPr>
        </p:nvSpPr>
        <p:spPr>
          <a:xfrm>
            <a:off x="5334000" y="6400800"/>
            <a:ext cx="3733800" cy="284163"/>
          </a:xfrm>
          <a:prstGeom prst="rect">
            <a:avLst/>
          </a:prstGeom>
        </p:spPr>
        <p:txBody>
          <a:bodyPr vert="horz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4114800" y="6400800"/>
            <a:ext cx="914400" cy="284163"/>
          </a:xfrm>
          <a:prstGeom prst="rect">
            <a:avLst/>
          </a:prstGeom>
        </p:spPr>
        <p:txBody>
          <a:bodyPr vert="horz" wrap="square" lIns="45720" tIns="45720" rIns="4572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8FFFEA4-D168-4FDE-90FF-57B9F2DA51ED}" type="slidenum"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636363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100" b="0" i="0" u="none" strike="noStrike" kern="1200" cap="none" spc="0" normalizeH="0" baseline="0" noProof="0">
              <a:ln>
                <a:noFill/>
              </a:ln>
              <a:solidFill>
                <a:srgbClr val="63636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2786063" y="1054100"/>
            <a:ext cx="5903913" cy="17463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86050" y="228600"/>
            <a:ext cx="5900752" cy="842946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86050" y="1142984"/>
            <a:ext cx="5900750" cy="514353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5" y="1142984"/>
            <a:ext cx="2257408" cy="5143536"/>
          </a:xfrm>
        </p:spPr>
        <p:txBody>
          <a:bodyPr anchor="ctr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0" name="日期占位符 4"/>
          <p:cNvSpPr>
            <a:spLocks noGrp="1"/>
          </p:cNvSpPr>
          <p:nvPr>
            <p:ph type="dt" sz="half" idx="12"/>
          </p:nvPr>
        </p:nvSpPr>
        <p:spPr>
          <a:xfrm>
            <a:off x="76200" y="6400800"/>
            <a:ext cx="3200400" cy="284163"/>
          </a:xfrm>
          <a:prstGeom prst="rect">
            <a:avLst/>
          </a:prstGeom>
        </p:spPr>
        <p:txBody>
          <a:bodyPr vert="horz" rtlCol="0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5"/>
          <p:cNvSpPr>
            <a:spLocks noGrp="1"/>
          </p:cNvSpPr>
          <p:nvPr>
            <p:ph type="ftr" sz="quarter" idx="3"/>
          </p:nvPr>
        </p:nvSpPr>
        <p:spPr>
          <a:xfrm>
            <a:off x="5334000" y="6400800"/>
            <a:ext cx="3733800" cy="284163"/>
          </a:xfrm>
          <a:prstGeom prst="rect">
            <a:avLst/>
          </a:prstGeom>
        </p:spPr>
        <p:txBody>
          <a:bodyPr vert="horz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4114800" y="6400800"/>
            <a:ext cx="914400" cy="284163"/>
          </a:xfrm>
          <a:prstGeom prst="rect">
            <a:avLst/>
          </a:prstGeom>
        </p:spPr>
        <p:txBody>
          <a:bodyPr vert="horz" wrap="square" lIns="45720" tIns="45720" rIns="4572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7AA07D-CBBC-450D-A64A-4F5470D7BD39}" type="slidenum"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636363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100" b="0" i="0" u="none" strike="noStrike" kern="1200" cap="none" spc="0" normalizeH="0" baseline="0" noProof="0">
              <a:ln>
                <a:noFill/>
              </a:ln>
              <a:solidFill>
                <a:srgbClr val="63636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3400" y="304800"/>
            <a:ext cx="6400800" cy="685800"/>
          </a:xfrm>
        </p:spPr>
        <p:txBody>
          <a:bodyPr/>
          <a:lstStyle>
            <a:lvl1pPr algn="l">
              <a:defRPr sz="2400" b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701552" y="1143000"/>
            <a:ext cx="7223248" cy="3980172"/>
          </a:xfrm>
          <a:prstGeom prst="roundRect">
            <a:avLst>
              <a:gd name="adj" fmla="val 18278"/>
            </a:avLst>
          </a:prstGeom>
          <a:solidFill>
            <a:schemeClr val="accent1">
              <a:tint val="40000"/>
            </a:schemeClr>
          </a:solidFill>
          <a:ln w="50800" cap="rnd">
            <a:gradFill flip="none" rotWithShape="1">
              <a:gsLst>
                <a:gs pos="0">
                  <a:schemeClr val="accent1">
                    <a:shade val="50000"/>
                  </a:schemeClr>
                </a:gs>
                <a:gs pos="20000">
                  <a:schemeClr val="accent2">
                    <a:shade val="50000"/>
                  </a:schemeClr>
                </a:gs>
                <a:gs pos="40000">
                  <a:schemeClr val="accent3">
                    <a:shade val="50000"/>
                  </a:schemeClr>
                </a:gs>
                <a:gs pos="60000">
                  <a:schemeClr val="accent4">
                    <a:shade val="50000"/>
                  </a:schemeClr>
                </a:gs>
                <a:gs pos="80000">
                  <a:schemeClr val="accent5">
                    <a:shade val="50000"/>
                  </a:schemeClr>
                </a:gs>
                <a:gs pos="100000">
                  <a:schemeClr val="accent6">
                    <a:shade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  <a:effectLst>
            <a:outerShdw blurRad="50800" dist="38100" dir="5400000" algn="tl" rotWithShape="0">
              <a:prstClr val="black">
                <a:alpha val="5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None/>
              <a:defRPr/>
            </a:pP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62200" y="5410200"/>
            <a:ext cx="5657888" cy="804862"/>
          </a:xfrm>
        </p:spPr>
        <p:txBody>
          <a:bodyPr anchor="ctr"/>
          <a:lstStyle>
            <a:lvl1pPr marL="0" indent="0" algn="r">
              <a:buNone/>
              <a:defRPr sz="1200" b="0"/>
            </a:lvl1pPr>
            <a:lvl2pPr marL="457200" indent="0" algn="r">
              <a:buNone/>
              <a:defRPr sz="1200" b="0"/>
            </a:lvl2pPr>
            <a:lvl3pPr marL="914400" indent="0" algn="r">
              <a:buNone/>
              <a:defRPr sz="1200" b="0"/>
            </a:lvl3pPr>
            <a:lvl4pPr marL="1371600" indent="0" algn="r">
              <a:buNone/>
              <a:defRPr sz="1200" b="0"/>
            </a:lvl4pPr>
            <a:lvl5pPr marL="1828800" indent="0" algn="r">
              <a:buNone/>
              <a:defRPr sz="1200" b="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9" name="日期占位符 4"/>
          <p:cNvSpPr>
            <a:spLocks noGrp="1"/>
          </p:cNvSpPr>
          <p:nvPr>
            <p:ph type="dt" sz="half" idx="12"/>
          </p:nvPr>
        </p:nvSpPr>
        <p:spPr>
          <a:xfrm>
            <a:off x="76200" y="6400800"/>
            <a:ext cx="3200400" cy="284163"/>
          </a:xfrm>
          <a:prstGeom prst="rect">
            <a:avLst/>
          </a:prstGeom>
        </p:spPr>
        <p:txBody>
          <a:bodyPr vert="horz" rtlCol="0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页脚占位符 5"/>
          <p:cNvSpPr>
            <a:spLocks noGrp="1"/>
          </p:cNvSpPr>
          <p:nvPr>
            <p:ph type="ftr" sz="quarter" idx="3"/>
          </p:nvPr>
        </p:nvSpPr>
        <p:spPr>
          <a:xfrm>
            <a:off x="5334000" y="6400800"/>
            <a:ext cx="3733800" cy="284163"/>
          </a:xfrm>
          <a:prstGeom prst="rect">
            <a:avLst/>
          </a:prstGeom>
        </p:spPr>
        <p:txBody>
          <a:bodyPr vert="horz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4114800" y="6400800"/>
            <a:ext cx="914400" cy="284163"/>
          </a:xfrm>
          <a:prstGeom prst="rect">
            <a:avLst/>
          </a:prstGeom>
        </p:spPr>
        <p:txBody>
          <a:bodyPr vert="horz" wrap="square" lIns="45720" tIns="45720" rIns="4572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58549B5-5910-4C57-BEFF-FD79977C9F0C}" type="slidenum"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636363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100" b="0" i="0" u="none" strike="noStrike" kern="1200" cap="none" spc="0" normalizeH="0" baseline="0" noProof="0">
              <a:ln>
                <a:noFill/>
              </a:ln>
              <a:solidFill>
                <a:srgbClr val="63636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457200" y="1411288"/>
            <a:ext cx="8229600" cy="17463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>
          <a:xfrm>
            <a:off x="76200" y="6400800"/>
            <a:ext cx="3200400" cy="284163"/>
          </a:xfrm>
          <a:prstGeom prst="rect">
            <a:avLst/>
          </a:prstGeom>
        </p:spPr>
        <p:txBody>
          <a:bodyPr vert="horz" rtlCol="0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5334000" y="6400800"/>
            <a:ext cx="3733800" cy="284163"/>
          </a:xfrm>
          <a:prstGeom prst="rect">
            <a:avLst/>
          </a:prstGeom>
        </p:spPr>
        <p:txBody>
          <a:bodyPr vert="horz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114800" y="6400800"/>
            <a:ext cx="914400" cy="284163"/>
          </a:xfrm>
          <a:prstGeom prst="rect">
            <a:avLst/>
          </a:prstGeom>
        </p:spPr>
        <p:txBody>
          <a:bodyPr vert="horz" wrap="square" lIns="45720" tIns="45720" rIns="4572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78F5FF2-6564-4780-A30D-F15B41912ECA}" type="slidenum"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636363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100" b="0" i="0" u="none" strike="noStrike" kern="1200" cap="none" spc="0" normalizeH="0" baseline="0" noProof="0">
              <a:ln>
                <a:noFill/>
              </a:ln>
              <a:solidFill>
                <a:srgbClr val="63636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215206" y="274638"/>
            <a:ext cx="1471594" cy="601188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686568" cy="601188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CE6359C-AD78-441A-B253-54E3DAA65703}" type="slidenum"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636363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100" b="0" i="0" u="none" strike="noStrike" kern="1200" cap="none" spc="0" normalizeH="0" baseline="0" noProof="0">
              <a:ln>
                <a:noFill/>
              </a:ln>
              <a:solidFill>
                <a:srgbClr val="63636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7" name="矩形 6"/>
          <p:cNvSpPr/>
          <p:nvPr/>
        </p:nvSpPr>
        <p:spPr>
          <a:xfrm>
            <a:off x="0" y="6678613"/>
            <a:ext cx="9144000" cy="179388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8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6863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6200" y="6400800"/>
            <a:ext cx="3200400" cy="284163"/>
          </a:xfrm>
          <a:prstGeom prst="rect">
            <a:avLst/>
          </a:prstGeom>
        </p:spPr>
        <p:txBody>
          <a:bodyPr vert="horz" rtlCol="0" anchor="b"/>
          <a:lstStyle>
            <a:lvl1pPr algn="l" eaLnBrk="1" latinLnBrk="0" hangingPunct="1">
              <a:spcBef>
                <a:spcPct val="50000"/>
              </a:spcBef>
              <a:defRPr kumimoji="0" sz="110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5334000" y="6400800"/>
            <a:ext cx="3733800" cy="284163"/>
          </a:xfrm>
          <a:prstGeom prst="rect">
            <a:avLst/>
          </a:prstGeom>
        </p:spPr>
        <p:txBody>
          <a:bodyPr vert="horz" rtlCol="0" anchor="ctr"/>
          <a:lstStyle>
            <a:lvl1pPr algn="r" eaLnBrk="1" latinLnBrk="0" hangingPunct="1">
              <a:spcBef>
                <a:spcPct val="50000"/>
              </a:spcBef>
              <a:defRPr kumimoji="0" sz="110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114800" y="6400800"/>
            <a:ext cx="914400" cy="284163"/>
          </a:xfrm>
          <a:prstGeom prst="rect">
            <a:avLst/>
          </a:prstGeom>
          <a:noFill/>
        </p:spPr>
        <p:txBody>
          <a:bodyPr vert="horz" wrap="square" lIns="45720" tIns="45720" rIns="45720" bIns="45720" numCol="1" anchor="ctr" anchorCtr="0" compatLnSpc="1"/>
          <a:lstStyle>
            <a:lvl1pPr algn="ctr" eaLnBrk="1" latinLnBrk="0" hangingPunct="1">
              <a:spcBef>
                <a:spcPct val="50000"/>
              </a:spcBef>
              <a:defRPr kumimoji="0" sz="1100" b="0">
                <a:solidFill>
                  <a:srgbClr val="636363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CE6359C-AD78-441A-B253-54E3DAA65703}" type="slidenum"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636363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100" b="0" i="0" u="none" strike="noStrike" kern="1200" cap="none" spc="0" normalizeH="0" baseline="0" noProof="0">
              <a:ln>
                <a:noFill/>
              </a:ln>
              <a:solidFill>
                <a:srgbClr val="63636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9144000" cy="107950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withEffect">
                                  <p:stCondLst>
                                    <p:cond delay="3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anose="020B06030201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anose="020B06030201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anose="020B06030201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anose="020B0603020102020204" pitchFamily="34" charset="0"/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50000"/>
        <a:buFont typeface="Wingdings 2" panose="05020102010507070707" pitchFamily="18" charset="2"/>
        <a:buChar char="ß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50000"/>
        <a:buFont typeface="Wingdings 2" panose="05020102010507070707" pitchFamily="18" charset="2"/>
        <a:buChar char="Þ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50000"/>
        <a:buFont typeface="Wingdings 2" panose="05020102010507070707" pitchFamily="18" charset="2"/>
        <a:buChar char="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50000"/>
        <a:buFont typeface="Wingdings 2" panose="05020102010507070707" pitchFamily="18" charset="2"/>
        <a:buChar char="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50000"/>
        <a:buFont typeface="Wingdings 2" panose="05020102010507070707" pitchFamily="18" charset="2"/>
        <a:buChar char="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3.jpe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4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5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6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9" Type="http://schemas.openxmlformats.org/officeDocument/2006/relationships/customXml" Target="../ink/ink5.xml"/><Relationship Id="rId8" Type="http://schemas.openxmlformats.org/officeDocument/2006/relationships/image" Target="../media/image30.png"/><Relationship Id="rId7" Type="http://schemas.openxmlformats.org/officeDocument/2006/relationships/customXml" Target="../ink/ink4.xml"/><Relationship Id="rId6" Type="http://schemas.openxmlformats.org/officeDocument/2006/relationships/image" Target="../media/image29.png"/><Relationship Id="rId5" Type="http://schemas.openxmlformats.org/officeDocument/2006/relationships/customXml" Target="../ink/ink3.xml"/><Relationship Id="rId47" Type="http://schemas.openxmlformats.org/officeDocument/2006/relationships/slideLayout" Target="../slideLayouts/slideLayout7.xml"/><Relationship Id="rId46" Type="http://schemas.openxmlformats.org/officeDocument/2006/relationships/image" Target="../media/image49.png"/><Relationship Id="rId45" Type="http://schemas.openxmlformats.org/officeDocument/2006/relationships/customXml" Target="../ink/ink23.xml"/><Relationship Id="rId44" Type="http://schemas.openxmlformats.org/officeDocument/2006/relationships/image" Target="../media/image48.png"/><Relationship Id="rId43" Type="http://schemas.openxmlformats.org/officeDocument/2006/relationships/customXml" Target="../ink/ink22.xml"/><Relationship Id="rId42" Type="http://schemas.openxmlformats.org/officeDocument/2006/relationships/image" Target="../media/image47.png"/><Relationship Id="rId41" Type="http://schemas.openxmlformats.org/officeDocument/2006/relationships/customXml" Target="../ink/ink21.xml"/><Relationship Id="rId40" Type="http://schemas.openxmlformats.org/officeDocument/2006/relationships/image" Target="../media/image46.png"/><Relationship Id="rId4" Type="http://schemas.openxmlformats.org/officeDocument/2006/relationships/image" Target="../media/image28.png"/><Relationship Id="rId39" Type="http://schemas.openxmlformats.org/officeDocument/2006/relationships/customXml" Target="../ink/ink20.xml"/><Relationship Id="rId38" Type="http://schemas.openxmlformats.org/officeDocument/2006/relationships/image" Target="../media/image45.png"/><Relationship Id="rId37" Type="http://schemas.openxmlformats.org/officeDocument/2006/relationships/customXml" Target="../ink/ink19.xml"/><Relationship Id="rId36" Type="http://schemas.openxmlformats.org/officeDocument/2006/relationships/image" Target="../media/image44.png"/><Relationship Id="rId35" Type="http://schemas.openxmlformats.org/officeDocument/2006/relationships/customXml" Target="../ink/ink18.xml"/><Relationship Id="rId34" Type="http://schemas.openxmlformats.org/officeDocument/2006/relationships/image" Target="../media/image43.png"/><Relationship Id="rId33" Type="http://schemas.openxmlformats.org/officeDocument/2006/relationships/customXml" Target="../ink/ink17.xml"/><Relationship Id="rId32" Type="http://schemas.openxmlformats.org/officeDocument/2006/relationships/image" Target="../media/image42.png"/><Relationship Id="rId31" Type="http://schemas.openxmlformats.org/officeDocument/2006/relationships/customXml" Target="../ink/ink16.xml"/><Relationship Id="rId30" Type="http://schemas.openxmlformats.org/officeDocument/2006/relationships/image" Target="../media/image41.png"/><Relationship Id="rId3" Type="http://schemas.openxmlformats.org/officeDocument/2006/relationships/customXml" Target="../ink/ink2.xml"/><Relationship Id="rId29" Type="http://schemas.openxmlformats.org/officeDocument/2006/relationships/customXml" Target="../ink/ink15.xml"/><Relationship Id="rId28" Type="http://schemas.openxmlformats.org/officeDocument/2006/relationships/image" Target="../media/image40.png"/><Relationship Id="rId27" Type="http://schemas.openxmlformats.org/officeDocument/2006/relationships/customXml" Target="../ink/ink14.xml"/><Relationship Id="rId26" Type="http://schemas.openxmlformats.org/officeDocument/2006/relationships/image" Target="../media/image39.png"/><Relationship Id="rId25" Type="http://schemas.openxmlformats.org/officeDocument/2006/relationships/customXml" Target="../ink/ink13.xml"/><Relationship Id="rId24" Type="http://schemas.openxmlformats.org/officeDocument/2006/relationships/image" Target="../media/image38.png"/><Relationship Id="rId23" Type="http://schemas.openxmlformats.org/officeDocument/2006/relationships/customXml" Target="../ink/ink12.xml"/><Relationship Id="rId22" Type="http://schemas.openxmlformats.org/officeDocument/2006/relationships/image" Target="../media/image37.png"/><Relationship Id="rId21" Type="http://schemas.openxmlformats.org/officeDocument/2006/relationships/customXml" Target="../ink/ink11.xml"/><Relationship Id="rId20" Type="http://schemas.openxmlformats.org/officeDocument/2006/relationships/image" Target="../media/image36.png"/><Relationship Id="rId2" Type="http://schemas.openxmlformats.org/officeDocument/2006/relationships/image" Target="../media/image27.png"/><Relationship Id="rId19" Type="http://schemas.openxmlformats.org/officeDocument/2006/relationships/customXml" Target="../ink/ink10.xml"/><Relationship Id="rId18" Type="http://schemas.openxmlformats.org/officeDocument/2006/relationships/image" Target="../media/image35.png"/><Relationship Id="rId17" Type="http://schemas.openxmlformats.org/officeDocument/2006/relationships/customXml" Target="../ink/ink9.xml"/><Relationship Id="rId16" Type="http://schemas.openxmlformats.org/officeDocument/2006/relationships/image" Target="../media/image34.png"/><Relationship Id="rId15" Type="http://schemas.openxmlformats.org/officeDocument/2006/relationships/customXml" Target="../ink/ink8.xml"/><Relationship Id="rId14" Type="http://schemas.openxmlformats.org/officeDocument/2006/relationships/image" Target="../media/image33.png"/><Relationship Id="rId13" Type="http://schemas.openxmlformats.org/officeDocument/2006/relationships/customXml" Target="../ink/ink7.xml"/><Relationship Id="rId12" Type="http://schemas.openxmlformats.org/officeDocument/2006/relationships/image" Target="../media/image32.png"/><Relationship Id="rId11" Type="http://schemas.openxmlformats.org/officeDocument/2006/relationships/customXml" Target="../ink/ink6.xml"/><Relationship Id="rId10" Type="http://schemas.openxmlformats.org/officeDocument/2006/relationships/image" Target="../media/image31.png"/><Relationship Id="rId1" Type="http://schemas.openxmlformats.org/officeDocument/2006/relationships/customXml" Target="../ink/ink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标题 3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8305800" cy="1470025"/>
          </a:xfrm>
        </p:spPr>
        <p:txBody>
          <a:bodyPr vert="horz" wrap="square" lIns="91440" tIns="45720" rIns="91440" bIns="45720" anchor="b" anchorCtr="0"/>
          <a:p>
            <a:pPr eaLnBrk="1" hangingPunct="1">
              <a:lnSpc>
                <a:spcPct val="150000"/>
              </a:lnSpc>
              <a:buClrTx/>
              <a:buSzTx/>
              <a:buFontTx/>
              <a:buNone/>
            </a:pPr>
            <a:r>
              <a:rPr lang="en-US" altLang="zh-CN" sz="4800" dirty="0">
                <a:ea typeface="微软雅黑" panose="020B0503020204020204" pitchFamily="34" charset="-122"/>
              </a:rPr>
              <a:t>Session 7</a:t>
            </a:r>
            <a:br>
              <a:rPr lang="en-US" altLang="zh-CN" sz="4800" dirty="0">
                <a:ea typeface="微软雅黑" panose="020B0503020204020204" pitchFamily="34" charset="-122"/>
              </a:rPr>
            </a:br>
            <a:r>
              <a:rPr lang="en-US" altLang="zh-CN" sz="4800" dirty="0">
                <a:ea typeface="微软雅黑" panose="020B0503020204020204" pitchFamily="34" charset="-122"/>
              </a:rPr>
              <a:t> Black-Box Testing (1)</a:t>
            </a:r>
            <a:br>
              <a:rPr lang="en-US" altLang="zh-CN" sz="4800" dirty="0">
                <a:ea typeface="微软雅黑" panose="020B0503020204020204" pitchFamily="34" charset="-122"/>
              </a:rPr>
            </a:br>
            <a:r>
              <a:rPr lang="en-US" altLang="zh-CN" sz="3200" dirty="0">
                <a:solidFill>
                  <a:srgbClr val="3333C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-- Boundary Value Analysis</a:t>
            </a:r>
            <a:endParaRPr lang="zh-CN" altLang="en-US" sz="3200" dirty="0">
              <a:ea typeface="微软雅黑" panose="020B0503020204020204" pitchFamily="34" charset="-122"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>
          <a:xfrm>
            <a:off x="1905000" y="4419600"/>
            <a:ext cx="6400800" cy="1752600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Pct val="50000"/>
              <a:buFont typeface="Wingdings 2" panose="05020102010507070707"/>
              <a:buNone/>
              <a:defRPr/>
            </a:pPr>
            <a:endParaRPr kumimoji="0" lang="en-US" altLang="zh-CN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Pct val="50000"/>
              <a:buFont typeface="Wingdings 2" panose="05020102010507070707"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chengbaolei@suda.edu.cn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Text Box 24"/>
          <p:cNvSpPr txBox="1"/>
          <p:nvPr/>
        </p:nvSpPr>
        <p:spPr>
          <a:xfrm>
            <a:off x="153988" y="709613"/>
            <a:ext cx="6858000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latin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Objectives</a:t>
            </a:r>
            <a:endParaRPr lang="en-US" altLang="zh-CN" sz="1800" b="1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363" name="Rectangle 25"/>
          <p:cNvSpPr/>
          <p:nvPr/>
        </p:nvSpPr>
        <p:spPr>
          <a:xfrm>
            <a:off x="928688" y="1143000"/>
            <a:ext cx="7315200" cy="4570413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lvl="0" indent="-342900" eaLnBrk="1" latinLnBrk="1" hangingPunct="1">
              <a:lnSpc>
                <a:spcPct val="130000"/>
              </a:lnSpc>
              <a:buClrTx/>
              <a:buSzTx/>
              <a:buFontTx/>
              <a:buBlip>
                <a:blip r:embed="rId1"/>
              </a:buBlip>
            </a:pPr>
            <a:r>
              <a:rPr lang="en-US" altLang="zh-CN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In this Session, you will learn</a:t>
            </a:r>
            <a:endParaRPr lang="en-US" altLang="zh-CN" dirty="0">
              <a:solidFill>
                <a:srgbClr val="3333CC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739775" lvl="1" indent="-282575" eaLnBrk="1" latinLnBrk="1" hangingPunct="1">
              <a:lnSpc>
                <a:spcPct val="130000"/>
              </a:lnSpc>
              <a:buClrTx/>
              <a:buSzTx/>
              <a:buFontTx/>
              <a:buBlip>
                <a:blip r:embed="rId2"/>
              </a:buBlip>
            </a:pPr>
            <a:r>
              <a:rPr lang="en-US" altLang="zh-CN" sz="3200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Introduction of Black-Box Testing</a:t>
            </a:r>
            <a:endParaRPr lang="en-US" altLang="zh-CN" sz="3200" dirty="0">
              <a:solidFill>
                <a:srgbClr val="3333CC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739775" lvl="1" indent="-282575" eaLnBrk="1" latinLnBrk="1" hangingPunct="1">
              <a:lnSpc>
                <a:spcPct val="130000"/>
              </a:lnSpc>
              <a:buClrTx/>
              <a:buSzTx/>
              <a:buFontTx/>
              <a:buBlip>
                <a:blip r:embed="rId2"/>
              </a:buBlip>
            </a:pPr>
            <a:r>
              <a:rPr lang="en-US" altLang="zh-CN" sz="3200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Boundary Value Analysis</a:t>
            </a:r>
            <a:endParaRPr lang="en-US" altLang="zh-CN" sz="3200" dirty="0">
              <a:solidFill>
                <a:srgbClr val="3333CC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739775" lvl="1" indent="-282575" eaLnBrk="1" latinLnBrk="1" hangingPunct="1">
              <a:lnSpc>
                <a:spcPct val="130000"/>
              </a:lnSpc>
              <a:buClrTx/>
              <a:buSzTx/>
              <a:buFontTx/>
              <a:buBlip>
                <a:blip r:embed="rId2"/>
              </a:buBlip>
            </a:pPr>
            <a:r>
              <a:rPr lang="en-US" altLang="zh-CN" sz="3200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Equivalence Partitioning</a:t>
            </a:r>
            <a:endParaRPr lang="en-US" altLang="zh-CN" sz="3200" dirty="0">
              <a:solidFill>
                <a:srgbClr val="3333CC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739775" lvl="1" indent="-282575" eaLnBrk="1" latinLnBrk="1" hangingPunct="1">
              <a:lnSpc>
                <a:spcPct val="130000"/>
              </a:lnSpc>
              <a:buClrTx/>
              <a:buSzTx/>
              <a:buFontTx/>
              <a:buBlip>
                <a:blip r:embed="rId2"/>
              </a:buBlip>
            </a:pPr>
            <a:r>
              <a:rPr lang="en-US" altLang="zh-CN" sz="3200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Decision Table</a:t>
            </a:r>
            <a:endParaRPr lang="en-US" altLang="zh-CN" sz="3200" dirty="0">
              <a:solidFill>
                <a:srgbClr val="3333CC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739775" lvl="1" indent="-282575" eaLnBrk="1" latinLnBrk="1" hangingPunct="1">
              <a:lnSpc>
                <a:spcPct val="130000"/>
              </a:lnSpc>
              <a:buClrTx/>
              <a:buSzTx/>
              <a:buFontTx/>
              <a:buBlip>
                <a:blip r:embed="rId2"/>
              </a:buBlip>
            </a:pPr>
            <a:r>
              <a:rPr lang="en-US" altLang="zh-CN" sz="3200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Cause-Effect Graph</a:t>
            </a:r>
            <a:endParaRPr lang="en-US" altLang="zh-CN" sz="3200" dirty="0">
              <a:solidFill>
                <a:srgbClr val="3333CC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739775" lvl="1" indent="-282575" eaLnBrk="1" latinLnBrk="1" hangingPunct="1">
              <a:lnSpc>
                <a:spcPct val="130000"/>
              </a:lnSpc>
              <a:buClrTx/>
              <a:buSzTx/>
              <a:buFontTx/>
              <a:buBlip>
                <a:blip r:embed="rId2"/>
              </a:buBlip>
            </a:pPr>
            <a:endParaRPr lang="en-US" altLang="zh-CN" sz="2400" dirty="0">
              <a:solidFill>
                <a:srgbClr val="3333CC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Rectangle 2"/>
          <p:cNvSpPr>
            <a:spLocks noGrp="1"/>
          </p:cNvSpPr>
          <p:nvPr>
            <p:ph type="title" idx="4294967295"/>
          </p:nvPr>
        </p:nvSpPr>
        <p:spPr>
          <a:xfrm>
            <a:off x="642938" y="152400"/>
            <a:ext cx="7772400" cy="1143000"/>
          </a:xfrm>
        </p:spPr>
        <p:txBody>
          <a:bodyPr vert="horz" wrap="square" lIns="91440" tIns="45720" rIns="91440" bIns="45720" anchor="ctr" anchorCtr="0"/>
          <a:p>
            <a:pPr marL="342900" indent="-342900" eaLnBrk="1" hangingPunct="1"/>
            <a:r>
              <a:rPr lang="en-US" altLang="zh-CN" sz="3600" dirty="0">
                <a:latin typeface="Arial" panose="020B0604020202020204" pitchFamily="34" charset="0"/>
                <a:ea typeface="宋体" panose="02010600030101010101" pitchFamily="2" charset="-122"/>
              </a:rPr>
              <a:t>4.1 Introduction of Black-Box Testing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411" name="Rectangle 3"/>
          <p:cNvSpPr>
            <a:spLocks noGrp="1"/>
          </p:cNvSpPr>
          <p:nvPr>
            <p:ph idx="1"/>
          </p:nvPr>
        </p:nvSpPr>
        <p:spPr>
          <a:xfrm>
            <a:off x="361950" y="1419225"/>
            <a:ext cx="8424863" cy="4724400"/>
          </a:xfrm>
        </p:spPr>
        <p:txBody>
          <a:bodyPr vert="horz" wrap="square" lIns="91440" tIns="45720" rIns="91440" bIns="45720" anchor="t" anchorCtr="0"/>
          <a:p>
            <a:r>
              <a:rPr lang="en-US" altLang="zh-CN" sz="3000" dirty="0">
                <a:ea typeface="黑体" panose="02010609060101010101" pitchFamily="49" charset="-122"/>
              </a:rPr>
              <a:t>With black-box testing, the tester views the program as a black-box and is completely unconcerned with the internal structure of the program or system. </a:t>
            </a:r>
            <a:endParaRPr lang="en-US" altLang="zh-CN" sz="3000" dirty="0">
              <a:ea typeface="黑体" panose="02010609060101010101" pitchFamily="49" charset="-122"/>
            </a:endParaRPr>
          </a:p>
          <a:p>
            <a:r>
              <a:rPr lang="en-US" altLang="zh-CN" sz="3000" dirty="0">
                <a:ea typeface="黑体" panose="02010609060101010101" pitchFamily="49" charset="-122"/>
              </a:rPr>
              <a:t>The tester focuses on testing the program’s functionality against the specification.</a:t>
            </a:r>
            <a:endParaRPr lang="en-US" altLang="zh-CN" sz="3000" dirty="0">
              <a:ea typeface="黑体" panose="02010609060101010101" pitchFamily="49" charset="-122"/>
            </a:endParaRPr>
          </a:p>
          <a:p>
            <a:r>
              <a:rPr lang="en-US" altLang="zh-CN" sz="3000" dirty="0">
                <a:ea typeface="黑体" panose="02010609060101010101" pitchFamily="49" charset="-122"/>
              </a:rPr>
              <a:t>Behavioral, functional, closed-box, input-output …</a:t>
            </a:r>
            <a:endParaRPr lang="en-US" altLang="zh-CN" sz="3000" dirty="0">
              <a:latin typeface="Arial Unicode MS" panose="020B0604020202020204" pitchFamily="34" charset="-122"/>
              <a:ea typeface="Arial Unicode MS" panose="020B0604020202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withEffect">
                                  <p:stCondLst>
                                    <p:cond delay="3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Rectangle 2"/>
          <p:cNvSpPr>
            <a:spLocks noGrp="1"/>
          </p:cNvSpPr>
          <p:nvPr>
            <p:ph type="title" idx="4294967295"/>
          </p:nvPr>
        </p:nvSpPr>
        <p:spPr>
          <a:xfrm>
            <a:off x="642938" y="152400"/>
            <a:ext cx="7772400" cy="1143000"/>
          </a:xfrm>
        </p:spPr>
        <p:txBody>
          <a:bodyPr vert="horz" wrap="square" lIns="91440" tIns="45720" rIns="91440" bIns="45720" anchor="ctr" anchorCtr="0"/>
          <a:p>
            <a:pPr marL="342900" indent="-342900" eaLnBrk="1" hangingPunct="1"/>
            <a:r>
              <a:rPr lang="en-US" altLang="zh-CN" sz="3600" dirty="0">
                <a:latin typeface="Arial" panose="020B0604020202020204" pitchFamily="34" charset="0"/>
                <a:ea typeface="宋体" panose="02010600030101010101" pitchFamily="2" charset="-122"/>
              </a:rPr>
              <a:t>4.1 Introduction of Black-Box Testing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435" name="Rectangle 3"/>
          <p:cNvSpPr>
            <a:spLocks noGrp="1"/>
          </p:cNvSpPr>
          <p:nvPr>
            <p:ph idx="1"/>
          </p:nvPr>
        </p:nvSpPr>
        <p:spPr>
          <a:xfrm>
            <a:off x="361950" y="1419225"/>
            <a:ext cx="8313738" cy="47244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Why we need Black-box testing?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/>
            <a:r>
              <a:rPr lang="en-US" altLang="zh-CN" sz="3000" dirty="0">
                <a:ea typeface="宋体" panose="02010600030101010101" pitchFamily="2" charset="-122"/>
              </a:rPr>
              <a:t>Specific knowledge of the application’s code /internal structure and programming knowledge in general is not required. </a:t>
            </a:r>
            <a:endParaRPr lang="en-US" altLang="zh-CN" sz="3000" dirty="0">
              <a:ea typeface="宋体" panose="02010600030101010101" pitchFamily="2" charset="-122"/>
            </a:endParaRPr>
          </a:p>
          <a:p>
            <a:pPr lvl="1"/>
            <a:r>
              <a:rPr lang="en-US" altLang="zh-CN" sz="3000" dirty="0">
                <a:ea typeface="宋体" panose="02010600030101010101" pitchFamily="2" charset="-122"/>
              </a:rPr>
              <a:t>The tester </a:t>
            </a:r>
            <a:r>
              <a:rPr lang="en-US" altLang="zh-CN" sz="3000" dirty="0">
                <a:ea typeface="黑体" panose="02010609060101010101" pitchFamily="49" charset="-122"/>
              </a:rPr>
              <a:t>only know the "legal" inputs and what the expected outputs should be.</a:t>
            </a:r>
            <a:endParaRPr lang="en-US" altLang="zh-CN" sz="3000" dirty="0">
              <a:ea typeface="黑体" panose="02010609060101010101" pitchFamily="49" charset="-122"/>
            </a:endParaRPr>
          </a:p>
          <a:p>
            <a:pPr lvl="1"/>
            <a:r>
              <a:rPr lang="en-US" altLang="zh-CN" sz="3000" dirty="0">
                <a:ea typeface="宋体" panose="02010600030101010101" pitchFamily="2" charset="-122"/>
              </a:rPr>
              <a:t>The tester is aware of what the software is supposed to do but is not aware of how it does it.</a:t>
            </a:r>
            <a:endParaRPr lang="en-US" altLang="zh-CN" dirty="0">
              <a:latin typeface="Arial Unicode MS" panose="020B0604020202020204" pitchFamily="34" charset="-122"/>
              <a:ea typeface="Arial Unicode MS" panose="020B0604020202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withEffect">
                                  <p:stCondLst>
                                    <p:cond delay="3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Text Box 24"/>
          <p:cNvSpPr txBox="1"/>
          <p:nvPr/>
        </p:nvSpPr>
        <p:spPr>
          <a:xfrm>
            <a:off x="153988" y="709613"/>
            <a:ext cx="6858000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latin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Basic Concepts of White box testing</a:t>
            </a:r>
            <a:endParaRPr lang="en-US" altLang="zh-CN" sz="1800" b="1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611188" y="692150"/>
          <a:ext cx="8208963" cy="5451475"/>
        </p:xfrm>
        <a:graphic>
          <a:graphicData uri="http://schemas.openxmlformats.org/drawingml/2006/table">
            <a:tbl>
              <a:tblPr/>
              <a:tblGrid>
                <a:gridCol w="1492537"/>
                <a:gridCol w="2684299"/>
                <a:gridCol w="4032126"/>
              </a:tblGrid>
              <a:tr h="708218">
                <a:tc>
                  <a:txBody>
                    <a:bodyPr/>
                    <a:lstStyle/>
                    <a:p>
                      <a:endParaRPr lang="zh-CN" sz="2000" kern="100" dirty="0">
                        <a:latin typeface="+mn-lt"/>
                        <a:cs typeface="Times New Roman" panose="02020603050405020304"/>
                      </a:endParaRPr>
                    </a:p>
                  </a:txBody>
                  <a:tcPr marL="91441" marR="91441" marT="45714" marB="45714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CEB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latin typeface="+mn-lt"/>
                          <a:ea typeface="宋体" panose="02010600030101010101" pitchFamily="2" charset="-122"/>
                          <a:cs typeface="Times New Roman" panose="02020603050405020304"/>
                        </a:rPr>
                        <a:t>White-box Testing</a:t>
                      </a:r>
                      <a:endParaRPr lang="zh-CN" sz="2000" kern="100" dirty="0">
                        <a:latin typeface="+mn-lt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1441" marR="91441" marT="45714" marB="4571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CEB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latin typeface="+mn-lt"/>
                          <a:ea typeface="宋体" panose="02010600030101010101" pitchFamily="2" charset="-122"/>
                          <a:cs typeface="Times New Roman" panose="02020603050405020304"/>
                        </a:rPr>
                        <a:t>Black-box Testing</a:t>
                      </a:r>
                      <a:endParaRPr lang="zh-CN" sz="2000" kern="100">
                        <a:latin typeface="+mn-lt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1441" marR="91441" marT="45714" marB="4571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CEBC"/>
                    </a:solidFill>
                  </a:tcPr>
                </a:tc>
              </a:tr>
              <a:tr h="188430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latin typeface="+mn-lt"/>
                          <a:ea typeface="宋体" panose="02010600030101010101" pitchFamily="2" charset="-122"/>
                          <a:cs typeface="Times New Roman" panose="02020603050405020304"/>
                        </a:rPr>
                        <a:t>Tester</a:t>
                      </a:r>
                      <a:endParaRPr lang="zh-CN" sz="2000" kern="100">
                        <a:latin typeface="+mn-lt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latin typeface="+mn-lt"/>
                          <a:ea typeface="宋体" panose="02010600030101010101" pitchFamily="2" charset="-122"/>
                          <a:cs typeface="Times New Roman" panose="02020603050405020304"/>
                        </a:rPr>
                        <a:t>visibility</a:t>
                      </a:r>
                      <a:endParaRPr lang="zh-CN" sz="2000" kern="100">
                        <a:latin typeface="+mn-lt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1441" marR="91441" marT="45714" marB="45714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atin typeface="+mn-lt"/>
                          <a:ea typeface="宋体" panose="02010600030101010101" pitchFamily="2" charset="-122"/>
                          <a:cs typeface="Times New Roman" panose="02020603050405020304"/>
                        </a:rPr>
                        <a:t>have visibility to the code and write test cases based upon the code</a:t>
                      </a:r>
                      <a:endParaRPr lang="zh-CN" sz="2000" kern="100" dirty="0">
                        <a:latin typeface="+mn-lt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1441" marR="91441" marT="45714" marB="4571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atin typeface="+mn-lt"/>
                          <a:ea typeface="宋体" panose="02010600030101010101" pitchFamily="2" charset="-122"/>
                          <a:cs typeface="Times New Roman" panose="02020603050405020304"/>
                        </a:rPr>
                        <a:t>have no visibility to the code and write test cases based on possible inputs and outputs for functionality documented in specifications and /or requirements</a:t>
                      </a:r>
                      <a:endParaRPr lang="zh-CN" sz="2000" kern="100" dirty="0">
                        <a:latin typeface="+mn-lt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1441" marR="91441" marT="45714" marB="4571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BEBE"/>
                    </a:solidFill>
                  </a:tcPr>
                </a:tc>
              </a:tr>
              <a:tr h="1179718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latin typeface="+mn-lt"/>
                          <a:ea typeface="宋体" panose="02010600030101010101" pitchFamily="2" charset="-122"/>
                          <a:cs typeface="Times New Roman" panose="02020603050405020304"/>
                        </a:rPr>
                        <a:t>A failed test case  reveals</a:t>
                      </a:r>
                      <a:endParaRPr lang="zh-CN" sz="2000" kern="100">
                        <a:latin typeface="+mn-lt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1441" marR="91441" marT="45714" marB="45714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atin typeface="+mn-lt"/>
                          <a:ea typeface="宋体" panose="02010600030101010101" pitchFamily="2" charset="-122"/>
                          <a:cs typeface="Times New Roman" panose="02020603050405020304"/>
                        </a:rPr>
                        <a:t>a problem </a:t>
                      </a:r>
                      <a:r>
                        <a:rPr lang="en-US" sz="2000" kern="100" dirty="0" smtClean="0">
                          <a:latin typeface="+mn-lt"/>
                          <a:ea typeface="宋体" panose="02010600030101010101" pitchFamily="2" charset="-122"/>
                          <a:cs typeface="Times New Roman" panose="02020603050405020304"/>
                        </a:rPr>
                        <a:t>(a fault</a:t>
                      </a:r>
                      <a:r>
                        <a:rPr lang="en-US" sz="2000" kern="100" dirty="0">
                          <a:latin typeface="+mn-lt"/>
                          <a:ea typeface="宋体" panose="02010600030101010101" pitchFamily="2" charset="-122"/>
                          <a:cs typeface="Times New Roman" panose="02020603050405020304"/>
                        </a:rPr>
                        <a:t>)</a:t>
                      </a:r>
                      <a:endParaRPr lang="zh-CN" sz="2000" kern="100" dirty="0">
                        <a:latin typeface="+mn-lt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1441" marR="91441" marT="45714" marB="4571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atin typeface="+mn-lt"/>
                          <a:ea typeface="宋体" panose="02010600030101010101" pitchFamily="2" charset="-122"/>
                          <a:cs typeface="Times New Roman" panose="02020603050405020304"/>
                        </a:rPr>
                        <a:t>a symptom of a problem </a:t>
                      </a:r>
                      <a:endParaRPr lang="en-US" sz="2000" kern="100" dirty="0" smtClean="0">
                        <a:latin typeface="+mn-lt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 smtClean="0">
                          <a:latin typeface="+mn-lt"/>
                          <a:ea typeface="宋体" panose="02010600030101010101" pitchFamily="2" charset="-122"/>
                          <a:cs typeface="Times New Roman" panose="02020603050405020304"/>
                        </a:rPr>
                        <a:t>(</a:t>
                      </a:r>
                      <a:r>
                        <a:rPr lang="en-US" sz="2000" kern="100" dirty="0">
                          <a:latin typeface="+mn-lt"/>
                          <a:ea typeface="宋体" panose="02010600030101010101" pitchFamily="2" charset="-122"/>
                          <a:cs typeface="Times New Roman" panose="02020603050405020304"/>
                        </a:rPr>
                        <a:t>a failure)</a:t>
                      </a:r>
                      <a:endParaRPr lang="zh-CN" sz="2000" kern="100" dirty="0">
                        <a:latin typeface="+mn-lt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1441" marR="91441" marT="45714" marB="4571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BEBE"/>
                    </a:solidFill>
                  </a:tcPr>
                </a:tc>
              </a:tr>
              <a:tr h="1679238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latin typeface="+mn-lt"/>
                          <a:ea typeface="宋体" panose="02010600030101010101" pitchFamily="2" charset="-122"/>
                          <a:cs typeface="Times New Roman" panose="02020603050405020304"/>
                        </a:rPr>
                        <a:t>Controlled?</a:t>
                      </a:r>
                      <a:endParaRPr lang="zh-CN" sz="2000" kern="100">
                        <a:latin typeface="+mn-lt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1441" marR="91441" marT="45714" marB="45714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latin typeface="+mn-lt"/>
                          <a:ea typeface="宋体" panose="02010600030101010101" pitchFamily="2" charset="-122"/>
                          <a:cs typeface="Times New Roman" panose="02020603050405020304"/>
                        </a:rPr>
                        <a:t>Yes – the test case helps to identify  the specific lines of code involved</a:t>
                      </a:r>
                      <a:endParaRPr lang="zh-CN" sz="2000" kern="100">
                        <a:latin typeface="+mn-lt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1441" marR="91441" marT="45714" marB="4571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atin typeface="+mn-lt"/>
                          <a:ea typeface="宋体" panose="02010600030101010101" pitchFamily="2" charset="-122"/>
                          <a:cs typeface="Times New Roman" panose="02020603050405020304"/>
                        </a:rPr>
                        <a:t>No – it can be hard to find the cause of the failure</a:t>
                      </a:r>
                      <a:endParaRPr lang="zh-CN" sz="2000" kern="100" dirty="0">
                        <a:latin typeface="+mn-lt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1441" marR="91441" marT="45714" marB="4571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BEB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Rectangle 2"/>
          <p:cNvSpPr>
            <a:spLocks noGrp="1"/>
          </p:cNvSpPr>
          <p:nvPr>
            <p:ph type="title" idx="4294967295"/>
          </p:nvPr>
        </p:nvSpPr>
        <p:spPr>
          <a:xfrm>
            <a:off x="642938" y="152400"/>
            <a:ext cx="7772400" cy="1143000"/>
          </a:xfrm>
        </p:spPr>
        <p:txBody>
          <a:bodyPr vert="horz" wrap="square" lIns="91440" tIns="45720" rIns="91440" bIns="45720" anchor="ctr" anchorCtr="0"/>
          <a:p>
            <a:pPr marL="342900" indent="-342900" eaLnBrk="1" hangingPunct="1"/>
            <a:r>
              <a:rPr lang="en-US" altLang="zh-CN" sz="3600" dirty="0">
                <a:latin typeface="Arial" panose="020B0604020202020204" pitchFamily="34" charset="0"/>
                <a:ea typeface="宋体" panose="02010600030101010101" pitchFamily="2" charset="-122"/>
              </a:rPr>
              <a:t>4.1 Introduction of Black-Box Testing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483" name="Rectangle 3"/>
          <p:cNvSpPr>
            <a:spLocks noGrp="1"/>
          </p:cNvSpPr>
          <p:nvPr>
            <p:ph idx="1"/>
          </p:nvPr>
        </p:nvSpPr>
        <p:spPr>
          <a:xfrm>
            <a:off x="361950" y="1419225"/>
            <a:ext cx="8424863" cy="4724400"/>
          </a:xfrm>
        </p:spPr>
        <p:txBody>
          <a:bodyPr vert="horz" wrap="square" lIns="91440" tIns="45720" rIns="91440" bIns="45720" anchor="t" anchorCtr="0"/>
          <a:p>
            <a:r>
              <a:rPr lang="en-US" altLang="zh-CN" dirty="0">
                <a:ea typeface="宋体" panose="02010600030101010101" pitchFamily="2" charset="-122"/>
              </a:rPr>
              <a:t>Typical black-box test design techniques:</a:t>
            </a:r>
            <a:endParaRPr lang="en-US" altLang="zh-CN" dirty="0">
              <a:latin typeface="Arial Unicode MS" panose="020B0604020202020204" pitchFamily="34" charset="-122"/>
              <a:ea typeface="Arial Unicode MS" panose="020B0604020202020204" pitchFamily="34" charset="-122"/>
            </a:endParaRPr>
          </a:p>
          <a:p>
            <a:pPr marL="739775" lvl="1" indent="-282575">
              <a:lnSpc>
                <a:spcPct val="130000"/>
              </a:lnSpc>
              <a:buBlip>
                <a:blip r:embed="rId1"/>
              </a:buBlip>
            </a:pPr>
            <a:r>
              <a:rPr lang="en-US" altLang="zh-CN" sz="3200" dirty="0">
                <a:ea typeface="黑体" panose="02010609060101010101" pitchFamily="49" charset="-122"/>
              </a:rPr>
              <a:t>Boundary Value Analysis</a:t>
            </a:r>
            <a:endParaRPr lang="en-US" altLang="zh-CN" sz="3200" dirty="0">
              <a:ea typeface="黑体" panose="02010609060101010101" pitchFamily="49" charset="-122"/>
            </a:endParaRPr>
          </a:p>
          <a:p>
            <a:pPr marL="739775" lvl="1" indent="-282575">
              <a:lnSpc>
                <a:spcPct val="130000"/>
              </a:lnSpc>
              <a:buBlip>
                <a:blip r:embed="rId1"/>
              </a:buBlip>
            </a:pPr>
            <a:r>
              <a:rPr lang="en-US" altLang="zh-CN" sz="3200" dirty="0">
                <a:ea typeface="黑体" panose="02010609060101010101" pitchFamily="49" charset="-122"/>
              </a:rPr>
              <a:t>Equivalence Partitioning</a:t>
            </a:r>
            <a:endParaRPr lang="en-US" altLang="zh-CN" sz="3200" dirty="0">
              <a:ea typeface="黑体" panose="02010609060101010101" pitchFamily="49" charset="-122"/>
            </a:endParaRPr>
          </a:p>
          <a:p>
            <a:pPr marL="739775" lvl="1" indent="-282575">
              <a:lnSpc>
                <a:spcPct val="130000"/>
              </a:lnSpc>
              <a:buBlip>
                <a:blip r:embed="rId1"/>
              </a:buBlip>
            </a:pPr>
            <a:r>
              <a:rPr lang="en-US" altLang="zh-CN" sz="3200" dirty="0">
                <a:ea typeface="黑体" panose="02010609060101010101" pitchFamily="49" charset="-122"/>
              </a:rPr>
              <a:t>Decision Table </a:t>
            </a:r>
            <a:endParaRPr lang="en-US" altLang="zh-CN" sz="3200" dirty="0">
              <a:ea typeface="黑体" panose="02010609060101010101" pitchFamily="49" charset="-122"/>
            </a:endParaRPr>
          </a:p>
          <a:p>
            <a:pPr marL="739775" lvl="1" indent="-282575">
              <a:lnSpc>
                <a:spcPct val="130000"/>
              </a:lnSpc>
              <a:buBlip>
                <a:blip r:embed="rId1"/>
              </a:buBlip>
            </a:pPr>
            <a:r>
              <a:rPr lang="en-US" altLang="zh-CN" sz="3200" dirty="0">
                <a:ea typeface="黑体" panose="02010609060101010101" pitchFamily="49" charset="-122"/>
              </a:rPr>
              <a:t>Cause-Effect Graph</a:t>
            </a:r>
            <a:endParaRPr lang="en-US" altLang="zh-CN" sz="3200" dirty="0"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withEffect">
                                  <p:stCondLst>
                                    <p:cond delay="3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1506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92725" y="1330325"/>
            <a:ext cx="3600450" cy="44005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533400" y="457200"/>
            <a:ext cx="3810000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1" latin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3200" i="1" kern="1200" cap="none" spc="0" normalizeH="0" baseline="0" noProof="0" dirty="0">
                <a:solidFill>
                  <a:srgbClr val="FF0000"/>
                </a:solidFill>
                <a:latin typeface="Arial Black" panose="020B0A04020102020204" pitchFamily="34" charset="0"/>
                <a:ea typeface="+mn-ea"/>
                <a:cs typeface="+mn-cs"/>
              </a:rPr>
              <a:t>Boundary test</a:t>
            </a:r>
            <a:endParaRPr kumimoji="1" lang="en-US" altLang="zh-CN" sz="3200" i="1" kern="1200" cap="none" spc="0" normalizeH="0" baseline="0" noProof="0" dirty="0">
              <a:solidFill>
                <a:srgbClr val="FF0000"/>
              </a:solidFill>
              <a:latin typeface="Arial Black" panose="020B0A04020102020204" pitchFamily="34" charset="0"/>
              <a:ea typeface="+mn-ea"/>
              <a:cs typeface="+mn-cs"/>
            </a:endParaRPr>
          </a:p>
        </p:txBody>
      </p:sp>
      <p:sp>
        <p:nvSpPr>
          <p:cNvPr id="21508" name="TextBox 7"/>
          <p:cNvSpPr txBox="1"/>
          <p:nvPr/>
        </p:nvSpPr>
        <p:spPr>
          <a:xfrm>
            <a:off x="538163" y="1082675"/>
            <a:ext cx="4338637" cy="5857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latin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b="1" i="1" dirty="0">
                <a:latin typeface="Arial" panose="020B0604020202020204" pitchFamily="34" charset="0"/>
                <a:ea typeface="宋体" panose="02010600030101010101" pitchFamily="2" charset="-122"/>
              </a:rPr>
              <a:t>If you can safely and</a:t>
            </a:r>
            <a:endParaRPr lang="zh-CN" altLang="en-US" b="1" i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33400" y="1527175"/>
            <a:ext cx="4338638" cy="5857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1" latin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3200" i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confidently walk</a:t>
            </a:r>
            <a:endParaRPr kumimoji="1" lang="zh-CN" altLang="en-US" sz="3200" i="1" kern="1200" cap="none" spc="0" normalizeH="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38163" y="1973263"/>
            <a:ext cx="4257675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1" latin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3200" i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along the edge of a</a:t>
            </a:r>
            <a:endParaRPr kumimoji="1" lang="zh-CN" altLang="en-US" sz="3200" i="1" kern="1200" cap="none" spc="0" normalizeH="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38163" y="2540000"/>
            <a:ext cx="4478338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1" latin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3200" i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cliff without falling off,</a:t>
            </a:r>
            <a:endParaRPr kumimoji="1" lang="zh-CN" altLang="en-US" sz="3200" i="1" kern="1200" cap="none" spc="0" normalizeH="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38163" y="2997200"/>
            <a:ext cx="4491038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1" latin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3200" i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you can almost</a:t>
            </a:r>
            <a:endParaRPr kumimoji="1" lang="zh-CN" altLang="en-US" sz="3200" i="1" kern="1200" cap="none" spc="0" normalizeH="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28638" y="3530600"/>
            <a:ext cx="4522788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1" latin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3200" i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certainly walk in the</a:t>
            </a:r>
            <a:endParaRPr kumimoji="1" lang="zh-CN" altLang="en-US" sz="3200" i="1" kern="1200" cap="none" spc="0" normalizeH="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38163" y="3987800"/>
            <a:ext cx="4491038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1" latin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3200" i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middle of a field.</a:t>
            </a:r>
            <a:endParaRPr kumimoji="1" lang="zh-CN" altLang="en-US" sz="3200" i="1" kern="1200" cap="none" spc="0" normalizeH="0" baseline="0" noProof="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Rectangle 2"/>
          <p:cNvSpPr>
            <a:spLocks noGrp="1"/>
          </p:cNvSpPr>
          <p:nvPr>
            <p:ph type="title" idx="4294967295"/>
          </p:nvPr>
        </p:nvSpPr>
        <p:spPr>
          <a:xfrm>
            <a:off x="642938" y="152400"/>
            <a:ext cx="7772400" cy="1143000"/>
          </a:xfrm>
        </p:spPr>
        <p:txBody>
          <a:bodyPr vert="horz" wrap="square" lIns="91440" tIns="45720" rIns="91440" bIns="45720" anchor="ctr" anchorCtr="0"/>
          <a:p>
            <a:pPr marL="342900" indent="-342900" eaLnBrk="1" hangingPunct="1"/>
            <a:r>
              <a:rPr lang="en-US" altLang="zh-CN" sz="3600" dirty="0">
                <a:latin typeface="Arial" panose="020B0604020202020204" pitchFamily="34" charset="0"/>
                <a:ea typeface="宋体" panose="02010600030101010101" pitchFamily="2" charset="-122"/>
              </a:rPr>
              <a:t>4.2 </a:t>
            </a:r>
            <a:r>
              <a:rPr lang="en-US" altLang="zh-CN" sz="3600" dirty="0">
                <a:ea typeface="宋体" panose="02010600030101010101" pitchFamily="2" charset="-122"/>
              </a:rPr>
              <a:t>Boundary Value Analysis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2531" name="Rectangle 3"/>
          <p:cNvSpPr>
            <a:spLocks noGrp="1"/>
          </p:cNvSpPr>
          <p:nvPr>
            <p:ph idx="1"/>
          </p:nvPr>
        </p:nvSpPr>
        <p:spPr>
          <a:xfrm>
            <a:off x="361950" y="1419225"/>
            <a:ext cx="8424863" cy="4724400"/>
          </a:xfrm>
        </p:spPr>
        <p:txBody>
          <a:bodyPr vert="horz" wrap="square" lIns="91440" tIns="45720" rIns="91440" bIns="45720" anchor="t" anchorCtr="0"/>
          <a:p>
            <a:r>
              <a:rPr lang="en-US" altLang="zh-CN" dirty="0">
                <a:ea typeface="黑体" panose="02010609060101010101" pitchFamily="49" charset="-122"/>
              </a:rPr>
              <a:t>The rationale behind boundary value testing is that errors tend to occur near the extreme values of an input variable. In another word, </a:t>
            </a:r>
            <a:r>
              <a:rPr lang="en-US" altLang="zh-CN" dirty="0">
                <a:solidFill>
                  <a:srgbClr val="FF0000"/>
                </a:solidFill>
                <a:ea typeface="黑体" panose="02010609060101010101" pitchFamily="49" charset="-122"/>
              </a:rPr>
              <a:t>errors tend to congregate at the boundaries</a:t>
            </a:r>
            <a:r>
              <a:rPr lang="en-US" altLang="zh-CN" dirty="0">
                <a:ea typeface="黑体" panose="02010609060101010101" pitchFamily="49" charset="-122"/>
              </a:rPr>
              <a:t>.</a:t>
            </a:r>
            <a:endParaRPr lang="en-US" altLang="zh-CN" dirty="0">
              <a:ea typeface="黑体" panose="02010609060101010101" pitchFamily="49" charset="-122"/>
            </a:endParaRPr>
          </a:p>
          <a:p>
            <a:r>
              <a:rPr lang="en-US" altLang="zh-CN" dirty="0">
                <a:ea typeface="黑体" panose="02010609060101010101" pitchFamily="49" charset="-122"/>
              </a:rPr>
              <a:t>Examples: array, loop, </a:t>
            </a:r>
            <a:r>
              <a:rPr lang="en-US" altLang="zh-CN" dirty="0">
                <a:ea typeface="黑体" panose="02010609060101010101" pitchFamily="49" charset="-122"/>
                <a:sym typeface="Symbol" panose="05050102010706020507" pitchFamily="18" charset="2"/>
              </a:rPr>
              <a:t>  …</a:t>
            </a:r>
            <a:endParaRPr lang="en-US" altLang="zh-CN" dirty="0">
              <a:ea typeface="黑体" panose="02010609060101010101" pitchFamily="49" charset="-122"/>
            </a:endParaRPr>
          </a:p>
          <a:p>
            <a:r>
              <a:rPr lang="en-US" altLang="zh-CN" dirty="0">
                <a:ea typeface="黑体" panose="02010609060101010101" pitchFamily="49" charset="-122"/>
              </a:rPr>
              <a:t>The basic idea of boundary value analysis is to use input variable values at their </a:t>
            </a:r>
            <a:r>
              <a:rPr lang="en-US" altLang="zh-CN" b="1" i="1" dirty="0">
                <a:ea typeface="黑体" panose="02010609060101010101" pitchFamily="49" charset="-122"/>
              </a:rPr>
              <a:t>min, min+, nom, max-, and max.</a:t>
            </a:r>
            <a:endParaRPr lang="en-US" altLang="zh-CN" b="1" i="1" dirty="0">
              <a:ea typeface="黑体" panose="02010609060101010101" pitchFamily="49" charset="-122"/>
            </a:endParaRPr>
          </a:p>
          <a:p>
            <a:endParaRPr lang="zh-CN" altLang="en-US" dirty="0"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withEffect">
                                  <p:stCondLst>
                                    <p:cond delay="3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charRg st="209" end="3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Rectangle 2"/>
          <p:cNvSpPr>
            <a:spLocks noGrp="1"/>
          </p:cNvSpPr>
          <p:nvPr>
            <p:ph type="title" idx="4294967295"/>
          </p:nvPr>
        </p:nvSpPr>
        <p:spPr>
          <a:xfrm>
            <a:off x="642938" y="152400"/>
            <a:ext cx="7772400" cy="1143000"/>
          </a:xfrm>
        </p:spPr>
        <p:txBody>
          <a:bodyPr vert="horz" wrap="square" lIns="91440" tIns="45720" rIns="91440" bIns="45720" anchor="ctr" anchorCtr="0"/>
          <a:p>
            <a:pPr marL="342900" indent="-342900" eaLnBrk="1" hangingPunct="1"/>
            <a:r>
              <a:rPr lang="en-US" altLang="zh-CN" sz="3600" dirty="0">
                <a:latin typeface="Arial" panose="020B0604020202020204" pitchFamily="34" charset="0"/>
                <a:ea typeface="宋体" panose="02010600030101010101" pitchFamily="2" charset="-122"/>
              </a:rPr>
              <a:t>4.2 </a:t>
            </a:r>
            <a:r>
              <a:rPr lang="en-US" altLang="zh-CN" sz="3600" dirty="0">
                <a:ea typeface="宋体" panose="02010600030101010101" pitchFamily="2" charset="-122"/>
              </a:rPr>
              <a:t>Boundary Value Analysis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3555" name="Rectangle 3"/>
          <p:cNvSpPr>
            <a:spLocks noGrp="1"/>
          </p:cNvSpPr>
          <p:nvPr>
            <p:ph idx="1"/>
          </p:nvPr>
        </p:nvSpPr>
        <p:spPr>
          <a:xfrm>
            <a:off x="361950" y="1419225"/>
            <a:ext cx="8424863" cy="4724400"/>
          </a:xfrm>
        </p:spPr>
        <p:txBody>
          <a:bodyPr vert="horz" wrap="square" lIns="91440" tIns="45720" rIns="91440" bIns="45720" anchor="t" anchorCtr="0"/>
          <a:p>
            <a:pPr>
              <a:buNone/>
            </a:pPr>
            <a:r>
              <a:rPr lang="en-US" altLang="zh-CN" b="1" dirty="0">
                <a:ea typeface="黑体" panose="02010609060101010101" pitchFamily="49" charset="-122"/>
              </a:rPr>
              <a:t>Example1 (with one variable):</a:t>
            </a:r>
            <a:endParaRPr lang="en-US" altLang="zh-CN" b="1" dirty="0">
              <a:ea typeface="黑体" panose="02010609060101010101" pitchFamily="49" charset="-122"/>
            </a:endParaRPr>
          </a:p>
          <a:p>
            <a:r>
              <a:rPr lang="en-US" altLang="zh-CN" dirty="0">
                <a:ea typeface="黑体" panose="02010609060101010101" pitchFamily="49" charset="-122"/>
              </a:rPr>
              <a:t>“Input can range from integers 0 to 100,”</a:t>
            </a:r>
            <a:endParaRPr lang="en-US" altLang="zh-CN" dirty="0">
              <a:ea typeface="黑体" panose="02010609060101010101" pitchFamily="49" charset="-122"/>
            </a:endParaRPr>
          </a:p>
          <a:p>
            <a:r>
              <a:rPr lang="en-US" altLang="zh-CN" dirty="0">
                <a:ea typeface="黑体" panose="02010609060101010101" pitchFamily="49" charset="-122"/>
              </a:rPr>
              <a:t>Test cases include:</a:t>
            </a:r>
            <a:endParaRPr lang="en-US" altLang="zh-CN" dirty="0">
              <a:ea typeface="黑体" panose="02010609060101010101" pitchFamily="49" charset="-122"/>
            </a:endParaRPr>
          </a:p>
          <a:p>
            <a:pPr lvl="1"/>
            <a:r>
              <a:rPr lang="en-US" altLang="zh-CN" dirty="0">
                <a:ea typeface="黑体" panose="02010609060101010101" pitchFamily="49" charset="-122"/>
              </a:rPr>
              <a:t>Min: 0</a:t>
            </a:r>
            <a:endParaRPr lang="en-US" altLang="zh-CN" dirty="0">
              <a:ea typeface="黑体" panose="02010609060101010101" pitchFamily="49" charset="-122"/>
            </a:endParaRPr>
          </a:p>
          <a:p>
            <a:pPr lvl="1"/>
            <a:r>
              <a:rPr lang="en-US" altLang="zh-CN" dirty="0">
                <a:ea typeface="黑体" panose="02010609060101010101" pitchFamily="49" charset="-122"/>
              </a:rPr>
              <a:t>Min+: 1</a:t>
            </a:r>
            <a:endParaRPr lang="en-US" altLang="zh-CN" dirty="0">
              <a:ea typeface="黑体" panose="02010609060101010101" pitchFamily="49" charset="-122"/>
            </a:endParaRPr>
          </a:p>
          <a:p>
            <a:pPr lvl="1"/>
            <a:r>
              <a:rPr lang="en-US" altLang="zh-CN" dirty="0">
                <a:ea typeface="黑体" panose="02010609060101010101" pitchFamily="49" charset="-122"/>
              </a:rPr>
              <a:t>Nom: 56</a:t>
            </a:r>
            <a:endParaRPr lang="en-US" altLang="zh-CN" dirty="0">
              <a:ea typeface="黑体" panose="02010609060101010101" pitchFamily="49" charset="-122"/>
            </a:endParaRPr>
          </a:p>
          <a:p>
            <a:pPr lvl="1"/>
            <a:r>
              <a:rPr lang="en-US" altLang="zh-CN" dirty="0">
                <a:ea typeface="黑体" panose="02010609060101010101" pitchFamily="49" charset="-122"/>
              </a:rPr>
              <a:t>Max-: 99</a:t>
            </a:r>
            <a:endParaRPr lang="en-US" altLang="zh-CN" dirty="0">
              <a:ea typeface="黑体" panose="02010609060101010101" pitchFamily="49" charset="-122"/>
            </a:endParaRPr>
          </a:p>
          <a:p>
            <a:pPr lvl="1"/>
            <a:r>
              <a:rPr lang="en-US" altLang="zh-CN" dirty="0">
                <a:ea typeface="黑体" panose="02010609060101010101" pitchFamily="49" charset="-122"/>
              </a:rPr>
              <a:t>Max: 100</a:t>
            </a:r>
            <a:endParaRPr lang="zh-CN" altLang="en-US" dirty="0"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withEffect">
                                  <p:stCondLst>
                                    <p:cond delay="3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Rectangle 2"/>
          <p:cNvSpPr>
            <a:spLocks noGrp="1"/>
          </p:cNvSpPr>
          <p:nvPr>
            <p:ph type="title" idx="4294967295"/>
          </p:nvPr>
        </p:nvSpPr>
        <p:spPr>
          <a:xfrm>
            <a:off x="642938" y="152400"/>
            <a:ext cx="7772400" cy="1143000"/>
          </a:xfrm>
        </p:spPr>
        <p:txBody>
          <a:bodyPr vert="horz" wrap="square" lIns="91440" tIns="45720" rIns="91440" bIns="45720" anchor="ctr" anchorCtr="0"/>
          <a:p>
            <a:pPr marL="342900" indent="-342900" eaLnBrk="1" hangingPunct="1"/>
            <a:r>
              <a:rPr lang="en-US" altLang="zh-CN" sz="3600" dirty="0">
                <a:latin typeface="Arial" panose="020B0604020202020204" pitchFamily="34" charset="0"/>
                <a:ea typeface="宋体" panose="02010600030101010101" pitchFamily="2" charset="-122"/>
              </a:rPr>
              <a:t>4.2 </a:t>
            </a:r>
            <a:r>
              <a:rPr lang="en-US" altLang="zh-CN" sz="3600" dirty="0">
                <a:ea typeface="宋体" panose="02010600030101010101" pitchFamily="2" charset="-122"/>
              </a:rPr>
              <a:t>Boundary Value Analysis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4579" name="Rectangle 3"/>
          <p:cNvSpPr>
            <a:spLocks noGrp="1"/>
          </p:cNvSpPr>
          <p:nvPr>
            <p:ph idx="1"/>
          </p:nvPr>
        </p:nvSpPr>
        <p:spPr>
          <a:xfrm>
            <a:off x="361950" y="1419225"/>
            <a:ext cx="8424863" cy="4724400"/>
          </a:xfrm>
        </p:spPr>
        <p:txBody>
          <a:bodyPr vert="horz" wrap="square" lIns="91440" tIns="45720" rIns="91440" bIns="45720" anchor="t" anchorCtr="0"/>
          <a:p>
            <a:r>
              <a:rPr lang="en-US" altLang="zh-CN" dirty="0">
                <a:ea typeface="黑体" panose="02010609060101010101" pitchFamily="49" charset="-122"/>
              </a:rPr>
              <a:t>What happens when a physical quantity exceeds its maximum?</a:t>
            </a:r>
            <a:endParaRPr lang="en-US" altLang="zh-CN" dirty="0">
              <a:ea typeface="黑体" panose="02010609060101010101" pitchFamily="49" charset="-122"/>
            </a:endParaRPr>
          </a:p>
          <a:p>
            <a:r>
              <a:rPr lang="en-US" altLang="zh-CN" dirty="0">
                <a:ea typeface="黑体" panose="02010609060101010101" pitchFamily="49" charset="-122"/>
              </a:rPr>
              <a:t>Robustness Testing</a:t>
            </a:r>
            <a:endParaRPr lang="en-US" altLang="zh-CN" dirty="0">
              <a:ea typeface="黑体" panose="02010609060101010101" pitchFamily="49" charset="-122"/>
            </a:endParaRPr>
          </a:p>
          <a:p>
            <a:pPr lvl="1"/>
            <a:r>
              <a:rPr lang="en-US" altLang="zh-CN" dirty="0">
                <a:ea typeface="黑体" panose="02010609060101010101" pitchFamily="49" charset="-122"/>
              </a:rPr>
              <a:t>Robustness testing is a simple extension of boundary value analysis</a:t>
            </a:r>
            <a:endParaRPr lang="en-US" altLang="zh-CN" dirty="0">
              <a:ea typeface="黑体" panose="02010609060101010101" pitchFamily="49" charset="-122"/>
            </a:endParaRPr>
          </a:p>
          <a:p>
            <a:pPr lvl="1"/>
            <a:r>
              <a:rPr lang="en-US" altLang="zh-CN" dirty="0">
                <a:ea typeface="黑体" panose="02010609060101010101" pitchFamily="49" charset="-122"/>
              </a:rPr>
              <a:t>We see what happens when the extreme are exceeded with a value slightly greater than the maximum (max+) and a value slightly less than the minimum (min-)</a:t>
            </a:r>
            <a:endParaRPr lang="zh-CN" altLang="en-US" dirty="0"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withEffect">
                                  <p:stCondLst>
                                    <p:cond delay="3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Rectangle 2"/>
          <p:cNvSpPr>
            <a:spLocks noGrp="1"/>
          </p:cNvSpPr>
          <p:nvPr>
            <p:ph type="title" idx="4294967295"/>
          </p:nvPr>
        </p:nvSpPr>
        <p:spPr>
          <a:xfrm>
            <a:off x="642938" y="152400"/>
            <a:ext cx="7772400" cy="1143000"/>
          </a:xfrm>
        </p:spPr>
        <p:txBody>
          <a:bodyPr vert="horz" wrap="square" lIns="91440" tIns="45720" rIns="91440" bIns="45720" anchor="ctr" anchorCtr="0"/>
          <a:p>
            <a:pPr marL="342900" indent="-342900" eaLnBrk="1" hangingPunct="1"/>
            <a:r>
              <a:rPr lang="en-US" altLang="zh-CN" sz="3600" dirty="0">
                <a:latin typeface="Arial" panose="020B0604020202020204" pitchFamily="34" charset="0"/>
                <a:ea typeface="宋体" panose="02010600030101010101" pitchFamily="2" charset="-122"/>
              </a:rPr>
              <a:t>4.2 </a:t>
            </a:r>
            <a:r>
              <a:rPr lang="en-US" altLang="zh-CN" sz="3600" dirty="0">
                <a:ea typeface="宋体" panose="02010600030101010101" pitchFamily="2" charset="-122"/>
              </a:rPr>
              <a:t>Boundary Value Analysis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214313" y="1214438"/>
            <a:ext cx="8424863" cy="47244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39725" marR="0" lvl="0" indent="-282575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Blip>
                <a:blip r:embed="rId1"/>
              </a:buBlip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It is based on 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single fault assumption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39775" marR="0" lvl="1" indent="-282575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Blip>
                <a:blip r:embed="rId1"/>
              </a:buBlip>
              <a:defRPr/>
            </a:pP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“Failures are only rarely as a result of the simultaneous occurrence of two or more faults”</a:t>
            </a:r>
            <a:endParaRPr kumimoji="0" lang="en-US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39775" marR="0" lvl="1" indent="-282575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Blip>
                <a:blip r:embed="rId1"/>
              </a:buBlip>
              <a:defRPr/>
            </a:pP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Normal Boundary Values</a:t>
            </a:r>
            <a:endParaRPr kumimoji="0" lang="en-US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39775" marR="0" lvl="1" indent="-282575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Blip>
                <a:blip r:embed="rId1"/>
              </a:buBlip>
              <a:defRPr/>
            </a:pP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Robustness Boundary Values</a:t>
            </a:r>
            <a:endParaRPr kumimoji="0" lang="en-US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It is interested in what happens when 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more than one variable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has an extreme value.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39775" marR="0" lvl="1" indent="-282575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Blip>
                <a:blip r:embed="rId1"/>
              </a:buBlip>
              <a:defRPr/>
            </a:pP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Multiple Variable of Boundary Values 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(Worst-Case Testing) </a:t>
            </a:r>
            <a:endParaRPr kumimoji="0" lang="en-US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39775" marR="0" lvl="1" indent="-282575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Blip>
                <a:blip r:embed="rId1"/>
              </a:buBlip>
              <a:defRPr/>
            </a:pP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Robust Multiple Variable of Boundary Values 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(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Robust Worst-Case Testing)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withEffect">
                                  <p:stCondLst>
                                    <p:cond delay="3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Rectangle 2"/>
          <p:cNvSpPr>
            <a:spLocks noGrp="1"/>
          </p:cNvSpPr>
          <p:nvPr>
            <p:ph type="title" idx="4294967295"/>
          </p:nvPr>
        </p:nvSpPr>
        <p:spPr>
          <a:xfrm>
            <a:off x="642938" y="152400"/>
            <a:ext cx="7772400" cy="1143000"/>
          </a:xfrm>
        </p:spPr>
        <p:txBody>
          <a:bodyPr vert="horz" wrap="square" lIns="91440" tIns="45720" rIns="91440" bIns="45720" anchor="ctr" anchorCtr="0"/>
          <a:p>
            <a:pPr marL="342900" indent="-342900" eaLnBrk="1" hangingPunct="1"/>
            <a:r>
              <a:rPr lang="en-US" altLang="zh-CN" sz="3600" dirty="0">
                <a:latin typeface="Arial" panose="020B0604020202020204" pitchFamily="34" charset="0"/>
                <a:ea typeface="宋体" panose="02010600030101010101" pitchFamily="2" charset="-122"/>
              </a:rPr>
              <a:t>4.2 </a:t>
            </a:r>
            <a:r>
              <a:rPr lang="en-US" altLang="zh-CN" sz="3600" dirty="0">
                <a:ea typeface="宋体" panose="02010600030101010101" pitchFamily="2" charset="-122"/>
              </a:rPr>
              <a:t>Boundary Value Analysis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xfrm>
            <a:off x="361950" y="1419225"/>
            <a:ext cx="8424863" cy="47244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/>
            </a:pPr>
            <a:r>
              <a:rPr kumimoji="0" lang="en-US" altLang="zh-CN" sz="3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Boundary Value Analysis </a:t>
            </a:r>
            <a:r>
              <a:rPr kumimoji="0" lang="en-US" sz="3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techniques include:</a:t>
            </a:r>
            <a:endParaRPr kumimoji="0" lang="en-US" altLang="zh-CN" sz="3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marL="739775" marR="0" lvl="1" indent="-282575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Blip>
                <a:blip r:embed="rId1"/>
              </a:buBlip>
              <a:defRPr/>
            </a:pPr>
            <a:r>
              <a:rPr kumimoji="0" lang="en-US" altLang="zh-CN" sz="3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Normal Boundary Values</a:t>
            </a:r>
            <a:endParaRPr kumimoji="0" lang="en-US" altLang="zh-CN" sz="3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39775" marR="0" lvl="1" indent="-282575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Blip>
                <a:blip r:embed="rId1"/>
              </a:buBlip>
              <a:defRPr/>
            </a:pPr>
            <a:r>
              <a:rPr kumimoji="0" lang="en-US" altLang="zh-CN" sz="3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Robustness Boundary Values</a:t>
            </a:r>
            <a:endParaRPr kumimoji="0" lang="en-US" altLang="zh-CN" sz="3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39775" marR="0" lvl="1" indent="-282575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Blip>
                <a:blip r:embed="rId1"/>
              </a:buBlip>
              <a:defRPr/>
            </a:pPr>
            <a:r>
              <a:rPr kumimoji="0" lang="en-US" altLang="zh-CN" sz="3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Multiple Variable of Boundary Values</a:t>
            </a:r>
            <a:endParaRPr kumimoji="0" lang="en-US" altLang="zh-CN" sz="3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139825" marR="0" lvl="2" indent="-282575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Blip>
                <a:blip r:embed="rId1"/>
              </a:buBlip>
              <a:defRPr/>
            </a:pPr>
            <a:r>
              <a:rPr kumimoji="0" lang="en-US" sz="3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(Worst-Case Testing) </a:t>
            </a:r>
            <a:endParaRPr kumimoji="0" lang="en-US" altLang="zh-CN" sz="3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39775" marR="0" lvl="1" indent="-282575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Blip>
                <a:blip r:embed="rId1"/>
              </a:buBlip>
              <a:defRPr/>
            </a:pPr>
            <a:r>
              <a:rPr kumimoji="0" lang="en-US" altLang="zh-CN" sz="3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Robust Multiple Variable of Boundary Values</a:t>
            </a:r>
            <a:endParaRPr kumimoji="0" lang="en-US" altLang="zh-CN" sz="3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139825" marR="0" lvl="2" indent="-282575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Blip>
                <a:blip r:embed="rId1"/>
              </a:buBlip>
              <a:defRPr/>
            </a:pPr>
            <a:r>
              <a:rPr kumimoji="0" lang="en-US" sz="3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altLang="zh-CN" sz="3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Robust Worst-Case Testing</a:t>
            </a:r>
            <a:r>
              <a:rPr kumimoji="0" lang="en-US" sz="3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endParaRPr kumimoji="0" lang="en-US" altLang="zh-CN" sz="3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withEffect">
                                  <p:stCondLst>
                                    <p:cond delay="3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Rectangle 2"/>
          <p:cNvSpPr>
            <a:spLocks noGrp="1"/>
          </p:cNvSpPr>
          <p:nvPr>
            <p:ph type="title" idx="4294967295"/>
          </p:nvPr>
        </p:nvSpPr>
        <p:spPr>
          <a:xfrm>
            <a:off x="642938" y="152400"/>
            <a:ext cx="7772400" cy="1143000"/>
          </a:xfrm>
        </p:spPr>
        <p:txBody>
          <a:bodyPr vert="horz" wrap="square" lIns="91440" tIns="45720" rIns="91440" bIns="45720" anchor="ctr" anchorCtr="0"/>
          <a:p>
            <a:pPr marL="342900" indent="-342900" eaLnBrk="1" hangingPunct="1"/>
            <a:r>
              <a:rPr lang="en-US" altLang="zh-CN" sz="3600" dirty="0">
                <a:latin typeface="Arial" panose="020B0604020202020204" pitchFamily="34" charset="0"/>
                <a:ea typeface="宋体" panose="02010600030101010101" pitchFamily="2" charset="-122"/>
              </a:rPr>
              <a:t>4.2 </a:t>
            </a:r>
            <a:r>
              <a:rPr lang="en-US" altLang="zh-CN" sz="3600" dirty="0">
                <a:ea typeface="宋体" panose="02010600030101010101" pitchFamily="2" charset="-122"/>
              </a:rPr>
              <a:t>Boundary Value Analysis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7651" name="Rectangle 3"/>
          <p:cNvSpPr>
            <a:spLocks noGrp="1"/>
          </p:cNvSpPr>
          <p:nvPr>
            <p:ph idx="1"/>
          </p:nvPr>
        </p:nvSpPr>
        <p:spPr>
          <a:xfrm>
            <a:off x="361950" y="1419225"/>
            <a:ext cx="8424863" cy="4724400"/>
          </a:xfrm>
        </p:spPr>
        <p:txBody>
          <a:bodyPr vert="horz" wrap="square" lIns="91440" tIns="45720" rIns="91440" bIns="45720" anchor="t" anchorCtr="0"/>
          <a:p>
            <a:pPr>
              <a:buNone/>
            </a:pPr>
            <a:r>
              <a:rPr lang="en-US" altLang="zh-CN" b="1" dirty="0">
                <a:ea typeface="黑体" panose="02010609060101010101" pitchFamily="49" charset="-122"/>
              </a:rPr>
              <a:t>Example2 (with two variables): </a:t>
            </a:r>
            <a:endParaRPr lang="en-US" altLang="zh-CN" b="1" dirty="0">
              <a:ea typeface="黑体" panose="02010609060101010101" pitchFamily="49" charset="-122"/>
            </a:endParaRPr>
          </a:p>
          <a:p>
            <a:r>
              <a:rPr lang="en-US" altLang="zh-CN" dirty="0">
                <a:ea typeface="黑体" panose="02010609060101010101" pitchFamily="49" charset="-122"/>
              </a:rPr>
              <a:t>Function F with two variables x, and y</a:t>
            </a:r>
            <a:endParaRPr lang="en-US" altLang="zh-CN" dirty="0">
              <a:ea typeface="黑体" panose="02010609060101010101" pitchFamily="49" charset="-122"/>
            </a:endParaRPr>
          </a:p>
          <a:p>
            <a:pPr lvl="1"/>
            <a:r>
              <a:rPr lang="en-US" altLang="zh-CN" dirty="0">
                <a:ea typeface="黑体" panose="02010609060101010101" pitchFamily="49" charset="-122"/>
              </a:rPr>
              <a:t>a =&lt; x =&lt; b</a:t>
            </a:r>
            <a:endParaRPr lang="en-US" altLang="zh-CN" dirty="0">
              <a:ea typeface="黑体" panose="02010609060101010101" pitchFamily="49" charset="-122"/>
            </a:endParaRPr>
          </a:p>
          <a:p>
            <a:pPr lvl="1"/>
            <a:r>
              <a:rPr lang="en-US" altLang="zh-CN" dirty="0">
                <a:ea typeface="黑体" panose="02010609060101010101" pitchFamily="49" charset="-122"/>
              </a:rPr>
              <a:t>c =&lt; y =&lt; d</a:t>
            </a:r>
            <a:endParaRPr lang="en-US" altLang="zh-CN" dirty="0">
              <a:ea typeface="黑体" panose="02010609060101010101" pitchFamily="49" charset="-122"/>
            </a:endParaRPr>
          </a:p>
          <a:p>
            <a:r>
              <a:rPr lang="en-US" altLang="zh-CN" dirty="0">
                <a:ea typeface="黑体" panose="02010609060101010101" pitchFamily="49" charset="-122"/>
              </a:rPr>
              <a:t>At least how many test cases should be created by using boundary value analysis?</a:t>
            </a:r>
            <a:endParaRPr lang="en-US" altLang="zh-CN" dirty="0">
              <a:ea typeface="黑体" panose="02010609060101010101" pitchFamily="49" charset="-122"/>
            </a:endParaRPr>
          </a:p>
          <a:p>
            <a:endParaRPr lang="zh-CN" altLang="en-US" dirty="0">
              <a:ea typeface="黑体" panose="02010609060101010101" pitchFamily="49" charset="-122"/>
            </a:endParaRPr>
          </a:p>
          <a:p>
            <a:endParaRPr lang="zh-CN" altLang="en-US" dirty="0">
              <a:ea typeface="黑体" panose="02010609060101010101" pitchFamily="49" charset="-122"/>
            </a:endParaRPr>
          </a:p>
          <a:p>
            <a:endParaRPr lang="zh-CN" altLang="en-US" dirty="0"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withEffect">
                                  <p:stCondLst>
                                    <p:cond delay="3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z="825" smtClean="0"/>
            </a:fld>
            <a:endParaRPr lang="zh-CN" altLang="en-US" sz="825"/>
          </a:p>
        </p:txBody>
      </p:sp>
      <p:graphicFrame>
        <p:nvGraphicFramePr>
          <p:cNvPr id="5" name="Group 288"/>
          <p:cNvGraphicFramePr>
            <a:graphicFrameLocks noGrp="1"/>
          </p:cNvGraphicFramePr>
          <p:nvPr>
            <p:ph sz="half" idx="4294967295"/>
          </p:nvPr>
        </p:nvGraphicFramePr>
        <p:xfrm>
          <a:off x="2668872" y="1835603"/>
          <a:ext cx="3185795" cy="2935605"/>
        </p:xfrm>
        <a:graphic>
          <a:graphicData uri="http://schemas.openxmlformats.org/drawingml/2006/table">
            <a:tbl>
              <a:tblPr/>
              <a:tblGrid>
                <a:gridCol w="855980"/>
                <a:gridCol w="817880"/>
                <a:gridCol w="702310"/>
                <a:gridCol w="809625"/>
              </a:tblGrid>
              <a:tr h="2692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fr-F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测试用例</a:t>
                      </a:r>
                      <a:endParaRPr kumimoji="0" lang="zh-CN" altLang="fr-FR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X1</a:t>
                      </a:r>
                      <a:endParaRPr kumimoji="0" lang="fr-FR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X2</a:t>
                      </a:r>
                      <a:endParaRPr kumimoji="0" lang="fr-FR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fr-F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预期输出</a:t>
                      </a:r>
                      <a:endParaRPr kumimoji="0" lang="zh-CN" altLang="fr-FR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T1</a:t>
                      </a:r>
                      <a:endParaRPr kumimoji="0" lang="fr-FR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X1nom</a:t>
                      </a:r>
                      <a:endParaRPr kumimoji="0" lang="fr-FR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X2min</a:t>
                      </a:r>
                      <a:endParaRPr kumimoji="0" lang="fr-FR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F1</a:t>
                      </a:r>
                      <a:endParaRPr kumimoji="0" lang="fr-FR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346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T2</a:t>
                      </a:r>
                      <a:endParaRPr kumimoji="0" lang="fr-FR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X1nom</a:t>
                      </a:r>
                      <a:endParaRPr kumimoji="0" lang="fr-FR" altLang="zh-CN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X2min+</a:t>
                      </a:r>
                      <a:endParaRPr kumimoji="0" lang="fr-FR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F2</a:t>
                      </a:r>
                      <a:endParaRPr kumimoji="0" lang="fr-FR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T3</a:t>
                      </a:r>
                      <a:endParaRPr kumimoji="0" lang="fr-FR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X1nom</a:t>
                      </a:r>
                      <a:endParaRPr kumimoji="0" lang="fr-FR" altLang="zh-CN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X2nom</a:t>
                      </a:r>
                      <a:endParaRPr kumimoji="0" lang="fr-FR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F3</a:t>
                      </a:r>
                      <a:endParaRPr kumimoji="0" lang="fr-FR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T4</a:t>
                      </a:r>
                      <a:endParaRPr kumimoji="0" lang="fr-FR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X1nom</a:t>
                      </a:r>
                      <a:endParaRPr kumimoji="0" lang="fr-FR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X2max-</a:t>
                      </a:r>
                      <a:endParaRPr kumimoji="0" lang="fr-FR" altLang="zh-CN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F4</a:t>
                      </a:r>
                      <a:endParaRPr kumimoji="0" lang="fr-FR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T5</a:t>
                      </a:r>
                      <a:endParaRPr kumimoji="0" lang="fr-FR" altLang="zh-CN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X1nom</a:t>
                      </a:r>
                      <a:endParaRPr kumimoji="0" lang="fr-FR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X2max</a:t>
                      </a:r>
                      <a:endParaRPr kumimoji="0" lang="fr-FR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F5</a:t>
                      </a:r>
                      <a:endParaRPr kumimoji="0" lang="fr-FR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T6</a:t>
                      </a:r>
                      <a:endParaRPr kumimoji="0" lang="fr-FR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X1min</a:t>
                      </a:r>
                      <a:endParaRPr kumimoji="0" lang="fr-FR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X2nom</a:t>
                      </a:r>
                      <a:endParaRPr kumimoji="0" lang="fr-FR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F6</a:t>
                      </a:r>
                      <a:endParaRPr kumimoji="0" lang="fr-FR" altLang="zh-CN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901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T7</a:t>
                      </a:r>
                      <a:endParaRPr kumimoji="0" lang="fr-FR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X1min+</a:t>
                      </a:r>
                      <a:endParaRPr kumimoji="0" lang="fr-FR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X2nom</a:t>
                      </a:r>
                      <a:endParaRPr kumimoji="0" lang="fr-FR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F7</a:t>
                      </a:r>
                      <a:endParaRPr kumimoji="0" lang="fr-FR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T8</a:t>
                      </a:r>
                      <a:endParaRPr kumimoji="0" lang="fr-FR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X1max-</a:t>
                      </a:r>
                      <a:endParaRPr kumimoji="0" lang="fr-FR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X2nom</a:t>
                      </a:r>
                      <a:endParaRPr kumimoji="0" lang="fr-FR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F8</a:t>
                      </a:r>
                      <a:endParaRPr kumimoji="0" lang="fr-FR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T9</a:t>
                      </a:r>
                      <a:endParaRPr kumimoji="0" lang="fr-FR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X1max</a:t>
                      </a:r>
                      <a:endParaRPr kumimoji="0" lang="fr-FR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X2nom</a:t>
                      </a:r>
                      <a:endParaRPr kumimoji="0" lang="fr-FR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F9</a:t>
                      </a:r>
                      <a:endParaRPr kumimoji="0" lang="fr-FR" altLang="zh-CN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pSp>
        <p:nvGrpSpPr>
          <p:cNvPr id="6" name="Group 284"/>
          <p:cNvGrpSpPr/>
          <p:nvPr/>
        </p:nvGrpSpPr>
        <p:grpSpPr bwMode="auto">
          <a:xfrm>
            <a:off x="1102010" y="2051107"/>
            <a:ext cx="3132534" cy="1565672"/>
            <a:chOff x="113" y="1661"/>
            <a:chExt cx="2631" cy="1315"/>
          </a:xfrm>
        </p:grpSpPr>
        <p:sp>
          <p:nvSpPr>
            <p:cNvPr id="7" name="Oval 265"/>
            <p:cNvSpPr>
              <a:spLocks noChangeArrowheads="1"/>
            </p:cNvSpPr>
            <p:nvPr/>
          </p:nvSpPr>
          <p:spPr bwMode="auto">
            <a:xfrm>
              <a:off x="2018" y="1661"/>
              <a:ext cx="726" cy="1315"/>
            </a:xfrm>
            <a:prstGeom prst="ellipse">
              <a:avLst/>
            </a:prstGeom>
            <a:noFill/>
            <a:ln w="28575">
              <a:solidFill>
                <a:srgbClr val="8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800"/>
            </a:p>
          </p:txBody>
        </p:sp>
        <p:sp>
          <p:nvSpPr>
            <p:cNvPr id="8" name="AutoShape 277"/>
            <p:cNvSpPr>
              <a:spLocks noChangeArrowheads="1"/>
            </p:cNvSpPr>
            <p:nvPr/>
          </p:nvSpPr>
          <p:spPr bwMode="auto">
            <a:xfrm>
              <a:off x="113" y="2069"/>
              <a:ext cx="1225" cy="318"/>
            </a:xfrm>
            <a:prstGeom prst="wedgeRoundRectCallout">
              <a:avLst>
                <a:gd name="adj1" fmla="val 96694"/>
                <a:gd name="adj2" fmla="val -3458"/>
                <a:gd name="adj3" fmla="val 16667"/>
              </a:avLst>
            </a:prstGeom>
            <a:solidFill>
              <a:schemeClr val="accent1"/>
            </a:solidFill>
            <a:ln w="38100">
              <a:solidFill>
                <a:srgbClr val="800000"/>
              </a:solidFill>
              <a:miter lim="800000"/>
            </a:ln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500" b="0"/>
                <a:t>X1</a:t>
              </a:r>
              <a:r>
                <a:rPr lang="zh-CN" altLang="en-US" sz="1500" b="0"/>
                <a:t>取正常值</a:t>
              </a:r>
              <a:endParaRPr lang="zh-CN" altLang="en-US" sz="1500" b="0"/>
            </a:p>
          </p:txBody>
        </p:sp>
      </p:grpSp>
      <p:grpSp>
        <p:nvGrpSpPr>
          <p:cNvPr id="9" name="Group 285"/>
          <p:cNvGrpSpPr/>
          <p:nvPr/>
        </p:nvGrpSpPr>
        <p:grpSpPr bwMode="auto">
          <a:xfrm>
            <a:off x="4288122" y="2051107"/>
            <a:ext cx="3402806" cy="1565672"/>
            <a:chOff x="2789" y="1661"/>
            <a:chExt cx="2858" cy="1315"/>
          </a:xfrm>
        </p:grpSpPr>
        <p:sp>
          <p:nvSpPr>
            <p:cNvPr id="10" name="Oval 276"/>
            <p:cNvSpPr>
              <a:spLocks noChangeArrowheads="1"/>
            </p:cNvSpPr>
            <p:nvPr/>
          </p:nvSpPr>
          <p:spPr bwMode="auto">
            <a:xfrm>
              <a:off x="2789" y="1661"/>
              <a:ext cx="635" cy="1315"/>
            </a:xfrm>
            <a:prstGeom prst="ellipse">
              <a:avLst/>
            </a:prstGeom>
            <a:noFill/>
            <a:ln w="38100">
              <a:solidFill>
                <a:srgbClr val="FF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800"/>
            </a:p>
          </p:txBody>
        </p:sp>
        <p:sp>
          <p:nvSpPr>
            <p:cNvPr id="11" name="AutoShape 278"/>
            <p:cNvSpPr>
              <a:spLocks noChangeArrowheads="1"/>
            </p:cNvSpPr>
            <p:nvPr/>
          </p:nvSpPr>
          <p:spPr bwMode="auto">
            <a:xfrm>
              <a:off x="4513" y="2069"/>
              <a:ext cx="1134" cy="545"/>
            </a:xfrm>
            <a:prstGeom prst="wedgeRoundRectCallout">
              <a:avLst>
                <a:gd name="adj1" fmla="val -135185"/>
                <a:gd name="adj2" fmla="val -22662"/>
                <a:gd name="adj3" fmla="val 16667"/>
              </a:avLst>
            </a:prstGeom>
            <a:solidFill>
              <a:schemeClr val="accent1"/>
            </a:solidFill>
            <a:ln w="38100">
              <a:solidFill>
                <a:srgbClr val="FF00FF"/>
              </a:solidFill>
              <a:miter lim="800000"/>
            </a:ln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500" b="0"/>
                <a:t>X2</a:t>
              </a:r>
              <a:r>
                <a:rPr lang="zh-CN" altLang="en-US" sz="1500" b="0"/>
                <a:t>依次取各种边界值</a:t>
              </a:r>
              <a:endParaRPr lang="zh-CN" altLang="en-US" sz="1500" b="0"/>
            </a:p>
          </p:txBody>
        </p:sp>
      </p:grpSp>
      <p:grpSp>
        <p:nvGrpSpPr>
          <p:cNvPr id="12" name="Group 287"/>
          <p:cNvGrpSpPr/>
          <p:nvPr/>
        </p:nvGrpSpPr>
        <p:grpSpPr bwMode="auto">
          <a:xfrm>
            <a:off x="4234544" y="3616778"/>
            <a:ext cx="3456385" cy="1188244"/>
            <a:chOff x="2744" y="2976"/>
            <a:chExt cx="2903" cy="998"/>
          </a:xfrm>
        </p:grpSpPr>
        <p:sp>
          <p:nvSpPr>
            <p:cNvPr id="13" name="Oval 280"/>
            <p:cNvSpPr>
              <a:spLocks noChangeArrowheads="1"/>
            </p:cNvSpPr>
            <p:nvPr/>
          </p:nvSpPr>
          <p:spPr bwMode="auto">
            <a:xfrm>
              <a:off x="2744" y="2976"/>
              <a:ext cx="635" cy="998"/>
            </a:xfrm>
            <a:prstGeom prst="ellipse">
              <a:avLst/>
            </a:prstGeom>
            <a:noFill/>
            <a:ln w="28575">
              <a:solidFill>
                <a:srgbClr val="8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800"/>
            </a:p>
          </p:txBody>
        </p:sp>
        <p:sp>
          <p:nvSpPr>
            <p:cNvPr id="14" name="AutoShape 281"/>
            <p:cNvSpPr>
              <a:spLocks noChangeArrowheads="1"/>
            </p:cNvSpPr>
            <p:nvPr/>
          </p:nvSpPr>
          <p:spPr bwMode="auto">
            <a:xfrm>
              <a:off x="4422" y="3203"/>
              <a:ext cx="1225" cy="318"/>
            </a:xfrm>
            <a:prstGeom prst="wedgeRoundRectCallout">
              <a:avLst>
                <a:gd name="adj1" fmla="val -127796"/>
                <a:gd name="adj2" fmla="val 40880"/>
                <a:gd name="adj3" fmla="val 16667"/>
              </a:avLst>
            </a:prstGeom>
            <a:solidFill>
              <a:schemeClr val="accent1"/>
            </a:solidFill>
            <a:ln w="38100">
              <a:solidFill>
                <a:srgbClr val="800000"/>
              </a:solidFill>
              <a:miter lim="800000"/>
            </a:ln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500" b="0"/>
                <a:t>X2</a:t>
              </a:r>
              <a:r>
                <a:rPr lang="zh-CN" altLang="en-US" sz="1500" b="0"/>
                <a:t>取正常值</a:t>
              </a:r>
              <a:endParaRPr lang="zh-CN" altLang="en-US" sz="1500" b="0"/>
            </a:p>
          </p:txBody>
        </p:sp>
      </p:grpSp>
      <p:grpSp>
        <p:nvGrpSpPr>
          <p:cNvPr id="15" name="Group 286"/>
          <p:cNvGrpSpPr/>
          <p:nvPr/>
        </p:nvGrpSpPr>
        <p:grpSpPr bwMode="auto">
          <a:xfrm>
            <a:off x="1102010" y="3616778"/>
            <a:ext cx="3078956" cy="1243013"/>
            <a:chOff x="113" y="2976"/>
            <a:chExt cx="2586" cy="1044"/>
          </a:xfrm>
        </p:grpSpPr>
        <p:sp>
          <p:nvSpPr>
            <p:cNvPr id="16" name="Oval 282"/>
            <p:cNvSpPr>
              <a:spLocks noChangeArrowheads="1"/>
            </p:cNvSpPr>
            <p:nvPr/>
          </p:nvSpPr>
          <p:spPr bwMode="auto">
            <a:xfrm>
              <a:off x="2064" y="2976"/>
              <a:ext cx="635" cy="1044"/>
            </a:xfrm>
            <a:prstGeom prst="ellipse">
              <a:avLst/>
            </a:prstGeom>
            <a:noFill/>
            <a:ln w="38100">
              <a:solidFill>
                <a:srgbClr val="FF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800"/>
            </a:p>
          </p:txBody>
        </p:sp>
        <p:sp>
          <p:nvSpPr>
            <p:cNvPr id="17" name="AutoShape 283"/>
            <p:cNvSpPr>
              <a:spLocks noChangeArrowheads="1"/>
            </p:cNvSpPr>
            <p:nvPr/>
          </p:nvSpPr>
          <p:spPr bwMode="auto">
            <a:xfrm>
              <a:off x="113" y="3294"/>
              <a:ext cx="1134" cy="545"/>
            </a:xfrm>
            <a:prstGeom prst="wedgeRoundRectCallout">
              <a:avLst>
                <a:gd name="adj1" fmla="val 112787"/>
                <a:gd name="adj2" fmla="val -18806"/>
                <a:gd name="adj3" fmla="val 16667"/>
              </a:avLst>
            </a:prstGeom>
            <a:solidFill>
              <a:schemeClr val="accent1"/>
            </a:solidFill>
            <a:ln w="38100">
              <a:solidFill>
                <a:srgbClr val="FF00FF"/>
              </a:solidFill>
              <a:miter lim="800000"/>
            </a:ln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500" b="0" dirty="0"/>
                <a:t>X1</a:t>
              </a:r>
              <a:r>
                <a:rPr lang="zh-CN" altLang="en-US" sz="1500" b="0" dirty="0"/>
                <a:t>依次取各种边界值</a:t>
              </a:r>
              <a:endParaRPr lang="zh-CN" altLang="en-US" sz="1500" b="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25" name="直接连接符 24"/>
          <p:cNvCxnSpPr/>
          <p:nvPr/>
        </p:nvCxnSpPr>
        <p:spPr>
          <a:xfrm>
            <a:off x="-12700" y="5141913"/>
            <a:ext cx="1308100" cy="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 flipV="1">
            <a:off x="1319213" y="2755900"/>
            <a:ext cx="0" cy="2398713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椭圆 5"/>
          <p:cNvSpPr/>
          <p:nvPr/>
        </p:nvSpPr>
        <p:spPr>
          <a:xfrm>
            <a:off x="471488" y="941388"/>
            <a:ext cx="1722438" cy="1797050"/>
          </a:xfrm>
          <a:prstGeom prst="ellipse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边界值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分析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9" name="直接连接符 8"/>
          <p:cNvCxnSpPr>
            <a:stCxn id="6" idx="6"/>
          </p:cNvCxnSpPr>
          <p:nvPr/>
        </p:nvCxnSpPr>
        <p:spPr>
          <a:xfrm>
            <a:off x="2193925" y="1839913"/>
            <a:ext cx="3206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 flipV="1">
            <a:off x="2514600" y="1079500"/>
            <a:ext cx="0" cy="7747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2514600" y="1079500"/>
            <a:ext cx="616426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8678863" y="1079500"/>
            <a:ext cx="0" cy="422592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 flipH="1">
            <a:off x="2514600" y="5305425"/>
            <a:ext cx="616426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 flipV="1">
            <a:off x="2514600" y="1854200"/>
            <a:ext cx="0" cy="345122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683" name="Group 66"/>
          <p:cNvGrpSpPr/>
          <p:nvPr/>
        </p:nvGrpSpPr>
        <p:grpSpPr>
          <a:xfrm>
            <a:off x="2895600" y="1363663"/>
            <a:ext cx="5334000" cy="3657600"/>
            <a:chOff x="480" y="1872"/>
            <a:chExt cx="3360" cy="2304"/>
          </a:xfrm>
        </p:grpSpPr>
        <p:sp>
          <p:nvSpPr>
            <p:cNvPr id="28686" name="Line 38"/>
            <p:cNvSpPr/>
            <p:nvPr/>
          </p:nvSpPr>
          <p:spPr>
            <a:xfrm flipV="1">
              <a:off x="817" y="1872"/>
              <a:ext cx="2" cy="2304"/>
            </a:xfrm>
            <a:prstGeom prst="line">
              <a:avLst/>
            </a:prstGeom>
            <a:ln w="28575" cap="flat" cmpd="sng">
              <a:solidFill>
                <a:srgbClr val="333399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8687" name="Line 39"/>
            <p:cNvSpPr/>
            <p:nvPr/>
          </p:nvSpPr>
          <p:spPr>
            <a:xfrm>
              <a:off x="576" y="3888"/>
              <a:ext cx="2832" cy="0"/>
            </a:xfrm>
            <a:prstGeom prst="line">
              <a:avLst/>
            </a:prstGeom>
            <a:ln w="28575" cap="flat" cmpd="sng">
              <a:solidFill>
                <a:srgbClr val="333399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8688" name="Line 40"/>
            <p:cNvSpPr/>
            <p:nvPr/>
          </p:nvSpPr>
          <p:spPr>
            <a:xfrm>
              <a:off x="817" y="2447"/>
              <a:ext cx="2347" cy="0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28689" name="Line 41"/>
            <p:cNvSpPr/>
            <p:nvPr/>
          </p:nvSpPr>
          <p:spPr>
            <a:xfrm>
              <a:off x="817" y="3455"/>
              <a:ext cx="2347" cy="0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28690" name="Line 42"/>
            <p:cNvSpPr/>
            <p:nvPr/>
          </p:nvSpPr>
          <p:spPr>
            <a:xfrm>
              <a:off x="1141" y="2087"/>
              <a:ext cx="0" cy="1800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28691" name="Line 43"/>
            <p:cNvSpPr/>
            <p:nvPr/>
          </p:nvSpPr>
          <p:spPr>
            <a:xfrm>
              <a:off x="2599" y="2087"/>
              <a:ext cx="0" cy="1800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28692" name="AutoShape 44"/>
            <p:cNvSpPr/>
            <p:nvPr/>
          </p:nvSpPr>
          <p:spPr>
            <a:xfrm>
              <a:off x="1709" y="2416"/>
              <a:ext cx="81" cy="72"/>
            </a:xfrm>
            <a:prstGeom prst="flowChartConnector">
              <a:avLst/>
            </a:prstGeom>
            <a:solidFill>
              <a:srgbClr val="0000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latin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693" name="AutoShape 45"/>
            <p:cNvSpPr/>
            <p:nvPr/>
          </p:nvSpPr>
          <p:spPr>
            <a:xfrm>
              <a:off x="1709" y="2559"/>
              <a:ext cx="81" cy="72"/>
            </a:xfrm>
            <a:prstGeom prst="flowChartConnector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latin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694" name="AutoShape 46"/>
            <p:cNvSpPr/>
            <p:nvPr/>
          </p:nvSpPr>
          <p:spPr>
            <a:xfrm>
              <a:off x="1109" y="3024"/>
              <a:ext cx="81" cy="72"/>
            </a:xfrm>
            <a:prstGeom prst="flowChartConnector">
              <a:avLst/>
            </a:prstGeom>
            <a:solidFill>
              <a:srgbClr val="0000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latin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695" name="AutoShape 47"/>
            <p:cNvSpPr/>
            <p:nvPr/>
          </p:nvSpPr>
          <p:spPr>
            <a:xfrm>
              <a:off x="1256" y="3023"/>
              <a:ext cx="81" cy="72"/>
            </a:xfrm>
            <a:prstGeom prst="flowChartConnector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latin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696" name="AutoShape 48"/>
            <p:cNvSpPr/>
            <p:nvPr/>
          </p:nvSpPr>
          <p:spPr>
            <a:xfrm>
              <a:off x="1709" y="3023"/>
              <a:ext cx="81" cy="72"/>
            </a:xfrm>
            <a:prstGeom prst="flowChartConnector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latin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697" name="AutoShape 49"/>
            <p:cNvSpPr/>
            <p:nvPr/>
          </p:nvSpPr>
          <p:spPr>
            <a:xfrm>
              <a:off x="1709" y="3287"/>
              <a:ext cx="81" cy="72"/>
            </a:xfrm>
            <a:prstGeom prst="flowChartConnector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latin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698" name="AutoShape 50"/>
            <p:cNvSpPr/>
            <p:nvPr/>
          </p:nvSpPr>
          <p:spPr>
            <a:xfrm>
              <a:off x="1709" y="3415"/>
              <a:ext cx="81" cy="72"/>
            </a:xfrm>
            <a:prstGeom prst="flowChartConnector">
              <a:avLst/>
            </a:prstGeom>
            <a:solidFill>
              <a:srgbClr val="0000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latin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699" name="AutoShape 51"/>
            <p:cNvSpPr/>
            <p:nvPr/>
          </p:nvSpPr>
          <p:spPr>
            <a:xfrm>
              <a:off x="2404" y="3023"/>
              <a:ext cx="81" cy="72"/>
            </a:xfrm>
            <a:prstGeom prst="flowChartConnector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latin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700" name="AutoShape 52"/>
            <p:cNvSpPr/>
            <p:nvPr/>
          </p:nvSpPr>
          <p:spPr>
            <a:xfrm>
              <a:off x="2550" y="3024"/>
              <a:ext cx="81" cy="72"/>
            </a:xfrm>
            <a:prstGeom prst="flowChartConnector">
              <a:avLst/>
            </a:prstGeom>
            <a:solidFill>
              <a:srgbClr val="0000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latin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701" name="Text Box 53"/>
            <p:cNvSpPr txBox="1"/>
            <p:nvPr/>
          </p:nvSpPr>
          <p:spPr>
            <a:xfrm>
              <a:off x="3504" y="3744"/>
              <a:ext cx="3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latinLnBrk="1" hangingPunct="1">
                <a:spcBef>
                  <a:spcPct val="5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None/>
              </a:pPr>
              <a:r>
                <a:rPr lang="en-US" altLang="zh-CN" sz="2400" b="1" dirty="0">
                  <a:solidFill>
                    <a:srgbClr val="0099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X</a:t>
              </a:r>
              <a:r>
                <a:rPr lang="en-US" altLang="zh-CN" sz="2400" b="1" baseline="-25000" dirty="0">
                  <a:solidFill>
                    <a:srgbClr val="0099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1</a:t>
              </a:r>
              <a:endParaRPr lang="en-US" altLang="zh-CN" sz="2400" b="1" dirty="0">
                <a:solidFill>
                  <a:srgbClr val="0099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702" name="Text Box 54"/>
            <p:cNvSpPr txBox="1"/>
            <p:nvPr/>
          </p:nvSpPr>
          <p:spPr>
            <a:xfrm>
              <a:off x="480" y="1872"/>
              <a:ext cx="3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latinLnBrk="1" hangingPunct="1">
                <a:spcBef>
                  <a:spcPct val="5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None/>
              </a:pPr>
              <a:r>
                <a:rPr lang="en-US" altLang="zh-CN" sz="2400" b="1" dirty="0">
                  <a:solidFill>
                    <a:srgbClr val="0099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X</a:t>
              </a:r>
              <a:r>
                <a:rPr lang="en-US" altLang="zh-CN" sz="2400" b="1" baseline="-25000" dirty="0">
                  <a:solidFill>
                    <a:srgbClr val="0099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2</a:t>
              </a:r>
              <a:endParaRPr lang="en-US" altLang="zh-CN" sz="2400" b="1" dirty="0">
                <a:solidFill>
                  <a:srgbClr val="0099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703" name="Text Box 55"/>
            <p:cNvSpPr txBox="1"/>
            <p:nvPr/>
          </p:nvSpPr>
          <p:spPr>
            <a:xfrm>
              <a:off x="576" y="2304"/>
              <a:ext cx="24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latinLnBrk="1" hangingPunct="1">
                <a:spcBef>
                  <a:spcPct val="5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None/>
              </a:pPr>
              <a:r>
                <a:rPr lang="en-US" altLang="zh-CN" sz="2400" b="1" dirty="0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d</a:t>
              </a:r>
              <a:endPara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704" name="Text Box 56"/>
            <p:cNvSpPr txBox="1"/>
            <p:nvPr/>
          </p:nvSpPr>
          <p:spPr>
            <a:xfrm>
              <a:off x="576" y="3312"/>
              <a:ext cx="24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latinLnBrk="1" hangingPunct="1">
                <a:spcBef>
                  <a:spcPct val="5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None/>
              </a:pPr>
              <a:r>
                <a:rPr lang="en-US" altLang="zh-CN" sz="2400" b="1" dirty="0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c</a:t>
              </a:r>
              <a:endPara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705" name="Text Box 57"/>
            <p:cNvSpPr txBox="1"/>
            <p:nvPr/>
          </p:nvSpPr>
          <p:spPr>
            <a:xfrm>
              <a:off x="2448" y="3888"/>
              <a:ext cx="24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latinLnBrk="1" hangingPunct="1">
                <a:spcBef>
                  <a:spcPct val="5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None/>
              </a:pPr>
              <a:r>
                <a:rPr lang="en-US" altLang="zh-CN" sz="2400" b="1" dirty="0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b</a:t>
              </a:r>
              <a:endPara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706" name="Text Box 58"/>
            <p:cNvSpPr txBox="1"/>
            <p:nvPr/>
          </p:nvSpPr>
          <p:spPr>
            <a:xfrm>
              <a:off x="1008" y="3888"/>
              <a:ext cx="24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latinLnBrk="1" hangingPunct="1">
                <a:spcBef>
                  <a:spcPct val="5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None/>
              </a:pPr>
              <a:r>
                <a:rPr lang="en-US" altLang="zh-CN" sz="2400" b="1" dirty="0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a</a:t>
              </a:r>
              <a:endPara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30" name="TextBox 29"/>
          <p:cNvSpPr txBox="1"/>
          <p:nvPr/>
        </p:nvSpPr>
        <p:spPr>
          <a:xfrm rot="-855557">
            <a:off x="5062538" y="574675"/>
            <a:ext cx="1443037" cy="708025"/>
          </a:xfrm>
          <a:prstGeom prst="rect">
            <a:avLst/>
          </a:prstGeom>
          <a:solidFill>
            <a:schemeClr val="tx1"/>
          </a:solidFill>
          <a:ln w="2857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latin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4000" b="1" dirty="0">
                <a:solidFill>
                  <a:schemeClr val="bg1"/>
                </a:solidFill>
                <a:latin typeface="Monotype Corsiva" panose="03010101010201010101" pitchFamily="66" charset="0"/>
                <a:ea typeface="宋体" panose="02010600030101010101" pitchFamily="2" charset="-122"/>
              </a:rPr>
              <a:t>4n+1</a:t>
            </a:r>
            <a:endParaRPr lang="zh-CN" altLang="en-US" sz="4000" b="1" dirty="0">
              <a:solidFill>
                <a:schemeClr val="bg1"/>
              </a:solidFill>
              <a:latin typeface="Monotype Corsiva" panose="03010101010201010101" pitchFamily="66" charset="0"/>
              <a:ea typeface="宋体" panose="02010600030101010101" pitchFamily="2" charset="-122"/>
            </a:endParaRPr>
          </a:p>
        </p:txBody>
      </p:sp>
      <p:sp>
        <p:nvSpPr>
          <p:cNvPr id="28685" name="TextBox 33"/>
          <p:cNvSpPr txBox="1"/>
          <p:nvPr/>
        </p:nvSpPr>
        <p:spPr>
          <a:xfrm>
            <a:off x="2786063" y="5429250"/>
            <a:ext cx="4786312" cy="11080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1" indent="0" eaLnBrk="1" latinLnBrk="1" hangingPunct="1"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</a:pP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Normal Boundary Values</a:t>
            </a:r>
            <a:endParaRPr lang="en-US" altLang="zh-CN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1" indent="0"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i="1" dirty="0">
                <a:latin typeface="Arial" panose="020B0604020202020204" pitchFamily="34" charset="0"/>
                <a:ea typeface="宋体" panose="02010600030101010101" pitchFamily="2" charset="-122"/>
              </a:rPr>
              <a:t>2 variables to n variables?</a:t>
            </a:r>
            <a:endParaRPr lang="zh-CN" altLang="en-US" sz="2000" b="1" i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25" name="直接连接符 24"/>
          <p:cNvCxnSpPr/>
          <p:nvPr/>
        </p:nvCxnSpPr>
        <p:spPr>
          <a:xfrm>
            <a:off x="-12700" y="5141913"/>
            <a:ext cx="1308100" cy="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 flipV="1">
            <a:off x="1319213" y="2755900"/>
            <a:ext cx="0" cy="2398713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椭圆 5"/>
          <p:cNvSpPr/>
          <p:nvPr/>
        </p:nvSpPr>
        <p:spPr>
          <a:xfrm>
            <a:off x="471488" y="941388"/>
            <a:ext cx="1722438" cy="1797050"/>
          </a:xfrm>
          <a:prstGeom prst="ellipse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边界值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健壮性测试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9" name="直接连接符 8"/>
          <p:cNvCxnSpPr>
            <a:stCxn id="6" idx="6"/>
          </p:cNvCxnSpPr>
          <p:nvPr/>
        </p:nvCxnSpPr>
        <p:spPr>
          <a:xfrm>
            <a:off x="2193925" y="1839913"/>
            <a:ext cx="3206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 flipV="1">
            <a:off x="2514600" y="1079500"/>
            <a:ext cx="0" cy="7747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2514600" y="1079500"/>
            <a:ext cx="616426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8678863" y="1079500"/>
            <a:ext cx="0" cy="422592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 flipH="1">
            <a:off x="2514600" y="5305425"/>
            <a:ext cx="616426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 flipV="1">
            <a:off x="2514600" y="1854200"/>
            <a:ext cx="0" cy="345122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 rot="-855557">
            <a:off x="5062538" y="574675"/>
            <a:ext cx="1443037" cy="708025"/>
          </a:xfrm>
          <a:prstGeom prst="rect">
            <a:avLst/>
          </a:prstGeom>
          <a:solidFill>
            <a:schemeClr val="tx1"/>
          </a:solidFill>
          <a:ln w="2857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latin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4000" b="1" dirty="0">
                <a:solidFill>
                  <a:schemeClr val="bg1"/>
                </a:solidFill>
                <a:latin typeface="Monotype Corsiva" panose="03010101010201010101" pitchFamily="66" charset="0"/>
                <a:ea typeface="宋体" panose="02010600030101010101" pitchFamily="2" charset="-122"/>
              </a:rPr>
              <a:t>6n+1</a:t>
            </a:r>
            <a:endParaRPr lang="zh-CN" altLang="en-US" sz="4000" b="1" dirty="0">
              <a:solidFill>
                <a:schemeClr val="bg1"/>
              </a:solidFill>
              <a:latin typeface="Monotype Corsiva" panose="03010101010201010101" pitchFamily="66" charset="0"/>
              <a:ea typeface="宋体" panose="02010600030101010101" pitchFamily="2" charset="-122"/>
            </a:endParaRPr>
          </a:p>
        </p:txBody>
      </p:sp>
      <p:pic>
        <p:nvPicPr>
          <p:cNvPr id="29708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84488" y="1247775"/>
            <a:ext cx="5426075" cy="3889375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76" name="椭圆 75"/>
          <p:cNvSpPr/>
          <p:nvPr/>
        </p:nvSpPr>
        <p:spPr>
          <a:xfrm>
            <a:off x="471488" y="935038"/>
            <a:ext cx="1722438" cy="1797050"/>
          </a:xfrm>
          <a:prstGeom prst="ellipse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健壮性边界值测试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9710" name="TextBox 13"/>
          <p:cNvSpPr txBox="1"/>
          <p:nvPr/>
        </p:nvSpPr>
        <p:spPr>
          <a:xfrm>
            <a:off x="1857375" y="5857875"/>
            <a:ext cx="5715000" cy="6524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739775" lvl="1" indent="-282575" eaLnBrk="1" latinLnBrk="1" hangingPunct="1">
              <a:lnSpc>
                <a:spcPct val="13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Robustness Boundary Values</a:t>
            </a:r>
            <a:endParaRPr lang="en-US" altLang="zh-CN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2" name="组合 23"/>
          <p:cNvGrpSpPr/>
          <p:nvPr/>
        </p:nvGrpSpPr>
        <p:grpSpPr>
          <a:xfrm>
            <a:off x="3571875" y="1714500"/>
            <a:ext cx="3286125" cy="2695575"/>
            <a:chOff x="3571868" y="1714488"/>
            <a:chExt cx="3286148" cy="2696008"/>
          </a:xfrm>
        </p:grpSpPr>
        <p:sp>
          <p:nvSpPr>
            <p:cNvPr id="29713" name="矩形 14"/>
            <p:cNvSpPr/>
            <p:nvPr/>
          </p:nvSpPr>
          <p:spPr>
            <a:xfrm>
              <a:off x="3571868" y="3000372"/>
              <a:ext cx="357190" cy="33855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latin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1600" b="1" dirty="0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●</a:t>
              </a:r>
              <a:endParaRPr lang="zh-CN" altLang="en-US" sz="16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9714" name="矩形 16"/>
            <p:cNvSpPr/>
            <p:nvPr/>
          </p:nvSpPr>
          <p:spPr>
            <a:xfrm>
              <a:off x="6500826" y="3071810"/>
              <a:ext cx="357190" cy="33855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latin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1600" b="1" dirty="0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●</a:t>
              </a:r>
              <a:endParaRPr lang="zh-CN" altLang="en-US" sz="16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9715" name="矩形 18"/>
            <p:cNvSpPr/>
            <p:nvPr/>
          </p:nvSpPr>
          <p:spPr>
            <a:xfrm>
              <a:off x="4857752" y="4071942"/>
              <a:ext cx="357190" cy="33855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latin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1600" b="1" dirty="0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●</a:t>
              </a:r>
              <a:endParaRPr lang="zh-CN" altLang="en-US" sz="16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9716" name="矩形 20"/>
            <p:cNvSpPr/>
            <p:nvPr/>
          </p:nvSpPr>
          <p:spPr>
            <a:xfrm>
              <a:off x="4786314" y="1714488"/>
              <a:ext cx="357190" cy="33855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latin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1600" b="1" dirty="0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●</a:t>
              </a:r>
              <a:endParaRPr lang="zh-CN" altLang="en-US" sz="16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6" name="矩形 25"/>
          <p:cNvSpPr/>
          <p:nvPr/>
        </p:nvSpPr>
        <p:spPr>
          <a:xfrm>
            <a:off x="3643313" y="4000500"/>
            <a:ext cx="357187" cy="3381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latin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600" b="1" dirty="0">
                <a:solidFill>
                  <a:srgbClr val="00B0F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●</a:t>
            </a:r>
            <a:endParaRPr lang="zh-CN" altLang="en-US" sz="1600" b="1" dirty="0">
              <a:solidFill>
                <a:srgbClr val="00B0F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26" grpId="0"/>
      <p:bldP spid="26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25" name="直接连接符 24"/>
          <p:cNvCxnSpPr/>
          <p:nvPr/>
        </p:nvCxnSpPr>
        <p:spPr>
          <a:xfrm>
            <a:off x="-12700" y="5141913"/>
            <a:ext cx="1308100" cy="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 flipV="1">
            <a:off x="1319213" y="2755900"/>
            <a:ext cx="0" cy="2398713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椭圆 5"/>
          <p:cNvSpPr/>
          <p:nvPr/>
        </p:nvSpPr>
        <p:spPr>
          <a:xfrm>
            <a:off x="471488" y="941388"/>
            <a:ext cx="1722438" cy="1797050"/>
          </a:xfrm>
          <a:prstGeom prst="ellipse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最坏情况测试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9" name="直接连接符 8"/>
          <p:cNvCxnSpPr>
            <a:stCxn id="6" idx="6"/>
          </p:cNvCxnSpPr>
          <p:nvPr/>
        </p:nvCxnSpPr>
        <p:spPr>
          <a:xfrm>
            <a:off x="2193925" y="1839913"/>
            <a:ext cx="3206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 flipV="1">
            <a:off x="2514600" y="1079500"/>
            <a:ext cx="0" cy="7747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2514600" y="1079500"/>
            <a:ext cx="616426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8678863" y="1079500"/>
            <a:ext cx="0" cy="422592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 flipH="1">
            <a:off x="2514600" y="5305425"/>
            <a:ext cx="616426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 flipV="1">
            <a:off x="2514600" y="1854200"/>
            <a:ext cx="0" cy="345122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 rot="20744443">
            <a:off x="5063201" y="574237"/>
            <a:ext cx="1442925" cy="707886"/>
          </a:xfrm>
          <a:prstGeom prst="rect">
            <a:avLst/>
          </a:prstGeom>
          <a:blipFill rotWithShape="1">
            <a:blip r:embed="rId1" cstate="print"/>
            <a:stretch>
              <a:fillRect/>
            </a:stretch>
          </a:blipFill>
          <a:ln w="28575">
            <a:solidFill>
              <a:schemeClr val="bg1"/>
            </a:solidFill>
          </a:ln>
        </p:spPr>
        <p:txBody>
          <a:bodyPr/>
          <a:lstStyle/>
          <a:p>
            <a:pPr marR="0" defTabSz="914400" eaLnBrk="1" latin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kern="1200" cap="none" spc="0" normalizeH="0" baseline="0" noProof="0">
                <a:noFill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 </a:t>
            </a:r>
            <a:endParaRPr kumimoji="1" lang="zh-CN" altLang="en-US" kern="1200" cap="none" spc="0" normalizeH="0" baseline="0" noProof="0">
              <a:noFill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357188" y="928688"/>
            <a:ext cx="1979613" cy="1798638"/>
          </a:xfrm>
          <a:prstGeom prst="ellipse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最坏情况</a:t>
            </a:r>
            <a:endParaRPr kumimoji="1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边界值分析</a:t>
            </a:r>
            <a:endParaRPr kumimoji="1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30733" name="Group 77"/>
          <p:cNvGrpSpPr/>
          <p:nvPr/>
        </p:nvGrpSpPr>
        <p:grpSpPr>
          <a:xfrm>
            <a:off x="2625725" y="1162050"/>
            <a:ext cx="5943600" cy="4114800"/>
            <a:chOff x="1056" y="768"/>
            <a:chExt cx="3744" cy="2592"/>
          </a:xfrm>
        </p:grpSpPr>
        <p:sp>
          <p:nvSpPr>
            <p:cNvPr id="30736" name="Line 33"/>
            <p:cNvSpPr/>
            <p:nvPr/>
          </p:nvSpPr>
          <p:spPr>
            <a:xfrm flipV="1">
              <a:off x="1432" y="768"/>
              <a:ext cx="2" cy="2592"/>
            </a:xfrm>
            <a:prstGeom prst="line">
              <a:avLst/>
            </a:prstGeom>
            <a:ln w="28575" cap="flat" cmpd="sng">
              <a:solidFill>
                <a:srgbClr val="333399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0737" name="Line 34"/>
            <p:cNvSpPr/>
            <p:nvPr/>
          </p:nvSpPr>
          <p:spPr>
            <a:xfrm>
              <a:off x="1163" y="3036"/>
              <a:ext cx="3156" cy="0"/>
            </a:xfrm>
            <a:prstGeom prst="line">
              <a:avLst/>
            </a:prstGeom>
            <a:ln w="28575" cap="flat" cmpd="sng">
              <a:solidFill>
                <a:srgbClr val="333399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0738" name="Line 35"/>
            <p:cNvSpPr/>
            <p:nvPr/>
          </p:nvSpPr>
          <p:spPr>
            <a:xfrm>
              <a:off x="1432" y="1415"/>
              <a:ext cx="2615" cy="0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30739" name="Line 36"/>
            <p:cNvSpPr/>
            <p:nvPr/>
          </p:nvSpPr>
          <p:spPr>
            <a:xfrm>
              <a:off x="1432" y="2549"/>
              <a:ext cx="2615" cy="0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30740" name="Line 37"/>
            <p:cNvSpPr/>
            <p:nvPr/>
          </p:nvSpPr>
          <p:spPr>
            <a:xfrm>
              <a:off x="1793" y="1010"/>
              <a:ext cx="0" cy="2025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30741" name="Line 38"/>
            <p:cNvSpPr/>
            <p:nvPr/>
          </p:nvSpPr>
          <p:spPr>
            <a:xfrm>
              <a:off x="3417" y="1010"/>
              <a:ext cx="0" cy="2025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30742" name="AutoShape 39"/>
            <p:cNvSpPr/>
            <p:nvPr/>
          </p:nvSpPr>
          <p:spPr>
            <a:xfrm>
              <a:off x="2425" y="1380"/>
              <a:ext cx="91" cy="81"/>
            </a:xfrm>
            <a:prstGeom prst="flowChartConnector">
              <a:avLst/>
            </a:prstGeom>
            <a:solidFill>
              <a:srgbClr val="0000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latin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743" name="AutoShape 40"/>
            <p:cNvSpPr/>
            <p:nvPr/>
          </p:nvSpPr>
          <p:spPr>
            <a:xfrm>
              <a:off x="2425" y="1541"/>
              <a:ext cx="91" cy="81"/>
            </a:xfrm>
            <a:prstGeom prst="flowChartConnector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latin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744" name="AutoShape 42"/>
            <p:cNvSpPr/>
            <p:nvPr/>
          </p:nvSpPr>
          <p:spPr>
            <a:xfrm>
              <a:off x="1921" y="2063"/>
              <a:ext cx="90" cy="81"/>
            </a:xfrm>
            <a:prstGeom prst="flowChartConnector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latin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745" name="AutoShape 43"/>
            <p:cNvSpPr/>
            <p:nvPr/>
          </p:nvSpPr>
          <p:spPr>
            <a:xfrm>
              <a:off x="2425" y="2063"/>
              <a:ext cx="91" cy="81"/>
            </a:xfrm>
            <a:prstGeom prst="flowChartConnector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latin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746" name="AutoShape 44"/>
            <p:cNvSpPr/>
            <p:nvPr/>
          </p:nvSpPr>
          <p:spPr>
            <a:xfrm>
              <a:off x="2425" y="2360"/>
              <a:ext cx="91" cy="81"/>
            </a:xfrm>
            <a:prstGeom prst="flowChartConnector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latin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747" name="AutoShape 45"/>
            <p:cNvSpPr/>
            <p:nvPr/>
          </p:nvSpPr>
          <p:spPr>
            <a:xfrm>
              <a:off x="2425" y="2504"/>
              <a:ext cx="91" cy="81"/>
            </a:xfrm>
            <a:prstGeom prst="flowChartConnector">
              <a:avLst/>
            </a:prstGeom>
            <a:solidFill>
              <a:srgbClr val="0000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latin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748" name="AutoShape 46"/>
            <p:cNvSpPr/>
            <p:nvPr/>
          </p:nvSpPr>
          <p:spPr>
            <a:xfrm>
              <a:off x="3184" y="2063"/>
              <a:ext cx="90" cy="81"/>
            </a:xfrm>
            <a:prstGeom prst="flowChartConnector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latin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749" name="AutoShape 47"/>
            <p:cNvSpPr/>
            <p:nvPr/>
          </p:nvSpPr>
          <p:spPr>
            <a:xfrm>
              <a:off x="3379" y="2064"/>
              <a:ext cx="90" cy="81"/>
            </a:xfrm>
            <a:prstGeom prst="flowChartConnector">
              <a:avLst/>
            </a:prstGeom>
            <a:solidFill>
              <a:srgbClr val="0000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latin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750" name="Text Box 48"/>
            <p:cNvSpPr txBox="1"/>
            <p:nvPr/>
          </p:nvSpPr>
          <p:spPr>
            <a:xfrm>
              <a:off x="4426" y="2874"/>
              <a:ext cx="37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latinLnBrk="1" hangingPunct="1">
                <a:spcBef>
                  <a:spcPct val="5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None/>
              </a:pPr>
              <a:r>
                <a:rPr lang="en-US" altLang="zh-CN" sz="2400" b="1" dirty="0">
                  <a:solidFill>
                    <a:srgbClr val="0099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X</a:t>
              </a:r>
              <a:r>
                <a:rPr lang="en-US" altLang="zh-CN" sz="2400" b="1" baseline="-25000" dirty="0">
                  <a:solidFill>
                    <a:srgbClr val="0099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1</a:t>
              </a:r>
              <a:endParaRPr lang="en-US" altLang="zh-CN" sz="2400" b="1" dirty="0">
                <a:solidFill>
                  <a:srgbClr val="0099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751" name="Text Box 49"/>
            <p:cNvSpPr txBox="1"/>
            <p:nvPr/>
          </p:nvSpPr>
          <p:spPr>
            <a:xfrm>
              <a:off x="1056" y="768"/>
              <a:ext cx="37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latinLnBrk="1" hangingPunct="1">
                <a:spcBef>
                  <a:spcPct val="5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None/>
              </a:pPr>
              <a:r>
                <a:rPr lang="en-US" altLang="zh-CN" sz="2400" b="1" dirty="0">
                  <a:solidFill>
                    <a:srgbClr val="0099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X</a:t>
              </a:r>
              <a:r>
                <a:rPr lang="en-US" altLang="zh-CN" sz="2400" b="1" baseline="-25000" dirty="0">
                  <a:solidFill>
                    <a:srgbClr val="0099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2</a:t>
              </a:r>
              <a:endParaRPr lang="en-US" altLang="zh-CN" sz="2400" b="1" dirty="0">
                <a:solidFill>
                  <a:srgbClr val="0099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752" name="Text Box 50"/>
            <p:cNvSpPr txBox="1"/>
            <p:nvPr/>
          </p:nvSpPr>
          <p:spPr>
            <a:xfrm>
              <a:off x="1163" y="1254"/>
              <a:ext cx="26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latinLnBrk="1" hangingPunct="1">
                <a:spcBef>
                  <a:spcPct val="5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None/>
              </a:pPr>
              <a:r>
                <a:rPr lang="en-US" altLang="zh-CN" sz="2400" b="1" dirty="0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d</a:t>
              </a:r>
              <a:endPara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753" name="Text Box 51"/>
            <p:cNvSpPr txBox="1"/>
            <p:nvPr/>
          </p:nvSpPr>
          <p:spPr>
            <a:xfrm>
              <a:off x="1163" y="2388"/>
              <a:ext cx="26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latinLnBrk="1" hangingPunct="1">
                <a:spcBef>
                  <a:spcPct val="5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None/>
              </a:pPr>
              <a:r>
                <a:rPr lang="en-US" altLang="zh-CN" sz="2400" b="1" dirty="0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c</a:t>
              </a:r>
              <a:endPara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754" name="Text Box 52"/>
            <p:cNvSpPr txBox="1"/>
            <p:nvPr/>
          </p:nvSpPr>
          <p:spPr>
            <a:xfrm>
              <a:off x="3249" y="3036"/>
              <a:ext cx="26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latinLnBrk="1" hangingPunct="1">
                <a:spcBef>
                  <a:spcPct val="5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None/>
              </a:pPr>
              <a:r>
                <a:rPr lang="en-US" altLang="zh-CN" sz="2400" b="1" dirty="0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b</a:t>
              </a:r>
              <a:endPara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755" name="Text Box 53"/>
            <p:cNvSpPr txBox="1"/>
            <p:nvPr/>
          </p:nvSpPr>
          <p:spPr>
            <a:xfrm>
              <a:off x="1644" y="3036"/>
              <a:ext cx="26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latinLnBrk="1" hangingPunct="1">
                <a:spcBef>
                  <a:spcPct val="5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None/>
              </a:pPr>
              <a:r>
                <a:rPr lang="en-US" altLang="zh-CN" sz="2400" b="1" dirty="0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a</a:t>
              </a:r>
              <a:endPara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756" name="AutoShape 54"/>
            <p:cNvSpPr/>
            <p:nvPr/>
          </p:nvSpPr>
          <p:spPr>
            <a:xfrm>
              <a:off x="1750" y="2367"/>
              <a:ext cx="90" cy="81"/>
            </a:xfrm>
            <a:prstGeom prst="flowChartConnector">
              <a:avLst/>
            </a:prstGeom>
            <a:solidFill>
              <a:srgbClr val="0000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latin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757" name="AutoShape 55"/>
            <p:cNvSpPr/>
            <p:nvPr/>
          </p:nvSpPr>
          <p:spPr>
            <a:xfrm>
              <a:off x="1744" y="2511"/>
              <a:ext cx="90" cy="81"/>
            </a:xfrm>
            <a:prstGeom prst="flowChartConnector">
              <a:avLst/>
            </a:prstGeom>
            <a:solidFill>
              <a:srgbClr val="0000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latin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758" name="AutoShape 58"/>
            <p:cNvSpPr/>
            <p:nvPr/>
          </p:nvSpPr>
          <p:spPr>
            <a:xfrm>
              <a:off x="3376" y="2511"/>
              <a:ext cx="90" cy="81"/>
            </a:xfrm>
            <a:prstGeom prst="flowChartConnector">
              <a:avLst/>
            </a:prstGeom>
            <a:solidFill>
              <a:srgbClr val="0000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latin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759" name="AutoShape 59"/>
            <p:cNvSpPr/>
            <p:nvPr/>
          </p:nvSpPr>
          <p:spPr>
            <a:xfrm>
              <a:off x="3168" y="2504"/>
              <a:ext cx="91" cy="81"/>
            </a:xfrm>
            <a:prstGeom prst="flowChartConnector">
              <a:avLst/>
            </a:prstGeom>
            <a:solidFill>
              <a:srgbClr val="0000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latin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760" name="AutoShape 60"/>
            <p:cNvSpPr/>
            <p:nvPr/>
          </p:nvSpPr>
          <p:spPr>
            <a:xfrm>
              <a:off x="3381" y="2344"/>
              <a:ext cx="91" cy="81"/>
            </a:xfrm>
            <a:prstGeom prst="flowChartConnector">
              <a:avLst/>
            </a:prstGeom>
            <a:solidFill>
              <a:srgbClr val="0000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latin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761" name="AutoShape 62"/>
            <p:cNvSpPr/>
            <p:nvPr/>
          </p:nvSpPr>
          <p:spPr>
            <a:xfrm>
              <a:off x="3381" y="1376"/>
              <a:ext cx="91" cy="81"/>
            </a:xfrm>
            <a:prstGeom prst="flowChartConnector">
              <a:avLst/>
            </a:prstGeom>
            <a:solidFill>
              <a:srgbClr val="0000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latin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762" name="AutoShape 63"/>
            <p:cNvSpPr/>
            <p:nvPr/>
          </p:nvSpPr>
          <p:spPr>
            <a:xfrm>
              <a:off x="3205" y="1376"/>
              <a:ext cx="91" cy="81"/>
            </a:xfrm>
            <a:prstGeom prst="flowChartConnector">
              <a:avLst/>
            </a:prstGeom>
            <a:solidFill>
              <a:srgbClr val="0000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latin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763" name="AutoShape 64"/>
            <p:cNvSpPr/>
            <p:nvPr/>
          </p:nvSpPr>
          <p:spPr>
            <a:xfrm>
              <a:off x="1744" y="1519"/>
              <a:ext cx="91" cy="81"/>
            </a:xfrm>
            <a:prstGeom prst="flowChartConnector">
              <a:avLst/>
            </a:prstGeom>
            <a:solidFill>
              <a:srgbClr val="0000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latin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764" name="AutoShape 65"/>
            <p:cNvSpPr/>
            <p:nvPr/>
          </p:nvSpPr>
          <p:spPr>
            <a:xfrm>
              <a:off x="1909" y="1360"/>
              <a:ext cx="91" cy="81"/>
            </a:xfrm>
            <a:prstGeom prst="flowChartConnector">
              <a:avLst/>
            </a:prstGeom>
            <a:solidFill>
              <a:srgbClr val="0000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latin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765" name="AutoShape 66"/>
            <p:cNvSpPr/>
            <p:nvPr/>
          </p:nvSpPr>
          <p:spPr>
            <a:xfrm>
              <a:off x="1749" y="1360"/>
              <a:ext cx="91" cy="81"/>
            </a:xfrm>
            <a:prstGeom prst="flowChartConnector">
              <a:avLst/>
            </a:prstGeom>
            <a:solidFill>
              <a:srgbClr val="0000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latin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766" name="AutoShape 67"/>
            <p:cNvSpPr/>
            <p:nvPr/>
          </p:nvSpPr>
          <p:spPr>
            <a:xfrm>
              <a:off x="1749" y="2064"/>
              <a:ext cx="91" cy="81"/>
            </a:xfrm>
            <a:prstGeom prst="flowChartConnector">
              <a:avLst/>
            </a:prstGeom>
            <a:solidFill>
              <a:srgbClr val="0000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latin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767" name="AutoShape 68"/>
            <p:cNvSpPr/>
            <p:nvPr/>
          </p:nvSpPr>
          <p:spPr>
            <a:xfrm>
              <a:off x="1925" y="2512"/>
              <a:ext cx="91" cy="81"/>
            </a:xfrm>
            <a:prstGeom prst="flowChartConnector">
              <a:avLst/>
            </a:prstGeom>
            <a:solidFill>
              <a:srgbClr val="0000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latin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768" name="AutoShape 70"/>
            <p:cNvSpPr/>
            <p:nvPr/>
          </p:nvSpPr>
          <p:spPr>
            <a:xfrm>
              <a:off x="3177" y="2351"/>
              <a:ext cx="91" cy="81"/>
            </a:xfrm>
            <a:prstGeom prst="flowChartConnector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latin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769" name="AutoShape 72"/>
            <p:cNvSpPr/>
            <p:nvPr/>
          </p:nvSpPr>
          <p:spPr>
            <a:xfrm>
              <a:off x="3205" y="1536"/>
              <a:ext cx="91" cy="81"/>
            </a:xfrm>
            <a:prstGeom prst="flowChartConnector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latin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770" name="AutoShape 74"/>
            <p:cNvSpPr/>
            <p:nvPr/>
          </p:nvSpPr>
          <p:spPr>
            <a:xfrm>
              <a:off x="1920" y="1536"/>
              <a:ext cx="91" cy="81"/>
            </a:xfrm>
            <a:prstGeom prst="flowChartConnector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latin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771" name="AutoShape 75"/>
            <p:cNvSpPr/>
            <p:nvPr/>
          </p:nvSpPr>
          <p:spPr>
            <a:xfrm>
              <a:off x="1913" y="2367"/>
              <a:ext cx="91" cy="81"/>
            </a:xfrm>
            <a:prstGeom prst="flowChartConnector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latin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772" name="AutoShape 76"/>
            <p:cNvSpPr/>
            <p:nvPr/>
          </p:nvSpPr>
          <p:spPr>
            <a:xfrm>
              <a:off x="3381" y="1536"/>
              <a:ext cx="91" cy="81"/>
            </a:xfrm>
            <a:prstGeom prst="flowChartConnector">
              <a:avLst/>
            </a:prstGeom>
            <a:solidFill>
              <a:srgbClr val="0000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latin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30734" name="TextBox 50"/>
          <p:cNvSpPr txBox="1"/>
          <p:nvPr/>
        </p:nvSpPr>
        <p:spPr>
          <a:xfrm>
            <a:off x="71438" y="142875"/>
            <a:ext cx="6143625" cy="708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739775" lvl="1" indent="-282575"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</a:rPr>
              <a:t>Multiple Variable of Boundary Values</a:t>
            </a:r>
            <a:endParaRPr lang="en-US" altLang="zh-CN" sz="20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739775" lvl="1" indent="-282575"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</a:rPr>
              <a:t>/ Worse-Case Testing</a:t>
            </a:r>
            <a:endParaRPr lang="en-US" altLang="zh-CN" sz="20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735" name="TextBox 50"/>
          <p:cNvSpPr txBox="1"/>
          <p:nvPr/>
        </p:nvSpPr>
        <p:spPr>
          <a:xfrm>
            <a:off x="642938" y="5429250"/>
            <a:ext cx="7358062" cy="1168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latin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0065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Test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0065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all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0065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the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0065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combinations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0065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of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0065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extreme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0065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values!</a:t>
            </a:r>
            <a:endParaRPr lang="en-US" altLang="zh-CN" sz="2000" b="1" dirty="0">
              <a:solidFill>
                <a:srgbClr val="0065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0" eaLnBrk="1" latin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0065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Useful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0065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for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0065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failure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0065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which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0065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appears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0065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only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0065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when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0065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two or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0065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more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0065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variable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0065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are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0065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at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0065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the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0065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boundary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0065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values</a:t>
            </a:r>
            <a:endParaRPr lang="en-US" altLang="zh-CN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25" name="直接连接符 24"/>
          <p:cNvCxnSpPr/>
          <p:nvPr/>
        </p:nvCxnSpPr>
        <p:spPr>
          <a:xfrm>
            <a:off x="-12700" y="5141913"/>
            <a:ext cx="1308100" cy="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 flipV="1">
            <a:off x="1319213" y="2755900"/>
            <a:ext cx="0" cy="2398713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2193925" y="1839913"/>
            <a:ext cx="3206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 flipV="1">
            <a:off x="2514600" y="1079500"/>
            <a:ext cx="0" cy="7747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2514600" y="1079500"/>
            <a:ext cx="616426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8678863" y="1079500"/>
            <a:ext cx="0" cy="422592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 flipH="1">
            <a:off x="2514600" y="5305425"/>
            <a:ext cx="616426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 flipV="1">
            <a:off x="2514600" y="1854200"/>
            <a:ext cx="0" cy="345122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 rot="20744443">
            <a:off x="5063201" y="574237"/>
            <a:ext cx="1442925" cy="707886"/>
          </a:xfrm>
          <a:prstGeom prst="rect">
            <a:avLst/>
          </a:prstGeom>
          <a:blipFill rotWithShape="1">
            <a:blip r:embed="rId1" cstate="print"/>
            <a:stretch>
              <a:fillRect/>
            </a:stretch>
          </a:blipFill>
          <a:ln w="28575">
            <a:solidFill>
              <a:schemeClr val="bg1"/>
            </a:solidFill>
          </a:ln>
        </p:spPr>
        <p:txBody>
          <a:bodyPr/>
          <a:lstStyle/>
          <a:p>
            <a:pPr marR="0" defTabSz="914400" eaLnBrk="1" latin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kern="1200" cap="none" spc="0" normalizeH="0" baseline="0" noProof="0">
                <a:noFill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 </a:t>
            </a:r>
            <a:endParaRPr kumimoji="1" lang="zh-CN" altLang="en-US" kern="1200" cap="none" spc="0" normalizeH="0" baseline="0" noProof="0">
              <a:noFill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9" name="椭圆 58"/>
          <p:cNvSpPr/>
          <p:nvPr/>
        </p:nvSpPr>
        <p:spPr>
          <a:xfrm>
            <a:off x="92075" y="1000125"/>
            <a:ext cx="2193925" cy="1797050"/>
          </a:xfrm>
          <a:prstGeom prst="ellipse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健壮最坏情况</a:t>
            </a:r>
            <a:endParaRPr kumimoji="1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边界值分析</a:t>
            </a:r>
            <a:endParaRPr kumimoji="1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31756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2400" y="1076325"/>
            <a:ext cx="5810250" cy="42243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1757" name="TextBox 13"/>
          <p:cNvSpPr txBox="1"/>
          <p:nvPr/>
        </p:nvSpPr>
        <p:spPr>
          <a:xfrm>
            <a:off x="1285875" y="5643563"/>
            <a:ext cx="7286625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0065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Also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b="1" dirty="0">
                <a:solidFill>
                  <a:srgbClr val="0065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test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b="1" dirty="0">
                <a:solidFill>
                  <a:srgbClr val="0065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the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b="1" dirty="0">
                <a:solidFill>
                  <a:srgbClr val="0065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invalid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b="1" dirty="0">
                <a:solidFill>
                  <a:srgbClr val="0065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extreme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b="1" dirty="0">
                <a:solidFill>
                  <a:srgbClr val="0065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values.</a:t>
            </a:r>
            <a:endParaRPr lang="en-US" altLang="zh-CN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1758" name="TextBox 13"/>
          <p:cNvSpPr txBox="1"/>
          <p:nvPr/>
        </p:nvSpPr>
        <p:spPr>
          <a:xfrm>
            <a:off x="0" y="142875"/>
            <a:ext cx="7286625" cy="708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739775" lvl="1" indent="-282575"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</a:rPr>
              <a:t>Robust Multiple Variable of Boundary Values</a:t>
            </a:r>
            <a:endParaRPr lang="en-US" altLang="zh-CN" sz="20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</a:rPr>
              <a:t>     / Robust Worst-Case Testing</a:t>
            </a:r>
            <a:endParaRPr lang="en-US" altLang="zh-CN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Rectangle 2"/>
          <p:cNvSpPr>
            <a:spLocks noGrp="1"/>
          </p:cNvSpPr>
          <p:nvPr>
            <p:ph type="title" idx="4294967295"/>
          </p:nvPr>
        </p:nvSpPr>
        <p:spPr>
          <a:xfrm>
            <a:off x="642938" y="152400"/>
            <a:ext cx="7772400" cy="1143000"/>
          </a:xfrm>
        </p:spPr>
        <p:txBody>
          <a:bodyPr vert="horz" wrap="square" lIns="91440" tIns="45720" rIns="91440" bIns="45720" anchor="ctr" anchorCtr="0"/>
          <a:p>
            <a:pPr marL="342900" indent="-342900" eaLnBrk="1" hangingPunct="1"/>
            <a:r>
              <a:rPr lang="en-US" altLang="zh-CN" sz="3600" dirty="0">
                <a:latin typeface="Arial" panose="020B0604020202020204" pitchFamily="34" charset="0"/>
                <a:ea typeface="宋体" panose="02010600030101010101" pitchFamily="2" charset="-122"/>
              </a:rPr>
              <a:t>4.2 </a:t>
            </a:r>
            <a:r>
              <a:rPr lang="en-US" altLang="zh-CN" sz="3600" dirty="0">
                <a:ea typeface="宋体" panose="02010600030101010101" pitchFamily="2" charset="-122"/>
              </a:rPr>
              <a:t>Boundary Value Analysis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2771" name="Rectangle 3"/>
          <p:cNvSpPr>
            <a:spLocks noGrp="1"/>
          </p:cNvSpPr>
          <p:nvPr>
            <p:ph idx="1"/>
          </p:nvPr>
        </p:nvSpPr>
        <p:spPr>
          <a:xfrm>
            <a:off x="361950" y="1419225"/>
            <a:ext cx="8424863" cy="4724400"/>
          </a:xfrm>
        </p:spPr>
        <p:txBody>
          <a:bodyPr vert="horz" wrap="square" lIns="91440" tIns="45720" rIns="91440" bIns="45720" anchor="t" anchorCtr="0"/>
          <a:p>
            <a:r>
              <a:rPr lang="en-US" altLang="zh-CN" dirty="0">
                <a:ea typeface="黑体" panose="02010609060101010101" pitchFamily="49" charset="-122"/>
              </a:rPr>
              <a:t>Description of Boundary Value?</a:t>
            </a:r>
            <a:endParaRPr lang="en-US" altLang="zh-CN" dirty="0">
              <a:ea typeface="黑体" panose="02010609060101010101" pitchFamily="49" charset="-122"/>
            </a:endParaRPr>
          </a:p>
          <a:p>
            <a:endParaRPr lang="zh-CN" altLang="en-US" dirty="0">
              <a:ea typeface="黑体" panose="02010609060101010101" pitchFamily="49" charset="-122"/>
            </a:endParaRPr>
          </a:p>
          <a:p>
            <a:endParaRPr lang="zh-CN" altLang="en-US" dirty="0">
              <a:ea typeface="黑体" panose="02010609060101010101" pitchFamily="49" charset="-122"/>
            </a:endParaRPr>
          </a:p>
          <a:p>
            <a:endParaRPr lang="zh-CN" altLang="en-US" dirty="0">
              <a:ea typeface="黑体" panose="02010609060101010101" pitchFamily="49" charset="-122"/>
            </a:endParaRPr>
          </a:p>
        </p:txBody>
      </p:sp>
      <p:pic>
        <p:nvPicPr>
          <p:cNvPr id="32772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4375" y="2000250"/>
            <a:ext cx="7215188" cy="46434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withEffect">
                                  <p:stCondLst>
                                    <p:cond delay="3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Rectangle 2"/>
          <p:cNvSpPr>
            <a:spLocks noGrp="1"/>
          </p:cNvSpPr>
          <p:nvPr>
            <p:ph type="title" idx="4294967295"/>
          </p:nvPr>
        </p:nvSpPr>
        <p:spPr>
          <a:xfrm>
            <a:off x="642938" y="152400"/>
            <a:ext cx="7772400" cy="1143000"/>
          </a:xfrm>
        </p:spPr>
        <p:txBody>
          <a:bodyPr vert="horz" wrap="square" lIns="91440" tIns="45720" rIns="91440" bIns="45720" anchor="ctr" anchorCtr="0"/>
          <a:p>
            <a:pPr marL="342900" indent="-342900" eaLnBrk="1" hangingPunct="1"/>
            <a:r>
              <a:rPr lang="en-US" altLang="zh-CN" sz="3600" dirty="0">
                <a:latin typeface="Arial" panose="020B0604020202020204" pitchFamily="34" charset="0"/>
                <a:ea typeface="宋体" panose="02010600030101010101" pitchFamily="2" charset="-122"/>
              </a:rPr>
              <a:t>4.2 </a:t>
            </a:r>
            <a:r>
              <a:rPr lang="en-US" altLang="zh-CN" sz="3600" dirty="0">
                <a:ea typeface="宋体" panose="02010600030101010101" pitchFamily="2" charset="-122"/>
              </a:rPr>
              <a:t>Boundary Value Analysis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3795" name="Rectangle 3"/>
          <p:cNvSpPr>
            <a:spLocks noGrp="1"/>
          </p:cNvSpPr>
          <p:nvPr>
            <p:ph idx="1"/>
          </p:nvPr>
        </p:nvSpPr>
        <p:spPr>
          <a:xfrm>
            <a:off x="361950" y="1419225"/>
            <a:ext cx="8424863" cy="4724400"/>
          </a:xfrm>
        </p:spPr>
        <p:txBody>
          <a:bodyPr vert="horz" wrap="square" lIns="91440" tIns="45720" rIns="91440" bIns="45720" anchor="t" anchorCtr="0"/>
          <a:p>
            <a:pPr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Examples: </a:t>
            </a:r>
            <a:endParaRPr lang="en-US" altLang="zh-CN" sz="2800" dirty="0">
              <a:ea typeface="宋体" panose="02010600030101010101" pitchFamily="2" charset="-122"/>
            </a:endParaRPr>
          </a:p>
          <a:p>
            <a:r>
              <a:rPr lang="en-US" altLang="zh-CN" sz="2800" dirty="0">
                <a:ea typeface="宋体" panose="02010600030101010101" pitchFamily="2" charset="-122"/>
              </a:rPr>
              <a:t>Characters with input range condition [1, 255] 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boundary values:	 1, 255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spcBef>
                <a:spcPct val="30000"/>
              </a:spcBef>
            </a:pPr>
            <a:r>
              <a:rPr lang="en-US" altLang="zh-CN" sz="2800" dirty="0">
                <a:solidFill>
                  <a:srgbClr val="000000"/>
                </a:solidFill>
                <a:ea typeface="黑体" panose="02010609060101010101" pitchFamily="49" charset="-122"/>
              </a:rPr>
              <a:t>Read and Write CD-R</a:t>
            </a:r>
            <a:endParaRPr lang="en-US" altLang="zh-CN" sz="2800" dirty="0">
              <a:solidFill>
                <a:srgbClr val="000000"/>
              </a:solidFill>
              <a:ea typeface="黑体" panose="02010609060101010101" pitchFamily="49" charset="-122"/>
            </a:endParaRPr>
          </a:p>
          <a:p>
            <a:pPr lvl="1" eaLnBrk="1" hangingPunct="1">
              <a:spcBef>
                <a:spcPct val="30000"/>
              </a:spcBef>
            </a:pPr>
            <a:r>
              <a:rPr lang="en-US" altLang="zh-CN" dirty="0">
                <a:ea typeface="宋体" panose="02010600030101010101" pitchFamily="2" charset="-122"/>
              </a:rPr>
              <a:t>boundary values: 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</a:rPr>
              <a:t>Empty file, full files</a:t>
            </a:r>
            <a:endParaRPr lang="zh-CN" altLang="en-US" dirty="0">
              <a:solidFill>
                <a:srgbClr val="000000"/>
              </a:solidFill>
              <a:ea typeface="黑体" panose="02010609060101010101" pitchFamily="49" charset="-122"/>
            </a:endParaRPr>
          </a:p>
          <a:p>
            <a:pPr eaLnBrk="1" hangingPunct="1">
              <a:spcBef>
                <a:spcPct val="30000"/>
              </a:spcBef>
            </a:pPr>
            <a:r>
              <a:rPr lang="en-US" altLang="zh-CN" sz="2800" dirty="0">
                <a:solidFill>
                  <a:srgbClr val="000000"/>
                </a:solidFill>
                <a:ea typeface="黑体" panose="02010609060101010101" pitchFamily="49" charset="-122"/>
              </a:rPr>
              <a:t>Printer: </a:t>
            </a:r>
            <a:endParaRPr lang="en-US" altLang="zh-CN" sz="2800" dirty="0">
              <a:solidFill>
                <a:srgbClr val="000000"/>
              </a:solidFill>
              <a:ea typeface="黑体" panose="02010609060101010101" pitchFamily="49" charset="-122"/>
            </a:endParaRPr>
          </a:p>
          <a:p>
            <a:pPr lvl="1" eaLnBrk="1" hangingPunct="1">
              <a:spcBef>
                <a:spcPct val="30000"/>
              </a:spcBef>
            </a:pPr>
            <a:r>
              <a:rPr lang="en-US" altLang="zh-CN" dirty="0">
                <a:ea typeface="宋体" panose="02010600030101010101" pitchFamily="2" charset="-122"/>
              </a:rPr>
              <a:t>boundary values: 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</a:rPr>
              <a:t>1 page and maximum pages</a:t>
            </a:r>
            <a:endParaRPr lang="zh-CN" altLang="en-US" dirty="0"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withEffect">
                                  <p:stCondLst>
                                    <p:cond delay="3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Rectangle 2"/>
          <p:cNvSpPr>
            <a:spLocks noGrp="1"/>
          </p:cNvSpPr>
          <p:nvPr>
            <p:ph type="title" idx="4294967295"/>
          </p:nvPr>
        </p:nvSpPr>
        <p:spPr>
          <a:xfrm>
            <a:off x="642938" y="152400"/>
            <a:ext cx="7772400" cy="1143000"/>
          </a:xfrm>
        </p:spPr>
        <p:txBody>
          <a:bodyPr vert="horz" wrap="square" lIns="91440" tIns="45720" rIns="91440" bIns="45720" anchor="ctr" anchorCtr="0"/>
          <a:p>
            <a:pPr marL="342900" indent="-342900" eaLnBrk="1" hangingPunct="1"/>
            <a:r>
              <a:rPr lang="en-US" altLang="zh-CN" sz="3600" dirty="0">
                <a:latin typeface="Arial" panose="020B0604020202020204" pitchFamily="34" charset="0"/>
                <a:ea typeface="宋体" panose="02010600030101010101" pitchFamily="2" charset="-122"/>
              </a:rPr>
              <a:t>4.2 </a:t>
            </a:r>
            <a:r>
              <a:rPr lang="en-US" altLang="zh-CN" sz="3600" dirty="0">
                <a:ea typeface="宋体" panose="02010600030101010101" pitchFamily="2" charset="-122"/>
              </a:rPr>
              <a:t>Boundary Value Analysis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4819" name="Rectangle 3"/>
          <p:cNvSpPr>
            <a:spLocks noGrp="1"/>
          </p:cNvSpPr>
          <p:nvPr>
            <p:ph idx="1"/>
          </p:nvPr>
        </p:nvSpPr>
        <p:spPr>
          <a:xfrm>
            <a:off x="361950" y="1419225"/>
            <a:ext cx="8424863" cy="4724400"/>
          </a:xfrm>
        </p:spPr>
        <p:txBody>
          <a:bodyPr vert="horz" wrap="square" lIns="91440" tIns="45720" rIns="91440" bIns="45720" anchor="t" anchorCtr="0"/>
          <a:p>
            <a:pPr>
              <a:buNone/>
            </a:pPr>
            <a:r>
              <a:rPr lang="en-US" altLang="zh-CN" dirty="0">
                <a:ea typeface="宋体" panose="02010600030101010101" pitchFamily="2" charset="-122"/>
              </a:rPr>
              <a:t>Examples: 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The Triangle Problem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The NextDate Problem</a:t>
            </a:r>
            <a:endParaRPr lang="en-US" altLang="zh-CN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The Commission Problem</a:t>
            </a:r>
            <a:endParaRPr lang="zh-CN" altLang="en-US" dirty="0">
              <a:solidFill>
                <a:srgbClr val="000000"/>
              </a:solidFill>
              <a:ea typeface="黑体" panose="02010609060101010101" pitchFamily="49" charset="-122"/>
            </a:endParaRPr>
          </a:p>
          <a:p>
            <a:endParaRPr lang="zh-CN" altLang="en-US" dirty="0">
              <a:ea typeface="黑体" panose="02010609060101010101" pitchFamily="49" charset="-122"/>
            </a:endParaRPr>
          </a:p>
          <a:p>
            <a:endParaRPr lang="zh-CN" altLang="en-US" dirty="0">
              <a:ea typeface="黑体" panose="02010609060101010101" pitchFamily="49" charset="-122"/>
            </a:endParaRPr>
          </a:p>
          <a:p>
            <a:endParaRPr lang="zh-CN" altLang="en-US" dirty="0"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withEffect">
                                  <p:stCondLst>
                                    <p:cond delay="3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584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225" y="476250"/>
            <a:ext cx="8736013" cy="58324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6866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88" y="476250"/>
            <a:ext cx="8748712" cy="5689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Rectangle 2"/>
          <p:cNvSpPr>
            <a:spLocks noGrp="1"/>
          </p:cNvSpPr>
          <p:nvPr>
            <p:ph type="title" idx="4294967295"/>
          </p:nvPr>
        </p:nvSpPr>
        <p:spPr>
          <a:xfrm>
            <a:off x="642938" y="152400"/>
            <a:ext cx="7772400" cy="1143000"/>
          </a:xfrm>
        </p:spPr>
        <p:txBody>
          <a:bodyPr vert="horz" wrap="square" lIns="91440" tIns="45720" rIns="91440" bIns="45720" anchor="ctr" anchorCtr="0"/>
          <a:p>
            <a:pPr marL="342900" indent="-342900" eaLnBrk="1" hangingPunct="1"/>
            <a:r>
              <a:rPr lang="en-US" altLang="zh-CN" sz="3600" dirty="0">
                <a:latin typeface="Arial" panose="020B0604020202020204" pitchFamily="34" charset="0"/>
                <a:ea typeface="宋体" panose="02010600030101010101" pitchFamily="2" charset="-122"/>
              </a:rPr>
              <a:t>4.2 </a:t>
            </a:r>
            <a:r>
              <a:rPr lang="en-US" altLang="zh-CN" sz="3600" dirty="0">
                <a:ea typeface="宋体" panose="02010600030101010101" pitchFamily="2" charset="-122"/>
              </a:rPr>
              <a:t>Boundary Value Analysis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7891" name="Rectangle 3"/>
          <p:cNvSpPr>
            <a:spLocks noGrp="1"/>
          </p:cNvSpPr>
          <p:nvPr>
            <p:ph idx="1"/>
          </p:nvPr>
        </p:nvSpPr>
        <p:spPr>
          <a:xfrm>
            <a:off x="361950" y="1419225"/>
            <a:ext cx="8424863" cy="4724400"/>
          </a:xfrm>
        </p:spPr>
        <p:txBody>
          <a:bodyPr vert="horz" wrap="square" lIns="91440" tIns="45720" rIns="91440" bIns="45720" anchor="t" anchorCtr="0"/>
          <a:p>
            <a:r>
              <a:rPr lang="en-US" altLang="zh-CN" sz="2800" dirty="0">
                <a:ea typeface="宋体" panose="02010600030101010101" pitchFamily="2" charset="-122"/>
              </a:rPr>
              <a:t>The Triangle Problem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/>
            <a:r>
              <a:rPr lang="en-US" altLang="zh-CN" sz="2400" dirty="0">
                <a:solidFill>
                  <a:srgbClr val="000000"/>
                </a:solidFill>
                <a:ea typeface="宋体" panose="02010600030101010101" pitchFamily="2" charset="-122"/>
              </a:rPr>
              <a:t>Test cases for boundary value analysis</a:t>
            </a:r>
            <a:endParaRPr lang="zh-CN" altLang="en-US" dirty="0">
              <a:solidFill>
                <a:srgbClr val="000000"/>
              </a:solidFill>
              <a:ea typeface="黑体" panose="02010609060101010101" pitchFamily="49" charset="-122"/>
            </a:endParaRPr>
          </a:p>
          <a:p>
            <a:endParaRPr lang="zh-CN" altLang="en-US" dirty="0">
              <a:ea typeface="黑体" panose="02010609060101010101" pitchFamily="49" charset="-122"/>
            </a:endParaRPr>
          </a:p>
          <a:p>
            <a:endParaRPr lang="zh-CN" altLang="en-US" dirty="0">
              <a:ea typeface="黑体" panose="02010609060101010101" pitchFamily="49" charset="-122"/>
            </a:endParaRPr>
          </a:p>
          <a:p>
            <a:endParaRPr lang="zh-CN" altLang="en-US" dirty="0">
              <a:ea typeface="黑体" panose="02010609060101010101" pitchFamily="49" charset="-12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928688" y="2428875"/>
          <a:ext cx="6500813" cy="4054480"/>
        </p:xfrm>
        <a:graphic>
          <a:graphicData uri="http://schemas.openxmlformats.org/drawingml/2006/table">
            <a:tbl>
              <a:tblPr/>
              <a:tblGrid>
                <a:gridCol w="1095375"/>
                <a:gridCol w="1096962"/>
                <a:gridCol w="1095375"/>
                <a:gridCol w="1096963"/>
                <a:gridCol w="2116137"/>
              </a:tblGrid>
              <a:tr h="25340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NO.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a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b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c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Expected results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</a:tr>
              <a:tr h="25340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100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100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I(Isosceles)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40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2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100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100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2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I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40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3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100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100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100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E(Equilateral)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40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4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100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100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199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I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40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5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100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100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200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N(NotATriangle)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40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6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100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100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I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40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7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100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2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100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I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40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8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100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100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100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E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40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9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100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199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100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I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40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100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200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100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N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40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11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100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100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I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40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12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2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100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100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I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40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13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100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100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100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E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40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14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199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100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100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I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40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15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200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100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100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N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" name="圆角矩形标注 4"/>
          <p:cNvSpPr/>
          <p:nvPr/>
        </p:nvSpPr>
        <p:spPr>
          <a:xfrm>
            <a:off x="7358063" y="1571625"/>
            <a:ext cx="1785938" cy="714375"/>
          </a:xfrm>
          <a:prstGeom prst="wedgeRoundRectCallout">
            <a:avLst>
              <a:gd name="adj1" fmla="val -116590"/>
              <a:gd name="adj2" fmla="val 58621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13 test cases</a:t>
            </a:r>
            <a:endParaRPr kumimoji="1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withEffect">
                                  <p:stCondLst>
                                    <p:cond delay="3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/>
      <p:bldP spid="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Rectangle 2"/>
          <p:cNvSpPr>
            <a:spLocks noGrp="1"/>
          </p:cNvSpPr>
          <p:nvPr>
            <p:ph type="title" idx="4294967295"/>
          </p:nvPr>
        </p:nvSpPr>
        <p:spPr>
          <a:xfrm>
            <a:off x="642938" y="152400"/>
            <a:ext cx="7772400" cy="1143000"/>
          </a:xfrm>
        </p:spPr>
        <p:txBody>
          <a:bodyPr vert="horz" wrap="square" lIns="91440" tIns="45720" rIns="91440" bIns="45720" anchor="ctr" anchorCtr="0"/>
          <a:p>
            <a:pPr marL="342900" indent="-342900" eaLnBrk="1" hangingPunct="1"/>
            <a:r>
              <a:rPr lang="en-US" altLang="zh-CN" sz="3600" dirty="0">
                <a:latin typeface="Arial" panose="020B0604020202020204" pitchFamily="34" charset="0"/>
                <a:ea typeface="宋体" panose="02010600030101010101" pitchFamily="2" charset="-122"/>
              </a:rPr>
              <a:t>4.2 </a:t>
            </a:r>
            <a:r>
              <a:rPr lang="en-US" altLang="zh-CN" sz="3600" dirty="0">
                <a:ea typeface="宋体" panose="02010600030101010101" pitchFamily="2" charset="-122"/>
              </a:rPr>
              <a:t>Boundary Value Analysis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8915" name="Rectangle 3"/>
          <p:cNvSpPr>
            <a:spLocks noGrp="1"/>
          </p:cNvSpPr>
          <p:nvPr>
            <p:ph idx="1"/>
          </p:nvPr>
        </p:nvSpPr>
        <p:spPr>
          <a:xfrm>
            <a:off x="361950" y="1419225"/>
            <a:ext cx="8424863" cy="4724400"/>
          </a:xfrm>
        </p:spPr>
        <p:txBody>
          <a:bodyPr vert="horz" wrap="square" lIns="91440" tIns="45720" rIns="91440" bIns="45720" anchor="t" anchorCtr="0"/>
          <a:p>
            <a:r>
              <a:rPr lang="en-US" altLang="zh-CN" sz="2800" dirty="0">
                <a:ea typeface="宋体" panose="02010600030101010101" pitchFamily="2" charset="-122"/>
              </a:rPr>
              <a:t>The Triangle Problem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marL="739775" lvl="1" indent="-282575">
              <a:lnSpc>
                <a:spcPct val="130000"/>
              </a:lnSpc>
              <a:buBlip>
                <a:blip r:embed="rId1"/>
              </a:buBlip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Design test cases for </a:t>
            </a:r>
            <a:r>
              <a:rPr lang="en-US" altLang="zh-CN" dirty="0">
                <a:ea typeface="黑体" panose="02010609060101010101" pitchFamily="49" charset="-122"/>
              </a:rPr>
              <a:t>Robustness Boundary Values.</a:t>
            </a:r>
            <a:endParaRPr lang="en-US" altLang="zh-CN" dirty="0">
              <a:ea typeface="黑体" panose="02010609060101010101" pitchFamily="49" charset="-122"/>
            </a:endParaRPr>
          </a:p>
          <a:p>
            <a:pPr marL="739775" lvl="1" indent="-282575">
              <a:lnSpc>
                <a:spcPct val="130000"/>
              </a:lnSpc>
              <a:buBlip>
                <a:blip r:embed="rId1"/>
              </a:buBlip>
            </a:pPr>
            <a:r>
              <a:rPr lang="en-US" altLang="zh-CN" dirty="0">
                <a:ea typeface="黑体" panose="02010609060101010101" pitchFamily="49" charset="-122"/>
              </a:rPr>
              <a:t>How many test cases for Multiple Variable of Boundary Values</a:t>
            </a:r>
            <a:r>
              <a:rPr lang="en-US" altLang="zh-CN" dirty="0">
                <a:ea typeface="宋体" panose="02010600030101010101" pitchFamily="2" charset="-122"/>
              </a:rPr>
              <a:t>(Worst-case testing) ?</a:t>
            </a:r>
            <a:endParaRPr lang="en-US" altLang="zh-CN" dirty="0">
              <a:ea typeface="黑体" panose="02010609060101010101" pitchFamily="49" charset="-122"/>
            </a:endParaRPr>
          </a:p>
          <a:p>
            <a:pPr marL="739775" lvl="1" indent="-282575">
              <a:lnSpc>
                <a:spcPct val="130000"/>
              </a:lnSpc>
              <a:buBlip>
                <a:blip r:embed="rId1"/>
              </a:buBlip>
            </a:pPr>
            <a:r>
              <a:rPr lang="en-US" altLang="zh-CN" dirty="0">
                <a:ea typeface="黑体" panose="02010609060101010101" pitchFamily="49" charset="-122"/>
              </a:rPr>
              <a:t>How many test cases for Robust Multiple Variable of Boundary Values</a:t>
            </a:r>
            <a:r>
              <a:rPr lang="en-US" altLang="zh-CN" dirty="0">
                <a:ea typeface="宋体" panose="02010600030101010101" pitchFamily="2" charset="-122"/>
              </a:rPr>
              <a:t>(</a:t>
            </a:r>
            <a:r>
              <a:rPr lang="en-US" altLang="zh-CN" dirty="0">
                <a:ea typeface="黑体" panose="02010609060101010101" pitchFamily="49" charset="-122"/>
              </a:rPr>
              <a:t>Robust Worst-Case Testing</a:t>
            </a:r>
            <a:r>
              <a:rPr lang="en-US" altLang="zh-CN" dirty="0">
                <a:ea typeface="宋体" panose="02010600030101010101" pitchFamily="2" charset="-122"/>
              </a:rPr>
              <a:t>)?</a:t>
            </a:r>
            <a:endParaRPr lang="zh-CN" altLang="en-US" dirty="0"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withEffect">
                                  <p:stCondLst>
                                    <p:cond delay="3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charRg st="71" end="1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charRg st="154" end="25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Rectangle 2"/>
          <p:cNvSpPr>
            <a:spLocks noGrp="1"/>
          </p:cNvSpPr>
          <p:nvPr>
            <p:ph type="title" idx="4294967295"/>
          </p:nvPr>
        </p:nvSpPr>
        <p:spPr>
          <a:xfrm>
            <a:off x="642938" y="152400"/>
            <a:ext cx="7772400" cy="1143000"/>
          </a:xfrm>
        </p:spPr>
        <p:txBody>
          <a:bodyPr vert="horz" wrap="square" lIns="91440" tIns="45720" rIns="91440" bIns="45720" anchor="ctr" anchorCtr="0"/>
          <a:p>
            <a:pPr marL="342900" indent="-342900" eaLnBrk="1" hangingPunct="1"/>
            <a:r>
              <a:rPr lang="en-US" altLang="zh-CN" sz="3600" dirty="0">
                <a:latin typeface="Arial" panose="020B0604020202020204" pitchFamily="34" charset="0"/>
                <a:ea typeface="宋体" panose="02010600030101010101" pitchFamily="2" charset="-122"/>
              </a:rPr>
              <a:t>4.2 </a:t>
            </a:r>
            <a:r>
              <a:rPr lang="en-US" altLang="zh-CN" sz="3600" dirty="0">
                <a:ea typeface="宋体" panose="02010600030101010101" pitchFamily="2" charset="-122"/>
              </a:rPr>
              <a:t>Boundary Value Analysis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9939" name="Rectangle 3"/>
          <p:cNvSpPr>
            <a:spLocks noGrp="1"/>
          </p:cNvSpPr>
          <p:nvPr>
            <p:ph idx="1"/>
          </p:nvPr>
        </p:nvSpPr>
        <p:spPr>
          <a:xfrm>
            <a:off x="361950" y="1419225"/>
            <a:ext cx="8424863" cy="4724400"/>
          </a:xfrm>
        </p:spPr>
        <p:txBody>
          <a:bodyPr vert="horz" wrap="square" lIns="91440" tIns="45720" rIns="91440" bIns="45720" anchor="t" anchorCtr="0"/>
          <a:p>
            <a:r>
              <a:rPr lang="en-US" altLang="zh-CN" sz="2800" dirty="0">
                <a:ea typeface="宋体" panose="02010600030101010101" pitchFamily="2" charset="-122"/>
              </a:rPr>
              <a:t>The NextDate Problem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marL="739775" lvl="1" indent="-282575">
              <a:lnSpc>
                <a:spcPct val="130000"/>
              </a:lnSpc>
              <a:buBlip>
                <a:blip r:embed="rId1"/>
              </a:buBlip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Inputs are three integers: month, date, year</a:t>
            </a:r>
            <a:endParaRPr lang="en-US" altLang="zh-CN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marL="739775" lvl="1" indent="-282575">
              <a:lnSpc>
                <a:spcPct val="130000"/>
              </a:lnSpc>
              <a:buBlip>
                <a:blip r:embed="rId1"/>
              </a:buBlip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Output is the next date of the input</a:t>
            </a:r>
            <a:endParaRPr lang="en-US" altLang="zh-CN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marL="739775" lvl="1" indent="-282575">
              <a:lnSpc>
                <a:spcPct val="130000"/>
              </a:lnSpc>
              <a:buBlip>
                <a:blip r:embed="rId1"/>
              </a:buBlip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Satisfy the following conditions:</a:t>
            </a:r>
            <a:endParaRPr lang="en-US" altLang="zh-CN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marL="1139825" lvl="2" indent="-282575">
              <a:lnSpc>
                <a:spcPct val="130000"/>
              </a:lnSpc>
              <a:buBlip>
                <a:blip r:embed="rId1"/>
              </a:buBlip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C1: 1&lt;= month &lt;= 12</a:t>
            </a:r>
            <a:endParaRPr lang="en-US" altLang="zh-CN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marL="1139825" lvl="2" indent="-282575">
              <a:lnSpc>
                <a:spcPct val="130000"/>
              </a:lnSpc>
              <a:buBlip>
                <a:blip r:embed="rId1"/>
              </a:buBlip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C2: 1&lt;= day &lt;= 31</a:t>
            </a:r>
            <a:endParaRPr lang="en-US" altLang="zh-CN" dirty="0">
              <a:ea typeface="黑体" panose="02010609060101010101" pitchFamily="49" charset="-122"/>
            </a:endParaRPr>
          </a:p>
          <a:p>
            <a:pPr marL="1139825" lvl="2" indent="-282575">
              <a:lnSpc>
                <a:spcPct val="130000"/>
              </a:lnSpc>
              <a:buBlip>
                <a:blip r:embed="rId1"/>
              </a:buBlip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C3: 1812&lt;= year &lt;= 2012</a:t>
            </a:r>
            <a:endParaRPr lang="zh-CN" altLang="en-US" dirty="0">
              <a:ea typeface="黑体" panose="02010609060101010101" pitchFamily="49" charset="-122"/>
            </a:endParaRPr>
          </a:p>
          <a:p>
            <a:pPr>
              <a:buBlip>
                <a:blip r:embed="rId1"/>
              </a:buBlip>
            </a:pPr>
            <a:endParaRPr lang="zh-CN" altLang="en-US" dirty="0"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withEffect">
                                  <p:stCondLst>
                                    <p:cond delay="3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Rectangle 2"/>
          <p:cNvSpPr>
            <a:spLocks noGrp="1"/>
          </p:cNvSpPr>
          <p:nvPr>
            <p:ph type="title" idx="4294967295"/>
          </p:nvPr>
        </p:nvSpPr>
        <p:spPr>
          <a:xfrm>
            <a:off x="642938" y="152400"/>
            <a:ext cx="7772400" cy="1143000"/>
          </a:xfrm>
        </p:spPr>
        <p:txBody>
          <a:bodyPr vert="horz" wrap="square" lIns="91440" tIns="45720" rIns="91440" bIns="45720" anchor="ctr" anchorCtr="0"/>
          <a:p>
            <a:pPr marL="342900" indent="-342900" eaLnBrk="1" hangingPunct="1"/>
            <a:r>
              <a:rPr lang="en-US" altLang="zh-CN" sz="3600" dirty="0">
                <a:latin typeface="Arial" panose="020B0604020202020204" pitchFamily="34" charset="0"/>
                <a:ea typeface="宋体" panose="02010600030101010101" pitchFamily="2" charset="-122"/>
              </a:rPr>
              <a:t>4.2 </a:t>
            </a:r>
            <a:r>
              <a:rPr lang="en-US" altLang="zh-CN" sz="3600" dirty="0">
                <a:ea typeface="宋体" panose="02010600030101010101" pitchFamily="2" charset="-122"/>
              </a:rPr>
              <a:t>Boundary Value Analysis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>
          <a:xfrm>
            <a:off x="361950" y="1419225"/>
            <a:ext cx="8424863" cy="47244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How to test the </a:t>
            </a:r>
            <a:r>
              <a:rPr kumimoji="0" lang="en-US" altLang="zh-CN" sz="2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NextDate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 problem?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39775" marR="0" lvl="1" indent="-282575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Blip>
                <a:blip r:embed="rId1"/>
              </a:buBlip>
              <a:defRPr/>
            </a:pP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For month: 0, 1, 2, 6, 11, 12, 13</a:t>
            </a:r>
            <a:endParaRPr kumimoji="0" lang="en-US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739775" marR="0" lvl="1" indent="-282575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Blip>
                <a:blip r:embed="rId1"/>
              </a:buBlip>
              <a:defRPr/>
            </a:pP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For day: 0, 1, 2, 15, 30, 31, 32</a:t>
            </a:r>
            <a:endParaRPr kumimoji="0" lang="en-US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739775" marR="0" lvl="1" indent="-282575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Blip>
                <a:blip r:embed="rId1"/>
              </a:buBlip>
              <a:defRPr/>
            </a:pP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For year : 1811, 1812, 1813, 1900, 2011, 2012, 2013</a:t>
            </a:r>
            <a:endParaRPr kumimoji="0" lang="en-US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339725" marR="0" lvl="0" indent="-282575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Blip>
                <a:blip r:embed="rId1"/>
              </a:buBlip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Some impossible test cases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739775" marR="0" lvl="1" indent="-282575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Blip>
                <a:blip r:embed="rId1"/>
              </a:buBlip>
              <a:defRPr/>
            </a:pP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2-30-1900, 6-31-2012…</a:t>
            </a:r>
            <a:endParaRPr kumimoji="0" lang="en-US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339725" marR="0" lvl="0" indent="-282575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Blip>
                <a:blip r:embed="rId1"/>
              </a:buBlip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Miss some important test cases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739775" marR="0" lvl="1" indent="-282575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Blip>
                <a:blip r:embed="rId1"/>
              </a:buBlip>
              <a:defRPr/>
            </a:pP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28 or 29 in February</a:t>
            </a:r>
            <a:endParaRPr kumimoji="0" lang="en-US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39775" marR="0" lvl="1" indent="-282575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Blip>
                <a:blip r:embed="rId1"/>
              </a:buBlip>
              <a:defRPr/>
            </a:pP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Leap year: 2000</a:t>
            </a:r>
            <a:endParaRPr kumimoji="0" lang="zh-CN" alt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withEffect">
                                  <p:stCondLst>
                                    <p:cond delay="3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charRg st="34" end="6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charRg st="68" end="10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charRg st="101" end="15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charRg st="153" end="18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charRg st="180" end="20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charRg st="202" end="2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charRg st="233" end="2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charRg st="254" end="27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1986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5400"/>
            <a:ext cx="9144000" cy="66436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3010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750" y="764223"/>
            <a:ext cx="8280400" cy="52498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4034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7188" y="619125"/>
            <a:ext cx="8604250" cy="51673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5058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650" y="836613"/>
            <a:ext cx="7129463" cy="36004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5059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650" y="4365625"/>
            <a:ext cx="4032250" cy="165576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608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113" y="549275"/>
            <a:ext cx="7235825" cy="58324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7106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088" y="692150"/>
            <a:ext cx="7058025" cy="34607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7107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088" y="4149725"/>
            <a:ext cx="5257800" cy="154146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8130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11112"/>
            <a:ext cx="9144000" cy="66436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8131" name="TextBox 1"/>
          <p:cNvSpPr txBox="1"/>
          <p:nvPr/>
        </p:nvSpPr>
        <p:spPr>
          <a:xfrm>
            <a:off x="1042988" y="587375"/>
            <a:ext cx="8101012" cy="554038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4007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latinLnBrk="1" hangingPunct="1">
              <a:lnSpc>
                <a:spcPts val="395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b="1" dirty="0">
                <a:solidFill>
                  <a:srgbClr val="57231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Test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57231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Cases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57231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for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57231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the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57231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Commission Problem</a:t>
            </a:r>
            <a:endParaRPr lang="en-US" altLang="zh-CN" b="1" dirty="0">
              <a:solidFill>
                <a:srgbClr val="57231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132" name="TextBox 1"/>
          <p:cNvSpPr txBox="1"/>
          <p:nvPr/>
        </p:nvSpPr>
        <p:spPr>
          <a:xfrm>
            <a:off x="1714500" y="1357313"/>
            <a:ext cx="6584950" cy="4508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4007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latinLnBrk="1" hangingPunct="1">
              <a:lnSpc>
                <a:spcPts val="324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focus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on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boundary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values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for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the</a:t>
            </a:r>
            <a:endParaRPr lang="en-US" altLang="zh-CN" sz="28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133" name="TextBox 1"/>
          <p:cNvSpPr txBox="1"/>
          <p:nvPr/>
        </p:nvSpPr>
        <p:spPr>
          <a:xfrm>
            <a:off x="1714500" y="1835150"/>
            <a:ext cx="5788025" cy="4508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4007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latinLnBrk="1" hangingPunct="1">
              <a:lnSpc>
                <a:spcPts val="324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output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range,especially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near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the</a:t>
            </a:r>
            <a:endParaRPr lang="en-US" altLang="zh-CN" sz="28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134" name="TextBox 1"/>
          <p:cNvSpPr txBox="1"/>
          <p:nvPr/>
        </p:nvSpPr>
        <p:spPr>
          <a:xfrm>
            <a:off x="1714500" y="2428875"/>
            <a:ext cx="6688138" cy="4508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4007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latinLnBrk="1" hangingPunct="1">
              <a:lnSpc>
                <a:spcPts val="324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threshold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points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of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$1000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and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$1800.</a:t>
            </a:r>
            <a:endParaRPr lang="en-US" altLang="zh-CN" sz="28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135" name="TextBox 1"/>
          <p:cNvSpPr txBox="1"/>
          <p:nvPr/>
        </p:nvSpPr>
        <p:spPr>
          <a:xfrm>
            <a:off x="2000250" y="3786188"/>
            <a:ext cx="1782763" cy="280987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4007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latinLnBrk="1" hangingPunct="1">
              <a:lnSpc>
                <a:spcPts val="175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10%</a:t>
            </a:r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en-US" altLang="zh-CN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commission</a:t>
            </a:r>
            <a:endParaRPr lang="en-US" altLang="zh-CN" sz="16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136" name="TextBox 1"/>
          <p:cNvSpPr txBox="1"/>
          <p:nvPr/>
        </p:nvSpPr>
        <p:spPr>
          <a:xfrm>
            <a:off x="1714500" y="4429125"/>
            <a:ext cx="1782763" cy="28098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4007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latinLnBrk="1" hangingPunct="1">
              <a:lnSpc>
                <a:spcPts val="175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15%</a:t>
            </a:r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en-US" altLang="zh-CN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commission</a:t>
            </a:r>
            <a:endParaRPr lang="en-US" altLang="zh-CN" sz="16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137" name="TextBox 1"/>
          <p:cNvSpPr txBox="1"/>
          <p:nvPr/>
        </p:nvSpPr>
        <p:spPr>
          <a:xfrm>
            <a:off x="1571625" y="5219700"/>
            <a:ext cx="1782763" cy="28098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4007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latinLnBrk="1" hangingPunct="1">
              <a:lnSpc>
                <a:spcPts val="175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20%</a:t>
            </a:r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en-US" altLang="zh-CN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commission</a:t>
            </a:r>
            <a:endParaRPr lang="en-US" altLang="zh-CN" sz="16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 rot="10800000" flipV="1">
            <a:off x="7383463" y="4710113"/>
            <a:ext cx="238125" cy="1968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40</a:t>
            </a:r>
            <a:endParaRPr kumimoji="1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9154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925" y="28575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Rectangle 2"/>
          <p:cNvSpPr>
            <a:spLocks noGrp="1"/>
          </p:cNvSpPr>
          <p:nvPr>
            <p:ph type="title" idx="4294967295"/>
          </p:nvPr>
        </p:nvSpPr>
        <p:spPr>
          <a:xfrm>
            <a:off x="642938" y="152400"/>
            <a:ext cx="7772400" cy="1143000"/>
          </a:xfrm>
        </p:spPr>
        <p:txBody>
          <a:bodyPr vert="horz" wrap="square" lIns="91440" tIns="45720" rIns="91440" bIns="45720" anchor="ctr" anchorCtr="0"/>
          <a:p>
            <a:pPr marL="342900" indent="-342900" eaLnBrk="1" hangingPunct="1"/>
            <a:r>
              <a:rPr lang="en-US" altLang="zh-CN" sz="3600" dirty="0">
                <a:latin typeface="Arial" panose="020B0604020202020204" pitchFamily="34" charset="0"/>
                <a:ea typeface="宋体" panose="02010600030101010101" pitchFamily="2" charset="-122"/>
              </a:rPr>
              <a:t>4.2 </a:t>
            </a:r>
            <a:r>
              <a:rPr lang="en-US" altLang="zh-CN" sz="3600" dirty="0">
                <a:ea typeface="宋体" panose="02010600030101010101" pitchFamily="2" charset="-122"/>
              </a:rPr>
              <a:t>Boundary Value Analysis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xfrm>
            <a:off x="361950" y="1419225"/>
            <a:ext cx="8424863" cy="47244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/>
            </a:pPr>
            <a:r>
              <a:rPr kumimoji="0" lang="en-US" altLang="zh-CN" sz="3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Boundary Value Analysis </a:t>
            </a:r>
            <a:r>
              <a:rPr kumimoji="0" lang="en-US" sz="3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techniques include:</a:t>
            </a:r>
            <a:endParaRPr kumimoji="0" lang="en-US" altLang="zh-CN" sz="3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marL="739775" marR="0" lvl="1" indent="-282575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Blip>
                <a:blip r:embed="rId1"/>
              </a:buBlip>
              <a:defRPr/>
            </a:pP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Normal Boundary Values</a:t>
            </a:r>
            <a:endParaRPr kumimoji="0" lang="en-US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39775" marR="0" lvl="1" indent="-282575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Blip>
                <a:blip r:embed="rId1"/>
              </a:buBlip>
              <a:defRPr/>
            </a:pP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Robustness Boundary Values</a:t>
            </a:r>
            <a:endParaRPr kumimoji="0" lang="en-US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39775" marR="0" lvl="1" indent="-282575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Blip>
                <a:blip r:embed="rId1"/>
              </a:buBlip>
              <a:defRPr/>
            </a:pP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Multiple Variable of Boundary Values</a:t>
            </a:r>
            <a:endParaRPr kumimoji="0" lang="en-US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139825" marR="0" lvl="2" indent="-282575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Blip>
                <a:blip r:embed="rId1"/>
              </a:buBlip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(Worst-Case Testing) </a:t>
            </a:r>
            <a:endParaRPr kumimoji="0" lang="en-US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39775" marR="0" lvl="1" indent="-282575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Blip>
                <a:blip r:embed="rId1"/>
              </a:buBlip>
              <a:defRPr/>
            </a:pP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Robust Multiple Variable of Boundary Values</a:t>
            </a:r>
            <a:endParaRPr kumimoji="0" lang="en-US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139825" marR="0" lvl="2" indent="-282575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Blip>
                <a:blip r:embed="rId1"/>
              </a:buBlip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Robust Worst-Case Testing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39725" marR="0" lvl="0" indent="-282575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Blip>
                <a:blip r:embed="rId1"/>
              </a:buBlip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It can be applied for the input/output range</a:t>
            </a:r>
            <a:endParaRPr kumimoji="0" lang="en-US" altLang="zh-CN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withEffect">
                                  <p:stCondLst>
                                    <p:cond delay="3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Rectangle 2"/>
          <p:cNvSpPr>
            <a:spLocks noGrp="1"/>
          </p:cNvSpPr>
          <p:nvPr>
            <p:ph type="title" idx="4294967295"/>
          </p:nvPr>
        </p:nvSpPr>
        <p:spPr>
          <a:xfrm>
            <a:off x="642938" y="152400"/>
            <a:ext cx="7772400" cy="1143000"/>
          </a:xfrm>
        </p:spPr>
        <p:txBody>
          <a:bodyPr vert="horz" wrap="square" lIns="91440" tIns="45720" rIns="91440" bIns="45720" anchor="ctr" anchorCtr="0"/>
          <a:p>
            <a:pPr marL="342900" indent="-342900" algn="l" eaLnBrk="1" hangingPunct="1">
              <a:buNone/>
            </a:pPr>
            <a:r>
              <a:rPr lang="zh-CN" altLang="en-US" sz="3600" b="1" dirty="0">
                <a:ea typeface="微软雅黑" panose="020B0503020204020204" pitchFamily="34" charset="-122"/>
              </a:rPr>
              <a:t>边界值检验的主要类型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5120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250" y="1557338"/>
            <a:ext cx="8464550" cy="43195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withEffect">
                                  <p:stCondLst>
                                    <p:cond delay="3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2226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01138" cy="6643688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3" name="直接连接符 2"/>
          <p:cNvCxnSpPr/>
          <p:nvPr/>
        </p:nvCxnSpPr>
        <p:spPr>
          <a:xfrm>
            <a:off x="4140200" y="4941888"/>
            <a:ext cx="4535488" cy="0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>
            <a:off x="1871663" y="2852738"/>
            <a:ext cx="3636963" cy="0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Rectangle 2"/>
          <p:cNvSpPr>
            <a:spLocks noGrp="1"/>
          </p:cNvSpPr>
          <p:nvPr>
            <p:ph type="title" idx="4294967295"/>
          </p:nvPr>
        </p:nvSpPr>
        <p:spPr>
          <a:xfrm>
            <a:off x="642938" y="152400"/>
            <a:ext cx="7772400" cy="1143000"/>
          </a:xfrm>
        </p:spPr>
        <p:txBody>
          <a:bodyPr vert="horz" wrap="square" lIns="91440" tIns="45720" rIns="91440" bIns="45720" anchor="ctr" anchorCtr="0"/>
          <a:p>
            <a:pPr marL="342900" indent="-342900" eaLnBrk="1" hangingPunct="1"/>
            <a:r>
              <a:rPr lang="en-US" altLang="zh-CN" sz="3600" dirty="0">
                <a:latin typeface="Arial" panose="020B0604020202020204" pitchFamily="34" charset="0"/>
                <a:ea typeface="宋体" panose="02010600030101010101" pitchFamily="2" charset="-122"/>
              </a:rPr>
              <a:t>4.2 </a:t>
            </a:r>
            <a:r>
              <a:rPr lang="en-US" altLang="zh-CN" sz="3600" dirty="0">
                <a:ea typeface="宋体" panose="02010600030101010101" pitchFamily="2" charset="-122"/>
              </a:rPr>
              <a:t>Boundary Value Analysis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3251" name="Rectangle 3"/>
          <p:cNvSpPr>
            <a:spLocks noGrp="1"/>
          </p:cNvSpPr>
          <p:nvPr>
            <p:ph idx="1"/>
          </p:nvPr>
        </p:nvSpPr>
        <p:spPr>
          <a:xfrm>
            <a:off x="0" y="1412875"/>
            <a:ext cx="8782050" cy="4724400"/>
          </a:xfrm>
        </p:spPr>
        <p:txBody>
          <a:bodyPr vert="horz" wrap="square" lIns="91440" tIns="45720" rIns="91440" bIns="45720" anchor="t" anchorCtr="0"/>
          <a:p>
            <a:pPr eaLnBrk="1" hangingPunct="1">
              <a:spcBef>
                <a:spcPct val="30000"/>
              </a:spcBef>
              <a:buNone/>
            </a:pP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</a:rPr>
              <a:t>Questions?</a:t>
            </a:r>
            <a:endParaRPr lang="en-US" altLang="zh-CN" dirty="0">
              <a:solidFill>
                <a:srgbClr val="000000"/>
              </a:solidFill>
              <a:ea typeface="黑体" panose="02010609060101010101" pitchFamily="49" charset="-122"/>
            </a:endParaRPr>
          </a:p>
          <a:p>
            <a:pPr eaLnBrk="1" hangingPunct="1">
              <a:spcBef>
                <a:spcPct val="30000"/>
              </a:spcBef>
            </a:pPr>
            <a:r>
              <a:rPr lang="en-US" altLang="zh-CN" sz="3000" dirty="0">
                <a:solidFill>
                  <a:srgbClr val="000000"/>
                </a:solidFill>
                <a:ea typeface="黑体" panose="02010609060101010101" pitchFamily="49" charset="-122"/>
              </a:rPr>
              <a:t>What is the advantages of </a:t>
            </a:r>
            <a:r>
              <a:rPr lang="en-US" altLang="zh-CN" sz="3000" dirty="0">
                <a:ea typeface="宋体" panose="02010600030101010101" pitchFamily="2" charset="-122"/>
              </a:rPr>
              <a:t>Boundary Value Analysis?</a:t>
            </a:r>
            <a:endParaRPr lang="en-US" altLang="zh-CN" sz="3000" dirty="0">
              <a:ea typeface="宋体" panose="02010600030101010101" pitchFamily="2" charset="-122"/>
            </a:endParaRPr>
          </a:p>
          <a:p>
            <a:pPr eaLnBrk="1" hangingPunct="1">
              <a:spcBef>
                <a:spcPct val="30000"/>
              </a:spcBef>
            </a:pPr>
            <a:r>
              <a:rPr lang="en-US" altLang="zh-CN" sz="3000" dirty="0">
                <a:solidFill>
                  <a:srgbClr val="000000"/>
                </a:solidFill>
                <a:ea typeface="黑体" panose="02010609060101010101" pitchFamily="49" charset="-122"/>
              </a:rPr>
              <a:t>What is the limitations of </a:t>
            </a:r>
            <a:r>
              <a:rPr lang="en-US" altLang="zh-CN" sz="3000" dirty="0">
                <a:ea typeface="宋体" panose="02010600030101010101" pitchFamily="2" charset="-122"/>
              </a:rPr>
              <a:t>Boundary Value Analysis?</a:t>
            </a:r>
            <a:endParaRPr lang="en-US" altLang="zh-CN" sz="3000" dirty="0">
              <a:ea typeface="宋体" panose="02010600030101010101" pitchFamily="2" charset="-122"/>
            </a:endParaRPr>
          </a:p>
          <a:p>
            <a:pPr eaLnBrk="1" hangingPunct="1">
              <a:spcBef>
                <a:spcPct val="30000"/>
              </a:spcBef>
            </a:pPr>
            <a:endParaRPr lang="en-US" altLang="zh-CN" sz="2400" dirty="0">
              <a:ea typeface="宋体" panose="02010600030101010101" pitchFamily="2" charset="-122"/>
            </a:endParaRPr>
          </a:p>
          <a:p>
            <a:pPr eaLnBrk="1" hangingPunct="1">
              <a:spcBef>
                <a:spcPct val="30000"/>
              </a:spcBef>
            </a:pPr>
            <a:endParaRPr lang="zh-CN" altLang="en-US" sz="2400" dirty="0">
              <a:ea typeface="黑体" panose="02010609060101010101" pitchFamily="49" charset="-122"/>
            </a:endParaRPr>
          </a:p>
          <a:p>
            <a:endParaRPr lang="zh-CN" altLang="en-US" dirty="0">
              <a:ea typeface="黑体" panose="02010609060101010101" pitchFamily="49" charset="-122"/>
            </a:endParaRPr>
          </a:p>
          <a:p>
            <a:endParaRPr lang="zh-CN" altLang="en-US" dirty="0">
              <a:ea typeface="黑体" panose="02010609060101010101" pitchFamily="49" charset="-122"/>
            </a:endParaRPr>
          </a:p>
          <a:p>
            <a:endParaRPr lang="zh-CN" altLang="en-US" dirty="0"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withEffect">
                                  <p:stCondLst>
                                    <p:cond delay="3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Rectangle 2"/>
          <p:cNvSpPr>
            <a:spLocks noGrp="1"/>
          </p:cNvSpPr>
          <p:nvPr>
            <p:ph type="title" idx="4294967295"/>
          </p:nvPr>
        </p:nvSpPr>
        <p:spPr>
          <a:xfrm>
            <a:off x="684213" y="55563"/>
            <a:ext cx="7772400" cy="1143000"/>
          </a:xfrm>
        </p:spPr>
        <p:txBody>
          <a:bodyPr vert="horz" wrap="square" lIns="91440" tIns="45720" rIns="91440" bIns="45720" anchor="ctr" anchorCtr="0"/>
          <a:p>
            <a:pPr marL="342900" indent="-342900" eaLnBrk="1" hangingPunct="1"/>
            <a:r>
              <a:rPr lang="en-US" altLang="zh-CN" sz="3600" dirty="0">
                <a:latin typeface="Arial" panose="020B0604020202020204" pitchFamily="34" charset="0"/>
                <a:ea typeface="宋体" panose="02010600030101010101" pitchFamily="2" charset="-122"/>
              </a:rPr>
              <a:t>4.2 </a:t>
            </a:r>
            <a:r>
              <a:rPr lang="en-US" altLang="zh-CN" sz="3600" dirty="0">
                <a:ea typeface="宋体" panose="02010600030101010101" pitchFamily="2" charset="-122"/>
              </a:rPr>
              <a:t>Boundary Value Analysis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4275" name="Rectangle 3"/>
          <p:cNvSpPr>
            <a:spLocks noGrp="1"/>
          </p:cNvSpPr>
          <p:nvPr>
            <p:ph idx="1"/>
          </p:nvPr>
        </p:nvSpPr>
        <p:spPr>
          <a:xfrm>
            <a:off x="179388" y="1052513"/>
            <a:ext cx="8782050" cy="4724400"/>
          </a:xfrm>
        </p:spPr>
        <p:txBody>
          <a:bodyPr vert="horz" wrap="square" lIns="91440" tIns="45720" rIns="91440" bIns="45720" anchor="t" anchorCtr="0"/>
          <a:p>
            <a:pPr eaLnBrk="1" hangingPunct="1">
              <a:spcBef>
                <a:spcPct val="30000"/>
              </a:spcBef>
            </a:pPr>
            <a:r>
              <a:rPr lang="en-US" altLang="zh-CN" sz="3000" dirty="0">
                <a:solidFill>
                  <a:srgbClr val="000000"/>
                </a:solidFill>
                <a:ea typeface="黑体" panose="02010609060101010101" pitchFamily="49" charset="-122"/>
              </a:rPr>
              <a:t>What is the advantages of </a:t>
            </a:r>
            <a:r>
              <a:rPr lang="en-US" altLang="zh-CN" sz="3000" dirty="0">
                <a:ea typeface="宋体" panose="02010600030101010101" pitchFamily="2" charset="-122"/>
              </a:rPr>
              <a:t>Boundary Value Analysis?</a:t>
            </a:r>
            <a:endParaRPr lang="en-US" altLang="zh-CN" sz="3000" dirty="0">
              <a:ea typeface="宋体" panose="02010600030101010101" pitchFamily="2" charset="-122"/>
            </a:endParaRPr>
          </a:p>
          <a:p>
            <a:pPr lvl="1" eaLnBrk="1" hangingPunct="1">
              <a:spcBef>
                <a:spcPct val="30000"/>
              </a:spcBef>
            </a:pPr>
            <a:r>
              <a:rPr lang="en-US" altLang="zh-CN" sz="2600" dirty="0">
                <a:ea typeface="宋体" panose="02010600030101010101" pitchFamily="2" charset="-122"/>
              </a:rPr>
              <a:t>Given the boundary, it is easy and cheap to design test cases</a:t>
            </a:r>
            <a:endParaRPr lang="en-US" altLang="zh-CN" sz="2600" dirty="0">
              <a:ea typeface="宋体" panose="02010600030101010101" pitchFamily="2" charset="-122"/>
            </a:endParaRPr>
          </a:p>
          <a:p>
            <a:pPr lvl="1" eaLnBrk="1" hangingPunct="1">
              <a:spcBef>
                <a:spcPct val="30000"/>
              </a:spcBef>
            </a:pPr>
            <a:r>
              <a:rPr lang="en-US" altLang="zh-CN" sz="2600" dirty="0">
                <a:ea typeface="宋体" panose="02010600030101010101" pitchFamily="2" charset="-122"/>
              </a:rPr>
              <a:t>N parameters produce 4n+1, 6n+1, 5</a:t>
            </a:r>
            <a:r>
              <a:rPr lang="en-US" altLang="zh-CN" sz="2600" baseline="30000" dirty="0">
                <a:ea typeface="宋体" panose="02010600030101010101" pitchFamily="2" charset="-122"/>
              </a:rPr>
              <a:t>n</a:t>
            </a:r>
            <a:r>
              <a:rPr lang="en-US" altLang="zh-CN" sz="2600" dirty="0">
                <a:ea typeface="宋体" panose="02010600030101010101" pitchFamily="2" charset="-122"/>
              </a:rPr>
              <a:t>, 7</a:t>
            </a:r>
            <a:r>
              <a:rPr lang="en-US" altLang="zh-CN" sz="2600" baseline="30000" dirty="0">
                <a:ea typeface="宋体" panose="02010600030101010101" pitchFamily="2" charset="-122"/>
              </a:rPr>
              <a:t>n</a:t>
            </a:r>
            <a:r>
              <a:rPr lang="en-US" altLang="zh-CN" sz="2600" dirty="0">
                <a:ea typeface="宋体" panose="02010600030101010101" pitchFamily="2" charset="-122"/>
              </a:rPr>
              <a:t> test cases</a:t>
            </a:r>
            <a:endParaRPr lang="en-US" altLang="zh-CN" sz="2600" dirty="0">
              <a:ea typeface="宋体" panose="02010600030101010101" pitchFamily="2" charset="-122"/>
            </a:endParaRPr>
          </a:p>
          <a:p>
            <a:pPr lvl="1" eaLnBrk="1" hangingPunct="1">
              <a:spcBef>
                <a:spcPct val="30000"/>
              </a:spcBef>
            </a:pPr>
            <a:r>
              <a:rPr lang="en-US" altLang="zh-CN" sz="2600" dirty="0">
                <a:ea typeface="宋体" panose="02010600030101010101" pitchFamily="2" charset="-122"/>
              </a:rPr>
              <a:t>Different data type have different boundary value selection</a:t>
            </a:r>
            <a:endParaRPr lang="en-US" altLang="zh-CN" sz="2600" dirty="0">
              <a:ea typeface="宋体" panose="02010600030101010101" pitchFamily="2" charset="-122"/>
            </a:endParaRPr>
          </a:p>
          <a:p>
            <a:pPr eaLnBrk="1" hangingPunct="1">
              <a:spcBef>
                <a:spcPct val="30000"/>
              </a:spcBef>
            </a:pPr>
            <a:r>
              <a:rPr lang="en-US" altLang="zh-CN" sz="3000" dirty="0">
                <a:solidFill>
                  <a:srgbClr val="000000"/>
                </a:solidFill>
                <a:ea typeface="黑体" panose="02010609060101010101" pitchFamily="49" charset="-122"/>
              </a:rPr>
              <a:t>What is the limitations of </a:t>
            </a:r>
            <a:r>
              <a:rPr lang="en-US" altLang="zh-CN" sz="3000" dirty="0">
                <a:ea typeface="宋体" panose="02010600030101010101" pitchFamily="2" charset="-122"/>
              </a:rPr>
              <a:t>Boundary Value Analysis?</a:t>
            </a:r>
            <a:endParaRPr lang="en-US" altLang="zh-CN" sz="3000" dirty="0">
              <a:ea typeface="宋体" panose="02010600030101010101" pitchFamily="2" charset="-122"/>
            </a:endParaRPr>
          </a:p>
          <a:p>
            <a:pPr lvl="1" eaLnBrk="1" hangingPunct="1">
              <a:spcBef>
                <a:spcPct val="30000"/>
              </a:spcBef>
            </a:pPr>
            <a:r>
              <a:rPr lang="en-US" altLang="zh-CN" sz="2600" dirty="0">
                <a:ea typeface="宋体" panose="02010600030101010101" pitchFamily="2" charset="-122"/>
              </a:rPr>
              <a:t>Suppose parameters are independent</a:t>
            </a:r>
            <a:endParaRPr lang="en-US" altLang="zh-CN" sz="2600" dirty="0">
              <a:ea typeface="宋体" panose="02010600030101010101" pitchFamily="2" charset="-122"/>
            </a:endParaRPr>
          </a:p>
          <a:p>
            <a:pPr lvl="1" eaLnBrk="1" hangingPunct="1">
              <a:spcBef>
                <a:spcPct val="30000"/>
              </a:spcBef>
            </a:pPr>
            <a:r>
              <a:rPr lang="en-US" altLang="zh-CN" sz="2600" dirty="0">
                <a:ea typeface="宋体" panose="02010600030101010101" pitchFamily="2" charset="-122"/>
              </a:rPr>
              <a:t>Ignore the semantic information of parameters</a:t>
            </a:r>
            <a:endParaRPr lang="en-US" altLang="zh-CN" sz="2600" dirty="0">
              <a:ea typeface="宋体" panose="02010600030101010101" pitchFamily="2" charset="-122"/>
            </a:endParaRPr>
          </a:p>
          <a:p>
            <a:pPr lvl="1" eaLnBrk="1" hangingPunct="1">
              <a:spcBef>
                <a:spcPct val="30000"/>
              </a:spcBef>
            </a:pPr>
            <a:r>
              <a:rPr lang="en-US" altLang="zh-CN" sz="2600" dirty="0">
                <a:ea typeface="宋体" panose="02010600030101010101" pitchFamily="2" charset="-122"/>
              </a:rPr>
              <a:t>Boundary value analysis is not useful for a Boolean variable</a:t>
            </a:r>
            <a:endParaRPr lang="en-US" altLang="zh-CN" sz="2600" dirty="0">
              <a:ea typeface="宋体" panose="02010600030101010101" pitchFamily="2" charset="-122"/>
            </a:endParaRPr>
          </a:p>
          <a:p>
            <a:pPr eaLnBrk="1" hangingPunct="1">
              <a:spcBef>
                <a:spcPct val="30000"/>
              </a:spcBef>
            </a:pPr>
            <a:endParaRPr lang="en-US" altLang="zh-CN" sz="2400" dirty="0">
              <a:ea typeface="宋体" panose="02010600030101010101" pitchFamily="2" charset="-122"/>
            </a:endParaRPr>
          </a:p>
          <a:p>
            <a:pPr eaLnBrk="1" hangingPunct="1">
              <a:spcBef>
                <a:spcPct val="30000"/>
              </a:spcBef>
            </a:pPr>
            <a:endParaRPr lang="zh-CN" altLang="en-US" sz="2400" dirty="0">
              <a:ea typeface="黑体" panose="02010609060101010101" pitchFamily="49" charset="-122"/>
            </a:endParaRPr>
          </a:p>
          <a:p>
            <a:endParaRPr lang="zh-CN" altLang="en-US" dirty="0">
              <a:ea typeface="黑体" panose="02010609060101010101" pitchFamily="49" charset="-122"/>
            </a:endParaRPr>
          </a:p>
          <a:p>
            <a:endParaRPr lang="zh-CN" altLang="en-US" dirty="0">
              <a:ea typeface="黑体" panose="02010609060101010101" pitchFamily="49" charset="-122"/>
            </a:endParaRPr>
          </a:p>
          <a:p>
            <a:endParaRPr lang="zh-CN" altLang="en-US" dirty="0"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withEffect">
                                  <p:stCondLst>
                                    <p:cond delay="3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Rectangle 2"/>
          <p:cNvSpPr>
            <a:spLocks noGrp="1"/>
          </p:cNvSpPr>
          <p:nvPr>
            <p:ph type="title" idx="4294967295"/>
          </p:nvPr>
        </p:nvSpPr>
        <p:spPr>
          <a:xfrm>
            <a:off x="684213" y="55563"/>
            <a:ext cx="7772400" cy="1143000"/>
          </a:xfrm>
        </p:spPr>
        <p:txBody>
          <a:bodyPr vert="horz" wrap="square" lIns="91440" tIns="45720" rIns="91440" bIns="45720" anchor="ctr" anchorCtr="0"/>
          <a:p>
            <a:pPr marL="342900" indent="-342900" eaLnBrk="1" hangingPunct="1"/>
            <a:r>
              <a:rPr lang="en-US" altLang="zh-CN" sz="3600" dirty="0">
                <a:latin typeface="Arial" panose="020B0604020202020204" pitchFamily="34" charset="0"/>
                <a:ea typeface="宋体" panose="02010600030101010101" pitchFamily="2" charset="-122"/>
              </a:rPr>
              <a:t>Exercise 1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5299" name="Rectangle 3"/>
          <p:cNvSpPr>
            <a:spLocks noGrp="1"/>
          </p:cNvSpPr>
          <p:nvPr>
            <p:ph idx="1"/>
          </p:nvPr>
        </p:nvSpPr>
        <p:spPr>
          <a:xfrm>
            <a:off x="179388" y="1052513"/>
            <a:ext cx="8856662" cy="4724400"/>
          </a:xfrm>
        </p:spPr>
        <p:txBody>
          <a:bodyPr vert="horz" wrap="square" lIns="91440" tIns="45720" rIns="91440" bIns="45720" anchor="t" anchorCtr="0"/>
          <a:p>
            <a:r>
              <a:rPr lang="en-US" altLang="zh-CN" sz="2800" dirty="0">
                <a:ea typeface="黑体" panose="02010609060101010101" pitchFamily="49" charset="-122"/>
              </a:rPr>
              <a:t>There are three integer inputs x, y, z, corresponding to the length, width and height of a rectangle respectively. All of these three inputs are in the range of [2, 20], the output is the volume of the rectangle. </a:t>
            </a:r>
            <a:endParaRPr lang="zh-CN" altLang="zh-CN" sz="2800" dirty="0">
              <a:ea typeface="黑体" panose="02010609060101010101" pitchFamily="49" charset="-122"/>
            </a:endParaRPr>
          </a:p>
          <a:p>
            <a:pPr lvl="1"/>
            <a:r>
              <a:rPr lang="en-US" altLang="zh-CN" sz="2400" dirty="0">
                <a:ea typeface="黑体" panose="02010609060101010101" pitchFamily="49" charset="-122"/>
              </a:rPr>
              <a:t>List the number of test cases that needed by four types of boundary value analysis respectively.</a:t>
            </a:r>
            <a:endParaRPr lang="zh-CN" altLang="zh-CN" sz="2400" dirty="0">
              <a:ea typeface="黑体" panose="02010609060101010101" pitchFamily="49" charset="-122"/>
            </a:endParaRPr>
          </a:p>
          <a:p>
            <a:pPr lvl="1"/>
            <a:r>
              <a:rPr lang="en-US" altLang="zh-CN" sz="2400" dirty="0">
                <a:ea typeface="黑体" panose="02010609060101010101" pitchFamily="49" charset="-122"/>
              </a:rPr>
              <a:t>Design the test cases by Robustness Boundary Value Analysis.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eaLnBrk="1" hangingPunct="1">
              <a:spcBef>
                <a:spcPct val="30000"/>
              </a:spcBef>
            </a:pPr>
            <a:endParaRPr lang="zh-CN" altLang="en-US" sz="2400" dirty="0">
              <a:ea typeface="黑体" panose="02010609060101010101" pitchFamily="49" charset="-122"/>
            </a:endParaRPr>
          </a:p>
          <a:p>
            <a:endParaRPr lang="zh-CN" altLang="en-US" dirty="0">
              <a:ea typeface="黑体" panose="02010609060101010101" pitchFamily="49" charset="-122"/>
            </a:endParaRPr>
          </a:p>
          <a:p>
            <a:endParaRPr lang="zh-CN" altLang="en-US" dirty="0">
              <a:ea typeface="黑体" panose="02010609060101010101" pitchFamily="49" charset="-122"/>
            </a:endParaRPr>
          </a:p>
          <a:p>
            <a:endParaRPr lang="zh-CN" altLang="en-US" dirty="0"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2" name="墨迹 1"/>
              <p14:cNvContentPartPr/>
              <p14:nvPr/>
            </p14:nvContentPartPr>
            <p14:xfrm>
              <a:off x="8535670" y="2592705"/>
              <a:ext cx="265430" cy="334645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2"/>
            </p:blipFill>
            <p:spPr>
              <a:xfrm>
                <a:off x="8535670" y="2592705"/>
                <a:ext cx="265430" cy="3346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3" name="墨迹 2"/>
              <p14:cNvContentPartPr/>
              <p14:nvPr/>
            </p14:nvContentPartPr>
            <p14:xfrm>
              <a:off x="8681720" y="2668905"/>
              <a:ext cx="635" cy="370205"/>
            </p14:xfrm>
          </p:contentPart>
        </mc:Choice>
        <mc:Fallback xmlns="">
          <p:pic>
            <p:nvPicPr>
              <p:cNvPr id="3" name="墨迹 2"/>
            </p:nvPicPr>
            <p:blipFill>
              <a:blip r:embed="rId4"/>
            </p:blipFill>
            <p:spPr>
              <a:xfrm>
                <a:off x="8681720" y="2668905"/>
                <a:ext cx="635" cy="3702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4" name="墨迹 3"/>
              <p14:cNvContentPartPr/>
              <p14:nvPr/>
            </p14:nvContentPartPr>
            <p14:xfrm>
              <a:off x="8807450" y="2668905"/>
              <a:ext cx="223520" cy="474980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6"/>
            </p:blipFill>
            <p:spPr>
              <a:xfrm>
                <a:off x="8807450" y="2668905"/>
                <a:ext cx="223520" cy="4749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5" name="墨迹 4"/>
              <p14:cNvContentPartPr/>
              <p14:nvPr/>
            </p14:nvContentPartPr>
            <p14:xfrm>
              <a:off x="9192895" y="2801620"/>
              <a:ext cx="314325" cy="35560"/>
            </p14:xfrm>
          </p:contentPart>
        </mc:Choice>
        <mc:Fallback xmlns="">
          <p:pic>
            <p:nvPicPr>
              <p:cNvPr id="5" name="墨迹 4"/>
            </p:nvPicPr>
            <p:blipFill>
              <a:blip r:embed="rId8"/>
            </p:blipFill>
            <p:spPr>
              <a:xfrm>
                <a:off x="9192895" y="2801620"/>
                <a:ext cx="314325" cy="355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" p14:bwMode="auto">
            <p14:nvContentPartPr>
              <p14:cNvPr id="6" name="墨迹 5"/>
              <p14:cNvContentPartPr/>
              <p14:nvPr/>
            </p14:nvContentPartPr>
            <p14:xfrm>
              <a:off x="9514205" y="2529840"/>
              <a:ext cx="126365" cy="509270"/>
            </p14:xfrm>
          </p:contentPart>
        </mc:Choice>
        <mc:Fallback xmlns="">
          <p:pic>
            <p:nvPicPr>
              <p:cNvPr id="6" name="墨迹 5"/>
            </p:nvPicPr>
            <p:blipFill>
              <a:blip r:embed="rId10"/>
            </p:blipFill>
            <p:spPr>
              <a:xfrm>
                <a:off x="9514205" y="2529840"/>
                <a:ext cx="126365" cy="5092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" p14:bwMode="auto">
            <p14:nvContentPartPr>
              <p14:cNvPr id="7" name="墨迹 6"/>
              <p14:cNvContentPartPr/>
              <p14:nvPr/>
            </p14:nvContentPartPr>
            <p14:xfrm>
              <a:off x="9748520" y="2626995"/>
              <a:ext cx="70485" cy="509905"/>
            </p14:xfrm>
          </p:contentPart>
        </mc:Choice>
        <mc:Fallback xmlns="">
          <p:pic>
            <p:nvPicPr>
              <p:cNvPr id="7" name="墨迹 6"/>
            </p:nvPicPr>
            <p:blipFill>
              <a:blip r:embed="rId12"/>
            </p:blipFill>
            <p:spPr>
              <a:xfrm>
                <a:off x="9748520" y="2626995"/>
                <a:ext cx="70485" cy="5099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3" p14:bwMode="auto">
            <p14:nvContentPartPr>
              <p14:cNvPr id="8" name="墨迹 7"/>
              <p14:cNvContentPartPr/>
              <p14:nvPr/>
            </p14:nvContentPartPr>
            <p14:xfrm>
              <a:off x="9391650" y="2857500"/>
              <a:ext cx="307340" cy="635"/>
            </p14:xfrm>
          </p:contentPart>
        </mc:Choice>
        <mc:Fallback xmlns="">
          <p:pic>
            <p:nvPicPr>
              <p:cNvPr id="8" name="墨迹 7"/>
            </p:nvPicPr>
            <p:blipFill>
              <a:blip r:embed="rId14"/>
            </p:blipFill>
            <p:spPr>
              <a:xfrm>
                <a:off x="9391650" y="2857500"/>
                <a:ext cx="307340" cy="6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5" p14:bwMode="auto">
            <p14:nvContentPartPr>
              <p14:cNvPr id="9" name="墨迹 8"/>
              <p14:cNvContentPartPr/>
              <p14:nvPr/>
            </p14:nvContentPartPr>
            <p14:xfrm>
              <a:off x="8346440" y="3317240"/>
              <a:ext cx="244475" cy="321310"/>
            </p14:xfrm>
          </p:contentPart>
        </mc:Choice>
        <mc:Fallback xmlns="">
          <p:pic>
            <p:nvPicPr>
              <p:cNvPr id="9" name="墨迹 8"/>
            </p:nvPicPr>
            <p:blipFill>
              <a:blip r:embed="rId16"/>
            </p:blipFill>
            <p:spPr>
              <a:xfrm>
                <a:off x="8346440" y="3317240"/>
                <a:ext cx="244475" cy="3213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7" p14:bwMode="auto">
            <p14:nvContentPartPr>
              <p14:cNvPr id="10" name="墨迹 9"/>
              <p14:cNvContentPartPr/>
              <p14:nvPr/>
            </p14:nvContentPartPr>
            <p14:xfrm>
              <a:off x="8500110" y="3387090"/>
              <a:ext cx="90805" cy="314325"/>
            </p14:xfrm>
          </p:contentPart>
        </mc:Choice>
        <mc:Fallback xmlns="">
          <p:pic>
            <p:nvPicPr>
              <p:cNvPr id="10" name="墨迹 9"/>
            </p:nvPicPr>
            <p:blipFill>
              <a:blip r:embed="rId18"/>
            </p:blipFill>
            <p:spPr>
              <a:xfrm>
                <a:off x="8500110" y="3387090"/>
                <a:ext cx="90805" cy="3143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9" p14:bwMode="auto">
            <p14:nvContentPartPr>
              <p14:cNvPr id="11" name="墨迹 10"/>
              <p14:cNvContentPartPr/>
              <p14:nvPr/>
            </p14:nvContentPartPr>
            <p14:xfrm>
              <a:off x="8688070" y="3324225"/>
              <a:ext cx="258445" cy="551180"/>
            </p14:xfrm>
          </p:contentPart>
        </mc:Choice>
        <mc:Fallback xmlns="">
          <p:pic>
            <p:nvPicPr>
              <p:cNvPr id="11" name="墨迹 10"/>
            </p:nvPicPr>
            <p:blipFill>
              <a:blip r:embed="rId20"/>
            </p:blipFill>
            <p:spPr>
              <a:xfrm>
                <a:off x="8688070" y="3324225"/>
                <a:ext cx="258445" cy="5511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1" p14:bwMode="auto">
            <p14:nvContentPartPr>
              <p14:cNvPr id="12" name="墨迹 11"/>
              <p14:cNvContentPartPr/>
              <p14:nvPr/>
            </p14:nvContentPartPr>
            <p14:xfrm>
              <a:off x="8883015" y="3533140"/>
              <a:ext cx="182245" cy="14605"/>
            </p14:xfrm>
          </p:contentPart>
        </mc:Choice>
        <mc:Fallback xmlns="">
          <p:pic>
            <p:nvPicPr>
              <p:cNvPr id="12" name="墨迹 11"/>
            </p:nvPicPr>
            <p:blipFill>
              <a:blip r:embed="rId22"/>
            </p:blipFill>
            <p:spPr>
              <a:xfrm>
                <a:off x="8883015" y="3533140"/>
                <a:ext cx="182245" cy="146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3" p14:bwMode="auto">
            <p14:nvContentPartPr>
              <p14:cNvPr id="13" name="墨迹 12"/>
              <p14:cNvContentPartPr/>
              <p14:nvPr/>
            </p14:nvContentPartPr>
            <p14:xfrm>
              <a:off x="9036685" y="3401060"/>
              <a:ext cx="69850" cy="265430"/>
            </p14:xfrm>
          </p:contentPart>
        </mc:Choice>
        <mc:Fallback xmlns="">
          <p:pic>
            <p:nvPicPr>
              <p:cNvPr id="13" name="墨迹 12"/>
            </p:nvPicPr>
            <p:blipFill>
              <a:blip r:embed="rId24"/>
            </p:blipFill>
            <p:spPr>
              <a:xfrm>
                <a:off x="9036685" y="3401060"/>
                <a:ext cx="69850" cy="2654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5" p14:bwMode="auto">
            <p14:nvContentPartPr>
              <p14:cNvPr id="14" name="墨迹 13"/>
              <p14:cNvContentPartPr/>
              <p14:nvPr/>
            </p14:nvContentPartPr>
            <p14:xfrm>
              <a:off x="8513445" y="3463290"/>
              <a:ext cx="579120" cy="112395"/>
            </p14:xfrm>
          </p:contentPart>
        </mc:Choice>
        <mc:Fallback xmlns="">
          <p:pic>
            <p:nvPicPr>
              <p:cNvPr id="14" name="墨迹 13"/>
            </p:nvPicPr>
            <p:blipFill>
              <a:blip r:embed="rId26"/>
            </p:blipFill>
            <p:spPr>
              <a:xfrm>
                <a:off x="8513445" y="3463290"/>
                <a:ext cx="579120" cy="1123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7" p14:bwMode="auto">
            <p14:nvContentPartPr>
              <p14:cNvPr id="15" name="墨迹 14"/>
              <p14:cNvContentPartPr/>
              <p14:nvPr/>
            </p14:nvContentPartPr>
            <p14:xfrm>
              <a:off x="8200390" y="3749040"/>
              <a:ext cx="467360" cy="523875"/>
            </p14:xfrm>
          </p:contentPart>
        </mc:Choice>
        <mc:Fallback xmlns="">
          <p:pic>
            <p:nvPicPr>
              <p:cNvPr id="15" name="墨迹 14"/>
            </p:nvPicPr>
            <p:blipFill>
              <a:blip r:embed="rId28"/>
            </p:blipFill>
            <p:spPr>
              <a:xfrm>
                <a:off x="8200390" y="3749040"/>
                <a:ext cx="467360" cy="5238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9" p14:bwMode="auto">
            <p14:nvContentPartPr>
              <p14:cNvPr id="16" name="墨迹 15"/>
              <p14:cNvContentPartPr/>
              <p14:nvPr/>
            </p14:nvContentPartPr>
            <p14:xfrm>
              <a:off x="8576310" y="3825875"/>
              <a:ext cx="342265" cy="481965"/>
            </p14:xfrm>
          </p:contentPart>
        </mc:Choice>
        <mc:Fallback xmlns="">
          <p:pic>
            <p:nvPicPr>
              <p:cNvPr id="16" name="墨迹 15"/>
            </p:nvPicPr>
            <p:blipFill>
              <a:blip r:embed="rId30"/>
            </p:blipFill>
            <p:spPr>
              <a:xfrm>
                <a:off x="8576310" y="3825875"/>
                <a:ext cx="342265" cy="48196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1" p14:bwMode="auto">
            <p14:nvContentPartPr>
              <p14:cNvPr id="17" name="墨迹 16"/>
              <p14:cNvContentPartPr/>
              <p14:nvPr/>
            </p14:nvContentPartPr>
            <p14:xfrm>
              <a:off x="8987790" y="4034790"/>
              <a:ext cx="167640" cy="635"/>
            </p14:xfrm>
          </p:contentPart>
        </mc:Choice>
        <mc:Fallback xmlns="">
          <p:pic>
            <p:nvPicPr>
              <p:cNvPr id="17" name="墨迹 16"/>
            </p:nvPicPr>
            <p:blipFill>
              <a:blip r:embed="rId32"/>
            </p:blipFill>
            <p:spPr>
              <a:xfrm>
                <a:off x="8987790" y="4034790"/>
                <a:ext cx="167640" cy="6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3" p14:bwMode="auto">
            <p14:nvContentPartPr>
              <p14:cNvPr id="18" name="墨迹 17"/>
              <p14:cNvContentPartPr/>
              <p14:nvPr/>
            </p14:nvContentPartPr>
            <p14:xfrm>
              <a:off x="8973820" y="3902710"/>
              <a:ext cx="153670" cy="363220"/>
            </p14:xfrm>
          </p:contentPart>
        </mc:Choice>
        <mc:Fallback xmlns="">
          <p:pic>
            <p:nvPicPr>
              <p:cNvPr id="18" name="墨迹 17"/>
            </p:nvPicPr>
            <p:blipFill>
              <a:blip r:embed="rId34"/>
            </p:blipFill>
            <p:spPr>
              <a:xfrm>
                <a:off x="8973820" y="3902710"/>
                <a:ext cx="153670" cy="3632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5" p14:bwMode="auto">
            <p14:nvContentPartPr>
              <p14:cNvPr id="19" name="墨迹 18"/>
              <p14:cNvContentPartPr/>
              <p14:nvPr/>
            </p14:nvContentPartPr>
            <p14:xfrm>
              <a:off x="9287510" y="3951605"/>
              <a:ext cx="70485" cy="383540"/>
            </p14:xfrm>
          </p:contentPart>
        </mc:Choice>
        <mc:Fallback xmlns="">
          <p:pic>
            <p:nvPicPr>
              <p:cNvPr id="19" name="墨迹 18"/>
            </p:nvPicPr>
            <p:blipFill>
              <a:blip r:embed="rId36"/>
            </p:blipFill>
            <p:spPr>
              <a:xfrm>
                <a:off x="9287510" y="3951605"/>
                <a:ext cx="70485" cy="3835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7" p14:bwMode="auto">
            <p14:nvContentPartPr>
              <p14:cNvPr id="20" name="墨迹 19"/>
              <p14:cNvContentPartPr/>
              <p14:nvPr/>
            </p14:nvContentPartPr>
            <p14:xfrm>
              <a:off x="8018780" y="4655185"/>
              <a:ext cx="426085" cy="593090"/>
            </p14:xfrm>
          </p:contentPart>
        </mc:Choice>
        <mc:Fallback xmlns="">
          <p:pic>
            <p:nvPicPr>
              <p:cNvPr id="20" name="墨迹 19"/>
            </p:nvPicPr>
            <p:blipFill>
              <a:blip r:embed="rId38"/>
            </p:blipFill>
            <p:spPr>
              <a:xfrm>
                <a:off x="8018780" y="4655185"/>
                <a:ext cx="426085" cy="59309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9" p14:bwMode="auto">
            <p14:nvContentPartPr>
              <p14:cNvPr id="21" name="墨迹 20"/>
              <p14:cNvContentPartPr/>
              <p14:nvPr/>
            </p14:nvContentPartPr>
            <p14:xfrm>
              <a:off x="8248650" y="4871720"/>
              <a:ext cx="154305" cy="20955"/>
            </p14:xfrm>
          </p:contentPart>
        </mc:Choice>
        <mc:Fallback xmlns="">
          <p:pic>
            <p:nvPicPr>
              <p:cNvPr id="21" name="墨迹 20"/>
            </p:nvPicPr>
            <p:blipFill>
              <a:blip r:embed="rId40"/>
            </p:blipFill>
            <p:spPr>
              <a:xfrm>
                <a:off x="8248650" y="4871720"/>
                <a:ext cx="154305" cy="209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1" p14:bwMode="auto">
            <p14:nvContentPartPr>
              <p14:cNvPr id="22" name="墨迹 21"/>
              <p14:cNvContentPartPr/>
              <p14:nvPr/>
            </p14:nvContentPartPr>
            <p14:xfrm>
              <a:off x="8513445" y="4620260"/>
              <a:ext cx="196215" cy="293370"/>
            </p14:xfrm>
          </p:contentPart>
        </mc:Choice>
        <mc:Fallback xmlns="">
          <p:pic>
            <p:nvPicPr>
              <p:cNvPr id="22" name="墨迹 21"/>
            </p:nvPicPr>
            <p:blipFill>
              <a:blip r:embed="rId42"/>
            </p:blipFill>
            <p:spPr>
              <a:xfrm>
                <a:off x="8513445" y="4620260"/>
                <a:ext cx="196215" cy="2933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3" p14:bwMode="auto">
            <p14:nvContentPartPr>
              <p14:cNvPr id="23" name="墨迹 22"/>
              <p14:cNvContentPartPr/>
              <p14:nvPr/>
            </p14:nvContentPartPr>
            <p14:xfrm>
              <a:off x="8060690" y="5540375"/>
              <a:ext cx="188595" cy="488315"/>
            </p14:xfrm>
          </p:contentPart>
        </mc:Choice>
        <mc:Fallback xmlns="">
          <p:pic>
            <p:nvPicPr>
              <p:cNvPr id="23" name="墨迹 22"/>
            </p:nvPicPr>
            <p:blipFill>
              <a:blip r:embed="rId44"/>
            </p:blipFill>
            <p:spPr>
              <a:xfrm>
                <a:off x="8060690" y="5540375"/>
                <a:ext cx="188595" cy="48831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5" p14:bwMode="auto">
            <p14:nvContentPartPr>
              <p14:cNvPr id="24" name="墨迹 23"/>
              <p14:cNvContentPartPr/>
              <p14:nvPr/>
            </p14:nvContentPartPr>
            <p14:xfrm>
              <a:off x="8332470" y="5352415"/>
              <a:ext cx="251460" cy="293370"/>
            </p14:xfrm>
          </p:contentPart>
        </mc:Choice>
        <mc:Fallback xmlns="">
          <p:pic>
            <p:nvPicPr>
              <p:cNvPr id="24" name="墨迹 23"/>
            </p:nvPicPr>
            <p:blipFill>
              <a:blip r:embed="rId46"/>
            </p:blipFill>
            <p:spPr>
              <a:xfrm>
                <a:off x="8332470" y="5352415"/>
                <a:ext cx="251460" cy="293370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withEffect">
                                  <p:stCondLst>
                                    <p:cond delay="3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/>
    </p:bldLst>
  </p:timing>
</p:sld>
</file>

<file path=ppt/tags/tag1.xml><?xml version="1.0" encoding="utf-8"?>
<p:tagLst xmlns:p="http://schemas.openxmlformats.org/presentationml/2006/main">
  <p:tag name="COMMONDATA" val="eyJoZGlkIjoiN2IwOWFlOGM2YmZkYmVhODljOWM2OWVmNWFhOGVlYjQifQ=="/>
  <p:tag name="commondata" val="eyJoZGlkIjoiODA5MTA2NDMzZjIxODllMWZmMzY1NzJhMzc2YzVkYTEifQ=="/>
</p:tagLst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theme/theme1.xml><?xml version="1.0" encoding="utf-8"?>
<a:theme xmlns:a="http://schemas.openxmlformats.org/drawingml/2006/main" name="暗香扑面">
  <a:themeElements>
    <a:clrScheme name="暗香扑面">
      <a:dk1>
        <a:sysClr val="windowText" lastClr="000000"/>
      </a:dk1>
      <a:lt1>
        <a:sysClr val="window" lastClr="FFFFFF"/>
      </a:lt1>
      <a:dk2>
        <a:srgbClr val="2F2F2F"/>
      </a:dk2>
      <a:lt2>
        <a:srgbClr val="FFFFF4"/>
      </a:lt2>
      <a:accent1>
        <a:srgbClr val="918415"/>
      </a:accent1>
      <a:accent2>
        <a:srgbClr val="C47546"/>
      </a:accent2>
      <a:accent3>
        <a:srgbClr val="AFB591"/>
      </a:accent3>
      <a:accent4>
        <a:srgbClr val="B9945B"/>
      </a:accent4>
      <a:accent5>
        <a:srgbClr val="85ADBC"/>
      </a:accent5>
      <a:accent6>
        <a:srgbClr val="E5B440"/>
      </a:accent6>
      <a:hlink>
        <a:srgbClr val="00D5D5"/>
      </a:hlink>
      <a:folHlink>
        <a:srgbClr val="DD00DD"/>
      </a:folHlink>
    </a:clrScheme>
    <a:fontScheme name="暗香扑面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</a:majorFont>
      <a:minorFont>
        <a:latin typeface="Franklin Gothic Book"/>
        <a:ea typeface=""/>
        <a:cs typeface=""/>
        <a:font script="Jpan" typeface="HG創英角ｺﾞｼｯｸUB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n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暗香扑面">
      <a:fillStyleLst>
        <a:solidFill>
          <a:schemeClr val="phClr"/>
        </a:solidFill>
        <a:gradFill rotWithShape="1">
          <a:gsLst>
            <a:gs pos="0">
              <a:schemeClr val="phClr">
                <a:tint val="98000"/>
                <a:satMod val="220000"/>
              </a:schemeClr>
            </a:gs>
            <a:gs pos="31000">
              <a:schemeClr val="phClr">
                <a:tint val="30000"/>
                <a:satMod val="150000"/>
              </a:schemeClr>
            </a:gs>
            <a:gs pos="91000">
              <a:schemeClr val="phClr">
                <a:tint val="96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28000"/>
                <a:satMod val="100000"/>
              </a:schemeClr>
              <a:schemeClr val="phClr">
                <a:tint val="100000"/>
                <a:satMod val="200000"/>
              </a:schemeClr>
            </a:duotone>
          </a:blip>
          <a:tile tx="0" ty="0" sx="80000" sy="8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10000"/>
              </a:schemeClr>
            </a:glow>
          </a:effectLst>
        </a:effectStyle>
        <a:effectStyle>
          <a:effectLst>
            <a:outerShdw blurRad="34925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9525" prstMaterial="dkEdge">
            <a:bevelT w="12000" h="24150"/>
            <a:contourClr>
              <a:schemeClr val="phClr">
                <a:satMod val="110000"/>
              </a:schemeClr>
            </a:contourClr>
          </a:sp3d>
        </a:effectStyle>
        <a:effectStyle>
          <a:effectLst>
            <a:outerShdw blurRad="50800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18700" prstMaterial="dkEdge">
            <a:bevelT w="44450" h="80600"/>
            <a:contourClr>
              <a:schemeClr val="phClr"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70000"/>
                <a:satMod val="1000000"/>
              </a:schemeClr>
            </a:gs>
            <a:gs pos="31000">
              <a:schemeClr val="phClr">
                <a:shade val="85000"/>
                <a:satMod val="450000"/>
              </a:schemeClr>
            </a:gs>
            <a:gs pos="100000">
              <a:schemeClr val="phClr">
                <a:tint val="70000"/>
                <a:satMod val="300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2">
            <a:duotone>
              <a:schemeClr val="phClr">
                <a:tint val="100000"/>
                <a:shade val="70000"/>
                <a:hueMod val="100000"/>
                <a:satMod val="100000"/>
              </a:schemeClr>
              <a:schemeClr val="phClr">
                <a:tint val="90000"/>
                <a:shade val="100000"/>
                <a:hueMod val="100000"/>
                <a:satMod val="100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Fan</Template>
  <TotalTime>0</TotalTime>
  <Words>6971</Words>
  <Application>WPS 演示</Application>
  <PresentationFormat>全屏显示(4:3)</PresentationFormat>
  <Paragraphs>590</Paragraphs>
  <Slides>41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41</vt:i4>
      </vt:variant>
    </vt:vector>
  </HeadingPairs>
  <TitlesOfParts>
    <vt:vector size="58" baseType="lpstr">
      <vt:lpstr>Arial</vt:lpstr>
      <vt:lpstr>宋体</vt:lpstr>
      <vt:lpstr>Wingdings</vt:lpstr>
      <vt:lpstr>Franklin Gothic Medium</vt:lpstr>
      <vt:lpstr>Wingdings 2</vt:lpstr>
      <vt:lpstr>Arial</vt:lpstr>
      <vt:lpstr>微软雅黑</vt:lpstr>
      <vt:lpstr>Wingdings 2</vt:lpstr>
      <vt:lpstr>黑体</vt:lpstr>
      <vt:lpstr>Arial Unicode MS</vt:lpstr>
      <vt:lpstr>Times New Roman</vt:lpstr>
      <vt:lpstr>Arial Black</vt:lpstr>
      <vt:lpstr>Symbol</vt:lpstr>
      <vt:lpstr>Franklin Gothic Book</vt:lpstr>
      <vt:lpstr>Times New Roman</vt:lpstr>
      <vt:lpstr>Monotype Corsiva</vt:lpstr>
      <vt:lpstr>暗香扑面</vt:lpstr>
      <vt:lpstr>Session 7  Black-Box Testing (1) -- Boundary Value Analysis</vt:lpstr>
      <vt:lpstr>PowerPoint 演示文稿</vt:lpstr>
      <vt:lpstr>4.1 Introduction of Black-Box Testing</vt:lpstr>
      <vt:lpstr>4.1 Introduction of Black-Box Testing</vt:lpstr>
      <vt:lpstr>PowerPoint 演示文稿</vt:lpstr>
      <vt:lpstr>4.1 Introduction of Black-Box Testing</vt:lpstr>
      <vt:lpstr>PowerPoint 演示文稿</vt:lpstr>
      <vt:lpstr>4.2 Boundary Value Analysis</vt:lpstr>
      <vt:lpstr>4.2 Boundary Value Analysis</vt:lpstr>
      <vt:lpstr>4.2 Boundary Value Analysis</vt:lpstr>
      <vt:lpstr>4.2 Boundary Value Analysis</vt:lpstr>
      <vt:lpstr>4.2 Boundary Value Analysis</vt:lpstr>
      <vt:lpstr>4.2 Boundary Value Analysis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4.2 Boundary Value Analysis</vt:lpstr>
      <vt:lpstr>4.2 Boundary Value Analysis</vt:lpstr>
      <vt:lpstr>4.2 Boundary Value Analysis</vt:lpstr>
      <vt:lpstr>PowerPoint 演示文稿</vt:lpstr>
      <vt:lpstr>PowerPoint 演示文稿</vt:lpstr>
      <vt:lpstr>4.2 Boundary Value Analysis</vt:lpstr>
      <vt:lpstr>4.2 Boundary Value Analysis</vt:lpstr>
      <vt:lpstr>4.2 Boundary Value Analysis</vt:lpstr>
      <vt:lpstr>4.2 Boundary Value Analysis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4.2 Boundary Value Analysis</vt:lpstr>
      <vt:lpstr>边界值检验的主要类型</vt:lpstr>
      <vt:lpstr>PowerPoint 演示文稿</vt:lpstr>
      <vt:lpstr>4.2 Boundary Value Analysis</vt:lpstr>
      <vt:lpstr>4.2 Boundary Value Analysis</vt:lpstr>
      <vt:lpstr>Exercise 1</vt:lpstr>
    </vt:vector>
  </TitlesOfParts>
  <Company>微软中国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ThemeGallery</dc:title>
  <dc:creator>微软用户</dc:creator>
  <cp:lastModifiedBy>大孜</cp:lastModifiedBy>
  <cp:revision>313</cp:revision>
  <cp:lastPrinted>2016-04-24T12:03:00Z</cp:lastPrinted>
  <dcterms:created xsi:type="dcterms:W3CDTF">2009-02-06T04:48:00Z</dcterms:created>
  <dcterms:modified xsi:type="dcterms:W3CDTF">2023-11-06T16:10:00Z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2715047BC9214CCF88D9D66B98CD612B</vt:lpwstr>
  </property>
  <property fmtid="{D5CDD505-2E9C-101B-9397-08002B2CF9AE}" pid="3" name="KSOProductBuildVer">
    <vt:lpwstr>2052-12.1.0.15712</vt:lpwstr>
  </property>
</Properties>
</file>