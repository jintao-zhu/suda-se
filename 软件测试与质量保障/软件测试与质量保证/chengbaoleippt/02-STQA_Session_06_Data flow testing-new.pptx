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wmf" ContentType="image/x-w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303" r:id="rId5"/>
    <p:sldId id="280" r:id="rId6"/>
    <p:sldId id="304" r:id="rId7"/>
    <p:sldId id="305" r:id="rId8"/>
    <p:sldId id="306" r:id="rId9"/>
    <p:sldId id="307" r:id="rId10"/>
    <p:sldId id="333" r:id="rId11"/>
    <p:sldId id="309" r:id="rId12"/>
    <p:sldId id="310" r:id="rId13"/>
    <p:sldId id="334" r:id="rId14"/>
    <p:sldId id="335" r:id="rId15"/>
    <p:sldId id="336" r:id="rId16"/>
    <p:sldId id="345" r:id="rId17"/>
    <p:sldId id="308" r:id="rId18"/>
    <p:sldId id="366" r:id="rId19"/>
    <p:sldId id="369" r:id="rId20"/>
    <p:sldId id="368" r:id="rId21"/>
    <p:sldId id="370" r:id="rId22"/>
    <p:sldId id="371" r:id="rId23"/>
    <p:sldId id="312" r:id="rId24"/>
    <p:sldId id="338" r:id="rId25"/>
    <p:sldId id="313" r:id="rId26"/>
    <p:sldId id="314" r:id="rId27"/>
    <p:sldId id="332" r:id="rId28"/>
    <p:sldId id="315" r:id="rId29"/>
    <p:sldId id="316" r:id="rId30"/>
    <p:sldId id="343" r:id="rId31"/>
    <p:sldId id="340" r:id="rId32"/>
    <p:sldId id="317" r:id="rId33"/>
    <p:sldId id="318" r:id="rId34"/>
    <p:sldId id="295" r:id="rId35"/>
    <p:sldId id="337" r:id="rId36"/>
    <p:sldId id="344" r:id="rId37"/>
    <p:sldId id="342" r:id="rId38"/>
  </p:sldIdLst>
  <p:sldSz cx="12192000" cy="6858000"/>
  <p:notesSz cx="6858000" cy="9144000"/>
  <p:custDataLst>
    <p:tags r:id="rId42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40" userDrawn="1">
          <p15:clr>
            <a:srgbClr val="A4A3A4"/>
          </p15:clr>
        </p15:guide>
        <p15:guide id="2" pos="528" userDrawn="1">
          <p15:clr>
            <a:srgbClr val="A4A3A4"/>
          </p15:clr>
        </p15:guide>
        <p15:guide id="3" orient="horz" pos="316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33FF"/>
    <a:srgbClr val="9900CC"/>
    <a:srgbClr val="4674C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191" autoAdjust="0"/>
    <p:restoredTop sz="89082" autoAdjust="0"/>
  </p:normalViewPr>
  <p:slideViewPr>
    <p:cSldViewPr snapToGrid="0" showGuides="1">
      <p:cViewPr varScale="1">
        <p:scale>
          <a:sx n="60" d="100"/>
          <a:sy n="60" d="100"/>
        </p:scale>
        <p:origin x="-108" y="-348"/>
      </p:cViewPr>
      <p:guideLst>
        <p:guide orient="horz" pos="2840"/>
        <p:guide pos="528"/>
        <p:guide orient="horz" pos="3168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5" d="100"/>
          <a:sy n="65" d="100"/>
        </p:scale>
        <p:origin x="3154" y="3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2" Type="http://schemas.openxmlformats.org/officeDocument/2006/relationships/tags" Target="tags/tag14.xml"/><Relationship Id="rId41" Type="http://schemas.openxmlformats.org/officeDocument/2006/relationships/tableStyles" Target="tableStyles.xml"/><Relationship Id="rId40" Type="http://schemas.openxmlformats.org/officeDocument/2006/relationships/viewProps" Target="viewProps.xml"/><Relationship Id="rId4" Type="http://schemas.openxmlformats.org/officeDocument/2006/relationships/notesMaster" Target="notesMasters/notesMaster1.xml"/><Relationship Id="rId39" Type="http://schemas.openxmlformats.org/officeDocument/2006/relationships/presProps" Target="presProps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D2DCA99-9244-45F3-8A53-C4B5E4BE72F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98C8E83-7467-4844-86B0-1E72CB4E1334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8C8E83-7467-4844-86B0-1E72CB4E133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8C8E83-7467-4844-86B0-1E72CB4E133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8C8E83-7467-4844-86B0-1E72CB4E133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8C8E83-7467-4844-86B0-1E72CB4E133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8C8E83-7467-4844-86B0-1E72CB4E133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8C8E83-7467-4844-86B0-1E72CB4E133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8C8E83-7467-4844-86B0-1E72CB4E133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8C8E83-7467-4844-86B0-1E72CB4E133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8C8E83-7467-4844-86B0-1E72CB4E133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8C8E83-7467-4844-86B0-1E72CB4E133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8C8E83-7467-4844-86B0-1E72CB4E133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8C8E83-7467-4844-86B0-1E72CB4E133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8C8E83-7467-4844-86B0-1E72CB4E133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8C8E83-7467-4844-86B0-1E72CB4E133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8C8E83-7467-4844-86B0-1E72CB4E133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8C8E83-7467-4844-86B0-1E72CB4E133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8C8E83-7467-4844-86B0-1E72CB4E133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8C8E83-7467-4844-86B0-1E72CB4E133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8C8E83-7467-4844-86B0-1E72CB4E133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8C8E83-7467-4844-86B0-1E72CB4E133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8C8E83-7467-4844-86B0-1E72CB4E133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8C8E83-7467-4844-86B0-1E72CB4E133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C17889-7F4F-4468-9749-CDB7CA8FB84F}" type="datetime1">
              <a:rPr lang="zh-CN" altLang="en-US" smtClean="0"/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86A48D-B8D4-430A-AE1C-E921A6F75A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30B601-5397-4551-A762-7F5F3BCCC0F9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86A48D-B8D4-430A-AE1C-E921A6F75A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51D89D-949D-4764-9E92-6A4C0240D476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86A48D-B8D4-430A-AE1C-E921A6F75A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EBE235-6CB3-465C-B79D-2ED7CC3238A2}" type="datetime1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86A48D-B8D4-430A-AE1C-E921A6F75A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C19E6E-E8E9-4E10-B381-7A672952EE89}" type="datetime1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86A48D-B8D4-430A-AE1C-E921A6F75A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097422-9D7F-4A51-B3C7-4F59D04F0F49}" type="datetime1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86A48D-B8D4-430A-AE1C-E921A6F75A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C337CD-AE36-4315-98EF-9C53C5C4206E}" type="datetime1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86A48D-B8D4-430A-AE1C-E921A6F75A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19B90F-2915-430D-A93A-745C87197AEF}" type="datetime1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86A48D-B8D4-430A-AE1C-E921A6F75A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19B7C2-A9DF-4F31-AD39-FEB95D024397}" type="datetime1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86A48D-B8D4-430A-AE1C-E921A6F75A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24AEEF-2762-45C6-B123-D04A8CE9603D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86A48D-B8D4-430A-AE1C-E921A6F75A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DF4548-D02D-4C05-86FF-41D48D9AAF9C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86A48D-B8D4-430A-AE1C-E921A6F75A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381000"/>
            <a:ext cx="10363200" cy="762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914400" y="1600200"/>
            <a:ext cx="9144000" cy="4114800"/>
          </a:xfrm>
        </p:spPr>
        <p:txBody>
          <a:bodyPr/>
          <a:lstStyle/>
          <a:p>
            <a:pPr lvl="0"/>
            <a:endParaRPr lang="en-US" noProof="0" smtClean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874F86-9ECE-487E-870F-62CFE95345CB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86A48D-B8D4-430A-AE1C-E921A6F75A10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tags" Target="../tags/tag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3.xml"/><Relationship Id="rId1" Type="http://schemas.openxmlformats.org/officeDocument/2006/relationships/tags" Target="../tags/tag2.xml"/></Relationships>
</file>

<file path=ppt/slides/_rels/slide18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7.xml"/><Relationship Id="rId3" Type="http://schemas.openxmlformats.org/officeDocument/2006/relationships/tags" Target="../tags/tag6.xml"/><Relationship Id="rId2" Type="http://schemas.openxmlformats.org/officeDocument/2006/relationships/tags" Target="../tags/tag5.xml"/><Relationship Id="rId1" Type="http://schemas.openxmlformats.org/officeDocument/2006/relationships/tags" Target="../tags/tag4.xml"/></Relationships>
</file>

<file path=ppt/slides/_rels/slide19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tags" Target="../tags/tag12.xml"/><Relationship Id="rId4" Type="http://schemas.openxmlformats.org/officeDocument/2006/relationships/tags" Target="../tags/tag11.xml"/><Relationship Id="rId3" Type="http://schemas.openxmlformats.org/officeDocument/2006/relationships/tags" Target="../tags/tag10.xml"/><Relationship Id="rId2" Type="http://schemas.openxmlformats.org/officeDocument/2006/relationships/tags" Target="../tags/tag9.xml"/><Relationship Id="rId1" Type="http://schemas.openxmlformats.org/officeDocument/2006/relationships/tags" Target="../tags/tag8.xml"/></Relationships>
</file>

<file path=ppt/slides/_rels/slide20.xml.rels><?xml version="1.0" encoding="UTF-8" standalone="yes"?>
<Relationships xmlns="http://schemas.openxmlformats.org/package/2006/relationships"><Relationship Id="rId5" Type="http://schemas.openxmlformats.org/officeDocument/2006/relationships/vmlDrawing" Target="../drawings/vmlDrawing1.v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.wmf"/><Relationship Id="rId2" Type="http://schemas.openxmlformats.org/officeDocument/2006/relationships/oleObject" Target="../embeddings/oleObject1.bin"/><Relationship Id="rId1" Type="http://schemas.openxmlformats.org/officeDocument/2006/relationships/tags" Target="../tags/tag1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753979" y="898358"/>
            <a:ext cx="9826935" cy="3272589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altLang="zh-CN" b="1" dirty="0" smtClean="0"/>
              <a:t>Session 4 </a:t>
            </a:r>
            <a:b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en-US" altLang="zh-CN" sz="5400" dirty="0" smtClean="0"/>
              <a:t> </a:t>
            </a:r>
            <a:r>
              <a:rPr lang="en-US" altLang="zh-CN" sz="5400" b="1" dirty="0" smtClean="0"/>
              <a:t>White-Box Testing </a:t>
            </a:r>
            <a:br>
              <a:rPr lang="en-US" altLang="zh-CN" sz="5400" dirty="0" smtClean="0"/>
            </a:br>
            <a:r>
              <a:rPr lang="en-US" altLang="zh-CN" sz="5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</a:t>
            </a:r>
            <a:r>
              <a:rPr lang="en-US" altLang="zh-CN" sz="4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——</a:t>
            </a:r>
            <a:r>
              <a:rPr lang="en-US" altLang="zh-CN" sz="4400" b="1" dirty="0" smtClean="0"/>
              <a:t>3.5 Data Flow Testing</a:t>
            </a:r>
            <a:endParaRPr lang="zh-CN" altLang="en-US" sz="4400" b="1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4436609"/>
            <a:ext cx="9144000" cy="1655762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苏州大学计算机科学与技术学院  程宝雷</a:t>
            </a: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86A48D-B8D4-430A-AE1C-E921A6F75A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Dataflow </a:t>
            </a:r>
            <a:r>
              <a:rPr lang="en-US" altLang="zh-CN" dirty="0"/>
              <a:t>Coverage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86A48D-B8D4-430A-AE1C-E921A6F75A10}" type="slidenum">
              <a:rPr lang="zh-CN" altLang="en-US" smtClean="0"/>
            </a:fld>
            <a:endParaRPr lang="zh-CN" altLang="en-US"/>
          </a:p>
        </p:txBody>
      </p:sp>
      <p:sp>
        <p:nvSpPr>
          <p:cNvPr id="6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285749" y="1625374"/>
            <a:ext cx="8711293" cy="4791755"/>
          </a:xfrm>
        </p:spPr>
        <p:txBody>
          <a:bodyPr>
            <a:normAutofit/>
          </a:bodyPr>
          <a:lstStyle/>
          <a:p>
            <a:r>
              <a:rPr lang="en-US" altLang="zh-CN" sz="3200" dirty="0">
                <a:latin typeface="Verdana" panose="020B0604030504040204" pitchFamily="34" charset="0"/>
              </a:rPr>
              <a:t>Based on the idea that program paths along which variables are </a:t>
            </a:r>
            <a:r>
              <a:rPr lang="en-US" altLang="zh-CN" sz="3200" dirty="0">
                <a:solidFill>
                  <a:srgbClr val="FDAD23"/>
                </a:solidFill>
                <a:latin typeface="Verdana" panose="020B0604030504040204" pitchFamily="34" charset="0"/>
              </a:rPr>
              <a:t>defined</a:t>
            </a:r>
            <a:r>
              <a:rPr lang="en-US" altLang="zh-CN" sz="3200" dirty="0">
                <a:latin typeface="Verdana" panose="020B0604030504040204" pitchFamily="34" charset="0"/>
              </a:rPr>
              <a:t> and then </a:t>
            </a:r>
            <a:r>
              <a:rPr lang="en-US" altLang="zh-CN" sz="3200" dirty="0">
                <a:solidFill>
                  <a:srgbClr val="FDAD23"/>
                </a:solidFill>
                <a:latin typeface="Verdana" panose="020B0604030504040204" pitchFamily="34" charset="0"/>
              </a:rPr>
              <a:t>used</a:t>
            </a:r>
            <a:r>
              <a:rPr lang="en-US" altLang="zh-CN" sz="3200" dirty="0">
                <a:latin typeface="Verdana" panose="020B0604030504040204" pitchFamily="34" charset="0"/>
              </a:rPr>
              <a:t> should be covered.</a:t>
            </a:r>
            <a:endParaRPr lang="en-US" altLang="zh-CN" sz="3200" dirty="0">
              <a:latin typeface="Verdana" panose="020B0604030504040204" pitchFamily="34" charset="0"/>
            </a:endParaRPr>
          </a:p>
          <a:p>
            <a:r>
              <a:rPr lang="en-US" altLang="zh-CN" sz="3200" dirty="0">
                <a:latin typeface="Verdana" panose="020B0604030504040204" pitchFamily="34" charset="0"/>
              </a:rPr>
              <a:t>A </a:t>
            </a:r>
            <a:r>
              <a:rPr lang="en-US" altLang="zh-CN" sz="3200" dirty="0">
                <a:solidFill>
                  <a:srgbClr val="FDAD23"/>
                </a:solidFill>
                <a:latin typeface="Verdana" panose="020B0604030504040204" pitchFamily="34" charset="0"/>
              </a:rPr>
              <a:t>family of path selection criteria</a:t>
            </a:r>
            <a:r>
              <a:rPr lang="en-US" altLang="zh-CN" sz="3200" dirty="0">
                <a:latin typeface="Verdana" panose="020B0604030504040204" pitchFamily="34" charset="0"/>
              </a:rPr>
              <a:t> has been defined, each providing a different degree of coverage</a:t>
            </a:r>
            <a:r>
              <a:rPr lang="en-US" altLang="zh-CN" sz="3200" dirty="0" smtClean="0">
                <a:latin typeface="Verdana" panose="020B0604030504040204" pitchFamily="34" charset="0"/>
              </a:rPr>
              <a:t>.</a:t>
            </a:r>
            <a:endParaRPr lang="en-US" altLang="zh-CN" sz="3200" dirty="0" smtClean="0">
              <a:latin typeface="Verdana" panose="020B060403050404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Data Flow Testing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707301" y="1690687"/>
            <a:ext cx="8419446" cy="4934399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n"/>
              <a:defRPr/>
            </a:pPr>
            <a:r>
              <a:rPr lang="en-US" altLang="zh-CN" sz="4400" dirty="0" smtClean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 </a:t>
            </a:r>
            <a:r>
              <a:rPr lang="en-US" altLang="zh-CN" sz="3600" dirty="0" smtClean="0">
                <a:solidFill>
                  <a:srgbClr val="3333FF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definition-use path</a:t>
            </a:r>
            <a:endParaRPr lang="en-US" altLang="zh-CN" sz="3600" dirty="0" smtClean="0">
              <a:solidFill>
                <a:srgbClr val="3333FF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>
              <a:buFont typeface="Wingdings" panose="05000000000000000000" pitchFamily="2" charset="2"/>
              <a:buChar char="n"/>
              <a:defRPr/>
            </a:pPr>
            <a:r>
              <a:rPr lang="en-US" altLang="zh-CN" sz="4400" dirty="0" smtClean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 </a:t>
            </a:r>
            <a:r>
              <a:rPr lang="en-US" altLang="zh-CN" sz="3600" dirty="0" smtClean="0">
                <a:latin typeface="Verdana" panose="020B0604030504040204" pitchFamily="34" charset="0"/>
                <a:ea typeface="宋体" panose="02010600030101010101" pitchFamily="2" charset="-122"/>
              </a:rPr>
              <a:t>definition</a:t>
            </a:r>
            <a:r>
              <a:rPr lang="en-US" altLang="zh-CN" sz="3600" dirty="0" smtClean="0">
                <a:latin typeface="Verdana" panose="020B0604030504040204" pitchFamily="34" charset="0"/>
                <a:ea typeface="宋体" panose="02010600030101010101" pitchFamily="2" charset="-122"/>
              </a:rPr>
              <a:t>-clear </a:t>
            </a:r>
            <a:r>
              <a:rPr lang="en-US" altLang="zh-CN" sz="3600" dirty="0" smtClean="0">
                <a:latin typeface="Verdana" panose="020B0604030504040204" pitchFamily="34" charset="0"/>
                <a:ea typeface="宋体" panose="02010600030101010101" pitchFamily="2" charset="-122"/>
              </a:rPr>
              <a:t>path</a:t>
            </a:r>
            <a:endParaRPr lang="en-US" altLang="zh-CN" sz="36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14000"/>
              </a:lnSpc>
            </a:pP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14000"/>
              </a:lnSpc>
            </a:pP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14000"/>
              </a:lnSpc>
            </a:pP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14000"/>
              </a:lnSpc>
            </a:pP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14000"/>
              </a:lnSpc>
            </a:pP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86A48D-B8D4-430A-AE1C-E921A6F75A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Variable </a:t>
            </a:r>
            <a:r>
              <a:rPr lang="en-US" altLang="zh-CN" dirty="0"/>
              <a:t>Definitions and Uses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86A48D-B8D4-430A-AE1C-E921A6F75A10}" type="slidenum">
              <a:rPr lang="zh-CN" altLang="en-US" smtClean="0"/>
            </a:fld>
            <a:endParaRPr lang="zh-CN" altLang="en-US"/>
          </a:p>
        </p:txBody>
      </p:sp>
      <p:sp>
        <p:nvSpPr>
          <p:cNvPr id="6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285749" y="1625374"/>
            <a:ext cx="8711293" cy="4791755"/>
          </a:xfrm>
        </p:spPr>
        <p:txBody>
          <a:bodyPr>
            <a:normAutofit/>
          </a:bodyPr>
          <a:lstStyle/>
          <a:p>
            <a:r>
              <a:rPr lang="en-US" altLang="zh-CN" sz="2800" dirty="0">
                <a:latin typeface="Verdana" panose="020B0604030504040204" pitchFamily="34" charset="0"/>
              </a:rPr>
              <a:t>A program variable is </a:t>
            </a:r>
            <a:r>
              <a:rPr lang="en-US" altLang="zh-CN" sz="2800" b="1" dirty="0">
                <a:solidFill>
                  <a:srgbClr val="FDAD23"/>
                </a:solidFill>
                <a:latin typeface="Verdana" panose="020B0604030504040204" pitchFamily="34" charset="0"/>
              </a:rPr>
              <a:t>DEFINED</a:t>
            </a:r>
            <a:r>
              <a:rPr lang="en-US" altLang="zh-CN" sz="2800" dirty="0">
                <a:latin typeface="Verdana" panose="020B0604030504040204" pitchFamily="34" charset="0"/>
              </a:rPr>
              <a:t> when it appears:</a:t>
            </a:r>
            <a:endParaRPr lang="en-US" altLang="zh-CN" sz="2800" dirty="0">
              <a:latin typeface="Verdana" panose="020B0604030504040204" pitchFamily="34" charset="0"/>
            </a:endParaRPr>
          </a:p>
          <a:p>
            <a:pPr lvl="1"/>
            <a:r>
              <a:rPr lang="en-US" altLang="zh-CN" sz="2800" dirty="0">
                <a:latin typeface="Verdana" panose="020B0604030504040204" pitchFamily="34" charset="0"/>
              </a:rPr>
              <a:t>on the </a:t>
            </a:r>
            <a:r>
              <a:rPr lang="en-US" altLang="zh-CN" sz="2800" i="1" dirty="0">
                <a:latin typeface="Verdana" panose="020B0604030504040204" pitchFamily="34" charset="0"/>
              </a:rPr>
              <a:t>left </a:t>
            </a:r>
            <a:r>
              <a:rPr lang="en-US" altLang="zh-CN" sz="2800" dirty="0">
                <a:latin typeface="Verdana" panose="020B0604030504040204" pitchFamily="34" charset="0"/>
              </a:rPr>
              <a:t>hand side of an assignment statement (e.g.,</a:t>
            </a:r>
            <a:r>
              <a:rPr lang="en-US" altLang="zh-CN" sz="2800" dirty="0"/>
              <a:t> </a:t>
            </a:r>
            <a:r>
              <a:rPr lang="en-US" altLang="zh-CN" sz="2800" b="1" dirty="0">
                <a:solidFill>
                  <a:srgbClr val="FDAD23"/>
                </a:solidFill>
              </a:rPr>
              <a:t>Y</a:t>
            </a:r>
            <a:r>
              <a:rPr lang="en-US" altLang="zh-CN" sz="2800" dirty="0"/>
              <a:t> := 17)</a:t>
            </a:r>
            <a:endParaRPr lang="en-US" altLang="zh-CN" sz="2800" dirty="0"/>
          </a:p>
          <a:p>
            <a:pPr lvl="1"/>
            <a:r>
              <a:rPr lang="en-US" altLang="zh-CN" sz="2800" dirty="0">
                <a:latin typeface="Verdana" panose="020B0604030504040204" pitchFamily="34" charset="0"/>
              </a:rPr>
              <a:t>in an input statement</a:t>
            </a:r>
            <a:r>
              <a:rPr lang="en-US" altLang="zh-CN" sz="2800" dirty="0"/>
              <a:t> (e.g., input(</a:t>
            </a:r>
            <a:r>
              <a:rPr lang="en-US" altLang="zh-CN" sz="2800" b="1" dirty="0">
                <a:solidFill>
                  <a:srgbClr val="FDAD23"/>
                </a:solidFill>
              </a:rPr>
              <a:t>Y</a:t>
            </a:r>
            <a:r>
              <a:rPr lang="en-US" altLang="zh-CN" sz="2800" dirty="0"/>
              <a:t>))</a:t>
            </a:r>
            <a:endParaRPr lang="en-US" altLang="zh-CN" sz="2800" dirty="0"/>
          </a:p>
          <a:p>
            <a:pPr lvl="1"/>
            <a:r>
              <a:rPr lang="en-US" altLang="zh-CN" sz="2800" dirty="0">
                <a:latin typeface="Verdana" panose="020B0604030504040204" pitchFamily="34" charset="0"/>
              </a:rPr>
              <a:t>as an OUT parameter in a subroutine call (e.g.,</a:t>
            </a:r>
            <a:r>
              <a:rPr lang="en-US" altLang="zh-CN" sz="2800" dirty="0"/>
              <a:t> </a:t>
            </a:r>
            <a:r>
              <a:rPr lang="en-US" altLang="zh-CN" sz="2800" dirty="0">
                <a:latin typeface="Verdana" panose="020B0604030504040204" pitchFamily="34" charset="0"/>
              </a:rPr>
              <a:t>DOIT</a:t>
            </a:r>
            <a:r>
              <a:rPr lang="en-US" altLang="zh-CN" sz="2800" dirty="0"/>
              <a:t>(X:IN,</a:t>
            </a:r>
            <a:r>
              <a:rPr lang="en-US" altLang="zh-CN" sz="2800" b="1" dirty="0">
                <a:solidFill>
                  <a:srgbClr val="FDAD23"/>
                </a:solidFill>
              </a:rPr>
              <a:t>Y</a:t>
            </a:r>
            <a:r>
              <a:rPr lang="en-US" altLang="zh-CN" sz="2800" dirty="0"/>
              <a:t>:OUT</a:t>
            </a:r>
            <a:r>
              <a:rPr lang="en-US" altLang="zh-CN" sz="2800" dirty="0" smtClean="0"/>
              <a:t>))</a:t>
            </a:r>
            <a:endParaRPr lang="en-US" altLang="zh-CN" sz="2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Variable </a:t>
            </a:r>
            <a:r>
              <a:rPr lang="en-US" altLang="zh-CN" dirty="0"/>
              <a:t>Definitions and Uses (cont’d)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86A48D-B8D4-430A-AE1C-E921A6F75A10}" type="slidenum">
              <a:rPr lang="zh-CN" altLang="en-US" smtClean="0"/>
            </a:fld>
            <a:endParaRPr lang="zh-CN" altLang="en-US"/>
          </a:p>
        </p:txBody>
      </p:sp>
      <p:sp>
        <p:nvSpPr>
          <p:cNvPr id="6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285749" y="1625374"/>
            <a:ext cx="8711293" cy="4791755"/>
          </a:xfrm>
        </p:spPr>
        <p:txBody>
          <a:bodyPr>
            <a:normAutofit/>
          </a:bodyPr>
          <a:lstStyle/>
          <a:p>
            <a:r>
              <a:rPr lang="en-US" altLang="zh-CN" sz="2800" dirty="0">
                <a:latin typeface="Verdana" panose="020B0604030504040204" pitchFamily="34" charset="0"/>
              </a:rPr>
              <a:t>A program variable is </a:t>
            </a:r>
            <a:r>
              <a:rPr lang="en-US" altLang="zh-CN" sz="2800" b="1" dirty="0">
                <a:solidFill>
                  <a:srgbClr val="FDAD23"/>
                </a:solidFill>
                <a:latin typeface="Verdana" panose="020B0604030504040204" pitchFamily="34" charset="0"/>
              </a:rPr>
              <a:t>USED</a:t>
            </a:r>
            <a:r>
              <a:rPr lang="en-US" altLang="zh-CN" sz="2800" dirty="0">
                <a:latin typeface="Verdana" panose="020B0604030504040204" pitchFamily="34" charset="0"/>
              </a:rPr>
              <a:t> when it appears:</a:t>
            </a:r>
            <a:endParaRPr lang="en-US" altLang="zh-CN" sz="2800" dirty="0">
              <a:latin typeface="Verdana" panose="020B0604030504040204" pitchFamily="34" charset="0"/>
            </a:endParaRPr>
          </a:p>
          <a:p>
            <a:pPr lvl="1"/>
            <a:r>
              <a:rPr lang="en-US" altLang="zh-CN" sz="2800" dirty="0">
                <a:latin typeface="Verdana" panose="020B0604030504040204" pitchFamily="34" charset="0"/>
              </a:rPr>
              <a:t>on the </a:t>
            </a:r>
            <a:r>
              <a:rPr lang="en-US" altLang="zh-CN" sz="2800" i="1" dirty="0">
                <a:latin typeface="Verdana" panose="020B0604030504040204" pitchFamily="34" charset="0"/>
              </a:rPr>
              <a:t>right </a:t>
            </a:r>
            <a:r>
              <a:rPr lang="en-US" altLang="zh-CN" sz="2800" dirty="0">
                <a:latin typeface="Verdana" panose="020B0604030504040204" pitchFamily="34" charset="0"/>
              </a:rPr>
              <a:t>hand side of an assignment statement (e.g.,</a:t>
            </a:r>
            <a:r>
              <a:rPr lang="en-US" altLang="zh-CN" sz="2800" dirty="0"/>
              <a:t> Y := </a:t>
            </a:r>
            <a:r>
              <a:rPr lang="en-US" altLang="zh-CN" sz="2800" b="1" dirty="0">
                <a:solidFill>
                  <a:srgbClr val="FDAD23"/>
                </a:solidFill>
              </a:rPr>
              <a:t>X</a:t>
            </a:r>
            <a:r>
              <a:rPr lang="en-US" altLang="zh-CN" sz="2800" dirty="0"/>
              <a:t>+17)</a:t>
            </a:r>
            <a:endParaRPr lang="en-US" altLang="zh-CN" sz="2800" dirty="0"/>
          </a:p>
          <a:p>
            <a:pPr lvl="1"/>
            <a:r>
              <a:rPr lang="en-US" altLang="zh-CN" sz="2800" dirty="0">
                <a:latin typeface="Verdana" panose="020B0604030504040204" pitchFamily="34" charset="0"/>
              </a:rPr>
              <a:t>as an IN parameter in a subroutine or function call (e.g.,</a:t>
            </a:r>
            <a:r>
              <a:rPr lang="en-US" altLang="zh-CN" sz="2800" dirty="0"/>
              <a:t> Y := SQRT(</a:t>
            </a:r>
            <a:r>
              <a:rPr lang="en-US" altLang="zh-CN" sz="2800" b="1" dirty="0">
                <a:solidFill>
                  <a:srgbClr val="FDAD23"/>
                </a:solidFill>
              </a:rPr>
              <a:t>X</a:t>
            </a:r>
            <a:r>
              <a:rPr lang="en-US" altLang="zh-CN" sz="2800" dirty="0"/>
              <a:t>))</a:t>
            </a:r>
            <a:endParaRPr lang="en-US" altLang="zh-CN" sz="2800" dirty="0"/>
          </a:p>
          <a:p>
            <a:pPr lvl="1"/>
            <a:r>
              <a:rPr lang="en-US" altLang="zh-CN" sz="2800" dirty="0">
                <a:latin typeface="Verdana" panose="020B0604030504040204" pitchFamily="34" charset="0"/>
              </a:rPr>
              <a:t>in the predicate of a branch statement (e.g., if</a:t>
            </a:r>
            <a:r>
              <a:rPr lang="en-US" altLang="zh-CN" sz="2800" dirty="0"/>
              <a:t> </a:t>
            </a:r>
            <a:r>
              <a:rPr lang="en-US" altLang="zh-CN" sz="2800" b="1" dirty="0">
                <a:solidFill>
                  <a:srgbClr val="FDAD23"/>
                </a:solidFill>
              </a:rPr>
              <a:t>X</a:t>
            </a:r>
            <a:r>
              <a:rPr lang="en-US" altLang="zh-CN" sz="2800" dirty="0"/>
              <a:t>&gt;0 </a:t>
            </a:r>
            <a:r>
              <a:rPr lang="en-US" altLang="zh-CN" sz="2800" dirty="0">
                <a:latin typeface="Verdana" panose="020B0604030504040204" pitchFamily="34" charset="0"/>
              </a:rPr>
              <a:t>then</a:t>
            </a:r>
            <a:r>
              <a:rPr lang="en-US" altLang="zh-CN" sz="2800" dirty="0" smtClean="0">
                <a:latin typeface="Verdana" panose="020B0604030504040204" pitchFamily="34" charset="0"/>
              </a:rPr>
              <a:t>...)</a:t>
            </a:r>
            <a:endParaRPr lang="en-US" altLang="zh-CN" sz="2800" dirty="0">
              <a:latin typeface="Verdana" panose="020B060403050404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Variable </a:t>
            </a:r>
            <a:r>
              <a:rPr lang="en-US" altLang="zh-CN" dirty="0"/>
              <a:t>Definitions and Uses (cont’d)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86A48D-B8D4-430A-AE1C-E921A6F75A10}" type="slidenum">
              <a:rPr lang="zh-CN" altLang="en-US" smtClean="0"/>
            </a:fld>
            <a:endParaRPr lang="zh-CN" altLang="en-US"/>
          </a:p>
        </p:txBody>
      </p:sp>
      <p:sp>
        <p:nvSpPr>
          <p:cNvPr id="6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285749" y="1625374"/>
            <a:ext cx="8711293" cy="4791755"/>
          </a:xfrm>
        </p:spPr>
        <p:txBody>
          <a:bodyPr>
            <a:normAutofit/>
          </a:bodyPr>
          <a:lstStyle/>
          <a:p>
            <a:r>
              <a:rPr lang="en-US" altLang="zh-CN" sz="3200" dirty="0">
                <a:latin typeface="Verdana" panose="020B0604030504040204" pitchFamily="34" charset="0"/>
              </a:rPr>
              <a:t>Use of a variable in the predicate of a branch statement is called a </a:t>
            </a:r>
            <a:r>
              <a:rPr lang="en-US" altLang="zh-CN" sz="3200" i="1" dirty="0">
                <a:solidFill>
                  <a:srgbClr val="FDAD23"/>
                </a:solidFill>
                <a:latin typeface="Verdana" panose="020B0604030504040204" pitchFamily="34" charset="0"/>
              </a:rPr>
              <a:t>predicate-use </a:t>
            </a:r>
            <a:r>
              <a:rPr lang="en-US" altLang="zh-CN" sz="3200" b="1" dirty="0">
                <a:solidFill>
                  <a:srgbClr val="FDAD23"/>
                </a:solidFill>
                <a:latin typeface="Verdana" panose="020B0604030504040204" pitchFamily="34" charset="0"/>
              </a:rPr>
              <a:t>(“p-use”).</a:t>
            </a:r>
            <a:r>
              <a:rPr lang="en-US" altLang="zh-CN" sz="3200" dirty="0">
                <a:latin typeface="Verdana" panose="020B0604030504040204" pitchFamily="34" charset="0"/>
              </a:rPr>
              <a:t> Any other use is called a </a:t>
            </a:r>
            <a:r>
              <a:rPr lang="en-US" altLang="zh-CN" sz="3200" i="1" dirty="0">
                <a:solidFill>
                  <a:srgbClr val="FDAD23"/>
                </a:solidFill>
                <a:latin typeface="Verdana" panose="020B0604030504040204" pitchFamily="34" charset="0"/>
              </a:rPr>
              <a:t>computation-use </a:t>
            </a:r>
            <a:r>
              <a:rPr lang="en-US" altLang="zh-CN" sz="3200" b="1" dirty="0">
                <a:solidFill>
                  <a:srgbClr val="FDAD23"/>
                </a:solidFill>
                <a:latin typeface="Verdana" panose="020B0604030504040204" pitchFamily="34" charset="0"/>
              </a:rPr>
              <a:t>(“c-use”).</a:t>
            </a:r>
            <a:endParaRPr lang="en-US" altLang="zh-CN" sz="3200" b="1" dirty="0">
              <a:solidFill>
                <a:srgbClr val="FDAD23"/>
              </a:solidFill>
              <a:latin typeface="Verdana" panose="020B0604030504040204" pitchFamily="34" charset="0"/>
            </a:endParaRPr>
          </a:p>
          <a:p>
            <a:r>
              <a:rPr lang="en-US" altLang="zh-CN" sz="3200" dirty="0">
                <a:latin typeface="Verdana" panose="020B0604030504040204" pitchFamily="34" charset="0"/>
              </a:rPr>
              <a:t>For example, in the program statement:</a:t>
            </a:r>
            <a:endParaRPr lang="en-US" altLang="zh-CN" sz="3200" dirty="0">
              <a:latin typeface="Verdana" panose="020B0604030504040204" pitchFamily="34" charset="0"/>
            </a:endParaRPr>
          </a:p>
          <a:p>
            <a:pPr>
              <a:spcBef>
                <a:spcPct val="5000"/>
              </a:spcBef>
              <a:spcAft>
                <a:spcPct val="5000"/>
              </a:spcAft>
              <a:buNone/>
            </a:pPr>
            <a:r>
              <a:rPr lang="en-US" altLang="zh-CN" sz="3200" dirty="0">
                <a:latin typeface="Verdana" panose="020B0604030504040204" pitchFamily="34" charset="0"/>
              </a:rPr>
              <a:t>			</a:t>
            </a:r>
            <a:r>
              <a:rPr lang="en-US" altLang="zh-CN" sz="3200" dirty="0">
                <a:solidFill>
                  <a:srgbClr val="FDAD23"/>
                </a:solidFill>
                <a:latin typeface="Verdana" panose="020B0604030504040204" pitchFamily="34" charset="0"/>
              </a:rPr>
              <a:t>If</a:t>
            </a:r>
            <a:r>
              <a:rPr lang="en-US" altLang="zh-CN" sz="3200" dirty="0">
                <a:solidFill>
                  <a:srgbClr val="FDAD23"/>
                </a:solidFill>
              </a:rPr>
              <a:t> (X&gt;0) </a:t>
            </a:r>
            <a:r>
              <a:rPr lang="en-US" altLang="zh-CN" sz="3200" dirty="0">
                <a:solidFill>
                  <a:srgbClr val="FDAD23"/>
                </a:solidFill>
                <a:latin typeface="Verdana" panose="020B0604030504040204" pitchFamily="34" charset="0"/>
              </a:rPr>
              <a:t>then</a:t>
            </a:r>
            <a:endParaRPr lang="en-US" altLang="zh-CN" sz="3200" dirty="0">
              <a:solidFill>
                <a:srgbClr val="FDAD23"/>
              </a:solidFill>
              <a:latin typeface="Verdana" panose="020B0604030504040204" pitchFamily="34" charset="0"/>
            </a:endParaRPr>
          </a:p>
          <a:p>
            <a:pPr>
              <a:spcBef>
                <a:spcPct val="5000"/>
              </a:spcBef>
              <a:spcAft>
                <a:spcPct val="5000"/>
              </a:spcAft>
              <a:buNone/>
            </a:pPr>
            <a:r>
              <a:rPr lang="en-US" altLang="zh-CN" sz="3200" dirty="0">
                <a:solidFill>
                  <a:srgbClr val="FDAD23"/>
                </a:solidFill>
                <a:latin typeface="Verdana" panose="020B0604030504040204" pitchFamily="34" charset="0"/>
              </a:rPr>
              <a:t>			    print</a:t>
            </a:r>
            <a:r>
              <a:rPr lang="en-US" altLang="zh-CN" sz="3200" dirty="0">
                <a:solidFill>
                  <a:srgbClr val="FDAD23"/>
                </a:solidFill>
              </a:rPr>
              <a:t>(Y)</a:t>
            </a:r>
            <a:endParaRPr lang="en-US" altLang="zh-CN" sz="3200" dirty="0">
              <a:solidFill>
                <a:srgbClr val="FDAD23"/>
              </a:solidFill>
            </a:endParaRPr>
          </a:p>
          <a:p>
            <a:pPr>
              <a:spcBef>
                <a:spcPct val="5000"/>
              </a:spcBef>
              <a:spcAft>
                <a:spcPct val="5000"/>
              </a:spcAft>
              <a:buNone/>
            </a:pPr>
            <a:r>
              <a:rPr lang="en-US" altLang="zh-CN" sz="3200" dirty="0">
                <a:solidFill>
                  <a:srgbClr val="FDAD23"/>
                </a:solidFill>
              </a:rPr>
              <a:t>			</a:t>
            </a:r>
            <a:r>
              <a:rPr lang="en-US" altLang="zh-CN" sz="3200" dirty="0" err="1">
                <a:solidFill>
                  <a:srgbClr val="FDAD23"/>
                </a:solidFill>
                <a:latin typeface="Verdana" panose="020B0604030504040204" pitchFamily="34" charset="0"/>
              </a:rPr>
              <a:t>end_if_then</a:t>
            </a:r>
            <a:endParaRPr lang="en-US" altLang="zh-CN" sz="3200" dirty="0">
              <a:solidFill>
                <a:srgbClr val="FDAD23"/>
              </a:solidFill>
              <a:latin typeface="Verdana" panose="020B0604030504040204" pitchFamily="34" charset="0"/>
            </a:endParaRPr>
          </a:p>
          <a:p>
            <a:pPr>
              <a:spcBef>
                <a:spcPct val="5000"/>
              </a:spcBef>
              <a:spcAft>
                <a:spcPct val="5000"/>
              </a:spcAft>
              <a:buNone/>
            </a:pPr>
            <a:r>
              <a:rPr lang="en-US" altLang="zh-CN" sz="3200" dirty="0">
                <a:latin typeface="Verdana" panose="020B0604030504040204" pitchFamily="34" charset="0"/>
              </a:rPr>
              <a:t>	there is a p-use of</a:t>
            </a:r>
            <a:r>
              <a:rPr lang="en-US" altLang="zh-CN" sz="3200" dirty="0"/>
              <a:t> X </a:t>
            </a:r>
            <a:r>
              <a:rPr lang="en-US" altLang="zh-CN" sz="3200" dirty="0">
                <a:latin typeface="Verdana" panose="020B0604030504040204" pitchFamily="34" charset="0"/>
              </a:rPr>
              <a:t>and a c-use of</a:t>
            </a:r>
            <a:r>
              <a:rPr lang="en-US" altLang="zh-CN" sz="3200" dirty="0"/>
              <a:t> Y.</a:t>
            </a:r>
            <a:endParaRPr lang="en-US" altLang="zh-CN" sz="3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Variable </a:t>
            </a:r>
            <a:r>
              <a:rPr lang="en-US" altLang="zh-CN" dirty="0"/>
              <a:t>Definitions and Uses (cont’d)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86A48D-B8D4-430A-AE1C-E921A6F75A10}" type="slidenum">
              <a:rPr lang="zh-CN" altLang="en-US" smtClean="0"/>
            </a:fld>
            <a:endParaRPr lang="zh-CN" altLang="en-US"/>
          </a:p>
        </p:txBody>
      </p:sp>
      <p:sp>
        <p:nvSpPr>
          <p:cNvPr id="6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285748" y="1625374"/>
            <a:ext cx="9895115" cy="4791755"/>
          </a:xfrm>
        </p:spPr>
        <p:txBody>
          <a:bodyPr>
            <a:normAutofit/>
          </a:bodyPr>
          <a:lstStyle/>
          <a:p>
            <a:r>
              <a:rPr lang="en-US" altLang="zh-CN" sz="3200" dirty="0">
                <a:latin typeface="Verdana" panose="020B0604030504040204" pitchFamily="34" charset="0"/>
              </a:rPr>
              <a:t>A variable can also be used and then re-defined in a single statement when it appears:</a:t>
            </a:r>
            <a:endParaRPr lang="en-US" altLang="zh-CN" sz="3200" dirty="0">
              <a:latin typeface="Verdana" panose="020B0604030504040204" pitchFamily="34" charset="0"/>
            </a:endParaRPr>
          </a:p>
          <a:p>
            <a:pPr lvl="1"/>
            <a:r>
              <a:rPr lang="en-US" altLang="zh-CN" sz="3200" dirty="0">
                <a:latin typeface="Verdana" panose="020B0604030504040204" pitchFamily="34" charset="0"/>
              </a:rPr>
              <a:t>on </a:t>
            </a:r>
            <a:r>
              <a:rPr lang="en-US" altLang="zh-CN" sz="3200" i="1" dirty="0">
                <a:latin typeface="Verdana" panose="020B0604030504040204" pitchFamily="34" charset="0"/>
              </a:rPr>
              <a:t>both </a:t>
            </a:r>
            <a:r>
              <a:rPr lang="en-US" altLang="zh-CN" sz="3200" dirty="0">
                <a:latin typeface="Verdana" panose="020B0604030504040204" pitchFamily="34" charset="0"/>
              </a:rPr>
              <a:t>sides of an assignment statement (e.g.,</a:t>
            </a:r>
            <a:r>
              <a:rPr lang="en-US" altLang="zh-CN" sz="3200" dirty="0"/>
              <a:t> </a:t>
            </a:r>
            <a:r>
              <a:rPr lang="en-US" altLang="zh-CN" sz="3200" b="1" dirty="0">
                <a:solidFill>
                  <a:srgbClr val="FDAD23"/>
                </a:solidFill>
              </a:rPr>
              <a:t>Y</a:t>
            </a:r>
            <a:r>
              <a:rPr lang="en-US" altLang="zh-CN" sz="3200" dirty="0"/>
              <a:t> := </a:t>
            </a:r>
            <a:r>
              <a:rPr lang="en-US" altLang="zh-CN" sz="3200" b="1" dirty="0">
                <a:solidFill>
                  <a:srgbClr val="FDAD23"/>
                </a:solidFill>
              </a:rPr>
              <a:t>Y</a:t>
            </a:r>
            <a:r>
              <a:rPr lang="en-US" altLang="zh-CN" sz="3200" dirty="0"/>
              <a:t>+X)</a:t>
            </a:r>
            <a:endParaRPr lang="en-US" altLang="zh-CN" sz="3200" dirty="0"/>
          </a:p>
          <a:p>
            <a:pPr lvl="1"/>
            <a:r>
              <a:rPr lang="en-US" altLang="zh-CN" sz="3200" dirty="0">
                <a:latin typeface="Verdana" panose="020B0604030504040204" pitchFamily="34" charset="0"/>
              </a:rPr>
              <a:t>as an IN/OUT parameter in a subroutine call (e.g., INCREMENT</a:t>
            </a:r>
            <a:r>
              <a:rPr lang="en-US" altLang="zh-CN" sz="3200" dirty="0"/>
              <a:t>(</a:t>
            </a:r>
            <a:r>
              <a:rPr lang="en-US" altLang="zh-CN" sz="3200" b="1" dirty="0">
                <a:solidFill>
                  <a:srgbClr val="FDAD23"/>
                </a:solidFill>
              </a:rPr>
              <a:t>Y</a:t>
            </a:r>
            <a:r>
              <a:rPr lang="en-US" altLang="zh-CN" sz="3200" dirty="0"/>
              <a:t>:IN/OUT))</a:t>
            </a:r>
            <a:endParaRPr lang="en-US" altLang="zh-CN" sz="3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Other </a:t>
            </a:r>
            <a:r>
              <a:rPr lang="en-US" altLang="zh-CN" dirty="0"/>
              <a:t>Dataflow Terms and Definitions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86A48D-B8D4-430A-AE1C-E921A6F75A10}" type="slidenum">
              <a:rPr lang="zh-CN" altLang="en-US" smtClean="0"/>
            </a:fld>
            <a:endParaRPr lang="zh-CN" altLang="en-US"/>
          </a:p>
        </p:txBody>
      </p:sp>
      <p:sp>
        <p:nvSpPr>
          <p:cNvPr id="6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285750" y="1625600"/>
            <a:ext cx="8711565" cy="3555365"/>
          </a:xfrm>
        </p:spPr>
        <p:txBody>
          <a:bodyPr>
            <a:normAutofit lnSpcReduction="10000"/>
          </a:bodyPr>
          <a:lstStyle/>
          <a:p>
            <a:pPr>
              <a:lnSpc>
                <a:spcPct val="110000"/>
              </a:lnSpc>
            </a:pPr>
            <a:r>
              <a:rPr lang="en-US" altLang="zh-CN" sz="3000" dirty="0" smtClean="0">
                <a:latin typeface="Verdana" panose="020B0604030504040204" pitchFamily="34" charset="0"/>
              </a:rPr>
              <a:t>A </a:t>
            </a:r>
            <a:r>
              <a:rPr lang="en-US" altLang="zh-CN" sz="3000" i="1" dirty="0">
                <a:solidFill>
                  <a:srgbClr val="FDAD23"/>
                </a:solidFill>
                <a:latin typeface="Verdana" panose="020B0604030504040204" pitchFamily="34" charset="0"/>
              </a:rPr>
              <a:t>definition-use pair</a:t>
            </a:r>
            <a:r>
              <a:rPr lang="en-US" altLang="zh-CN" sz="3000" i="1" dirty="0">
                <a:latin typeface="Verdana" panose="020B0604030504040204" pitchFamily="34" charset="0"/>
              </a:rPr>
              <a:t> </a:t>
            </a:r>
            <a:r>
              <a:rPr lang="en-US" altLang="zh-CN" sz="3000" b="1" dirty="0">
                <a:solidFill>
                  <a:srgbClr val="FDAD23"/>
                </a:solidFill>
                <a:latin typeface="Verdana" panose="020B0604030504040204" pitchFamily="34" charset="0"/>
              </a:rPr>
              <a:t>(“du-pair”)</a:t>
            </a:r>
            <a:r>
              <a:rPr lang="en-US" altLang="zh-CN" sz="3000" dirty="0">
                <a:latin typeface="Verdana" panose="020B0604030504040204" pitchFamily="34" charset="0"/>
              </a:rPr>
              <a:t> with respect to a variable v is a double (</a:t>
            </a:r>
            <a:r>
              <a:rPr lang="en-US" altLang="zh-CN" sz="3000" dirty="0" err="1">
                <a:latin typeface="Verdana" panose="020B0604030504040204" pitchFamily="34" charset="0"/>
              </a:rPr>
              <a:t>d,u</a:t>
            </a:r>
            <a:r>
              <a:rPr lang="en-US" altLang="zh-CN" sz="3000" dirty="0">
                <a:latin typeface="Verdana" panose="020B0604030504040204" pitchFamily="34" charset="0"/>
              </a:rPr>
              <a:t>) such that d is a node in the program’s flow graph at which v is defined, u is a node or edge at which v is </a:t>
            </a:r>
            <a:r>
              <a:rPr lang="en-US" altLang="zh-CN" sz="3000" dirty="0" smtClean="0">
                <a:latin typeface="Verdana" panose="020B0604030504040204" pitchFamily="34" charset="0"/>
              </a:rPr>
              <a:t>used</a:t>
            </a:r>
            <a:r>
              <a:rPr lang="zh-CN" altLang="en-US" sz="3000" dirty="0" smtClean="0">
                <a:latin typeface="Verdana" panose="020B0604030504040204" pitchFamily="34" charset="0"/>
              </a:rPr>
              <a:t>。</a:t>
            </a:r>
            <a:endParaRPr lang="zh-CN" altLang="en-US" sz="3000" dirty="0" smtClean="0">
              <a:latin typeface="Verdana" panose="020B0604030504040204" pitchFamily="34" charset="0"/>
            </a:endParaRPr>
          </a:p>
          <a:p>
            <a:pPr>
              <a:lnSpc>
                <a:spcPct val="110000"/>
              </a:lnSpc>
            </a:pPr>
            <a:endParaRPr lang="zh-CN" altLang="en-US" sz="3000" dirty="0" smtClean="0">
              <a:latin typeface="Verdana" panose="020B0604030504040204" pitchFamily="34" charset="0"/>
            </a:endParaRPr>
          </a:p>
          <a:p>
            <a:pPr>
              <a:lnSpc>
                <a:spcPct val="110000"/>
              </a:lnSpc>
            </a:pPr>
            <a:r>
              <a:rPr lang="en-US" altLang="zh-CN" sz="3000" dirty="0" smtClean="0">
                <a:latin typeface="Verdana" panose="020B0604030504040204" pitchFamily="34" charset="0"/>
              </a:rPr>
              <a:t>Note: </a:t>
            </a:r>
            <a:r>
              <a:rPr lang="en-US" altLang="zh-CN" sz="3000" dirty="0">
                <a:solidFill>
                  <a:srgbClr val="FDAD23"/>
                </a:solidFill>
                <a:latin typeface="Verdana" panose="020B0604030504040204" pitchFamily="34" charset="0"/>
              </a:rPr>
              <a:t>Broad definition</a:t>
            </a:r>
            <a:r>
              <a:rPr lang="en-US" altLang="zh-CN" sz="3000" dirty="0" smtClean="0">
                <a:latin typeface="Verdana" panose="020B0604030504040204" pitchFamily="34" charset="0"/>
              </a:rPr>
              <a:t>.</a:t>
            </a:r>
            <a:endParaRPr lang="en-US" altLang="zh-CN" sz="3000" dirty="0">
              <a:latin typeface="Verdana" panose="020B0604030504040204" pitchFamily="34" charset="0"/>
            </a:endParaRPr>
          </a:p>
          <a:p>
            <a:pPr>
              <a:lnSpc>
                <a:spcPct val="110000"/>
              </a:lnSpc>
              <a:buNone/>
            </a:pPr>
            <a:endParaRPr lang="en-US" altLang="zh-CN" sz="3000" i="1" dirty="0">
              <a:latin typeface="Verdana" panose="020B0604030504040204" pitchFamily="34" charset="0"/>
            </a:endParaRPr>
          </a:p>
          <a:p>
            <a:endParaRPr lang="en-US" altLang="zh-CN" sz="3200" dirty="0">
              <a:latin typeface="Verdana" panose="020B060403050404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Example 1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86A48D-B8D4-430A-AE1C-E921A6F75A10}" type="slidenum">
              <a:rPr lang="zh-CN" altLang="en-US" smtClean="0"/>
            </a:fld>
            <a:endParaRPr lang="zh-CN" altLang="en-US"/>
          </a:p>
        </p:txBody>
      </p:sp>
      <p:sp>
        <p:nvSpPr>
          <p:cNvPr id="61" name="Rectangle 3"/>
          <p:cNvSpPr txBox="1">
            <a:spLocks noChangeArrowheads="1"/>
          </p:cNvSpPr>
          <p:nvPr/>
        </p:nvSpPr>
        <p:spPr>
          <a:xfrm>
            <a:off x="685800" y="1600200"/>
            <a:ext cx="27432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Tx/>
              <a:buNone/>
            </a:pPr>
            <a:r>
              <a:rPr lang="en-US" altLang="zh-CN" smtClean="0">
                <a:ea typeface="宋体" panose="02010600030101010101" pitchFamily="2" charset="-122"/>
              </a:rPr>
              <a:t>1. </a:t>
            </a:r>
            <a:r>
              <a:rPr lang="en-US" altLang="zh-CN" smtClean="0">
                <a:latin typeface="Verdana" panose="020B0604030504040204" pitchFamily="34" charset="0"/>
                <a:ea typeface="宋体" panose="02010600030101010101" pitchFamily="2" charset="-122"/>
              </a:rPr>
              <a:t>input</a:t>
            </a:r>
            <a:r>
              <a:rPr lang="en-US" altLang="zh-CN" smtClean="0">
                <a:ea typeface="宋体" panose="02010600030101010101" pitchFamily="2" charset="-122"/>
              </a:rPr>
              <a:t>(A,B)</a:t>
            </a:r>
            <a:endParaRPr lang="en-US" altLang="zh-CN" smtClean="0">
              <a:ea typeface="宋体" panose="02010600030101010101" pitchFamily="2" charset="-122"/>
            </a:endParaRPr>
          </a:p>
          <a:p>
            <a:pPr>
              <a:buFontTx/>
              <a:buNone/>
            </a:pPr>
            <a:r>
              <a:rPr lang="en-US" altLang="zh-CN" smtClean="0">
                <a:ea typeface="宋体" panose="02010600030101010101" pitchFamily="2" charset="-122"/>
              </a:rPr>
              <a:t>    </a:t>
            </a:r>
            <a:r>
              <a:rPr lang="en-US" altLang="zh-CN" smtClean="0">
                <a:latin typeface="Verdana" panose="020B0604030504040204" pitchFamily="34" charset="0"/>
                <a:ea typeface="宋体" panose="02010600030101010101" pitchFamily="2" charset="-122"/>
              </a:rPr>
              <a:t>if</a:t>
            </a:r>
            <a:r>
              <a:rPr lang="en-US" altLang="zh-CN" smtClean="0">
                <a:ea typeface="宋体" panose="02010600030101010101" pitchFamily="2" charset="-122"/>
              </a:rPr>
              <a:t> (B&gt;1) </a:t>
            </a:r>
            <a:r>
              <a:rPr lang="en-US" altLang="zh-CN" smtClean="0">
                <a:latin typeface="Verdana" panose="020B0604030504040204" pitchFamily="34" charset="0"/>
                <a:ea typeface="宋体" panose="02010600030101010101" pitchFamily="2" charset="-122"/>
              </a:rPr>
              <a:t>then</a:t>
            </a:r>
            <a:endParaRPr lang="en-US" altLang="zh-CN" smtClean="0">
              <a:latin typeface="Verdana" panose="020B0604030504040204" pitchFamily="34" charset="0"/>
              <a:ea typeface="宋体" panose="02010600030101010101" pitchFamily="2" charset="-122"/>
            </a:endParaRPr>
          </a:p>
          <a:p>
            <a:pPr>
              <a:buFontTx/>
              <a:buNone/>
            </a:pPr>
            <a:r>
              <a:rPr lang="en-US" altLang="zh-CN" smtClean="0">
                <a:ea typeface="宋体" panose="02010600030101010101" pitchFamily="2" charset="-122"/>
              </a:rPr>
              <a:t>2.     A := A+7</a:t>
            </a:r>
            <a:endParaRPr lang="en-US" altLang="zh-CN" smtClean="0">
              <a:ea typeface="宋体" panose="02010600030101010101" pitchFamily="2" charset="-122"/>
            </a:endParaRPr>
          </a:p>
          <a:p>
            <a:pPr>
              <a:buFontTx/>
              <a:buNone/>
            </a:pPr>
            <a:r>
              <a:rPr lang="en-US" altLang="zh-CN" smtClean="0">
                <a:ea typeface="宋体" panose="02010600030101010101" pitchFamily="2" charset="-122"/>
              </a:rPr>
              <a:t>    </a:t>
            </a:r>
            <a:r>
              <a:rPr lang="en-US" altLang="zh-CN" smtClean="0">
                <a:latin typeface="Verdana" panose="020B0604030504040204" pitchFamily="34" charset="0"/>
                <a:ea typeface="宋体" panose="02010600030101010101" pitchFamily="2" charset="-122"/>
              </a:rPr>
              <a:t>end_if</a:t>
            </a:r>
            <a:endParaRPr lang="en-US" altLang="zh-CN" smtClean="0">
              <a:latin typeface="Verdana" panose="020B0604030504040204" pitchFamily="34" charset="0"/>
              <a:ea typeface="宋体" panose="02010600030101010101" pitchFamily="2" charset="-122"/>
            </a:endParaRPr>
          </a:p>
          <a:p>
            <a:pPr>
              <a:buFontTx/>
              <a:buNone/>
            </a:pPr>
            <a:r>
              <a:rPr lang="en-US" altLang="zh-CN" smtClean="0">
                <a:ea typeface="宋体" panose="02010600030101010101" pitchFamily="2" charset="-122"/>
              </a:rPr>
              <a:t>3. </a:t>
            </a:r>
            <a:r>
              <a:rPr lang="en-US" altLang="zh-CN" smtClean="0">
                <a:latin typeface="Verdana" panose="020B0604030504040204" pitchFamily="34" charset="0"/>
                <a:ea typeface="宋体" panose="02010600030101010101" pitchFamily="2" charset="-122"/>
              </a:rPr>
              <a:t>if</a:t>
            </a:r>
            <a:r>
              <a:rPr lang="en-US" altLang="zh-CN" smtClean="0">
                <a:ea typeface="宋体" panose="02010600030101010101" pitchFamily="2" charset="-122"/>
              </a:rPr>
              <a:t> (A&gt;10) </a:t>
            </a:r>
            <a:r>
              <a:rPr lang="en-US" altLang="zh-CN" smtClean="0">
                <a:latin typeface="Verdana" panose="020B0604030504040204" pitchFamily="34" charset="0"/>
                <a:ea typeface="宋体" panose="02010600030101010101" pitchFamily="2" charset="-122"/>
              </a:rPr>
              <a:t>then</a:t>
            </a:r>
            <a:endParaRPr lang="en-US" altLang="zh-CN" smtClean="0">
              <a:latin typeface="Verdana" panose="020B0604030504040204" pitchFamily="34" charset="0"/>
              <a:ea typeface="宋体" panose="02010600030101010101" pitchFamily="2" charset="-122"/>
            </a:endParaRPr>
          </a:p>
          <a:p>
            <a:pPr>
              <a:buFontTx/>
              <a:buNone/>
            </a:pPr>
            <a:r>
              <a:rPr lang="en-US" altLang="zh-CN" smtClean="0">
                <a:ea typeface="宋体" panose="02010600030101010101" pitchFamily="2" charset="-122"/>
              </a:rPr>
              <a:t>4.     B := A+B</a:t>
            </a:r>
            <a:endParaRPr lang="en-US" altLang="zh-CN" smtClean="0">
              <a:ea typeface="宋体" panose="02010600030101010101" pitchFamily="2" charset="-122"/>
            </a:endParaRPr>
          </a:p>
          <a:p>
            <a:pPr>
              <a:buFontTx/>
              <a:buNone/>
            </a:pPr>
            <a:r>
              <a:rPr lang="en-US" altLang="zh-CN" smtClean="0">
                <a:ea typeface="宋体" panose="02010600030101010101" pitchFamily="2" charset="-122"/>
              </a:rPr>
              <a:t>    </a:t>
            </a:r>
            <a:r>
              <a:rPr lang="en-US" altLang="zh-CN" smtClean="0">
                <a:latin typeface="Verdana" panose="020B0604030504040204" pitchFamily="34" charset="0"/>
                <a:ea typeface="宋体" panose="02010600030101010101" pitchFamily="2" charset="-122"/>
              </a:rPr>
              <a:t>end_if</a:t>
            </a:r>
            <a:endParaRPr lang="en-US" altLang="zh-CN" smtClean="0">
              <a:latin typeface="Verdana" panose="020B0604030504040204" pitchFamily="34" charset="0"/>
              <a:ea typeface="宋体" panose="02010600030101010101" pitchFamily="2" charset="-122"/>
            </a:endParaRPr>
          </a:p>
          <a:p>
            <a:pPr>
              <a:buFontTx/>
              <a:buNone/>
            </a:pPr>
            <a:r>
              <a:rPr lang="en-US" altLang="zh-CN" smtClean="0">
                <a:ea typeface="宋体" panose="02010600030101010101" pitchFamily="2" charset="-122"/>
              </a:rPr>
              <a:t>5. </a:t>
            </a:r>
            <a:r>
              <a:rPr lang="en-US" altLang="zh-CN" smtClean="0">
                <a:latin typeface="Verdana" panose="020B0604030504040204" pitchFamily="34" charset="0"/>
                <a:ea typeface="宋体" panose="02010600030101010101" pitchFamily="2" charset="-122"/>
              </a:rPr>
              <a:t>output</a:t>
            </a:r>
            <a:r>
              <a:rPr lang="en-US" altLang="zh-CN" smtClean="0">
                <a:ea typeface="宋体" panose="02010600030101010101" pitchFamily="2" charset="-122"/>
              </a:rPr>
              <a:t>(A,B)</a:t>
            </a:r>
            <a:endParaRPr lang="en-US" altLang="zh-CN" dirty="0" smtClean="0">
              <a:ea typeface="宋体" panose="02010600030101010101" pitchFamily="2" charset="-122"/>
            </a:endParaRPr>
          </a:p>
        </p:txBody>
      </p:sp>
      <p:sp>
        <p:nvSpPr>
          <p:cNvPr id="62" name="Oval 4"/>
          <p:cNvSpPr>
            <a:spLocks noChangeArrowheads="1"/>
          </p:cNvSpPr>
          <p:nvPr/>
        </p:nvSpPr>
        <p:spPr bwMode="auto">
          <a:xfrm>
            <a:off x="5105400" y="1828800"/>
            <a:ext cx="533400" cy="5334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</a:ln>
        </p:spPr>
        <p:txBody>
          <a:bodyPr wrap="none" anchor="ctr"/>
          <a:lstStyle>
            <a:lvl1pPr>
              <a:spcBef>
                <a:spcPct val="20000"/>
              </a:spcBef>
              <a:spcAft>
                <a:spcPct val="20000"/>
              </a:spcAft>
              <a:buClr>
                <a:srgbClr val="FDAD23"/>
              </a:buClr>
              <a:buChar char="•"/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  <a:lvl2pPr marL="742950" indent="-285750">
              <a:spcBef>
                <a:spcPct val="20000"/>
              </a:spcBef>
              <a:spcAft>
                <a:spcPct val="20000"/>
              </a:spcAft>
              <a:buClr>
                <a:srgbClr val="FDAD23"/>
              </a:buClr>
              <a:buChar char="–"/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2pPr>
            <a:lvl3pPr marL="1143000" indent="-228600">
              <a:spcBef>
                <a:spcPct val="20000"/>
              </a:spcBef>
              <a:spcAft>
                <a:spcPct val="20000"/>
              </a:spcAft>
              <a:buClr>
                <a:srgbClr val="FDAD23"/>
              </a:buClr>
              <a:buSzPct val="75000"/>
              <a:buChar char="•"/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DAD23"/>
              </a:buClr>
              <a:buFont typeface="Times New Roman" panose="02020603050405020304" pitchFamily="18" charset="0"/>
              <a:buChar char="–"/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DAD23"/>
              </a:buClr>
              <a:buChar char="»"/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DAD23"/>
              </a:buClr>
              <a:buChar char="»"/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DAD23"/>
              </a:buClr>
              <a:buChar char="»"/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DAD23"/>
              </a:buClr>
              <a:buChar char="»"/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DAD23"/>
              </a:buClr>
              <a:buChar char="»"/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endParaRPr lang="zh-CN" altLang="zh-CN" sz="280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3" name="Oval 5"/>
          <p:cNvSpPr>
            <a:spLocks noChangeArrowheads="1"/>
          </p:cNvSpPr>
          <p:nvPr/>
        </p:nvSpPr>
        <p:spPr bwMode="auto">
          <a:xfrm>
            <a:off x="5105400" y="3352800"/>
            <a:ext cx="533400" cy="5334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</a:ln>
        </p:spPr>
        <p:txBody>
          <a:bodyPr wrap="none" anchor="ctr"/>
          <a:lstStyle>
            <a:lvl1pPr>
              <a:spcBef>
                <a:spcPct val="20000"/>
              </a:spcBef>
              <a:spcAft>
                <a:spcPct val="20000"/>
              </a:spcAft>
              <a:buClr>
                <a:srgbClr val="FDAD23"/>
              </a:buClr>
              <a:buChar char="•"/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  <a:lvl2pPr marL="742950" indent="-285750">
              <a:spcBef>
                <a:spcPct val="20000"/>
              </a:spcBef>
              <a:spcAft>
                <a:spcPct val="20000"/>
              </a:spcAft>
              <a:buClr>
                <a:srgbClr val="FDAD23"/>
              </a:buClr>
              <a:buChar char="–"/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2pPr>
            <a:lvl3pPr marL="1143000" indent="-228600">
              <a:spcBef>
                <a:spcPct val="20000"/>
              </a:spcBef>
              <a:spcAft>
                <a:spcPct val="20000"/>
              </a:spcAft>
              <a:buClr>
                <a:srgbClr val="FDAD23"/>
              </a:buClr>
              <a:buSzPct val="75000"/>
              <a:buChar char="•"/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DAD23"/>
              </a:buClr>
              <a:buFont typeface="Times New Roman" panose="02020603050405020304" pitchFamily="18" charset="0"/>
              <a:buChar char="–"/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DAD23"/>
              </a:buClr>
              <a:buChar char="»"/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DAD23"/>
              </a:buClr>
              <a:buChar char="»"/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DAD23"/>
              </a:buClr>
              <a:buChar char="»"/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DAD23"/>
              </a:buClr>
              <a:buChar char="»"/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DAD23"/>
              </a:buClr>
              <a:buChar char="»"/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endParaRPr lang="zh-CN" altLang="zh-CN" sz="280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4" name="Oval 6"/>
          <p:cNvSpPr>
            <a:spLocks noChangeArrowheads="1"/>
          </p:cNvSpPr>
          <p:nvPr/>
        </p:nvSpPr>
        <p:spPr bwMode="auto">
          <a:xfrm>
            <a:off x="6096000" y="2590800"/>
            <a:ext cx="533400" cy="533400"/>
          </a:xfrm>
          <a:prstGeom prst="ellipse">
            <a:avLst/>
          </a:prstGeom>
          <a:solidFill>
            <a:schemeClr val="bg1"/>
          </a:solidFill>
          <a:ln w="9525">
            <a:solidFill>
              <a:srgbClr val="000000"/>
            </a:solidFill>
            <a:round/>
          </a:ln>
        </p:spPr>
        <p:txBody>
          <a:bodyPr wrap="none" anchor="ctr"/>
          <a:lstStyle>
            <a:lvl1pPr>
              <a:spcBef>
                <a:spcPct val="20000"/>
              </a:spcBef>
              <a:spcAft>
                <a:spcPct val="20000"/>
              </a:spcAft>
              <a:buClr>
                <a:srgbClr val="FDAD23"/>
              </a:buClr>
              <a:buChar char="•"/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  <a:lvl2pPr marL="742950" indent="-285750">
              <a:spcBef>
                <a:spcPct val="20000"/>
              </a:spcBef>
              <a:spcAft>
                <a:spcPct val="20000"/>
              </a:spcAft>
              <a:buClr>
                <a:srgbClr val="FDAD23"/>
              </a:buClr>
              <a:buChar char="–"/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2pPr>
            <a:lvl3pPr marL="1143000" indent="-228600">
              <a:spcBef>
                <a:spcPct val="20000"/>
              </a:spcBef>
              <a:spcAft>
                <a:spcPct val="20000"/>
              </a:spcAft>
              <a:buClr>
                <a:srgbClr val="FDAD23"/>
              </a:buClr>
              <a:buSzPct val="75000"/>
              <a:buChar char="•"/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DAD23"/>
              </a:buClr>
              <a:buFont typeface="Times New Roman" panose="02020603050405020304" pitchFamily="18" charset="0"/>
              <a:buChar char="–"/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DAD23"/>
              </a:buClr>
              <a:buChar char="»"/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DAD23"/>
              </a:buClr>
              <a:buChar char="»"/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DAD23"/>
              </a:buClr>
              <a:buChar char="»"/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DAD23"/>
              </a:buClr>
              <a:buChar char="»"/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DAD23"/>
              </a:buClr>
              <a:buChar char="»"/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endParaRPr lang="zh-CN" altLang="zh-CN" sz="280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5" name="Line 7"/>
          <p:cNvSpPr>
            <a:spLocks noChangeShapeType="1"/>
          </p:cNvSpPr>
          <p:nvPr/>
        </p:nvSpPr>
        <p:spPr bwMode="auto">
          <a:xfrm>
            <a:off x="5562600" y="2286000"/>
            <a:ext cx="6096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6" name="Line 8"/>
          <p:cNvSpPr>
            <a:spLocks noChangeShapeType="1"/>
          </p:cNvSpPr>
          <p:nvPr/>
        </p:nvSpPr>
        <p:spPr bwMode="auto">
          <a:xfrm flipH="1">
            <a:off x="5562600" y="2971800"/>
            <a:ext cx="6096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7" name="Line 9"/>
          <p:cNvSpPr>
            <a:spLocks noChangeShapeType="1"/>
          </p:cNvSpPr>
          <p:nvPr/>
        </p:nvSpPr>
        <p:spPr bwMode="auto">
          <a:xfrm>
            <a:off x="5334000" y="2362200"/>
            <a:ext cx="0" cy="990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8" name="Freeform 10"/>
          <p:cNvSpPr/>
          <p:nvPr/>
        </p:nvSpPr>
        <p:spPr bwMode="auto">
          <a:xfrm>
            <a:off x="5486400" y="1447800"/>
            <a:ext cx="152400" cy="457200"/>
          </a:xfrm>
          <a:custGeom>
            <a:avLst/>
            <a:gdLst>
              <a:gd name="T0" fmla="*/ 2147483646 w 96"/>
              <a:gd name="T1" fmla="*/ 0 h 288"/>
              <a:gd name="T2" fmla="*/ 0 w 96"/>
              <a:gd name="T3" fmla="*/ 2147483646 h 288"/>
              <a:gd name="T4" fmla="*/ 2147483646 w 96"/>
              <a:gd name="T5" fmla="*/ 2147483646 h 288"/>
              <a:gd name="T6" fmla="*/ 0 w 96"/>
              <a:gd name="T7" fmla="*/ 2147483646 h 288"/>
              <a:gd name="T8" fmla="*/ 0 60000 65536"/>
              <a:gd name="T9" fmla="*/ 0 60000 65536"/>
              <a:gd name="T10" fmla="*/ 0 60000 65536"/>
              <a:gd name="T11" fmla="*/ 0 60000 65536"/>
              <a:gd name="T12" fmla="*/ 0 w 96"/>
              <a:gd name="T13" fmla="*/ 0 h 288"/>
              <a:gd name="T14" fmla="*/ 96 w 96"/>
              <a:gd name="T15" fmla="*/ 288 h 288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96" h="288">
                <a:moveTo>
                  <a:pt x="96" y="0"/>
                </a:moveTo>
                <a:cubicBezTo>
                  <a:pt x="48" y="32"/>
                  <a:pt x="0" y="64"/>
                  <a:pt x="0" y="96"/>
                </a:cubicBezTo>
                <a:cubicBezTo>
                  <a:pt x="0" y="128"/>
                  <a:pt x="96" y="160"/>
                  <a:pt x="96" y="192"/>
                </a:cubicBezTo>
                <a:cubicBezTo>
                  <a:pt x="96" y="224"/>
                  <a:pt x="16" y="272"/>
                  <a:pt x="0" y="288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 type="non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9" name="Freeform 11"/>
          <p:cNvSpPr/>
          <p:nvPr/>
        </p:nvSpPr>
        <p:spPr bwMode="auto">
          <a:xfrm>
            <a:off x="5257800" y="5410200"/>
            <a:ext cx="152400" cy="457200"/>
          </a:xfrm>
          <a:custGeom>
            <a:avLst/>
            <a:gdLst>
              <a:gd name="T0" fmla="*/ 2147483646 w 96"/>
              <a:gd name="T1" fmla="*/ 0 h 288"/>
              <a:gd name="T2" fmla="*/ 0 w 96"/>
              <a:gd name="T3" fmla="*/ 2147483646 h 288"/>
              <a:gd name="T4" fmla="*/ 2147483646 w 96"/>
              <a:gd name="T5" fmla="*/ 2147483646 h 288"/>
              <a:gd name="T6" fmla="*/ 0 w 96"/>
              <a:gd name="T7" fmla="*/ 2147483646 h 288"/>
              <a:gd name="T8" fmla="*/ 0 60000 65536"/>
              <a:gd name="T9" fmla="*/ 0 60000 65536"/>
              <a:gd name="T10" fmla="*/ 0 60000 65536"/>
              <a:gd name="T11" fmla="*/ 0 60000 65536"/>
              <a:gd name="T12" fmla="*/ 0 w 96"/>
              <a:gd name="T13" fmla="*/ 0 h 288"/>
              <a:gd name="T14" fmla="*/ 96 w 96"/>
              <a:gd name="T15" fmla="*/ 288 h 288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96" h="288">
                <a:moveTo>
                  <a:pt x="96" y="0"/>
                </a:moveTo>
                <a:cubicBezTo>
                  <a:pt x="48" y="32"/>
                  <a:pt x="0" y="64"/>
                  <a:pt x="0" y="96"/>
                </a:cubicBezTo>
                <a:cubicBezTo>
                  <a:pt x="0" y="128"/>
                  <a:pt x="96" y="160"/>
                  <a:pt x="96" y="192"/>
                </a:cubicBezTo>
                <a:cubicBezTo>
                  <a:pt x="96" y="224"/>
                  <a:pt x="16" y="272"/>
                  <a:pt x="0" y="288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 type="non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0" name="Oval 13"/>
          <p:cNvSpPr>
            <a:spLocks noChangeArrowheads="1"/>
          </p:cNvSpPr>
          <p:nvPr/>
        </p:nvSpPr>
        <p:spPr bwMode="auto">
          <a:xfrm>
            <a:off x="5105400" y="4876800"/>
            <a:ext cx="533400" cy="533400"/>
          </a:xfrm>
          <a:prstGeom prst="ellipse">
            <a:avLst/>
          </a:prstGeom>
          <a:solidFill>
            <a:schemeClr val="bg1"/>
          </a:solidFill>
          <a:ln w="9525">
            <a:solidFill>
              <a:srgbClr val="000000"/>
            </a:solidFill>
            <a:round/>
          </a:ln>
        </p:spPr>
        <p:txBody>
          <a:bodyPr wrap="none" anchor="ctr"/>
          <a:lstStyle>
            <a:lvl1pPr>
              <a:spcBef>
                <a:spcPct val="20000"/>
              </a:spcBef>
              <a:spcAft>
                <a:spcPct val="20000"/>
              </a:spcAft>
              <a:buClr>
                <a:srgbClr val="FDAD23"/>
              </a:buClr>
              <a:buChar char="•"/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  <a:lvl2pPr marL="742950" indent="-285750">
              <a:spcBef>
                <a:spcPct val="20000"/>
              </a:spcBef>
              <a:spcAft>
                <a:spcPct val="20000"/>
              </a:spcAft>
              <a:buClr>
                <a:srgbClr val="FDAD23"/>
              </a:buClr>
              <a:buChar char="–"/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2pPr>
            <a:lvl3pPr marL="1143000" indent="-228600">
              <a:spcBef>
                <a:spcPct val="20000"/>
              </a:spcBef>
              <a:spcAft>
                <a:spcPct val="20000"/>
              </a:spcAft>
              <a:buClr>
                <a:srgbClr val="FDAD23"/>
              </a:buClr>
              <a:buSzPct val="75000"/>
              <a:buChar char="•"/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DAD23"/>
              </a:buClr>
              <a:buFont typeface="Times New Roman" panose="02020603050405020304" pitchFamily="18" charset="0"/>
              <a:buChar char="–"/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DAD23"/>
              </a:buClr>
              <a:buChar char="»"/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DAD23"/>
              </a:buClr>
              <a:buChar char="»"/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DAD23"/>
              </a:buClr>
              <a:buChar char="»"/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DAD23"/>
              </a:buClr>
              <a:buChar char="»"/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DAD23"/>
              </a:buClr>
              <a:buChar char="»"/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endParaRPr lang="zh-CN" altLang="zh-CN" sz="280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1" name="Oval 14"/>
          <p:cNvSpPr>
            <a:spLocks noChangeArrowheads="1"/>
          </p:cNvSpPr>
          <p:nvPr/>
        </p:nvSpPr>
        <p:spPr bwMode="auto">
          <a:xfrm>
            <a:off x="6096000" y="4114800"/>
            <a:ext cx="533400" cy="5334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</a:ln>
        </p:spPr>
        <p:txBody>
          <a:bodyPr wrap="none" anchor="ctr"/>
          <a:lstStyle>
            <a:lvl1pPr>
              <a:spcBef>
                <a:spcPct val="20000"/>
              </a:spcBef>
              <a:spcAft>
                <a:spcPct val="20000"/>
              </a:spcAft>
              <a:buClr>
                <a:srgbClr val="FDAD23"/>
              </a:buClr>
              <a:buChar char="•"/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  <a:lvl2pPr marL="742950" indent="-285750">
              <a:spcBef>
                <a:spcPct val="20000"/>
              </a:spcBef>
              <a:spcAft>
                <a:spcPct val="20000"/>
              </a:spcAft>
              <a:buClr>
                <a:srgbClr val="FDAD23"/>
              </a:buClr>
              <a:buChar char="–"/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2pPr>
            <a:lvl3pPr marL="1143000" indent="-228600">
              <a:spcBef>
                <a:spcPct val="20000"/>
              </a:spcBef>
              <a:spcAft>
                <a:spcPct val="20000"/>
              </a:spcAft>
              <a:buClr>
                <a:srgbClr val="FDAD23"/>
              </a:buClr>
              <a:buSzPct val="75000"/>
              <a:buChar char="•"/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DAD23"/>
              </a:buClr>
              <a:buFont typeface="Times New Roman" panose="02020603050405020304" pitchFamily="18" charset="0"/>
              <a:buChar char="–"/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DAD23"/>
              </a:buClr>
              <a:buChar char="»"/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DAD23"/>
              </a:buClr>
              <a:buChar char="»"/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DAD23"/>
              </a:buClr>
              <a:buChar char="»"/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DAD23"/>
              </a:buClr>
              <a:buChar char="»"/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DAD23"/>
              </a:buClr>
              <a:buChar char="»"/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endParaRPr lang="zh-CN" altLang="zh-CN" sz="280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2" name="Line 15"/>
          <p:cNvSpPr>
            <a:spLocks noChangeShapeType="1"/>
          </p:cNvSpPr>
          <p:nvPr/>
        </p:nvSpPr>
        <p:spPr bwMode="auto">
          <a:xfrm>
            <a:off x="5562600" y="3810000"/>
            <a:ext cx="6096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3" name="Line 16"/>
          <p:cNvSpPr>
            <a:spLocks noChangeShapeType="1"/>
          </p:cNvSpPr>
          <p:nvPr/>
        </p:nvSpPr>
        <p:spPr bwMode="auto">
          <a:xfrm flipH="1">
            <a:off x="5562600" y="4495800"/>
            <a:ext cx="6096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4" name="Line 17"/>
          <p:cNvSpPr>
            <a:spLocks noChangeShapeType="1"/>
          </p:cNvSpPr>
          <p:nvPr/>
        </p:nvSpPr>
        <p:spPr bwMode="auto">
          <a:xfrm>
            <a:off x="5334000" y="3886200"/>
            <a:ext cx="0" cy="990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5" name="Text Box 20"/>
          <p:cNvSpPr txBox="1">
            <a:spLocks noChangeArrowheads="1"/>
          </p:cNvSpPr>
          <p:nvPr/>
        </p:nvSpPr>
        <p:spPr bwMode="auto">
          <a:xfrm>
            <a:off x="5105400" y="1905000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spcAft>
                <a:spcPct val="20000"/>
              </a:spcAft>
              <a:buClr>
                <a:srgbClr val="FDAD23"/>
              </a:buClr>
              <a:buChar char="•"/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  <a:lvl2pPr marL="742950" indent="-285750">
              <a:spcBef>
                <a:spcPct val="20000"/>
              </a:spcBef>
              <a:spcAft>
                <a:spcPct val="20000"/>
              </a:spcAft>
              <a:buClr>
                <a:srgbClr val="FDAD23"/>
              </a:buClr>
              <a:buChar char="–"/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2pPr>
            <a:lvl3pPr marL="1143000" indent="-228600">
              <a:spcBef>
                <a:spcPct val="20000"/>
              </a:spcBef>
              <a:spcAft>
                <a:spcPct val="20000"/>
              </a:spcAft>
              <a:buClr>
                <a:srgbClr val="FDAD23"/>
              </a:buClr>
              <a:buSzPct val="75000"/>
              <a:buChar char="•"/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DAD23"/>
              </a:buClr>
              <a:buFont typeface="Times New Roman" panose="02020603050405020304" pitchFamily="18" charset="0"/>
              <a:buChar char="–"/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DAD23"/>
              </a:buClr>
              <a:buChar char="»"/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DAD23"/>
              </a:buClr>
              <a:buChar char="»"/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DAD23"/>
              </a:buClr>
              <a:buChar char="»"/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DAD23"/>
              </a:buClr>
              <a:buChar char="»"/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DAD23"/>
              </a:buClr>
              <a:buChar char="»"/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spcAft>
                <a:spcPct val="0"/>
              </a:spcAft>
              <a:buClrTx/>
              <a:buFontTx/>
              <a:buNone/>
            </a:pPr>
            <a:r>
              <a: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endParaRPr lang="en-US" altLang="zh-CN" b="1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6" name="Text Box 22"/>
          <p:cNvSpPr txBox="1">
            <a:spLocks noChangeArrowheads="1"/>
          </p:cNvSpPr>
          <p:nvPr/>
        </p:nvSpPr>
        <p:spPr bwMode="auto">
          <a:xfrm>
            <a:off x="6172200" y="2667000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spcAft>
                <a:spcPct val="20000"/>
              </a:spcAft>
              <a:buClr>
                <a:srgbClr val="FDAD23"/>
              </a:buClr>
              <a:buChar char="•"/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  <a:lvl2pPr marL="742950" indent="-285750">
              <a:spcBef>
                <a:spcPct val="20000"/>
              </a:spcBef>
              <a:spcAft>
                <a:spcPct val="20000"/>
              </a:spcAft>
              <a:buClr>
                <a:srgbClr val="FDAD23"/>
              </a:buClr>
              <a:buChar char="–"/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2pPr>
            <a:lvl3pPr marL="1143000" indent="-228600">
              <a:spcBef>
                <a:spcPct val="20000"/>
              </a:spcBef>
              <a:spcAft>
                <a:spcPct val="20000"/>
              </a:spcAft>
              <a:buClr>
                <a:srgbClr val="FDAD23"/>
              </a:buClr>
              <a:buSzPct val="75000"/>
              <a:buChar char="•"/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DAD23"/>
              </a:buClr>
              <a:buFont typeface="Times New Roman" panose="02020603050405020304" pitchFamily="18" charset="0"/>
              <a:buChar char="–"/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DAD23"/>
              </a:buClr>
              <a:buChar char="»"/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DAD23"/>
              </a:buClr>
              <a:buChar char="»"/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DAD23"/>
              </a:buClr>
              <a:buChar char="»"/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DAD23"/>
              </a:buClr>
              <a:buChar char="»"/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DAD23"/>
              </a:buClr>
              <a:buChar char="»"/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spcAft>
                <a:spcPct val="0"/>
              </a:spcAft>
              <a:buClrTx/>
              <a:buFontTx/>
              <a:buNone/>
            </a:pPr>
            <a:r>
              <a:rPr lang="en-US" altLang="zh-CN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endParaRPr lang="en-US" altLang="zh-CN" b="1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7" name="Text Box 23"/>
          <p:cNvSpPr txBox="1">
            <a:spLocks noChangeArrowheads="1"/>
          </p:cNvSpPr>
          <p:nvPr/>
        </p:nvSpPr>
        <p:spPr bwMode="auto">
          <a:xfrm>
            <a:off x="5105400" y="3352800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spcAft>
                <a:spcPct val="20000"/>
              </a:spcAft>
              <a:buClr>
                <a:srgbClr val="FDAD23"/>
              </a:buClr>
              <a:buChar char="•"/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  <a:lvl2pPr marL="742950" indent="-285750">
              <a:spcBef>
                <a:spcPct val="20000"/>
              </a:spcBef>
              <a:spcAft>
                <a:spcPct val="20000"/>
              </a:spcAft>
              <a:buClr>
                <a:srgbClr val="FDAD23"/>
              </a:buClr>
              <a:buChar char="–"/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2pPr>
            <a:lvl3pPr marL="1143000" indent="-228600">
              <a:spcBef>
                <a:spcPct val="20000"/>
              </a:spcBef>
              <a:spcAft>
                <a:spcPct val="20000"/>
              </a:spcAft>
              <a:buClr>
                <a:srgbClr val="FDAD23"/>
              </a:buClr>
              <a:buSzPct val="75000"/>
              <a:buChar char="•"/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DAD23"/>
              </a:buClr>
              <a:buFont typeface="Times New Roman" panose="02020603050405020304" pitchFamily="18" charset="0"/>
              <a:buChar char="–"/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DAD23"/>
              </a:buClr>
              <a:buChar char="»"/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DAD23"/>
              </a:buClr>
              <a:buChar char="»"/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DAD23"/>
              </a:buClr>
              <a:buChar char="»"/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DAD23"/>
              </a:buClr>
              <a:buChar char="»"/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DAD23"/>
              </a:buClr>
              <a:buChar char="»"/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spcAft>
                <a:spcPct val="0"/>
              </a:spcAft>
              <a:buClrTx/>
              <a:buFontTx/>
              <a:buNone/>
            </a:pPr>
            <a:r>
              <a:rPr lang="en-US" altLang="zh-CN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3</a:t>
            </a:r>
            <a:endParaRPr lang="en-US" altLang="zh-CN" b="1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8" name="Text Box 24"/>
          <p:cNvSpPr txBox="1">
            <a:spLocks noChangeArrowheads="1"/>
          </p:cNvSpPr>
          <p:nvPr/>
        </p:nvSpPr>
        <p:spPr bwMode="auto">
          <a:xfrm>
            <a:off x="6172200" y="4114800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spcAft>
                <a:spcPct val="20000"/>
              </a:spcAft>
              <a:buClr>
                <a:srgbClr val="FDAD23"/>
              </a:buClr>
              <a:buChar char="•"/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  <a:lvl2pPr marL="742950" indent="-285750">
              <a:spcBef>
                <a:spcPct val="20000"/>
              </a:spcBef>
              <a:spcAft>
                <a:spcPct val="20000"/>
              </a:spcAft>
              <a:buClr>
                <a:srgbClr val="FDAD23"/>
              </a:buClr>
              <a:buChar char="–"/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2pPr>
            <a:lvl3pPr marL="1143000" indent="-228600">
              <a:spcBef>
                <a:spcPct val="20000"/>
              </a:spcBef>
              <a:spcAft>
                <a:spcPct val="20000"/>
              </a:spcAft>
              <a:buClr>
                <a:srgbClr val="FDAD23"/>
              </a:buClr>
              <a:buSzPct val="75000"/>
              <a:buChar char="•"/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DAD23"/>
              </a:buClr>
              <a:buFont typeface="Times New Roman" panose="02020603050405020304" pitchFamily="18" charset="0"/>
              <a:buChar char="–"/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DAD23"/>
              </a:buClr>
              <a:buChar char="»"/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DAD23"/>
              </a:buClr>
              <a:buChar char="»"/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DAD23"/>
              </a:buClr>
              <a:buChar char="»"/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DAD23"/>
              </a:buClr>
              <a:buChar char="»"/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DAD23"/>
              </a:buClr>
              <a:buChar char="»"/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spcAft>
                <a:spcPct val="0"/>
              </a:spcAft>
              <a:buClrTx/>
              <a:buFontTx/>
              <a:buNone/>
            </a:pPr>
            <a:r>
              <a:rPr lang="en-US" altLang="zh-CN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4</a:t>
            </a:r>
            <a:endParaRPr lang="en-US" altLang="zh-CN" b="1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9" name="Text Box 25"/>
          <p:cNvSpPr txBox="1">
            <a:spLocks noChangeArrowheads="1"/>
          </p:cNvSpPr>
          <p:nvPr/>
        </p:nvSpPr>
        <p:spPr bwMode="auto">
          <a:xfrm>
            <a:off x="5105400" y="4876800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spcAft>
                <a:spcPct val="20000"/>
              </a:spcAft>
              <a:buClr>
                <a:srgbClr val="FDAD23"/>
              </a:buClr>
              <a:buChar char="•"/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  <a:lvl2pPr marL="742950" indent="-285750">
              <a:spcBef>
                <a:spcPct val="20000"/>
              </a:spcBef>
              <a:spcAft>
                <a:spcPct val="20000"/>
              </a:spcAft>
              <a:buClr>
                <a:srgbClr val="FDAD23"/>
              </a:buClr>
              <a:buChar char="–"/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2pPr>
            <a:lvl3pPr marL="1143000" indent="-228600">
              <a:spcBef>
                <a:spcPct val="20000"/>
              </a:spcBef>
              <a:spcAft>
                <a:spcPct val="20000"/>
              </a:spcAft>
              <a:buClr>
                <a:srgbClr val="FDAD23"/>
              </a:buClr>
              <a:buSzPct val="75000"/>
              <a:buChar char="•"/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DAD23"/>
              </a:buClr>
              <a:buFont typeface="Times New Roman" panose="02020603050405020304" pitchFamily="18" charset="0"/>
              <a:buChar char="–"/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DAD23"/>
              </a:buClr>
              <a:buChar char="»"/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DAD23"/>
              </a:buClr>
              <a:buChar char="»"/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DAD23"/>
              </a:buClr>
              <a:buChar char="»"/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DAD23"/>
              </a:buClr>
              <a:buChar char="»"/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DAD23"/>
              </a:buClr>
              <a:buChar char="»"/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spcAft>
                <a:spcPct val="0"/>
              </a:spcAft>
              <a:buClrTx/>
              <a:buFontTx/>
              <a:buNone/>
            </a:pPr>
            <a:r>
              <a:rPr lang="en-US" altLang="zh-CN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5</a:t>
            </a:r>
            <a:endParaRPr lang="en-US" altLang="zh-CN" b="1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80" name="Text Box 26"/>
          <p:cNvSpPr txBox="1">
            <a:spLocks noChangeArrowheads="1"/>
          </p:cNvSpPr>
          <p:nvPr/>
        </p:nvSpPr>
        <p:spPr bwMode="auto">
          <a:xfrm>
            <a:off x="5715000" y="1676400"/>
            <a:ext cx="1752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spcAft>
                <a:spcPct val="20000"/>
              </a:spcAft>
              <a:buClr>
                <a:srgbClr val="FDAD23"/>
              </a:buClr>
              <a:buChar char="•"/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  <a:lvl2pPr marL="742950" indent="-285750">
              <a:spcBef>
                <a:spcPct val="20000"/>
              </a:spcBef>
              <a:spcAft>
                <a:spcPct val="20000"/>
              </a:spcAft>
              <a:buClr>
                <a:srgbClr val="FDAD23"/>
              </a:buClr>
              <a:buChar char="–"/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2pPr>
            <a:lvl3pPr marL="1143000" indent="-228600">
              <a:spcBef>
                <a:spcPct val="20000"/>
              </a:spcBef>
              <a:spcAft>
                <a:spcPct val="20000"/>
              </a:spcAft>
              <a:buClr>
                <a:srgbClr val="FDAD23"/>
              </a:buClr>
              <a:buSzPct val="75000"/>
              <a:buChar char="•"/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DAD23"/>
              </a:buClr>
              <a:buFont typeface="Times New Roman" panose="02020603050405020304" pitchFamily="18" charset="0"/>
              <a:buChar char="–"/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DAD23"/>
              </a:buClr>
              <a:buChar char="»"/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DAD23"/>
              </a:buClr>
              <a:buChar char="»"/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DAD23"/>
              </a:buClr>
              <a:buChar char="»"/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DAD23"/>
              </a:buClr>
              <a:buChar char="»"/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DAD23"/>
              </a:buClr>
              <a:buChar char="»"/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spcAft>
                <a:spcPct val="0"/>
              </a:spcAft>
              <a:buClrTx/>
              <a:buFontTx/>
              <a:buNone/>
            </a:pPr>
            <a:r>
              <a:rPr lang="en-US" altLang="zh-CN" sz="2000" dirty="0">
                <a:solidFill>
                  <a:schemeClr val="tx1"/>
                </a:solidFill>
                <a:ea typeface="宋体" panose="02010600030101010101" pitchFamily="2" charset="-122"/>
              </a:rPr>
              <a:t>input(A,B)</a:t>
            </a:r>
            <a:endParaRPr lang="en-US" altLang="zh-CN" sz="200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81" name="Text Box 27"/>
          <p:cNvSpPr txBox="1">
            <a:spLocks noChangeArrowheads="1"/>
          </p:cNvSpPr>
          <p:nvPr/>
        </p:nvSpPr>
        <p:spPr bwMode="auto">
          <a:xfrm>
            <a:off x="6629400" y="2667000"/>
            <a:ext cx="1752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spcAft>
                <a:spcPct val="20000"/>
              </a:spcAft>
              <a:buClr>
                <a:srgbClr val="FDAD23"/>
              </a:buClr>
              <a:buChar char="•"/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  <a:lvl2pPr marL="742950" indent="-285750">
              <a:spcBef>
                <a:spcPct val="20000"/>
              </a:spcBef>
              <a:spcAft>
                <a:spcPct val="20000"/>
              </a:spcAft>
              <a:buClr>
                <a:srgbClr val="FDAD23"/>
              </a:buClr>
              <a:buChar char="–"/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2pPr>
            <a:lvl3pPr marL="1143000" indent="-228600">
              <a:spcBef>
                <a:spcPct val="20000"/>
              </a:spcBef>
              <a:spcAft>
                <a:spcPct val="20000"/>
              </a:spcAft>
              <a:buClr>
                <a:srgbClr val="FDAD23"/>
              </a:buClr>
              <a:buSzPct val="75000"/>
              <a:buChar char="•"/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DAD23"/>
              </a:buClr>
              <a:buFont typeface="Times New Roman" panose="02020603050405020304" pitchFamily="18" charset="0"/>
              <a:buChar char="–"/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DAD23"/>
              </a:buClr>
              <a:buChar char="»"/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DAD23"/>
              </a:buClr>
              <a:buChar char="»"/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DAD23"/>
              </a:buClr>
              <a:buChar char="»"/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DAD23"/>
              </a:buClr>
              <a:buChar char="»"/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DAD23"/>
              </a:buClr>
              <a:buChar char="»"/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spcAft>
                <a:spcPct val="0"/>
              </a:spcAft>
              <a:buClrTx/>
              <a:buFontTx/>
              <a:buNone/>
            </a:pPr>
            <a:r>
              <a:rPr lang="en-US" altLang="zh-CN" sz="2000" dirty="0">
                <a:solidFill>
                  <a:schemeClr val="tx1"/>
                </a:solidFill>
                <a:ea typeface="宋体" panose="02010600030101010101" pitchFamily="2" charset="-122"/>
              </a:rPr>
              <a:t>A := A+7</a:t>
            </a:r>
            <a:endParaRPr lang="en-US" altLang="zh-CN" sz="200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82" name="Text Box 28"/>
          <p:cNvSpPr txBox="1">
            <a:spLocks noChangeArrowheads="1"/>
          </p:cNvSpPr>
          <p:nvPr/>
        </p:nvSpPr>
        <p:spPr bwMode="auto">
          <a:xfrm>
            <a:off x="6629400" y="4114800"/>
            <a:ext cx="14478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spcAft>
                <a:spcPct val="20000"/>
              </a:spcAft>
              <a:buClr>
                <a:srgbClr val="FDAD23"/>
              </a:buClr>
              <a:buChar char="•"/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  <a:lvl2pPr marL="742950" indent="-285750">
              <a:spcBef>
                <a:spcPct val="20000"/>
              </a:spcBef>
              <a:spcAft>
                <a:spcPct val="20000"/>
              </a:spcAft>
              <a:buClr>
                <a:srgbClr val="FDAD23"/>
              </a:buClr>
              <a:buChar char="–"/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2pPr>
            <a:lvl3pPr marL="1143000" indent="-228600">
              <a:spcBef>
                <a:spcPct val="20000"/>
              </a:spcBef>
              <a:spcAft>
                <a:spcPct val="20000"/>
              </a:spcAft>
              <a:buClr>
                <a:srgbClr val="FDAD23"/>
              </a:buClr>
              <a:buSzPct val="75000"/>
              <a:buChar char="•"/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DAD23"/>
              </a:buClr>
              <a:buFont typeface="Times New Roman" panose="02020603050405020304" pitchFamily="18" charset="0"/>
              <a:buChar char="–"/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DAD23"/>
              </a:buClr>
              <a:buChar char="»"/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DAD23"/>
              </a:buClr>
              <a:buChar char="»"/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DAD23"/>
              </a:buClr>
              <a:buChar char="»"/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DAD23"/>
              </a:buClr>
              <a:buChar char="»"/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DAD23"/>
              </a:buClr>
              <a:buChar char="»"/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spcAft>
                <a:spcPct val="0"/>
              </a:spcAft>
              <a:buClrTx/>
              <a:buFontTx/>
              <a:buNone/>
            </a:pPr>
            <a:r>
              <a:rPr lang="en-US" altLang="zh-CN" sz="2000" dirty="0">
                <a:solidFill>
                  <a:schemeClr val="tx1"/>
                </a:solidFill>
                <a:ea typeface="宋体" panose="02010600030101010101" pitchFamily="2" charset="-122"/>
              </a:rPr>
              <a:t>B := A+B</a:t>
            </a:r>
            <a:endParaRPr lang="en-US" altLang="zh-CN" sz="200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83" name="Text Box 29"/>
          <p:cNvSpPr txBox="1">
            <a:spLocks noChangeArrowheads="1"/>
          </p:cNvSpPr>
          <p:nvPr/>
        </p:nvSpPr>
        <p:spPr bwMode="auto">
          <a:xfrm>
            <a:off x="5791200" y="2133600"/>
            <a:ext cx="8382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spcAft>
                <a:spcPct val="20000"/>
              </a:spcAft>
              <a:buClr>
                <a:srgbClr val="FDAD23"/>
              </a:buClr>
              <a:buChar char="•"/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  <a:lvl2pPr marL="742950" indent="-285750">
              <a:spcBef>
                <a:spcPct val="20000"/>
              </a:spcBef>
              <a:spcAft>
                <a:spcPct val="20000"/>
              </a:spcAft>
              <a:buClr>
                <a:srgbClr val="FDAD23"/>
              </a:buClr>
              <a:buChar char="–"/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2pPr>
            <a:lvl3pPr marL="1143000" indent="-228600">
              <a:spcBef>
                <a:spcPct val="20000"/>
              </a:spcBef>
              <a:spcAft>
                <a:spcPct val="20000"/>
              </a:spcAft>
              <a:buClr>
                <a:srgbClr val="FDAD23"/>
              </a:buClr>
              <a:buSzPct val="75000"/>
              <a:buChar char="•"/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DAD23"/>
              </a:buClr>
              <a:buFont typeface="Times New Roman" panose="02020603050405020304" pitchFamily="18" charset="0"/>
              <a:buChar char="–"/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DAD23"/>
              </a:buClr>
              <a:buChar char="»"/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DAD23"/>
              </a:buClr>
              <a:buChar char="»"/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DAD23"/>
              </a:buClr>
              <a:buChar char="»"/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DAD23"/>
              </a:buClr>
              <a:buChar char="»"/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DAD23"/>
              </a:buClr>
              <a:buChar char="»"/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spcAft>
                <a:spcPct val="0"/>
              </a:spcAft>
              <a:buClrTx/>
              <a:buFontTx/>
              <a:buNone/>
            </a:pPr>
            <a:r>
              <a:rPr lang="en-US" altLang="zh-CN" sz="2000" dirty="0">
                <a:solidFill>
                  <a:schemeClr val="tx1"/>
                </a:solidFill>
                <a:ea typeface="宋体" panose="02010600030101010101" pitchFamily="2" charset="-122"/>
              </a:rPr>
              <a:t>B&gt;1</a:t>
            </a:r>
            <a:endParaRPr lang="en-US" altLang="zh-CN" sz="200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84" name="Text Box 30"/>
          <p:cNvSpPr txBox="1">
            <a:spLocks noChangeArrowheads="1"/>
          </p:cNvSpPr>
          <p:nvPr/>
        </p:nvSpPr>
        <p:spPr bwMode="auto">
          <a:xfrm>
            <a:off x="4724400" y="2667000"/>
            <a:ext cx="6858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spcAft>
                <a:spcPct val="20000"/>
              </a:spcAft>
              <a:buClr>
                <a:srgbClr val="FDAD23"/>
              </a:buClr>
              <a:buChar char="•"/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  <a:lvl2pPr marL="742950" indent="-285750">
              <a:spcBef>
                <a:spcPct val="20000"/>
              </a:spcBef>
              <a:spcAft>
                <a:spcPct val="20000"/>
              </a:spcAft>
              <a:buClr>
                <a:srgbClr val="FDAD23"/>
              </a:buClr>
              <a:buChar char="–"/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2pPr>
            <a:lvl3pPr marL="1143000" indent="-228600">
              <a:spcBef>
                <a:spcPct val="20000"/>
              </a:spcBef>
              <a:spcAft>
                <a:spcPct val="20000"/>
              </a:spcAft>
              <a:buClr>
                <a:srgbClr val="FDAD23"/>
              </a:buClr>
              <a:buSzPct val="75000"/>
              <a:buChar char="•"/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DAD23"/>
              </a:buClr>
              <a:buFont typeface="Times New Roman" panose="02020603050405020304" pitchFamily="18" charset="0"/>
              <a:buChar char="–"/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DAD23"/>
              </a:buClr>
              <a:buChar char="»"/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DAD23"/>
              </a:buClr>
              <a:buChar char="»"/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DAD23"/>
              </a:buClr>
              <a:buChar char="»"/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DAD23"/>
              </a:buClr>
              <a:buChar char="»"/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DAD23"/>
              </a:buClr>
              <a:buChar char="»"/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spcAft>
                <a:spcPct val="0"/>
              </a:spcAft>
              <a:buClrTx/>
              <a:buFontTx/>
              <a:buNone/>
            </a:pPr>
            <a:r>
              <a:rPr lang="en-US" altLang="zh-CN" sz="2000" dirty="0">
                <a:solidFill>
                  <a:schemeClr val="tx1"/>
                </a:solidFill>
                <a:ea typeface="宋体" panose="02010600030101010101" pitchFamily="2" charset="-122"/>
              </a:rPr>
              <a:t>B</a:t>
            </a:r>
            <a:r>
              <a:rPr lang="en-US" altLang="zh-CN" sz="2000" dirty="0">
                <a:solidFill>
                  <a:schemeClr val="tx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</a:t>
            </a:r>
            <a:r>
              <a:rPr lang="en-US" altLang="zh-CN" sz="2000" dirty="0">
                <a:solidFill>
                  <a:schemeClr val="tx1"/>
                </a:solidFill>
                <a:ea typeface="宋体" panose="02010600030101010101" pitchFamily="2" charset="-122"/>
              </a:rPr>
              <a:t>1</a:t>
            </a:r>
            <a:endParaRPr lang="en-US" altLang="zh-CN" sz="200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85" name="Text Box 31"/>
          <p:cNvSpPr txBox="1">
            <a:spLocks noChangeArrowheads="1"/>
          </p:cNvSpPr>
          <p:nvPr/>
        </p:nvSpPr>
        <p:spPr bwMode="auto">
          <a:xfrm>
            <a:off x="5791200" y="3657600"/>
            <a:ext cx="8382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spcAft>
                <a:spcPct val="20000"/>
              </a:spcAft>
              <a:buClr>
                <a:srgbClr val="FDAD23"/>
              </a:buClr>
              <a:buChar char="•"/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  <a:lvl2pPr marL="742950" indent="-285750">
              <a:spcBef>
                <a:spcPct val="20000"/>
              </a:spcBef>
              <a:spcAft>
                <a:spcPct val="20000"/>
              </a:spcAft>
              <a:buClr>
                <a:srgbClr val="FDAD23"/>
              </a:buClr>
              <a:buChar char="–"/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2pPr>
            <a:lvl3pPr marL="1143000" indent="-228600">
              <a:spcBef>
                <a:spcPct val="20000"/>
              </a:spcBef>
              <a:spcAft>
                <a:spcPct val="20000"/>
              </a:spcAft>
              <a:buClr>
                <a:srgbClr val="FDAD23"/>
              </a:buClr>
              <a:buSzPct val="75000"/>
              <a:buChar char="•"/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DAD23"/>
              </a:buClr>
              <a:buFont typeface="Times New Roman" panose="02020603050405020304" pitchFamily="18" charset="0"/>
              <a:buChar char="–"/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DAD23"/>
              </a:buClr>
              <a:buChar char="»"/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DAD23"/>
              </a:buClr>
              <a:buChar char="»"/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DAD23"/>
              </a:buClr>
              <a:buChar char="»"/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DAD23"/>
              </a:buClr>
              <a:buChar char="»"/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DAD23"/>
              </a:buClr>
              <a:buChar char="»"/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spcAft>
                <a:spcPct val="0"/>
              </a:spcAft>
              <a:buClrTx/>
              <a:buFontTx/>
              <a:buNone/>
            </a:pPr>
            <a:r>
              <a:rPr lang="en-US" altLang="zh-CN" sz="2000" dirty="0">
                <a:solidFill>
                  <a:schemeClr val="tx1"/>
                </a:solidFill>
                <a:ea typeface="宋体" panose="02010600030101010101" pitchFamily="2" charset="-122"/>
              </a:rPr>
              <a:t>A&gt;10</a:t>
            </a:r>
            <a:endParaRPr lang="en-US" altLang="zh-CN" sz="200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86" name="Text Box 32"/>
          <p:cNvSpPr txBox="1">
            <a:spLocks noChangeArrowheads="1"/>
          </p:cNvSpPr>
          <p:nvPr/>
        </p:nvSpPr>
        <p:spPr bwMode="auto">
          <a:xfrm>
            <a:off x="4495800" y="4114800"/>
            <a:ext cx="8382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spcAft>
                <a:spcPct val="20000"/>
              </a:spcAft>
              <a:buClr>
                <a:srgbClr val="FDAD23"/>
              </a:buClr>
              <a:buChar char="•"/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  <a:lvl2pPr marL="742950" indent="-285750">
              <a:spcBef>
                <a:spcPct val="20000"/>
              </a:spcBef>
              <a:spcAft>
                <a:spcPct val="20000"/>
              </a:spcAft>
              <a:buClr>
                <a:srgbClr val="FDAD23"/>
              </a:buClr>
              <a:buChar char="–"/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2pPr>
            <a:lvl3pPr marL="1143000" indent="-228600">
              <a:spcBef>
                <a:spcPct val="20000"/>
              </a:spcBef>
              <a:spcAft>
                <a:spcPct val="20000"/>
              </a:spcAft>
              <a:buClr>
                <a:srgbClr val="FDAD23"/>
              </a:buClr>
              <a:buSzPct val="75000"/>
              <a:buChar char="•"/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DAD23"/>
              </a:buClr>
              <a:buFont typeface="Times New Roman" panose="02020603050405020304" pitchFamily="18" charset="0"/>
              <a:buChar char="–"/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DAD23"/>
              </a:buClr>
              <a:buChar char="»"/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DAD23"/>
              </a:buClr>
              <a:buChar char="»"/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DAD23"/>
              </a:buClr>
              <a:buChar char="»"/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DAD23"/>
              </a:buClr>
              <a:buChar char="»"/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DAD23"/>
              </a:buClr>
              <a:buChar char="»"/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spcAft>
                <a:spcPct val="0"/>
              </a:spcAft>
              <a:buClrTx/>
              <a:buFontTx/>
              <a:buNone/>
            </a:pPr>
            <a:r>
              <a:rPr lang="en-US" altLang="zh-CN" sz="2000" dirty="0">
                <a:solidFill>
                  <a:schemeClr val="tx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A</a:t>
            </a:r>
            <a:r>
              <a:rPr lang="en-US" altLang="zh-CN" sz="2000" dirty="0">
                <a:solidFill>
                  <a:schemeClr val="tx1"/>
                </a:solidFill>
                <a:ea typeface="宋体" panose="02010600030101010101" pitchFamily="2" charset="-122"/>
              </a:rPr>
              <a:t>10</a:t>
            </a:r>
            <a:endParaRPr lang="en-US" altLang="zh-CN" sz="200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87" name="Text Box 33"/>
          <p:cNvSpPr txBox="1">
            <a:spLocks noChangeArrowheads="1"/>
          </p:cNvSpPr>
          <p:nvPr/>
        </p:nvSpPr>
        <p:spPr bwMode="auto">
          <a:xfrm>
            <a:off x="5638800" y="5029200"/>
            <a:ext cx="1752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spcAft>
                <a:spcPct val="20000"/>
              </a:spcAft>
              <a:buClr>
                <a:srgbClr val="FDAD23"/>
              </a:buClr>
              <a:buChar char="•"/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  <a:lvl2pPr marL="742950" indent="-285750">
              <a:spcBef>
                <a:spcPct val="20000"/>
              </a:spcBef>
              <a:spcAft>
                <a:spcPct val="20000"/>
              </a:spcAft>
              <a:buClr>
                <a:srgbClr val="FDAD23"/>
              </a:buClr>
              <a:buChar char="–"/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2pPr>
            <a:lvl3pPr marL="1143000" indent="-228600">
              <a:spcBef>
                <a:spcPct val="20000"/>
              </a:spcBef>
              <a:spcAft>
                <a:spcPct val="20000"/>
              </a:spcAft>
              <a:buClr>
                <a:srgbClr val="FDAD23"/>
              </a:buClr>
              <a:buSzPct val="75000"/>
              <a:buChar char="•"/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DAD23"/>
              </a:buClr>
              <a:buFont typeface="Times New Roman" panose="02020603050405020304" pitchFamily="18" charset="0"/>
              <a:buChar char="–"/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DAD23"/>
              </a:buClr>
              <a:buChar char="»"/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DAD23"/>
              </a:buClr>
              <a:buChar char="»"/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DAD23"/>
              </a:buClr>
              <a:buChar char="»"/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DAD23"/>
              </a:buClr>
              <a:buChar char="»"/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DAD23"/>
              </a:buClr>
              <a:buChar char="»"/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spcAft>
                <a:spcPct val="0"/>
              </a:spcAft>
              <a:buClrTx/>
              <a:buFontTx/>
              <a:buNone/>
            </a:pPr>
            <a:r>
              <a:rPr lang="en-US" altLang="zh-CN" sz="2000" dirty="0">
                <a:solidFill>
                  <a:schemeClr val="tx1"/>
                </a:solidFill>
                <a:ea typeface="宋体" panose="02010600030101010101" pitchFamily="2" charset="-122"/>
              </a:rPr>
              <a:t>output(A,B)</a:t>
            </a:r>
            <a:endParaRPr lang="en-US" altLang="zh-CN" sz="200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Identifying DU-Pairs – Variable A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86A48D-B8D4-430A-AE1C-E921A6F75A10}" type="slidenum">
              <a:rPr lang="zh-CN" altLang="en-US" smtClean="0"/>
            </a:fld>
            <a:endParaRPr lang="zh-CN" altLang="en-US"/>
          </a:p>
        </p:txBody>
      </p:sp>
      <p:graphicFrame>
        <p:nvGraphicFramePr>
          <p:cNvPr id="7" name="Group 121"/>
          <p:cNvGraphicFramePr/>
          <p:nvPr/>
        </p:nvGraphicFramePr>
        <p:xfrm>
          <a:off x="685800" y="1447800"/>
          <a:ext cx="3124200" cy="4691063"/>
        </p:xfrm>
        <a:graphic>
          <a:graphicData uri="http://schemas.openxmlformats.org/drawingml/2006/table">
            <a:tbl>
              <a:tblPr/>
              <a:tblGrid>
                <a:gridCol w="1524000"/>
                <a:gridCol w="1600200"/>
              </a:tblGrid>
              <a:tr h="3657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buSzTx/>
                        <a:buFontTx/>
                        <a:buNone/>
                      </a:pPr>
                      <a:r>
                        <a:rPr kumimoji="0" lang="en-US" sz="2000" b="1" i="0" u="sng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anose="020B0604030504040204" pitchFamily="34" charset="0"/>
                        </a:rPr>
                        <a:t>du-pair</a:t>
                      </a:r>
                      <a:endParaRPr kumimoji="0" lang="en-US" sz="2000" b="1" i="0" u="sng" strike="noStrike" cap="none" normalizeH="0" baseline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T="45722" marB="4572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buSzTx/>
                        <a:buFontTx/>
                        <a:buNone/>
                      </a:pPr>
                      <a:r>
                        <a:rPr kumimoji="0" lang="en-US" sz="2000" b="1" i="0" u="sng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anose="020B0604030504040204" pitchFamily="34" charset="0"/>
                        </a:rPr>
                        <a:t>path(s)</a:t>
                      </a:r>
                      <a:endParaRPr kumimoji="0" lang="en-US" sz="2000" b="1" i="0" u="sng" strike="noStrike" cap="none" normalizeH="0" baseline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T="45722" marB="4572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</a:tr>
              <a:tr h="39320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buSzTx/>
                        <a:buFontTx/>
                        <a:buNone/>
                      </a:pPr>
                      <a:r>
                        <a:rPr kumimoji="0" lang="en-US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entury Gothic" panose="020B0502020202020204" pitchFamily="34" charset="0"/>
                        </a:rPr>
                        <a:t>(1,2)        </a:t>
                      </a:r>
                      <a:endParaRPr kumimoji="0" lang="en-US" sz="2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T="45722" marB="4572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buSzTx/>
                        <a:buFontTx/>
                        <a:buNone/>
                      </a:pPr>
                      <a:r>
                        <a:rPr kumimoji="0" lang="en-US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entury Gothic" panose="020B0502020202020204" pitchFamily="34" charset="0"/>
                        </a:rPr>
                        <a:t>&lt;1,2&gt;</a:t>
                      </a:r>
                      <a:endParaRPr kumimoji="0" lang="en-US" sz="2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T="45722" marB="4572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</a:tr>
              <a:tr h="39320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buSzTx/>
                        <a:buFontTx/>
                        <a:buNone/>
                      </a:pPr>
                      <a:r>
                        <a:rPr kumimoji="0" lang="en-US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entury Gothic" panose="020B0502020202020204" pitchFamily="34" charset="0"/>
                        </a:rPr>
                        <a:t>(1,4)         </a:t>
                      </a:r>
                      <a:endParaRPr kumimoji="0" lang="en-US" sz="2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T="45722" marB="4572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buSzTx/>
                        <a:buFontTx/>
                        <a:buNone/>
                      </a:pPr>
                      <a:r>
                        <a:rPr kumimoji="0" lang="en-US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entury Gothic" panose="020B0502020202020204" pitchFamily="34" charset="0"/>
                        </a:rPr>
                        <a:t>&lt;1,3,4&gt;</a:t>
                      </a:r>
                      <a:endParaRPr kumimoji="0" lang="en-US" sz="2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T="45722" marB="4572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</a:tr>
              <a:tr h="39320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buSzTx/>
                        <a:buFontTx/>
                        <a:buNone/>
                      </a:pPr>
                      <a:r>
                        <a:rPr kumimoji="0" lang="en-US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entury Gothic" panose="020B0502020202020204" pitchFamily="34" charset="0"/>
                        </a:rPr>
                        <a:t>(1,5)         </a:t>
                      </a:r>
                      <a:endParaRPr kumimoji="0" lang="en-US" sz="2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T="45722" marB="4572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buSzTx/>
                        <a:buFontTx/>
                        <a:buNone/>
                      </a:pPr>
                      <a:r>
                        <a:rPr kumimoji="0" lang="en-US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entury Gothic" panose="020B0502020202020204" pitchFamily="34" charset="0"/>
                        </a:rPr>
                        <a:t>&lt;1,3,4,5&gt;</a:t>
                      </a:r>
                      <a:endParaRPr kumimoji="0" lang="en-US" sz="2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T="45722" marB="4572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</a:tr>
              <a:tr h="39320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buSzTx/>
                        <a:buFontTx/>
                        <a:buNone/>
                      </a:pPr>
                      <a:r>
                        <a:rPr kumimoji="0" lang="en-US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entury Gothic" panose="020B0502020202020204" pitchFamily="34" charset="0"/>
                        </a:rPr>
                        <a:t>                 </a:t>
                      </a:r>
                      <a:endParaRPr kumimoji="0" lang="en-US" sz="2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T="45722" marB="4572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buSzTx/>
                        <a:buFontTx/>
                        <a:buNone/>
                      </a:pPr>
                      <a:r>
                        <a:rPr kumimoji="0" lang="en-US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entury Gothic" panose="020B0502020202020204" pitchFamily="34" charset="0"/>
                        </a:rPr>
                        <a:t>&lt;1,3,5&gt;</a:t>
                      </a:r>
                      <a:endParaRPr kumimoji="0" lang="en-US" sz="2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T="45722" marB="4572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</a:tr>
              <a:tr h="39320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buSzTx/>
                        <a:buFontTx/>
                        <a:buNone/>
                      </a:pPr>
                      <a:r>
                        <a:rPr kumimoji="0" lang="en-US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entury Gothic" panose="020B0502020202020204" pitchFamily="34" charset="0"/>
                        </a:rPr>
                        <a:t>(1,&lt;3,4&gt;)</a:t>
                      </a:r>
                      <a:endParaRPr kumimoji="0" lang="en-US" sz="2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T="45722" marB="4572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buSzTx/>
                        <a:buFontTx/>
                        <a:buNone/>
                      </a:pPr>
                      <a:r>
                        <a:rPr kumimoji="0" lang="en-US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entury Gothic" panose="020B0502020202020204" pitchFamily="34" charset="0"/>
                        </a:rPr>
                        <a:t>&lt;1,3,4&gt;</a:t>
                      </a:r>
                      <a:endParaRPr kumimoji="0" lang="en-US" sz="2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T="45722" marB="4572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</a:tr>
              <a:tr h="39320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buSzTx/>
                        <a:buFontTx/>
                        <a:buNone/>
                      </a:pPr>
                      <a:r>
                        <a:rPr kumimoji="0" lang="en-US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entury Gothic" panose="020B0502020202020204" pitchFamily="34" charset="0"/>
                        </a:rPr>
                        <a:t>(1,&lt;3,5&gt;)</a:t>
                      </a:r>
                      <a:endParaRPr kumimoji="0" lang="en-US" sz="2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T="45722" marB="4572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buSzTx/>
                        <a:buFontTx/>
                        <a:buNone/>
                      </a:pPr>
                      <a:r>
                        <a:rPr kumimoji="0" lang="en-US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entury Gothic" panose="020B0502020202020204" pitchFamily="34" charset="0"/>
                        </a:rPr>
                        <a:t>&lt;1,3,5&gt;</a:t>
                      </a:r>
                      <a:endParaRPr kumimoji="0" lang="en-US" sz="2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T="45722" marB="4572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</a:tr>
              <a:tr h="39320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buSzTx/>
                        <a:buFontTx/>
                        <a:buNone/>
                      </a:pPr>
                      <a:r>
                        <a:rPr kumimoji="0" lang="en-US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entury Gothic" panose="020B0502020202020204" pitchFamily="34" charset="0"/>
                        </a:rPr>
                        <a:t>(2,4)        </a:t>
                      </a:r>
                      <a:endParaRPr kumimoji="0" lang="en-US" sz="2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T="45722" marB="4572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buSzTx/>
                        <a:buFontTx/>
                        <a:buNone/>
                      </a:pPr>
                      <a:r>
                        <a:rPr kumimoji="0" lang="en-US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entury Gothic" panose="020B0502020202020204" pitchFamily="34" charset="0"/>
                        </a:rPr>
                        <a:t>&lt;2,3,4&gt;</a:t>
                      </a:r>
                      <a:endParaRPr kumimoji="0" lang="en-US" sz="2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T="45722" marB="4572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</a:tr>
              <a:tr h="39320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buSzTx/>
                        <a:buFontTx/>
                        <a:buNone/>
                      </a:pPr>
                      <a:r>
                        <a:rPr kumimoji="0" lang="en-US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entury Gothic" panose="020B0502020202020204" pitchFamily="34" charset="0"/>
                        </a:rPr>
                        <a:t>(2,5)         </a:t>
                      </a:r>
                      <a:endParaRPr kumimoji="0" lang="en-US" sz="2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T="45722" marB="4572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buSzTx/>
                        <a:buFontTx/>
                        <a:buNone/>
                      </a:pPr>
                      <a:r>
                        <a:rPr kumimoji="0" lang="en-US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entury Gothic" panose="020B0502020202020204" pitchFamily="34" charset="0"/>
                        </a:rPr>
                        <a:t>&lt;2,3,4,5&gt;</a:t>
                      </a:r>
                      <a:endParaRPr kumimoji="0" lang="en-US" sz="2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T="45722" marB="4572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</a:tr>
              <a:tr h="39320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buSzTx/>
                        <a:buFontTx/>
                        <a:buNone/>
                      </a:pPr>
                      <a:r>
                        <a:rPr kumimoji="0" lang="en-US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entury Gothic" panose="020B0502020202020204" pitchFamily="34" charset="0"/>
                        </a:rPr>
                        <a:t>                </a:t>
                      </a:r>
                      <a:endParaRPr kumimoji="0" lang="en-US" sz="2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T="45722" marB="4572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buSzTx/>
                        <a:buFontTx/>
                        <a:buNone/>
                      </a:pPr>
                      <a:r>
                        <a:rPr kumimoji="0" lang="en-US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entury Gothic" panose="020B0502020202020204" pitchFamily="34" charset="0"/>
                        </a:rPr>
                        <a:t>&lt;2,3,5&gt;</a:t>
                      </a:r>
                      <a:endParaRPr kumimoji="0" lang="en-US" sz="2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T="45722" marB="4572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</a:tr>
              <a:tr h="39320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buSzTx/>
                        <a:buFontTx/>
                        <a:buNone/>
                      </a:pPr>
                      <a:r>
                        <a:rPr kumimoji="0" lang="en-US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entury Gothic" panose="020B0502020202020204" pitchFamily="34" charset="0"/>
                        </a:rPr>
                        <a:t>(2,&lt;3,4&gt;)</a:t>
                      </a:r>
                      <a:endParaRPr kumimoji="0" lang="en-US" sz="2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T="45722" marB="4572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buSzTx/>
                        <a:buFontTx/>
                        <a:buNone/>
                      </a:pPr>
                      <a:r>
                        <a:rPr kumimoji="0" lang="en-US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entury Gothic" panose="020B0502020202020204" pitchFamily="34" charset="0"/>
                        </a:rPr>
                        <a:t>&lt;2,3,4&gt;</a:t>
                      </a:r>
                      <a:endParaRPr kumimoji="0" lang="en-US" sz="2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T="45722" marB="4572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</a:tr>
              <a:tr h="39320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buSzTx/>
                        <a:buFontTx/>
                        <a:buNone/>
                      </a:pPr>
                      <a:r>
                        <a:rPr kumimoji="0" lang="en-US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entury Gothic" panose="020B0502020202020204" pitchFamily="34" charset="0"/>
                        </a:rPr>
                        <a:t>(2,&lt;3,5&gt;)</a:t>
                      </a:r>
                      <a:endParaRPr kumimoji="0" lang="en-US" sz="2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T="45722" marB="4572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buSzTx/>
                        <a:buFontTx/>
                        <a:buNone/>
                      </a:pPr>
                      <a:r>
                        <a:rPr kumimoji="0" lang="en-US" sz="2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entury Gothic" panose="020B0502020202020204" pitchFamily="34" charset="0"/>
                        </a:rPr>
                        <a:t>&lt;2,3,5&gt;</a:t>
                      </a:r>
                      <a:endParaRPr kumimoji="0" lang="en-US" sz="22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T="45722" marB="4572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</a:tr>
            </a:tbl>
          </a:graphicData>
        </a:graphic>
      </p:graphicFrame>
      <p:sp>
        <p:nvSpPr>
          <p:cNvPr id="8" name="Oval 53"/>
          <p:cNvSpPr>
            <a:spLocks noChangeArrowheads="1"/>
          </p:cNvSpPr>
          <p:nvPr/>
        </p:nvSpPr>
        <p:spPr bwMode="auto">
          <a:xfrm>
            <a:off x="4648200" y="1981200"/>
            <a:ext cx="533400" cy="5334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</a:ln>
        </p:spPr>
        <p:txBody>
          <a:bodyPr wrap="none" anchor="ctr"/>
          <a:lstStyle>
            <a:lvl1pPr>
              <a:spcBef>
                <a:spcPct val="20000"/>
              </a:spcBef>
              <a:spcAft>
                <a:spcPct val="20000"/>
              </a:spcAft>
              <a:buClr>
                <a:srgbClr val="FDAD23"/>
              </a:buClr>
              <a:buChar char="•"/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  <a:lvl2pPr marL="742950" indent="-285750">
              <a:spcBef>
                <a:spcPct val="20000"/>
              </a:spcBef>
              <a:spcAft>
                <a:spcPct val="20000"/>
              </a:spcAft>
              <a:buClr>
                <a:srgbClr val="FDAD23"/>
              </a:buClr>
              <a:buChar char="–"/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2pPr>
            <a:lvl3pPr marL="1143000" indent="-228600">
              <a:spcBef>
                <a:spcPct val="20000"/>
              </a:spcBef>
              <a:spcAft>
                <a:spcPct val="20000"/>
              </a:spcAft>
              <a:buClr>
                <a:srgbClr val="FDAD23"/>
              </a:buClr>
              <a:buSzPct val="75000"/>
              <a:buChar char="•"/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DAD23"/>
              </a:buClr>
              <a:buFont typeface="Times New Roman" panose="02020603050405020304" pitchFamily="18" charset="0"/>
              <a:buChar char="–"/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DAD23"/>
              </a:buClr>
              <a:buChar char="»"/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DAD23"/>
              </a:buClr>
              <a:buChar char="»"/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DAD23"/>
              </a:buClr>
              <a:buChar char="»"/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DAD23"/>
              </a:buClr>
              <a:buChar char="»"/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DAD23"/>
              </a:buClr>
              <a:buChar char="»"/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endParaRPr lang="zh-CN" altLang="zh-CN" sz="280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9" name="Oval 54"/>
          <p:cNvSpPr>
            <a:spLocks noChangeArrowheads="1"/>
          </p:cNvSpPr>
          <p:nvPr/>
        </p:nvSpPr>
        <p:spPr bwMode="auto">
          <a:xfrm>
            <a:off x="4648200" y="3505200"/>
            <a:ext cx="533400" cy="5334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</a:ln>
        </p:spPr>
        <p:txBody>
          <a:bodyPr wrap="none" anchor="ctr"/>
          <a:lstStyle>
            <a:lvl1pPr>
              <a:spcBef>
                <a:spcPct val="20000"/>
              </a:spcBef>
              <a:spcAft>
                <a:spcPct val="20000"/>
              </a:spcAft>
              <a:buClr>
                <a:srgbClr val="FDAD23"/>
              </a:buClr>
              <a:buChar char="•"/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  <a:lvl2pPr marL="742950" indent="-285750">
              <a:spcBef>
                <a:spcPct val="20000"/>
              </a:spcBef>
              <a:spcAft>
                <a:spcPct val="20000"/>
              </a:spcAft>
              <a:buClr>
                <a:srgbClr val="FDAD23"/>
              </a:buClr>
              <a:buChar char="–"/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2pPr>
            <a:lvl3pPr marL="1143000" indent="-228600">
              <a:spcBef>
                <a:spcPct val="20000"/>
              </a:spcBef>
              <a:spcAft>
                <a:spcPct val="20000"/>
              </a:spcAft>
              <a:buClr>
                <a:srgbClr val="FDAD23"/>
              </a:buClr>
              <a:buSzPct val="75000"/>
              <a:buChar char="•"/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DAD23"/>
              </a:buClr>
              <a:buFont typeface="Times New Roman" panose="02020603050405020304" pitchFamily="18" charset="0"/>
              <a:buChar char="–"/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DAD23"/>
              </a:buClr>
              <a:buChar char="»"/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DAD23"/>
              </a:buClr>
              <a:buChar char="»"/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DAD23"/>
              </a:buClr>
              <a:buChar char="»"/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DAD23"/>
              </a:buClr>
              <a:buChar char="»"/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DAD23"/>
              </a:buClr>
              <a:buChar char="»"/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endParaRPr lang="zh-CN" altLang="zh-CN" sz="280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0" name="Oval 55"/>
          <p:cNvSpPr>
            <a:spLocks noChangeArrowheads="1"/>
          </p:cNvSpPr>
          <p:nvPr/>
        </p:nvSpPr>
        <p:spPr bwMode="auto">
          <a:xfrm>
            <a:off x="5638800" y="2743200"/>
            <a:ext cx="533400" cy="5334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</a:ln>
        </p:spPr>
        <p:txBody>
          <a:bodyPr wrap="none" anchor="ctr"/>
          <a:lstStyle>
            <a:lvl1pPr>
              <a:spcBef>
                <a:spcPct val="20000"/>
              </a:spcBef>
              <a:spcAft>
                <a:spcPct val="20000"/>
              </a:spcAft>
              <a:buClr>
                <a:srgbClr val="FDAD23"/>
              </a:buClr>
              <a:buChar char="•"/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  <a:lvl2pPr marL="742950" indent="-285750">
              <a:spcBef>
                <a:spcPct val="20000"/>
              </a:spcBef>
              <a:spcAft>
                <a:spcPct val="20000"/>
              </a:spcAft>
              <a:buClr>
                <a:srgbClr val="FDAD23"/>
              </a:buClr>
              <a:buChar char="–"/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2pPr>
            <a:lvl3pPr marL="1143000" indent="-228600">
              <a:spcBef>
                <a:spcPct val="20000"/>
              </a:spcBef>
              <a:spcAft>
                <a:spcPct val="20000"/>
              </a:spcAft>
              <a:buClr>
                <a:srgbClr val="FDAD23"/>
              </a:buClr>
              <a:buSzPct val="75000"/>
              <a:buChar char="•"/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DAD23"/>
              </a:buClr>
              <a:buFont typeface="Times New Roman" panose="02020603050405020304" pitchFamily="18" charset="0"/>
              <a:buChar char="–"/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DAD23"/>
              </a:buClr>
              <a:buChar char="»"/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DAD23"/>
              </a:buClr>
              <a:buChar char="»"/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DAD23"/>
              </a:buClr>
              <a:buChar char="»"/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DAD23"/>
              </a:buClr>
              <a:buChar char="»"/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DAD23"/>
              </a:buClr>
              <a:buChar char="»"/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endParaRPr lang="zh-CN" altLang="zh-CN" sz="280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1" name="Line 56"/>
          <p:cNvSpPr>
            <a:spLocks noChangeShapeType="1"/>
          </p:cNvSpPr>
          <p:nvPr/>
        </p:nvSpPr>
        <p:spPr bwMode="auto">
          <a:xfrm>
            <a:off x="5105400" y="2438400"/>
            <a:ext cx="6096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" name="Line 57"/>
          <p:cNvSpPr>
            <a:spLocks noChangeShapeType="1"/>
          </p:cNvSpPr>
          <p:nvPr/>
        </p:nvSpPr>
        <p:spPr bwMode="auto">
          <a:xfrm flipH="1">
            <a:off x="5105400" y="3124200"/>
            <a:ext cx="6096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3" name="Line 58"/>
          <p:cNvSpPr>
            <a:spLocks noChangeShapeType="1"/>
          </p:cNvSpPr>
          <p:nvPr/>
        </p:nvSpPr>
        <p:spPr bwMode="auto">
          <a:xfrm>
            <a:off x="4876800" y="2514600"/>
            <a:ext cx="0" cy="990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" name="Freeform 59"/>
          <p:cNvSpPr/>
          <p:nvPr/>
        </p:nvSpPr>
        <p:spPr bwMode="auto">
          <a:xfrm>
            <a:off x="5029200" y="1600200"/>
            <a:ext cx="152400" cy="457200"/>
          </a:xfrm>
          <a:custGeom>
            <a:avLst/>
            <a:gdLst>
              <a:gd name="T0" fmla="*/ 2147483646 w 96"/>
              <a:gd name="T1" fmla="*/ 0 h 288"/>
              <a:gd name="T2" fmla="*/ 0 w 96"/>
              <a:gd name="T3" fmla="*/ 2147483646 h 288"/>
              <a:gd name="T4" fmla="*/ 2147483646 w 96"/>
              <a:gd name="T5" fmla="*/ 2147483646 h 288"/>
              <a:gd name="T6" fmla="*/ 0 w 96"/>
              <a:gd name="T7" fmla="*/ 2147483646 h 288"/>
              <a:gd name="T8" fmla="*/ 0 60000 65536"/>
              <a:gd name="T9" fmla="*/ 0 60000 65536"/>
              <a:gd name="T10" fmla="*/ 0 60000 65536"/>
              <a:gd name="T11" fmla="*/ 0 60000 65536"/>
              <a:gd name="T12" fmla="*/ 0 w 96"/>
              <a:gd name="T13" fmla="*/ 0 h 288"/>
              <a:gd name="T14" fmla="*/ 96 w 96"/>
              <a:gd name="T15" fmla="*/ 288 h 288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96" h="288">
                <a:moveTo>
                  <a:pt x="96" y="0"/>
                </a:moveTo>
                <a:cubicBezTo>
                  <a:pt x="48" y="32"/>
                  <a:pt x="0" y="64"/>
                  <a:pt x="0" y="96"/>
                </a:cubicBezTo>
                <a:cubicBezTo>
                  <a:pt x="0" y="128"/>
                  <a:pt x="96" y="160"/>
                  <a:pt x="96" y="192"/>
                </a:cubicBezTo>
                <a:cubicBezTo>
                  <a:pt x="96" y="224"/>
                  <a:pt x="16" y="272"/>
                  <a:pt x="0" y="288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 type="non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5" name="Freeform 60"/>
          <p:cNvSpPr/>
          <p:nvPr/>
        </p:nvSpPr>
        <p:spPr bwMode="auto">
          <a:xfrm>
            <a:off x="4724400" y="5562600"/>
            <a:ext cx="152400" cy="457200"/>
          </a:xfrm>
          <a:custGeom>
            <a:avLst/>
            <a:gdLst>
              <a:gd name="T0" fmla="*/ 2147483646 w 96"/>
              <a:gd name="T1" fmla="*/ 0 h 288"/>
              <a:gd name="T2" fmla="*/ 0 w 96"/>
              <a:gd name="T3" fmla="*/ 2147483646 h 288"/>
              <a:gd name="T4" fmla="*/ 2147483646 w 96"/>
              <a:gd name="T5" fmla="*/ 2147483646 h 288"/>
              <a:gd name="T6" fmla="*/ 0 w 96"/>
              <a:gd name="T7" fmla="*/ 2147483646 h 288"/>
              <a:gd name="T8" fmla="*/ 0 60000 65536"/>
              <a:gd name="T9" fmla="*/ 0 60000 65536"/>
              <a:gd name="T10" fmla="*/ 0 60000 65536"/>
              <a:gd name="T11" fmla="*/ 0 60000 65536"/>
              <a:gd name="T12" fmla="*/ 0 w 96"/>
              <a:gd name="T13" fmla="*/ 0 h 288"/>
              <a:gd name="T14" fmla="*/ 96 w 96"/>
              <a:gd name="T15" fmla="*/ 288 h 288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96" h="288">
                <a:moveTo>
                  <a:pt x="96" y="0"/>
                </a:moveTo>
                <a:cubicBezTo>
                  <a:pt x="48" y="32"/>
                  <a:pt x="0" y="64"/>
                  <a:pt x="0" y="96"/>
                </a:cubicBezTo>
                <a:cubicBezTo>
                  <a:pt x="0" y="128"/>
                  <a:pt x="96" y="160"/>
                  <a:pt x="96" y="192"/>
                </a:cubicBezTo>
                <a:cubicBezTo>
                  <a:pt x="96" y="224"/>
                  <a:pt x="16" y="272"/>
                  <a:pt x="0" y="288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 type="non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6" name="Oval 61"/>
          <p:cNvSpPr>
            <a:spLocks noChangeArrowheads="1"/>
          </p:cNvSpPr>
          <p:nvPr/>
        </p:nvSpPr>
        <p:spPr bwMode="auto">
          <a:xfrm>
            <a:off x="4648200" y="5029200"/>
            <a:ext cx="533400" cy="5334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</a:ln>
        </p:spPr>
        <p:txBody>
          <a:bodyPr wrap="none" anchor="ctr"/>
          <a:lstStyle>
            <a:lvl1pPr>
              <a:spcBef>
                <a:spcPct val="20000"/>
              </a:spcBef>
              <a:spcAft>
                <a:spcPct val="20000"/>
              </a:spcAft>
              <a:buClr>
                <a:srgbClr val="FDAD23"/>
              </a:buClr>
              <a:buChar char="•"/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  <a:lvl2pPr marL="742950" indent="-285750">
              <a:spcBef>
                <a:spcPct val="20000"/>
              </a:spcBef>
              <a:spcAft>
                <a:spcPct val="20000"/>
              </a:spcAft>
              <a:buClr>
                <a:srgbClr val="FDAD23"/>
              </a:buClr>
              <a:buChar char="–"/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2pPr>
            <a:lvl3pPr marL="1143000" indent="-228600">
              <a:spcBef>
                <a:spcPct val="20000"/>
              </a:spcBef>
              <a:spcAft>
                <a:spcPct val="20000"/>
              </a:spcAft>
              <a:buClr>
                <a:srgbClr val="FDAD23"/>
              </a:buClr>
              <a:buSzPct val="75000"/>
              <a:buChar char="•"/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DAD23"/>
              </a:buClr>
              <a:buFont typeface="Times New Roman" panose="02020603050405020304" pitchFamily="18" charset="0"/>
              <a:buChar char="–"/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DAD23"/>
              </a:buClr>
              <a:buChar char="»"/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DAD23"/>
              </a:buClr>
              <a:buChar char="»"/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DAD23"/>
              </a:buClr>
              <a:buChar char="»"/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DAD23"/>
              </a:buClr>
              <a:buChar char="»"/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DAD23"/>
              </a:buClr>
              <a:buChar char="»"/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endParaRPr lang="zh-CN" altLang="zh-CN" sz="280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7" name="Oval 62"/>
          <p:cNvSpPr>
            <a:spLocks noChangeArrowheads="1"/>
          </p:cNvSpPr>
          <p:nvPr/>
        </p:nvSpPr>
        <p:spPr bwMode="auto">
          <a:xfrm>
            <a:off x="5638800" y="4267200"/>
            <a:ext cx="533400" cy="5334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</a:ln>
        </p:spPr>
        <p:txBody>
          <a:bodyPr wrap="none" anchor="ctr"/>
          <a:lstStyle>
            <a:lvl1pPr>
              <a:spcBef>
                <a:spcPct val="20000"/>
              </a:spcBef>
              <a:spcAft>
                <a:spcPct val="20000"/>
              </a:spcAft>
              <a:buClr>
                <a:srgbClr val="FDAD23"/>
              </a:buClr>
              <a:buChar char="•"/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  <a:lvl2pPr marL="742950" indent="-285750">
              <a:spcBef>
                <a:spcPct val="20000"/>
              </a:spcBef>
              <a:spcAft>
                <a:spcPct val="20000"/>
              </a:spcAft>
              <a:buClr>
                <a:srgbClr val="FDAD23"/>
              </a:buClr>
              <a:buChar char="–"/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2pPr>
            <a:lvl3pPr marL="1143000" indent="-228600">
              <a:spcBef>
                <a:spcPct val="20000"/>
              </a:spcBef>
              <a:spcAft>
                <a:spcPct val="20000"/>
              </a:spcAft>
              <a:buClr>
                <a:srgbClr val="FDAD23"/>
              </a:buClr>
              <a:buSzPct val="75000"/>
              <a:buChar char="•"/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DAD23"/>
              </a:buClr>
              <a:buFont typeface="Times New Roman" panose="02020603050405020304" pitchFamily="18" charset="0"/>
              <a:buChar char="–"/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DAD23"/>
              </a:buClr>
              <a:buChar char="»"/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DAD23"/>
              </a:buClr>
              <a:buChar char="»"/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DAD23"/>
              </a:buClr>
              <a:buChar char="»"/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DAD23"/>
              </a:buClr>
              <a:buChar char="»"/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DAD23"/>
              </a:buClr>
              <a:buChar char="»"/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endParaRPr lang="zh-CN" altLang="zh-CN" sz="280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8" name="Line 63"/>
          <p:cNvSpPr>
            <a:spLocks noChangeShapeType="1"/>
          </p:cNvSpPr>
          <p:nvPr/>
        </p:nvSpPr>
        <p:spPr bwMode="auto">
          <a:xfrm>
            <a:off x="5105400" y="3962400"/>
            <a:ext cx="6096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9" name="Line 64"/>
          <p:cNvSpPr>
            <a:spLocks noChangeShapeType="1"/>
          </p:cNvSpPr>
          <p:nvPr/>
        </p:nvSpPr>
        <p:spPr bwMode="auto">
          <a:xfrm flipH="1">
            <a:off x="5105400" y="4648200"/>
            <a:ext cx="6096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0" name="Line 65"/>
          <p:cNvSpPr>
            <a:spLocks noChangeShapeType="1"/>
          </p:cNvSpPr>
          <p:nvPr/>
        </p:nvSpPr>
        <p:spPr bwMode="auto">
          <a:xfrm>
            <a:off x="4876800" y="4038600"/>
            <a:ext cx="0" cy="990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1" name="Text Box 66"/>
          <p:cNvSpPr txBox="1">
            <a:spLocks noChangeArrowheads="1"/>
          </p:cNvSpPr>
          <p:nvPr/>
        </p:nvSpPr>
        <p:spPr bwMode="auto">
          <a:xfrm>
            <a:off x="4648200" y="2057400"/>
            <a:ext cx="457200" cy="457200"/>
          </a:xfrm>
          <a:prstGeom prst="rect">
            <a:avLst/>
          </a:prstGeom>
          <a:noFill/>
          <a:ln w="9525">
            <a:noFill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spcAft>
                <a:spcPct val="20000"/>
              </a:spcAft>
              <a:buClr>
                <a:srgbClr val="FDAD23"/>
              </a:buClr>
              <a:buChar char="•"/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  <a:lvl2pPr marL="742950" indent="-285750">
              <a:spcBef>
                <a:spcPct val="20000"/>
              </a:spcBef>
              <a:spcAft>
                <a:spcPct val="20000"/>
              </a:spcAft>
              <a:buClr>
                <a:srgbClr val="FDAD23"/>
              </a:buClr>
              <a:buChar char="–"/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2pPr>
            <a:lvl3pPr marL="1143000" indent="-228600">
              <a:spcBef>
                <a:spcPct val="20000"/>
              </a:spcBef>
              <a:spcAft>
                <a:spcPct val="20000"/>
              </a:spcAft>
              <a:buClr>
                <a:srgbClr val="FDAD23"/>
              </a:buClr>
              <a:buSzPct val="75000"/>
              <a:buChar char="•"/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DAD23"/>
              </a:buClr>
              <a:buFont typeface="Times New Roman" panose="02020603050405020304" pitchFamily="18" charset="0"/>
              <a:buChar char="–"/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DAD23"/>
              </a:buClr>
              <a:buChar char="»"/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DAD23"/>
              </a:buClr>
              <a:buChar char="»"/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DAD23"/>
              </a:buClr>
              <a:buChar char="»"/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DAD23"/>
              </a:buClr>
              <a:buChar char="»"/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DAD23"/>
              </a:buClr>
              <a:buChar char="»"/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spcAft>
                <a:spcPct val="0"/>
              </a:spcAft>
              <a:buClrTx/>
              <a:buFontTx/>
              <a:buNone/>
            </a:pPr>
            <a:r>
              <a: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endParaRPr lang="en-US" altLang="zh-CN" b="1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2" name="Text Box 67"/>
          <p:cNvSpPr txBox="1">
            <a:spLocks noChangeArrowheads="1"/>
          </p:cNvSpPr>
          <p:nvPr/>
        </p:nvSpPr>
        <p:spPr bwMode="auto">
          <a:xfrm>
            <a:off x="5715000" y="2819400"/>
            <a:ext cx="457200" cy="457200"/>
          </a:xfrm>
          <a:prstGeom prst="rect">
            <a:avLst/>
          </a:prstGeom>
          <a:noFill/>
          <a:ln w="9525">
            <a:noFill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spcAft>
                <a:spcPct val="20000"/>
              </a:spcAft>
              <a:buClr>
                <a:srgbClr val="FDAD23"/>
              </a:buClr>
              <a:buChar char="•"/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  <a:lvl2pPr marL="742950" indent="-285750">
              <a:spcBef>
                <a:spcPct val="20000"/>
              </a:spcBef>
              <a:spcAft>
                <a:spcPct val="20000"/>
              </a:spcAft>
              <a:buClr>
                <a:srgbClr val="FDAD23"/>
              </a:buClr>
              <a:buChar char="–"/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2pPr>
            <a:lvl3pPr marL="1143000" indent="-228600">
              <a:spcBef>
                <a:spcPct val="20000"/>
              </a:spcBef>
              <a:spcAft>
                <a:spcPct val="20000"/>
              </a:spcAft>
              <a:buClr>
                <a:srgbClr val="FDAD23"/>
              </a:buClr>
              <a:buSzPct val="75000"/>
              <a:buChar char="•"/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DAD23"/>
              </a:buClr>
              <a:buFont typeface="Times New Roman" panose="02020603050405020304" pitchFamily="18" charset="0"/>
              <a:buChar char="–"/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DAD23"/>
              </a:buClr>
              <a:buChar char="»"/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DAD23"/>
              </a:buClr>
              <a:buChar char="»"/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DAD23"/>
              </a:buClr>
              <a:buChar char="»"/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DAD23"/>
              </a:buClr>
              <a:buChar char="»"/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DAD23"/>
              </a:buClr>
              <a:buChar char="»"/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spcAft>
                <a:spcPct val="0"/>
              </a:spcAft>
              <a:buClrTx/>
              <a:buFontTx/>
              <a:buNone/>
            </a:pPr>
            <a:r>
              <a: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endParaRPr lang="en-US" altLang="zh-CN" b="1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3" name="Text Box 68"/>
          <p:cNvSpPr txBox="1">
            <a:spLocks noChangeArrowheads="1"/>
          </p:cNvSpPr>
          <p:nvPr/>
        </p:nvSpPr>
        <p:spPr bwMode="auto">
          <a:xfrm>
            <a:off x="4648200" y="3505200"/>
            <a:ext cx="457200" cy="457200"/>
          </a:xfrm>
          <a:prstGeom prst="rect">
            <a:avLst/>
          </a:prstGeom>
          <a:noFill/>
          <a:ln w="9525">
            <a:noFill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spcAft>
                <a:spcPct val="20000"/>
              </a:spcAft>
              <a:buClr>
                <a:srgbClr val="FDAD23"/>
              </a:buClr>
              <a:buChar char="•"/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  <a:lvl2pPr marL="742950" indent="-285750">
              <a:spcBef>
                <a:spcPct val="20000"/>
              </a:spcBef>
              <a:spcAft>
                <a:spcPct val="20000"/>
              </a:spcAft>
              <a:buClr>
                <a:srgbClr val="FDAD23"/>
              </a:buClr>
              <a:buChar char="–"/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2pPr>
            <a:lvl3pPr marL="1143000" indent="-228600">
              <a:spcBef>
                <a:spcPct val="20000"/>
              </a:spcBef>
              <a:spcAft>
                <a:spcPct val="20000"/>
              </a:spcAft>
              <a:buClr>
                <a:srgbClr val="FDAD23"/>
              </a:buClr>
              <a:buSzPct val="75000"/>
              <a:buChar char="•"/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DAD23"/>
              </a:buClr>
              <a:buFont typeface="Times New Roman" panose="02020603050405020304" pitchFamily="18" charset="0"/>
              <a:buChar char="–"/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DAD23"/>
              </a:buClr>
              <a:buChar char="»"/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DAD23"/>
              </a:buClr>
              <a:buChar char="»"/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DAD23"/>
              </a:buClr>
              <a:buChar char="»"/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DAD23"/>
              </a:buClr>
              <a:buChar char="»"/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DAD23"/>
              </a:buClr>
              <a:buChar char="»"/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spcAft>
                <a:spcPct val="0"/>
              </a:spcAft>
              <a:buClrTx/>
              <a:buFontTx/>
              <a:buNone/>
            </a:pPr>
            <a:r>
              <a: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3</a:t>
            </a:r>
            <a:endParaRPr lang="en-US" altLang="zh-CN" b="1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4" name="Text Box 69"/>
          <p:cNvSpPr txBox="1">
            <a:spLocks noChangeArrowheads="1"/>
          </p:cNvSpPr>
          <p:nvPr/>
        </p:nvSpPr>
        <p:spPr bwMode="auto">
          <a:xfrm>
            <a:off x="5715000" y="4267200"/>
            <a:ext cx="457200" cy="457200"/>
          </a:xfrm>
          <a:prstGeom prst="rect">
            <a:avLst/>
          </a:prstGeom>
          <a:noFill/>
          <a:ln w="9525">
            <a:noFill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spcAft>
                <a:spcPct val="20000"/>
              </a:spcAft>
              <a:buClr>
                <a:srgbClr val="FDAD23"/>
              </a:buClr>
              <a:buChar char="•"/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  <a:lvl2pPr marL="742950" indent="-285750">
              <a:spcBef>
                <a:spcPct val="20000"/>
              </a:spcBef>
              <a:spcAft>
                <a:spcPct val="20000"/>
              </a:spcAft>
              <a:buClr>
                <a:srgbClr val="FDAD23"/>
              </a:buClr>
              <a:buChar char="–"/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2pPr>
            <a:lvl3pPr marL="1143000" indent="-228600">
              <a:spcBef>
                <a:spcPct val="20000"/>
              </a:spcBef>
              <a:spcAft>
                <a:spcPct val="20000"/>
              </a:spcAft>
              <a:buClr>
                <a:srgbClr val="FDAD23"/>
              </a:buClr>
              <a:buSzPct val="75000"/>
              <a:buChar char="•"/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DAD23"/>
              </a:buClr>
              <a:buFont typeface="Times New Roman" panose="02020603050405020304" pitchFamily="18" charset="0"/>
              <a:buChar char="–"/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DAD23"/>
              </a:buClr>
              <a:buChar char="»"/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DAD23"/>
              </a:buClr>
              <a:buChar char="»"/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DAD23"/>
              </a:buClr>
              <a:buChar char="»"/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DAD23"/>
              </a:buClr>
              <a:buChar char="»"/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DAD23"/>
              </a:buClr>
              <a:buChar char="»"/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spcAft>
                <a:spcPct val="0"/>
              </a:spcAft>
              <a:buClrTx/>
              <a:buFontTx/>
              <a:buNone/>
            </a:pPr>
            <a:r>
              <a:rPr lang="en-US" altLang="zh-CN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4</a:t>
            </a:r>
            <a:endParaRPr lang="en-US" altLang="zh-CN" b="1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5" name="Text Box 70"/>
          <p:cNvSpPr txBox="1">
            <a:spLocks noChangeArrowheads="1"/>
          </p:cNvSpPr>
          <p:nvPr/>
        </p:nvSpPr>
        <p:spPr bwMode="auto">
          <a:xfrm>
            <a:off x="4648200" y="5029200"/>
            <a:ext cx="457200" cy="457200"/>
          </a:xfrm>
          <a:prstGeom prst="rect">
            <a:avLst/>
          </a:prstGeom>
          <a:noFill/>
          <a:ln w="9525">
            <a:noFill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spcAft>
                <a:spcPct val="20000"/>
              </a:spcAft>
              <a:buClr>
                <a:srgbClr val="FDAD23"/>
              </a:buClr>
              <a:buChar char="•"/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  <a:lvl2pPr marL="742950" indent="-285750">
              <a:spcBef>
                <a:spcPct val="20000"/>
              </a:spcBef>
              <a:spcAft>
                <a:spcPct val="20000"/>
              </a:spcAft>
              <a:buClr>
                <a:srgbClr val="FDAD23"/>
              </a:buClr>
              <a:buChar char="–"/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2pPr>
            <a:lvl3pPr marL="1143000" indent="-228600">
              <a:spcBef>
                <a:spcPct val="20000"/>
              </a:spcBef>
              <a:spcAft>
                <a:spcPct val="20000"/>
              </a:spcAft>
              <a:buClr>
                <a:srgbClr val="FDAD23"/>
              </a:buClr>
              <a:buSzPct val="75000"/>
              <a:buChar char="•"/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DAD23"/>
              </a:buClr>
              <a:buFont typeface="Times New Roman" panose="02020603050405020304" pitchFamily="18" charset="0"/>
              <a:buChar char="–"/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DAD23"/>
              </a:buClr>
              <a:buChar char="»"/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DAD23"/>
              </a:buClr>
              <a:buChar char="»"/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DAD23"/>
              </a:buClr>
              <a:buChar char="»"/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DAD23"/>
              </a:buClr>
              <a:buChar char="»"/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DAD23"/>
              </a:buClr>
              <a:buChar char="»"/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spcAft>
                <a:spcPct val="0"/>
              </a:spcAft>
              <a:buClrTx/>
              <a:buFontTx/>
              <a:buNone/>
            </a:pPr>
            <a:r>
              <a: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5</a:t>
            </a:r>
            <a:endParaRPr lang="en-US" altLang="zh-CN" b="1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6" name="Text Box 71"/>
          <p:cNvSpPr txBox="1">
            <a:spLocks noChangeArrowheads="1"/>
          </p:cNvSpPr>
          <p:nvPr/>
        </p:nvSpPr>
        <p:spPr bwMode="auto">
          <a:xfrm>
            <a:off x="5257800" y="1828800"/>
            <a:ext cx="1752600" cy="396875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spcAft>
                <a:spcPct val="20000"/>
              </a:spcAft>
              <a:buClr>
                <a:srgbClr val="FDAD23"/>
              </a:buClr>
              <a:buChar char="•"/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  <a:lvl2pPr marL="742950" indent="-285750">
              <a:spcBef>
                <a:spcPct val="20000"/>
              </a:spcBef>
              <a:spcAft>
                <a:spcPct val="20000"/>
              </a:spcAft>
              <a:buClr>
                <a:srgbClr val="FDAD23"/>
              </a:buClr>
              <a:buChar char="–"/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2pPr>
            <a:lvl3pPr marL="1143000" indent="-228600">
              <a:spcBef>
                <a:spcPct val="20000"/>
              </a:spcBef>
              <a:spcAft>
                <a:spcPct val="20000"/>
              </a:spcAft>
              <a:buClr>
                <a:srgbClr val="FDAD23"/>
              </a:buClr>
              <a:buSzPct val="75000"/>
              <a:buChar char="•"/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DAD23"/>
              </a:buClr>
              <a:buFont typeface="Times New Roman" panose="02020603050405020304" pitchFamily="18" charset="0"/>
              <a:buChar char="–"/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DAD23"/>
              </a:buClr>
              <a:buChar char="»"/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DAD23"/>
              </a:buClr>
              <a:buChar char="»"/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DAD23"/>
              </a:buClr>
              <a:buChar char="»"/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DAD23"/>
              </a:buClr>
              <a:buChar char="»"/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DAD23"/>
              </a:buClr>
              <a:buChar char="»"/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spcAft>
                <a:spcPct val="0"/>
              </a:spcAft>
              <a:buClrTx/>
              <a:buFontTx/>
              <a:buNone/>
            </a:pPr>
            <a:r>
              <a:rPr lang="en-US" altLang="zh-CN" sz="2000" dirty="0">
                <a:solidFill>
                  <a:schemeClr val="tx1"/>
                </a:solidFill>
                <a:ea typeface="宋体" panose="02010600030101010101" pitchFamily="2" charset="-122"/>
              </a:rPr>
              <a:t>input(A,B)</a:t>
            </a:r>
            <a:endParaRPr lang="en-US" altLang="zh-CN" sz="200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27" name="Text Box 72"/>
          <p:cNvSpPr txBox="1">
            <a:spLocks noChangeArrowheads="1"/>
          </p:cNvSpPr>
          <p:nvPr/>
        </p:nvSpPr>
        <p:spPr bwMode="auto">
          <a:xfrm>
            <a:off x="6188528" y="2819400"/>
            <a:ext cx="1752600" cy="396875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spcAft>
                <a:spcPct val="20000"/>
              </a:spcAft>
              <a:buClr>
                <a:srgbClr val="FDAD23"/>
              </a:buClr>
              <a:buChar char="•"/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  <a:lvl2pPr marL="742950" indent="-285750">
              <a:spcBef>
                <a:spcPct val="20000"/>
              </a:spcBef>
              <a:spcAft>
                <a:spcPct val="20000"/>
              </a:spcAft>
              <a:buClr>
                <a:srgbClr val="FDAD23"/>
              </a:buClr>
              <a:buChar char="–"/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2pPr>
            <a:lvl3pPr marL="1143000" indent="-228600">
              <a:spcBef>
                <a:spcPct val="20000"/>
              </a:spcBef>
              <a:spcAft>
                <a:spcPct val="20000"/>
              </a:spcAft>
              <a:buClr>
                <a:srgbClr val="FDAD23"/>
              </a:buClr>
              <a:buSzPct val="75000"/>
              <a:buChar char="•"/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DAD23"/>
              </a:buClr>
              <a:buFont typeface="Times New Roman" panose="02020603050405020304" pitchFamily="18" charset="0"/>
              <a:buChar char="–"/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DAD23"/>
              </a:buClr>
              <a:buChar char="»"/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DAD23"/>
              </a:buClr>
              <a:buChar char="»"/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DAD23"/>
              </a:buClr>
              <a:buChar char="»"/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DAD23"/>
              </a:buClr>
              <a:buChar char="»"/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DAD23"/>
              </a:buClr>
              <a:buChar char="»"/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spcAft>
                <a:spcPct val="0"/>
              </a:spcAft>
              <a:buClrTx/>
              <a:buFontTx/>
              <a:buNone/>
            </a:pPr>
            <a:r>
              <a:rPr lang="en-US" altLang="zh-CN" sz="2000" dirty="0">
                <a:solidFill>
                  <a:schemeClr val="tx1"/>
                </a:solidFill>
                <a:ea typeface="宋体" panose="02010600030101010101" pitchFamily="2" charset="-122"/>
              </a:rPr>
              <a:t>A := A+7</a:t>
            </a:r>
            <a:endParaRPr lang="en-US" altLang="zh-CN" sz="200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28" name="Text Box 73"/>
          <p:cNvSpPr txBox="1">
            <a:spLocks noChangeArrowheads="1"/>
          </p:cNvSpPr>
          <p:nvPr/>
        </p:nvSpPr>
        <p:spPr bwMode="auto">
          <a:xfrm>
            <a:off x="6196692" y="4267200"/>
            <a:ext cx="1447800" cy="396875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spcAft>
                <a:spcPct val="20000"/>
              </a:spcAft>
              <a:buClr>
                <a:srgbClr val="FDAD23"/>
              </a:buClr>
              <a:buChar char="•"/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  <a:lvl2pPr marL="742950" indent="-285750">
              <a:spcBef>
                <a:spcPct val="20000"/>
              </a:spcBef>
              <a:spcAft>
                <a:spcPct val="20000"/>
              </a:spcAft>
              <a:buClr>
                <a:srgbClr val="FDAD23"/>
              </a:buClr>
              <a:buChar char="–"/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2pPr>
            <a:lvl3pPr marL="1143000" indent="-228600">
              <a:spcBef>
                <a:spcPct val="20000"/>
              </a:spcBef>
              <a:spcAft>
                <a:spcPct val="20000"/>
              </a:spcAft>
              <a:buClr>
                <a:srgbClr val="FDAD23"/>
              </a:buClr>
              <a:buSzPct val="75000"/>
              <a:buChar char="•"/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DAD23"/>
              </a:buClr>
              <a:buFont typeface="Times New Roman" panose="02020603050405020304" pitchFamily="18" charset="0"/>
              <a:buChar char="–"/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DAD23"/>
              </a:buClr>
              <a:buChar char="»"/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DAD23"/>
              </a:buClr>
              <a:buChar char="»"/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DAD23"/>
              </a:buClr>
              <a:buChar char="»"/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DAD23"/>
              </a:buClr>
              <a:buChar char="»"/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DAD23"/>
              </a:buClr>
              <a:buChar char="»"/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spcAft>
                <a:spcPct val="0"/>
              </a:spcAft>
              <a:buClrTx/>
              <a:buFontTx/>
              <a:buNone/>
            </a:pPr>
            <a:r>
              <a:rPr lang="en-US" altLang="zh-CN" sz="2000" dirty="0">
                <a:solidFill>
                  <a:schemeClr val="tx1"/>
                </a:solidFill>
                <a:ea typeface="宋体" panose="02010600030101010101" pitchFamily="2" charset="-122"/>
              </a:rPr>
              <a:t>B := A+B</a:t>
            </a:r>
            <a:endParaRPr lang="en-US" altLang="zh-CN" sz="200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29" name="Text Box 74"/>
          <p:cNvSpPr txBox="1">
            <a:spLocks noChangeArrowheads="1"/>
          </p:cNvSpPr>
          <p:nvPr/>
        </p:nvSpPr>
        <p:spPr bwMode="auto">
          <a:xfrm>
            <a:off x="5472024" y="2286000"/>
            <a:ext cx="838200" cy="396875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spcAft>
                <a:spcPct val="20000"/>
              </a:spcAft>
              <a:buClr>
                <a:srgbClr val="FDAD23"/>
              </a:buClr>
              <a:buChar char="•"/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  <a:lvl2pPr marL="742950" indent="-285750">
              <a:spcBef>
                <a:spcPct val="20000"/>
              </a:spcBef>
              <a:spcAft>
                <a:spcPct val="20000"/>
              </a:spcAft>
              <a:buClr>
                <a:srgbClr val="FDAD23"/>
              </a:buClr>
              <a:buChar char="–"/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2pPr>
            <a:lvl3pPr marL="1143000" indent="-228600">
              <a:spcBef>
                <a:spcPct val="20000"/>
              </a:spcBef>
              <a:spcAft>
                <a:spcPct val="20000"/>
              </a:spcAft>
              <a:buClr>
                <a:srgbClr val="FDAD23"/>
              </a:buClr>
              <a:buSzPct val="75000"/>
              <a:buChar char="•"/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DAD23"/>
              </a:buClr>
              <a:buFont typeface="Times New Roman" panose="02020603050405020304" pitchFamily="18" charset="0"/>
              <a:buChar char="–"/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DAD23"/>
              </a:buClr>
              <a:buChar char="»"/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DAD23"/>
              </a:buClr>
              <a:buChar char="»"/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DAD23"/>
              </a:buClr>
              <a:buChar char="»"/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DAD23"/>
              </a:buClr>
              <a:buChar char="»"/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DAD23"/>
              </a:buClr>
              <a:buChar char="»"/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spcAft>
                <a:spcPct val="0"/>
              </a:spcAft>
              <a:buClrTx/>
              <a:buFontTx/>
              <a:buNone/>
            </a:pPr>
            <a:r>
              <a:rPr lang="en-US" altLang="zh-CN" sz="2000" dirty="0">
                <a:solidFill>
                  <a:schemeClr val="tx1"/>
                </a:solidFill>
                <a:ea typeface="宋体" panose="02010600030101010101" pitchFamily="2" charset="-122"/>
              </a:rPr>
              <a:t>B&gt;1</a:t>
            </a:r>
            <a:endParaRPr lang="en-US" altLang="zh-CN" sz="200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30" name="Text Box 75"/>
          <p:cNvSpPr txBox="1">
            <a:spLocks noChangeArrowheads="1"/>
          </p:cNvSpPr>
          <p:nvPr/>
        </p:nvSpPr>
        <p:spPr bwMode="auto">
          <a:xfrm>
            <a:off x="4267200" y="2819400"/>
            <a:ext cx="685800" cy="396875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spcAft>
                <a:spcPct val="20000"/>
              </a:spcAft>
              <a:buClr>
                <a:srgbClr val="FDAD23"/>
              </a:buClr>
              <a:buChar char="•"/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  <a:lvl2pPr marL="742950" indent="-285750">
              <a:spcBef>
                <a:spcPct val="20000"/>
              </a:spcBef>
              <a:spcAft>
                <a:spcPct val="20000"/>
              </a:spcAft>
              <a:buClr>
                <a:srgbClr val="FDAD23"/>
              </a:buClr>
              <a:buChar char="–"/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2pPr>
            <a:lvl3pPr marL="1143000" indent="-228600">
              <a:spcBef>
                <a:spcPct val="20000"/>
              </a:spcBef>
              <a:spcAft>
                <a:spcPct val="20000"/>
              </a:spcAft>
              <a:buClr>
                <a:srgbClr val="FDAD23"/>
              </a:buClr>
              <a:buSzPct val="75000"/>
              <a:buChar char="•"/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DAD23"/>
              </a:buClr>
              <a:buFont typeface="Times New Roman" panose="02020603050405020304" pitchFamily="18" charset="0"/>
              <a:buChar char="–"/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DAD23"/>
              </a:buClr>
              <a:buChar char="»"/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DAD23"/>
              </a:buClr>
              <a:buChar char="»"/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DAD23"/>
              </a:buClr>
              <a:buChar char="»"/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DAD23"/>
              </a:buClr>
              <a:buChar char="»"/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DAD23"/>
              </a:buClr>
              <a:buChar char="»"/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spcAft>
                <a:spcPct val="0"/>
              </a:spcAft>
              <a:buClrTx/>
              <a:buFontTx/>
              <a:buNone/>
            </a:pPr>
            <a:r>
              <a:rPr lang="en-US" altLang="zh-CN" sz="2000">
                <a:solidFill>
                  <a:schemeClr val="tx1"/>
                </a:solidFill>
                <a:ea typeface="宋体" panose="02010600030101010101" pitchFamily="2" charset="-122"/>
              </a:rPr>
              <a:t>B</a:t>
            </a:r>
            <a:r>
              <a:rPr lang="en-US" altLang="zh-CN" sz="2000">
                <a:solidFill>
                  <a:schemeClr val="tx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</a:t>
            </a:r>
            <a:r>
              <a:rPr lang="en-US" altLang="zh-CN" sz="2000">
                <a:solidFill>
                  <a:schemeClr val="tx1"/>
                </a:solidFill>
                <a:ea typeface="宋体" panose="02010600030101010101" pitchFamily="2" charset="-122"/>
              </a:rPr>
              <a:t>1</a:t>
            </a:r>
            <a:endParaRPr lang="en-US" altLang="zh-CN" sz="200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31" name="Text Box 76"/>
          <p:cNvSpPr txBox="1">
            <a:spLocks noChangeArrowheads="1"/>
          </p:cNvSpPr>
          <p:nvPr/>
        </p:nvSpPr>
        <p:spPr bwMode="auto">
          <a:xfrm>
            <a:off x="5454771" y="3775494"/>
            <a:ext cx="838200" cy="396875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spcAft>
                <a:spcPct val="20000"/>
              </a:spcAft>
              <a:buClr>
                <a:srgbClr val="FDAD23"/>
              </a:buClr>
              <a:buChar char="•"/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  <a:lvl2pPr marL="742950" indent="-285750">
              <a:spcBef>
                <a:spcPct val="20000"/>
              </a:spcBef>
              <a:spcAft>
                <a:spcPct val="20000"/>
              </a:spcAft>
              <a:buClr>
                <a:srgbClr val="FDAD23"/>
              </a:buClr>
              <a:buChar char="–"/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2pPr>
            <a:lvl3pPr marL="1143000" indent="-228600">
              <a:spcBef>
                <a:spcPct val="20000"/>
              </a:spcBef>
              <a:spcAft>
                <a:spcPct val="20000"/>
              </a:spcAft>
              <a:buClr>
                <a:srgbClr val="FDAD23"/>
              </a:buClr>
              <a:buSzPct val="75000"/>
              <a:buChar char="•"/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DAD23"/>
              </a:buClr>
              <a:buFont typeface="Times New Roman" panose="02020603050405020304" pitchFamily="18" charset="0"/>
              <a:buChar char="–"/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DAD23"/>
              </a:buClr>
              <a:buChar char="»"/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DAD23"/>
              </a:buClr>
              <a:buChar char="»"/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DAD23"/>
              </a:buClr>
              <a:buChar char="»"/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DAD23"/>
              </a:buClr>
              <a:buChar char="»"/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DAD23"/>
              </a:buClr>
              <a:buChar char="»"/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spcAft>
                <a:spcPct val="0"/>
              </a:spcAft>
              <a:buClrTx/>
              <a:buFontTx/>
              <a:buNone/>
            </a:pPr>
            <a:r>
              <a:rPr lang="en-US" altLang="zh-CN" sz="2000" dirty="0">
                <a:solidFill>
                  <a:schemeClr val="tx1"/>
                </a:solidFill>
                <a:ea typeface="宋体" panose="02010600030101010101" pitchFamily="2" charset="-122"/>
              </a:rPr>
              <a:t>A&gt;10</a:t>
            </a:r>
            <a:endParaRPr lang="en-US" altLang="zh-CN" sz="200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32" name="Text Box 77"/>
          <p:cNvSpPr txBox="1">
            <a:spLocks noChangeArrowheads="1"/>
          </p:cNvSpPr>
          <p:nvPr/>
        </p:nvSpPr>
        <p:spPr bwMode="auto">
          <a:xfrm>
            <a:off x="4038600" y="4267200"/>
            <a:ext cx="838200" cy="396875"/>
          </a:xfrm>
          <a:prstGeom prst="rect">
            <a:avLst/>
          </a:prstGeom>
          <a:noFill/>
          <a:ln w="9525">
            <a:noFill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spcAft>
                <a:spcPct val="20000"/>
              </a:spcAft>
              <a:buClr>
                <a:srgbClr val="FDAD23"/>
              </a:buClr>
              <a:buChar char="•"/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  <a:lvl2pPr marL="742950" indent="-285750">
              <a:spcBef>
                <a:spcPct val="20000"/>
              </a:spcBef>
              <a:spcAft>
                <a:spcPct val="20000"/>
              </a:spcAft>
              <a:buClr>
                <a:srgbClr val="FDAD23"/>
              </a:buClr>
              <a:buChar char="–"/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2pPr>
            <a:lvl3pPr marL="1143000" indent="-228600">
              <a:spcBef>
                <a:spcPct val="20000"/>
              </a:spcBef>
              <a:spcAft>
                <a:spcPct val="20000"/>
              </a:spcAft>
              <a:buClr>
                <a:srgbClr val="FDAD23"/>
              </a:buClr>
              <a:buSzPct val="75000"/>
              <a:buChar char="•"/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DAD23"/>
              </a:buClr>
              <a:buFont typeface="Times New Roman" panose="02020603050405020304" pitchFamily="18" charset="0"/>
              <a:buChar char="–"/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DAD23"/>
              </a:buClr>
              <a:buChar char="»"/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DAD23"/>
              </a:buClr>
              <a:buChar char="»"/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DAD23"/>
              </a:buClr>
              <a:buChar char="»"/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DAD23"/>
              </a:buClr>
              <a:buChar char="»"/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DAD23"/>
              </a:buClr>
              <a:buChar char="»"/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spcAft>
                <a:spcPct val="0"/>
              </a:spcAft>
              <a:buClrTx/>
              <a:buFontTx/>
              <a:buNone/>
            </a:pPr>
            <a:r>
              <a:rPr lang="en-US" altLang="zh-CN" sz="2000" dirty="0">
                <a:solidFill>
                  <a:schemeClr val="tx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A</a:t>
            </a:r>
            <a:r>
              <a:rPr lang="en-US" altLang="zh-CN" sz="2000" dirty="0">
                <a:solidFill>
                  <a:schemeClr val="tx1"/>
                </a:solidFill>
                <a:ea typeface="宋体" panose="02010600030101010101" pitchFamily="2" charset="-122"/>
              </a:rPr>
              <a:t>10</a:t>
            </a:r>
            <a:endParaRPr lang="en-US" altLang="zh-CN" sz="200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33" name="Text Box 78"/>
          <p:cNvSpPr txBox="1">
            <a:spLocks noChangeArrowheads="1"/>
          </p:cNvSpPr>
          <p:nvPr/>
        </p:nvSpPr>
        <p:spPr bwMode="auto">
          <a:xfrm>
            <a:off x="5181600" y="5181600"/>
            <a:ext cx="1752600" cy="396875"/>
          </a:xfrm>
          <a:prstGeom prst="rect">
            <a:avLst/>
          </a:prstGeom>
          <a:noFill/>
          <a:ln w="9525">
            <a:noFill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spcAft>
                <a:spcPct val="20000"/>
              </a:spcAft>
              <a:buClr>
                <a:srgbClr val="FDAD23"/>
              </a:buClr>
              <a:buChar char="•"/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  <a:lvl2pPr marL="742950" indent="-285750">
              <a:spcBef>
                <a:spcPct val="20000"/>
              </a:spcBef>
              <a:spcAft>
                <a:spcPct val="20000"/>
              </a:spcAft>
              <a:buClr>
                <a:srgbClr val="FDAD23"/>
              </a:buClr>
              <a:buChar char="–"/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2pPr>
            <a:lvl3pPr marL="1143000" indent="-228600">
              <a:spcBef>
                <a:spcPct val="20000"/>
              </a:spcBef>
              <a:spcAft>
                <a:spcPct val="20000"/>
              </a:spcAft>
              <a:buClr>
                <a:srgbClr val="FDAD23"/>
              </a:buClr>
              <a:buSzPct val="75000"/>
              <a:buChar char="•"/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DAD23"/>
              </a:buClr>
              <a:buFont typeface="Times New Roman" panose="02020603050405020304" pitchFamily="18" charset="0"/>
              <a:buChar char="–"/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DAD23"/>
              </a:buClr>
              <a:buChar char="»"/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DAD23"/>
              </a:buClr>
              <a:buChar char="»"/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DAD23"/>
              </a:buClr>
              <a:buChar char="»"/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DAD23"/>
              </a:buClr>
              <a:buChar char="»"/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DAD23"/>
              </a:buClr>
              <a:buChar char="»"/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spcAft>
                <a:spcPct val="0"/>
              </a:spcAft>
              <a:buClrTx/>
              <a:buFontTx/>
              <a:buNone/>
            </a:pPr>
            <a:r>
              <a:rPr lang="en-US" altLang="zh-CN" sz="2000" dirty="0">
                <a:solidFill>
                  <a:schemeClr val="tx1"/>
                </a:solidFill>
                <a:ea typeface="宋体" panose="02010600030101010101" pitchFamily="2" charset="-122"/>
              </a:rPr>
              <a:t>output(A,B)</a:t>
            </a:r>
            <a:endParaRPr lang="en-US" altLang="zh-CN" sz="200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cxnSp>
        <p:nvCxnSpPr>
          <p:cNvPr id="34" name="直接连接符 33"/>
          <p:cNvCxnSpPr/>
          <p:nvPr/>
        </p:nvCxnSpPr>
        <p:spPr>
          <a:xfrm flipV="1">
            <a:off x="533400" y="4191000"/>
            <a:ext cx="3429000" cy="15875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Oval 35"/>
          <p:cNvSpPr>
            <a:spLocks noChangeArrowheads="1"/>
          </p:cNvSpPr>
          <p:nvPr/>
        </p:nvSpPr>
        <p:spPr bwMode="auto">
          <a:xfrm>
            <a:off x="7721600" y="2971800"/>
            <a:ext cx="609600" cy="4572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</a:ln>
        </p:spPr>
        <p:txBody>
          <a:bodyPr wrap="none" anchor="ctr"/>
          <a:lstStyle/>
          <a:p>
            <a:endParaRPr lang="zh-CN" altLang="zh-CN">
              <a:ea typeface="宋体" panose="02010600030101010101" pitchFamily="2" charset="-122"/>
            </a:endParaRPr>
          </a:p>
        </p:txBody>
      </p:sp>
      <p:sp>
        <p:nvSpPr>
          <p:cNvPr id="37891" name="Oval 30"/>
          <p:cNvSpPr>
            <a:spLocks noChangeArrowheads="1"/>
          </p:cNvSpPr>
          <p:nvPr/>
        </p:nvSpPr>
        <p:spPr bwMode="auto">
          <a:xfrm>
            <a:off x="6502400" y="1600200"/>
            <a:ext cx="609600" cy="4572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</a:ln>
        </p:spPr>
        <p:txBody>
          <a:bodyPr wrap="none" anchor="ctr"/>
          <a:lstStyle/>
          <a:p>
            <a:pPr eaLnBrk="1" hangingPunct="1"/>
            <a:endParaRPr lang="zh-CN" altLang="zh-CN">
              <a:ea typeface="宋体" panose="02010600030101010101" pitchFamily="2" charset="-122"/>
            </a:endParaRPr>
          </a:p>
        </p:txBody>
      </p:sp>
      <p:sp>
        <p:nvSpPr>
          <p:cNvPr id="36868" name="Rectangle 2"/>
          <p:cNvSpPr>
            <a:spLocks noGrp="1" noChangeArrowheads="1"/>
          </p:cNvSpPr>
          <p:nvPr>
            <p:ph type="title"/>
          </p:nvPr>
        </p:nvSpPr>
        <p:spPr>
          <a:xfrm>
            <a:off x="838200" y="365125"/>
            <a:ext cx="4379259" cy="1325563"/>
          </a:xfrm>
        </p:spPr>
        <p:txBody>
          <a:bodyPr/>
          <a:lstStyle/>
          <a:p>
            <a:pPr eaLnBrk="1" hangingPunct="1"/>
            <a:r>
              <a:rPr lang="en-US" altLang="zh-CN" smtClean="0">
                <a:ea typeface="宋体" panose="02010600030101010101" pitchFamily="2" charset="-122"/>
              </a:rPr>
              <a:t>Exercise</a:t>
            </a:r>
            <a:endParaRPr lang="en-US" altLang="zh-CN" smtClean="0">
              <a:ea typeface="宋体" panose="02010600030101010101" pitchFamily="2" charset="-122"/>
            </a:endParaRPr>
          </a:p>
        </p:txBody>
      </p:sp>
      <p:sp>
        <p:nvSpPr>
          <p:cNvPr id="3686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1600200"/>
            <a:ext cx="4470400" cy="4114800"/>
          </a:xfrm>
        </p:spPr>
        <p:txBody>
          <a:bodyPr/>
          <a:lstStyle/>
          <a:p>
            <a:pPr marL="457200" indent="-457200" eaLnBrk="1" hangingPunct="1">
              <a:spcBef>
                <a:spcPct val="10000"/>
              </a:spcBef>
              <a:spcAft>
                <a:spcPct val="10000"/>
              </a:spcAft>
              <a:buFontTx/>
              <a:buNone/>
            </a:pPr>
            <a:r>
              <a:rPr lang="en-US" altLang="zh-CN" smtClean="0">
                <a:ea typeface="宋体" panose="02010600030101010101" pitchFamily="2" charset="-122"/>
              </a:rPr>
              <a:t>1. </a:t>
            </a:r>
            <a:r>
              <a:rPr lang="en-US" altLang="zh-CN" smtClean="0">
                <a:latin typeface="Verdana" panose="020B0604030504040204" pitchFamily="34" charset="0"/>
                <a:ea typeface="宋体" panose="02010600030101010101" pitchFamily="2" charset="-122"/>
              </a:rPr>
              <a:t>input</a:t>
            </a:r>
            <a:r>
              <a:rPr lang="en-US" altLang="zh-CN" smtClean="0">
                <a:ea typeface="宋体" panose="02010600030101010101" pitchFamily="2" charset="-122"/>
              </a:rPr>
              <a:t>(X,Y)</a:t>
            </a:r>
            <a:endParaRPr lang="en-US" altLang="zh-CN" smtClean="0">
              <a:ea typeface="宋体" panose="02010600030101010101" pitchFamily="2" charset="-122"/>
            </a:endParaRPr>
          </a:p>
          <a:p>
            <a:pPr marL="457200" indent="-457200" eaLnBrk="1" hangingPunct="1">
              <a:spcBef>
                <a:spcPct val="10000"/>
              </a:spcBef>
              <a:spcAft>
                <a:spcPct val="10000"/>
              </a:spcAft>
              <a:buFontTx/>
              <a:buNone/>
            </a:pPr>
            <a:r>
              <a:rPr lang="en-US" altLang="zh-CN" smtClean="0">
                <a:ea typeface="宋体" panose="02010600030101010101" pitchFamily="2" charset="-122"/>
              </a:rPr>
              <a:t>2. </a:t>
            </a:r>
            <a:r>
              <a:rPr lang="en-US" altLang="zh-CN" smtClean="0">
                <a:latin typeface="Verdana" panose="020B0604030504040204" pitchFamily="34" charset="0"/>
                <a:ea typeface="宋体" panose="02010600030101010101" pitchFamily="2" charset="-122"/>
              </a:rPr>
              <a:t>while</a:t>
            </a:r>
            <a:r>
              <a:rPr lang="en-US" altLang="zh-CN" smtClean="0">
                <a:ea typeface="宋体" panose="02010600030101010101" pitchFamily="2" charset="-122"/>
              </a:rPr>
              <a:t> (Y&gt;0) </a:t>
            </a:r>
            <a:r>
              <a:rPr lang="en-US" altLang="zh-CN" smtClean="0">
                <a:latin typeface="Verdana" panose="020B0604030504040204" pitchFamily="34" charset="0"/>
                <a:ea typeface="宋体" panose="02010600030101010101" pitchFamily="2" charset="-122"/>
              </a:rPr>
              <a:t>do</a:t>
            </a:r>
            <a:endParaRPr lang="en-US" altLang="zh-CN" smtClean="0">
              <a:latin typeface="Verdana" panose="020B0604030504040204" pitchFamily="34" charset="0"/>
              <a:ea typeface="宋体" panose="02010600030101010101" pitchFamily="2" charset="-122"/>
            </a:endParaRPr>
          </a:p>
          <a:p>
            <a:pPr marL="457200" indent="-457200" eaLnBrk="1" hangingPunct="1">
              <a:spcBef>
                <a:spcPct val="10000"/>
              </a:spcBef>
              <a:spcAft>
                <a:spcPct val="10000"/>
              </a:spcAft>
              <a:buFontTx/>
              <a:buNone/>
            </a:pPr>
            <a:r>
              <a:rPr lang="en-US" altLang="zh-CN" smtClean="0">
                <a:ea typeface="宋体" panose="02010600030101010101" pitchFamily="2" charset="-122"/>
              </a:rPr>
              <a:t>3.    </a:t>
            </a:r>
            <a:r>
              <a:rPr lang="en-US" altLang="zh-CN" smtClean="0">
                <a:latin typeface="Verdana" panose="020B0604030504040204" pitchFamily="34" charset="0"/>
                <a:ea typeface="宋体" panose="02010600030101010101" pitchFamily="2" charset="-122"/>
              </a:rPr>
              <a:t>if</a:t>
            </a:r>
            <a:r>
              <a:rPr lang="en-US" altLang="zh-CN" smtClean="0">
                <a:ea typeface="宋体" panose="02010600030101010101" pitchFamily="2" charset="-122"/>
              </a:rPr>
              <a:t> (X&gt;0) </a:t>
            </a:r>
            <a:r>
              <a:rPr lang="en-US" altLang="zh-CN" smtClean="0">
                <a:latin typeface="Verdana" panose="020B0604030504040204" pitchFamily="34" charset="0"/>
                <a:ea typeface="宋体" panose="02010600030101010101" pitchFamily="2" charset="-122"/>
              </a:rPr>
              <a:t>then</a:t>
            </a:r>
            <a:endParaRPr lang="en-US" altLang="zh-CN" smtClean="0">
              <a:latin typeface="Verdana" panose="020B0604030504040204" pitchFamily="34" charset="0"/>
              <a:ea typeface="宋体" panose="02010600030101010101" pitchFamily="2" charset="-122"/>
            </a:endParaRPr>
          </a:p>
          <a:p>
            <a:pPr marL="457200" indent="-457200" eaLnBrk="1" hangingPunct="1">
              <a:spcBef>
                <a:spcPct val="10000"/>
              </a:spcBef>
              <a:spcAft>
                <a:spcPct val="10000"/>
              </a:spcAft>
              <a:buFontTx/>
              <a:buNone/>
            </a:pPr>
            <a:r>
              <a:rPr lang="en-US" altLang="zh-CN" smtClean="0">
                <a:ea typeface="宋体" panose="02010600030101010101" pitchFamily="2" charset="-122"/>
              </a:rPr>
              <a:t>4.         Y := Y-X</a:t>
            </a:r>
            <a:endParaRPr lang="en-US" altLang="zh-CN" smtClean="0">
              <a:ea typeface="宋体" panose="02010600030101010101" pitchFamily="2" charset="-122"/>
            </a:endParaRPr>
          </a:p>
          <a:p>
            <a:pPr marL="457200" indent="-457200" eaLnBrk="1" hangingPunct="1">
              <a:spcBef>
                <a:spcPct val="10000"/>
              </a:spcBef>
              <a:spcAft>
                <a:spcPct val="10000"/>
              </a:spcAft>
              <a:buFontTx/>
              <a:buNone/>
            </a:pPr>
            <a:r>
              <a:rPr lang="en-US" altLang="zh-CN" smtClean="0">
                <a:ea typeface="宋体" panose="02010600030101010101" pitchFamily="2" charset="-122"/>
              </a:rPr>
              <a:t>       </a:t>
            </a:r>
            <a:r>
              <a:rPr lang="en-US" altLang="zh-CN" smtClean="0">
                <a:latin typeface="Verdana" panose="020B0604030504040204" pitchFamily="34" charset="0"/>
                <a:ea typeface="宋体" panose="02010600030101010101" pitchFamily="2" charset="-122"/>
              </a:rPr>
              <a:t>else</a:t>
            </a:r>
            <a:endParaRPr lang="en-US" altLang="zh-CN" smtClean="0">
              <a:latin typeface="Verdana" panose="020B0604030504040204" pitchFamily="34" charset="0"/>
              <a:ea typeface="宋体" panose="02010600030101010101" pitchFamily="2" charset="-122"/>
            </a:endParaRPr>
          </a:p>
          <a:p>
            <a:pPr marL="457200" indent="-457200" eaLnBrk="1" hangingPunct="1">
              <a:spcBef>
                <a:spcPct val="10000"/>
              </a:spcBef>
              <a:spcAft>
                <a:spcPct val="10000"/>
              </a:spcAft>
              <a:buFontTx/>
              <a:buNone/>
            </a:pPr>
            <a:r>
              <a:rPr lang="en-US" altLang="zh-CN" smtClean="0">
                <a:ea typeface="宋体" panose="02010600030101010101" pitchFamily="2" charset="-122"/>
              </a:rPr>
              <a:t>5.        </a:t>
            </a:r>
            <a:r>
              <a:rPr lang="en-US" altLang="zh-CN" smtClean="0">
                <a:latin typeface="Verdana" panose="020B0604030504040204" pitchFamily="34" charset="0"/>
                <a:ea typeface="宋体" panose="02010600030101010101" pitchFamily="2" charset="-122"/>
              </a:rPr>
              <a:t> input</a:t>
            </a:r>
            <a:r>
              <a:rPr lang="en-US" altLang="zh-CN" smtClean="0">
                <a:ea typeface="宋体" panose="02010600030101010101" pitchFamily="2" charset="-122"/>
              </a:rPr>
              <a:t>(X)</a:t>
            </a:r>
            <a:endParaRPr lang="en-US" altLang="zh-CN" smtClean="0">
              <a:ea typeface="宋体" panose="02010600030101010101" pitchFamily="2" charset="-122"/>
            </a:endParaRPr>
          </a:p>
          <a:p>
            <a:pPr marL="457200" indent="-457200" eaLnBrk="1" hangingPunct="1">
              <a:spcBef>
                <a:spcPct val="10000"/>
              </a:spcBef>
              <a:spcAft>
                <a:spcPct val="10000"/>
              </a:spcAft>
              <a:buFontTx/>
              <a:buNone/>
            </a:pPr>
            <a:r>
              <a:rPr lang="en-US" altLang="zh-CN" smtClean="0">
                <a:ea typeface="宋体" panose="02010600030101010101" pitchFamily="2" charset="-122"/>
              </a:rPr>
              <a:t>      </a:t>
            </a:r>
            <a:r>
              <a:rPr lang="en-US" altLang="zh-CN" smtClean="0">
                <a:latin typeface="Verdana" panose="020B0604030504040204" pitchFamily="34" charset="0"/>
                <a:ea typeface="宋体" panose="02010600030101010101" pitchFamily="2" charset="-122"/>
              </a:rPr>
              <a:t>end_if_then_else</a:t>
            </a:r>
            <a:endParaRPr lang="en-US" altLang="zh-CN" smtClean="0">
              <a:latin typeface="Verdana" panose="020B0604030504040204" pitchFamily="34" charset="0"/>
              <a:ea typeface="宋体" panose="02010600030101010101" pitchFamily="2" charset="-122"/>
            </a:endParaRPr>
          </a:p>
          <a:p>
            <a:pPr marL="457200" indent="-457200" eaLnBrk="1" hangingPunct="1">
              <a:spcBef>
                <a:spcPct val="10000"/>
              </a:spcBef>
              <a:spcAft>
                <a:spcPct val="10000"/>
              </a:spcAft>
              <a:buFontTx/>
              <a:buNone/>
            </a:pPr>
            <a:r>
              <a:rPr lang="en-US" altLang="zh-CN" smtClean="0">
                <a:ea typeface="宋体" panose="02010600030101010101" pitchFamily="2" charset="-122"/>
              </a:rPr>
              <a:t>6. </a:t>
            </a:r>
            <a:r>
              <a:rPr lang="en-US" altLang="zh-CN" smtClean="0">
                <a:latin typeface="Verdana" panose="020B0604030504040204" pitchFamily="34" charset="0"/>
                <a:ea typeface="宋体" panose="02010600030101010101" pitchFamily="2" charset="-122"/>
              </a:rPr>
              <a:t>end_while</a:t>
            </a:r>
            <a:endParaRPr lang="en-US" altLang="zh-CN" smtClean="0">
              <a:latin typeface="Verdana" panose="020B0604030504040204" pitchFamily="34" charset="0"/>
              <a:ea typeface="宋体" panose="02010600030101010101" pitchFamily="2" charset="-122"/>
            </a:endParaRPr>
          </a:p>
          <a:p>
            <a:pPr marL="457200" indent="-457200" eaLnBrk="1" hangingPunct="1">
              <a:spcBef>
                <a:spcPct val="10000"/>
              </a:spcBef>
              <a:spcAft>
                <a:spcPct val="10000"/>
              </a:spcAft>
              <a:buFontTx/>
              <a:buNone/>
            </a:pPr>
            <a:r>
              <a:rPr lang="en-US" altLang="zh-CN" smtClean="0">
                <a:ea typeface="宋体" panose="02010600030101010101" pitchFamily="2" charset="-122"/>
              </a:rPr>
              <a:t>7. </a:t>
            </a:r>
            <a:r>
              <a:rPr lang="en-US" altLang="zh-CN" smtClean="0">
                <a:latin typeface="Verdana" panose="020B0604030504040204" pitchFamily="34" charset="0"/>
                <a:ea typeface="宋体" panose="02010600030101010101" pitchFamily="2" charset="-122"/>
              </a:rPr>
              <a:t>output</a:t>
            </a:r>
            <a:r>
              <a:rPr lang="en-US" altLang="zh-CN" smtClean="0">
                <a:ea typeface="宋体" panose="02010600030101010101" pitchFamily="2" charset="-122"/>
              </a:rPr>
              <a:t>(X,Y)</a:t>
            </a:r>
            <a:endParaRPr lang="en-US" altLang="zh-CN" smtClean="0">
              <a:ea typeface="宋体" panose="02010600030101010101" pitchFamily="2" charset="-122"/>
            </a:endParaRPr>
          </a:p>
        </p:txBody>
      </p:sp>
      <p:sp>
        <p:nvSpPr>
          <p:cNvPr id="37894" name="Freeform 10"/>
          <p:cNvSpPr/>
          <p:nvPr/>
        </p:nvSpPr>
        <p:spPr bwMode="auto">
          <a:xfrm>
            <a:off x="6807200" y="1143000"/>
            <a:ext cx="203200" cy="457200"/>
          </a:xfrm>
          <a:custGeom>
            <a:avLst/>
            <a:gdLst>
              <a:gd name="T0" fmla="*/ 2147483647 w 96"/>
              <a:gd name="T1" fmla="*/ 0 h 288"/>
              <a:gd name="T2" fmla="*/ 0 w 96"/>
              <a:gd name="T3" fmla="*/ 2147483647 h 288"/>
              <a:gd name="T4" fmla="*/ 2147483647 w 96"/>
              <a:gd name="T5" fmla="*/ 2147483647 h 288"/>
              <a:gd name="T6" fmla="*/ 0 w 96"/>
              <a:gd name="T7" fmla="*/ 2147483647 h 288"/>
              <a:gd name="T8" fmla="*/ 0 60000 65536"/>
              <a:gd name="T9" fmla="*/ 0 60000 65536"/>
              <a:gd name="T10" fmla="*/ 0 60000 65536"/>
              <a:gd name="T11" fmla="*/ 0 60000 65536"/>
              <a:gd name="T12" fmla="*/ 0 w 96"/>
              <a:gd name="T13" fmla="*/ 0 h 288"/>
              <a:gd name="T14" fmla="*/ 96 w 96"/>
              <a:gd name="T15" fmla="*/ 288 h 288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96" h="288">
                <a:moveTo>
                  <a:pt x="96" y="0"/>
                </a:moveTo>
                <a:cubicBezTo>
                  <a:pt x="48" y="32"/>
                  <a:pt x="0" y="64"/>
                  <a:pt x="0" y="96"/>
                </a:cubicBezTo>
                <a:cubicBezTo>
                  <a:pt x="0" y="128"/>
                  <a:pt x="96" y="160"/>
                  <a:pt x="96" y="192"/>
                </a:cubicBezTo>
                <a:cubicBezTo>
                  <a:pt x="96" y="224"/>
                  <a:pt x="16" y="272"/>
                  <a:pt x="0" y="288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 type="none" w="med" len="med"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895" name="Freeform 11"/>
          <p:cNvSpPr/>
          <p:nvPr/>
        </p:nvSpPr>
        <p:spPr bwMode="auto">
          <a:xfrm>
            <a:off x="6604000" y="5410200"/>
            <a:ext cx="203200" cy="457200"/>
          </a:xfrm>
          <a:custGeom>
            <a:avLst/>
            <a:gdLst>
              <a:gd name="T0" fmla="*/ 2147483647 w 96"/>
              <a:gd name="T1" fmla="*/ 0 h 288"/>
              <a:gd name="T2" fmla="*/ 0 w 96"/>
              <a:gd name="T3" fmla="*/ 2147483647 h 288"/>
              <a:gd name="T4" fmla="*/ 2147483647 w 96"/>
              <a:gd name="T5" fmla="*/ 2147483647 h 288"/>
              <a:gd name="T6" fmla="*/ 0 w 96"/>
              <a:gd name="T7" fmla="*/ 2147483647 h 288"/>
              <a:gd name="T8" fmla="*/ 0 60000 65536"/>
              <a:gd name="T9" fmla="*/ 0 60000 65536"/>
              <a:gd name="T10" fmla="*/ 0 60000 65536"/>
              <a:gd name="T11" fmla="*/ 0 60000 65536"/>
              <a:gd name="T12" fmla="*/ 0 w 96"/>
              <a:gd name="T13" fmla="*/ 0 h 288"/>
              <a:gd name="T14" fmla="*/ 96 w 96"/>
              <a:gd name="T15" fmla="*/ 288 h 288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96" h="288">
                <a:moveTo>
                  <a:pt x="96" y="0"/>
                </a:moveTo>
                <a:cubicBezTo>
                  <a:pt x="48" y="32"/>
                  <a:pt x="0" y="64"/>
                  <a:pt x="0" y="96"/>
                </a:cubicBezTo>
                <a:cubicBezTo>
                  <a:pt x="0" y="128"/>
                  <a:pt x="96" y="160"/>
                  <a:pt x="96" y="192"/>
                </a:cubicBezTo>
                <a:cubicBezTo>
                  <a:pt x="96" y="224"/>
                  <a:pt x="16" y="272"/>
                  <a:pt x="0" y="288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 type="none" w="med" len="med"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896" name="Text Box 17"/>
          <p:cNvSpPr txBox="1">
            <a:spLocks noChangeArrowheads="1"/>
          </p:cNvSpPr>
          <p:nvPr/>
        </p:nvSpPr>
        <p:spPr bwMode="auto">
          <a:xfrm>
            <a:off x="6502400" y="1600200"/>
            <a:ext cx="6096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algn="ctr" eaLnBrk="1" hangingPunct="1">
              <a:spcBef>
                <a:spcPct val="50000"/>
              </a:spcBef>
            </a:pPr>
            <a:r>
              <a:rPr lang="en-US" altLang="zh-CN" sz="2400" b="1" dirty="0">
                <a:ea typeface="宋体" panose="02010600030101010101" pitchFamily="2" charset="-122"/>
              </a:rPr>
              <a:t>1</a:t>
            </a:r>
            <a:endParaRPr lang="en-US" altLang="zh-CN" sz="2400" b="1" dirty="0">
              <a:ea typeface="宋体" panose="02010600030101010101" pitchFamily="2" charset="-122"/>
            </a:endParaRPr>
          </a:p>
        </p:txBody>
      </p:sp>
      <p:sp>
        <p:nvSpPr>
          <p:cNvPr id="37897" name="Text Box 19"/>
          <p:cNvSpPr txBox="1">
            <a:spLocks noChangeArrowheads="1"/>
          </p:cNvSpPr>
          <p:nvPr/>
        </p:nvSpPr>
        <p:spPr bwMode="auto">
          <a:xfrm>
            <a:off x="7721600" y="2971800"/>
            <a:ext cx="6096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algn="ctr" eaLnBrk="1" hangingPunct="1">
              <a:spcBef>
                <a:spcPct val="50000"/>
              </a:spcBef>
            </a:pPr>
            <a:r>
              <a:rPr lang="en-US" altLang="zh-CN" sz="2400" b="1" dirty="0">
                <a:ea typeface="宋体" panose="02010600030101010101" pitchFamily="2" charset="-122"/>
              </a:rPr>
              <a:t>3</a:t>
            </a:r>
            <a:endParaRPr lang="en-US" altLang="zh-CN" sz="2400" b="1" dirty="0">
              <a:ea typeface="宋体" panose="02010600030101010101" pitchFamily="2" charset="-122"/>
            </a:endParaRPr>
          </a:p>
        </p:txBody>
      </p:sp>
      <p:sp>
        <p:nvSpPr>
          <p:cNvPr id="37898" name="Text Box 22"/>
          <p:cNvSpPr txBox="1">
            <a:spLocks noChangeArrowheads="1"/>
          </p:cNvSpPr>
          <p:nvPr/>
        </p:nvSpPr>
        <p:spPr bwMode="auto">
          <a:xfrm>
            <a:off x="7112000" y="1600201"/>
            <a:ext cx="2336800" cy="3968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sz="2000">
                <a:latin typeface="Century Gothic" panose="020B0502020202020204" pitchFamily="34" charset="0"/>
                <a:ea typeface="宋体" panose="02010600030101010101" pitchFamily="2" charset="-122"/>
              </a:rPr>
              <a:t>input(X,Y))</a:t>
            </a:r>
            <a:endParaRPr lang="en-US" altLang="zh-CN" sz="2000">
              <a:latin typeface="Century Gothic" panose="020B0502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7899" name="Text Box 23"/>
          <p:cNvSpPr txBox="1">
            <a:spLocks noChangeArrowheads="1"/>
          </p:cNvSpPr>
          <p:nvPr/>
        </p:nvSpPr>
        <p:spPr bwMode="auto">
          <a:xfrm>
            <a:off x="9144000" y="3733801"/>
            <a:ext cx="1524000" cy="3968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sz="2000" dirty="0">
                <a:latin typeface="Century Gothic" panose="020B0502020202020204" pitchFamily="34" charset="0"/>
                <a:ea typeface="宋体" panose="02010600030101010101" pitchFamily="2" charset="-122"/>
              </a:rPr>
              <a:t>Y := Y-X</a:t>
            </a:r>
            <a:endParaRPr lang="en-US" altLang="zh-CN" sz="2000" dirty="0">
              <a:latin typeface="Century Gothic" panose="020B0502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7900" name="Text Box 24"/>
          <p:cNvSpPr txBox="1">
            <a:spLocks noChangeArrowheads="1"/>
          </p:cNvSpPr>
          <p:nvPr/>
        </p:nvSpPr>
        <p:spPr bwMode="auto">
          <a:xfrm>
            <a:off x="5384800" y="3733801"/>
            <a:ext cx="1625600" cy="3968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sz="2000">
                <a:latin typeface="Century Gothic" panose="020B0502020202020204" pitchFamily="34" charset="0"/>
                <a:ea typeface="宋体" panose="02010600030101010101" pitchFamily="2" charset="-122"/>
              </a:rPr>
              <a:t>input(X)</a:t>
            </a:r>
            <a:endParaRPr lang="en-US" altLang="zh-CN" sz="2000">
              <a:latin typeface="Century Gothic" panose="020B0502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7901" name="Text Box 25"/>
          <p:cNvSpPr txBox="1">
            <a:spLocks noChangeArrowheads="1"/>
          </p:cNvSpPr>
          <p:nvPr/>
        </p:nvSpPr>
        <p:spPr bwMode="auto">
          <a:xfrm>
            <a:off x="7251700" y="2597151"/>
            <a:ext cx="1117600" cy="3968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sz="2000" dirty="0">
                <a:latin typeface="Century Gothic" panose="020B0502020202020204" pitchFamily="34" charset="0"/>
                <a:ea typeface="宋体" panose="02010600030101010101" pitchFamily="2" charset="-122"/>
              </a:rPr>
              <a:t>Y&gt;0</a:t>
            </a:r>
            <a:endParaRPr lang="en-US" altLang="zh-CN" sz="2000" dirty="0">
              <a:latin typeface="Century Gothic" panose="020B0502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7903" name="Text Box 27"/>
          <p:cNvSpPr txBox="1">
            <a:spLocks noChangeArrowheads="1"/>
          </p:cNvSpPr>
          <p:nvPr/>
        </p:nvSpPr>
        <p:spPr bwMode="auto">
          <a:xfrm>
            <a:off x="8331200" y="3276601"/>
            <a:ext cx="1016000" cy="3968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sz="2000" dirty="0">
                <a:latin typeface="Century Gothic" panose="020B0502020202020204" pitchFamily="34" charset="0"/>
                <a:ea typeface="宋体" panose="02010600030101010101" pitchFamily="2" charset="-122"/>
              </a:rPr>
              <a:t>X&gt;0</a:t>
            </a:r>
            <a:endParaRPr lang="en-US" altLang="zh-CN" sz="2000" dirty="0">
              <a:latin typeface="Century Gothic" panose="020B0502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7904" name="Text Box 29"/>
          <p:cNvSpPr txBox="1">
            <a:spLocks noChangeArrowheads="1"/>
          </p:cNvSpPr>
          <p:nvPr/>
        </p:nvSpPr>
        <p:spPr bwMode="auto">
          <a:xfrm>
            <a:off x="7010400" y="5105401"/>
            <a:ext cx="2235200" cy="3968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sz="2000" dirty="0">
                <a:latin typeface="Century Gothic" panose="020B0502020202020204" pitchFamily="34" charset="0"/>
                <a:ea typeface="宋体" panose="02010600030101010101" pitchFamily="2" charset="-122"/>
              </a:rPr>
              <a:t>output(X,Y)</a:t>
            </a:r>
            <a:endParaRPr lang="en-US" altLang="zh-CN" sz="2000" dirty="0">
              <a:latin typeface="Century Gothic" panose="020B0502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7905" name="Oval 31"/>
          <p:cNvSpPr>
            <a:spLocks noChangeArrowheads="1"/>
          </p:cNvSpPr>
          <p:nvPr/>
        </p:nvSpPr>
        <p:spPr bwMode="auto">
          <a:xfrm>
            <a:off x="6502400" y="2362200"/>
            <a:ext cx="609600" cy="4572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</a:ln>
        </p:spPr>
        <p:txBody>
          <a:bodyPr wrap="none" anchor="ctr"/>
          <a:lstStyle/>
          <a:p>
            <a:pPr eaLnBrk="1" hangingPunct="1"/>
            <a:endParaRPr lang="zh-CN" altLang="zh-CN">
              <a:ea typeface="宋体" panose="02010600030101010101" pitchFamily="2" charset="-122"/>
            </a:endParaRPr>
          </a:p>
        </p:txBody>
      </p:sp>
      <p:sp>
        <p:nvSpPr>
          <p:cNvPr id="37906" name="Oval 32"/>
          <p:cNvSpPr>
            <a:spLocks noChangeArrowheads="1"/>
          </p:cNvSpPr>
          <p:nvPr/>
        </p:nvSpPr>
        <p:spPr bwMode="auto">
          <a:xfrm>
            <a:off x="7721600" y="4267200"/>
            <a:ext cx="609600" cy="4572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</a:ln>
        </p:spPr>
        <p:txBody>
          <a:bodyPr wrap="none" anchor="ctr"/>
          <a:lstStyle/>
          <a:p>
            <a:endParaRPr lang="zh-CN" altLang="zh-CN">
              <a:ea typeface="宋体" panose="02010600030101010101" pitchFamily="2" charset="-122"/>
            </a:endParaRPr>
          </a:p>
        </p:txBody>
      </p:sp>
      <p:sp>
        <p:nvSpPr>
          <p:cNvPr id="37907" name="Oval 33"/>
          <p:cNvSpPr>
            <a:spLocks noChangeArrowheads="1"/>
          </p:cNvSpPr>
          <p:nvPr/>
        </p:nvSpPr>
        <p:spPr bwMode="auto">
          <a:xfrm>
            <a:off x="8534400" y="3733800"/>
            <a:ext cx="609600" cy="4572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</a:ln>
        </p:spPr>
        <p:txBody>
          <a:bodyPr wrap="none" anchor="ctr"/>
          <a:lstStyle/>
          <a:p>
            <a:endParaRPr lang="zh-CN" altLang="zh-CN">
              <a:ea typeface="宋体" panose="02010600030101010101" pitchFamily="2" charset="-122"/>
            </a:endParaRPr>
          </a:p>
        </p:txBody>
      </p:sp>
      <p:sp>
        <p:nvSpPr>
          <p:cNvPr id="37908" name="Oval 34"/>
          <p:cNvSpPr>
            <a:spLocks noChangeArrowheads="1"/>
          </p:cNvSpPr>
          <p:nvPr/>
        </p:nvSpPr>
        <p:spPr bwMode="auto">
          <a:xfrm>
            <a:off x="6908800" y="3733800"/>
            <a:ext cx="609600" cy="4572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</a:ln>
        </p:spPr>
        <p:txBody>
          <a:bodyPr wrap="none" anchor="ctr"/>
          <a:lstStyle/>
          <a:p>
            <a:pPr eaLnBrk="1" hangingPunct="1"/>
            <a:endParaRPr lang="zh-CN" altLang="zh-CN">
              <a:ea typeface="宋体" panose="02010600030101010101" pitchFamily="2" charset="-122"/>
            </a:endParaRPr>
          </a:p>
        </p:txBody>
      </p:sp>
      <p:sp>
        <p:nvSpPr>
          <p:cNvPr id="37909" name="Oval 36"/>
          <p:cNvSpPr>
            <a:spLocks noChangeArrowheads="1"/>
          </p:cNvSpPr>
          <p:nvPr/>
        </p:nvSpPr>
        <p:spPr bwMode="auto">
          <a:xfrm>
            <a:off x="6502400" y="4953000"/>
            <a:ext cx="609600" cy="4572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</a:ln>
        </p:spPr>
        <p:txBody>
          <a:bodyPr wrap="none" anchor="ctr"/>
          <a:lstStyle/>
          <a:p>
            <a:pPr eaLnBrk="1" hangingPunct="1"/>
            <a:endParaRPr lang="zh-CN" altLang="zh-CN">
              <a:ea typeface="宋体" panose="02010600030101010101" pitchFamily="2" charset="-122"/>
            </a:endParaRPr>
          </a:p>
        </p:txBody>
      </p:sp>
      <p:sp>
        <p:nvSpPr>
          <p:cNvPr id="37910" name="Line 40"/>
          <p:cNvSpPr>
            <a:spLocks noChangeShapeType="1"/>
          </p:cNvSpPr>
          <p:nvPr/>
        </p:nvSpPr>
        <p:spPr bwMode="auto">
          <a:xfrm>
            <a:off x="6807200" y="2057400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911" name="Line 41"/>
          <p:cNvSpPr>
            <a:spLocks noChangeShapeType="1"/>
          </p:cNvSpPr>
          <p:nvPr/>
        </p:nvSpPr>
        <p:spPr bwMode="auto">
          <a:xfrm>
            <a:off x="7112000" y="2743200"/>
            <a:ext cx="7112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912" name="Line 42"/>
          <p:cNvSpPr>
            <a:spLocks noChangeShapeType="1"/>
          </p:cNvSpPr>
          <p:nvPr/>
        </p:nvSpPr>
        <p:spPr bwMode="auto">
          <a:xfrm>
            <a:off x="8229600" y="3429000"/>
            <a:ext cx="4064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913" name="Line 43"/>
          <p:cNvSpPr>
            <a:spLocks noChangeShapeType="1"/>
          </p:cNvSpPr>
          <p:nvPr/>
        </p:nvSpPr>
        <p:spPr bwMode="auto">
          <a:xfrm flipH="1">
            <a:off x="7315200" y="3352800"/>
            <a:ext cx="5080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914" name="Line 44"/>
          <p:cNvSpPr>
            <a:spLocks noChangeShapeType="1"/>
          </p:cNvSpPr>
          <p:nvPr/>
        </p:nvSpPr>
        <p:spPr bwMode="auto">
          <a:xfrm>
            <a:off x="7315200" y="4038600"/>
            <a:ext cx="5080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915" name="Line 45"/>
          <p:cNvSpPr>
            <a:spLocks noChangeShapeType="1"/>
          </p:cNvSpPr>
          <p:nvPr/>
        </p:nvSpPr>
        <p:spPr bwMode="auto">
          <a:xfrm flipH="1">
            <a:off x="8229600" y="4114800"/>
            <a:ext cx="4064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917" name="Text Box 47"/>
          <p:cNvSpPr txBox="1">
            <a:spLocks noChangeArrowheads="1"/>
          </p:cNvSpPr>
          <p:nvPr/>
        </p:nvSpPr>
        <p:spPr bwMode="auto">
          <a:xfrm>
            <a:off x="6807200" y="3276601"/>
            <a:ext cx="914400" cy="3968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sz="2000" dirty="0">
                <a:latin typeface="Century Gothic" panose="020B0502020202020204" pitchFamily="34" charset="0"/>
                <a:ea typeface="宋体" panose="02010600030101010101" pitchFamily="2" charset="-122"/>
              </a:rPr>
              <a:t>X</a:t>
            </a:r>
            <a:r>
              <a:rPr lang="en-US" altLang="zh-CN" sz="2000" dirty="0">
                <a:latin typeface="Century Gothic" panose="020B0502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</a:t>
            </a:r>
            <a:r>
              <a:rPr lang="en-US" altLang="zh-CN" sz="2000" dirty="0">
                <a:latin typeface="Century Gothic" panose="020B0502020202020204" pitchFamily="34" charset="0"/>
                <a:ea typeface="宋体" panose="02010600030101010101" pitchFamily="2" charset="-122"/>
              </a:rPr>
              <a:t>0</a:t>
            </a:r>
            <a:endParaRPr lang="en-US" altLang="zh-CN" sz="2000" dirty="0">
              <a:latin typeface="Century Gothic" panose="020B0502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7918" name="Text Box 18"/>
          <p:cNvSpPr txBox="1">
            <a:spLocks noChangeArrowheads="1"/>
          </p:cNvSpPr>
          <p:nvPr/>
        </p:nvSpPr>
        <p:spPr bwMode="auto">
          <a:xfrm>
            <a:off x="6502400" y="2362200"/>
            <a:ext cx="6096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2400" b="1" dirty="0">
                <a:ea typeface="宋体" panose="02010600030101010101" pitchFamily="2" charset="-122"/>
              </a:rPr>
              <a:t>2</a:t>
            </a:r>
            <a:endParaRPr lang="en-US" altLang="zh-CN" sz="2400" b="1" dirty="0">
              <a:ea typeface="宋体" panose="02010600030101010101" pitchFamily="2" charset="-122"/>
            </a:endParaRPr>
          </a:p>
        </p:txBody>
      </p:sp>
      <p:sp>
        <p:nvSpPr>
          <p:cNvPr id="37919" name="Text Box 20"/>
          <p:cNvSpPr txBox="1">
            <a:spLocks noChangeArrowheads="1"/>
          </p:cNvSpPr>
          <p:nvPr/>
        </p:nvSpPr>
        <p:spPr bwMode="auto">
          <a:xfrm>
            <a:off x="8534400" y="3733800"/>
            <a:ext cx="6096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algn="ctr" eaLnBrk="1" hangingPunct="1">
              <a:spcBef>
                <a:spcPct val="50000"/>
              </a:spcBef>
            </a:pPr>
            <a:r>
              <a:rPr lang="en-US" altLang="zh-CN" sz="2400" b="1">
                <a:ea typeface="宋体" panose="02010600030101010101" pitchFamily="2" charset="-122"/>
              </a:rPr>
              <a:t>4</a:t>
            </a:r>
            <a:endParaRPr lang="en-US" altLang="zh-CN" sz="2400" b="1">
              <a:ea typeface="宋体" panose="02010600030101010101" pitchFamily="2" charset="-122"/>
            </a:endParaRPr>
          </a:p>
        </p:txBody>
      </p:sp>
      <p:sp>
        <p:nvSpPr>
          <p:cNvPr id="37920" name="Text Box 21"/>
          <p:cNvSpPr txBox="1">
            <a:spLocks noChangeArrowheads="1"/>
          </p:cNvSpPr>
          <p:nvPr/>
        </p:nvSpPr>
        <p:spPr bwMode="auto">
          <a:xfrm>
            <a:off x="6908800" y="3733800"/>
            <a:ext cx="6096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algn="ctr" eaLnBrk="1" hangingPunct="1">
              <a:spcBef>
                <a:spcPct val="50000"/>
              </a:spcBef>
            </a:pPr>
            <a:r>
              <a:rPr lang="en-US" altLang="zh-CN" sz="2400" b="1" dirty="0">
                <a:ea typeface="宋体" panose="02010600030101010101" pitchFamily="2" charset="-122"/>
              </a:rPr>
              <a:t>5</a:t>
            </a:r>
            <a:endParaRPr lang="en-US" altLang="zh-CN" sz="2400" b="1" dirty="0">
              <a:ea typeface="宋体" panose="02010600030101010101" pitchFamily="2" charset="-122"/>
            </a:endParaRPr>
          </a:p>
        </p:txBody>
      </p:sp>
      <p:sp>
        <p:nvSpPr>
          <p:cNvPr id="37921" name="Text Box 48"/>
          <p:cNvSpPr txBox="1">
            <a:spLocks noChangeArrowheads="1"/>
          </p:cNvSpPr>
          <p:nvPr/>
        </p:nvSpPr>
        <p:spPr bwMode="auto">
          <a:xfrm>
            <a:off x="7721600" y="4267200"/>
            <a:ext cx="6096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algn="ctr" eaLnBrk="1" hangingPunct="1">
              <a:spcBef>
                <a:spcPct val="50000"/>
              </a:spcBef>
            </a:pPr>
            <a:r>
              <a:rPr lang="en-US" altLang="zh-CN" sz="2400" b="1">
                <a:ea typeface="宋体" panose="02010600030101010101" pitchFamily="2" charset="-122"/>
              </a:rPr>
              <a:t>6</a:t>
            </a:r>
            <a:endParaRPr lang="en-US" altLang="zh-CN" sz="2400" b="1">
              <a:ea typeface="宋体" panose="02010600030101010101" pitchFamily="2" charset="-122"/>
            </a:endParaRPr>
          </a:p>
        </p:txBody>
      </p:sp>
      <p:sp>
        <p:nvSpPr>
          <p:cNvPr id="37922" name="Text Box 49"/>
          <p:cNvSpPr txBox="1">
            <a:spLocks noChangeArrowheads="1"/>
          </p:cNvSpPr>
          <p:nvPr/>
        </p:nvSpPr>
        <p:spPr bwMode="auto">
          <a:xfrm>
            <a:off x="6502400" y="4953000"/>
            <a:ext cx="6096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algn="ctr" eaLnBrk="1" hangingPunct="1">
              <a:spcBef>
                <a:spcPct val="50000"/>
              </a:spcBef>
            </a:pPr>
            <a:r>
              <a:rPr lang="en-US" altLang="zh-CN" sz="2400" b="1" dirty="0">
                <a:ea typeface="宋体" panose="02010600030101010101" pitchFamily="2" charset="-122"/>
              </a:rPr>
              <a:t>7</a:t>
            </a:r>
            <a:endParaRPr lang="en-US" altLang="zh-CN" sz="2400" b="1" dirty="0">
              <a:ea typeface="宋体" panose="02010600030101010101" pitchFamily="2" charset="-122"/>
            </a:endParaRPr>
          </a:p>
        </p:txBody>
      </p:sp>
      <p:sp>
        <p:nvSpPr>
          <p:cNvPr id="37923" name="Freeform 52"/>
          <p:cNvSpPr/>
          <p:nvPr/>
        </p:nvSpPr>
        <p:spPr bwMode="auto">
          <a:xfrm>
            <a:off x="5977467" y="2819400"/>
            <a:ext cx="728133" cy="2209800"/>
          </a:xfrm>
          <a:custGeom>
            <a:avLst/>
            <a:gdLst>
              <a:gd name="T0" fmla="*/ 2147483647 w 344"/>
              <a:gd name="T1" fmla="*/ 0 h 1392"/>
              <a:gd name="T2" fmla="*/ 2147483647 w 344"/>
              <a:gd name="T3" fmla="*/ 2147483647 h 1392"/>
              <a:gd name="T4" fmla="*/ 2147483647 w 344"/>
              <a:gd name="T5" fmla="*/ 2147483647 h 1392"/>
              <a:gd name="T6" fmla="*/ 2147483647 w 344"/>
              <a:gd name="T7" fmla="*/ 2147483647 h 1392"/>
              <a:gd name="T8" fmla="*/ 2147483647 w 344"/>
              <a:gd name="T9" fmla="*/ 2147483647 h 139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44"/>
              <a:gd name="T16" fmla="*/ 0 h 1392"/>
              <a:gd name="T17" fmla="*/ 344 w 344"/>
              <a:gd name="T18" fmla="*/ 1392 h 139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44" h="1392">
                <a:moveTo>
                  <a:pt x="296" y="0"/>
                </a:moveTo>
                <a:cubicBezTo>
                  <a:pt x="224" y="88"/>
                  <a:pt x="152" y="176"/>
                  <a:pt x="104" y="288"/>
                </a:cubicBezTo>
                <a:cubicBezTo>
                  <a:pt x="56" y="400"/>
                  <a:pt x="0" y="536"/>
                  <a:pt x="8" y="672"/>
                </a:cubicBezTo>
                <a:cubicBezTo>
                  <a:pt x="16" y="808"/>
                  <a:pt x="96" y="984"/>
                  <a:pt x="152" y="1104"/>
                </a:cubicBezTo>
                <a:cubicBezTo>
                  <a:pt x="208" y="1224"/>
                  <a:pt x="276" y="1308"/>
                  <a:pt x="344" y="1392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 type="none" w="med" len="med"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926" name="Text Box 56"/>
          <p:cNvSpPr txBox="1">
            <a:spLocks noChangeArrowheads="1"/>
          </p:cNvSpPr>
          <p:nvPr/>
        </p:nvSpPr>
        <p:spPr bwMode="auto">
          <a:xfrm>
            <a:off x="5384800" y="2895601"/>
            <a:ext cx="914400" cy="3968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sz="2000">
                <a:latin typeface="Century Gothic" panose="020B0502020202020204" pitchFamily="34" charset="0"/>
                <a:ea typeface="宋体" panose="02010600030101010101" pitchFamily="2" charset="-122"/>
              </a:rPr>
              <a:t>Y</a:t>
            </a:r>
            <a:r>
              <a:rPr lang="en-US" altLang="zh-CN" sz="2000">
                <a:latin typeface="Century Gothic" panose="020B0502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</a:t>
            </a:r>
            <a:r>
              <a:rPr lang="en-US" altLang="zh-CN" sz="2000">
                <a:latin typeface="Century Gothic" panose="020B0502020202020204" pitchFamily="34" charset="0"/>
                <a:ea typeface="宋体" panose="02010600030101010101" pitchFamily="2" charset="-122"/>
              </a:rPr>
              <a:t>0</a:t>
            </a:r>
            <a:endParaRPr lang="en-US" altLang="zh-CN" sz="2000">
              <a:latin typeface="Century Gothic" panose="020B0502020202020204" pitchFamily="34" charset="0"/>
              <a:ea typeface="宋体" panose="02010600030101010101" pitchFamily="2" charset="-122"/>
            </a:endParaRPr>
          </a:p>
        </p:txBody>
      </p:sp>
      <p:cxnSp>
        <p:nvCxnSpPr>
          <p:cNvPr id="10" name="曲线连接符 9"/>
          <p:cNvCxnSpPr>
            <a:stCxn id="37906" idx="6"/>
            <a:endCxn id="37918" idx="3"/>
          </p:cNvCxnSpPr>
          <p:nvPr/>
        </p:nvCxnSpPr>
        <p:spPr>
          <a:xfrm flipH="1" flipV="1">
            <a:off x="7112000" y="2590800"/>
            <a:ext cx="1219200" cy="1905000"/>
          </a:xfrm>
          <a:prstGeom prst="curvedConnector3">
            <a:avLst>
              <a:gd name="adj1" fmla="val -246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890" grpId="0" animBg="1"/>
      <p:bldP spid="37891" grpId="0" animBg="1"/>
      <p:bldP spid="37894" grpId="0" animBg="1"/>
      <p:bldP spid="37895" grpId="0" animBg="1"/>
      <p:bldP spid="37896" grpId="0"/>
      <p:bldP spid="37897" grpId="0"/>
      <p:bldP spid="37898" grpId="0"/>
      <p:bldP spid="37899" grpId="0"/>
      <p:bldP spid="37900" grpId="0"/>
      <p:bldP spid="37901" grpId="0"/>
      <p:bldP spid="37903" grpId="0"/>
      <p:bldP spid="37904" grpId="0"/>
      <p:bldP spid="37905" grpId="0" animBg="1"/>
      <p:bldP spid="37906" grpId="0" animBg="1"/>
      <p:bldP spid="37907" grpId="0" animBg="1"/>
      <p:bldP spid="37908" grpId="0" animBg="1"/>
      <p:bldP spid="37909" grpId="0" animBg="1"/>
      <p:bldP spid="37910" grpId="0" animBg="1"/>
      <p:bldP spid="37911" grpId="0" animBg="1"/>
      <p:bldP spid="37912" grpId="0" animBg="1"/>
      <p:bldP spid="37913" grpId="0" animBg="1"/>
      <p:bldP spid="37914" grpId="0" animBg="1"/>
      <p:bldP spid="37915" grpId="0" animBg="1"/>
      <p:bldP spid="37917" grpId="0"/>
      <p:bldP spid="37918" grpId="0" animBg="1"/>
      <p:bldP spid="37919" grpId="0"/>
      <p:bldP spid="37920" grpId="0"/>
      <p:bldP spid="37921" grpId="0"/>
      <p:bldP spid="37922" grpId="0"/>
      <p:bldP spid="37923" grpId="0" animBg="1"/>
      <p:bldP spid="37926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mtClean="0">
                <a:ea typeface="宋体" panose="02010600030101010101" pitchFamily="2" charset="-122"/>
              </a:rPr>
              <a:t>Identifying DU-Pairs – Variable X</a:t>
            </a:r>
            <a:endParaRPr lang="en-US" altLang="zh-CN" smtClean="0">
              <a:ea typeface="宋体" panose="02010600030101010101" pitchFamily="2" charset="-122"/>
            </a:endParaRPr>
          </a:p>
        </p:txBody>
      </p:sp>
      <p:graphicFrame>
        <p:nvGraphicFramePr>
          <p:cNvPr id="406617" name="Group 89"/>
          <p:cNvGraphicFramePr>
            <a:graphicFrameLocks noGrp="1"/>
          </p:cNvGraphicFramePr>
          <p:nvPr>
            <p:ph type="tbl" idx="1"/>
          </p:nvPr>
        </p:nvGraphicFramePr>
        <p:xfrm>
          <a:off x="330200" y="1571625"/>
          <a:ext cx="5384800" cy="3984628"/>
        </p:xfrm>
        <a:graphic>
          <a:graphicData uri="http://schemas.openxmlformats.org/drawingml/2006/table">
            <a:tbl>
              <a:tblPr/>
              <a:tblGrid>
                <a:gridCol w="1569156"/>
                <a:gridCol w="3815644"/>
              </a:tblGrid>
              <a:tr h="36036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buSzPct val="75000"/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FDAD23"/>
                        </a:buClr>
                        <a:buFont typeface="Times New Roman" panose="02020603050405020304" pitchFamily="18" charset="0"/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buSzTx/>
                        <a:buFontTx/>
                        <a:buNone/>
                      </a:pPr>
                      <a:r>
                        <a:rPr kumimoji="0" lang="en-US" altLang="zh-CN" sz="1800" b="1" i="0" u="sng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anose="020B0604030504040204" pitchFamily="34" charset="0"/>
                          <a:ea typeface="宋体" panose="02010600030101010101" pitchFamily="2" charset="-122"/>
                        </a:rPr>
                        <a:t>du-pair</a:t>
                      </a:r>
                      <a:endParaRPr kumimoji="0" lang="en-US" altLang="zh-CN" sz="1800" b="1" i="0" u="sng" strike="noStrike" cap="none" normalizeH="0" baseline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Verdan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121920" marR="12192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buSzPct val="75000"/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FDAD23"/>
                        </a:buClr>
                        <a:buFont typeface="Times New Roman" panose="02020603050405020304" pitchFamily="18" charset="0"/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buSzTx/>
                        <a:buFontTx/>
                        <a:buNone/>
                      </a:pPr>
                      <a:r>
                        <a:rPr kumimoji="0" lang="en-US" altLang="zh-CN" sz="1800" b="1" i="0" u="sng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anose="020B0604030504040204" pitchFamily="34" charset="0"/>
                          <a:ea typeface="宋体" panose="02010600030101010101" pitchFamily="2" charset="-122"/>
                        </a:rPr>
                        <a:t>path(s)</a:t>
                      </a:r>
                      <a:endParaRPr kumimoji="0" lang="en-US" altLang="zh-CN" sz="1800" b="1" i="0" u="sng" strike="noStrike" cap="none" normalizeH="0" baseline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Verdan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121920" marR="1219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</a:tr>
              <a:tr h="36195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buSzPct val="75000"/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FDAD23"/>
                        </a:buClr>
                        <a:buFont typeface="Times New Roman" panose="02020603050405020304" pitchFamily="18" charset="0"/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entury Gothic" panose="020B0502020202020204" pitchFamily="34" charset="0"/>
                          <a:ea typeface="宋体" panose="02010600030101010101" pitchFamily="2" charset="-122"/>
                        </a:rPr>
                        <a:t>(1,4)        </a:t>
                      </a:r>
                      <a:endParaRPr kumimoji="0" lang="en-US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Century Gothic" panose="020B0502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121920" marR="12192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buSzPct val="75000"/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FDAD23"/>
                        </a:buClr>
                        <a:buFont typeface="Times New Roman" panose="02020603050405020304" pitchFamily="18" charset="0"/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entury Gothic" panose="020B0502020202020204" pitchFamily="34" charset="0"/>
                          <a:ea typeface="宋体" panose="02010600030101010101" pitchFamily="2" charset="-122"/>
                        </a:rPr>
                        <a:t>&lt;1,2,3,4&gt;</a:t>
                      </a:r>
                      <a:endParaRPr kumimoji="0" lang="en-US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Century Gothic" panose="020B0502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121920" marR="1219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</a:tr>
              <a:tr h="36195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buSzPct val="75000"/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FDAD23"/>
                        </a:buClr>
                        <a:buFont typeface="Times New Roman" panose="02020603050405020304" pitchFamily="18" charset="0"/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buSzTx/>
                        <a:buFontTx/>
                        <a:buNone/>
                      </a:pPr>
                      <a:endParaRPr kumimoji="0" lang="en-US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Century Gothic" panose="020B0502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121920" marR="12192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buSzPct val="75000"/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FDAD23"/>
                        </a:buClr>
                        <a:buFont typeface="Times New Roman" panose="02020603050405020304" pitchFamily="18" charset="0"/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entury Gothic" panose="020B0502020202020204" pitchFamily="34" charset="0"/>
                          <a:ea typeface="宋体" panose="02010600030101010101" pitchFamily="2" charset="-122"/>
                        </a:rPr>
                        <a:t>&lt;1,2,3,4,(6,2,3,4)*&gt;</a:t>
                      </a:r>
                      <a:endParaRPr kumimoji="0" lang="en-US" altLang="zh-CN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Century Gothic" panose="020B0502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121920" marR="1219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</a:tr>
              <a:tr h="36195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buSzPct val="75000"/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FDAD23"/>
                        </a:buClr>
                        <a:buFont typeface="Times New Roman" panose="02020603050405020304" pitchFamily="18" charset="0"/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entury Gothic" panose="020B0502020202020204" pitchFamily="34" charset="0"/>
                          <a:ea typeface="宋体" panose="02010600030101010101" pitchFamily="2" charset="-122"/>
                        </a:rPr>
                        <a:t>(1,7)         </a:t>
                      </a:r>
                      <a:endParaRPr kumimoji="0" lang="en-US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Century Gothic" panose="020B0502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121920" marR="12192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buSzPct val="75000"/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FDAD23"/>
                        </a:buClr>
                        <a:buFont typeface="Times New Roman" panose="02020603050405020304" pitchFamily="18" charset="0"/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entury Gothic" panose="020B0502020202020204" pitchFamily="34" charset="0"/>
                          <a:ea typeface="宋体" panose="02010600030101010101" pitchFamily="2" charset="-122"/>
                        </a:rPr>
                        <a:t>&lt;1,2,7&gt;</a:t>
                      </a:r>
                      <a:endParaRPr kumimoji="0" lang="en-US" altLang="zh-CN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Century Gothic" panose="020B0502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121920" marR="1219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</a:tr>
              <a:tr h="36036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buSzPct val="75000"/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FDAD23"/>
                        </a:buClr>
                        <a:buFont typeface="Times New Roman" panose="02020603050405020304" pitchFamily="18" charset="0"/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entury Gothic" panose="020B0502020202020204" pitchFamily="34" charset="0"/>
                          <a:ea typeface="宋体" panose="02010600030101010101" pitchFamily="2" charset="-122"/>
                        </a:rPr>
                        <a:t>                 </a:t>
                      </a:r>
                      <a:endParaRPr kumimoji="0" lang="en-US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Century Gothic" panose="020B0502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121920" marR="12192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buSzPct val="75000"/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FDAD23"/>
                        </a:buClr>
                        <a:buFont typeface="Times New Roman" panose="02020603050405020304" pitchFamily="18" charset="0"/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entury Gothic" panose="020B0502020202020204" pitchFamily="34" charset="0"/>
                          <a:ea typeface="宋体" panose="02010600030101010101" pitchFamily="2" charset="-122"/>
                        </a:rPr>
                        <a:t>&lt;1,2,3,4,6,2,7&gt;</a:t>
                      </a:r>
                      <a:endParaRPr kumimoji="0" lang="en-US" altLang="zh-CN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Century Gothic" panose="020B0502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121920" marR="1219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</a:tr>
              <a:tr h="36036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buSzPct val="75000"/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FDAD23"/>
                        </a:buClr>
                        <a:buFont typeface="Times New Roman" panose="02020603050405020304" pitchFamily="18" charset="0"/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buSzTx/>
                        <a:buFontTx/>
                        <a:buNone/>
                      </a:pPr>
                      <a:endParaRPr kumimoji="0" lang="en-US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Century Gothic" panose="020B0502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121920" marR="12192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buSzPct val="75000"/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FDAD23"/>
                        </a:buClr>
                        <a:buFont typeface="Times New Roman" panose="02020603050405020304" pitchFamily="18" charset="0"/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entury Gothic" panose="020B0502020202020204" pitchFamily="34" charset="0"/>
                          <a:ea typeface="宋体" panose="02010600030101010101" pitchFamily="2" charset="-122"/>
                        </a:rPr>
                        <a:t>&lt;1,2,3,4,6,(2,3,4,6)*,2,7&gt;</a:t>
                      </a:r>
                      <a:endParaRPr kumimoji="0" lang="en-US" altLang="zh-CN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Century Gothic" panose="020B0502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121920" marR="1219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</a:tr>
              <a:tr h="36195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buSzPct val="75000"/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FDAD23"/>
                        </a:buClr>
                        <a:buFont typeface="Times New Roman" panose="02020603050405020304" pitchFamily="18" charset="0"/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entury Gothic" panose="020B0502020202020204" pitchFamily="34" charset="0"/>
                          <a:ea typeface="宋体" panose="02010600030101010101" pitchFamily="2" charset="-122"/>
                        </a:rPr>
                        <a:t>(1,&lt;3,4&gt;)</a:t>
                      </a:r>
                      <a:endParaRPr kumimoji="0" lang="en-US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Century Gothic" panose="020B0502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121920" marR="12192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buSzPct val="75000"/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FDAD23"/>
                        </a:buClr>
                        <a:buFont typeface="Times New Roman" panose="02020603050405020304" pitchFamily="18" charset="0"/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entury Gothic" panose="020B0502020202020204" pitchFamily="34" charset="0"/>
                          <a:ea typeface="宋体" panose="02010600030101010101" pitchFamily="2" charset="-122"/>
                        </a:rPr>
                        <a:t>&lt;1,2,3,4&gt;</a:t>
                      </a:r>
                      <a:endParaRPr kumimoji="0" lang="en-US" altLang="zh-CN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Century Gothic" panose="020B0502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121920" marR="1219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</a:tr>
              <a:tr h="36036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buSzPct val="75000"/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FDAD23"/>
                        </a:buClr>
                        <a:buFont typeface="Times New Roman" panose="02020603050405020304" pitchFamily="18" charset="0"/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buSzTx/>
                        <a:buFontTx/>
                        <a:buNone/>
                      </a:pPr>
                      <a:endParaRPr kumimoji="0" lang="en-US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Century Gothic" panose="020B0502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121920" marR="12192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buSzPct val="75000"/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FDAD23"/>
                        </a:buClr>
                        <a:buFont typeface="Times New Roman" panose="02020603050405020304" pitchFamily="18" charset="0"/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entury Gothic" panose="020B0502020202020204" pitchFamily="34" charset="0"/>
                          <a:ea typeface="宋体" panose="02010600030101010101" pitchFamily="2" charset="-122"/>
                        </a:rPr>
                        <a:t>&lt;1,2,3,4,(6,2,3,4)*&gt;</a:t>
                      </a:r>
                      <a:endParaRPr kumimoji="0" lang="en-US" altLang="zh-CN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Century Gothic" panose="020B0502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121920" marR="1219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</a:tr>
              <a:tr h="36195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buSzPct val="75000"/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FDAD23"/>
                        </a:buClr>
                        <a:buFont typeface="Times New Roman" panose="02020603050405020304" pitchFamily="18" charset="0"/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entury Gothic" panose="020B0502020202020204" pitchFamily="34" charset="0"/>
                          <a:ea typeface="宋体" panose="02010600030101010101" pitchFamily="2" charset="-122"/>
                        </a:rPr>
                        <a:t>(1,&lt;3,5&gt;)         </a:t>
                      </a:r>
                      <a:endParaRPr kumimoji="0" lang="en-US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Century Gothic" panose="020B0502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121920" marR="12192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buSzPct val="75000"/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FDAD23"/>
                        </a:buClr>
                        <a:buFont typeface="Times New Roman" panose="02020603050405020304" pitchFamily="18" charset="0"/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entury Gothic" panose="020B0502020202020204" pitchFamily="34" charset="0"/>
                          <a:ea typeface="宋体" panose="02010600030101010101" pitchFamily="2" charset="-122"/>
                        </a:rPr>
                        <a:t>&lt;1,2,3,5&gt;</a:t>
                      </a:r>
                      <a:endParaRPr kumimoji="0" lang="en-US" altLang="zh-CN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Century Gothic" panose="020B0502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121920" marR="1219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</a:tr>
              <a:tr h="36671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buSzPct val="75000"/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FDAD23"/>
                        </a:buClr>
                        <a:buFont typeface="Times New Roman" panose="02020603050405020304" pitchFamily="18" charset="0"/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entury Gothic" panose="020B0502020202020204" pitchFamily="34" charset="0"/>
                          <a:ea typeface="宋体" panose="02010600030101010101" pitchFamily="2" charset="-122"/>
                        </a:rPr>
                        <a:t>(5,4)</a:t>
                      </a:r>
                      <a:endParaRPr kumimoji="0" lang="en-US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Century Gothic" panose="020B0502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121920" marR="12192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buSzPct val="75000"/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FDAD23"/>
                        </a:buClr>
                        <a:buFont typeface="Times New Roman" panose="02020603050405020304" pitchFamily="18" charset="0"/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entury Gothic" panose="020B0502020202020204" pitchFamily="34" charset="0"/>
                          <a:ea typeface="宋体" panose="02010600030101010101" pitchFamily="2" charset="-122"/>
                        </a:rPr>
                        <a:t>&lt;5,6,2,3,4&gt;</a:t>
                      </a:r>
                      <a:endParaRPr kumimoji="0" lang="en-US" altLang="zh-CN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Century Gothic" panose="020B0502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121920" marR="1219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</a:tr>
              <a:tr h="36671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buSzPct val="75000"/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FDAD23"/>
                        </a:buClr>
                        <a:buFont typeface="Times New Roman" panose="02020603050405020304" pitchFamily="18" charset="0"/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buSzTx/>
                        <a:buFontTx/>
                        <a:buNone/>
                      </a:pPr>
                      <a:endParaRPr kumimoji="0" lang="en-US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Century Gothic" panose="020B0502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121920" marR="12192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buSzPct val="75000"/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FDAD23"/>
                        </a:buClr>
                        <a:buFont typeface="Times New Roman" panose="02020603050405020304" pitchFamily="18" charset="0"/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entury Gothic" panose="020B0502020202020204" pitchFamily="34" charset="0"/>
                          <a:ea typeface="宋体" panose="02010600030101010101" pitchFamily="2" charset="-122"/>
                        </a:rPr>
                        <a:t>&lt;5,6,2,3,4,(6,2,3,4)*&gt;</a:t>
                      </a:r>
                      <a:endParaRPr kumimoji="0" lang="en-US" altLang="zh-CN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Century Gothic" panose="020B0502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121920" marR="1219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</a:tr>
            </a:tbl>
          </a:graphicData>
        </a:graphic>
      </p:graphicFrame>
      <p:sp>
        <p:nvSpPr>
          <p:cNvPr id="39977" name="Oval 53"/>
          <p:cNvSpPr>
            <a:spLocks noChangeArrowheads="1"/>
          </p:cNvSpPr>
          <p:nvPr/>
        </p:nvSpPr>
        <p:spPr bwMode="auto">
          <a:xfrm>
            <a:off x="8128000" y="3124200"/>
            <a:ext cx="609600" cy="4572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</a:ln>
        </p:spPr>
        <p:txBody>
          <a:bodyPr wrap="none" anchor="ctr"/>
          <a:lstStyle/>
          <a:p>
            <a:pPr eaLnBrk="1" hangingPunct="1"/>
            <a:endParaRPr lang="zh-CN" altLang="zh-CN">
              <a:ea typeface="宋体" panose="02010600030101010101" pitchFamily="2" charset="-122"/>
            </a:endParaRPr>
          </a:p>
        </p:txBody>
      </p:sp>
      <p:sp>
        <p:nvSpPr>
          <p:cNvPr id="39978" name="Oval 54"/>
          <p:cNvSpPr>
            <a:spLocks noChangeArrowheads="1"/>
          </p:cNvSpPr>
          <p:nvPr/>
        </p:nvSpPr>
        <p:spPr bwMode="auto">
          <a:xfrm>
            <a:off x="6908800" y="1752600"/>
            <a:ext cx="609600" cy="4572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</a:ln>
        </p:spPr>
        <p:txBody>
          <a:bodyPr wrap="none" anchor="ctr"/>
          <a:lstStyle/>
          <a:p>
            <a:pPr eaLnBrk="1" hangingPunct="1"/>
            <a:endParaRPr lang="zh-CN" altLang="zh-CN">
              <a:ea typeface="宋体" panose="02010600030101010101" pitchFamily="2" charset="-122"/>
            </a:endParaRPr>
          </a:p>
        </p:txBody>
      </p:sp>
      <p:sp>
        <p:nvSpPr>
          <p:cNvPr id="39979" name="Freeform 55"/>
          <p:cNvSpPr/>
          <p:nvPr/>
        </p:nvSpPr>
        <p:spPr bwMode="auto">
          <a:xfrm>
            <a:off x="7213600" y="1295400"/>
            <a:ext cx="203200" cy="457200"/>
          </a:xfrm>
          <a:custGeom>
            <a:avLst/>
            <a:gdLst>
              <a:gd name="T0" fmla="*/ 2147483647 w 96"/>
              <a:gd name="T1" fmla="*/ 0 h 288"/>
              <a:gd name="T2" fmla="*/ 0 w 96"/>
              <a:gd name="T3" fmla="*/ 2147483647 h 288"/>
              <a:gd name="T4" fmla="*/ 2147483647 w 96"/>
              <a:gd name="T5" fmla="*/ 2147483647 h 288"/>
              <a:gd name="T6" fmla="*/ 0 w 96"/>
              <a:gd name="T7" fmla="*/ 2147483647 h 288"/>
              <a:gd name="T8" fmla="*/ 0 60000 65536"/>
              <a:gd name="T9" fmla="*/ 0 60000 65536"/>
              <a:gd name="T10" fmla="*/ 0 60000 65536"/>
              <a:gd name="T11" fmla="*/ 0 60000 65536"/>
              <a:gd name="T12" fmla="*/ 0 w 96"/>
              <a:gd name="T13" fmla="*/ 0 h 288"/>
              <a:gd name="T14" fmla="*/ 96 w 96"/>
              <a:gd name="T15" fmla="*/ 288 h 288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96" h="288">
                <a:moveTo>
                  <a:pt x="96" y="0"/>
                </a:moveTo>
                <a:cubicBezTo>
                  <a:pt x="48" y="32"/>
                  <a:pt x="0" y="64"/>
                  <a:pt x="0" y="96"/>
                </a:cubicBezTo>
                <a:cubicBezTo>
                  <a:pt x="0" y="128"/>
                  <a:pt x="96" y="160"/>
                  <a:pt x="96" y="192"/>
                </a:cubicBezTo>
                <a:cubicBezTo>
                  <a:pt x="96" y="224"/>
                  <a:pt x="16" y="272"/>
                  <a:pt x="0" y="288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 type="none" w="med" len="med"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9980" name="Freeform 56"/>
          <p:cNvSpPr/>
          <p:nvPr/>
        </p:nvSpPr>
        <p:spPr bwMode="auto">
          <a:xfrm>
            <a:off x="7010400" y="5562600"/>
            <a:ext cx="203200" cy="457200"/>
          </a:xfrm>
          <a:custGeom>
            <a:avLst/>
            <a:gdLst>
              <a:gd name="T0" fmla="*/ 2147483647 w 96"/>
              <a:gd name="T1" fmla="*/ 0 h 288"/>
              <a:gd name="T2" fmla="*/ 0 w 96"/>
              <a:gd name="T3" fmla="*/ 2147483647 h 288"/>
              <a:gd name="T4" fmla="*/ 2147483647 w 96"/>
              <a:gd name="T5" fmla="*/ 2147483647 h 288"/>
              <a:gd name="T6" fmla="*/ 0 w 96"/>
              <a:gd name="T7" fmla="*/ 2147483647 h 288"/>
              <a:gd name="T8" fmla="*/ 0 60000 65536"/>
              <a:gd name="T9" fmla="*/ 0 60000 65536"/>
              <a:gd name="T10" fmla="*/ 0 60000 65536"/>
              <a:gd name="T11" fmla="*/ 0 60000 65536"/>
              <a:gd name="T12" fmla="*/ 0 w 96"/>
              <a:gd name="T13" fmla="*/ 0 h 288"/>
              <a:gd name="T14" fmla="*/ 96 w 96"/>
              <a:gd name="T15" fmla="*/ 288 h 288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96" h="288">
                <a:moveTo>
                  <a:pt x="96" y="0"/>
                </a:moveTo>
                <a:cubicBezTo>
                  <a:pt x="48" y="32"/>
                  <a:pt x="0" y="64"/>
                  <a:pt x="0" y="96"/>
                </a:cubicBezTo>
                <a:cubicBezTo>
                  <a:pt x="0" y="128"/>
                  <a:pt x="96" y="160"/>
                  <a:pt x="96" y="192"/>
                </a:cubicBezTo>
                <a:cubicBezTo>
                  <a:pt x="96" y="224"/>
                  <a:pt x="16" y="272"/>
                  <a:pt x="0" y="288"/>
                </a:cubicBezTo>
              </a:path>
            </a:pathLst>
          </a:custGeom>
          <a:noFill/>
          <a:ln w="9525">
            <a:solidFill>
              <a:schemeClr val="bg1"/>
            </a:solidFill>
            <a:round/>
            <a:headEnd type="none" w="med" len="med"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9981" name="Text Box 57"/>
          <p:cNvSpPr txBox="1">
            <a:spLocks noChangeArrowheads="1"/>
          </p:cNvSpPr>
          <p:nvPr/>
        </p:nvSpPr>
        <p:spPr bwMode="auto">
          <a:xfrm>
            <a:off x="6908800" y="1752600"/>
            <a:ext cx="6096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algn="ctr" eaLnBrk="1" hangingPunct="1">
              <a:spcBef>
                <a:spcPct val="50000"/>
              </a:spcBef>
            </a:pPr>
            <a:r>
              <a:rPr lang="en-US" altLang="zh-CN" sz="2400" b="1">
                <a:ea typeface="宋体" panose="02010600030101010101" pitchFamily="2" charset="-122"/>
              </a:rPr>
              <a:t>1</a:t>
            </a:r>
            <a:endParaRPr lang="en-US" altLang="zh-CN" sz="2400" b="1">
              <a:ea typeface="宋体" panose="02010600030101010101" pitchFamily="2" charset="-122"/>
            </a:endParaRPr>
          </a:p>
        </p:txBody>
      </p:sp>
      <p:sp>
        <p:nvSpPr>
          <p:cNvPr id="39982" name="Text Box 58"/>
          <p:cNvSpPr txBox="1">
            <a:spLocks noChangeArrowheads="1"/>
          </p:cNvSpPr>
          <p:nvPr/>
        </p:nvSpPr>
        <p:spPr bwMode="auto">
          <a:xfrm>
            <a:off x="8128000" y="3124200"/>
            <a:ext cx="6096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algn="ctr" eaLnBrk="1" hangingPunct="1">
              <a:spcBef>
                <a:spcPct val="50000"/>
              </a:spcBef>
            </a:pPr>
            <a:r>
              <a:rPr lang="en-US" altLang="zh-CN" sz="2400" b="1">
                <a:ea typeface="宋体" panose="02010600030101010101" pitchFamily="2" charset="-122"/>
              </a:rPr>
              <a:t>3</a:t>
            </a:r>
            <a:endParaRPr lang="en-US" altLang="zh-CN" sz="2400" b="1">
              <a:ea typeface="宋体" panose="02010600030101010101" pitchFamily="2" charset="-122"/>
            </a:endParaRPr>
          </a:p>
        </p:txBody>
      </p:sp>
      <p:sp>
        <p:nvSpPr>
          <p:cNvPr id="39983" name="Text Box 59"/>
          <p:cNvSpPr txBox="1">
            <a:spLocks noChangeArrowheads="1"/>
          </p:cNvSpPr>
          <p:nvPr/>
        </p:nvSpPr>
        <p:spPr bwMode="auto">
          <a:xfrm>
            <a:off x="7518400" y="1752601"/>
            <a:ext cx="2336800" cy="3968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sz="2000">
                <a:latin typeface="Century Gothic" panose="020B0502020202020204" pitchFamily="34" charset="0"/>
                <a:ea typeface="宋体" panose="02010600030101010101" pitchFamily="2" charset="-122"/>
              </a:rPr>
              <a:t>input(X,Y))</a:t>
            </a:r>
            <a:endParaRPr lang="en-US" altLang="zh-CN" sz="2000">
              <a:latin typeface="Century Gothic" panose="020B0502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9984" name="Text Box 60"/>
          <p:cNvSpPr txBox="1">
            <a:spLocks noChangeArrowheads="1"/>
          </p:cNvSpPr>
          <p:nvPr/>
        </p:nvSpPr>
        <p:spPr bwMode="auto">
          <a:xfrm>
            <a:off x="9550400" y="3886201"/>
            <a:ext cx="1524000" cy="3968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sz="2000">
                <a:latin typeface="Century Gothic" panose="020B0502020202020204" pitchFamily="34" charset="0"/>
                <a:ea typeface="宋体" panose="02010600030101010101" pitchFamily="2" charset="-122"/>
              </a:rPr>
              <a:t>Y := Y-X</a:t>
            </a:r>
            <a:endParaRPr lang="en-US" altLang="zh-CN" sz="2000">
              <a:latin typeface="Century Gothic" panose="020B0502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9985" name="Text Box 61"/>
          <p:cNvSpPr txBox="1">
            <a:spLocks noChangeArrowheads="1"/>
          </p:cNvSpPr>
          <p:nvPr/>
        </p:nvSpPr>
        <p:spPr bwMode="auto">
          <a:xfrm>
            <a:off x="5791200" y="3886201"/>
            <a:ext cx="1625600" cy="3968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sz="2000" dirty="0">
                <a:solidFill>
                  <a:schemeClr val="bg1"/>
                </a:solidFill>
                <a:latin typeface="Century Gothic" panose="020B0502020202020204" pitchFamily="34" charset="0"/>
                <a:ea typeface="宋体" panose="02010600030101010101" pitchFamily="2" charset="-122"/>
              </a:rPr>
              <a:t>input(X)</a:t>
            </a:r>
            <a:endParaRPr lang="en-US" altLang="zh-CN" sz="2000" dirty="0">
              <a:solidFill>
                <a:schemeClr val="bg1"/>
              </a:solidFill>
              <a:latin typeface="Century Gothic" panose="020B0502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9986" name="Text Box 62"/>
          <p:cNvSpPr txBox="1">
            <a:spLocks noChangeArrowheads="1"/>
          </p:cNvSpPr>
          <p:nvPr/>
        </p:nvSpPr>
        <p:spPr bwMode="auto">
          <a:xfrm>
            <a:off x="7721600" y="2667001"/>
            <a:ext cx="1117600" cy="3968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sz="2000">
                <a:latin typeface="Century Gothic" panose="020B0502020202020204" pitchFamily="34" charset="0"/>
                <a:ea typeface="宋体" panose="02010600030101010101" pitchFamily="2" charset="-122"/>
              </a:rPr>
              <a:t>Y&gt;0</a:t>
            </a:r>
            <a:endParaRPr lang="en-US" altLang="zh-CN" sz="2000">
              <a:latin typeface="Century Gothic" panose="020B0502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9987" name="Text Box 64"/>
          <p:cNvSpPr txBox="1">
            <a:spLocks noChangeArrowheads="1"/>
          </p:cNvSpPr>
          <p:nvPr/>
        </p:nvSpPr>
        <p:spPr bwMode="auto">
          <a:xfrm>
            <a:off x="8737600" y="3429001"/>
            <a:ext cx="1016000" cy="3968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sz="2000">
                <a:latin typeface="Century Gothic" panose="020B0502020202020204" pitchFamily="34" charset="0"/>
                <a:ea typeface="宋体" panose="02010600030101010101" pitchFamily="2" charset="-122"/>
              </a:rPr>
              <a:t>X&gt;0</a:t>
            </a:r>
            <a:endParaRPr lang="en-US" altLang="zh-CN" sz="2000">
              <a:latin typeface="Century Gothic" panose="020B0502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9988" name="Text Box 65"/>
          <p:cNvSpPr txBox="1">
            <a:spLocks noChangeArrowheads="1"/>
          </p:cNvSpPr>
          <p:nvPr/>
        </p:nvSpPr>
        <p:spPr bwMode="auto">
          <a:xfrm>
            <a:off x="7416800" y="5257801"/>
            <a:ext cx="2235200" cy="3968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sz="2000">
                <a:latin typeface="Century Gothic" panose="020B0502020202020204" pitchFamily="34" charset="0"/>
                <a:ea typeface="宋体" panose="02010600030101010101" pitchFamily="2" charset="-122"/>
              </a:rPr>
              <a:t>output(X,Y)</a:t>
            </a:r>
            <a:endParaRPr lang="en-US" altLang="zh-CN" sz="2000">
              <a:latin typeface="Century Gothic" panose="020B0502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9989" name="Oval 66"/>
          <p:cNvSpPr>
            <a:spLocks noChangeArrowheads="1"/>
          </p:cNvSpPr>
          <p:nvPr/>
        </p:nvSpPr>
        <p:spPr bwMode="auto">
          <a:xfrm>
            <a:off x="6908800" y="2514600"/>
            <a:ext cx="609600" cy="4572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</a:ln>
        </p:spPr>
        <p:txBody>
          <a:bodyPr wrap="none" anchor="ctr"/>
          <a:lstStyle/>
          <a:p>
            <a:pPr eaLnBrk="1" hangingPunct="1"/>
            <a:endParaRPr lang="zh-CN" altLang="zh-CN">
              <a:ea typeface="宋体" panose="02010600030101010101" pitchFamily="2" charset="-122"/>
            </a:endParaRPr>
          </a:p>
        </p:txBody>
      </p:sp>
      <p:sp>
        <p:nvSpPr>
          <p:cNvPr id="39990" name="Oval 67"/>
          <p:cNvSpPr>
            <a:spLocks noChangeArrowheads="1"/>
          </p:cNvSpPr>
          <p:nvPr/>
        </p:nvSpPr>
        <p:spPr bwMode="auto">
          <a:xfrm>
            <a:off x="8128000" y="4419600"/>
            <a:ext cx="609600" cy="4572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</a:ln>
        </p:spPr>
        <p:txBody>
          <a:bodyPr wrap="none" anchor="ctr"/>
          <a:lstStyle/>
          <a:p>
            <a:pPr eaLnBrk="1" hangingPunct="1"/>
            <a:endParaRPr lang="zh-CN" altLang="zh-CN">
              <a:ea typeface="宋体" panose="02010600030101010101" pitchFamily="2" charset="-122"/>
            </a:endParaRPr>
          </a:p>
        </p:txBody>
      </p:sp>
      <p:sp>
        <p:nvSpPr>
          <p:cNvPr id="39991" name="Oval 68"/>
          <p:cNvSpPr>
            <a:spLocks noChangeArrowheads="1"/>
          </p:cNvSpPr>
          <p:nvPr/>
        </p:nvSpPr>
        <p:spPr bwMode="auto">
          <a:xfrm>
            <a:off x="8940800" y="3886200"/>
            <a:ext cx="609600" cy="4572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</a:ln>
        </p:spPr>
        <p:txBody>
          <a:bodyPr wrap="none" anchor="ctr"/>
          <a:lstStyle/>
          <a:p>
            <a:pPr eaLnBrk="1" hangingPunct="1"/>
            <a:endParaRPr lang="zh-CN" altLang="zh-CN">
              <a:ea typeface="宋体" panose="02010600030101010101" pitchFamily="2" charset="-122"/>
            </a:endParaRPr>
          </a:p>
        </p:txBody>
      </p:sp>
      <p:sp>
        <p:nvSpPr>
          <p:cNvPr id="39992" name="Oval 69"/>
          <p:cNvSpPr>
            <a:spLocks noChangeArrowheads="1"/>
          </p:cNvSpPr>
          <p:nvPr/>
        </p:nvSpPr>
        <p:spPr bwMode="auto">
          <a:xfrm>
            <a:off x="7315200" y="3886200"/>
            <a:ext cx="609600" cy="4572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</a:ln>
        </p:spPr>
        <p:txBody>
          <a:bodyPr wrap="none" anchor="ctr"/>
          <a:lstStyle/>
          <a:p>
            <a:pPr eaLnBrk="1" hangingPunct="1"/>
            <a:endParaRPr lang="zh-CN" altLang="zh-CN">
              <a:ea typeface="宋体" panose="02010600030101010101" pitchFamily="2" charset="-122"/>
            </a:endParaRPr>
          </a:p>
        </p:txBody>
      </p:sp>
      <p:sp>
        <p:nvSpPr>
          <p:cNvPr id="39993" name="Oval 70"/>
          <p:cNvSpPr>
            <a:spLocks noChangeArrowheads="1"/>
          </p:cNvSpPr>
          <p:nvPr/>
        </p:nvSpPr>
        <p:spPr bwMode="auto">
          <a:xfrm>
            <a:off x="6908800" y="5105400"/>
            <a:ext cx="609600" cy="4572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</a:ln>
        </p:spPr>
        <p:txBody>
          <a:bodyPr wrap="none" anchor="ctr"/>
          <a:lstStyle/>
          <a:p>
            <a:pPr eaLnBrk="1" hangingPunct="1"/>
            <a:endParaRPr lang="zh-CN" altLang="zh-CN">
              <a:ea typeface="宋体" panose="02010600030101010101" pitchFamily="2" charset="-122"/>
            </a:endParaRPr>
          </a:p>
        </p:txBody>
      </p:sp>
      <p:sp>
        <p:nvSpPr>
          <p:cNvPr id="39994" name="Line 71"/>
          <p:cNvSpPr>
            <a:spLocks noChangeShapeType="1"/>
          </p:cNvSpPr>
          <p:nvPr/>
        </p:nvSpPr>
        <p:spPr bwMode="auto">
          <a:xfrm>
            <a:off x="7213600" y="2209800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9995" name="Line 72"/>
          <p:cNvSpPr>
            <a:spLocks noChangeShapeType="1"/>
          </p:cNvSpPr>
          <p:nvPr/>
        </p:nvSpPr>
        <p:spPr bwMode="auto">
          <a:xfrm>
            <a:off x="7518400" y="2895600"/>
            <a:ext cx="7112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9996" name="Line 73"/>
          <p:cNvSpPr>
            <a:spLocks noChangeShapeType="1"/>
          </p:cNvSpPr>
          <p:nvPr/>
        </p:nvSpPr>
        <p:spPr bwMode="auto">
          <a:xfrm>
            <a:off x="8636000" y="3581400"/>
            <a:ext cx="4064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9997" name="Line 74"/>
          <p:cNvSpPr>
            <a:spLocks noChangeShapeType="1"/>
          </p:cNvSpPr>
          <p:nvPr/>
        </p:nvSpPr>
        <p:spPr bwMode="auto">
          <a:xfrm flipH="1">
            <a:off x="7721600" y="3505200"/>
            <a:ext cx="5080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9998" name="Line 75"/>
          <p:cNvSpPr>
            <a:spLocks noChangeShapeType="1"/>
          </p:cNvSpPr>
          <p:nvPr/>
        </p:nvSpPr>
        <p:spPr bwMode="auto">
          <a:xfrm>
            <a:off x="7721600" y="4191000"/>
            <a:ext cx="5080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9999" name="Line 76"/>
          <p:cNvSpPr>
            <a:spLocks noChangeShapeType="1"/>
          </p:cNvSpPr>
          <p:nvPr/>
        </p:nvSpPr>
        <p:spPr bwMode="auto">
          <a:xfrm flipH="1">
            <a:off x="8636000" y="4267200"/>
            <a:ext cx="4064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0000" name="Text Box 78"/>
          <p:cNvSpPr txBox="1">
            <a:spLocks noChangeArrowheads="1"/>
          </p:cNvSpPr>
          <p:nvPr/>
        </p:nvSpPr>
        <p:spPr bwMode="auto">
          <a:xfrm>
            <a:off x="7213600" y="3429001"/>
            <a:ext cx="914400" cy="3968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sz="2000" dirty="0">
                <a:latin typeface="Century Gothic" panose="020B0502020202020204" pitchFamily="34" charset="0"/>
                <a:ea typeface="宋体" panose="02010600030101010101" pitchFamily="2" charset="-122"/>
              </a:rPr>
              <a:t>X</a:t>
            </a:r>
            <a:r>
              <a:rPr lang="en-US" altLang="zh-CN" sz="2000" dirty="0">
                <a:latin typeface="Century Gothic" panose="020B0502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</a:t>
            </a:r>
            <a:r>
              <a:rPr lang="en-US" altLang="zh-CN" sz="2000" dirty="0">
                <a:latin typeface="Century Gothic" panose="020B0502020202020204" pitchFamily="34" charset="0"/>
                <a:ea typeface="宋体" panose="02010600030101010101" pitchFamily="2" charset="-122"/>
              </a:rPr>
              <a:t>0</a:t>
            </a:r>
            <a:endParaRPr lang="en-US" altLang="zh-CN" sz="2000" dirty="0">
              <a:latin typeface="Century Gothic" panose="020B0502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40001" name="Text Box 79"/>
          <p:cNvSpPr txBox="1">
            <a:spLocks noChangeArrowheads="1"/>
          </p:cNvSpPr>
          <p:nvPr/>
        </p:nvSpPr>
        <p:spPr bwMode="auto">
          <a:xfrm>
            <a:off x="6908800" y="2514600"/>
            <a:ext cx="6096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algn="ctr" eaLnBrk="1" hangingPunct="1">
              <a:spcBef>
                <a:spcPct val="50000"/>
              </a:spcBef>
            </a:pPr>
            <a:r>
              <a:rPr lang="en-US" altLang="zh-CN" sz="2400" b="1">
                <a:ea typeface="宋体" panose="02010600030101010101" pitchFamily="2" charset="-122"/>
              </a:rPr>
              <a:t>2</a:t>
            </a:r>
            <a:endParaRPr lang="en-US" altLang="zh-CN" sz="2400" b="1">
              <a:ea typeface="宋体" panose="02010600030101010101" pitchFamily="2" charset="-122"/>
            </a:endParaRPr>
          </a:p>
        </p:txBody>
      </p:sp>
      <p:sp>
        <p:nvSpPr>
          <p:cNvPr id="40002" name="Text Box 80"/>
          <p:cNvSpPr txBox="1">
            <a:spLocks noChangeArrowheads="1"/>
          </p:cNvSpPr>
          <p:nvPr/>
        </p:nvSpPr>
        <p:spPr bwMode="auto">
          <a:xfrm>
            <a:off x="8940800" y="3886200"/>
            <a:ext cx="6096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algn="ctr" eaLnBrk="1" hangingPunct="1">
              <a:spcBef>
                <a:spcPct val="50000"/>
              </a:spcBef>
            </a:pPr>
            <a:r>
              <a:rPr lang="en-US" altLang="zh-CN" sz="2400" b="1">
                <a:ea typeface="宋体" panose="02010600030101010101" pitchFamily="2" charset="-122"/>
              </a:rPr>
              <a:t>4</a:t>
            </a:r>
            <a:endParaRPr lang="en-US" altLang="zh-CN" sz="2400" b="1">
              <a:ea typeface="宋体" panose="02010600030101010101" pitchFamily="2" charset="-122"/>
            </a:endParaRPr>
          </a:p>
        </p:txBody>
      </p:sp>
      <p:sp>
        <p:nvSpPr>
          <p:cNvPr id="40003" name="Text Box 81"/>
          <p:cNvSpPr txBox="1">
            <a:spLocks noChangeArrowheads="1"/>
          </p:cNvSpPr>
          <p:nvPr/>
        </p:nvSpPr>
        <p:spPr bwMode="auto">
          <a:xfrm>
            <a:off x="7315200" y="3886200"/>
            <a:ext cx="6096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algn="ctr" eaLnBrk="1" hangingPunct="1">
              <a:spcBef>
                <a:spcPct val="50000"/>
              </a:spcBef>
            </a:pPr>
            <a:r>
              <a:rPr lang="en-US" altLang="zh-CN" sz="2400" b="1">
                <a:ea typeface="宋体" panose="02010600030101010101" pitchFamily="2" charset="-122"/>
              </a:rPr>
              <a:t>5</a:t>
            </a:r>
            <a:endParaRPr lang="en-US" altLang="zh-CN" sz="2400" b="1">
              <a:ea typeface="宋体" panose="02010600030101010101" pitchFamily="2" charset="-122"/>
            </a:endParaRPr>
          </a:p>
        </p:txBody>
      </p:sp>
      <p:sp>
        <p:nvSpPr>
          <p:cNvPr id="40004" name="Text Box 82"/>
          <p:cNvSpPr txBox="1">
            <a:spLocks noChangeArrowheads="1"/>
          </p:cNvSpPr>
          <p:nvPr/>
        </p:nvSpPr>
        <p:spPr bwMode="auto">
          <a:xfrm>
            <a:off x="8128000" y="4419600"/>
            <a:ext cx="6096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algn="ctr" eaLnBrk="1" hangingPunct="1">
              <a:spcBef>
                <a:spcPct val="50000"/>
              </a:spcBef>
            </a:pPr>
            <a:r>
              <a:rPr lang="en-US" altLang="zh-CN" sz="2400" b="1">
                <a:ea typeface="宋体" panose="02010600030101010101" pitchFamily="2" charset="-122"/>
              </a:rPr>
              <a:t>6</a:t>
            </a:r>
            <a:endParaRPr lang="en-US" altLang="zh-CN" sz="2400" b="1">
              <a:ea typeface="宋体" panose="02010600030101010101" pitchFamily="2" charset="-122"/>
            </a:endParaRPr>
          </a:p>
        </p:txBody>
      </p:sp>
      <p:sp>
        <p:nvSpPr>
          <p:cNvPr id="40005" name="Text Box 83"/>
          <p:cNvSpPr txBox="1">
            <a:spLocks noChangeArrowheads="1"/>
          </p:cNvSpPr>
          <p:nvPr/>
        </p:nvSpPr>
        <p:spPr bwMode="auto">
          <a:xfrm>
            <a:off x="6908800" y="5105400"/>
            <a:ext cx="6096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algn="ctr" eaLnBrk="1" hangingPunct="1">
              <a:spcBef>
                <a:spcPct val="50000"/>
              </a:spcBef>
            </a:pPr>
            <a:r>
              <a:rPr lang="en-US" altLang="zh-CN" sz="2400" b="1">
                <a:ea typeface="宋体" panose="02010600030101010101" pitchFamily="2" charset="-122"/>
              </a:rPr>
              <a:t>7</a:t>
            </a:r>
            <a:endParaRPr lang="en-US" altLang="zh-CN" sz="2400" b="1">
              <a:ea typeface="宋体" panose="02010600030101010101" pitchFamily="2" charset="-122"/>
            </a:endParaRPr>
          </a:p>
        </p:txBody>
      </p:sp>
      <p:sp>
        <p:nvSpPr>
          <p:cNvPr id="40006" name="Freeform 84"/>
          <p:cNvSpPr/>
          <p:nvPr/>
        </p:nvSpPr>
        <p:spPr bwMode="auto">
          <a:xfrm>
            <a:off x="6383867" y="2971800"/>
            <a:ext cx="728133" cy="2209800"/>
          </a:xfrm>
          <a:custGeom>
            <a:avLst/>
            <a:gdLst>
              <a:gd name="T0" fmla="*/ 2147483647 w 344"/>
              <a:gd name="T1" fmla="*/ 0 h 1392"/>
              <a:gd name="T2" fmla="*/ 2147483647 w 344"/>
              <a:gd name="T3" fmla="*/ 2147483647 h 1392"/>
              <a:gd name="T4" fmla="*/ 2147483647 w 344"/>
              <a:gd name="T5" fmla="*/ 2147483647 h 1392"/>
              <a:gd name="T6" fmla="*/ 2147483647 w 344"/>
              <a:gd name="T7" fmla="*/ 2147483647 h 1392"/>
              <a:gd name="T8" fmla="*/ 2147483647 w 344"/>
              <a:gd name="T9" fmla="*/ 2147483647 h 139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44"/>
              <a:gd name="T16" fmla="*/ 0 h 1392"/>
              <a:gd name="T17" fmla="*/ 344 w 344"/>
              <a:gd name="T18" fmla="*/ 1392 h 139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44" h="1392">
                <a:moveTo>
                  <a:pt x="296" y="0"/>
                </a:moveTo>
                <a:cubicBezTo>
                  <a:pt x="224" y="88"/>
                  <a:pt x="152" y="176"/>
                  <a:pt x="104" y="288"/>
                </a:cubicBezTo>
                <a:cubicBezTo>
                  <a:pt x="56" y="400"/>
                  <a:pt x="0" y="536"/>
                  <a:pt x="8" y="672"/>
                </a:cubicBezTo>
                <a:cubicBezTo>
                  <a:pt x="16" y="808"/>
                  <a:pt x="96" y="984"/>
                  <a:pt x="152" y="1104"/>
                </a:cubicBezTo>
                <a:cubicBezTo>
                  <a:pt x="208" y="1224"/>
                  <a:pt x="276" y="1308"/>
                  <a:pt x="344" y="1392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 type="none" w="med" len="med"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0007" name="Text Box 87"/>
          <p:cNvSpPr txBox="1">
            <a:spLocks noChangeArrowheads="1"/>
          </p:cNvSpPr>
          <p:nvPr/>
        </p:nvSpPr>
        <p:spPr bwMode="auto">
          <a:xfrm>
            <a:off x="5791200" y="3048001"/>
            <a:ext cx="914400" cy="3968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sz="2000">
                <a:solidFill>
                  <a:schemeClr val="bg1"/>
                </a:solidFill>
                <a:latin typeface="Century Gothic" panose="020B0502020202020204" pitchFamily="34" charset="0"/>
                <a:ea typeface="宋体" panose="02010600030101010101" pitchFamily="2" charset="-122"/>
              </a:rPr>
              <a:t>Y</a:t>
            </a:r>
            <a:r>
              <a:rPr lang="en-US" altLang="zh-CN" sz="2000">
                <a:solidFill>
                  <a:schemeClr val="bg1"/>
                </a:solidFill>
                <a:latin typeface="Century Gothic" panose="020B0502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</a:t>
            </a:r>
            <a:r>
              <a:rPr lang="en-US" altLang="zh-CN" sz="2000">
                <a:solidFill>
                  <a:schemeClr val="bg1"/>
                </a:solidFill>
                <a:latin typeface="Century Gothic" panose="020B0502020202020204" pitchFamily="34" charset="0"/>
                <a:ea typeface="宋体" panose="02010600030101010101" pitchFamily="2" charset="-122"/>
              </a:rPr>
              <a:t>0</a:t>
            </a:r>
            <a:endParaRPr lang="en-US" altLang="zh-CN" sz="2000">
              <a:solidFill>
                <a:schemeClr val="bg1"/>
              </a:solidFill>
              <a:latin typeface="Century Gothic" panose="020B0502020202020204" pitchFamily="34" charset="0"/>
              <a:ea typeface="宋体" panose="02010600030101010101" pitchFamily="2" charset="-122"/>
            </a:endParaRPr>
          </a:p>
        </p:txBody>
      </p:sp>
      <p:cxnSp>
        <p:nvCxnSpPr>
          <p:cNvPr id="39" name="曲线连接符 38"/>
          <p:cNvCxnSpPr/>
          <p:nvPr/>
        </p:nvCxnSpPr>
        <p:spPr>
          <a:xfrm flipH="1" flipV="1">
            <a:off x="7467600" y="2705100"/>
            <a:ext cx="1219200" cy="1905000"/>
          </a:xfrm>
          <a:prstGeom prst="curvedConnector3">
            <a:avLst>
              <a:gd name="adj1" fmla="val -246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直接连接符 2"/>
          <p:cNvCxnSpPr/>
          <p:nvPr/>
        </p:nvCxnSpPr>
        <p:spPr>
          <a:xfrm>
            <a:off x="101600" y="4800600"/>
            <a:ext cx="5791200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900" name="Text Box 24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6212840" y="3861436"/>
            <a:ext cx="1625600" cy="3968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</a:pPr>
            <a:r>
              <a:rPr lang="en-US" altLang="zh-CN" sz="2000">
                <a:latin typeface="Century Gothic" panose="020B0502020202020204" pitchFamily="34" charset="0"/>
                <a:ea typeface="宋体" panose="02010600030101010101" pitchFamily="2" charset="-122"/>
              </a:rPr>
              <a:t>input(X)</a:t>
            </a:r>
            <a:endParaRPr lang="en-US" altLang="zh-CN" sz="2000">
              <a:latin typeface="Century Gothic" panose="020B0502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900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381000"/>
            <a:ext cx="7772400" cy="762000"/>
          </a:xfrm>
        </p:spPr>
        <p:txBody>
          <a:bodyPr/>
          <a:lstStyle/>
          <a:p>
            <a:pPr eaLnBrk="1" hangingPunct="1"/>
            <a:r>
              <a:rPr lang="en-US" altLang="zh-CN" smtClean="0">
                <a:ea typeface="宋体" panose="02010600030101010101" pitchFamily="2" charset="-122"/>
              </a:rPr>
              <a:t>Identifying DU-Pairs – Variable X</a:t>
            </a:r>
            <a:endParaRPr lang="en-US" altLang="zh-CN" smtClean="0">
              <a:ea typeface="宋体" panose="02010600030101010101" pitchFamily="2" charset="-122"/>
            </a:endParaRPr>
          </a:p>
        </p:txBody>
      </p:sp>
      <p:graphicFrame>
        <p:nvGraphicFramePr>
          <p:cNvPr id="5" name="Group 202"/>
          <p:cNvGraphicFramePr>
            <a:graphicFrameLocks noGrp="1"/>
          </p:cNvGraphicFramePr>
          <p:nvPr>
            <p:ph type="tbl" idx="1"/>
          </p:nvPr>
        </p:nvGraphicFramePr>
        <p:xfrm>
          <a:off x="76200" y="1447800"/>
          <a:ext cx="4330700" cy="3881439"/>
        </p:xfrm>
        <a:graphic>
          <a:graphicData uri="http://schemas.openxmlformats.org/drawingml/2006/table">
            <a:tbl>
              <a:tblPr/>
              <a:tblGrid>
                <a:gridCol w="1163471"/>
                <a:gridCol w="3167229"/>
              </a:tblGrid>
              <a:tr h="36042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buSzPct val="75000"/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FDAD23"/>
                        </a:buClr>
                        <a:buFont typeface="Times New Roman" panose="02020603050405020304" pitchFamily="18" charset="0"/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buSzTx/>
                        <a:buFontTx/>
                        <a:buNone/>
                      </a:pPr>
                      <a:r>
                        <a:rPr kumimoji="0" lang="en-US" altLang="zh-CN" sz="1800" b="1" i="0" u="sng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anose="020B0604030504040204" pitchFamily="34" charset="0"/>
                          <a:ea typeface="宋体" panose="02010600030101010101" pitchFamily="2" charset="-122"/>
                        </a:rPr>
                        <a:t>du-pair</a:t>
                      </a:r>
                      <a:endParaRPr kumimoji="0" lang="en-US" altLang="zh-CN" sz="1800" b="1" i="0" u="sng" strike="noStrike" cap="none" normalizeH="0" baseline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Verdan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5728" marB="4572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buSzPct val="75000"/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FDAD23"/>
                        </a:buClr>
                        <a:buFont typeface="Times New Roman" panose="02020603050405020304" pitchFamily="18" charset="0"/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buSzTx/>
                        <a:buFontTx/>
                        <a:buNone/>
                      </a:pPr>
                      <a:r>
                        <a:rPr kumimoji="0" lang="en-US" altLang="zh-CN" sz="1800" b="1" i="0" u="sng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anose="020B0604030504040204" pitchFamily="34" charset="0"/>
                          <a:ea typeface="宋体" panose="02010600030101010101" pitchFamily="2" charset="-122"/>
                        </a:rPr>
                        <a:t>path(s)</a:t>
                      </a:r>
                      <a:endParaRPr kumimoji="0" lang="en-US" altLang="zh-CN" sz="1800" b="1" i="0" u="sng" strike="noStrike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Verdan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</a:tr>
              <a:tr h="40170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buSzPct val="75000"/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FDAD23"/>
                        </a:buClr>
                        <a:buFont typeface="Times New Roman" panose="02020603050405020304" pitchFamily="18" charset="0"/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entury Gothic" panose="020B0502020202020204" pitchFamily="34" charset="0"/>
                          <a:ea typeface="宋体" panose="02010600030101010101" pitchFamily="2" charset="-122"/>
                        </a:rPr>
                        <a:t>(5,7)               </a:t>
                      </a:r>
                      <a:endParaRPr kumimoji="0" lang="en-US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Century Gothic" panose="020B0502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28" marB="4572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buSzPct val="75000"/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FDAD23"/>
                        </a:buClr>
                        <a:buFont typeface="Times New Roman" panose="02020603050405020304" pitchFamily="18" charset="0"/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entury Gothic" panose="020B0502020202020204" pitchFamily="34" charset="0"/>
                          <a:ea typeface="宋体" panose="02010600030101010101" pitchFamily="2" charset="-122"/>
                        </a:rPr>
                        <a:t>&lt;5,6,2,7&gt;</a:t>
                      </a:r>
                      <a:r>
                        <a:rPr kumimoji="0" lang="en-US" altLang="zh-CN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C000"/>
                          </a:solidFill>
                          <a:effectLst/>
                          <a:latin typeface="Century Gothic" panose="020B0502020202020204" pitchFamily="34" charset="0"/>
                          <a:ea typeface="宋体" panose="02010600030101010101" pitchFamily="2" charset="-122"/>
                        </a:rPr>
                        <a:t>†</a:t>
                      </a:r>
                      <a:endParaRPr kumimoji="0" lang="en-US" altLang="zh-CN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Century Gothic" panose="020B0502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</a:tr>
              <a:tr h="36201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buSzPct val="75000"/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FDAD23"/>
                        </a:buClr>
                        <a:buFont typeface="Times New Roman" panose="02020603050405020304" pitchFamily="18" charset="0"/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buSzTx/>
                        <a:buFontTx/>
                        <a:buNone/>
                      </a:pPr>
                      <a:endParaRPr kumimoji="0" lang="en-US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Century Gothic" panose="020B0502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28" marB="4572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buSzPct val="75000"/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FDAD23"/>
                        </a:buClr>
                        <a:buFont typeface="Times New Roman" panose="02020603050405020304" pitchFamily="18" charset="0"/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entury Gothic" panose="020B0502020202020204" pitchFamily="34" charset="0"/>
                          <a:ea typeface="宋体" panose="02010600030101010101" pitchFamily="2" charset="-122"/>
                        </a:rPr>
                        <a:t>&lt;5,6,2,3,4,6,2,7&gt;</a:t>
                      </a:r>
                      <a:endParaRPr kumimoji="0" lang="en-US" altLang="zh-CN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Century Gothic" panose="020B0502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</a:tr>
              <a:tr h="36201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buSzPct val="75000"/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FDAD23"/>
                        </a:buClr>
                        <a:buFont typeface="Times New Roman" panose="02020603050405020304" pitchFamily="18" charset="0"/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buSzTx/>
                        <a:buFontTx/>
                        <a:buNone/>
                      </a:pPr>
                      <a:endParaRPr kumimoji="0" lang="en-US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Century Gothic" panose="020B0502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28" marB="4572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buSzPct val="75000"/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FDAD23"/>
                        </a:buClr>
                        <a:buFont typeface="Times New Roman" panose="02020603050405020304" pitchFamily="18" charset="0"/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entury Gothic" panose="020B0502020202020204" pitchFamily="34" charset="0"/>
                          <a:ea typeface="宋体" panose="02010600030101010101" pitchFamily="2" charset="-122"/>
                        </a:rPr>
                        <a:t>&lt;5,6,2,3,4,6,(2,3,4,6)*,2,7&gt;</a:t>
                      </a:r>
                      <a:endParaRPr kumimoji="0" lang="en-US" altLang="zh-CN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Century Gothic" panose="020B0502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</a:tr>
              <a:tr h="36201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buSzPct val="75000"/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FDAD23"/>
                        </a:buClr>
                        <a:buFont typeface="Times New Roman" panose="02020603050405020304" pitchFamily="18" charset="0"/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entury Gothic" panose="020B0502020202020204" pitchFamily="34" charset="0"/>
                          <a:ea typeface="宋体" panose="02010600030101010101" pitchFamily="2" charset="-122"/>
                        </a:rPr>
                        <a:t>(5,&lt;3,4&gt;)</a:t>
                      </a:r>
                      <a:endParaRPr kumimoji="0" lang="en-US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Century Gothic" panose="020B0502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28" marB="4572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buSzPct val="75000"/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FDAD23"/>
                        </a:buClr>
                        <a:buFont typeface="Times New Roman" panose="02020603050405020304" pitchFamily="18" charset="0"/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entury Gothic" panose="020B0502020202020204" pitchFamily="34" charset="0"/>
                          <a:ea typeface="宋体" panose="02010600030101010101" pitchFamily="2" charset="-122"/>
                        </a:rPr>
                        <a:t>&lt;5,6,2,3,4&gt;</a:t>
                      </a:r>
                      <a:endParaRPr kumimoji="0" lang="en-US" altLang="zh-CN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Century Gothic" panose="020B0502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</a:tr>
              <a:tr h="36201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buSzPct val="75000"/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FDAD23"/>
                        </a:buClr>
                        <a:buFont typeface="Times New Roman" panose="02020603050405020304" pitchFamily="18" charset="0"/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buSzTx/>
                        <a:buFontTx/>
                        <a:buNone/>
                      </a:pPr>
                      <a:endParaRPr kumimoji="0" lang="en-US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Century Gothic" panose="020B0502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28" marB="4572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buSzPct val="75000"/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FDAD23"/>
                        </a:buClr>
                        <a:buFont typeface="Times New Roman" panose="02020603050405020304" pitchFamily="18" charset="0"/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entury Gothic" panose="020B0502020202020204" pitchFamily="34" charset="0"/>
                          <a:ea typeface="宋体" panose="02010600030101010101" pitchFamily="2" charset="-122"/>
                        </a:rPr>
                        <a:t>&lt;5,6,2,3,4,(6,2,3,4)*&gt;</a:t>
                      </a:r>
                      <a:endParaRPr kumimoji="0" lang="en-US" altLang="zh-CN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Century Gothic" panose="020B0502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</a:tr>
              <a:tr h="36201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buSzPct val="75000"/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FDAD23"/>
                        </a:buClr>
                        <a:buFont typeface="Times New Roman" panose="02020603050405020304" pitchFamily="18" charset="0"/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entury Gothic" panose="020B0502020202020204" pitchFamily="34" charset="0"/>
                          <a:ea typeface="宋体" panose="02010600030101010101" pitchFamily="2" charset="-122"/>
                        </a:rPr>
                        <a:t>(5,&lt;3,5&gt;)</a:t>
                      </a:r>
                      <a:endParaRPr kumimoji="0" lang="en-US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Century Gothic" panose="020B0502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28" marB="4572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buSzPct val="75000"/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FDAD23"/>
                        </a:buClr>
                        <a:buFont typeface="Times New Roman" panose="02020603050405020304" pitchFamily="18" charset="0"/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entury Gothic" panose="020B0502020202020204" pitchFamily="34" charset="0"/>
                          <a:ea typeface="宋体" panose="02010600030101010101" pitchFamily="2" charset="-122"/>
                        </a:rPr>
                        <a:t>&lt;5,6,2,3,5&gt;</a:t>
                      </a:r>
                      <a:endParaRPr kumimoji="0" lang="en-US" altLang="zh-CN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Century Gothic" panose="020B0502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</a:tr>
              <a:tr h="36201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buSzPct val="75000"/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FDAD23"/>
                        </a:buClr>
                        <a:buFont typeface="Times New Roman" panose="02020603050405020304" pitchFamily="18" charset="0"/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buSzTx/>
                        <a:buFontTx/>
                        <a:buNone/>
                      </a:pPr>
                      <a:endParaRPr kumimoji="0" lang="en-US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Century Gothic" panose="020B0502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28" marB="4572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buSzPct val="75000"/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FDAD23"/>
                        </a:buClr>
                        <a:buFont typeface="Times New Roman" panose="02020603050405020304" pitchFamily="18" charset="0"/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entury Gothic" panose="020B0502020202020204" pitchFamily="34" charset="0"/>
                          <a:ea typeface="宋体" panose="02010600030101010101" pitchFamily="2" charset="-122"/>
                        </a:rPr>
                        <a:t>&lt;5,6,2,3,4,6,2,3,5&gt;</a:t>
                      </a:r>
                      <a:r>
                        <a:rPr kumimoji="0" lang="en-US" altLang="zh-CN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C000"/>
                          </a:solidFill>
                          <a:effectLst/>
                          <a:latin typeface="Century Gothic" panose="020B0502020202020204" pitchFamily="34" charset="0"/>
                          <a:ea typeface="宋体" panose="02010600030101010101" pitchFamily="2" charset="-122"/>
                        </a:rPr>
                        <a:t>†</a:t>
                      </a:r>
                      <a:endParaRPr kumimoji="0" lang="en-US" altLang="zh-CN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Century Gothic" panose="020B0502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</a:tr>
              <a:tr h="585241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buSzPct val="75000"/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FDAD23"/>
                        </a:buClr>
                        <a:buFont typeface="Times New Roman" panose="02020603050405020304" pitchFamily="18" charset="0"/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buSzTx/>
                        <a:buFontTx/>
                        <a:buNone/>
                      </a:pPr>
                      <a:endParaRPr kumimoji="0" lang="en-US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Century Gothic" panose="020B0502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28" marB="4572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buSzPct val="75000"/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FDAD23"/>
                        </a:buClr>
                        <a:buFont typeface="Times New Roman" panose="02020603050405020304" pitchFamily="18" charset="0"/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entury Gothic" panose="020B0502020202020204" pitchFamily="34" charset="0"/>
                          <a:ea typeface="宋体" panose="02010600030101010101" pitchFamily="2" charset="-122"/>
                        </a:rPr>
                        <a:t>&lt;5,6,2,3,4,6,(2,3,4,6)*,2,3,5&gt;</a:t>
                      </a:r>
                      <a:r>
                        <a:rPr kumimoji="0" lang="en-US" altLang="zh-CN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C000"/>
                          </a:solidFill>
                          <a:effectLst/>
                          <a:latin typeface="Century Gothic" panose="020B0502020202020204" pitchFamily="34" charset="0"/>
                          <a:ea typeface="宋体" panose="02010600030101010101" pitchFamily="2" charset="-122"/>
                        </a:rPr>
                        <a:t>†</a:t>
                      </a:r>
                      <a:endParaRPr kumimoji="0" lang="en-US" altLang="zh-CN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Century Gothic" panose="020B0502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</a:tr>
              <a:tr h="362010">
                <a:tc gridSpan="2">
                  <a:txBody>
                    <a:bodyPr/>
                    <a:lstStyle>
                      <a:lvl1pPr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buSzPct val="75000"/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FDAD23"/>
                        </a:buClr>
                        <a:buFont typeface="Times New Roman" panose="02020603050405020304" pitchFamily="18" charset="0"/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C000"/>
                          </a:solidFill>
                          <a:effectLst/>
                          <a:latin typeface="Century Gothic" panose="020B0502020202020204" pitchFamily="34" charset="0"/>
                          <a:ea typeface="宋体" panose="02010600030101010101" pitchFamily="2" charset="-122"/>
                        </a:rPr>
                        <a:t>† </a:t>
                      </a:r>
                      <a:r>
                        <a:rPr kumimoji="0" lang="en-US" altLang="zh-CN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C000"/>
                          </a:solidFill>
                          <a:effectLst/>
                          <a:latin typeface="Verdana" panose="020B0604030504040204" pitchFamily="34" charset="0"/>
                          <a:ea typeface="宋体" panose="02010600030101010101" pitchFamily="2" charset="-122"/>
                        </a:rPr>
                        <a:t>infeasible</a:t>
                      </a:r>
                      <a:endParaRPr kumimoji="0" lang="en-US" altLang="zh-CN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FFC000"/>
                        </a:solidFill>
                        <a:effectLst/>
                        <a:latin typeface="Verdan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5728" marB="4572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 hMerge="1">
                  <a:tcPr/>
                </a:tc>
              </a:tr>
            </a:tbl>
          </a:graphicData>
        </a:graphic>
      </p:graphicFrame>
      <p:sp>
        <p:nvSpPr>
          <p:cNvPr id="6" name="Oval 70"/>
          <p:cNvSpPr>
            <a:spLocks noChangeArrowheads="1"/>
          </p:cNvSpPr>
          <p:nvPr/>
        </p:nvSpPr>
        <p:spPr bwMode="auto">
          <a:xfrm>
            <a:off x="6303390" y="3105347"/>
            <a:ext cx="457200" cy="4572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</a:ln>
        </p:spPr>
        <p:txBody>
          <a:bodyPr wrap="none" anchor="ctr"/>
          <a:lstStyle/>
          <a:p>
            <a:pPr eaLnBrk="1" hangingPunct="1"/>
            <a:endParaRPr lang="zh-CN" altLang="zh-CN">
              <a:ea typeface="宋体" panose="02010600030101010101" pitchFamily="2" charset="-122"/>
            </a:endParaRPr>
          </a:p>
        </p:txBody>
      </p:sp>
      <p:sp>
        <p:nvSpPr>
          <p:cNvPr id="7" name="Oval 71"/>
          <p:cNvSpPr>
            <a:spLocks noChangeArrowheads="1"/>
          </p:cNvSpPr>
          <p:nvPr/>
        </p:nvSpPr>
        <p:spPr bwMode="auto">
          <a:xfrm>
            <a:off x="5388990" y="1733747"/>
            <a:ext cx="457200" cy="4572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</a:ln>
        </p:spPr>
        <p:txBody>
          <a:bodyPr wrap="none" anchor="ctr"/>
          <a:lstStyle/>
          <a:p>
            <a:pPr eaLnBrk="1" hangingPunct="1"/>
            <a:endParaRPr lang="zh-CN" altLang="zh-CN">
              <a:ea typeface="宋体" panose="02010600030101010101" pitchFamily="2" charset="-122"/>
            </a:endParaRPr>
          </a:p>
        </p:txBody>
      </p:sp>
      <p:sp>
        <p:nvSpPr>
          <p:cNvPr id="8" name="Freeform 72"/>
          <p:cNvSpPr/>
          <p:nvPr/>
        </p:nvSpPr>
        <p:spPr bwMode="auto">
          <a:xfrm>
            <a:off x="5617590" y="1276547"/>
            <a:ext cx="152400" cy="457200"/>
          </a:xfrm>
          <a:custGeom>
            <a:avLst/>
            <a:gdLst>
              <a:gd name="T0" fmla="*/ 2147483647 w 96"/>
              <a:gd name="T1" fmla="*/ 0 h 288"/>
              <a:gd name="T2" fmla="*/ 0 w 96"/>
              <a:gd name="T3" fmla="*/ 2147483647 h 288"/>
              <a:gd name="T4" fmla="*/ 2147483647 w 96"/>
              <a:gd name="T5" fmla="*/ 2147483647 h 288"/>
              <a:gd name="T6" fmla="*/ 0 w 96"/>
              <a:gd name="T7" fmla="*/ 2147483647 h 288"/>
              <a:gd name="T8" fmla="*/ 0 60000 65536"/>
              <a:gd name="T9" fmla="*/ 0 60000 65536"/>
              <a:gd name="T10" fmla="*/ 0 60000 65536"/>
              <a:gd name="T11" fmla="*/ 0 60000 65536"/>
              <a:gd name="T12" fmla="*/ 0 w 96"/>
              <a:gd name="T13" fmla="*/ 0 h 288"/>
              <a:gd name="T14" fmla="*/ 96 w 96"/>
              <a:gd name="T15" fmla="*/ 288 h 288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96" h="288">
                <a:moveTo>
                  <a:pt x="96" y="0"/>
                </a:moveTo>
                <a:cubicBezTo>
                  <a:pt x="48" y="32"/>
                  <a:pt x="0" y="64"/>
                  <a:pt x="0" y="96"/>
                </a:cubicBezTo>
                <a:cubicBezTo>
                  <a:pt x="0" y="128"/>
                  <a:pt x="96" y="160"/>
                  <a:pt x="96" y="192"/>
                </a:cubicBezTo>
                <a:cubicBezTo>
                  <a:pt x="96" y="224"/>
                  <a:pt x="16" y="272"/>
                  <a:pt x="0" y="288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 type="none" w="med" len="med"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Freeform 73"/>
          <p:cNvSpPr/>
          <p:nvPr/>
        </p:nvSpPr>
        <p:spPr bwMode="auto">
          <a:xfrm>
            <a:off x="5465190" y="5543747"/>
            <a:ext cx="152400" cy="457200"/>
          </a:xfrm>
          <a:custGeom>
            <a:avLst/>
            <a:gdLst>
              <a:gd name="T0" fmla="*/ 2147483647 w 96"/>
              <a:gd name="T1" fmla="*/ 0 h 288"/>
              <a:gd name="T2" fmla="*/ 0 w 96"/>
              <a:gd name="T3" fmla="*/ 2147483647 h 288"/>
              <a:gd name="T4" fmla="*/ 2147483647 w 96"/>
              <a:gd name="T5" fmla="*/ 2147483647 h 288"/>
              <a:gd name="T6" fmla="*/ 0 w 96"/>
              <a:gd name="T7" fmla="*/ 2147483647 h 288"/>
              <a:gd name="T8" fmla="*/ 0 60000 65536"/>
              <a:gd name="T9" fmla="*/ 0 60000 65536"/>
              <a:gd name="T10" fmla="*/ 0 60000 65536"/>
              <a:gd name="T11" fmla="*/ 0 60000 65536"/>
              <a:gd name="T12" fmla="*/ 0 w 96"/>
              <a:gd name="T13" fmla="*/ 0 h 288"/>
              <a:gd name="T14" fmla="*/ 96 w 96"/>
              <a:gd name="T15" fmla="*/ 288 h 288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96" h="288">
                <a:moveTo>
                  <a:pt x="96" y="0"/>
                </a:moveTo>
                <a:cubicBezTo>
                  <a:pt x="48" y="32"/>
                  <a:pt x="0" y="64"/>
                  <a:pt x="0" y="96"/>
                </a:cubicBezTo>
                <a:cubicBezTo>
                  <a:pt x="0" y="128"/>
                  <a:pt x="96" y="160"/>
                  <a:pt x="96" y="192"/>
                </a:cubicBezTo>
                <a:cubicBezTo>
                  <a:pt x="96" y="224"/>
                  <a:pt x="16" y="272"/>
                  <a:pt x="0" y="288"/>
                </a:cubicBezTo>
              </a:path>
            </a:pathLst>
          </a:custGeom>
          <a:noFill/>
          <a:ln w="9525">
            <a:solidFill>
              <a:schemeClr val="bg1"/>
            </a:solidFill>
            <a:round/>
            <a:headEnd type="none" w="med" len="med"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Text Box 74"/>
          <p:cNvSpPr txBox="1">
            <a:spLocks noChangeArrowheads="1"/>
          </p:cNvSpPr>
          <p:nvPr/>
        </p:nvSpPr>
        <p:spPr bwMode="auto">
          <a:xfrm>
            <a:off x="5388990" y="1733747"/>
            <a:ext cx="4572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algn="ctr" eaLnBrk="1" hangingPunct="1">
              <a:spcBef>
                <a:spcPct val="50000"/>
              </a:spcBef>
            </a:pPr>
            <a:r>
              <a:rPr lang="en-US" altLang="zh-CN" sz="2400" b="1">
                <a:ea typeface="宋体" panose="02010600030101010101" pitchFamily="2" charset="-122"/>
              </a:rPr>
              <a:t>1</a:t>
            </a:r>
            <a:endParaRPr lang="en-US" altLang="zh-CN" sz="2400" b="1">
              <a:ea typeface="宋体" panose="02010600030101010101" pitchFamily="2" charset="-122"/>
            </a:endParaRPr>
          </a:p>
        </p:txBody>
      </p:sp>
      <p:sp>
        <p:nvSpPr>
          <p:cNvPr id="11" name="Text Box 75"/>
          <p:cNvSpPr txBox="1">
            <a:spLocks noChangeArrowheads="1"/>
          </p:cNvSpPr>
          <p:nvPr/>
        </p:nvSpPr>
        <p:spPr bwMode="auto">
          <a:xfrm>
            <a:off x="6303390" y="3105347"/>
            <a:ext cx="4572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algn="ctr" eaLnBrk="1" hangingPunct="1">
              <a:spcBef>
                <a:spcPct val="50000"/>
              </a:spcBef>
            </a:pPr>
            <a:r>
              <a:rPr lang="en-US" altLang="zh-CN" sz="2400" b="1">
                <a:ea typeface="宋体" panose="02010600030101010101" pitchFamily="2" charset="-122"/>
              </a:rPr>
              <a:t>3</a:t>
            </a:r>
            <a:endParaRPr lang="en-US" altLang="zh-CN" sz="2400" b="1">
              <a:ea typeface="宋体" panose="02010600030101010101" pitchFamily="2" charset="-122"/>
            </a:endParaRPr>
          </a:p>
        </p:txBody>
      </p:sp>
      <p:sp>
        <p:nvSpPr>
          <p:cNvPr id="12" name="Text Box 76"/>
          <p:cNvSpPr txBox="1">
            <a:spLocks noChangeArrowheads="1"/>
          </p:cNvSpPr>
          <p:nvPr/>
        </p:nvSpPr>
        <p:spPr bwMode="auto">
          <a:xfrm>
            <a:off x="5846190" y="1733747"/>
            <a:ext cx="1752600" cy="3968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sz="2000">
                <a:latin typeface="Century Gothic" panose="020B0502020202020204" pitchFamily="34" charset="0"/>
                <a:ea typeface="宋体" panose="02010600030101010101" pitchFamily="2" charset="-122"/>
              </a:rPr>
              <a:t>input(X,Y))</a:t>
            </a:r>
            <a:endParaRPr lang="en-US" altLang="zh-CN" sz="2000">
              <a:latin typeface="Century Gothic" panose="020B0502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3" name="Text Box 77"/>
          <p:cNvSpPr txBox="1">
            <a:spLocks noChangeArrowheads="1"/>
          </p:cNvSpPr>
          <p:nvPr/>
        </p:nvSpPr>
        <p:spPr bwMode="auto">
          <a:xfrm>
            <a:off x="7370190" y="3867347"/>
            <a:ext cx="1143000" cy="3968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sz="2000">
                <a:latin typeface="Century Gothic" panose="020B0502020202020204" pitchFamily="34" charset="0"/>
                <a:ea typeface="宋体" panose="02010600030101010101" pitchFamily="2" charset="-122"/>
              </a:rPr>
              <a:t>Y := Y-X</a:t>
            </a:r>
            <a:endParaRPr lang="en-US" altLang="zh-CN" sz="2000">
              <a:latin typeface="Century Gothic" panose="020B0502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4" name="Text Box 78"/>
          <p:cNvSpPr txBox="1">
            <a:spLocks noChangeArrowheads="1"/>
          </p:cNvSpPr>
          <p:nvPr/>
        </p:nvSpPr>
        <p:spPr bwMode="auto">
          <a:xfrm>
            <a:off x="4550790" y="3867347"/>
            <a:ext cx="1219200" cy="3968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sz="2000">
                <a:latin typeface="Century Gothic" panose="020B0502020202020204" pitchFamily="34" charset="0"/>
                <a:ea typeface="宋体" panose="02010600030101010101" pitchFamily="2" charset="-122"/>
              </a:rPr>
              <a:t>input(X)</a:t>
            </a:r>
            <a:endParaRPr lang="en-US" altLang="zh-CN" sz="2000">
              <a:latin typeface="Century Gothic" panose="020B0502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5" name="Text Box 79"/>
          <p:cNvSpPr txBox="1">
            <a:spLocks noChangeArrowheads="1"/>
          </p:cNvSpPr>
          <p:nvPr/>
        </p:nvSpPr>
        <p:spPr bwMode="auto">
          <a:xfrm>
            <a:off x="5998590" y="2648147"/>
            <a:ext cx="838200" cy="3968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sz="2000">
                <a:latin typeface="Century Gothic" panose="020B0502020202020204" pitchFamily="34" charset="0"/>
                <a:ea typeface="宋体" panose="02010600030101010101" pitchFamily="2" charset="-122"/>
              </a:rPr>
              <a:t>Y&gt;0</a:t>
            </a:r>
            <a:endParaRPr lang="en-US" altLang="zh-CN" sz="2000">
              <a:latin typeface="Century Gothic" panose="020B0502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6" name="Text Box 81"/>
          <p:cNvSpPr txBox="1">
            <a:spLocks noChangeArrowheads="1"/>
          </p:cNvSpPr>
          <p:nvPr/>
        </p:nvSpPr>
        <p:spPr bwMode="auto">
          <a:xfrm>
            <a:off x="6760590" y="3410147"/>
            <a:ext cx="762000" cy="3968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sz="2000">
                <a:latin typeface="Century Gothic" panose="020B0502020202020204" pitchFamily="34" charset="0"/>
                <a:ea typeface="宋体" panose="02010600030101010101" pitchFamily="2" charset="-122"/>
              </a:rPr>
              <a:t>X&gt;0</a:t>
            </a:r>
            <a:endParaRPr lang="en-US" altLang="zh-CN" sz="2000">
              <a:latin typeface="Century Gothic" panose="020B0502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7" name="Text Box 82"/>
          <p:cNvSpPr txBox="1">
            <a:spLocks noChangeArrowheads="1"/>
          </p:cNvSpPr>
          <p:nvPr/>
        </p:nvSpPr>
        <p:spPr bwMode="auto">
          <a:xfrm>
            <a:off x="5769990" y="5238947"/>
            <a:ext cx="1676400" cy="3968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sz="2000">
                <a:latin typeface="Century Gothic" panose="020B0502020202020204" pitchFamily="34" charset="0"/>
                <a:ea typeface="宋体" panose="02010600030101010101" pitchFamily="2" charset="-122"/>
              </a:rPr>
              <a:t>output(X,Y)</a:t>
            </a:r>
            <a:endParaRPr lang="en-US" altLang="zh-CN" sz="2000">
              <a:latin typeface="Century Gothic" panose="020B0502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8" name="Oval 83"/>
          <p:cNvSpPr>
            <a:spLocks noChangeArrowheads="1"/>
          </p:cNvSpPr>
          <p:nvPr/>
        </p:nvSpPr>
        <p:spPr bwMode="auto">
          <a:xfrm>
            <a:off x="5388990" y="2495747"/>
            <a:ext cx="457200" cy="4572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</a:ln>
        </p:spPr>
        <p:txBody>
          <a:bodyPr wrap="none" anchor="ctr"/>
          <a:lstStyle/>
          <a:p>
            <a:pPr eaLnBrk="1" hangingPunct="1"/>
            <a:endParaRPr lang="zh-CN" altLang="zh-CN">
              <a:ea typeface="宋体" panose="02010600030101010101" pitchFamily="2" charset="-122"/>
            </a:endParaRPr>
          </a:p>
        </p:txBody>
      </p:sp>
      <p:sp>
        <p:nvSpPr>
          <p:cNvPr id="19" name="Oval 84"/>
          <p:cNvSpPr>
            <a:spLocks noChangeArrowheads="1"/>
          </p:cNvSpPr>
          <p:nvPr/>
        </p:nvSpPr>
        <p:spPr bwMode="auto">
          <a:xfrm>
            <a:off x="6303390" y="4400747"/>
            <a:ext cx="457200" cy="4572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</a:ln>
        </p:spPr>
        <p:txBody>
          <a:bodyPr wrap="none" anchor="ctr"/>
          <a:lstStyle/>
          <a:p>
            <a:pPr eaLnBrk="1" hangingPunct="1"/>
            <a:endParaRPr lang="zh-CN" altLang="zh-CN">
              <a:ea typeface="宋体" panose="02010600030101010101" pitchFamily="2" charset="-122"/>
            </a:endParaRPr>
          </a:p>
        </p:txBody>
      </p:sp>
      <p:sp>
        <p:nvSpPr>
          <p:cNvPr id="20" name="Oval 85"/>
          <p:cNvSpPr>
            <a:spLocks noChangeArrowheads="1"/>
          </p:cNvSpPr>
          <p:nvPr/>
        </p:nvSpPr>
        <p:spPr bwMode="auto">
          <a:xfrm>
            <a:off x="6912990" y="3867347"/>
            <a:ext cx="457200" cy="4572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</a:ln>
        </p:spPr>
        <p:txBody>
          <a:bodyPr wrap="none" anchor="ctr"/>
          <a:lstStyle/>
          <a:p>
            <a:pPr eaLnBrk="1" hangingPunct="1"/>
            <a:endParaRPr lang="zh-CN" altLang="zh-CN">
              <a:ea typeface="宋体" panose="02010600030101010101" pitchFamily="2" charset="-122"/>
            </a:endParaRPr>
          </a:p>
        </p:txBody>
      </p:sp>
      <p:sp>
        <p:nvSpPr>
          <p:cNvPr id="21" name="Oval 86"/>
          <p:cNvSpPr>
            <a:spLocks noChangeArrowheads="1"/>
          </p:cNvSpPr>
          <p:nvPr/>
        </p:nvSpPr>
        <p:spPr bwMode="auto">
          <a:xfrm>
            <a:off x="5693790" y="3867347"/>
            <a:ext cx="457200" cy="4572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</a:ln>
        </p:spPr>
        <p:txBody>
          <a:bodyPr wrap="none" anchor="ctr"/>
          <a:lstStyle/>
          <a:p>
            <a:pPr eaLnBrk="1" hangingPunct="1"/>
            <a:endParaRPr lang="zh-CN" altLang="zh-CN">
              <a:ea typeface="宋体" panose="02010600030101010101" pitchFamily="2" charset="-122"/>
            </a:endParaRPr>
          </a:p>
        </p:txBody>
      </p:sp>
      <p:sp>
        <p:nvSpPr>
          <p:cNvPr id="22" name="Oval 87"/>
          <p:cNvSpPr>
            <a:spLocks noChangeArrowheads="1"/>
          </p:cNvSpPr>
          <p:nvPr/>
        </p:nvSpPr>
        <p:spPr bwMode="auto">
          <a:xfrm>
            <a:off x="5388990" y="5086547"/>
            <a:ext cx="457200" cy="4572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</a:ln>
        </p:spPr>
        <p:txBody>
          <a:bodyPr wrap="none" anchor="ctr"/>
          <a:lstStyle/>
          <a:p>
            <a:pPr eaLnBrk="1" hangingPunct="1"/>
            <a:endParaRPr lang="zh-CN" altLang="zh-CN">
              <a:ea typeface="宋体" panose="02010600030101010101" pitchFamily="2" charset="-122"/>
            </a:endParaRPr>
          </a:p>
        </p:txBody>
      </p:sp>
      <p:sp>
        <p:nvSpPr>
          <p:cNvPr id="23" name="Line 88"/>
          <p:cNvSpPr>
            <a:spLocks noChangeShapeType="1"/>
          </p:cNvSpPr>
          <p:nvPr/>
        </p:nvSpPr>
        <p:spPr bwMode="auto">
          <a:xfrm>
            <a:off x="5617590" y="2190947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Line 89"/>
          <p:cNvSpPr>
            <a:spLocks noChangeShapeType="1"/>
          </p:cNvSpPr>
          <p:nvPr/>
        </p:nvSpPr>
        <p:spPr bwMode="auto">
          <a:xfrm>
            <a:off x="5846190" y="2876747"/>
            <a:ext cx="5334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Line 90"/>
          <p:cNvSpPr>
            <a:spLocks noChangeShapeType="1"/>
          </p:cNvSpPr>
          <p:nvPr/>
        </p:nvSpPr>
        <p:spPr bwMode="auto">
          <a:xfrm>
            <a:off x="6684390" y="3562547"/>
            <a:ext cx="3048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Line 91"/>
          <p:cNvSpPr>
            <a:spLocks noChangeShapeType="1"/>
          </p:cNvSpPr>
          <p:nvPr/>
        </p:nvSpPr>
        <p:spPr bwMode="auto">
          <a:xfrm flipH="1">
            <a:off x="5998590" y="3486347"/>
            <a:ext cx="3810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Line 92"/>
          <p:cNvSpPr>
            <a:spLocks noChangeShapeType="1"/>
          </p:cNvSpPr>
          <p:nvPr/>
        </p:nvSpPr>
        <p:spPr bwMode="auto">
          <a:xfrm>
            <a:off x="5998590" y="4172147"/>
            <a:ext cx="3810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Line 93"/>
          <p:cNvSpPr>
            <a:spLocks noChangeShapeType="1"/>
          </p:cNvSpPr>
          <p:nvPr/>
        </p:nvSpPr>
        <p:spPr bwMode="auto">
          <a:xfrm flipH="1">
            <a:off x="6684390" y="4248347"/>
            <a:ext cx="3048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Text Box 95"/>
          <p:cNvSpPr txBox="1">
            <a:spLocks noChangeArrowheads="1"/>
          </p:cNvSpPr>
          <p:nvPr/>
        </p:nvSpPr>
        <p:spPr bwMode="auto">
          <a:xfrm>
            <a:off x="5617590" y="3410147"/>
            <a:ext cx="685800" cy="3968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sz="2000">
                <a:latin typeface="Century Gothic" panose="020B0502020202020204" pitchFamily="34" charset="0"/>
                <a:ea typeface="宋体" panose="02010600030101010101" pitchFamily="2" charset="-122"/>
              </a:rPr>
              <a:t>X</a:t>
            </a:r>
            <a:r>
              <a:rPr lang="en-US" altLang="zh-CN" sz="2000">
                <a:latin typeface="Century Gothic" panose="020B0502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</a:t>
            </a:r>
            <a:r>
              <a:rPr lang="en-US" altLang="zh-CN" sz="2000">
                <a:latin typeface="Century Gothic" panose="020B0502020202020204" pitchFamily="34" charset="0"/>
                <a:ea typeface="宋体" panose="02010600030101010101" pitchFamily="2" charset="-122"/>
              </a:rPr>
              <a:t>0</a:t>
            </a:r>
            <a:endParaRPr lang="en-US" altLang="zh-CN" sz="2000">
              <a:latin typeface="Century Gothic" panose="020B0502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0" name="Text Box 96"/>
          <p:cNvSpPr txBox="1">
            <a:spLocks noChangeArrowheads="1"/>
          </p:cNvSpPr>
          <p:nvPr/>
        </p:nvSpPr>
        <p:spPr bwMode="auto">
          <a:xfrm>
            <a:off x="5388990" y="2495747"/>
            <a:ext cx="4572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algn="ctr" eaLnBrk="1" hangingPunct="1">
              <a:spcBef>
                <a:spcPct val="50000"/>
              </a:spcBef>
            </a:pPr>
            <a:r>
              <a:rPr lang="en-US" altLang="zh-CN" sz="2400" b="1">
                <a:ea typeface="宋体" panose="02010600030101010101" pitchFamily="2" charset="-122"/>
              </a:rPr>
              <a:t>2</a:t>
            </a:r>
            <a:endParaRPr lang="en-US" altLang="zh-CN" sz="2400" b="1">
              <a:ea typeface="宋体" panose="02010600030101010101" pitchFamily="2" charset="-122"/>
            </a:endParaRPr>
          </a:p>
        </p:txBody>
      </p:sp>
      <p:sp>
        <p:nvSpPr>
          <p:cNvPr id="31" name="Text Box 97"/>
          <p:cNvSpPr txBox="1">
            <a:spLocks noChangeArrowheads="1"/>
          </p:cNvSpPr>
          <p:nvPr/>
        </p:nvSpPr>
        <p:spPr bwMode="auto">
          <a:xfrm>
            <a:off x="6912990" y="3867347"/>
            <a:ext cx="4572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algn="ctr" eaLnBrk="1" hangingPunct="1">
              <a:spcBef>
                <a:spcPct val="50000"/>
              </a:spcBef>
            </a:pPr>
            <a:r>
              <a:rPr lang="en-US" altLang="zh-CN" sz="2400" b="1">
                <a:ea typeface="宋体" panose="02010600030101010101" pitchFamily="2" charset="-122"/>
              </a:rPr>
              <a:t>4</a:t>
            </a:r>
            <a:endParaRPr lang="en-US" altLang="zh-CN" sz="2400" b="1">
              <a:ea typeface="宋体" panose="02010600030101010101" pitchFamily="2" charset="-122"/>
            </a:endParaRPr>
          </a:p>
        </p:txBody>
      </p:sp>
      <p:sp>
        <p:nvSpPr>
          <p:cNvPr id="32" name="Text Box 98"/>
          <p:cNvSpPr txBox="1">
            <a:spLocks noChangeArrowheads="1"/>
          </p:cNvSpPr>
          <p:nvPr/>
        </p:nvSpPr>
        <p:spPr bwMode="auto">
          <a:xfrm>
            <a:off x="5693790" y="3867347"/>
            <a:ext cx="4572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algn="ctr" eaLnBrk="1" hangingPunct="1">
              <a:spcBef>
                <a:spcPct val="50000"/>
              </a:spcBef>
            </a:pPr>
            <a:r>
              <a:rPr lang="en-US" altLang="zh-CN" sz="2400" b="1">
                <a:ea typeface="宋体" panose="02010600030101010101" pitchFamily="2" charset="-122"/>
              </a:rPr>
              <a:t>5</a:t>
            </a:r>
            <a:endParaRPr lang="en-US" altLang="zh-CN" sz="2400" b="1">
              <a:ea typeface="宋体" panose="02010600030101010101" pitchFamily="2" charset="-122"/>
            </a:endParaRPr>
          </a:p>
        </p:txBody>
      </p:sp>
      <p:sp>
        <p:nvSpPr>
          <p:cNvPr id="33" name="Text Box 99"/>
          <p:cNvSpPr txBox="1">
            <a:spLocks noChangeArrowheads="1"/>
          </p:cNvSpPr>
          <p:nvPr/>
        </p:nvSpPr>
        <p:spPr bwMode="auto">
          <a:xfrm>
            <a:off x="6303390" y="4400747"/>
            <a:ext cx="4572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algn="ctr" eaLnBrk="1" hangingPunct="1">
              <a:spcBef>
                <a:spcPct val="50000"/>
              </a:spcBef>
            </a:pPr>
            <a:r>
              <a:rPr lang="en-US" altLang="zh-CN" sz="2400" b="1">
                <a:ea typeface="宋体" panose="02010600030101010101" pitchFamily="2" charset="-122"/>
              </a:rPr>
              <a:t>6</a:t>
            </a:r>
            <a:endParaRPr lang="en-US" altLang="zh-CN" sz="2400" b="1">
              <a:ea typeface="宋体" panose="02010600030101010101" pitchFamily="2" charset="-122"/>
            </a:endParaRPr>
          </a:p>
        </p:txBody>
      </p:sp>
      <p:sp>
        <p:nvSpPr>
          <p:cNvPr id="34" name="Text Box 100"/>
          <p:cNvSpPr txBox="1">
            <a:spLocks noChangeArrowheads="1"/>
          </p:cNvSpPr>
          <p:nvPr/>
        </p:nvSpPr>
        <p:spPr bwMode="auto">
          <a:xfrm>
            <a:off x="5388990" y="5086547"/>
            <a:ext cx="4572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algn="ctr" eaLnBrk="1" hangingPunct="1">
              <a:spcBef>
                <a:spcPct val="50000"/>
              </a:spcBef>
            </a:pPr>
            <a:r>
              <a:rPr lang="en-US" altLang="zh-CN" sz="2400" b="1">
                <a:ea typeface="宋体" panose="02010600030101010101" pitchFamily="2" charset="-122"/>
              </a:rPr>
              <a:t>7</a:t>
            </a:r>
            <a:endParaRPr lang="en-US" altLang="zh-CN" sz="2400" b="1">
              <a:ea typeface="宋体" panose="02010600030101010101" pitchFamily="2" charset="-122"/>
            </a:endParaRPr>
          </a:p>
        </p:txBody>
      </p:sp>
      <p:sp>
        <p:nvSpPr>
          <p:cNvPr id="35" name="Freeform 101"/>
          <p:cNvSpPr/>
          <p:nvPr/>
        </p:nvSpPr>
        <p:spPr bwMode="auto">
          <a:xfrm>
            <a:off x="4995290" y="2952947"/>
            <a:ext cx="546100" cy="2209800"/>
          </a:xfrm>
          <a:custGeom>
            <a:avLst/>
            <a:gdLst>
              <a:gd name="T0" fmla="*/ 2147483647 w 344"/>
              <a:gd name="T1" fmla="*/ 0 h 1392"/>
              <a:gd name="T2" fmla="*/ 2147483647 w 344"/>
              <a:gd name="T3" fmla="*/ 2147483647 h 1392"/>
              <a:gd name="T4" fmla="*/ 2147483647 w 344"/>
              <a:gd name="T5" fmla="*/ 2147483647 h 1392"/>
              <a:gd name="T6" fmla="*/ 2147483647 w 344"/>
              <a:gd name="T7" fmla="*/ 2147483647 h 1392"/>
              <a:gd name="T8" fmla="*/ 2147483647 w 344"/>
              <a:gd name="T9" fmla="*/ 2147483647 h 139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44"/>
              <a:gd name="T16" fmla="*/ 0 h 1392"/>
              <a:gd name="T17" fmla="*/ 344 w 344"/>
              <a:gd name="T18" fmla="*/ 1392 h 139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44" h="1392">
                <a:moveTo>
                  <a:pt x="296" y="0"/>
                </a:moveTo>
                <a:cubicBezTo>
                  <a:pt x="224" y="88"/>
                  <a:pt x="152" y="176"/>
                  <a:pt x="104" y="288"/>
                </a:cubicBezTo>
                <a:cubicBezTo>
                  <a:pt x="56" y="400"/>
                  <a:pt x="0" y="536"/>
                  <a:pt x="8" y="672"/>
                </a:cubicBezTo>
                <a:cubicBezTo>
                  <a:pt x="16" y="808"/>
                  <a:pt x="96" y="984"/>
                  <a:pt x="152" y="1104"/>
                </a:cubicBezTo>
                <a:cubicBezTo>
                  <a:pt x="208" y="1224"/>
                  <a:pt x="276" y="1308"/>
                  <a:pt x="344" y="1392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 type="none" w="med" len="med"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6" name="Text Box 104"/>
          <p:cNvSpPr txBox="1">
            <a:spLocks noChangeArrowheads="1"/>
          </p:cNvSpPr>
          <p:nvPr/>
        </p:nvSpPr>
        <p:spPr bwMode="auto">
          <a:xfrm>
            <a:off x="4550790" y="3029147"/>
            <a:ext cx="685800" cy="3968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sz="2000">
                <a:latin typeface="Century Gothic" panose="020B0502020202020204" pitchFamily="34" charset="0"/>
                <a:ea typeface="宋体" panose="02010600030101010101" pitchFamily="2" charset="-122"/>
              </a:rPr>
              <a:t>Y</a:t>
            </a:r>
            <a:r>
              <a:rPr lang="en-US" altLang="zh-CN" sz="2000">
                <a:latin typeface="Century Gothic" panose="020B0502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</a:t>
            </a:r>
            <a:r>
              <a:rPr lang="en-US" altLang="zh-CN" sz="2000">
                <a:latin typeface="Century Gothic" panose="020B0502020202020204" pitchFamily="34" charset="0"/>
                <a:ea typeface="宋体" panose="02010600030101010101" pitchFamily="2" charset="-122"/>
              </a:rPr>
              <a:t>0</a:t>
            </a:r>
            <a:endParaRPr lang="en-US" altLang="zh-CN" sz="2000">
              <a:latin typeface="Century Gothic" panose="020B0502020202020204" pitchFamily="34" charset="0"/>
              <a:ea typeface="宋体" panose="02010600030101010101" pitchFamily="2" charset="-122"/>
            </a:endParaRPr>
          </a:p>
        </p:txBody>
      </p:sp>
      <p:cxnSp>
        <p:nvCxnSpPr>
          <p:cNvPr id="37" name="曲线连接符 36"/>
          <p:cNvCxnSpPr/>
          <p:nvPr/>
        </p:nvCxnSpPr>
        <p:spPr>
          <a:xfrm flipH="1" flipV="1">
            <a:off x="5808090" y="2686247"/>
            <a:ext cx="914400" cy="1905000"/>
          </a:xfrm>
          <a:prstGeom prst="curvedConnector3">
            <a:avLst>
              <a:gd name="adj1" fmla="val -246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Data Flow Testing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707301" y="1690687"/>
            <a:ext cx="8419446" cy="4934399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n"/>
              <a:defRPr/>
            </a:pPr>
            <a:r>
              <a:rPr lang="en-US" altLang="zh-CN" sz="4400" dirty="0" smtClean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 </a:t>
            </a:r>
            <a:r>
              <a:rPr lang="en-US" altLang="zh-CN" sz="3600" dirty="0" smtClean="0">
                <a:latin typeface="Verdana" panose="020B0604030504040204" pitchFamily="34" charset="0"/>
                <a:ea typeface="宋体" panose="02010600030101010101" pitchFamily="2" charset="-122"/>
              </a:rPr>
              <a:t>definition-use path</a:t>
            </a:r>
            <a:endParaRPr lang="en-US" altLang="zh-CN" sz="3600" dirty="0" smtClean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>
              <a:buFont typeface="Wingdings" panose="05000000000000000000" pitchFamily="2" charset="2"/>
              <a:buChar char="n"/>
              <a:defRPr/>
            </a:pPr>
            <a:r>
              <a:rPr lang="en-US" altLang="zh-CN" sz="4400" dirty="0" smtClean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 </a:t>
            </a:r>
            <a:r>
              <a:rPr lang="en-US" altLang="zh-CN" sz="3600" dirty="0" smtClean="0">
                <a:solidFill>
                  <a:srgbClr val="3333FF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definition-clear </a:t>
            </a:r>
            <a:r>
              <a:rPr lang="en-US" altLang="zh-CN" sz="3600" dirty="0" smtClean="0">
                <a:solidFill>
                  <a:srgbClr val="3333FF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path</a:t>
            </a:r>
            <a:endParaRPr lang="en-US" altLang="zh-CN" sz="3600" dirty="0" smtClean="0">
              <a:solidFill>
                <a:srgbClr val="3333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14000"/>
              </a:lnSpc>
            </a:pP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14000"/>
              </a:lnSpc>
            </a:pP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14000"/>
              </a:lnSpc>
            </a:pP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14000"/>
              </a:lnSpc>
            </a:pP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14000"/>
              </a:lnSpc>
            </a:pP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86A48D-B8D4-430A-AE1C-E921A6F75A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>
                <a:latin typeface="Verdana" panose="020B0604030504040204" pitchFamily="34" charset="0"/>
                <a:ea typeface="宋体" panose="02010600030101010101" pitchFamily="2" charset="-122"/>
              </a:rPr>
              <a:t>def-clear path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86A48D-B8D4-430A-AE1C-E921A6F75A10}" type="slidenum">
              <a:rPr lang="zh-CN" altLang="en-US" smtClean="0"/>
            </a:fld>
            <a:endParaRPr lang="zh-CN" altLang="en-US"/>
          </a:p>
        </p:txBody>
      </p:sp>
      <p:sp>
        <p:nvSpPr>
          <p:cNvPr id="6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285750" y="1625375"/>
            <a:ext cx="8141814" cy="3512234"/>
          </a:xfrm>
        </p:spPr>
        <p:txBody>
          <a:bodyPr>
            <a:normAutofit fontScale="75000" lnSpcReduction="20000"/>
          </a:bodyPr>
          <a:lstStyle/>
          <a:p>
            <a:pPr>
              <a:lnSpc>
                <a:spcPct val="110000"/>
              </a:lnSpc>
            </a:pPr>
            <a:r>
              <a:rPr lang="en-US" altLang="zh-CN" sz="3000" i="1" dirty="0">
                <a:latin typeface="Verdana" panose="020B0604030504040204" pitchFamily="34" charset="0"/>
              </a:rPr>
              <a:t>A path is </a:t>
            </a:r>
            <a:r>
              <a:rPr lang="en-US" altLang="zh-CN" sz="3000" i="1" dirty="0">
                <a:solidFill>
                  <a:srgbClr val="FDAD23"/>
                </a:solidFill>
                <a:latin typeface="Verdana" panose="020B0604030504040204" pitchFamily="34" charset="0"/>
              </a:rPr>
              <a:t>definition clear</a:t>
            </a:r>
            <a:r>
              <a:rPr lang="en-US" altLang="zh-CN" sz="3000" i="1" dirty="0">
                <a:latin typeface="Verdana" panose="020B0604030504040204" pitchFamily="34" charset="0"/>
              </a:rPr>
              <a:t> </a:t>
            </a:r>
            <a:r>
              <a:rPr lang="en-US" altLang="zh-CN" sz="3000" b="1" i="1" dirty="0">
                <a:solidFill>
                  <a:srgbClr val="FDAD23"/>
                </a:solidFill>
                <a:latin typeface="Verdana" panose="020B0604030504040204" pitchFamily="34" charset="0"/>
              </a:rPr>
              <a:t>(“</a:t>
            </a:r>
            <a:r>
              <a:rPr lang="en-US" altLang="zh-CN" sz="3000" b="1" i="1" dirty="0" err="1">
                <a:solidFill>
                  <a:srgbClr val="FDAD23"/>
                </a:solidFill>
                <a:latin typeface="Verdana" panose="020B0604030504040204" pitchFamily="34" charset="0"/>
              </a:rPr>
              <a:t>def</a:t>
            </a:r>
            <a:r>
              <a:rPr lang="en-US" altLang="zh-CN" sz="3000" b="1" i="1" dirty="0">
                <a:solidFill>
                  <a:srgbClr val="FDAD23"/>
                </a:solidFill>
                <a:latin typeface="Verdana" panose="020B0604030504040204" pitchFamily="34" charset="0"/>
              </a:rPr>
              <a:t>-clear”)</a:t>
            </a:r>
            <a:r>
              <a:rPr lang="en-US" altLang="zh-CN" sz="3000" i="1" dirty="0">
                <a:latin typeface="Verdana" panose="020B0604030504040204" pitchFamily="34" charset="0"/>
              </a:rPr>
              <a:t> with respect to a variable v if there is </a:t>
            </a:r>
            <a:r>
              <a:rPr lang="en-US" altLang="zh-CN" sz="3000" i="1" dirty="0">
                <a:solidFill>
                  <a:srgbClr val="FF0000"/>
                </a:solidFill>
                <a:latin typeface="Verdana" panose="020B0604030504040204" pitchFamily="34" charset="0"/>
              </a:rPr>
              <a:t>no </a:t>
            </a:r>
            <a:r>
              <a:rPr lang="en-US" altLang="zh-CN" sz="3000" b="1" i="1" dirty="0">
                <a:solidFill>
                  <a:srgbClr val="FF0000"/>
                </a:solidFill>
                <a:latin typeface="Verdana" panose="020B0604030504040204" pitchFamily="34" charset="0"/>
              </a:rPr>
              <a:t>re</a:t>
            </a:r>
            <a:r>
              <a:rPr lang="en-US" altLang="zh-CN" sz="3000" i="1" dirty="0">
                <a:solidFill>
                  <a:srgbClr val="FF0000"/>
                </a:solidFill>
                <a:latin typeface="Verdana" panose="020B0604030504040204" pitchFamily="34" charset="0"/>
              </a:rPr>
              <a:t>-definition</a:t>
            </a:r>
            <a:r>
              <a:rPr lang="en-US" altLang="zh-CN" sz="3000" i="1" dirty="0">
                <a:latin typeface="Verdana" panose="020B0604030504040204" pitchFamily="34" charset="0"/>
              </a:rPr>
              <a:t> of v within the path.</a:t>
            </a:r>
            <a:endParaRPr lang="en-US" altLang="zh-CN" sz="3000" i="1" dirty="0">
              <a:latin typeface="Verdana" panose="020B0604030504040204" pitchFamily="34" charset="0"/>
            </a:endParaRPr>
          </a:p>
          <a:p>
            <a:pPr>
              <a:lnSpc>
                <a:spcPct val="110000"/>
              </a:lnSpc>
            </a:pPr>
            <a:r>
              <a:rPr lang="en-US" altLang="zh-CN" sz="3000" dirty="0">
                <a:latin typeface="Verdana" panose="020B0604030504040204" pitchFamily="34" charset="0"/>
              </a:rPr>
              <a:t>A </a:t>
            </a:r>
            <a:r>
              <a:rPr lang="en-US" altLang="zh-CN" sz="3000" i="1" dirty="0">
                <a:solidFill>
                  <a:srgbClr val="FDAD23"/>
                </a:solidFill>
                <a:latin typeface="Verdana" panose="020B0604030504040204" pitchFamily="34" charset="0"/>
              </a:rPr>
              <a:t>definition-use pair</a:t>
            </a:r>
            <a:r>
              <a:rPr lang="en-US" altLang="zh-CN" sz="3000" i="1" dirty="0">
                <a:latin typeface="Verdana" panose="020B0604030504040204" pitchFamily="34" charset="0"/>
              </a:rPr>
              <a:t> </a:t>
            </a:r>
            <a:r>
              <a:rPr lang="en-US" altLang="zh-CN" sz="3000" b="1" dirty="0">
                <a:solidFill>
                  <a:srgbClr val="FDAD23"/>
                </a:solidFill>
                <a:latin typeface="Verdana" panose="020B0604030504040204" pitchFamily="34" charset="0"/>
              </a:rPr>
              <a:t>(“du-pair”)</a:t>
            </a:r>
            <a:r>
              <a:rPr lang="en-US" altLang="zh-CN" sz="3000" dirty="0">
                <a:latin typeface="Verdana" panose="020B0604030504040204" pitchFamily="34" charset="0"/>
              </a:rPr>
              <a:t> with respect to a variable v is a double (</a:t>
            </a:r>
            <a:r>
              <a:rPr lang="en-US" altLang="zh-CN" sz="3000" dirty="0" err="1">
                <a:latin typeface="Verdana" panose="020B0604030504040204" pitchFamily="34" charset="0"/>
              </a:rPr>
              <a:t>d,u</a:t>
            </a:r>
            <a:r>
              <a:rPr lang="en-US" altLang="zh-CN" sz="3000" dirty="0">
                <a:latin typeface="Verdana" panose="020B0604030504040204" pitchFamily="34" charset="0"/>
              </a:rPr>
              <a:t>) such that d is a node in the program’s flow graph at which v is defined, u is a node or edge at which v is used, and there is </a:t>
            </a:r>
            <a:r>
              <a:rPr lang="en-US" altLang="zh-CN" sz="3000" dirty="0">
                <a:solidFill>
                  <a:srgbClr val="FF0000"/>
                </a:solidFill>
                <a:latin typeface="Verdana" panose="020B0604030504040204" pitchFamily="34" charset="0"/>
              </a:rPr>
              <a:t>a </a:t>
            </a:r>
            <a:r>
              <a:rPr lang="en-US" altLang="zh-CN" sz="3000" dirty="0" err="1">
                <a:solidFill>
                  <a:srgbClr val="FF0000"/>
                </a:solidFill>
                <a:latin typeface="Verdana" panose="020B0604030504040204" pitchFamily="34" charset="0"/>
              </a:rPr>
              <a:t>def</a:t>
            </a:r>
            <a:r>
              <a:rPr lang="en-US" altLang="zh-CN" sz="3000" dirty="0">
                <a:solidFill>
                  <a:srgbClr val="FF0000"/>
                </a:solidFill>
                <a:latin typeface="Verdana" panose="020B0604030504040204" pitchFamily="34" charset="0"/>
              </a:rPr>
              <a:t>-clear path </a:t>
            </a:r>
            <a:r>
              <a:rPr lang="en-US" altLang="zh-CN" sz="3000" dirty="0">
                <a:latin typeface="Verdana" panose="020B0604030504040204" pitchFamily="34" charset="0"/>
              </a:rPr>
              <a:t>with respect to v from d to u.</a:t>
            </a:r>
            <a:endParaRPr lang="en-US" altLang="zh-CN" sz="3000" dirty="0">
              <a:latin typeface="Verdana" panose="020B0604030504040204" pitchFamily="34" charset="0"/>
            </a:endParaRPr>
          </a:p>
          <a:p>
            <a:pPr lvl="1">
              <a:lnSpc>
                <a:spcPct val="110000"/>
              </a:lnSpc>
            </a:pPr>
            <a:r>
              <a:rPr lang="en-US" altLang="zh-CN" sz="3000" dirty="0">
                <a:solidFill>
                  <a:srgbClr val="FDAD23"/>
                </a:solidFill>
                <a:latin typeface="Verdana" panose="020B0604030504040204" pitchFamily="34" charset="0"/>
              </a:rPr>
              <a:t>Rigorous definition </a:t>
            </a:r>
            <a:r>
              <a:rPr lang="zh-CN" altLang="en-US" sz="3000" dirty="0">
                <a:solidFill>
                  <a:srgbClr val="FDAD23"/>
                </a:solidFill>
                <a:latin typeface="Verdana" panose="020B0604030504040204" pitchFamily="34" charset="0"/>
              </a:rPr>
              <a:t>严谨版本定义</a:t>
            </a:r>
            <a:endParaRPr lang="zh-CN" altLang="en-US" sz="3000" dirty="0">
              <a:solidFill>
                <a:srgbClr val="FDAD23"/>
              </a:solidFill>
              <a:latin typeface="Verdana" panose="020B060403050404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 b="1" dirty="0">
                <a:solidFill>
                  <a:srgbClr val="FFC000"/>
                </a:solidFill>
                <a:ea typeface="宋体" panose="02010600030101010101" pitchFamily="2" charset="-122"/>
                <a:sym typeface="+mn-ea"/>
              </a:rPr>
              <a:t>More Dataflow Terms and Definitions</a:t>
            </a:r>
            <a:endParaRPr lang="en-US" altLang="zh-CN" b="1" dirty="0">
              <a:solidFill>
                <a:srgbClr val="FFC000"/>
              </a:solidFill>
              <a:ea typeface="宋体" panose="02010600030101010101" pitchFamily="2" charset="-122"/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pPr marL="457200" indent="-457200" eaLnBrk="1" hangingPunct="1"/>
            <a:r>
              <a:rPr lang="en-US" altLang="zh-CN" sz="3600" dirty="0">
                <a:latin typeface="Verdana" panose="020B0604030504040204" pitchFamily="34" charset="0"/>
                <a:ea typeface="宋体" panose="02010600030101010101" pitchFamily="2" charset="-122"/>
                <a:sym typeface="+mn-ea"/>
              </a:rPr>
              <a:t>A path (either partial or complete) is </a:t>
            </a:r>
            <a:r>
              <a:rPr lang="en-US" altLang="zh-CN" sz="3600" b="1" dirty="0">
                <a:solidFill>
                  <a:srgbClr val="FDAD23"/>
                </a:solidFill>
                <a:latin typeface="Verdana" panose="020B0604030504040204" pitchFamily="34" charset="0"/>
                <a:ea typeface="宋体" panose="02010600030101010101" pitchFamily="2" charset="-122"/>
                <a:sym typeface="+mn-ea"/>
              </a:rPr>
              <a:t>simple</a:t>
            </a:r>
            <a:r>
              <a:rPr lang="en-US" altLang="zh-CN" sz="3600" b="1" dirty="0">
                <a:latin typeface="Verdana" panose="020B0604030504040204" pitchFamily="34" charset="0"/>
                <a:ea typeface="宋体" panose="02010600030101010101" pitchFamily="2" charset="-122"/>
                <a:sym typeface="+mn-ea"/>
              </a:rPr>
              <a:t> </a:t>
            </a:r>
            <a:r>
              <a:rPr lang="en-US" altLang="zh-CN" sz="3600" dirty="0">
                <a:latin typeface="Verdana" panose="020B0604030504040204" pitchFamily="34" charset="0"/>
                <a:ea typeface="宋体" panose="02010600030101010101" pitchFamily="2" charset="-122"/>
                <a:sym typeface="+mn-ea"/>
              </a:rPr>
              <a:t>if all edges within the path are distinct (i.e., different).</a:t>
            </a:r>
            <a:endParaRPr lang="en-US" altLang="zh-CN" sz="3600" dirty="0">
              <a:latin typeface="Verdana" panose="020B0604030504040204" pitchFamily="34" charset="0"/>
              <a:ea typeface="宋体" panose="02010600030101010101" pitchFamily="2" charset="-122"/>
            </a:endParaRPr>
          </a:p>
          <a:p>
            <a:pPr marL="457200" indent="-457200" eaLnBrk="1" hangingPunct="1"/>
            <a:r>
              <a:rPr lang="en-US" altLang="zh-CN" sz="3600" dirty="0">
                <a:latin typeface="Verdana" panose="020B0604030504040204" pitchFamily="34" charset="0"/>
                <a:ea typeface="宋体" panose="02010600030101010101" pitchFamily="2" charset="-122"/>
                <a:sym typeface="+mn-ea"/>
              </a:rPr>
              <a:t>A path is </a:t>
            </a:r>
            <a:r>
              <a:rPr lang="en-US" altLang="zh-CN" sz="3600" b="1" dirty="0">
                <a:solidFill>
                  <a:srgbClr val="FDAD23"/>
                </a:solidFill>
                <a:latin typeface="Verdana" panose="020B0604030504040204" pitchFamily="34" charset="0"/>
                <a:ea typeface="宋体" panose="02010600030101010101" pitchFamily="2" charset="-122"/>
                <a:sym typeface="+mn-ea"/>
              </a:rPr>
              <a:t>loop-free</a:t>
            </a:r>
            <a:r>
              <a:rPr lang="en-US" altLang="zh-CN" sz="3600" b="1" dirty="0">
                <a:latin typeface="Verdana" panose="020B0604030504040204" pitchFamily="34" charset="0"/>
                <a:ea typeface="宋体" panose="02010600030101010101" pitchFamily="2" charset="-122"/>
                <a:sym typeface="+mn-ea"/>
              </a:rPr>
              <a:t> </a:t>
            </a:r>
            <a:r>
              <a:rPr lang="en-US" altLang="zh-CN" sz="3600" dirty="0">
                <a:latin typeface="Verdana" panose="020B0604030504040204" pitchFamily="34" charset="0"/>
                <a:ea typeface="宋体" panose="02010600030101010101" pitchFamily="2" charset="-122"/>
                <a:sym typeface="+mn-ea"/>
              </a:rPr>
              <a:t>if all nodes within the path are distinct (i.e., different).</a:t>
            </a:r>
            <a:endParaRPr lang="en-US" altLang="zh-CN" sz="3600" dirty="0">
              <a:latin typeface="Verdana" panose="020B0604030504040204" pitchFamily="34" charset="0"/>
              <a:ea typeface="宋体" panose="02010600030101010101" pitchFamily="2" charset="-122"/>
            </a:endParaRPr>
          </a:p>
          <a:p>
            <a:endParaRPr lang="zh-CN" altLang="en-US" sz="36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0C86A48D-B8D4-430A-AE1C-E921A6F75A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3730" name="Rectangle 4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Simple and Loop-Free Paths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graphicFrame>
        <p:nvGraphicFramePr>
          <p:cNvPr id="462908" name="Group 60"/>
          <p:cNvGraphicFramePr>
            <a:graphicFrameLocks noGrp="1"/>
          </p:cNvGraphicFramePr>
          <p:nvPr>
            <p:ph type="tbl" idx="1"/>
            <p:custDataLst>
              <p:tags r:id="rId2"/>
            </p:custDataLst>
          </p:nvPr>
        </p:nvGraphicFramePr>
        <p:xfrm>
          <a:off x="685800" y="1600200"/>
          <a:ext cx="8030845" cy="4842302"/>
        </p:xfrm>
        <a:graphic>
          <a:graphicData uri="http://schemas.openxmlformats.org/drawingml/2006/table">
            <a:tbl>
              <a:tblPr/>
              <a:tblGrid>
                <a:gridCol w="3276600"/>
                <a:gridCol w="1752600"/>
                <a:gridCol w="1828800"/>
              </a:tblGrid>
              <a:tr h="685646">
                <a:tc>
                  <a:txBody>
                    <a:bodyPr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buSzTx/>
                        <a:buFontTx/>
                        <a:buNone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anose="020B0604030504040204" pitchFamily="34" charset="0"/>
                          <a:ea typeface="宋体" panose="02010600030101010101" pitchFamily="2" charset="-122"/>
                        </a:rPr>
                        <a:t>path</a:t>
                      </a:r>
                      <a:endParaRPr kumimoji="0" lang="en-US" altLang="zh-CN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Verdan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5710" marB="4571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buSzTx/>
                        <a:buFontTx/>
                        <a:buNone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anose="020B0604030504040204" pitchFamily="34" charset="0"/>
                          <a:ea typeface="宋体" panose="02010600030101010101" pitchFamily="2" charset="-122"/>
                        </a:rPr>
                        <a:t>Simple?</a:t>
                      </a:r>
                      <a:endParaRPr kumimoji="0" lang="en-US" altLang="zh-CN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Verdan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5710" marB="4571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buSzTx/>
                        <a:buFontTx/>
                        <a:buNone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anose="020B0604030504040204" pitchFamily="34" charset="0"/>
                          <a:ea typeface="宋体" panose="02010600030101010101" pitchFamily="2" charset="-122"/>
                        </a:rPr>
                        <a:t>Loop-free?</a:t>
                      </a:r>
                      <a:endParaRPr kumimoji="0" lang="en-US" altLang="zh-CN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Verdan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5710" marB="4571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</a:tr>
              <a:tr h="685646">
                <a:tc>
                  <a:txBody>
                    <a:bodyPr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entury Gothic" panose="020B0502020202020204" pitchFamily="34" charset="0"/>
                          <a:ea typeface="宋体" panose="02010600030101010101" pitchFamily="2" charset="-122"/>
                        </a:rPr>
                        <a:t>&lt;1,3,4,2&gt;</a:t>
                      </a:r>
                      <a:endParaRPr kumimoji="0" lang="en-US" altLang="zh-CN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Century Gothic" panose="020B0502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10" marB="4571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buSzTx/>
                        <a:buFontTx/>
                        <a:buNone/>
                      </a:pPr>
                      <a:r>
                        <a:rPr kumimoji="0" lang="en-US" altLang="zh-CN" sz="2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DAD23"/>
                          </a:solidFill>
                          <a:effectLst/>
                          <a:latin typeface="Century Gothic" panose="020B050202020202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rPr>
                        <a:t>Yes</a:t>
                      </a:r>
                      <a:endParaRPr kumimoji="0" lang="en-US" altLang="zh-CN" sz="28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FDAD23"/>
                        </a:solidFill>
                        <a:effectLst/>
                        <a:latin typeface="Century Gothic" panose="020B0502020202020204" pitchFamily="34" charset="0"/>
                        <a:ea typeface="宋体" panose="02010600030101010101" pitchFamily="2" charset="-122"/>
                        <a:sym typeface="Symbol" panose="05050102010706020507" pitchFamily="18" charset="2"/>
                      </a:endParaRPr>
                    </a:p>
                  </a:txBody>
                  <a:tcPr marT="45710" marB="4571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2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DAD23"/>
                          </a:solidFill>
                          <a:effectLst/>
                          <a:latin typeface="Century Gothic" panose="020B050202020202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rPr>
                        <a:t>Yes</a:t>
                      </a:r>
                      <a:endParaRPr kumimoji="0" lang="en-US" altLang="zh-CN" sz="28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FDAD23"/>
                        </a:solidFill>
                        <a:effectLst/>
                        <a:latin typeface="Century Gothic" panose="020B0502020202020204" pitchFamily="34" charset="0"/>
                        <a:ea typeface="宋体" panose="02010600030101010101" pitchFamily="2" charset="-122"/>
                        <a:sym typeface="Symbol" panose="05050102010706020507" pitchFamily="18" charset="2"/>
                      </a:endParaRPr>
                    </a:p>
                  </a:txBody>
                  <a:tcPr marT="45710" marB="4571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</a:tr>
              <a:tr h="822940">
                <a:tc>
                  <a:txBody>
                    <a:bodyPr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entury Gothic" panose="020B0502020202020204" pitchFamily="34" charset="0"/>
                          <a:ea typeface="宋体" panose="02010600030101010101" pitchFamily="2" charset="-122"/>
                        </a:rPr>
                        <a:t>&lt;1,2,3,2&gt;</a:t>
                      </a:r>
                      <a:endParaRPr kumimoji="0" lang="en-US" altLang="zh-CN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Century Gothic" panose="020B0502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10" marB="4571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2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DAD23"/>
                          </a:solidFill>
                          <a:effectLst/>
                          <a:latin typeface="Century Gothic" panose="020B050202020202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rPr>
                        <a:t>Yes</a:t>
                      </a:r>
                      <a:endParaRPr kumimoji="0" lang="en-US" altLang="zh-CN" sz="28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FDAD23"/>
                        </a:solidFill>
                        <a:effectLst/>
                        <a:latin typeface="Century Gothic" panose="020B050202020202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buSzTx/>
                        <a:buFontTx/>
                        <a:buNone/>
                      </a:pPr>
                      <a:endParaRPr kumimoji="0" lang="en-US" altLang="zh-CN" sz="28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FDAD23"/>
                        </a:solidFill>
                        <a:effectLst/>
                        <a:latin typeface="Century Gothic" panose="020B0502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10" marB="4571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entury Gothic" panose="020B0502020202020204" pitchFamily="34" charset="0"/>
                          <a:ea typeface="宋体" panose="02010600030101010101" pitchFamily="2" charset="-122"/>
                        </a:rPr>
                        <a:t>No</a:t>
                      </a:r>
                      <a:endParaRPr kumimoji="0" lang="en-US" altLang="zh-CN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Century Gothic" panose="020B0502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10" marB="4571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</a:tr>
              <a:tr h="685646">
                <a:tc>
                  <a:txBody>
                    <a:bodyPr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entury Gothic" panose="020B0502020202020204" pitchFamily="34" charset="0"/>
                          <a:ea typeface="宋体" panose="02010600030101010101" pitchFamily="2" charset="-122"/>
                        </a:rPr>
                        <a:t>&lt;1,2,3,1,2&gt;</a:t>
                      </a:r>
                      <a:endParaRPr kumimoji="0" lang="en-US" altLang="zh-CN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Century Gothic" panose="020B0502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10" marB="4571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entury Gothic" panose="020B0502020202020204" pitchFamily="34" charset="0"/>
                          <a:ea typeface="宋体" panose="02010600030101010101" pitchFamily="2" charset="-122"/>
                        </a:rPr>
                        <a:t>No</a:t>
                      </a:r>
                      <a:endParaRPr kumimoji="0" lang="en-US" altLang="zh-CN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Century Gothic" panose="020B0502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10" marB="4571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entury Gothic" panose="020B0502020202020204" pitchFamily="34" charset="0"/>
                          <a:ea typeface="宋体" panose="02010600030101010101" pitchFamily="2" charset="-122"/>
                        </a:rPr>
                        <a:t>No</a:t>
                      </a:r>
                      <a:endParaRPr kumimoji="0" lang="en-US" altLang="zh-CN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Century Gothic" panose="020B0502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10" marB="4571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</a:tr>
              <a:tr h="685646">
                <a:tc>
                  <a:txBody>
                    <a:bodyPr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entury Gothic" panose="020B0502020202020204" pitchFamily="34" charset="0"/>
                          <a:ea typeface="宋体" panose="02010600030101010101" pitchFamily="2" charset="-122"/>
                        </a:rPr>
                        <a:t>&lt;1,2,3,2,4&gt;</a:t>
                      </a:r>
                      <a:endParaRPr kumimoji="0" lang="en-US" altLang="zh-CN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Century Gothic" panose="020B0502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10" marB="4571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2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DAD23"/>
                          </a:solidFill>
                          <a:effectLst/>
                          <a:latin typeface="Century Gothic" panose="020B050202020202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rPr>
                        <a:t>Yes</a:t>
                      </a:r>
                      <a:endParaRPr kumimoji="0" lang="en-US" altLang="zh-CN" sz="28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FDAD23"/>
                        </a:solidFill>
                        <a:effectLst/>
                        <a:latin typeface="Century Gothic" panose="020B0502020202020204" pitchFamily="34" charset="0"/>
                        <a:ea typeface="宋体" panose="02010600030101010101" pitchFamily="2" charset="-122"/>
                        <a:sym typeface="Symbol" panose="05050102010706020507" pitchFamily="18" charset="2"/>
                      </a:endParaRPr>
                    </a:p>
                  </a:txBody>
                  <a:tcPr marT="45710" marB="4571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entury Gothic" panose="020B0502020202020204" pitchFamily="34" charset="0"/>
                          <a:ea typeface="宋体" panose="02010600030101010101" pitchFamily="2" charset="-122"/>
                        </a:rPr>
                        <a:t>No</a:t>
                      </a:r>
                      <a:endParaRPr kumimoji="0" lang="en-US" altLang="zh-CN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Century Gothic" panose="020B0502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10" marB="4571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4754" name="Rectangle 2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85800" y="381000"/>
            <a:ext cx="7924800" cy="762000"/>
          </a:xfrm>
        </p:spPr>
        <p:txBody>
          <a:bodyPr vert="horz" wrap="square" lIns="91440" tIns="45720" rIns="91440" bIns="45720" anchor="ctr" anchorCtr="0">
            <a:normAutofit fontScale="90000"/>
          </a:bodyPr>
          <a:p>
            <a:pPr eaLnBrk="1" hangingPunct="1"/>
            <a:r>
              <a:rPr lang="en-US" altLang="zh-CN" dirty="0">
                <a:solidFill>
                  <a:srgbClr val="FFC000"/>
                </a:solidFill>
                <a:ea typeface="宋体" panose="02010600030101010101" pitchFamily="2" charset="-122"/>
              </a:rPr>
              <a:t>Simple and Loop-Free Paths (cont’d)</a:t>
            </a:r>
            <a:endParaRPr lang="en-US" altLang="zh-CN" b="0" dirty="0">
              <a:solidFill>
                <a:srgbClr val="FFC000"/>
              </a:solidFill>
              <a:ea typeface="宋体" panose="02010600030101010101" pitchFamily="2" charset="-122"/>
            </a:endParaRPr>
          </a:p>
        </p:txBody>
      </p:sp>
      <p:sp>
        <p:nvSpPr>
          <p:cNvPr id="74755" name="Rectangle 3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85800" y="1600200"/>
            <a:ext cx="7391400" cy="4114800"/>
          </a:xfrm>
        </p:spPr>
        <p:txBody>
          <a:bodyPr vert="horz" wrap="square" lIns="91440" tIns="45720" rIns="91440" bIns="45720" anchor="t" anchorCtr="0"/>
          <a:p>
            <a:pPr marL="457200" indent="-457200" eaLnBrk="1" hangingPunct="1">
              <a:buNone/>
            </a:pPr>
            <a:r>
              <a:rPr lang="en-US" altLang="zh-CN" dirty="0">
                <a:solidFill>
                  <a:schemeClr val="tx1"/>
                </a:solidFill>
                <a:ea typeface="宋体" panose="02010600030101010101" pitchFamily="2" charset="-122"/>
              </a:rPr>
              <a:t>	</a:t>
            </a:r>
            <a:r>
              <a:rPr lang="en-US" altLang="zh-CN" dirty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Which is </a:t>
            </a:r>
            <a:r>
              <a:rPr lang="en-US" altLang="zh-CN" i="1" dirty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stronger, </a:t>
            </a:r>
            <a:r>
              <a:rPr lang="en-US" altLang="zh-CN" b="1" dirty="0">
                <a:solidFill>
                  <a:srgbClr val="FFC000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simple</a:t>
            </a:r>
            <a:r>
              <a:rPr lang="en-US" altLang="zh-CN" dirty="0">
                <a:solidFill>
                  <a:srgbClr val="FFC000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 </a:t>
            </a:r>
            <a:r>
              <a:rPr lang="en-US" altLang="zh-CN" dirty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or </a:t>
            </a:r>
            <a:r>
              <a:rPr lang="en-US" altLang="zh-CN" b="1" dirty="0">
                <a:solidFill>
                  <a:srgbClr val="FFC000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loop-free</a:t>
            </a:r>
            <a:r>
              <a:rPr lang="en-US" altLang="zh-CN" dirty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?</a:t>
            </a:r>
            <a:endParaRPr lang="en-US" altLang="zh-CN" dirty="0">
              <a:solidFill>
                <a:schemeClr val="tx1"/>
              </a:solidFill>
              <a:latin typeface="Verdana" panose="020B0604030504040204" pitchFamily="34" charset="0"/>
              <a:ea typeface="宋体" panose="02010600030101010101" pitchFamily="2" charset="-122"/>
            </a:endParaRPr>
          </a:p>
          <a:p>
            <a:pPr marL="457200" indent="-457200" eaLnBrk="1" hangingPunct="1">
              <a:buNone/>
            </a:pPr>
            <a:endParaRPr lang="en-US" altLang="zh-CN" dirty="0">
              <a:solidFill>
                <a:schemeClr val="tx1"/>
              </a:solidFill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5" name="圆角矩形标注 4"/>
          <p:cNvSpPr/>
          <p:nvPr>
            <p:custDataLst>
              <p:tags r:id="rId3"/>
            </p:custDataLst>
          </p:nvPr>
        </p:nvSpPr>
        <p:spPr>
          <a:xfrm>
            <a:off x="2743200" y="2971800"/>
            <a:ext cx="1676400" cy="685800"/>
          </a:xfrm>
          <a:prstGeom prst="wedgeRoundRectCallout">
            <a:avLst>
              <a:gd name="adj1" fmla="val 55035"/>
              <a:gd name="adj2" fmla="val -172652"/>
              <a:gd name="adj3" fmla="val 16667"/>
            </a:avLst>
          </a:prstGeom>
          <a:noFill/>
          <a:ln w="12700" cmpd="sng">
            <a:solidFill>
              <a:schemeClr val="tx1">
                <a:lumMod val="95000"/>
                <a:lumOff val="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entury Gothic" panose="020B0502020202020204" pitchFamily="34" charset="0"/>
                <a:ea typeface="宋体" panose="02010600030101010101" pitchFamily="2" charset="-122"/>
                <a:cs typeface="+mn-cs"/>
              </a:rPr>
              <a:t>环路为</a:t>
            </a:r>
            <a:r>
              <a:rPr kumimoji="0" lang="en-US" altLang="zh-CN" sz="2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entury Gothic" panose="020B0502020202020204" pitchFamily="34" charset="0"/>
                <a:ea typeface="宋体" panose="02010600030101010101" pitchFamily="2" charset="-122"/>
                <a:cs typeface="+mn-cs"/>
              </a:rPr>
              <a:t>1</a:t>
            </a:r>
            <a:endParaRPr kumimoji="0" lang="en-US" altLang="zh-CN" sz="28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entury Gothic" panose="020B0502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圆角矩形标注 5"/>
          <p:cNvSpPr/>
          <p:nvPr>
            <p:custDataLst>
              <p:tags r:id="rId4"/>
            </p:custDataLst>
          </p:nvPr>
        </p:nvSpPr>
        <p:spPr>
          <a:xfrm>
            <a:off x="5105400" y="2967038"/>
            <a:ext cx="1676400" cy="685800"/>
          </a:xfrm>
          <a:prstGeom prst="wedgeRoundRectCallout">
            <a:avLst>
              <a:gd name="adj1" fmla="val 55035"/>
              <a:gd name="adj2" fmla="val -172652"/>
              <a:gd name="adj3" fmla="val 16667"/>
            </a:avLst>
          </a:prstGeom>
          <a:noFill/>
          <a:ln w="12700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entury Gothic" panose="020B0502020202020204" pitchFamily="34" charset="0"/>
                <a:ea typeface="宋体" panose="02010600030101010101" pitchFamily="2" charset="-122"/>
                <a:cs typeface="+mn-cs"/>
              </a:rPr>
              <a:t>无环路</a:t>
            </a:r>
            <a:endParaRPr kumimoji="0" lang="zh-CN" altLang="en-US" sz="28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entury Gothic" panose="020B0502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5778" name="Rectangle 2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dirty="0">
                <a:solidFill>
                  <a:srgbClr val="FFC000"/>
                </a:solidFill>
                <a:ea typeface="宋体" panose="02010600030101010101" pitchFamily="2" charset="-122"/>
              </a:rPr>
              <a:t>More Dataflow Terms and Definitions</a:t>
            </a:r>
            <a:endParaRPr lang="en-US" altLang="zh-CN" b="0" dirty="0">
              <a:solidFill>
                <a:srgbClr val="FFC000"/>
              </a:solidFill>
              <a:ea typeface="宋体" panose="02010600030101010101" pitchFamily="2" charset="-122"/>
            </a:endParaRPr>
          </a:p>
        </p:txBody>
      </p:sp>
      <p:sp>
        <p:nvSpPr>
          <p:cNvPr id="48131" name="Rectangle 3"/>
          <p:cNvSpPr>
            <a:spLocks noGrp="1" noChangeArrowheads="1"/>
          </p:cNvSpPr>
          <p:nvPr>
            <p:ph idx="1"/>
            <p:custDataLst>
              <p:tags r:id="rId2"/>
            </p:custDataLst>
          </p:nvPr>
        </p:nvSpPr>
        <p:spPr/>
        <p:txBody>
          <a:bodyPr vert="horz" wrap="square" lIns="91440" tIns="45720" rIns="91440" bIns="45720" numCol="1" anchor="t" anchorCtr="0" compatLnSpc="1"/>
          <a:lstStyle/>
          <a:p>
            <a:pPr marL="457200" marR="0" lvl="0" indent="-4572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20000"/>
              </a:spcAft>
              <a:buClr>
                <a:srgbClr val="FDAD23"/>
              </a:buClr>
              <a:buSzTx/>
              <a:buFontTx/>
              <a:buNone/>
              <a:defRPr/>
            </a:pP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	</a:t>
            </a: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A path</a:t>
            </a: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 &lt;n1,n2,...,</a:t>
            </a:r>
            <a:r>
              <a:rPr kumimoji="0" lang="en-US" altLang="zh-CN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nj,nk</a:t>
            </a: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&gt; </a:t>
            </a: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is a </a:t>
            </a:r>
            <a:r>
              <a:rPr kumimoji="0" lang="en-US" altLang="zh-CN" sz="2400" b="1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du-path</a:t>
            </a:r>
            <a:r>
              <a:rPr kumimoji="0" lang="en-US" altLang="zh-CN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with respect to a variable v if v is defined at node n1 and either:</a:t>
            </a:r>
            <a:endParaRPr kumimoji="0" lang="en-US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L="914400" marR="0" lvl="1" indent="-4572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20000"/>
              </a:spcAft>
              <a:buClr>
                <a:srgbClr val="FDAD23"/>
              </a:buClr>
              <a:buSzTx/>
              <a:buFontTx/>
              <a:buAutoNum type="arabicPeriod"/>
              <a:defRPr/>
            </a:pP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</a:rPr>
              <a:t>there is a </a:t>
            </a:r>
            <a:r>
              <a:rPr kumimoji="0" lang="en-US" altLang="zh-CN" sz="2400" b="1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</a:rPr>
              <a:t>c-use</a:t>
            </a: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</a:rPr>
              <a:t> </a:t>
            </a: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</a:rPr>
              <a:t>of v at node </a:t>
            </a:r>
            <a:r>
              <a:rPr kumimoji="0" lang="en-US" altLang="zh-CN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</a:rPr>
              <a:t>nk</a:t>
            </a: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</a:rPr>
              <a:t> and</a:t>
            </a: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</a:rPr>
              <a:t> &lt;n1,n2,...,</a:t>
            </a:r>
            <a:r>
              <a:rPr kumimoji="0" lang="en-US" altLang="zh-CN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</a:rPr>
              <a:t>nj,nk</a:t>
            </a: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</a:rPr>
              <a:t>&gt; </a:t>
            </a: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</a:rPr>
              <a:t>is a </a:t>
            </a:r>
            <a:r>
              <a:rPr kumimoji="0" lang="en-US" altLang="zh-CN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</a:rPr>
              <a:t>def</a:t>
            </a: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</a:rPr>
              <a:t>-clear </a:t>
            </a:r>
            <a:r>
              <a:rPr kumimoji="0" lang="en-US" altLang="zh-CN" sz="2400" b="1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</a:rPr>
              <a:t>simple </a:t>
            </a: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</a:rPr>
              <a:t>path, </a:t>
            </a:r>
            <a:endParaRPr kumimoji="0" lang="en-US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宋体" panose="02010600030101010101" pitchFamily="2" charset="-122"/>
            </a:endParaRPr>
          </a:p>
          <a:p>
            <a:pPr marL="457200" marR="0" lvl="1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20000"/>
              </a:spcAft>
              <a:buClr>
                <a:srgbClr val="FDAD23"/>
              </a:buClr>
              <a:buSzTx/>
              <a:buFontTx/>
              <a:buNone/>
              <a:defRPr/>
            </a:pPr>
            <a:r>
              <a:rPr kumimoji="0" lang="en-US" altLang="zh-CN" sz="2400" b="1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</a:rPr>
              <a:t>or</a:t>
            </a:r>
            <a:endParaRPr kumimoji="0" lang="en-US" altLang="zh-CN" sz="24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宋体" panose="02010600030101010101" pitchFamily="2" charset="-122"/>
            </a:endParaRPr>
          </a:p>
          <a:p>
            <a:pPr marL="914400" marR="0" lvl="1" indent="-4572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20000"/>
              </a:spcAft>
              <a:buClr>
                <a:srgbClr val="FDAD23"/>
              </a:buClr>
              <a:buSzTx/>
              <a:buFontTx/>
              <a:buAutoNum type="arabicPeriod"/>
              <a:defRPr/>
            </a:pP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</a:rPr>
              <a:t>there is a </a:t>
            </a:r>
            <a:r>
              <a:rPr kumimoji="0" lang="en-US" altLang="zh-CN" sz="2400" b="1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</a:rPr>
              <a:t>p-use</a:t>
            </a: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</a:rPr>
              <a:t> of v at edge</a:t>
            </a: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</a:rPr>
              <a:t> &lt;</a:t>
            </a:r>
            <a:r>
              <a:rPr kumimoji="0" lang="en-US" altLang="zh-CN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</a:rPr>
              <a:t>nj,nk</a:t>
            </a: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</a:rPr>
              <a:t>&gt; </a:t>
            </a: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</a:rPr>
              <a:t>and</a:t>
            </a: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</a:rPr>
              <a:t> &lt;n1,n2,...</a:t>
            </a:r>
            <a:r>
              <a:rPr kumimoji="0" lang="en-US" altLang="zh-CN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</a:rPr>
              <a:t>nj</a:t>
            </a: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</a:rPr>
              <a:t>&gt; </a:t>
            </a: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</a:rPr>
              <a:t>is a </a:t>
            </a:r>
            <a:r>
              <a:rPr kumimoji="0" lang="en-US" altLang="zh-CN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</a:rPr>
              <a:t>def</a:t>
            </a: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</a:rPr>
              <a:t>-clear </a:t>
            </a:r>
            <a:r>
              <a:rPr kumimoji="0" lang="en-US" altLang="zh-CN" sz="2400" b="1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</a:rPr>
              <a:t>loop-free</a:t>
            </a:r>
            <a:r>
              <a:rPr kumimoji="0" lang="en-US" altLang="zh-CN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</a:rPr>
              <a:t> </a:t>
            </a: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</a:rPr>
              <a:t>path.</a:t>
            </a:r>
            <a:endParaRPr kumimoji="0" lang="en-US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75780" name="Text Box 4"/>
          <p:cNvSpPr txBox="1"/>
          <p:nvPr>
            <p:custDataLst>
              <p:tags r:id="rId3"/>
            </p:custDataLst>
          </p:nvPr>
        </p:nvSpPr>
        <p:spPr>
          <a:xfrm>
            <a:off x="7061200" y="5670868"/>
            <a:ext cx="1371600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20000"/>
              </a:spcAft>
              <a:buClr>
                <a:srgbClr val="FDAD23"/>
              </a:buClr>
              <a:buChar char="•"/>
              <a:defRPr sz="24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20000"/>
              </a:spcAft>
              <a:buClr>
                <a:srgbClr val="FDAD23"/>
              </a:buClr>
              <a:buChar char="–"/>
              <a:defRPr sz="2400">
                <a:solidFill>
                  <a:schemeClr val="bg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20000"/>
              </a:spcAft>
              <a:buClr>
                <a:srgbClr val="FDAD23"/>
              </a:buClr>
              <a:buSzPct val="75000"/>
              <a:buChar char="•"/>
              <a:defRPr sz="2400">
                <a:solidFill>
                  <a:schemeClr val="bg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DAD23"/>
              </a:buClr>
              <a:buFont typeface="Times New Roman" panose="02020603050405020304" pitchFamily="18" charset="0"/>
              <a:buChar char="–"/>
              <a:defRPr sz="2400">
                <a:solidFill>
                  <a:schemeClr val="bg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DAD23"/>
              </a:buClr>
              <a:buChar char="»"/>
              <a:defRPr sz="2400">
                <a:solidFill>
                  <a:schemeClr val="bg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zh-CN" sz="2800" dirty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NOTE!</a:t>
            </a:r>
            <a:endParaRPr lang="en-US" altLang="zh-CN" sz="2800" dirty="0">
              <a:solidFill>
                <a:schemeClr val="tx1"/>
              </a:solidFill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75781" name="Line 5"/>
          <p:cNvSpPr/>
          <p:nvPr>
            <p:custDataLst>
              <p:tags r:id="rId4"/>
            </p:custDataLst>
          </p:nvPr>
        </p:nvSpPr>
        <p:spPr>
          <a:xfrm flipH="1" flipV="1">
            <a:off x="6501130" y="4594860"/>
            <a:ext cx="560070" cy="1061720"/>
          </a:xfrm>
          <a:prstGeom prst="line">
            <a:avLst/>
          </a:prstGeom>
          <a:ln w="9525" cap="flat" cmpd="sng">
            <a:solidFill>
              <a:srgbClr val="00FF00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75782" name="Line 6"/>
          <p:cNvSpPr/>
          <p:nvPr>
            <p:custDataLst>
              <p:tags r:id="rId5"/>
            </p:custDataLst>
          </p:nvPr>
        </p:nvSpPr>
        <p:spPr>
          <a:xfrm flipV="1">
            <a:off x="8356600" y="4665980"/>
            <a:ext cx="914400" cy="1233488"/>
          </a:xfrm>
          <a:prstGeom prst="line">
            <a:avLst/>
          </a:prstGeom>
          <a:ln w="9525" cap="flat" cmpd="sng">
            <a:solidFill>
              <a:srgbClr val="00FF00"/>
            </a:solidFill>
            <a:prstDash val="solid"/>
            <a:headEnd type="none" w="med" len="med"/>
            <a:tailEnd type="triangle" w="med" len="med"/>
          </a:ln>
        </p:spPr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13" name="对象 12"/>
          <p:cNvGraphicFramePr/>
          <p:nvPr>
            <p:custDataLst>
              <p:tags r:id="rId1"/>
            </p:custDataLst>
          </p:nvPr>
        </p:nvGraphicFramePr>
        <p:xfrm>
          <a:off x="400050" y="18415"/>
          <a:ext cx="11391265" cy="68205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" name="" r:id="rId2" imgW="11382375" imgH="6815455" progId="Paint.Picture">
                  <p:embed/>
                </p:oleObj>
              </mc:Choice>
              <mc:Fallback>
                <p:oleObj name="" r:id="rId2" imgW="11382375" imgH="6815455" progId="Paint.Picture">
                  <p:embed/>
                  <p:pic>
                    <p:nvPicPr>
                      <p:cNvPr id="0" name="图片 13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400050" y="18415"/>
                        <a:ext cx="11391265" cy="682053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>
                <a:ea typeface="宋体" panose="02010600030101010101" pitchFamily="2" charset="-122"/>
              </a:rPr>
              <a:t>Dataflow Test Coverage Criteria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86A48D-B8D4-430A-AE1C-E921A6F75A10}" type="slidenum">
              <a:rPr lang="zh-CN" altLang="en-US" smtClean="0"/>
            </a:fld>
            <a:endParaRPr lang="zh-CN" altLang="en-US"/>
          </a:p>
        </p:txBody>
      </p:sp>
      <p:sp>
        <p:nvSpPr>
          <p:cNvPr id="6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285749" y="1625374"/>
            <a:ext cx="8711293" cy="4791755"/>
          </a:xfrm>
        </p:spPr>
        <p:txBody>
          <a:bodyPr>
            <a:normAutofit/>
          </a:bodyPr>
          <a:lstStyle/>
          <a:p>
            <a:r>
              <a:rPr lang="en-US" altLang="zh-CN" sz="3200" b="1" i="1" dirty="0" smtClean="0">
                <a:solidFill>
                  <a:srgbClr val="FDAD23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All-</a:t>
            </a:r>
            <a:r>
              <a:rPr lang="en-US" altLang="zh-CN" sz="3200" b="1" i="1" dirty="0" err="1" smtClean="0">
                <a:solidFill>
                  <a:srgbClr val="FDAD23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Defs</a:t>
            </a:r>
            <a:r>
              <a:rPr lang="en-US" altLang="zh-CN" sz="3200" b="1" i="1" dirty="0" smtClean="0">
                <a:solidFill>
                  <a:srgbClr val="FDAD23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:  </a:t>
            </a:r>
            <a:r>
              <a:rPr lang="en-US" altLang="zh-CN" sz="3200" dirty="0" smtClean="0">
                <a:latin typeface="Verdana" panose="020B0604030504040204" pitchFamily="34" charset="0"/>
                <a:ea typeface="宋体" panose="02010600030101010101" pitchFamily="2" charset="-122"/>
              </a:rPr>
              <a:t>for </a:t>
            </a:r>
            <a:r>
              <a:rPr lang="en-US" altLang="zh-CN" sz="3200" b="1" dirty="0" smtClean="0">
                <a:latin typeface="Verdana" panose="020B0604030504040204" pitchFamily="34" charset="0"/>
                <a:ea typeface="宋体" panose="02010600030101010101" pitchFamily="2" charset="-122"/>
              </a:rPr>
              <a:t>every program variable v</a:t>
            </a:r>
            <a:r>
              <a:rPr lang="en-US" altLang="zh-CN" sz="3200" dirty="0" smtClean="0">
                <a:latin typeface="Verdana" panose="020B0604030504040204" pitchFamily="34" charset="0"/>
                <a:ea typeface="宋体" panose="02010600030101010101" pitchFamily="2" charset="-122"/>
              </a:rPr>
              <a:t>, </a:t>
            </a:r>
            <a:r>
              <a:rPr lang="en-US" altLang="zh-CN" sz="3200" b="1" dirty="0" smtClean="0">
                <a:latin typeface="Verdana" panose="020B0604030504040204" pitchFamily="34" charset="0"/>
                <a:ea typeface="宋体" panose="02010600030101010101" pitchFamily="2" charset="-122"/>
              </a:rPr>
              <a:t>at least one</a:t>
            </a:r>
            <a:r>
              <a:rPr lang="en-US" altLang="zh-CN" sz="3200" dirty="0" smtClean="0">
                <a:latin typeface="Verdana" panose="020B0604030504040204" pitchFamily="34" charset="0"/>
                <a:ea typeface="宋体" panose="02010600030101010101" pitchFamily="2" charset="-122"/>
              </a:rPr>
              <a:t> </a:t>
            </a:r>
            <a:r>
              <a:rPr lang="en-US" altLang="zh-CN" sz="3200" b="1" dirty="0" smtClean="0">
                <a:latin typeface="Verdana" panose="020B0604030504040204" pitchFamily="34" charset="0"/>
                <a:ea typeface="宋体" panose="02010600030101010101" pitchFamily="2" charset="-122"/>
              </a:rPr>
              <a:t>def-clear path</a:t>
            </a:r>
            <a:r>
              <a:rPr lang="en-US" altLang="zh-CN" sz="3200" dirty="0" smtClean="0">
                <a:latin typeface="Verdana" panose="020B0604030504040204" pitchFamily="34" charset="0"/>
                <a:ea typeface="宋体" panose="02010600030101010101" pitchFamily="2" charset="-122"/>
              </a:rPr>
              <a:t> from </a:t>
            </a:r>
            <a:r>
              <a:rPr lang="en-US" altLang="zh-CN" sz="3200" b="1" dirty="0" smtClean="0">
                <a:solidFill>
                  <a:srgbClr val="FF0000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every</a:t>
            </a:r>
            <a:r>
              <a:rPr lang="en-US" altLang="zh-CN" sz="3200" b="1" dirty="0" smtClean="0">
                <a:latin typeface="Verdana" panose="020B0604030504040204" pitchFamily="34" charset="0"/>
                <a:ea typeface="宋体" panose="02010600030101010101" pitchFamily="2" charset="-122"/>
              </a:rPr>
              <a:t> definition</a:t>
            </a:r>
            <a:r>
              <a:rPr lang="en-US" altLang="zh-CN" sz="3200" dirty="0" smtClean="0">
                <a:latin typeface="Verdana" panose="020B0604030504040204" pitchFamily="34" charset="0"/>
                <a:ea typeface="宋体" panose="02010600030101010101" pitchFamily="2" charset="-122"/>
              </a:rPr>
              <a:t> of v to </a:t>
            </a:r>
            <a:r>
              <a:rPr lang="en-US" altLang="zh-CN" sz="3200" b="1" dirty="0" smtClean="0">
                <a:solidFill>
                  <a:srgbClr val="FF0000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at least one </a:t>
            </a:r>
            <a:r>
              <a:rPr lang="en-US" altLang="zh-CN" sz="3200" b="1" dirty="0" smtClean="0">
                <a:latin typeface="Verdana" panose="020B0604030504040204" pitchFamily="34" charset="0"/>
                <a:ea typeface="宋体" panose="02010600030101010101" pitchFamily="2" charset="-122"/>
              </a:rPr>
              <a:t>c-use or one p-use</a:t>
            </a:r>
            <a:r>
              <a:rPr lang="en-US" altLang="zh-CN" sz="3200" dirty="0" smtClean="0">
                <a:latin typeface="Verdana" panose="020B0604030504040204" pitchFamily="34" charset="0"/>
                <a:ea typeface="宋体" panose="02010600030101010101" pitchFamily="2" charset="-122"/>
              </a:rPr>
              <a:t> of v must be covered.</a:t>
            </a:r>
            <a:endParaRPr lang="en-US" altLang="zh-CN" sz="3200" dirty="0" smtClean="0"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Example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86A48D-B8D4-430A-AE1C-E921A6F75A10}" type="slidenum">
              <a:rPr lang="zh-CN" altLang="en-US" smtClean="0"/>
            </a:fld>
            <a:endParaRPr lang="zh-CN" altLang="en-US"/>
          </a:p>
        </p:txBody>
      </p:sp>
      <p:grpSp>
        <p:nvGrpSpPr>
          <p:cNvPr id="31" name="组合 30"/>
          <p:cNvGrpSpPr/>
          <p:nvPr/>
        </p:nvGrpSpPr>
        <p:grpSpPr>
          <a:xfrm>
            <a:off x="1717281" y="1985461"/>
            <a:ext cx="7970398" cy="2516617"/>
            <a:chOff x="2340528" y="1011921"/>
            <a:chExt cx="7970398" cy="2516617"/>
          </a:xfrm>
        </p:grpSpPr>
        <p:cxnSp>
          <p:nvCxnSpPr>
            <p:cNvPr id="7" name="直接连接符 6"/>
            <p:cNvCxnSpPr/>
            <p:nvPr/>
          </p:nvCxnSpPr>
          <p:spPr>
            <a:xfrm>
              <a:off x="2340528" y="2306972"/>
              <a:ext cx="755010" cy="0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椭圆 7"/>
            <p:cNvSpPr/>
            <p:nvPr/>
          </p:nvSpPr>
          <p:spPr>
            <a:xfrm>
              <a:off x="3095538" y="1962691"/>
              <a:ext cx="813732" cy="629507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400" dirty="0" smtClean="0">
                  <a:ln>
                    <a:solidFill>
                      <a:sysClr val="windowText" lastClr="000000"/>
                    </a:solidFill>
                  </a:ln>
                  <a:solidFill>
                    <a:schemeClr val="tx1"/>
                  </a:solidFill>
                </a:rPr>
                <a:t>1</a:t>
              </a:r>
              <a:endParaRPr lang="zh-CN" altLang="en-US" sz="2400" dirty="0">
                <a:ln>
                  <a:solidFill>
                    <a:sysClr val="windowText" lastClr="000000"/>
                  </a:solidFill>
                </a:ln>
                <a:solidFill>
                  <a:schemeClr val="tx1"/>
                </a:solidFill>
              </a:endParaRPr>
            </a:p>
          </p:txBody>
        </p:sp>
        <p:cxnSp>
          <p:nvCxnSpPr>
            <p:cNvPr id="9" name="直接连接符 8"/>
            <p:cNvCxnSpPr/>
            <p:nvPr/>
          </p:nvCxnSpPr>
          <p:spPr>
            <a:xfrm flipV="1">
              <a:off x="3896391" y="1837386"/>
              <a:ext cx="684195" cy="336504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直接连接符 10"/>
            <p:cNvCxnSpPr/>
            <p:nvPr/>
          </p:nvCxnSpPr>
          <p:spPr>
            <a:xfrm>
              <a:off x="3859134" y="2412166"/>
              <a:ext cx="730038" cy="369671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椭圆 12"/>
            <p:cNvSpPr/>
            <p:nvPr/>
          </p:nvSpPr>
          <p:spPr>
            <a:xfrm>
              <a:off x="4589172" y="1522632"/>
              <a:ext cx="813732" cy="629507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400" dirty="0" smtClean="0">
                  <a:ln>
                    <a:solidFill>
                      <a:sysClr val="windowText" lastClr="000000"/>
                    </a:solidFill>
                  </a:ln>
                  <a:solidFill>
                    <a:schemeClr val="tx1"/>
                  </a:solidFill>
                </a:rPr>
                <a:t>2</a:t>
              </a:r>
              <a:endParaRPr lang="zh-CN" altLang="en-US" sz="2400" dirty="0">
                <a:ln>
                  <a:solidFill>
                    <a:sysClr val="windowText" lastClr="000000"/>
                  </a:solidFill>
                </a:ln>
                <a:solidFill>
                  <a:schemeClr val="tx1"/>
                </a:solidFill>
              </a:endParaRPr>
            </a:p>
          </p:txBody>
        </p:sp>
        <p:sp>
          <p:nvSpPr>
            <p:cNvPr id="14" name="椭圆 13"/>
            <p:cNvSpPr/>
            <p:nvPr/>
          </p:nvSpPr>
          <p:spPr>
            <a:xfrm>
              <a:off x="4589172" y="2461849"/>
              <a:ext cx="813732" cy="629507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400" dirty="0" smtClean="0">
                  <a:ln>
                    <a:solidFill>
                      <a:sysClr val="windowText" lastClr="000000"/>
                    </a:solidFill>
                  </a:ln>
                  <a:solidFill>
                    <a:schemeClr val="tx1"/>
                  </a:solidFill>
                </a:rPr>
                <a:t>3</a:t>
              </a:r>
              <a:endParaRPr lang="zh-CN" altLang="en-US" sz="2400" dirty="0">
                <a:ln>
                  <a:solidFill>
                    <a:sysClr val="windowText" lastClr="000000"/>
                  </a:solidFill>
                </a:ln>
                <a:solidFill>
                  <a:schemeClr val="tx1"/>
                </a:solidFill>
              </a:endParaRPr>
            </a:p>
          </p:txBody>
        </p:sp>
        <p:cxnSp>
          <p:nvCxnSpPr>
            <p:cNvPr id="15" name="直接连接符 14"/>
            <p:cNvCxnSpPr>
              <a:endCxn id="17" idx="2"/>
            </p:cNvCxnSpPr>
            <p:nvPr/>
          </p:nvCxnSpPr>
          <p:spPr>
            <a:xfrm>
              <a:off x="5394318" y="1884698"/>
              <a:ext cx="895180" cy="356621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接连接符 15"/>
            <p:cNvCxnSpPr/>
            <p:nvPr/>
          </p:nvCxnSpPr>
          <p:spPr>
            <a:xfrm flipV="1">
              <a:off x="5402904" y="2320391"/>
              <a:ext cx="895180" cy="458190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椭圆 16"/>
            <p:cNvSpPr/>
            <p:nvPr/>
          </p:nvSpPr>
          <p:spPr>
            <a:xfrm>
              <a:off x="6289498" y="1926565"/>
              <a:ext cx="813732" cy="629507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400" dirty="0" smtClean="0">
                  <a:ln>
                    <a:solidFill>
                      <a:sysClr val="windowText" lastClr="000000"/>
                    </a:solidFill>
                  </a:ln>
                  <a:solidFill>
                    <a:schemeClr val="tx1"/>
                  </a:solidFill>
                </a:rPr>
                <a:t>4</a:t>
              </a:r>
              <a:endParaRPr lang="zh-CN" altLang="en-US" sz="2400" dirty="0">
                <a:ln>
                  <a:solidFill>
                    <a:sysClr val="windowText" lastClr="000000"/>
                  </a:solidFill>
                </a:ln>
                <a:solidFill>
                  <a:schemeClr val="tx1"/>
                </a:solidFill>
              </a:endParaRPr>
            </a:p>
          </p:txBody>
        </p:sp>
        <p:cxnSp>
          <p:nvCxnSpPr>
            <p:cNvPr id="20" name="直接连接符 19"/>
            <p:cNvCxnSpPr/>
            <p:nvPr/>
          </p:nvCxnSpPr>
          <p:spPr>
            <a:xfrm flipV="1">
              <a:off x="7104087" y="1807858"/>
              <a:ext cx="684195" cy="336504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接连接符 20"/>
            <p:cNvCxnSpPr/>
            <p:nvPr/>
          </p:nvCxnSpPr>
          <p:spPr>
            <a:xfrm>
              <a:off x="7066830" y="2382638"/>
              <a:ext cx="730038" cy="369671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椭圆 21"/>
            <p:cNvSpPr/>
            <p:nvPr/>
          </p:nvSpPr>
          <p:spPr>
            <a:xfrm>
              <a:off x="7796868" y="1493104"/>
              <a:ext cx="813732" cy="629507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400" dirty="0" smtClean="0">
                  <a:ln>
                    <a:solidFill>
                      <a:sysClr val="windowText" lastClr="000000"/>
                    </a:solidFill>
                  </a:ln>
                  <a:solidFill>
                    <a:schemeClr val="tx1"/>
                  </a:solidFill>
                </a:rPr>
                <a:t>5</a:t>
              </a:r>
              <a:endParaRPr lang="zh-CN" altLang="en-US" sz="2400" dirty="0">
                <a:ln>
                  <a:solidFill>
                    <a:sysClr val="windowText" lastClr="000000"/>
                  </a:solidFill>
                </a:ln>
                <a:solidFill>
                  <a:schemeClr val="tx1"/>
                </a:solidFill>
              </a:endParaRPr>
            </a:p>
          </p:txBody>
        </p:sp>
        <p:sp>
          <p:nvSpPr>
            <p:cNvPr id="23" name="椭圆 22"/>
            <p:cNvSpPr/>
            <p:nvPr/>
          </p:nvSpPr>
          <p:spPr>
            <a:xfrm>
              <a:off x="7796868" y="2432321"/>
              <a:ext cx="813732" cy="629507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400" dirty="0" smtClean="0">
                  <a:ln>
                    <a:solidFill>
                      <a:sysClr val="windowText" lastClr="000000"/>
                    </a:solidFill>
                  </a:ln>
                  <a:solidFill>
                    <a:schemeClr val="tx1"/>
                  </a:solidFill>
                </a:rPr>
                <a:t>6</a:t>
              </a:r>
              <a:endParaRPr lang="zh-CN" altLang="en-US" sz="2400" dirty="0">
                <a:ln>
                  <a:solidFill>
                    <a:sysClr val="windowText" lastClr="000000"/>
                  </a:solidFill>
                </a:ln>
                <a:solidFill>
                  <a:schemeClr val="tx1"/>
                </a:solidFill>
              </a:endParaRPr>
            </a:p>
          </p:txBody>
        </p:sp>
        <p:cxnSp>
          <p:nvCxnSpPr>
            <p:cNvPr id="24" name="直接连接符 23"/>
            <p:cNvCxnSpPr>
              <a:endCxn id="26" idx="2"/>
            </p:cNvCxnSpPr>
            <p:nvPr/>
          </p:nvCxnSpPr>
          <p:spPr>
            <a:xfrm>
              <a:off x="8602014" y="1855170"/>
              <a:ext cx="895180" cy="356621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直接连接符 24"/>
            <p:cNvCxnSpPr/>
            <p:nvPr/>
          </p:nvCxnSpPr>
          <p:spPr>
            <a:xfrm flipV="1">
              <a:off x="8610600" y="2290863"/>
              <a:ext cx="895180" cy="458190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椭圆 25"/>
            <p:cNvSpPr/>
            <p:nvPr/>
          </p:nvSpPr>
          <p:spPr>
            <a:xfrm>
              <a:off x="9497194" y="1897037"/>
              <a:ext cx="813732" cy="629507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400" dirty="0" smtClean="0">
                  <a:ln>
                    <a:solidFill>
                      <a:sysClr val="windowText" lastClr="000000"/>
                    </a:solidFill>
                  </a:ln>
                  <a:solidFill>
                    <a:schemeClr val="tx1"/>
                  </a:solidFill>
                </a:rPr>
                <a:t>7</a:t>
              </a:r>
              <a:endParaRPr lang="zh-CN" altLang="en-US" sz="2400" dirty="0">
                <a:ln>
                  <a:solidFill>
                    <a:sysClr val="windowText" lastClr="000000"/>
                  </a:solidFill>
                </a:ln>
                <a:solidFill>
                  <a:schemeClr val="tx1"/>
                </a:solidFill>
              </a:endParaRPr>
            </a:p>
          </p:txBody>
        </p:sp>
        <p:sp>
          <p:nvSpPr>
            <p:cNvPr id="27" name="文本框 26"/>
            <p:cNvSpPr txBox="1"/>
            <p:nvPr/>
          </p:nvSpPr>
          <p:spPr>
            <a:xfrm>
              <a:off x="3081694" y="1460976"/>
              <a:ext cx="892935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400" dirty="0" smtClean="0"/>
                <a:t>X=42</a:t>
              </a:r>
              <a:endParaRPr lang="zh-CN" altLang="en-US" sz="2400" dirty="0"/>
            </a:p>
          </p:txBody>
        </p:sp>
        <p:sp>
          <p:nvSpPr>
            <p:cNvPr id="28" name="文本框 27"/>
            <p:cNvSpPr txBox="1"/>
            <p:nvPr/>
          </p:nvSpPr>
          <p:spPr>
            <a:xfrm>
              <a:off x="7749645" y="1011921"/>
              <a:ext cx="108526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400" dirty="0" smtClean="0"/>
                <a:t>Z=X*2</a:t>
              </a:r>
              <a:endParaRPr lang="zh-CN" altLang="en-US" sz="2400" dirty="0"/>
            </a:p>
          </p:txBody>
        </p:sp>
        <p:sp>
          <p:nvSpPr>
            <p:cNvPr id="29" name="文本框 28"/>
            <p:cNvSpPr txBox="1"/>
            <p:nvPr/>
          </p:nvSpPr>
          <p:spPr>
            <a:xfrm>
              <a:off x="7796868" y="3066873"/>
              <a:ext cx="108526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400" dirty="0" smtClean="0"/>
                <a:t>Z=X-8</a:t>
              </a:r>
              <a:endParaRPr lang="zh-CN" altLang="en-US" sz="2400" dirty="0"/>
            </a:p>
          </p:txBody>
        </p:sp>
      </p:grpSp>
      <p:graphicFrame>
        <p:nvGraphicFramePr>
          <p:cNvPr id="30" name="表格 29"/>
          <p:cNvGraphicFramePr>
            <a:graphicFrameLocks noGrp="1"/>
          </p:cNvGraphicFramePr>
          <p:nvPr/>
        </p:nvGraphicFramePr>
        <p:xfrm>
          <a:off x="2095744" y="5060673"/>
          <a:ext cx="2266990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6699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CN" sz="2400" dirty="0" smtClean="0">
                          <a:solidFill>
                            <a:schemeClr val="tx1"/>
                          </a:solidFill>
                        </a:rPr>
                        <a:t>All-</a:t>
                      </a:r>
                      <a:r>
                        <a:rPr lang="en-US" altLang="zh-CN" sz="2400" dirty="0" err="1" smtClean="0">
                          <a:solidFill>
                            <a:schemeClr val="tx1"/>
                          </a:solidFill>
                        </a:rPr>
                        <a:t>defs</a:t>
                      </a:r>
                      <a:r>
                        <a:rPr lang="en-US" altLang="zh-CN" sz="2400" dirty="0" smtClean="0">
                          <a:solidFill>
                            <a:schemeClr val="tx1"/>
                          </a:solidFill>
                        </a:rPr>
                        <a:t> for</a:t>
                      </a:r>
                      <a:r>
                        <a:rPr lang="en-US" altLang="zh-CN" sz="2400" baseline="0" dirty="0" smtClean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zh-CN" sz="2400" i="1" baseline="0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zh-CN" altLang="en-US" sz="2400" i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29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2400" dirty="0" smtClean="0"/>
                        <a:t>&lt;1,2,4,5&gt;</a:t>
                      </a:r>
                      <a:endParaRPr lang="zh-CN" altLang="en-US" sz="240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>
                <a:ea typeface="宋体" panose="02010600030101010101" pitchFamily="2" charset="-122"/>
              </a:rPr>
              <a:t>Dataflow Test Coverage Criteria (cont’d)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86A48D-B8D4-430A-AE1C-E921A6F75A10}" type="slidenum">
              <a:rPr lang="zh-CN" altLang="en-US" smtClean="0"/>
            </a:fld>
            <a:endParaRPr lang="zh-CN" altLang="en-US"/>
          </a:p>
        </p:txBody>
      </p:sp>
      <p:sp>
        <p:nvSpPr>
          <p:cNvPr id="6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285749" y="1625374"/>
            <a:ext cx="7470885" cy="4791755"/>
          </a:xfrm>
        </p:spPr>
        <p:txBody>
          <a:bodyPr>
            <a:normAutofit/>
          </a:bodyPr>
          <a:lstStyle/>
          <a:p>
            <a:r>
              <a:rPr lang="en-US" altLang="zh-CN" sz="2800" dirty="0" smtClean="0">
                <a:latin typeface="Verdana" panose="020B0604030504040204" pitchFamily="34" charset="0"/>
                <a:ea typeface="宋体" panose="02010600030101010101" pitchFamily="2" charset="-122"/>
              </a:rPr>
              <a:t>Consider a test case executing path:</a:t>
            </a:r>
            <a:r>
              <a:rPr lang="en-US" altLang="zh-CN" sz="2800" dirty="0" smtClean="0">
                <a:ea typeface="宋体" panose="02010600030101010101" pitchFamily="2" charset="-122"/>
              </a:rPr>
              <a:t> </a:t>
            </a:r>
            <a:endParaRPr lang="en-US" altLang="zh-CN" sz="2800" dirty="0" smtClean="0">
              <a:ea typeface="宋体" panose="02010600030101010101" pitchFamily="2" charset="-122"/>
            </a:endParaRPr>
          </a:p>
          <a:p>
            <a:pPr>
              <a:buNone/>
            </a:pPr>
            <a:r>
              <a:rPr lang="en-US" altLang="zh-CN" sz="2800" dirty="0" smtClean="0">
                <a:ea typeface="宋体" panose="02010600030101010101" pitchFamily="2" charset="-122"/>
              </a:rPr>
              <a:t>			1. </a:t>
            </a:r>
            <a:r>
              <a:rPr lang="en-US" altLang="zh-CN" sz="2800" b="1" dirty="0" smtClean="0">
                <a:solidFill>
                  <a:srgbClr val="9900CC"/>
                </a:solidFill>
                <a:ea typeface="宋体" panose="02010600030101010101" pitchFamily="2" charset="-122"/>
              </a:rPr>
              <a:t>&lt;1,2,3,4,5&gt;</a:t>
            </a:r>
            <a:endParaRPr lang="en-US" altLang="zh-CN" sz="2800" b="1" dirty="0" smtClean="0">
              <a:solidFill>
                <a:srgbClr val="9900CC"/>
              </a:solidFill>
              <a:ea typeface="宋体" panose="02010600030101010101" pitchFamily="2" charset="-122"/>
            </a:endParaRPr>
          </a:p>
          <a:p>
            <a:r>
              <a:rPr lang="en-US" altLang="zh-CN" sz="2800" dirty="0" smtClean="0">
                <a:latin typeface="Verdana" panose="020B0604030504040204" pitchFamily="34" charset="0"/>
                <a:ea typeface="宋体" panose="02010600030101010101" pitchFamily="2" charset="-122"/>
              </a:rPr>
              <a:t>Identify </a:t>
            </a:r>
            <a:r>
              <a:rPr lang="en-US" altLang="zh-CN" sz="2800" dirty="0" smtClean="0">
                <a:solidFill>
                  <a:srgbClr val="FDAD23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all def-clear paths covered (i.e., subsumed)</a:t>
            </a:r>
            <a:r>
              <a:rPr lang="en-US" altLang="zh-CN" sz="2800" dirty="0" smtClean="0">
                <a:latin typeface="Verdana" panose="020B0604030504040204" pitchFamily="34" charset="0"/>
                <a:ea typeface="宋体" panose="02010600030101010101" pitchFamily="2" charset="-122"/>
              </a:rPr>
              <a:t> by this path for each variable.</a:t>
            </a:r>
            <a:endParaRPr lang="en-US" altLang="zh-CN" sz="2800" dirty="0" smtClean="0">
              <a:latin typeface="Verdana" panose="020B0604030504040204" pitchFamily="34" charset="0"/>
              <a:ea typeface="宋体" panose="02010600030101010101" pitchFamily="2" charset="-122"/>
            </a:endParaRPr>
          </a:p>
          <a:p>
            <a:r>
              <a:rPr lang="en-US" altLang="zh-CN" sz="2800" dirty="0" smtClean="0">
                <a:latin typeface="Verdana" panose="020B0604030504040204" pitchFamily="34" charset="0"/>
                <a:ea typeface="宋体" panose="02010600030101010101" pitchFamily="2" charset="-122"/>
              </a:rPr>
              <a:t>Are </a:t>
            </a:r>
            <a:r>
              <a:rPr lang="en-US" altLang="zh-CN" sz="2800" dirty="0" smtClean="0">
                <a:solidFill>
                  <a:srgbClr val="FDAD23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all definitions for each variable</a:t>
            </a:r>
            <a:r>
              <a:rPr lang="en-US" altLang="zh-CN" sz="2800" dirty="0" smtClean="0">
                <a:latin typeface="Verdana" panose="020B0604030504040204" pitchFamily="34" charset="0"/>
                <a:ea typeface="宋体" panose="02010600030101010101" pitchFamily="2" charset="-122"/>
              </a:rPr>
              <a:t> associated with at least one of the subsumed def-clear  paths?</a:t>
            </a:r>
            <a:endParaRPr lang="en-US" altLang="zh-CN" sz="2800" dirty="0" smtClean="0"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7" name="Oval 44"/>
          <p:cNvSpPr>
            <a:spLocks noChangeArrowheads="1"/>
          </p:cNvSpPr>
          <p:nvPr/>
        </p:nvSpPr>
        <p:spPr bwMode="auto">
          <a:xfrm>
            <a:off x="8242738" y="2515447"/>
            <a:ext cx="533400" cy="533400"/>
          </a:xfrm>
          <a:prstGeom prst="ellipse">
            <a:avLst/>
          </a:prstGeom>
          <a:solidFill>
            <a:srgbClr val="FFFF99"/>
          </a:solidFill>
          <a:ln w="9525">
            <a:solidFill>
              <a:schemeClr val="tx1"/>
            </a:solidFill>
            <a:round/>
          </a:ln>
        </p:spPr>
        <p:txBody>
          <a:bodyPr wrap="none" anchor="ctr"/>
          <a:lstStyle/>
          <a:p>
            <a:pPr eaLnBrk="1" hangingPunct="1"/>
            <a:endParaRPr lang="zh-CN" altLang="zh-CN">
              <a:ea typeface="宋体" panose="02010600030101010101" pitchFamily="2" charset="-122"/>
            </a:endParaRPr>
          </a:p>
        </p:txBody>
      </p:sp>
      <p:sp>
        <p:nvSpPr>
          <p:cNvPr id="8" name="Oval 45"/>
          <p:cNvSpPr>
            <a:spLocks noChangeArrowheads="1"/>
          </p:cNvSpPr>
          <p:nvPr/>
        </p:nvSpPr>
        <p:spPr bwMode="auto">
          <a:xfrm>
            <a:off x="8242738" y="4039447"/>
            <a:ext cx="533400" cy="533400"/>
          </a:xfrm>
          <a:prstGeom prst="ellipse">
            <a:avLst/>
          </a:prstGeom>
          <a:solidFill>
            <a:srgbClr val="FFFF99"/>
          </a:solidFill>
          <a:ln w="9525">
            <a:solidFill>
              <a:schemeClr val="tx1"/>
            </a:solidFill>
            <a:round/>
          </a:ln>
        </p:spPr>
        <p:txBody>
          <a:bodyPr wrap="none" anchor="ctr"/>
          <a:lstStyle/>
          <a:p>
            <a:pPr eaLnBrk="1" hangingPunct="1"/>
            <a:endParaRPr lang="zh-CN" altLang="zh-CN">
              <a:ea typeface="宋体" panose="02010600030101010101" pitchFamily="2" charset="-122"/>
            </a:endParaRPr>
          </a:p>
        </p:txBody>
      </p:sp>
      <p:sp>
        <p:nvSpPr>
          <p:cNvPr id="9" name="Oval 46"/>
          <p:cNvSpPr>
            <a:spLocks noChangeArrowheads="1"/>
          </p:cNvSpPr>
          <p:nvPr/>
        </p:nvSpPr>
        <p:spPr bwMode="auto">
          <a:xfrm>
            <a:off x="9233338" y="3277447"/>
            <a:ext cx="533400" cy="533400"/>
          </a:xfrm>
          <a:prstGeom prst="ellipse">
            <a:avLst/>
          </a:prstGeom>
          <a:solidFill>
            <a:srgbClr val="FFFF99"/>
          </a:solidFill>
          <a:ln w="9525">
            <a:solidFill>
              <a:schemeClr val="tx1"/>
            </a:solidFill>
            <a:round/>
          </a:ln>
        </p:spPr>
        <p:txBody>
          <a:bodyPr wrap="none" anchor="ctr"/>
          <a:lstStyle/>
          <a:p>
            <a:pPr eaLnBrk="1" hangingPunct="1"/>
            <a:endParaRPr lang="zh-CN" altLang="zh-CN">
              <a:ea typeface="宋体" panose="02010600030101010101" pitchFamily="2" charset="-122"/>
            </a:endParaRPr>
          </a:p>
        </p:txBody>
      </p:sp>
      <p:sp>
        <p:nvSpPr>
          <p:cNvPr id="10" name="Line 47"/>
          <p:cNvSpPr>
            <a:spLocks noChangeShapeType="1"/>
          </p:cNvSpPr>
          <p:nvPr/>
        </p:nvSpPr>
        <p:spPr bwMode="auto">
          <a:xfrm>
            <a:off x="8699938" y="2972647"/>
            <a:ext cx="609600" cy="4572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Line 48"/>
          <p:cNvSpPr>
            <a:spLocks noChangeShapeType="1"/>
          </p:cNvSpPr>
          <p:nvPr/>
        </p:nvSpPr>
        <p:spPr bwMode="auto">
          <a:xfrm flipH="1">
            <a:off x="8699938" y="3658447"/>
            <a:ext cx="609600" cy="4572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Line 49"/>
          <p:cNvSpPr>
            <a:spLocks noChangeShapeType="1"/>
          </p:cNvSpPr>
          <p:nvPr/>
        </p:nvSpPr>
        <p:spPr bwMode="auto">
          <a:xfrm>
            <a:off x="8471338" y="3048847"/>
            <a:ext cx="0" cy="990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Freeform 50"/>
          <p:cNvSpPr/>
          <p:nvPr/>
        </p:nvSpPr>
        <p:spPr bwMode="auto">
          <a:xfrm>
            <a:off x="8623738" y="2134447"/>
            <a:ext cx="152400" cy="457200"/>
          </a:xfrm>
          <a:custGeom>
            <a:avLst/>
            <a:gdLst>
              <a:gd name="T0" fmla="*/ 2147483646 w 96"/>
              <a:gd name="T1" fmla="*/ 0 h 288"/>
              <a:gd name="T2" fmla="*/ 0 w 96"/>
              <a:gd name="T3" fmla="*/ 2147483646 h 288"/>
              <a:gd name="T4" fmla="*/ 2147483646 w 96"/>
              <a:gd name="T5" fmla="*/ 2147483646 h 288"/>
              <a:gd name="T6" fmla="*/ 0 w 96"/>
              <a:gd name="T7" fmla="*/ 2147483646 h 288"/>
              <a:gd name="T8" fmla="*/ 0 60000 65536"/>
              <a:gd name="T9" fmla="*/ 0 60000 65536"/>
              <a:gd name="T10" fmla="*/ 0 60000 65536"/>
              <a:gd name="T11" fmla="*/ 0 60000 65536"/>
              <a:gd name="T12" fmla="*/ 0 w 96"/>
              <a:gd name="T13" fmla="*/ 0 h 288"/>
              <a:gd name="T14" fmla="*/ 96 w 96"/>
              <a:gd name="T15" fmla="*/ 288 h 288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96" h="288">
                <a:moveTo>
                  <a:pt x="96" y="0"/>
                </a:moveTo>
                <a:cubicBezTo>
                  <a:pt x="48" y="32"/>
                  <a:pt x="0" y="64"/>
                  <a:pt x="0" y="96"/>
                </a:cubicBezTo>
                <a:cubicBezTo>
                  <a:pt x="0" y="128"/>
                  <a:pt x="96" y="160"/>
                  <a:pt x="96" y="192"/>
                </a:cubicBezTo>
                <a:cubicBezTo>
                  <a:pt x="96" y="224"/>
                  <a:pt x="16" y="272"/>
                  <a:pt x="0" y="288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 type="none" w="med" len="med"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Freeform 51"/>
          <p:cNvSpPr/>
          <p:nvPr/>
        </p:nvSpPr>
        <p:spPr bwMode="auto">
          <a:xfrm>
            <a:off x="8318938" y="6096847"/>
            <a:ext cx="152400" cy="457200"/>
          </a:xfrm>
          <a:custGeom>
            <a:avLst/>
            <a:gdLst>
              <a:gd name="T0" fmla="*/ 2147483646 w 96"/>
              <a:gd name="T1" fmla="*/ 0 h 288"/>
              <a:gd name="T2" fmla="*/ 0 w 96"/>
              <a:gd name="T3" fmla="*/ 2147483646 h 288"/>
              <a:gd name="T4" fmla="*/ 2147483646 w 96"/>
              <a:gd name="T5" fmla="*/ 2147483646 h 288"/>
              <a:gd name="T6" fmla="*/ 0 w 96"/>
              <a:gd name="T7" fmla="*/ 2147483646 h 288"/>
              <a:gd name="T8" fmla="*/ 0 60000 65536"/>
              <a:gd name="T9" fmla="*/ 0 60000 65536"/>
              <a:gd name="T10" fmla="*/ 0 60000 65536"/>
              <a:gd name="T11" fmla="*/ 0 60000 65536"/>
              <a:gd name="T12" fmla="*/ 0 w 96"/>
              <a:gd name="T13" fmla="*/ 0 h 288"/>
              <a:gd name="T14" fmla="*/ 96 w 96"/>
              <a:gd name="T15" fmla="*/ 288 h 288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96" h="288">
                <a:moveTo>
                  <a:pt x="96" y="0"/>
                </a:moveTo>
                <a:cubicBezTo>
                  <a:pt x="48" y="32"/>
                  <a:pt x="0" y="64"/>
                  <a:pt x="0" y="96"/>
                </a:cubicBezTo>
                <a:cubicBezTo>
                  <a:pt x="0" y="128"/>
                  <a:pt x="96" y="160"/>
                  <a:pt x="96" y="192"/>
                </a:cubicBezTo>
                <a:cubicBezTo>
                  <a:pt x="96" y="224"/>
                  <a:pt x="16" y="272"/>
                  <a:pt x="0" y="288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 type="none" w="med" len="med"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Oval 52"/>
          <p:cNvSpPr>
            <a:spLocks noChangeArrowheads="1"/>
          </p:cNvSpPr>
          <p:nvPr/>
        </p:nvSpPr>
        <p:spPr bwMode="auto">
          <a:xfrm>
            <a:off x="8242738" y="5563447"/>
            <a:ext cx="533400" cy="533400"/>
          </a:xfrm>
          <a:prstGeom prst="ellipse">
            <a:avLst/>
          </a:prstGeom>
          <a:solidFill>
            <a:srgbClr val="FFFF99"/>
          </a:solidFill>
          <a:ln w="9525">
            <a:solidFill>
              <a:schemeClr val="tx1"/>
            </a:solidFill>
            <a:round/>
          </a:ln>
        </p:spPr>
        <p:txBody>
          <a:bodyPr wrap="none" anchor="ctr"/>
          <a:lstStyle/>
          <a:p>
            <a:pPr eaLnBrk="1" hangingPunct="1"/>
            <a:endParaRPr lang="zh-CN" altLang="zh-CN">
              <a:ea typeface="宋体" panose="02010600030101010101" pitchFamily="2" charset="-122"/>
            </a:endParaRPr>
          </a:p>
        </p:txBody>
      </p:sp>
      <p:sp>
        <p:nvSpPr>
          <p:cNvPr id="16" name="Oval 53"/>
          <p:cNvSpPr>
            <a:spLocks noChangeArrowheads="1"/>
          </p:cNvSpPr>
          <p:nvPr/>
        </p:nvSpPr>
        <p:spPr bwMode="auto">
          <a:xfrm>
            <a:off x="9233338" y="4801447"/>
            <a:ext cx="533400" cy="533400"/>
          </a:xfrm>
          <a:prstGeom prst="ellipse">
            <a:avLst/>
          </a:prstGeom>
          <a:solidFill>
            <a:srgbClr val="FFFF99"/>
          </a:solidFill>
          <a:ln w="9525">
            <a:solidFill>
              <a:schemeClr val="tx1"/>
            </a:solidFill>
            <a:round/>
          </a:ln>
        </p:spPr>
        <p:txBody>
          <a:bodyPr wrap="none" anchor="ctr"/>
          <a:lstStyle/>
          <a:p>
            <a:pPr eaLnBrk="1" hangingPunct="1"/>
            <a:endParaRPr lang="zh-CN" altLang="zh-CN">
              <a:ea typeface="宋体" panose="02010600030101010101" pitchFamily="2" charset="-122"/>
            </a:endParaRPr>
          </a:p>
        </p:txBody>
      </p:sp>
      <p:sp>
        <p:nvSpPr>
          <p:cNvPr id="17" name="Line 54"/>
          <p:cNvSpPr>
            <a:spLocks noChangeShapeType="1"/>
          </p:cNvSpPr>
          <p:nvPr/>
        </p:nvSpPr>
        <p:spPr bwMode="auto">
          <a:xfrm>
            <a:off x="8699938" y="4496647"/>
            <a:ext cx="609600" cy="4572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Line 55"/>
          <p:cNvSpPr>
            <a:spLocks noChangeShapeType="1"/>
          </p:cNvSpPr>
          <p:nvPr/>
        </p:nvSpPr>
        <p:spPr bwMode="auto">
          <a:xfrm flipH="1">
            <a:off x="8699938" y="5182447"/>
            <a:ext cx="609600" cy="4572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Line 56"/>
          <p:cNvSpPr>
            <a:spLocks noChangeShapeType="1"/>
          </p:cNvSpPr>
          <p:nvPr/>
        </p:nvSpPr>
        <p:spPr bwMode="auto">
          <a:xfrm>
            <a:off x="8471338" y="4572847"/>
            <a:ext cx="0" cy="990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Text Box 57"/>
          <p:cNvSpPr txBox="1">
            <a:spLocks noChangeArrowheads="1"/>
          </p:cNvSpPr>
          <p:nvPr/>
        </p:nvSpPr>
        <p:spPr bwMode="auto">
          <a:xfrm>
            <a:off x="8242738" y="2591647"/>
            <a:ext cx="4572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algn="ctr" eaLnBrk="1" hangingPunct="1">
              <a:spcBef>
                <a:spcPct val="50000"/>
              </a:spcBef>
            </a:pPr>
            <a:r>
              <a:rPr lang="en-US" altLang="zh-CN" sz="2400" b="1">
                <a:ea typeface="宋体" panose="02010600030101010101" pitchFamily="2" charset="-122"/>
              </a:rPr>
              <a:t>1</a:t>
            </a:r>
            <a:endParaRPr lang="en-US" altLang="zh-CN" sz="2400" b="1">
              <a:ea typeface="宋体" panose="02010600030101010101" pitchFamily="2" charset="-122"/>
            </a:endParaRPr>
          </a:p>
        </p:txBody>
      </p:sp>
      <p:sp>
        <p:nvSpPr>
          <p:cNvPr id="21" name="Text Box 58"/>
          <p:cNvSpPr txBox="1">
            <a:spLocks noChangeArrowheads="1"/>
          </p:cNvSpPr>
          <p:nvPr/>
        </p:nvSpPr>
        <p:spPr bwMode="auto">
          <a:xfrm>
            <a:off x="9309538" y="3353647"/>
            <a:ext cx="4572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algn="ctr" eaLnBrk="1" hangingPunct="1">
              <a:spcBef>
                <a:spcPct val="50000"/>
              </a:spcBef>
            </a:pPr>
            <a:r>
              <a:rPr lang="en-US" altLang="zh-CN" sz="2400" b="1">
                <a:ea typeface="宋体" panose="02010600030101010101" pitchFamily="2" charset="-122"/>
              </a:rPr>
              <a:t>2</a:t>
            </a:r>
            <a:endParaRPr lang="en-US" altLang="zh-CN" sz="2400" b="1">
              <a:ea typeface="宋体" panose="02010600030101010101" pitchFamily="2" charset="-122"/>
            </a:endParaRPr>
          </a:p>
        </p:txBody>
      </p:sp>
      <p:sp>
        <p:nvSpPr>
          <p:cNvPr id="22" name="Text Box 59"/>
          <p:cNvSpPr txBox="1">
            <a:spLocks noChangeArrowheads="1"/>
          </p:cNvSpPr>
          <p:nvPr/>
        </p:nvSpPr>
        <p:spPr bwMode="auto">
          <a:xfrm>
            <a:off x="8242738" y="4039447"/>
            <a:ext cx="4572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algn="ctr" eaLnBrk="1" hangingPunct="1">
              <a:spcBef>
                <a:spcPct val="50000"/>
              </a:spcBef>
            </a:pPr>
            <a:r>
              <a:rPr lang="en-US" altLang="zh-CN" sz="2400" b="1">
                <a:ea typeface="宋体" panose="02010600030101010101" pitchFamily="2" charset="-122"/>
              </a:rPr>
              <a:t>3</a:t>
            </a:r>
            <a:endParaRPr lang="en-US" altLang="zh-CN" sz="2400" b="1">
              <a:ea typeface="宋体" panose="02010600030101010101" pitchFamily="2" charset="-122"/>
            </a:endParaRPr>
          </a:p>
        </p:txBody>
      </p:sp>
      <p:sp>
        <p:nvSpPr>
          <p:cNvPr id="23" name="Text Box 60"/>
          <p:cNvSpPr txBox="1">
            <a:spLocks noChangeArrowheads="1"/>
          </p:cNvSpPr>
          <p:nvPr/>
        </p:nvSpPr>
        <p:spPr bwMode="auto">
          <a:xfrm>
            <a:off x="9309538" y="4801447"/>
            <a:ext cx="4572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algn="ctr" eaLnBrk="1" hangingPunct="1">
              <a:spcBef>
                <a:spcPct val="50000"/>
              </a:spcBef>
            </a:pPr>
            <a:r>
              <a:rPr lang="en-US" altLang="zh-CN" sz="2400" b="1">
                <a:ea typeface="宋体" panose="02010600030101010101" pitchFamily="2" charset="-122"/>
              </a:rPr>
              <a:t>4</a:t>
            </a:r>
            <a:endParaRPr lang="en-US" altLang="zh-CN" sz="2400" b="1">
              <a:ea typeface="宋体" panose="02010600030101010101" pitchFamily="2" charset="-122"/>
            </a:endParaRPr>
          </a:p>
        </p:txBody>
      </p:sp>
      <p:sp>
        <p:nvSpPr>
          <p:cNvPr id="24" name="Text Box 61"/>
          <p:cNvSpPr txBox="1">
            <a:spLocks noChangeArrowheads="1"/>
          </p:cNvSpPr>
          <p:nvPr/>
        </p:nvSpPr>
        <p:spPr bwMode="auto">
          <a:xfrm>
            <a:off x="8242738" y="5563447"/>
            <a:ext cx="4572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algn="ctr" eaLnBrk="1" hangingPunct="1">
              <a:spcBef>
                <a:spcPct val="50000"/>
              </a:spcBef>
            </a:pPr>
            <a:r>
              <a:rPr lang="en-US" altLang="zh-CN" sz="2400" b="1">
                <a:ea typeface="宋体" panose="02010600030101010101" pitchFamily="2" charset="-122"/>
              </a:rPr>
              <a:t>5</a:t>
            </a:r>
            <a:endParaRPr lang="en-US" altLang="zh-CN" sz="2400" b="1">
              <a:ea typeface="宋体" panose="02010600030101010101" pitchFamily="2" charset="-122"/>
            </a:endParaRPr>
          </a:p>
        </p:txBody>
      </p:sp>
      <p:sp>
        <p:nvSpPr>
          <p:cNvPr id="25" name="Text Box 62"/>
          <p:cNvSpPr txBox="1">
            <a:spLocks noChangeArrowheads="1"/>
          </p:cNvSpPr>
          <p:nvPr/>
        </p:nvSpPr>
        <p:spPr bwMode="auto">
          <a:xfrm>
            <a:off x="8852338" y="2363047"/>
            <a:ext cx="1752600" cy="3968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sz="2000">
                <a:latin typeface="Century Gothic" panose="020B0502020202020204" pitchFamily="34" charset="0"/>
                <a:ea typeface="宋体" panose="02010600030101010101" pitchFamily="2" charset="-122"/>
              </a:rPr>
              <a:t>input(A,B)</a:t>
            </a:r>
            <a:endParaRPr lang="en-US" altLang="zh-CN" sz="2000">
              <a:latin typeface="Century Gothic" panose="020B0502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6" name="Text Box 64"/>
          <p:cNvSpPr txBox="1">
            <a:spLocks noChangeArrowheads="1"/>
          </p:cNvSpPr>
          <p:nvPr/>
        </p:nvSpPr>
        <p:spPr bwMode="auto">
          <a:xfrm>
            <a:off x="9766738" y="4801447"/>
            <a:ext cx="1447800" cy="3968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sz="2000">
                <a:latin typeface="Century Gothic" panose="020B0502020202020204" pitchFamily="34" charset="0"/>
                <a:ea typeface="宋体" panose="02010600030101010101" pitchFamily="2" charset="-122"/>
              </a:rPr>
              <a:t>B := A+B</a:t>
            </a:r>
            <a:endParaRPr lang="en-US" altLang="zh-CN" sz="2000">
              <a:latin typeface="Century Gothic" panose="020B0502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7" name="Text Box 65"/>
          <p:cNvSpPr txBox="1">
            <a:spLocks noChangeArrowheads="1"/>
          </p:cNvSpPr>
          <p:nvPr/>
        </p:nvSpPr>
        <p:spPr bwMode="auto">
          <a:xfrm>
            <a:off x="8928538" y="2820247"/>
            <a:ext cx="838200" cy="3968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sz="2000">
                <a:latin typeface="Century Gothic" panose="020B0502020202020204" pitchFamily="34" charset="0"/>
                <a:ea typeface="宋体" panose="02010600030101010101" pitchFamily="2" charset="-122"/>
              </a:rPr>
              <a:t>B&gt;1</a:t>
            </a:r>
            <a:endParaRPr lang="en-US" altLang="zh-CN" sz="2000">
              <a:latin typeface="Century Gothic" panose="020B0502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8" name="Text Box 66"/>
          <p:cNvSpPr txBox="1">
            <a:spLocks noChangeArrowheads="1"/>
          </p:cNvSpPr>
          <p:nvPr/>
        </p:nvSpPr>
        <p:spPr bwMode="auto">
          <a:xfrm>
            <a:off x="7861738" y="3353647"/>
            <a:ext cx="685800" cy="3968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sz="2000" dirty="0">
                <a:latin typeface="Century Gothic" panose="020B0502020202020204" pitchFamily="34" charset="0"/>
                <a:ea typeface="宋体" panose="02010600030101010101" pitchFamily="2" charset="-122"/>
              </a:rPr>
              <a:t>B</a:t>
            </a:r>
            <a:r>
              <a:rPr lang="en-US" altLang="zh-CN" sz="2000" dirty="0">
                <a:latin typeface="Century Gothic" panose="020B0502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</a:t>
            </a:r>
            <a:r>
              <a:rPr lang="en-US" altLang="zh-CN" sz="2000" dirty="0">
                <a:latin typeface="Century Gothic" panose="020B0502020202020204" pitchFamily="34" charset="0"/>
                <a:ea typeface="宋体" panose="02010600030101010101" pitchFamily="2" charset="-122"/>
              </a:rPr>
              <a:t>1</a:t>
            </a:r>
            <a:endParaRPr lang="en-US" altLang="zh-CN" sz="2000" dirty="0">
              <a:latin typeface="Century Gothic" panose="020B0502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9" name="Text Box 67"/>
          <p:cNvSpPr txBox="1">
            <a:spLocks noChangeArrowheads="1"/>
          </p:cNvSpPr>
          <p:nvPr/>
        </p:nvSpPr>
        <p:spPr bwMode="auto">
          <a:xfrm>
            <a:off x="8928538" y="4344247"/>
            <a:ext cx="838200" cy="3968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sz="2000">
                <a:latin typeface="Century Gothic" panose="020B0502020202020204" pitchFamily="34" charset="0"/>
                <a:ea typeface="宋体" panose="02010600030101010101" pitchFamily="2" charset="-122"/>
              </a:rPr>
              <a:t>A&gt;10</a:t>
            </a:r>
            <a:endParaRPr lang="en-US" altLang="zh-CN" sz="2000">
              <a:latin typeface="Century Gothic" panose="020B0502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0" name="Text Box 68"/>
          <p:cNvSpPr txBox="1">
            <a:spLocks noChangeArrowheads="1"/>
          </p:cNvSpPr>
          <p:nvPr/>
        </p:nvSpPr>
        <p:spPr bwMode="auto">
          <a:xfrm>
            <a:off x="7633138" y="4801447"/>
            <a:ext cx="838200" cy="3968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sz="2000">
                <a:latin typeface="Century Gothic" panose="020B0502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A</a:t>
            </a:r>
            <a:r>
              <a:rPr lang="en-US" altLang="zh-CN" sz="2000">
                <a:latin typeface="Century Gothic" panose="020B0502020202020204" pitchFamily="34" charset="0"/>
                <a:ea typeface="宋体" panose="02010600030101010101" pitchFamily="2" charset="-122"/>
              </a:rPr>
              <a:t>10</a:t>
            </a:r>
            <a:endParaRPr lang="en-US" altLang="zh-CN" sz="2000">
              <a:latin typeface="Century Gothic" panose="020B0502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1" name="Text Box 69"/>
          <p:cNvSpPr txBox="1">
            <a:spLocks noChangeArrowheads="1"/>
          </p:cNvSpPr>
          <p:nvPr/>
        </p:nvSpPr>
        <p:spPr bwMode="auto">
          <a:xfrm>
            <a:off x="8776138" y="5715847"/>
            <a:ext cx="1752600" cy="3968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sz="2000">
                <a:latin typeface="Century Gothic" panose="020B0502020202020204" pitchFamily="34" charset="0"/>
                <a:ea typeface="宋体" panose="02010600030101010101" pitchFamily="2" charset="-122"/>
              </a:rPr>
              <a:t>output(A,B)</a:t>
            </a:r>
            <a:endParaRPr lang="en-US" altLang="zh-CN" sz="2000">
              <a:latin typeface="Century Gothic" panose="020B0502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>
                <a:ea typeface="宋体" panose="02010600030101010101" pitchFamily="2" charset="-122"/>
              </a:rPr>
              <a:t>Def-Clear Paths Subsumed by </a:t>
            </a:r>
            <a:r>
              <a:rPr lang="en-US" altLang="zh-CN" dirty="0" smtClean="0">
                <a:solidFill>
                  <a:srgbClr val="9900CC"/>
                </a:solidFill>
                <a:ea typeface="宋体" panose="02010600030101010101" pitchFamily="2" charset="-122"/>
              </a:rPr>
              <a:t>&lt;1,2,3,4,5&gt; </a:t>
            </a:r>
            <a:r>
              <a:rPr lang="en-US" altLang="zh-CN" dirty="0" smtClean="0">
                <a:ea typeface="宋体" panose="02010600030101010101" pitchFamily="2" charset="-122"/>
              </a:rPr>
              <a:t>for Variable A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86A48D-B8D4-430A-AE1C-E921A6F75A10}" type="slidenum">
              <a:rPr lang="zh-CN" altLang="en-US" smtClean="0"/>
            </a:fld>
            <a:endParaRPr lang="zh-CN" altLang="en-US"/>
          </a:p>
        </p:txBody>
      </p:sp>
      <p:graphicFrame>
        <p:nvGraphicFramePr>
          <p:cNvPr id="7" name="Group 78"/>
          <p:cNvGraphicFramePr/>
          <p:nvPr/>
        </p:nvGraphicFramePr>
        <p:xfrm>
          <a:off x="685800" y="1792860"/>
          <a:ext cx="3276600" cy="4695825"/>
        </p:xfrm>
        <a:graphic>
          <a:graphicData uri="http://schemas.openxmlformats.org/drawingml/2006/table">
            <a:tbl>
              <a:tblPr/>
              <a:tblGrid>
                <a:gridCol w="1524000"/>
                <a:gridCol w="1752600"/>
              </a:tblGrid>
              <a:tr h="365749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buSzPct val="75000"/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FDAD23"/>
                        </a:buClr>
                        <a:buFont typeface="Times New Roman" panose="02020603050405020304" pitchFamily="18" charset="0"/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buSzTx/>
                        <a:buFontTx/>
                        <a:buNone/>
                      </a:pPr>
                      <a:r>
                        <a:rPr kumimoji="0" lang="en-US" altLang="zh-CN" sz="2000" b="1" i="0" u="sng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anose="020B0604030504040204" pitchFamily="34" charset="0"/>
                          <a:ea typeface="宋体" panose="02010600030101010101" pitchFamily="2" charset="-122"/>
                        </a:rPr>
                        <a:t>du-pair</a:t>
                      </a:r>
                      <a:endParaRPr kumimoji="0" lang="en-US" altLang="zh-CN" sz="2000" b="1" i="0" u="sng" strike="noStrike" cap="none" normalizeH="0" baseline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Verdan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5716" marB="4571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buSzPct val="75000"/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FDAD23"/>
                        </a:buClr>
                        <a:buFont typeface="Times New Roman" panose="02020603050405020304" pitchFamily="18" charset="0"/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buSzTx/>
                        <a:buFontTx/>
                        <a:buNone/>
                      </a:pPr>
                      <a:r>
                        <a:rPr kumimoji="0" lang="en-US" altLang="zh-CN" sz="2000" b="1" i="0" u="sng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anose="020B0604030504040204" pitchFamily="34" charset="0"/>
                          <a:ea typeface="宋体" panose="02010600030101010101" pitchFamily="2" charset="-122"/>
                        </a:rPr>
                        <a:t>path(s)</a:t>
                      </a:r>
                      <a:endParaRPr kumimoji="0" lang="en-US" altLang="zh-CN" sz="2000" b="1" i="0" u="sng" strike="noStrike" cap="none" normalizeH="0" baseline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Verdan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5716" marB="4571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</a:tr>
              <a:tr h="39364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buSzPct val="75000"/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FDAD23"/>
                        </a:buClr>
                        <a:buFont typeface="Times New Roman" panose="02020603050405020304" pitchFamily="18" charset="0"/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buSzTx/>
                        <a:buFontTx/>
                        <a:buNone/>
                      </a:pPr>
                      <a:r>
                        <a:rPr kumimoji="0" lang="en-US" altLang="zh-CN" sz="2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entury Gothic" panose="020B0502020202020204" pitchFamily="34" charset="0"/>
                          <a:ea typeface="宋体" panose="02010600030101010101" pitchFamily="2" charset="-122"/>
                        </a:rPr>
                        <a:t>(1,2)</a:t>
                      </a:r>
                      <a:r>
                        <a:rPr kumimoji="0" lang="en-US" altLang="zh-CN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entury Gothic" panose="020B0502020202020204" pitchFamily="34" charset="0"/>
                          <a:ea typeface="宋体" panose="02010600030101010101" pitchFamily="2" charset="-122"/>
                        </a:rPr>
                        <a:t>        </a:t>
                      </a:r>
                      <a:endParaRPr kumimoji="0" lang="en-US" altLang="zh-CN" sz="2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Century Gothic" panose="020B0502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16" marB="4571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buSzPct val="75000"/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FDAD23"/>
                        </a:buClr>
                        <a:buFont typeface="Times New Roman" panose="02020603050405020304" pitchFamily="18" charset="0"/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buSzTx/>
                        <a:buFontTx/>
                        <a:buNone/>
                      </a:pPr>
                      <a:r>
                        <a:rPr kumimoji="0" lang="en-US" altLang="zh-CN" sz="2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entury Gothic" panose="020B0502020202020204" pitchFamily="34" charset="0"/>
                          <a:ea typeface="宋体" panose="02010600030101010101" pitchFamily="2" charset="-122"/>
                        </a:rPr>
                        <a:t>&lt;1,2&gt; </a:t>
                      </a:r>
                      <a:r>
                        <a:rPr kumimoji="0" lang="en-US" altLang="zh-CN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FF99"/>
                          </a:solidFill>
                          <a:effectLst/>
                          <a:latin typeface="Century Gothic" panose="020B0502020202020204" pitchFamily="34" charset="0"/>
                          <a:ea typeface="宋体" panose="02010600030101010101" pitchFamily="2" charset="-122"/>
                          <a:sym typeface="Webdings" panose="05030102010509060703" pitchFamily="18" charset="2"/>
                        </a:rPr>
                        <a:t></a:t>
                      </a:r>
                      <a:endParaRPr kumimoji="0" lang="en-US" altLang="zh-CN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FFFF99"/>
                        </a:solidFill>
                        <a:effectLst/>
                        <a:latin typeface="Century Gothic" panose="020B0502020202020204" pitchFamily="34" charset="0"/>
                        <a:ea typeface="宋体" panose="02010600030101010101" pitchFamily="2" charset="-122"/>
                        <a:sym typeface="Webdings" panose="05030102010509060703" pitchFamily="18" charset="2"/>
                      </a:endParaRPr>
                    </a:p>
                  </a:txBody>
                  <a:tcPr marT="45716" marB="4571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</a:tr>
              <a:tr h="39364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buSzPct val="75000"/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FDAD23"/>
                        </a:buClr>
                        <a:buFont typeface="Times New Roman" panose="02020603050405020304" pitchFamily="18" charset="0"/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buSzTx/>
                        <a:buFontTx/>
                        <a:buNone/>
                      </a:pPr>
                      <a:r>
                        <a:rPr kumimoji="0" lang="en-US" altLang="zh-CN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entury Gothic" panose="020B0502020202020204" pitchFamily="34" charset="0"/>
                          <a:ea typeface="宋体" panose="02010600030101010101" pitchFamily="2" charset="-122"/>
                        </a:rPr>
                        <a:t>(1,4)         </a:t>
                      </a:r>
                      <a:endParaRPr kumimoji="0" lang="en-US" altLang="zh-CN" sz="2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Century Gothic" panose="020B0502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16" marB="4571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buSzPct val="75000"/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FDAD23"/>
                        </a:buClr>
                        <a:buFont typeface="Times New Roman" panose="02020603050405020304" pitchFamily="18" charset="0"/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buSzTx/>
                        <a:buFontTx/>
                        <a:buNone/>
                      </a:pPr>
                      <a:r>
                        <a:rPr kumimoji="0" lang="en-US" altLang="zh-CN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entury Gothic" panose="020B0502020202020204" pitchFamily="34" charset="0"/>
                          <a:ea typeface="宋体" panose="02010600030101010101" pitchFamily="2" charset="-122"/>
                        </a:rPr>
                        <a:t>&lt;1,3,4&gt;</a:t>
                      </a:r>
                      <a:endParaRPr kumimoji="0" lang="en-US" altLang="zh-CN" sz="2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Century Gothic" panose="020B0502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16" marB="4571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</a:tr>
              <a:tr h="39364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buSzPct val="75000"/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FDAD23"/>
                        </a:buClr>
                        <a:buFont typeface="Times New Roman" panose="02020603050405020304" pitchFamily="18" charset="0"/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buSzTx/>
                        <a:buFontTx/>
                        <a:buNone/>
                      </a:pPr>
                      <a:r>
                        <a:rPr kumimoji="0" lang="en-US" altLang="zh-CN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entury Gothic" panose="020B0502020202020204" pitchFamily="34" charset="0"/>
                          <a:ea typeface="宋体" panose="02010600030101010101" pitchFamily="2" charset="-122"/>
                        </a:rPr>
                        <a:t>(1,5)         </a:t>
                      </a:r>
                      <a:endParaRPr kumimoji="0" lang="en-US" altLang="zh-CN" sz="2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Century Gothic" panose="020B0502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16" marB="4571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buSzPct val="75000"/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FDAD23"/>
                        </a:buClr>
                        <a:buFont typeface="Times New Roman" panose="02020603050405020304" pitchFamily="18" charset="0"/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buSzTx/>
                        <a:buFontTx/>
                        <a:buNone/>
                      </a:pPr>
                      <a:r>
                        <a:rPr kumimoji="0" lang="en-US" altLang="zh-CN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entury Gothic" panose="020B0502020202020204" pitchFamily="34" charset="0"/>
                          <a:ea typeface="宋体" panose="02010600030101010101" pitchFamily="2" charset="-122"/>
                        </a:rPr>
                        <a:t>&lt;1,3,4,5&gt;</a:t>
                      </a:r>
                      <a:endParaRPr kumimoji="0" lang="en-US" altLang="zh-CN" sz="2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Century Gothic" panose="020B0502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16" marB="4571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</a:tr>
              <a:tr h="39364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buSzPct val="75000"/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FDAD23"/>
                        </a:buClr>
                        <a:buFont typeface="Times New Roman" panose="02020603050405020304" pitchFamily="18" charset="0"/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buSzTx/>
                        <a:buFontTx/>
                        <a:buNone/>
                      </a:pPr>
                      <a:r>
                        <a:rPr kumimoji="0" lang="en-US" altLang="zh-CN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entury Gothic" panose="020B0502020202020204" pitchFamily="34" charset="0"/>
                          <a:ea typeface="宋体" panose="02010600030101010101" pitchFamily="2" charset="-122"/>
                        </a:rPr>
                        <a:t>                 </a:t>
                      </a:r>
                      <a:endParaRPr kumimoji="0" lang="en-US" altLang="zh-CN" sz="2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Century Gothic" panose="020B0502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16" marB="4571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buSzPct val="75000"/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FDAD23"/>
                        </a:buClr>
                        <a:buFont typeface="Times New Roman" panose="02020603050405020304" pitchFamily="18" charset="0"/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buSzTx/>
                        <a:buFontTx/>
                        <a:buNone/>
                      </a:pPr>
                      <a:r>
                        <a:rPr kumimoji="0" lang="en-US" altLang="zh-CN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entury Gothic" panose="020B0502020202020204" pitchFamily="34" charset="0"/>
                          <a:ea typeface="宋体" panose="02010600030101010101" pitchFamily="2" charset="-122"/>
                        </a:rPr>
                        <a:t>&lt;1,3,5&gt;</a:t>
                      </a:r>
                      <a:endParaRPr kumimoji="0" lang="en-US" altLang="zh-CN" sz="2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Century Gothic" panose="020B0502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16" marB="4571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</a:tr>
              <a:tr h="39364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buSzPct val="75000"/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FDAD23"/>
                        </a:buClr>
                        <a:buFont typeface="Times New Roman" panose="02020603050405020304" pitchFamily="18" charset="0"/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buSzTx/>
                        <a:buFontTx/>
                        <a:buNone/>
                      </a:pPr>
                      <a:r>
                        <a:rPr kumimoji="0" lang="en-US" altLang="zh-CN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entury Gothic" panose="020B0502020202020204" pitchFamily="34" charset="0"/>
                          <a:ea typeface="宋体" panose="02010600030101010101" pitchFamily="2" charset="-122"/>
                        </a:rPr>
                        <a:t>(1,&lt;3,4&gt;)</a:t>
                      </a:r>
                      <a:endParaRPr kumimoji="0" lang="en-US" altLang="zh-CN" sz="2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Century Gothic" panose="020B0502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16" marB="4571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buSzPct val="75000"/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FDAD23"/>
                        </a:buClr>
                        <a:buFont typeface="Times New Roman" panose="02020603050405020304" pitchFamily="18" charset="0"/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buSzTx/>
                        <a:buFontTx/>
                        <a:buNone/>
                      </a:pPr>
                      <a:r>
                        <a:rPr kumimoji="0" lang="en-US" altLang="zh-CN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entury Gothic" panose="020B0502020202020204" pitchFamily="34" charset="0"/>
                          <a:ea typeface="宋体" panose="02010600030101010101" pitchFamily="2" charset="-122"/>
                        </a:rPr>
                        <a:t>&lt;1,3,4&gt;</a:t>
                      </a:r>
                      <a:endParaRPr kumimoji="0" lang="en-US" altLang="zh-CN" sz="2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Century Gothic" panose="020B0502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16" marB="4571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</a:tr>
              <a:tr h="39364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buSzPct val="75000"/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FDAD23"/>
                        </a:buClr>
                        <a:buFont typeface="Times New Roman" panose="02020603050405020304" pitchFamily="18" charset="0"/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buSzTx/>
                        <a:buFontTx/>
                        <a:buNone/>
                      </a:pPr>
                      <a:r>
                        <a:rPr kumimoji="0" lang="en-US" altLang="zh-CN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entury Gothic" panose="020B0502020202020204" pitchFamily="34" charset="0"/>
                          <a:ea typeface="宋体" panose="02010600030101010101" pitchFamily="2" charset="-122"/>
                        </a:rPr>
                        <a:t>(1,&lt;3,5&gt;)</a:t>
                      </a:r>
                      <a:endParaRPr kumimoji="0" lang="en-US" altLang="zh-CN" sz="2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Century Gothic" panose="020B0502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16" marB="4571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buSzPct val="75000"/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FDAD23"/>
                        </a:buClr>
                        <a:buFont typeface="Times New Roman" panose="02020603050405020304" pitchFamily="18" charset="0"/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buSzTx/>
                        <a:buFontTx/>
                        <a:buNone/>
                      </a:pPr>
                      <a:r>
                        <a:rPr kumimoji="0" lang="en-US" altLang="zh-CN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entury Gothic" panose="020B0502020202020204" pitchFamily="34" charset="0"/>
                          <a:ea typeface="宋体" panose="02010600030101010101" pitchFamily="2" charset="-122"/>
                        </a:rPr>
                        <a:t>&lt;1,3,5&gt;</a:t>
                      </a:r>
                      <a:endParaRPr kumimoji="0" lang="en-US" altLang="zh-CN" sz="2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Century Gothic" panose="020B0502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16" marB="4571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</a:tr>
              <a:tr h="39364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buSzPct val="75000"/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FDAD23"/>
                        </a:buClr>
                        <a:buFont typeface="Times New Roman" panose="02020603050405020304" pitchFamily="18" charset="0"/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buSzTx/>
                        <a:buFontTx/>
                        <a:buNone/>
                      </a:pPr>
                      <a:r>
                        <a:rPr kumimoji="0" lang="en-US" altLang="zh-CN" sz="2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entury Gothic" panose="020B0502020202020204" pitchFamily="34" charset="0"/>
                          <a:ea typeface="宋体" panose="02010600030101010101" pitchFamily="2" charset="-122"/>
                        </a:rPr>
                        <a:t>(2,4)</a:t>
                      </a:r>
                      <a:r>
                        <a:rPr kumimoji="0" lang="en-US" altLang="zh-CN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entury Gothic" panose="020B0502020202020204" pitchFamily="34" charset="0"/>
                          <a:ea typeface="宋体" panose="02010600030101010101" pitchFamily="2" charset="-122"/>
                        </a:rPr>
                        <a:t>        </a:t>
                      </a:r>
                      <a:endParaRPr kumimoji="0" lang="en-US" altLang="zh-CN" sz="2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Century Gothic" panose="020B0502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16" marB="4571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buSzPct val="75000"/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FDAD23"/>
                        </a:buClr>
                        <a:buFont typeface="Times New Roman" panose="02020603050405020304" pitchFamily="18" charset="0"/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buSzTx/>
                        <a:buFontTx/>
                        <a:buNone/>
                      </a:pPr>
                      <a:r>
                        <a:rPr kumimoji="0" lang="en-US" altLang="zh-CN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entury Gothic" panose="020B0502020202020204" pitchFamily="34" charset="0"/>
                          <a:ea typeface="宋体" panose="02010600030101010101" pitchFamily="2" charset="-122"/>
                        </a:rPr>
                        <a:t>&lt;2,3,4&gt; </a:t>
                      </a:r>
                      <a:r>
                        <a:rPr kumimoji="0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99"/>
                          </a:solidFill>
                          <a:effectLst/>
                          <a:latin typeface="Century Gothic" panose="020B0502020202020204" pitchFamily="34" charset="0"/>
                          <a:ea typeface="宋体" panose="02010600030101010101" pitchFamily="2" charset="-122"/>
                          <a:sym typeface="Webdings" panose="05030102010509060703" pitchFamily="18" charset="2"/>
                        </a:rPr>
                        <a:t></a:t>
                      </a:r>
                      <a:endParaRPr kumimoji="0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rgbClr val="FFFF99"/>
                        </a:solidFill>
                        <a:effectLst/>
                        <a:latin typeface="Century Gothic" panose="020B0502020202020204" pitchFamily="34" charset="0"/>
                        <a:ea typeface="宋体" panose="02010600030101010101" pitchFamily="2" charset="-122"/>
                        <a:sym typeface="Webdings" panose="05030102010509060703" pitchFamily="18" charset="2"/>
                      </a:endParaRPr>
                    </a:p>
                  </a:txBody>
                  <a:tcPr marT="45716" marB="4571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</a:tr>
              <a:tr h="39364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buSzPct val="75000"/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FDAD23"/>
                        </a:buClr>
                        <a:buFont typeface="Times New Roman" panose="02020603050405020304" pitchFamily="18" charset="0"/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buSzTx/>
                        <a:buFontTx/>
                        <a:buNone/>
                      </a:pPr>
                      <a:r>
                        <a:rPr kumimoji="0" lang="en-US" altLang="zh-CN" sz="2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entury Gothic" panose="020B0502020202020204" pitchFamily="34" charset="0"/>
                          <a:ea typeface="宋体" panose="02010600030101010101" pitchFamily="2" charset="-122"/>
                        </a:rPr>
                        <a:t>(2,5)</a:t>
                      </a:r>
                      <a:r>
                        <a:rPr kumimoji="0" lang="en-US" altLang="zh-CN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entury Gothic" panose="020B0502020202020204" pitchFamily="34" charset="0"/>
                          <a:ea typeface="宋体" panose="02010600030101010101" pitchFamily="2" charset="-122"/>
                        </a:rPr>
                        <a:t>         </a:t>
                      </a:r>
                      <a:endParaRPr kumimoji="0" lang="en-US" altLang="zh-CN" sz="2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Century Gothic" panose="020B0502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16" marB="4571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buSzPct val="75000"/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FDAD23"/>
                        </a:buClr>
                        <a:buFont typeface="Times New Roman" panose="02020603050405020304" pitchFamily="18" charset="0"/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buSzTx/>
                        <a:buFontTx/>
                        <a:buNone/>
                      </a:pPr>
                      <a:r>
                        <a:rPr kumimoji="0" lang="en-US" altLang="zh-CN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entury Gothic" panose="020B0502020202020204" pitchFamily="34" charset="0"/>
                          <a:ea typeface="宋体" panose="02010600030101010101" pitchFamily="2" charset="-122"/>
                        </a:rPr>
                        <a:t>&lt;2,3,4,5&gt; </a:t>
                      </a:r>
                      <a:r>
                        <a:rPr kumimoji="0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99"/>
                          </a:solidFill>
                          <a:effectLst/>
                          <a:latin typeface="Century Gothic" panose="020B0502020202020204" pitchFamily="34" charset="0"/>
                          <a:ea typeface="宋体" panose="02010600030101010101" pitchFamily="2" charset="-122"/>
                          <a:sym typeface="Webdings" panose="05030102010509060703" pitchFamily="18" charset="2"/>
                        </a:rPr>
                        <a:t></a:t>
                      </a:r>
                      <a:endParaRPr kumimoji="0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rgbClr val="FFFF99"/>
                        </a:solidFill>
                        <a:effectLst/>
                        <a:latin typeface="Century Gothic" panose="020B0502020202020204" pitchFamily="34" charset="0"/>
                        <a:ea typeface="宋体" panose="02010600030101010101" pitchFamily="2" charset="-122"/>
                        <a:sym typeface="Webdings" panose="05030102010509060703" pitchFamily="18" charset="2"/>
                      </a:endParaRPr>
                    </a:p>
                  </a:txBody>
                  <a:tcPr marT="45716" marB="4571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</a:tr>
              <a:tr h="39364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buSzPct val="75000"/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FDAD23"/>
                        </a:buClr>
                        <a:buFont typeface="Times New Roman" panose="02020603050405020304" pitchFamily="18" charset="0"/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buSzTx/>
                        <a:buFontTx/>
                        <a:buNone/>
                      </a:pPr>
                      <a:r>
                        <a:rPr kumimoji="0" lang="en-US" altLang="zh-CN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entury Gothic" panose="020B0502020202020204" pitchFamily="34" charset="0"/>
                          <a:ea typeface="宋体" panose="02010600030101010101" pitchFamily="2" charset="-122"/>
                        </a:rPr>
                        <a:t>                </a:t>
                      </a:r>
                      <a:endParaRPr kumimoji="0" lang="en-US" altLang="zh-CN" sz="2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Century Gothic" panose="020B0502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16" marB="4571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buSzPct val="75000"/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FDAD23"/>
                        </a:buClr>
                        <a:buFont typeface="Times New Roman" panose="02020603050405020304" pitchFamily="18" charset="0"/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buSzTx/>
                        <a:buFontTx/>
                        <a:buNone/>
                      </a:pPr>
                      <a:r>
                        <a:rPr kumimoji="0" lang="en-US" altLang="zh-CN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entury Gothic" panose="020B0502020202020204" pitchFamily="34" charset="0"/>
                          <a:ea typeface="宋体" panose="02010600030101010101" pitchFamily="2" charset="-122"/>
                        </a:rPr>
                        <a:t>&lt;2,3,5&gt;</a:t>
                      </a:r>
                      <a:endParaRPr kumimoji="0" lang="en-US" altLang="zh-CN" sz="2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Century Gothic" panose="020B0502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16" marB="4571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</a:tr>
              <a:tr h="39364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buSzPct val="75000"/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FDAD23"/>
                        </a:buClr>
                        <a:buFont typeface="Times New Roman" panose="02020603050405020304" pitchFamily="18" charset="0"/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buSzTx/>
                        <a:buFontTx/>
                        <a:buNone/>
                      </a:pPr>
                      <a:r>
                        <a:rPr kumimoji="0" lang="en-US" altLang="zh-CN" sz="2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entury Gothic" panose="020B0502020202020204" pitchFamily="34" charset="0"/>
                          <a:ea typeface="宋体" panose="02010600030101010101" pitchFamily="2" charset="-122"/>
                        </a:rPr>
                        <a:t>(2,&lt;3,4&gt;)</a:t>
                      </a:r>
                      <a:endParaRPr kumimoji="0" lang="en-US" altLang="zh-CN" sz="2200" b="1" i="0" u="none" strike="noStrike" cap="none" normalizeH="0" baseline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Century Gothic" panose="020B0502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16" marB="4571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buSzPct val="75000"/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FDAD23"/>
                        </a:buClr>
                        <a:buFont typeface="Times New Roman" panose="02020603050405020304" pitchFamily="18" charset="0"/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buSzTx/>
                        <a:buFontTx/>
                        <a:buNone/>
                      </a:pPr>
                      <a:r>
                        <a:rPr kumimoji="0" lang="en-US" altLang="zh-CN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entury Gothic" panose="020B0502020202020204" pitchFamily="34" charset="0"/>
                          <a:ea typeface="宋体" panose="02010600030101010101" pitchFamily="2" charset="-122"/>
                        </a:rPr>
                        <a:t>&lt;2,3,4&gt; </a:t>
                      </a:r>
                      <a:r>
                        <a:rPr kumimoji="0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99"/>
                          </a:solidFill>
                          <a:effectLst/>
                          <a:latin typeface="Century Gothic" panose="020B0502020202020204" pitchFamily="34" charset="0"/>
                          <a:ea typeface="宋体" panose="02010600030101010101" pitchFamily="2" charset="-122"/>
                          <a:sym typeface="Webdings" panose="05030102010509060703" pitchFamily="18" charset="2"/>
                        </a:rPr>
                        <a:t></a:t>
                      </a:r>
                      <a:endParaRPr kumimoji="0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rgbClr val="FFFF99"/>
                        </a:solidFill>
                        <a:effectLst/>
                        <a:latin typeface="Century Gothic" panose="020B0502020202020204" pitchFamily="34" charset="0"/>
                        <a:ea typeface="宋体" panose="02010600030101010101" pitchFamily="2" charset="-122"/>
                        <a:sym typeface="Webdings" panose="05030102010509060703" pitchFamily="18" charset="2"/>
                      </a:endParaRPr>
                    </a:p>
                  </a:txBody>
                  <a:tcPr marT="45716" marB="4571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</a:tr>
              <a:tr h="39364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buSzPct val="75000"/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FDAD23"/>
                        </a:buClr>
                        <a:buFont typeface="Times New Roman" panose="02020603050405020304" pitchFamily="18" charset="0"/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buSzTx/>
                        <a:buFontTx/>
                        <a:buNone/>
                      </a:pPr>
                      <a:r>
                        <a:rPr kumimoji="0" lang="en-US" altLang="zh-CN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entury Gothic" panose="020B0502020202020204" pitchFamily="34" charset="0"/>
                          <a:ea typeface="宋体" panose="02010600030101010101" pitchFamily="2" charset="-122"/>
                        </a:rPr>
                        <a:t>(2,&lt;3,5&gt;)</a:t>
                      </a:r>
                      <a:endParaRPr kumimoji="0" lang="en-US" altLang="zh-CN" sz="2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Century Gothic" panose="020B0502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16" marB="4571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buSzPct val="75000"/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FDAD23"/>
                        </a:buClr>
                        <a:buFont typeface="Times New Roman" panose="02020603050405020304" pitchFamily="18" charset="0"/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buSzTx/>
                        <a:buFontTx/>
                        <a:buNone/>
                      </a:pPr>
                      <a:r>
                        <a:rPr kumimoji="0" lang="en-US" altLang="zh-CN" sz="2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entury Gothic" panose="020B0502020202020204" pitchFamily="34" charset="0"/>
                          <a:ea typeface="宋体" panose="02010600030101010101" pitchFamily="2" charset="-122"/>
                        </a:rPr>
                        <a:t>&lt;2,3,5&gt;</a:t>
                      </a:r>
                      <a:endParaRPr kumimoji="0" lang="en-US" altLang="zh-CN" sz="22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Century Gothic" panose="020B0502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16" marB="4571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</a:tr>
            </a:tbl>
          </a:graphicData>
        </a:graphic>
      </p:graphicFrame>
      <p:sp>
        <p:nvSpPr>
          <p:cNvPr id="8" name="Oval 44"/>
          <p:cNvSpPr>
            <a:spLocks noChangeArrowheads="1"/>
          </p:cNvSpPr>
          <p:nvPr/>
        </p:nvSpPr>
        <p:spPr bwMode="auto">
          <a:xfrm>
            <a:off x="4648200" y="2326260"/>
            <a:ext cx="533400" cy="533400"/>
          </a:xfrm>
          <a:prstGeom prst="ellipse">
            <a:avLst/>
          </a:prstGeom>
          <a:solidFill>
            <a:srgbClr val="FFFF99"/>
          </a:solidFill>
          <a:ln w="9525">
            <a:solidFill>
              <a:schemeClr val="tx1"/>
            </a:solidFill>
            <a:round/>
          </a:ln>
        </p:spPr>
        <p:txBody>
          <a:bodyPr wrap="none" anchor="ctr"/>
          <a:lstStyle/>
          <a:p>
            <a:pPr eaLnBrk="1" hangingPunct="1"/>
            <a:endParaRPr lang="zh-CN" altLang="zh-CN">
              <a:ea typeface="宋体" panose="02010600030101010101" pitchFamily="2" charset="-122"/>
            </a:endParaRPr>
          </a:p>
        </p:txBody>
      </p:sp>
      <p:sp>
        <p:nvSpPr>
          <p:cNvPr id="9" name="Oval 45"/>
          <p:cNvSpPr>
            <a:spLocks noChangeArrowheads="1"/>
          </p:cNvSpPr>
          <p:nvPr/>
        </p:nvSpPr>
        <p:spPr bwMode="auto">
          <a:xfrm>
            <a:off x="4648200" y="3850260"/>
            <a:ext cx="533400" cy="533400"/>
          </a:xfrm>
          <a:prstGeom prst="ellipse">
            <a:avLst/>
          </a:prstGeom>
          <a:solidFill>
            <a:srgbClr val="FFFF99"/>
          </a:solidFill>
          <a:ln w="9525">
            <a:solidFill>
              <a:schemeClr val="tx1"/>
            </a:solidFill>
            <a:round/>
          </a:ln>
        </p:spPr>
        <p:txBody>
          <a:bodyPr wrap="none" anchor="ctr"/>
          <a:lstStyle/>
          <a:p>
            <a:pPr eaLnBrk="1" hangingPunct="1"/>
            <a:endParaRPr lang="zh-CN" altLang="zh-CN">
              <a:ea typeface="宋体" panose="02010600030101010101" pitchFamily="2" charset="-122"/>
            </a:endParaRPr>
          </a:p>
        </p:txBody>
      </p:sp>
      <p:sp>
        <p:nvSpPr>
          <p:cNvPr id="10" name="Oval 46"/>
          <p:cNvSpPr>
            <a:spLocks noChangeArrowheads="1"/>
          </p:cNvSpPr>
          <p:nvPr/>
        </p:nvSpPr>
        <p:spPr bwMode="auto">
          <a:xfrm>
            <a:off x="5638800" y="3088260"/>
            <a:ext cx="533400" cy="533400"/>
          </a:xfrm>
          <a:prstGeom prst="ellipse">
            <a:avLst/>
          </a:prstGeom>
          <a:solidFill>
            <a:srgbClr val="FFFF99"/>
          </a:solidFill>
          <a:ln w="9525">
            <a:solidFill>
              <a:schemeClr val="tx1"/>
            </a:solidFill>
            <a:round/>
          </a:ln>
        </p:spPr>
        <p:txBody>
          <a:bodyPr wrap="none" anchor="ctr"/>
          <a:lstStyle/>
          <a:p>
            <a:pPr eaLnBrk="1" hangingPunct="1"/>
            <a:endParaRPr lang="zh-CN" altLang="zh-CN">
              <a:ea typeface="宋体" panose="02010600030101010101" pitchFamily="2" charset="-122"/>
            </a:endParaRPr>
          </a:p>
        </p:txBody>
      </p:sp>
      <p:sp>
        <p:nvSpPr>
          <p:cNvPr id="11" name="Line 47"/>
          <p:cNvSpPr>
            <a:spLocks noChangeShapeType="1"/>
          </p:cNvSpPr>
          <p:nvPr/>
        </p:nvSpPr>
        <p:spPr bwMode="auto">
          <a:xfrm>
            <a:off x="5105400" y="2783460"/>
            <a:ext cx="609600" cy="4572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Line 48"/>
          <p:cNvSpPr>
            <a:spLocks noChangeShapeType="1"/>
          </p:cNvSpPr>
          <p:nvPr/>
        </p:nvSpPr>
        <p:spPr bwMode="auto">
          <a:xfrm flipH="1">
            <a:off x="5105400" y="3469260"/>
            <a:ext cx="609600" cy="4572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Line 49"/>
          <p:cNvSpPr>
            <a:spLocks noChangeShapeType="1"/>
          </p:cNvSpPr>
          <p:nvPr/>
        </p:nvSpPr>
        <p:spPr bwMode="auto">
          <a:xfrm>
            <a:off x="4876800" y="2859660"/>
            <a:ext cx="0" cy="990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Freeform 50"/>
          <p:cNvSpPr/>
          <p:nvPr/>
        </p:nvSpPr>
        <p:spPr bwMode="auto">
          <a:xfrm>
            <a:off x="5029200" y="1945260"/>
            <a:ext cx="152400" cy="457200"/>
          </a:xfrm>
          <a:custGeom>
            <a:avLst/>
            <a:gdLst>
              <a:gd name="T0" fmla="*/ 2147483646 w 96"/>
              <a:gd name="T1" fmla="*/ 0 h 288"/>
              <a:gd name="T2" fmla="*/ 0 w 96"/>
              <a:gd name="T3" fmla="*/ 2147483646 h 288"/>
              <a:gd name="T4" fmla="*/ 2147483646 w 96"/>
              <a:gd name="T5" fmla="*/ 2147483646 h 288"/>
              <a:gd name="T6" fmla="*/ 0 w 96"/>
              <a:gd name="T7" fmla="*/ 2147483646 h 288"/>
              <a:gd name="T8" fmla="*/ 0 60000 65536"/>
              <a:gd name="T9" fmla="*/ 0 60000 65536"/>
              <a:gd name="T10" fmla="*/ 0 60000 65536"/>
              <a:gd name="T11" fmla="*/ 0 60000 65536"/>
              <a:gd name="T12" fmla="*/ 0 w 96"/>
              <a:gd name="T13" fmla="*/ 0 h 288"/>
              <a:gd name="T14" fmla="*/ 96 w 96"/>
              <a:gd name="T15" fmla="*/ 288 h 288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96" h="288">
                <a:moveTo>
                  <a:pt x="96" y="0"/>
                </a:moveTo>
                <a:cubicBezTo>
                  <a:pt x="48" y="32"/>
                  <a:pt x="0" y="64"/>
                  <a:pt x="0" y="96"/>
                </a:cubicBezTo>
                <a:cubicBezTo>
                  <a:pt x="0" y="128"/>
                  <a:pt x="96" y="160"/>
                  <a:pt x="96" y="192"/>
                </a:cubicBezTo>
                <a:cubicBezTo>
                  <a:pt x="96" y="224"/>
                  <a:pt x="16" y="272"/>
                  <a:pt x="0" y="288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 type="none" w="med" len="med"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Freeform 51"/>
          <p:cNvSpPr/>
          <p:nvPr/>
        </p:nvSpPr>
        <p:spPr bwMode="auto">
          <a:xfrm>
            <a:off x="4724400" y="5907660"/>
            <a:ext cx="152400" cy="457200"/>
          </a:xfrm>
          <a:custGeom>
            <a:avLst/>
            <a:gdLst>
              <a:gd name="T0" fmla="*/ 2147483646 w 96"/>
              <a:gd name="T1" fmla="*/ 0 h 288"/>
              <a:gd name="T2" fmla="*/ 0 w 96"/>
              <a:gd name="T3" fmla="*/ 2147483646 h 288"/>
              <a:gd name="T4" fmla="*/ 2147483646 w 96"/>
              <a:gd name="T5" fmla="*/ 2147483646 h 288"/>
              <a:gd name="T6" fmla="*/ 0 w 96"/>
              <a:gd name="T7" fmla="*/ 2147483646 h 288"/>
              <a:gd name="T8" fmla="*/ 0 60000 65536"/>
              <a:gd name="T9" fmla="*/ 0 60000 65536"/>
              <a:gd name="T10" fmla="*/ 0 60000 65536"/>
              <a:gd name="T11" fmla="*/ 0 60000 65536"/>
              <a:gd name="T12" fmla="*/ 0 w 96"/>
              <a:gd name="T13" fmla="*/ 0 h 288"/>
              <a:gd name="T14" fmla="*/ 96 w 96"/>
              <a:gd name="T15" fmla="*/ 288 h 288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96" h="288">
                <a:moveTo>
                  <a:pt x="96" y="0"/>
                </a:moveTo>
                <a:cubicBezTo>
                  <a:pt x="48" y="32"/>
                  <a:pt x="0" y="64"/>
                  <a:pt x="0" y="96"/>
                </a:cubicBezTo>
                <a:cubicBezTo>
                  <a:pt x="0" y="128"/>
                  <a:pt x="96" y="160"/>
                  <a:pt x="96" y="192"/>
                </a:cubicBezTo>
                <a:cubicBezTo>
                  <a:pt x="96" y="224"/>
                  <a:pt x="16" y="272"/>
                  <a:pt x="0" y="288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 type="none" w="med" len="med"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Oval 52"/>
          <p:cNvSpPr>
            <a:spLocks noChangeArrowheads="1"/>
          </p:cNvSpPr>
          <p:nvPr/>
        </p:nvSpPr>
        <p:spPr bwMode="auto">
          <a:xfrm>
            <a:off x="4648200" y="5374260"/>
            <a:ext cx="533400" cy="533400"/>
          </a:xfrm>
          <a:prstGeom prst="ellipse">
            <a:avLst/>
          </a:prstGeom>
          <a:solidFill>
            <a:srgbClr val="FFFF99"/>
          </a:solidFill>
          <a:ln w="9525">
            <a:solidFill>
              <a:schemeClr val="tx1"/>
            </a:solidFill>
            <a:round/>
          </a:ln>
        </p:spPr>
        <p:txBody>
          <a:bodyPr wrap="none" anchor="ctr"/>
          <a:lstStyle/>
          <a:p>
            <a:pPr eaLnBrk="1" hangingPunct="1"/>
            <a:endParaRPr lang="zh-CN" altLang="zh-CN">
              <a:ea typeface="宋体" panose="02010600030101010101" pitchFamily="2" charset="-122"/>
            </a:endParaRPr>
          </a:p>
        </p:txBody>
      </p:sp>
      <p:sp>
        <p:nvSpPr>
          <p:cNvPr id="17" name="Oval 53"/>
          <p:cNvSpPr>
            <a:spLocks noChangeArrowheads="1"/>
          </p:cNvSpPr>
          <p:nvPr/>
        </p:nvSpPr>
        <p:spPr bwMode="auto">
          <a:xfrm>
            <a:off x="5638800" y="4612260"/>
            <a:ext cx="533400" cy="533400"/>
          </a:xfrm>
          <a:prstGeom prst="ellipse">
            <a:avLst/>
          </a:prstGeom>
          <a:solidFill>
            <a:srgbClr val="FFFF99"/>
          </a:solidFill>
          <a:ln w="9525">
            <a:solidFill>
              <a:schemeClr val="tx1"/>
            </a:solidFill>
            <a:round/>
          </a:ln>
        </p:spPr>
        <p:txBody>
          <a:bodyPr wrap="none" anchor="ctr"/>
          <a:lstStyle/>
          <a:p>
            <a:pPr eaLnBrk="1" hangingPunct="1"/>
            <a:endParaRPr lang="zh-CN" altLang="zh-CN">
              <a:ea typeface="宋体" panose="02010600030101010101" pitchFamily="2" charset="-122"/>
            </a:endParaRPr>
          </a:p>
        </p:txBody>
      </p:sp>
      <p:sp>
        <p:nvSpPr>
          <p:cNvPr id="18" name="Line 54"/>
          <p:cNvSpPr>
            <a:spLocks noChangeShapeType="1"/>
          </p:cNvSpPr>
          <p:nvPr/>
        </p:nvSpPr>
        <p:spPr bwMode="auto">
          <a:xfrm>
            <a:off x="5105400" y="4307460"/>
            <a:ext cx="609600" cy="4572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Line 55"/>
          <p:cNvSpPr>
            <a:spLocks noChangeShapeType="1"/>
          </p:cNvSpPr>
          <p:nvPr/>
        </p:nvSpPr>
        <p:spPr bwMode="auto">
          <a:xfrm flipH="1">
            <a:off x="5105400" y="4993260"/>
            <a:ext cx="609600" cy="4572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Line 56"/>
          <p:cNvSpPr>
            <a:spLocks noChangeShapeType="1"/>
          </p:cNvSpPr>
          <p:nvPr/>
        </p:nvSpPr>
        <p:spPr bwMode="auto">
          <a:xfrm>
            <a:off x="4876800" y="4383660"/>
            <a:ext cx="0" cy="990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Text Box 57"/>
          <p:cNvSpPr txBox="1">
            <a:spLocks noChangeArrowheads="1"/>
          </p:cNvSpPr>
          <p:nvPr/>
        </p:nvSpPr>
        <p:spPr bwMode="auto">
          <a:xfrm>
            <a:off x="4648200" y="2402460"/>
            <a:ext cx="4572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algn="ctr" eaLnBrk="1" hangingPunct="1">
              <a:spcBef>
                <a:spcPct val="50000"/>
              </a:spcBef>
            </a:pPr>
            <a:r>
              <a:rPr lang="en-US" altLang="zh-CN" sz="2400" b="1">
                <a:ea typeface="宋体" panose="02010600030101010101" pitchFamily="2" charset="-122"/>
              </a:rPr>
              <a:t>1</a:t>
            </a:r>
            <a:endParaRPr lang="en-US" altLang="zh-CN" sz="2400" b="1">
              <a:ea typeface="宋体" panose="02010600030101010101" pitchFamily="2" charset="-122"/>
            </a:endParaRPr>
          </a:p>
        </p:txBody>
      </p:sp>
      <p:sp>
        <p:nvSpPr>
          <p:cNvPr id="22" name="Text Box 58"/>
          <p:cNvSpPr txBox="1">
            <a:spLocks noChangeArrowheads="1"/>
          </p:cNvSpPr>
          <p:nvPr/>
        </p:nvSpPr>
        <p:spPr bwMode="auto">
          <a:xfrm>
            <a:off x="5715000" y="3164460"/>
            <a:ext cx="4572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algn="ctr" eaLnBrk="1" hangingPunct="1">
              <a:spcBef>
                <a:spcPct val="50000"/>
              </a:spcBef>
            </a:pPr>
            <a:r>
              <a:rPr lang="en-US" altLang="zh-CN" sz="2400" b="1">
                <a:ea typeface="宋体" panose="02010600030101010101" pitchFamily="2" charset="-122"/>
              </a:rPr>
              <a:t>2</a:t>
            </a:r>
            <a:endParaRPr lang="en-US" altLang="zh-CN" sz="2400" b="1">
              <a:ea typeface="宋体" panose="02010600030101010101" pitchFamily="2" charset="-122"/>
            </a:endParaRPr>
          </a:p>
        </p:txBody>
      </p:sp>
      <p:sp>
        <p:nvSpPr>
          <p:cNvPr id="23" name="Text Box 59"/>
          <p:cNvSpPr txBox="1">
            <a:spLocks noChangeArrowheads="1"/>
          </p:cNvSpPr>
          <p:nvPr/>
        </p:nvSpPr>
        <p:spPr bwMode="auto">
          <a:xfrm>
            <a:off x="4648200" y="3850260"/>
            <a:ext cx="4572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algn="ctr" eaLnBrk="1" hangingPunct="1">
              <a:spcBef>
                <a:spcPct val="50000"/>
              </a:spcBef>
            </a:pPr>
            <a:r>
              <a:rPr lang="en-US" altLang="zh-CN" sz="2400" b="1">
                <a:ea typeface="宋体" panose="02010600030101010101" pitchFamily="2" charset="-122"/>
              </a:rPr>
              <a:t>3</a:t>
            </a:r>
            <a:endParaRPr lang="en-US" altLang="zh-CN" sz="2400" b="1">
              <a:ea typeface="宋体" panose="02010600030101010101" pitchFamily="2" charset="-122"/>
            </a:endParaRPr>
          </a:p>
        </p:txBody>
      </p:sp>
      <p:sp>
        <p:nvSpPr>
          <p:cNvPr id="24" name="Text Box 60"/>
          <p:cNvSpPr txBox="1">
            <a:spLocks noChangeArrowheads="1"/>
          </p:cNvSpPr>
          <p:nvPr/>
        </p:nvSpPr>
        <p:spPr bwMode="auto">
          <a:xfrm>
            <a:off x="5715000" y="4612260"/>
            <a:ext cx="4572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algn="ctr" eaLnBrk="1" hangingPunct="1">
              <a:spcBef>
                <a:spcPct val="50000"/>
              </a:spcBef>
            </a:pPr>
            <a:r>
              <a:rPr lang="en-US" altLang="zh-CN" sz="2400" b="1">
                <a:ea typeface="宋体" panose="02010600030101010101" pitchFamily="2" charset="-122"/>
              </a:rPr>
              <a:t>4</a:t>
            </a:r>
            <a:endParaRPr lang="en-US" altLang="zh-CN" sz="2400" b="1">
              <a:ea typeface="宋体" panose="02010600030101010101" pitchFamily="2" charset="-122"/>
            </a:endParaRPr>
          </a:p>
        </p:txBody>
      </p:sp>
      <p:sp>
        <p:nvSpPr>
          <p:cNvPr id="25" name="Text Box 61"/>
          <p:cNvSpPr txBox="1">
            <a:spLocks noChangeArrowheads="1"/>
          </p:cNvSpPr>
          <p:nvPr/>
        </p:nvSpPr>
        <p:spPr bwMode="auto">
          <a:xfrm>
            <a:off x="4648200" y="5374260"/>
            <a:ext cx="4572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algn="ctr" eaLnBrk="1" hangingPunct="1">
              <a:spcBef>
                <a:spcPct val="50000"/>
              </a:spcBef>
            </a:pPr>
            <a:r>
              <a:rPr lang="en-US" altLang="zh-CN" sz="2400" b="1">
                <a:ea typeface="宋体" panose="02010600030101010101" pitchFamily="2" charset="-122"/>
              </a:rPr>
              <a:t>5</a:t>
            </a:r>
            <a:endParaRPr lang="en-US" altLang="zh-CN" sz="2400" b="1">
              <a:ea typeface="宋体" panose="02010600030101010101" pitchFamily="2" charset="-122"/>
            </a:endParaRPr>
          </a:p>
        </p:txBody>
      </p:sp>
      <p:sp>
        <p:nvSpPr>
          <p:cNvPr id="26" name="Text Box 62"/>
          <p:cNvSpPr txBox="1">
            <a:spLocks noChangeArrowheads="1"/>
          </p:cNvSpPr>
          <p:nvPr/>
        </p:nvSpPr>
        <p:spPr bwMode="auto">
          <a:xfrm>
            <a:off x="5257800" y="2173860"/>
            <a:ext cx="1752600" cy="3968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sz="2000">
                <a:latin typeface="Century Gothic" panose="020B0502020202020204" pitchFamily="34" charset="0"/>
                <a:ea typeface="宋体" panose="02010600030101010101" pitchFamily="2" charset="-122"/>
              </a:rPr>
              <a:t>input(A,B)</a:t>
            </a:r>
            <a:endParaRPr lang="en-US" altLang="zh-CN" sz="2000">
              <a:latin typeface="Century Gothic" panose="020B0502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7" name="Text Box 63"/>
          <p:cNvSpPr txBox="1">
            <a:spLocks noChangeArrowheads="1"/>
          </p:cNvSpPr>
          <p:nvPr/>
        </p:nvSpPr>
        <p:spPr bwMode="auto">
          <a:xfrm>
            <a:off x="6172200" y="3164460"/>
            <a:ext cx="1752600" cy="3968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sz="2000" dirty="0">
                <a:latin typeface="Century Gothic" panose="020B0502020202020204" pitchFamily="34" charset="0"/>
                <a:ea typeface="宋体" panose="02010600030101010101" pitchFamily="2" charset="-122"/>
              </a:rPr>
              <a:t>A := A+7</a:t>
            </a:r>
            <a:endParaRPr lang="en-US" altLang="zh-CN" sz="2000" dirty="0">
              <a:latin typeface="Century Gothic" panose="020B0502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8" name="Text Box 64"/>
          <p:cNvSpPr txBox="1">
            <a:spLocks noChangeArrowheads="1"/>
          </p:cNvSpPr>
          <p:nvPr/>
        </p:nvSpPr>
        <p:spPr bwMode="auto">
          <a:xfrm>
            <a:off x="6172200" y="4612260"/>
            <a:ext cx="1447800" cy="3968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sz="2000">
                <a:latin typeface="Century Gothic" panose="020B0502020202020204" pitchFamily="34" charset="0"/>
                <a:ea typeface="宋体" panose="02010600030101010101" pitchFamily="2" charset="-122"/>
              </a:rPr>
              <a:t>B := A+B</a:t>
            </a:r>
            <a:endParaRPr lang="en-US" altLang="zh-CN" sz="2000">
              <a:latin typeface="Century Gothic" panose="020B0502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9" name="Text Box 65"/>
          <p:cNvSpPr txBox="1">
            <a:spLocks noChangeArrowheads="1"/>
          </p:cNvSpPr>
          <p:nvPr/>
        </p:nvSpPr>
        <p:spPr bwMode="auto">
          <a:xfrm>
            <a:off x="5334000" y="2631060"/>
            <a:ext cx="838200" cy="3968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sz="2000">
                <a:latin typeface="Century Gothic" panose="020B0502020202020204" pitchFamily="34" charset="0"/>
                <a:ea typeface="宋体" panose="02010600030101010101" pitchFamily="2" charset="-122"/>
              </a:rPr>
              <a:t>B&gt;1</a:t>
            </a:r>
            <a:endParaRPr lang="en-US" altLang="zh-CN" sz="2000">
              <a:latin typeface="Century Gothic" panose="020B0502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0" name="Text Box 66"/>
          <p:cNvSpPr txBox="1">
            <a:spLocks noChangeArrowheads="1"/>
          </p:cNvSpPr>
          <p:nvPr/>
        </p:nvSpPr>
        <p:spPr bwMode="auto">
          <a:xfrm>
            <a:off x="4267200" y="3164460"/>
            <a:ext cx="685800" cy="3968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sz="2000" dirty="0">
                <a:latin typeface="Century Gothic" panose="020B0502020202020204" pitchFamily="34" charset="0"/>
                <a:ea typeface="宋体" panose="02010600030101010101" pitchFamily="2" charset="-122"/>
              </a:rPr>
              <a:t>B</a:t>
            </a:r>
            <a:r>
              <a:rPr lang="en-US" altLang="zh-CN" sz="2000" dirty="0">
                <a:latin typeface="Century Gothic" panose="020B0502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</a:t>
            </a:r>
            <a:r>
              <a:rPr lang="en-US" altLang="zh-CN" sz="2000" dirty="0">
                <a:latin typeface="Century Gothic" panose="020B0502020202020204" pitchFamily="34" charset="0"/>
                <a:ea typeface="宋体" panose="02010600030101010101" pitchFamily="2" charset="-122"/>
              </a:rPr>
              <a:t>1</a:t>
            </a:r>
            <a:endParaRPr lang="en-US" altLang="zh-CN" sz="2000" dirty="0">
              <a:latin typeface="Century Gothic" panose="020B0502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1" name="Text Box 67"/>
          <p:cNvSpPr txBox="1">
            <a:spLocks noChangeArrowheads="1"/>
          </p:cNvSpPr>
          <p:nvPr/>
        </p:nvSpPr>
        <p:spPr bwMode="auto">
          <a:xfrm>
            <a:off x="5334000" y="4155060"/>
            <a:ext cx="838200" cy="3968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sz="2000">
                <a:latin typeface="Century Gothic" panose="020B0502020202020204" pitchFamily="34" charset="0"/>
                <a:ea typeface="宋体" panose="02010600030101010101" pitchFamily="2" charset="-122"/>
              </a:rPr>
              <a:t>A&gt;10</a:t>
            </a:r>
            <a:endParaRPr lang="en-US" altLang="zh-CN" sz="2000">
              <a:latin typeface="Century Gothic" panose="020B0502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2" name="Text Box 68"/>
          <p:cNvSpPr txBox="1">
            <a:spLocks noChangeArrowheads="1"/>
          </p:cNvSpPr>
          <p:nvPr/>
        </p:nvSpPr>
        <p:spPr bwMode="auto">
          <a:xfrm>
            <a:off x="4038600" y="4612260"/>
            <a:ext cx="838200" cy="3968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sz="2000" dirty="0">
                <a:latin typeface="Century Gothic" panose="020B0502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A</a:t>
            </a:r>
            <a:r>
              <a:rPr lang="en-US" altLang="zh-CN" sz="2000" dirty="0">
                <a:latin typeface="Century Gothic" panose="020B0502020202020204" pitchFamily="34" charset="0"/>
                <a:ea typeface="宋体" panose="02010600030101010101" pitchFamily="2" charset="-122"/>
              </a:rPr>
              <a:t>10</a:t>
            </a:r>
            <a:endParaRPr lang="en-US" altLang="zh-CN" sz="2000" dirty="0">
              <a:latin typeface="Century Gothic" panose="020B0502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3" name="Text Box 69"/>
          <p:cNvSpPr txBox="1">
            <a:spLocks noChangeArrowheads="1"/>
          </p:cNvSpPr>
          <p:nvPr/>
        </p:nvSpPr>
        <p:spPr bwMode="auto">
          <a:xfrm>
            <a:off x="5181600" y="5526660"/>
            <a:ext cx="1752600" cy="3968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sz="2000">
                <a:latin typeface="Century Gothic" panose="020B0502020202020204" pitchFamily="34" charset="0"/>
                <a:ea typeface="宋体" panose="02010600030101010101" pitchFamily="2" charset="-122"/>
              </a:rPr>
              <a:t>output(A,B)</a:t>
            </a:r>
            <a:endParaRPr lang="en-US" altLang="zh-CN" sz="2000">
              <a:latin typeface="Century Gothic" panose="020B0502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>
                <a:ea typeface="宋体" panose="02010600030101010101" pitchFamily="2" charset="-122"/>
              </a:rPr>
              <a:t>Def-Clear Paths Subsumed by </a:t>
            </a:r>
            <a:r>
              <a:rPr lang="en-US" altLang="zh-CN" dirty="0" smtClean="0">
                <a:solidFill>
                  <a:srgbClr val="9900CC"/>
                </a:solidFill>
                <a:ea typeface="宋体" panose="02010600030101010101" pitchFamily="2" charset="-122"/>
              </a:rPr>
              <a:t>&lt;1,2,3,4,5&gt; </a:t>
            </a:r>
            <a:r>
              <a:rPr lang="en-US" altLang="zh-CN" dirty="0" smtClean="0">
                <a:ea typeface="宋体" panose="02010600030101010101" pitchFamily="2" charset="-122"/>
              </a:rPr>
              <a:t>for Variable B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86A48D-B8D4-430A-AE1C-E921A6F75A10}" type="slidenum">
              <a:rPr lang="zh-CN" altLang="en-US" smtClean="0"/>
            </a:fld>
            <a:endParaRPr lang="zh-CN" altLang="en-US"/>
          </a:p>
        </p:txBody>
      </p:sp>
      <p:sp>
        <p:nvSpPr>
          <p:cNvPr id="8" name="Oval 44"/>
          <p:cNvSpPr>
            <a:spLocks noChangeArrowheads="1"/>
          </p:cNvSpPr>
          <p:nvPr/>
        </p:nvSpPr>
        <p:spPr bwMode="auto">
          <a:xfrm>
            <a:off x="4648200" y="2326260"/>
            <a:ext cx="533400" cy="533400"/>
          </a:xfrm>
          <a:prstGeom prst="ellipse">
            <a:avLst/>
          </a:prstGeom>
          <a:solidFill>
            <a:srgbClr val="FFFF99"/>
          </a:solidFill>
          <a:ln w="9525">
            <a:solidFill>
              <a:schemeClr val="tx1"/>
            </a:solidFill>
            <a:round/>
          </a:ln>
        </p:spPr>
        <p:txBody>
          <a:bodyPr wrap="none" anchor="ctr"/>
          <a:lstStyle/>
          <a:p>
            <a:pPr eaLnBrk="1" hangingPunct="1"/>
            <a:endParaRPr lang="zh-CN" altLang="zh-CN">
              <a:ea typeface="宋体" panose="02010600030101010101" pitchFamily="2" charset="-122"/>
            </a:endParaRPr>
          </a:p>
        </p:txBody>
      </p:sp>
      <p:sp>
        <p:nvSpPr>
          <p:cNvPr id="9" name="Oval 45"/>
          <p:cNvSpPr>
            <a:spLocks noChangeArrowheads="1"/>
          </p:cNvSpPr>
          <p:nvPr/>
        </p:nvSpPr>
        <p:spPr bwMode="auto">
          <a:xfrm>
            <a:off x="4648200" y="3850260"/>
            <a:ext cx="533400" cy="533400"/>
          </a:xfrm>
          <a:prstGeom prst="ellipse">
            <a:avLst/>
          </a:prstGeom>
          <a:solidFill>
            <a:srgbClr val="FFFF99"/>
          </a:solidFill>
          <a:ln w="9525">
            <a:solidFill>
              <a:schemeClr val="tx1"/>
            </a:solidFill>
            <a:round/>
          </a:ln>
        </p:spPr>
        <p:txBody>
          <a:bodyPr wrap="none" anchor="ctr"/>
          <a:lstStyle/>
          <a:p>
            <a:pPr eaLnBrk="1" hangingPunct="1"/>
            <a:endParaRPr lang="zh-CN" altLang="zh-CN">
              <a:ea typeface="宋体" panose="02010600030101010101" pitchFamily="2" charset="-122"/>
            </a:endParaRPr>
          </a:p>
        </p:txBody>
      </p:sp>
      <p:sp>
        <p:nvSpPr>
          <p:cNvPr id="10" name="Oval 46"/>
          <p:cNvSpPr>
            <a:spLocks noChangeArrowheads="1"/>
          </p:cNvSpPr>
          <p:nvPr/>
        </p:nvSpPr>
        <p:spPr bwMode="auto">
          <a:xfrm>
            <a:off x="5638800" y="3088260"/>
            <a:ext cx="533400" cy="533400"/>
          </a:xfrm>
          <a:prstGeom prst="ellipse">
            <a:avLst/>
          </a:prstGeom>
          <a:solidFill>
            <a:srgbClr val="FFFF99"/>
          </a:solidFill>
          <a:ln w="9525">
            <a:solidFill>
              <a:schemeClr val="tx1"/>
            </a:solidFill>
            <a:round/>
          </a:ln>
        </p:spPr>
        <p:txBody>
          <a:bodyPr wrap="none" anchor="ctr"/>
          <a:lstStyle/>
          <a:p>
            <a:pPr eaLnBrk="1" hangingPunct="1"/>
            <a:endParaRPr lang="zh-CN" altLang="zh-CN">
              <a:ea typeface="宋体" panose="02010600030101010101" pitchFamily="2" charset="-122"/>
            </a:endParaRPr>
          </a:p>
        </p:txBody>
      </p:sp>
      <p:sp>
        <p:nvSpPr>
          <p:cNvPr id="11" name="Line 47"/>
          <p:cNvSpPr>
            <a:spLocks noChangeShapeType="1"/>
          </p:cNvSpPr>
          <p:nvPr/>
        </p:nvSpPr>
        <p:spPr bwMode="auto">
          <a:xfrm>
            <a:off x="5105400" y="2783460"/>
            <a:ext cx="609600" cy="4572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Line 48"/>
          <p:cNvSpPr>
            <a:spLocks noChangeShapeType="1"/>
          </p:cNvSpPr>
          <p:nvPr/>
        </p:nvSpPr>
        <p:spPr bwMode="auto">
          <a:xfrm flipH="1">
            <a:off x="5105400" y="3469260"/>
            <a:ext cx="609600" cy="4572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Line 49"/>
          <p:cNvSpPr>
            <a:spLocks noChangeShapeType="1"/>
          </p:cNvSpPr>
          <p:nvPr/>
        </p:nvSpPr>
        <p:spPr bwMode="auto">
          <a:xfrm>
            <a:off x="4876800" y="2859660"/>
            <a:ext cx="0" cy="990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Freeform 50"/>
          <p:cNvSpPr/>
          <p:nvPr/>
        </p:nvSpPr>
        <p:spPr bwMode="auto">
          <a:xfrm>
            <a:off x="5029200" y="1945260"/>
            <a:ext cx="152400" cy="457200"/>
          </a:xfrm>
          <a:custGeom>
            <a:avLst/>
            <a:gdLst>
              <a:gd name="T0" fmla="*/ 2147483646 w 96"/>
              <a:gd name="T1" fmla="*/ 0 h 288"/>
              <a:gd name="T2" fmla="*/ 0 w 96"/>
              <a:gd name="T3" fmla="*/ 2147483646 h 288"/>
              <a:gd name="T4" fmla="*/ 2147483646 w 96"/>
              <a:gd name="T5" fmla="*/ 2147483646 h 288"/>
              <a:gd name="T6" fmla="*/ 0 w 96"/>
              <a:gd name="T7" fmla="*/ 2147483646 h 288"/>
              <a:gd name="T8" fmla="*/ 0 60000 65536"/>
              <a:gd name="T9" fmla="*/ 0 60000 65536"/>
              <a:gd name="T10" fmla="*/ 0 60000 65536"/>
              <a:gd name="T11" fmla="*/ 0 60000 65536"/>
              <a:gd name="T12" fmla="*/ 0 w 96"/>
              <a:gd name="T13" fmla="*/ 0 h 288"/>
              <a:gd name="T14" fmla="*/ 96 w 96"/>
              <a:gd name="T15" fmla="*/ 288 h 288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96" h="288">
                <a:moveTo>
                  <a:pt x="96" y="0"/>
                </a:moveTo>
                <a:cubicBezTo>
                  <a:pt x="48" y="32"/>
                  <a:pt x="0" y="64"/>
                  <a:pt x="0" y="96"/>
                </a:cubicBezTo>
                <a:cubicBezTo>
                  <a:pt x="0" y="128"/>
                  <a:pt x="96" y="160"/>
                  <a:pt x="96" y="192"/>
                </a:cubicBezTo>
                <a:cubicBezTo>
                  <a:pt x="96" y="224"/>
                  <a:pt x="16" y="272"/>
                  <a:pt x="0" y="288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 type="none" w="med" len="med"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Freeform 51"/>
          <p:cNvSpPr/>
          <p:nvPr/>
        </p:nvSpPr>
        <p:spPr bwMode="auto">
          <a:xfrm>
            <a:off x="4724400" y="5907660"/>
            <a:ext cx="152400" cy="457200"/>
          </a:xfrm>
          <a:custGeom>
            <a:avLst/>
            <a:gdLst>
              <a:gd name="T0" fmla="*/ 2147483646 w 96"/>
              <a:gd name="T1" fmla="*/ 0 h 288"/>
              <a:gd name="T2" fmla="*/ 0 w 96"/>
              <a:gd name="T3" fmla="*/ 2147483646 h 288"/>
              <a:gd name="T4" fmla="*/ 2147483646 w 96"/>
              <a:gd name="T5" fmla="*/ 2147483646 h 288"/>
              <a:gd name="T6" fmla="*/ 0 w 96"/>
              <a:gd name="T7" fmla="*/ 2147483646 h 288"/>
              <a:gd name="T8" fmla="*/ 0 60000 65536"/>
              <a:gd name="T9" fmla="*/ 0 60000 65536"/>
              <a:gd name="T10" fmla="*/ 0 60000 65536"/>
              <a:gd name="T11" fmla="*/ 0 60000 65536"/>
              <a:gd name="T12" fmla="*/ 0 w 96"/>
              <a:gd name="T13" fmla="*/ 0 h 288"/>
              <a:gd name="T14" fmla="*/ 96 w 96"/>
              <a:gd name="T15" fmla="*/ 288 h 288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96" h="288">
                <a:moveTo>
                  <a:pt x="96" y="0"/>
                </a:moveTo>
                <a:cubicBezTo>
                  <a:pt x="48" y="32"/>
                  <a:pt x="0" y="64"/>
                  <a:pt x="0" y="96"/>
                </a:cubicBezTo>
                <a:cubicBezTo>
                  <a:pt x="0" y="128"/>
                  <a:pt x="96" y="160"/>
                  <a:pt x="96" y="192"/>
                </a:cubicBezTo>
                <a:cubicBezTo>
                  <a:pt x="96" y="224"/>
                  <a:pt x="16" y="272"/>
                  <a:pt x="0" y="288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 type="none" w="med" len="med"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Oval 52"/>
          <p:cNvSpPr>
            <a:spLocks noChangeArrowheads="1"/>
          </p:cNvSpPr>
          <p:nvPr/>
        </p:nvSpPr>
        <p:spPr bwMode="auto">
          <a:xfrm>
            <a:off x="4648200" y="5374260"/>
            <a:ext cx="533400" cy="533400"/>
          </a:xfrm>
          <a:prstGeom prst="ellipse">
            <a:avLst/>
          </a:prstGeom>
          <a:solidFill>
            <a:srgbClr val="FFFF99"/>
          </a:solidFill>
          <a:ln w="9525">
            <a:solidFill>
              <a:schemeClr val="tx1"/>
            </a:solidFill>
            <a:round/>
          </a:ln>
        </p:spPr>
        <p:txBody>
          <a:bodyPr wrap="none" anchor="ctr"/>
          <a:lstStyle/>
          <a:p>
            <a:pPr eaLnBrk="1" hangingPunct="1"/>
            <a:endParaRPr lang="zh-CN" altLang="zh-CN">
              <a:ea typeface="宋体" panose="02010600030101010101" pitchFamily="2" charset="-122"/>
            </a:endParaRPr>
          </a:p>
        </p:txBody>
      </p:sp>
      <p:sp>
        <p:nvSpPr>
          <p:cNvPr id="17" name="Oval 53"/>
          <p:cNvSpPr>
            <a:spLocks noChangeArrowheads="1"/>
          </p:cNvSpPr>
          <p:nvPr/>
        </p:nvSpPr>
        <p:spPr bwMode="auto">
          <a:xfrm>
            <a:off x="5638800" y="4612260"/>
            <a:ext cx="533400" cy="533400"/>
          </a:xfrm>
          <a:prstGeom prst="ellipse">
            <a:avLst/>
          </a:prstGeom>
          <a:solidFill>
            <a:srgbClr val="FFFF99"/>
          </a:solidFill>
          <a:ln w="9525">
            <a:solidFill>
              <a:schemeClr val="tx1"/>
            </a:solidFill>
            <a:round/>
          </a:ln>
        </p:spPr>
        <p:txBody>
          <a:bodyPr wrap="none" anchor="ctr"/>
          <a:lstStyle/>
          <a:p>
            <a:pPr eaLnBrk="1" hangingPunct="1"/>
            <a:endParaRPr lang="zh-CN" altLang="zh-CN">
              <a:ea typeface="宋体" panose="02010600030101010101" pitchFamily="2" charset="-122"/>
            </a:endParaRPr>
          </a:p>
        </p:txBody>
      </p:sp>
      <p:sp>
        <p:nvSpPr>
          <p:cNvPr id="18" name="Line 54"/>
          <p:cNvSpPr>
            <a:spLocks noChangeShapeType="1"/>
          </p:cNvSpPr>
          <p:nvPr/>
        </p:nvSpPr>
        <p:spPr bwMode="auto">
          <a:xfrm>
            <a:off x="5105400" y="4307460"/>
            <a:ext cx="609600" cy="4572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Line 55"/>
          <p:cNvSpPr>
            <a:spLocks noChangeShapeType="1"/>
          </p:cNvSpPr>
          <p:nvPr/>
        </p:nvSpPr>
        <p:spPr bwMode="auto">
          <a:xfrm flipH="1">
            <a:off x="5105400" y="4993260"/>
            <a:ext cx="609600" cy="4572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Line 56"/>
          <p:cNvSpPr>
            <a:spLocks noChangeShapeType="1"/>
          </p:cNvSpPr>
          <p:nvPr/>
        </p:nvSpPr>
        <p:spPr bwMode="auto">
          <a:xfrm>
            <a:off x="4876800" y="4383660"/>
            <a:ext cx="0" cy="990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Text Box 57"/>
          <p:cNvSpPr txBox="1">
            <a:spLocks noChangeArrowheads="1"/>
          </p:cNvSpPr>
          <p:nvPr/>
        </p:nvSpPr>
        <p:spPr bwMode="auto">
          <a:xfrm>
            <a:off x="4648200" y="2402460"/>
            <a:ext cx="4572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algn="ctr" eaLnBrk="1" hangingPunct="1">
              <a:spcBef>
                <a:spcPct val="50000"/>
              </a:spcBef>
            </a:pPr>
            <a:r>
              <a:rPr lang="en-US" altLang="zh-CN" sz="2400" b="1">
                <a:ea typeface="宋体" panose="02010600030101010101" pitchFamily="2" charset="-122"/>
              </a:rPr>
              <a:t>1</a:t>
            </a:r>
            <a:endParaRPr lang="en-US" altLang="zh-CN" sz="2400" b="1">
              <a:ea typeface="宋体" panose="02010600030101010101" pitchFamily="2" charset="-122"/>
            </a:endParaRPr>
          </a:p>
        </p:txBody>
      </p:sp>
      <p:sp>
        <p:nvSpPr>
          <p:cNvPr id="22" name="Text Box 58"/>
          <p:cNvSpPr txBox="1">
            <a:spLocks noChangeArrowheads="1"/>
          </p:cNvSpPr>
          <p:nvPr/>
        </p:nvSpPr>
        <p:spPr bwMode="auto">
          <a:xfrm>
            <a:off x="5715000" y="3164460"/>
            <a:ext cx="4572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algn="ctr" eaLnBrk="1" hangingPunct="1">
              <a:spcBef>
                <a:spcPct val="50000"/>
              </a:spcBef>
            </a:pPr>
            <a:r>
              <a:rPr lang="en-US" altLang="zh-CN" sz="2400" b="1">
                <a:ea typeface="宋体" panose="02010600030101010101" pitchFamily="2" charset="-122"/>
              </a:rPr>
              <a:t>2</a:t>
            </a:r>
            <a:endParaRPr lang="en-US" altLang="zh-CN" sz="2400" b="1">
              <a:ea typeface="宋体" panose="02010600030101010101" pitchFamily="2" charset="-122"/>
            </a:endParaRPr>
          </a:p>
        </p:txBody>
      </p:sp>
      <p:sp>
        <p:nvSpPr>
          <p:cNvPr id="23" name="Text Box 59"/>
          <p:cNvSpPr txBox="1">
            <a:spLocks noChangeArrowheads="1"/>
          </p:cNvSpPr>
          <p:nvPr/>
        </p:nvSpPr>
        <p:spPr bwMode="auto">
          <a:xfrm>
            <a:off x="4648200" y="3850260"/>
            <a:ext cx="4572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algn="ctr" eaLnBrk="1" hangingPunct="1">
              <a:spcBef>
                <a:spcPct val="50000"/>
              </a:spcBef>
            </a:pPr>
            <a:r>
              <a:rPr lang="en-US" altLang="zh-CN" sz="2400" b="1">
                <a:ea typeface="宋体" panose="02010600030101010101" pitchFamily="2" charset="-122"/>
              </a:rPr>
              <a:t>3</a:t>
            </a:r>
            <a:endParaRPr lang="en-US" altLang="zh-CN" sz="2400" b="1">
              <a:ea typeface="宋体" panose="02010600030101010101" pitchFamily="2" charset="-122"/>
            </a:endParaRPr>
          </a:p>
        </p:txBody>
      </p:sp>
      <p:sp>
        <p:nvSpPr>
          <p:cNvPr id="24" name="Text Box 60"/>
          <p:cNvSpPr txBox="1">
            <a:spLocks noChangeArrowheads="1"/>
          </p:cNvSpPr>
          <p:nvPr/>
        </p:nvSpPr>
        <p:spPr bwMode="auto">
          <a:xfrm>
            <a:off x="5715000" y="4612260"/>
            <a:ext cx="4572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algn="ctr" eaLnBrk="1" hangingPunct="1">
              <a:spcBef>
                <a:spcPct val="50000"/>
              </a:spcBef>
            </a:pPr>
            <a:r>
              <a:rPr lang="en-US" altLang="zh-CN" sz="2400" b="1">
                <a:ea typeface="宋体" panose="02010600030101010101" pitchFamily="2" charset="-122"/>
              </a:rPr>
              <a:t>4</a:t>
            </a:r>
            <a:endParaRPr lang="en-US" altLang="zh-CN" sz="2400" b="1">
              <a:ea typeface="宋体" panose="02010600030101010101" pitchFamily="2" charset="-122"/>
            </a:endParaRPr>
          </a:p>
        </p:txBody>
      </p:sp>
      <p:sp>
        <p:nvSpPr>
          <p:cNvPr id="25" name="Text Box 61"/>
          <p:cNvSpPr txBox="1">
            <a:spLocks noChangeArrowheads="1"/>
          </p:cNvSpPr>
          <p:nvPr/>
        </p:nvSpPr>
        <p:spPr bwMode="auto">
          <a:xfrm>
            <a:off x="4648200" y="5374260"/>
            <a:ext cx="4572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algn="ctr" eaLnBrk="1" hangingPunct="1">
              <a:spcBef>
                <a:spcPct val="50000"/>
              </a:spcBef>
            </a:pPr>
            <a:r>
              <a:rPr lang="en-US" altLang="zh-CN" sz="2400" b="1">
                <a:ea typeface="宋体" panose="02010600030101010101" pitchFamily="2" charset="-122"/>
              </a:rPr>
              <a:t>5</a:t>
            </a:r>
            <a:endParaRPr lang="en-US" altLang="zh-CN" sz="2400" b="1">
              <a:ea typeface="宋体" panose="02010600030101010101" pitchFamily="2" charset="-122"/>
            </a:endParaRPr>
          </a:p>
        </p:txBody>
      </p:sp>
      <p:sp>
        <p:nvSpPr>
          <p:cNvPr id="26" name="Text Box 62"/>
          <p:cNvSpPr txBox="1">
            <a:spLocks noChangeArrowheads="1"/>
          </p:cNvSpPr>
          <p:nvPr/>
        </p:nvSpPr>
        <p:spPr bwMode="auto">
          <a:xfrm>
            <a:off x="5257800" y="2173860"/>
            <a:ext cx="1752600" cy="3968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sz="2000">
                <a:latin typeface="Century Gothic" panose="020B0502020202020204" pitchFamily="34" charset="0"/>
                <a:ea typeface="宋体" panose="02010600030101010101" pitchFamily="2" charset="-122"/>
              </a:rPr>
              <a:t>input(A,B)</a:t>
            </a:r>
            <a:endParaRPr lang="en-US" altLang="zh-CN" sz="2000">
              <a:latin typeface="Century Gothic" panose="020B0502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7" name="Text Box 63"/>
          <p:cNvSpPr txBox="1">
            <a:spLocks noChangeArrowheads="1"/>
          </p:cNvSpPr>
          <p:nvPr/>
        </p:nvSpPr>
        <p:spPr bwMode="auto">
          <a:xfrm>
            <a:off x="6172200" y="3164460"/>
            <a:ext cx="1752600" cy="3968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sz="2000" dirty="0">
                <a:latin typeface="Century Gothic" panose="020B0502020202020204" pitchFamily="34" charset="0"/>
                <a:ea typeface="宋体" panose="02010600030101010101" pitchFamily="2" charset="-122"/>
              </a:rPr>
              <a:t>A := A+7</a:t>
            </a:r>
            <a:endParaRPr lang="en-US" altLang="zh-CN" sz="2000" dirty="0">
              <a:latin typeface="Century Gothic" panose="020B0502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8" name="Text Box 64"/>
          <p:cNvSpPr txBox="1">
            <a:spLocks noChangeArrowheads="1"/>
          </p:cNvSpPr>
          <p:nvPr/>
        </p:nvSpPr>
        <p:spPr bwMode="auto">
          <a:xfrm>
            <a:off x="6172200" y="4612260"/>
            <a:ext cx="1447800" cy="3968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sz="2000">
                <a:latin typeface="Century Gothic" panose="020B0502020202020204" pitchFamily="34" charset="0"/>
                <a:ea typeface="宋体" panose="02010600030101010101" pitchFamily="2" charset="-122"/>
              </a:rPr>
              <a:t>B := A+B</a:t>
            </a:r>
            <a:endParaRPr lang="en-US" altLang="zh-CN" sz="2000">
              <a:latin typeface="Century Gothic" panose="020B0502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9" name="Text Box 65"/>
          <p:cNvSpPr txBox="1">
            <a:spLocks noChangeArrowheads="1"/>
          </p:cNvSpPr>
          <p:nvPr/>
        </p:nvSpPr>
        <p:spPr bwMode="auto">
          <a:xfrm>
            <a:off x="5334000" y="2631060"/>
            <a:ext cx="838200" cy="3968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sz="2000">
                <a:latin typeface="Century Gothic" panose="020B0502020202020204" pitchFamily="34" charset="0"/>
                <a:ea typeface="宋体" panose="02010600030101010101" pitchFamily="2" charset="-122"/>
              </a:rPr>
              <a:t>B&gt;1</a:t>
            </a:r>
            <a:endParaRPr lang="en-US" altLang="zh-CN" sz="2000">
              <a:latin typeface="Century Gothic" panose="020B0502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0" name="Text Box 66"/>
          <p:cNvSpPr txBox="1">
            <a:spLocks noChangeArrowheads="1"/>
          </p:cNvSpPr>
          <p:nvPr/>
        </p:nvSpPr>
        <p:spPr bwMode="auto">
          <a:xfrm>
            <a:off x="4267200" y="3164460"/>
            <a:ext cx="685800" cy="3968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sz="2000" dirty="0">
                <a:latin typeface="Century Gothic" panose="020B0502020202020204" pitchFamily="34" charset="0"/>
                <a:ea typeface="宋体" panose="02010600030101010101" pitchFamily="2" charset="-122"/>
              </a:rPr>
              <a:t>B</a:t>
            </a:r>
            <a:r>
              <a:rPr lang="en-US" altLang="zh-CN" sz="2000" dirty="0">
                <a:latin typeface="Century Gothic" panose="020B0502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</a:t>
            </a:r>
            <a:r>
              <a:rPr lang="en-US" altLang="zh-CN" sz="2000" dirty="0">
                <a:latin typeface="Century Gothic" panose="020B0502020202020204" pitchFamily="34" charset="0"/>
                <a:ea typeface="宋体" panose="02010600030101010101" pitchFamily="2" charset="-122"/>
              </a:rPr>
              <a:t>1</a:t>
            </a:r>
            <a:endParaRPr lang="en-US" altLang="zh-CN" sz="2000" dirty="0">
              <a:latin typeface="Century Gothic" panose="020B0502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1" name="Text Box 67"/>
          <p:cNvSpPr txBox="1">
            <a:spLocks noChangeArrowheads="1"/>
          </p:cNvSpPr>
          <p:nvPr/>
        </p:nvSpPr>
        <p:spPr bwMode="auto">
          <a:xfrm>
            <a:off x="5334000" y="4155060"/>
            <a:ext cx="838200" cy="3968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sz="2000">
                <a:latin typeface="Century Gothic" panose="020B0502020202020204" pitchFamily="34" charset="0"/>
                <a:ea typeface="宋体" panose="02010600030101010101" pitchFamily="2" charset="-122"/>
              </a:rPr>
              <a:t>A&gt;10</a:t>
            </a:r>
            <a:endParaRPr lang="en-US" altLang="zh-CN" sz="2000">
              <a:latin typeface="Century Gothic" panose="020B0502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2" name="Text Box 68"/>
          <p:cNvSpPr txBox="1">
            <a:spLocks noChangeArrowheads="1"/>
          </p:cNvSpPr>
          <p:nvPr/>
        </p:nvSpPr>
        <p:spPr bwMode="auto">
          <a:xfrm>
            <a:off x="4038600" y="4612260"/>
            <a:ext cx="838200" cy="3968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sz="2000">
                <a:latin typeface="Century Gothic" panose="020B0502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A</a:t>
            </a:r>
            <a:r>
              <a:rPr lang="en-US" altLang="zh-CN" sz="2000">
                <a:latin typeface="Century Gothic" panose="020B0502020202020204" pitchFamily="34" charset="0"/>
                <a:ea typeface="宋体" panose="02010600030101010101" pitchFamily="2" charset="-122"/>
              </a:rPr>
              <a:t>10</a:t>
            </a:r>
            <a:endParaRPr lang="en-US" altLang="zh-CN" sz="2000">
              <a:latin typeface="Century Gothic" panose="020B0502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3" name="Text Box 69"/>
          <p:cNvSpPr txBox="1">
            <a:spLocks noChangeArrowheads="1"/>
          </p:cNvSpPr>
          <p:nvPr/>
        </p:nvSpPr>
        <p:spPr bwMode="auto">
          <a:xfrm>
            <a:off x="5181600" y="5526660"/>
            <a:ext cx="1752600" cy="3968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sz="2000">
                <a:latin typeface="Century Gothic" panose="020B0502020202020204" pitchFamily="34" charset="0"/>
                <a:ea typeface="宋体" panose="02010600030101010101" pitchFamily="2" charset="-122"/>
              </a:rPr>
              <a:t>output(A,B)</a:t>
            </a:r>
            <a:endParaRPr lang="en-US" altLang="zh-CN" sz="2000">
              <a:latin typeface="Century Gothic" panose="020B0502020202020204" pitchFamily="34" charset="0"/>
              <a:ea typeface="宋体" panose="02010600030101010101" pitchFamily="2" charset="-122"/>
            </a:endParaRPr>
          </a:p>
        </p:txBody>
      </p:sp>
      <p:graphicFrame>
        <p:nvGraphicFramePr>
          <p:cNvPr id="34" name="Group 67"/>
          <p:cNvGraphicFramePr/>
          <p:nvPr/>
        </p:nvGraphicFramePr>
        <p:xfrm>
          <a:off x="685800" y="2057400"/>
          <a:ext cx="3429000" cy="3355972"/>
        </p:xfrm>
        <a:graphic>
          <a:graphicData uri="http://schemas.openxmlformats.org/drawingml/2006/table">
            <a:tbl>
              <a:tblPr/>
              <a:tblGrid>
                <a:gridCol w="1524000"/>
                <a:gridCol w="1905000"/>
              </a:tblGrid>
              <a:tr h="41116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buSzPct val="75000"/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FDAD23"/>
                        </a:buClr>
                        <a:buFont typeface="Times New Roman" panose="02020603050405020304" pitchFamily="18" charset="0"/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buSzTx/>
                        <a:buFontTx/>
                        <a:buNone/>
                      </a:pPr>
                      <a:r>
                        <a:rPr kumimoji="0" lang="en-US" altLang="zh-CN" sz="2200" b="1" i="0" u="sng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anose="020B0604030504040204" pitchFamily="34" charset="0"/>
                          <a:ea typeface="宋体" panose="02010600030101010101" pitchFamily="2" charset="-122"/>
                        </a:rPr>
                        <a:t>du-pair</a:t>
                      </a:r>
                      <a:endParaRPr kumimoji="0" lang="en-US" altLang="zh-CN" sz="2200" b="1" i="0" u="sng" strike="noStrike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Verdan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5726" marB="4572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buSzPct val="75000"/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FDAD23"/>
                        </a:buClr>
                        <a:buFont typeface="Times New Roman" panose="02020603050405020304" pitchFamily="18" charset="0"/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buSzTx/>
                        <a:buFontTx/>
                        <a:buNone/>
                      </a:pPr>
                      <a:r>
                        <a:rPr kumimoji="0" lang="en-US" altLang="zh-CN" sz="2200" b="1" i="0" u="sng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anose="020B0604030504040204" pitchFamily="34" charset="0"/>
                          <a:ea typeface="宋体" panose="02010600030101010101" pitchFamily="2" charset="-122"/>
                        </a:rPr>
                        <a:t>path(s)</a:t>
                      </a:r>
                      <a:endParaRPr kumimoji="0" lang="en-US" altLang="zh-CN" sz="2200" b="1" i="0" u="sng" strike="noStrike" cap="none" normalizeH="0" baseline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Verdan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</a:tr>
              <a:tr h="420687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buSzPct val="75000"/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FDAD23"/>
                        </a:buClr>
                        <a:buFont typeface="Times New Roman" panose="02020603050405020304" pitchFamily="18" charset="0"/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buSzTx/>
                        <a:buFontTx/>
                        <a:buNone/>
                      </a:pPr>
                      <a:r>
                        <a:rPr kumimoji="0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entury Gothic" panose="020B0502020202020204" pitchFamily="34" charset="0"/>
                          <a:ea typeface="宋体" panose="02010600030101010101" pitchFamily="2" charset="-122"/>
                        </a:rPr>
                        <a:t>(1,4)</a:t>
                      </a:r>
                      <a:r>
                        <a:rPr kumimoji="0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entury Gothic" panose="020B0502020202020204" pitchFamily="34" charset="0"/>
                          <a:ea typeface="宋体" panose="02010600030101010101" pitchFamily="2" charset="-122"/>
                        </a:rPr>
                        <a:t>        </a:t>
                      </a:r>
                      <a:endParaRPr kumimoji="0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Century Gothic" panose="020B0502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26" marB="4572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buSzPct val="75000"/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FDAD23"/>
                        </a:buClr>
                        <a:buFont typeface="Times New Roman" panose="02020603050405020304" pitchFamily="18" charset="0"/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buSzTx/>
                        <a:buFontTx/>
                        <a:buNone/>
                      </a:pPr>
                      <a:r>
                        <a:rPr kumimoji="0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entury Gothic" panose="020B0502020202020204" pitchFamily="34" charset="0"/>
                          <a:ea typeface="宋体" panose="02010600030101010101" pitchFamily="2" charset="-122"/>
                        </a:rPr>
                        <a:t>&lt;1,2,3,4&gt; </a:t>
                      </a:r>
                      <a:r>
                        <a:rPr kumimoji="0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99"/>
                          </a:solidFill>
                          <a:effectLst/>
                          <a:latin typeface="Century Gothic" panose="020B0502020202020204" pitchFamily="34" charset="0"/>
                          <a:ea typeface="宋体" panose="02010600030101010101" pitchFamily="2" charset="-122"/>
                          <a:sym typeface="Webdings" panose="05030102010509060703" pitchFamily="18" charset="2"/>
                        </a:rPr>
                        <a:t></a:t>
                      </a:r>
                      <a:endParaRPr kumimoji="0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rgbClr val="FFFF99"/>
                        </a:solidFill>
                        <a:effectLst/>
                        <a:latin typeface="Century Gothic" panose="020B0502020202020204" pitchFamily="34" charset="0"/>
                        <a:ea typeface="宋体" panose="02010600030101010101" pitchFamily="2" charset="-122"/>
                        <a:sym typeface="Webdings" panose="05030102010509060703" pitchFamily="18" charset="2"/>
                      </a:endParaRP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</a:tr>
              <a:tr h="420687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buSzPct val="75000"/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FDAD23"/>
                        </a:buClr>
                        <a:buFont typeface="Times New Roman" panose="02020603050405020304" pitchFamily="18" charset="0"/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buSzTx/>
                        <a:buFontTx/>
                        <a:buNone/>
                      </a:pPr>
                      <a:endParaRPr kumimoji="0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Century Gothic" panose="020B0502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26" marB="4572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buSzPct val="75000"/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FDAD23"/>
                        </a:buClr>
                        <a:buFont typeface="Times New Roman" panose="02020603050405020304" pitchFamily="18" charset="0"/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buSzTx/>
                        <a:buFontTx/>
                        <a:buNone/>
                      </a:pPr>
                      <a:r>
                        <a:rPr kumimoji="0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entury Gothic" panose="020B0502020202020204" pitchFamily="34" charset="0"/>
                          <a:ea typeface="宋体" panose="02010600030101010101" pitchFamily="2" charset="-122"/>
                        </a:rPr>
                        <a:t>&lt;1,3,4&gt;</a:t>
                      </a:r>
                      <a:endParaRPr kumimoji="0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Century Gothic" panose="020B0502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</a:tr>
              <a:tr h="420687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buSzPct val="75000"/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FDAD23"/>
                        </a:buClr>
                        <a:buFont typeface="Times New Roman" panose="02020603050405020304" pitchFamily="18" charset="0"/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buSzTx/>
                        <a:buFontTx/>
                        <a:buNone/>
                      </a:pPr>
                      <a:r>
                        <a:rPr kumimoji="0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entury Gothic" panose="020B0502020202020204" pitchFamily="34" charset="0"/>
                          <a:ea typeface="宋体" panose="02010600030101010101" pitchFamily="2" charset="-122"/>
                        </a:rPr>
                        <a:t>(1,5)         </a:t>
                      </a:r>
                      <a:endParaRPr kumimoji="0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Century Gothic" panose="020B0502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26" marB="4572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buSzPct val="75000"/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FDAD23"/>
                        </a:buClr>
                        <a:buFont typeface="Times New Roman" panose="02020603050405020304" pitchFamily="18" charset="0"/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buSzTx/>
                        <a:buFontTx/>
                        <a:buNone/>
                      </a:pPr>
                      <a:r>
                        <a:rPr kumimoji="0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entury Gothic" panose="020B0502020202020204" pitchFamily="34" charset="0"/>
                          <a:ea typeface="宋体" panose="02010600030101010101" pitchFamily="2" charset="-122"/>
                        </a:rPr>
                        <a:t>&lt;1,2,3,5&gt;</a:t>
                      </a:r>
                      <a:endParaRPr kumimoji="0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Century Gothic" panose="020B0502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</a:tr>
              <a:tr h="420687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buSzPct val="75000"/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FDAD23"/>
                        </a:buClr>
                        <a:buFont typeface="Times New Roman" panose="02020603050405020304" pitchFamily="18" charset="0"/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buSzTx/>
                        <a:buFontTx/>
                        <a:buNone/>
                      </a:pPr>
                      <a:r>
                        <a:rPr kumimoji="0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entury Gothic" panose="020B0502020202020204" pitchFamily="34" charset="0"/>
                          <a:ea typeface="宋体" panose="02010600030101010101" pitchFamily="2" charset="-122"/>
                        </a:rPr>
                        <a:t>                 </a:t>
                      </a:r>
                      <a:endParaRPr kumimoji="0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Century Gothic" panose="020B0502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26" marB="4572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buSzPct val="75000"/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FDAD23"/>
                        </a:buClr>
                        <a:buFont typeface="Times New Roman" panose="02020603050405020304" pitchFamily="18" charset="0"/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buSzTx/>
                        <a:buFontTx/>
                        <a:buNone/>
                      </a:pPr>
                      <a:r>
                        <a:rPr kumimoji="0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entury Gothic" panose="020B0502020202020204" pitchFamily="34" charset="0"/>
                          <a:ea typeface="宋体" panose="02010600030101010101" pitchFamily="2" charset="-122"/>
                        </a:rPr>
                        <a:t>&lt;1,3,5&gt;</a:t>
                      </a:r>
                      <a:endParaRPr kumimoji="0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Century Gothic" panose="020B0502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</a:tr>
              <a:tr h="420687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buSzPct val="75000"/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FDAD23"/>
                        </a:buClr>
                        <a:buFont typeface="Times New Roman" panose="02020603050405020304" pitchFamily="18" charset="0"/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buSzTx/>
                        <a:buFontTx/>
                        <a:buNone/>
                      </a:pPr>
                      <a:r>
                        <a:rPr kumimoji="0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entury Gothic" panose="020B0502020202020204" pitchFamily="34" charset="0"/>
                          <a:ea typeface="宋体" panose="02010600030101010101" pitchFamily="2" charset="-122"/>
                        </a:rPr>
                        <a:t>(4,5)</a:t>
                      </a:r>
                      <a:r>
                        <a:rPr kumimoji="0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entury Gothic" panose="020B0502020202020204" pitchFamily="34" charset="0"/>
                          <a:ea typeface="宋体" panose="02010600030101010101" pitchFamily="2" charset="-122"/>
                        </a:rPr>
                        <a:t>        </a:t>
                      </a:r>
                      <a:endParaRPr kumimoji="0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Century Gothic" panose="020B0502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26" marB="4572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buSzPct val="75000"/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FDAD23"/>
                        </a:buClr>
                        <a:buFont typeface="Times New Roman" panose="02020603050405020304" pitchFamily="18" charset="0"/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buSzTx/>
                        <a:buFontTx/>
                        <a:buNone/>
                      </a:pPr>
                      <a:r>
                        <a:rPr kumimoji="0" lang="en-US" altLang="zh-CN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entury Gothic" panose="020B0502020202020204" pitchFamily="34" charset="0"/>
                          <a:ea typeface="宋体" panose="02010600030101010101" pitchFamily="2" charset="-122"/>
                        </a:rPr>
                        <a:t>&lt;4,5&gt; </a:t>
                      </a:r>
                      <a:r>
                        <a:rPr kumimoji="0" lang="en-US" altLang="zh-CN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FF99"/>
                          </a:solidFill>
                          <a:effectLst/>
                          <a:latin typeface="Century Gothic" panose="020B0502020202020204" pitchFamily="34" charset="0"/>
                          <a:ea typeface="宋体" panose="02010600030101010101" pitchFamily="2" charset="-122"/>
                          <a:sym typeface="Webdings" panose="05030102010509060703" pitchFamily="18" charset="2"/>
                        </a:rPr>
                        <a:t></a:t>
                      </a:r>
                      <a:endParaRPr kumimoji="0" lang="en-US" altLang="zh-CN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FFFF99"/>
                        </a:solidFill>
                        <a:effectLst/>
                        <a:latin typeface="Century Gothic" panose="020B0502020202020204" pitchFamily="34" charset="0"/>
                        <a:ea typeface="宋体" panose="02010600030101010101" pitchFamily="2" charset="-122"/>
                        <a:sym typeface="Webdings" panose="05030102010509060703" pitchFamily="18" charset="2"/>
                      </a:endParaRP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</a:tr>
              <a:tr h="420687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buSzPct val="75000"/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FDAD23"/>
                        </a:buClr>
                        <a:buFont typeface="Times New Roman" panose="02020603050405020304" pitchFamily="18" charset="0"/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buSzTx/>
                        <a:buFontTx/>
                        <a:buNone/>
                      </a:pPr>
                      <a:r>
                        <a:rPr kumimoji="0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entury Gothic" panose="020B0502020202020204" pitchFamily="34" charset="0"/>
                          <a:ea typeface="宋体" panose="02010600030101010101" pitchFamily="2" charset="-122"/>
                        </a:rPr>
                        <a:t>(1,&lt;1,2&gt;)         </a:t>
                      </a:r>
                      <a:endParaRPr kumimoji="0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Century Gothic" panose="020B0502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26" marB="4572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buSzPct val="75000"/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FDAD23"/>
                        </a:buClr>
                        <a:buFont typeface="Times New Roman" panose="02020603050405020304" pitchFamily="18" charset="0"/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buSzTx/>
                        <a:buFontTx/>
                        <a:buNone/>
                      </a:pPr>
                      <a:r>
                        <a:rPr kumimoji="0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entury Gothic" panose="020B0502020202020204" pitchFamily="34" charset="0"/>
                          <a:ea typeface="宋体" panose="02010600030101010101" pitchFamily="2" charset="-122"/>
                        </a:rPr>
                        <a:t>&lt;1,2&gt; </a:t>
                      </a:r>
                      <a:r>
                        <a:rPr kumimoji="0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99"/>
                          </a:solidFill>
                          <a:effectLst/>
                          <a:latin typeface="Century Gothic" panose="020B0502020202020204" pitchFamily="34" charset="0"/>
                          <a:ea typeface="宋体" panose="02010600030101010101" pitchFamily="2" charset="-122"/>
                          <a:sym typeface="Webdings" panose="05030102010509060703" pitchFamily="18" charset="2"/>
                        </a:rPr>
                        <a:t></a:t>
                      </a:r>
                      <a:endParaRPr kumimoji="0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rgbClr val="FFFF99"/>
                        </a:solidFill>
                        <a:effectLst/>
                        <a:latin typeface="Century Gothic" panose="020B0502020202020204" pitchFamily="34" charset="0"/>
                        <a:ea typeface="宋体" panose="02010600030101010101" pitchFamily="2" charset="-122"/>
                        <a:sym typeface="Webdings" panose="05030102010509060703" pitchFamily="18" charset="2"/>
                      </a:endParaRP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</a:tr>
              <a:tr h="420687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buSzPct val="75000"/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FDAD23"/>
                        </a:buClr>
                        <a:buFont typeface="Times New Roman" panose="02020603050405020304" pitchFamily="18" charset="0"/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buSzTx/>
                        <a:buFontTx/>
                        <a:buNone/>
                      </a:pPr>
                      <a:r>
                        <a:rPr kumimoji="0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entury Gothic" panose="020B0502020202020204" pitchFamily="34" charset="0"/>
                          <a:ea typeface="宋体" panose="02010600030101010101" pitchFamily="2" charset="-122"/>
                        </a:rPr>
                        <a:t>(1,&lt;1,3&gt;)</a:t>
                      </a:r>
                      <a:r>
                        <a:rPr kumimoji="0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entury Gothic" panose="020B0502020202020204" pitchFamily="34" charset="0"/>
                          <a:ea typeface="宋体" panose="02010600030101010101" pitchFamily="2" charset="-122"/>
                        </a:rPr>
                        <a:t>               </a:t>
                      </a:r>
                      <a:endParaRPr kumimoji="0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Century Gothic" panose="020B0502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26" marB="4572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buSzPct val="75000"/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FDAD23"/>
                        </a:buClr>
                        <a:buFont typeface="Times New Roman" panose="02020603050405020304" pitchFamily="18" charset="0"/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buSzTx/>
                        <a:buFontTx/>
                        <a:buNone/>
                      </a:pPr>
                      <a:r>
                        <a:rPr kumimoji="0" lang="en-US" altLang="zh-CN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entury Gothic" panose="020B0502020202020204" pitchFamily="34" charset="0"/>
                          <a:ea typeface="宋体" panose="02010600030101010101" pitchFamily="2" charset="-122"/>
                        </a:rPr>
                        <a:t>&lt;1,3&gt;</a:t>
                      </a:r>
                      <a:endParaRPr kumimoji="0" lang="en-US" altLang="zh-CN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Century Gothic" panose="020B0502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>
                <a:ea typeface="宋体" panose="02010600030101010101" pitchFamily="2" charset="-122"/>
              </a:rPr>
              <a:t>Dataflow Test Coverage Criteria (cont’d)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86A48D-B8D4-430A-AE1C-E921A6F75A10}" type="slidenum">
              <a:rPr lang="zh-CN" altLang="en-US" smtClean="0"/>
            </a:fld>
            <a:endParaRPr lang="zh-CN" altLang="en-US"/>
          </a:p>
        </p:txBody>
      </p:sp>
      <p:sp>
        <p:nvSpPr>
          <p:cNvPr id="6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285749" y="1625374"/>
            <a:ext cx="8711293" cy="4791755"/>
          </a:xfrm>
        </p:spPr>
        <p:txBody>
          <a:bodyPr>
            <a:normAutofit/>
          </a:bodyPr>
          <a:lstStyle/>
          <a:p>
            <a:r>
              <a:rPr lang="en-US" altLang="zh-CN" sz="3200" dirty="0" smtClean="0">
                <a:latin typeface="Verdana" panose="020B0604030504040204" pitchFamily="34" charset="0"/>
                <a:ea typeface="宋体" panose="02010600030101010101" pitchFamily="2" charset="-122"/>
              </a:rPr>
              <a:t>Since</a:t>
            </a:r>
            <a:r>
              <a:rPr lang="en-US" altLang="zh-CN" sz="3200" dirty="0" smtClean="0">
                <a:ea typeface="宋体" panose="02010600030101010101" pitchFamily="2" charset="-122"/>
              </a:rPr>
              <a:t> </a:t>
            </a:r>
            <a:r>
              <a:rPr lang="en-US" altLang="zh-CN" sz="3200" b="1" dirty="0" smtClean="0">
                <a:solidFill>
                  <a:srgbClr val="9900CC"/>
                </a:solidFill>
                <a:ea typeface="宋体" panose="02010600030101010101" pitchFamily="2" charset="-122"/>
              </a:rPr>
              <a:t>&lt;1,2,3,4,5&gt;</a:t>
            </a:r>
            <a:r>
              <a:rPr lang="en-US" altLang="zh-CN" sz="3200" dirty="0" smtClean="0">
                <a:solidFill>
                  <a:srgbClr val="9900CC"/>
                </a:solidFill>
                <a:ea typeface="宋体" panose="02010600030101010101" pitchFamily="2" charset="-122"/>
              </a:rPr>
              <a:t> </a:t>
            </a:r>
            <a:r>
              <a:rPr lang="en-US" altLang="zh-CN" sz="3200" dirty="0" smtClean="0">
                <a:latin typeface="Verdana" panose="020B0604030504040204" pitchFamily="34" charset="0"/>
                <a:ea typeface="宋体" panose="02010600030101010101" pitchFamily="2" charset="-122"/>
              </a:rPr>
              <a:t>covers at least one def-clear path from every definition of A/B to at least one c-use or p-use of A/B, </a:t>
            </a:r>
            <a:r>
              <a:rPr lang="en-US" altLang="zh-CN" sz="3200" dirty="0" smtClean="0">
                <a:solidFill>
                  <a:srgbClr val="FF0000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All-</a:t>
            </a:r>
            <a:r>
              <a:rPr lang="en-US" altLang="zh-CN" sz="3200" dirty="0" err="1" smtClean="0">
                <a:solidFill>
                  <a:srgbClr val="FF0000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Defs</a:t>
            </a:r>
            <a:r>
              <a:rPr lang="en-US" altLang="zh-CN" sz="3200" dirty="0" smtClean="0">
                <a:solidFill>
                  <a:srgbClr val="FF0000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 coverage is achieved. </a:t>
            </a:r>
            <a:endParaRPr lang="en-US" altLang="zh-CN" sz="3200" dirty="0" smtClean="0">
              <a:solidFill>
                <a:srgbClr val="FF0000"/>
              </a:solidFill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>
                <a:ea typeface="宋体" panose="02010600030101010101" pitchFamily="2" charset="-122"/>
              </a:rPr>
              <a:t>Dataflow Test Coverage Criteria (cont’d)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86A48D-B8D4-430A-AE1C-E921A6F75A10}" type="slidenum">
              <a:rPr lang="zh-CN" altLang="en-US" smtClean="0"/>
            </a:fld>
            <a:endParaRPr lang="zh-CN" altLang="en-US"/>
          </a:p>
        </p:txBody>
      </p:sp>
      <p:sp>
        <p:nvSpPr>
          <p:cNvPr id="6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285749" y="1625374"/>
            <a:ext cx="8711293" cy="4791755"/>
          </a:xfrm>
        </p:spPr>
        <p:txBody>
          <a:bodyPr>
            <a:normAutofit/>
          </a:bodyPr>
          <a:lstStyle/>
          <a:p>
            <a:r>
              <a:rPr lang="en-US" altLang="zh-CN" sz="3200" b="1" i="1" dirty="0" smtClean="0">
                <a:solidFill>
                  <a:srgbClr val="FDAD23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All-Uses: </a:t>
            </a:r>
            <a:r>
              <a:rPr lang="en-US" altLang="zh-CN" sz="3200" dirty="0" smtClean="0">
                <a:latin typeface="Verdana" panose="020B0604030504040204" pitchFamily="34" charset="0"/>
                <a:ea typeface="宋体" panose="02010600030101010101" pitchFamily="2" charset="-122"/>
              </a:rPr>
              <a:t>for </a:t>
            </a:r>
            <a:r>
              <a:rPr lang="en-US" altLang="zh-CN" sz="3200" b="1" dirty="0" smtClean="0">
                <a:latin typeface="Verdana" panose="020B0604030504040204" pitchFamily="34" charset="0"/>
                <a:ea typeface="宋体" panose="02010600030101010101" pitchFamily="2" charset="-122"/>
              </a:rPr>
              <a:t>every program variable v,</a:t>
            </a:r>
            <a:r>
              <a:rPr lang="en-US" altLang="zh-CN" sz="3200" dirty="0" smtClean="0">
                <a:latin typeface="Verdana" panose="020B0604030504040204" pitchFamily="34" charset="0"/>
                <a:ea typeface="宋体" panose="02010600030101010101" pitchFamily="2" charset="-122"/>
              </a:rPr>
              <a:t> </a:t>
            </a:r>
            <a:r>
              <a:rPr lang="en-US" altLang="zh-CN" sz="3200" b="1" dirty="0" smtClean="0">
                <a:latin typeface="Verdana" panose="020B0604030504040204" pitchFamily="34" charset="0"/>
                <a:ea typeface="宋体" panose="02010600030101010101" pitchFamily="2" charset="-122"/>
              </a:rPr>
              <a:t>at least one</a:t>
            </a:r>
            <a:r>
              <a:rPr lang="en-US" altLang="zh-CN" sz="3200" dirty="0" smtClean="0">
                <a:latin typeface="Verdana" panose="020B0604030504040204" pitchFamily="34" charset="0"/>
                <a:ea typeface="宋体" panose="02010600030101010101" pitchFamily="2" charset="-122"/>
              </a:rPr>
              <a:t> </a:t>
            </a:r>
            <a:r>
              <a:rPr lang="en-US" altLang="zh-CN" sz="3200" b="1" dirty="0" smtClean="0">
                <a:latin typeface="Verdana" panose="020B0604030504040204" pitchFamily="34" charset="0"/>
                <a:ea typeface="宋体" panose="02010600030101010101" pitchFamily="2" charset="-122"/>
              </a:rPr>
              <a:t>def-clear path</a:t>
            </a:r>
            <a:r>
              <a:rPr lang="en-US" altLang="zh-CN" sz="3200" dirty="0" smtClean="0">
                <a:latin typeface="Verdana" panose="020B0604030504040204" pitchFamily="34" charset="0"/>
                <a:ea typeface="宋体" panose="02010600030101010101" pitchFamily="2" charset="-122"/>
              </a:rPr>
              <a:t> from </a:t>
            </a:r>
            <a:r>
              <a:rPr lang="en-US" altLang="zh-CN" sz="3200" b="1" dirty="0" smtClean="0">
                <a:solidFill>
                  <a:srgbClr val="FF0000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every</a:t>
            </a:r>
            <a:r>
              <a:rPr lang="en-US" altLang="zh-CN" sz="3200" dirty="0" smtClean="0">
                <a:latin typeface="Verdana" panose="020B0604030504040204" pitchFamily="34" charset="0"/>
                <a:ea typeface="宋体" panose="02010600030101010101" pitchFamily="2" charset="-122"/>
              </a:rPr>
              <a:t> </a:t>
            </a:r>
            <a:r>
              <a:rPr lang="en-US" altLang="zh-CN" sz="3200" b="1" dirty="0" smtClean="0">
                <a:latin typeface="Verdana" panose="020B0604030504040204" pitchFamily="34" charset="0"/>
                <a:ea typeface="宋体" panose="02010600030101010101" pitchFamily="2" charset="-122"/>
              </a:rPr>
              <a:t>definition</a:t>
            </a:r>
            <a:r>
              <a:rPr lang="en-US" altLang="zh-CN" sz="3200" dirty="0" smtClean="0">
                <a:latin typeface="Verdana" panose="020B0604030504040204" pitchFamily="34" charset="0"/>
                <a:ea typeface="宋体" panose="02010600030101010101" pitchFamily="2" charset="-122"/>
              </a:rPr>
              <a:t> of v to </a:t>
            </a:r>
            <a:r>
              <a:rPr lang="en-US" altLang="zh-CN" sz="3200" b="1" dirty="0" smtClean="0">
                <a:solidFill>
                  <a:srgbClr val="FF0000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every</a:t>
            </a:r>
            <a:r>
              <a:rPr lang="en-US" altLang="zh-CN" sz="3200" dirty="0" smtClean="0">
                <a:solidFill>
                  <a:srgbClr val="FF0000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 </a:t>
            </a:r>
            <a:r>
              <a:rPr lang="en-US" altLang="zh-CN" sz="3200" b="1" dirty="0" smtClean="0">
                <a:solidFill>
                  <a:srgbClr val="FF0000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c-use</a:t>
            </a:r>
            <a:r>
              <a:rPr lang="en-US" altLang="zh-CN" sz="3200" dirty="0" smtClean="0">
                <a:solidFill>
                  <a:srgbClr val="FF0000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 and </a:t>
            </a:r>
            <a:r>
              <a:rPr lang="en-US" altLang="zh-CN" sz="3200" b="1" dirty="0" smtClean="0">
                <a:solidFill>
                  <a:srgbClr val="FF0000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every p-use</a:t>
            </a:r>
            <a:r>
              <a:rPr lang="en-US" altLang="zh-CN" sz="3200" dirty="0" smtClean="0">
                <a:latin typeface="Verdana" panose="020B0604030504040204" pitchFamily="34" charset="0"/>
                <a:ea typeface="宋体" panose="02010600030101010101" pitchFamily="2" charset="-122"/>
              </a:rPr>
              <a:t> of v must be covered.</a:t>
            </a:r>
            <a:endParaRPr lang="en-US" altLang="zh-CN" sz="3200" dirty="0" smtClean="0"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Example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86A48D-B8D4-430A-AE1C-E921A6F75A10}" type="slidenum">
              <a:rPr lang="zh-CN" altLang="en-US" smtClean="0"/>
            </a:fld>
            <a:endParaRPr lang="zh-CN" altLang="en-US"/>
          </a:p>
        </p:txBody>
      </p:sp>
      <p:grpSp>
        <p:nvGrpSpPr>
          <p:cNvPr id="31" name="组合 30"/>
          <p:cNvGrpSpPr/>
          <p:nvPr/>
        </p:nvGrpSpPr>
        <p:grpSpPr>
          <a:xfrm>
            <a:off x="1717281" y="1985461"/>
            <a:ext cx="7970398" cy="2516617"/>
            <a:chOff x="2340528" y="1011921"/>
            <a:chExt cx="7970398" cy="2516617"/>
          </a:xfrm>
        </p:grpSpPr>
        <p:cxnSp>
          <p:nvCxnSpPr>
            <p:cNvPr id="7" name="直接连接符 6"/>
            <p:cNvCxnSpPr/>
            <p:nvPr/>
          </p:nvCxnSpPr>
          <p:spPr>
            <a:xfrm>
              <a:off x="2340528" y="2306972"/>
              <a:ext cx="755010" cy="0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椭圆 7"/>
            <p:cNvSpPr/>
            <p:nvPr/>
          </p:nvSpPr>
          <p:spPr>
            <a:xfrm>
              <a:off x="3095538" y="1962691"/>
              <a:ext cx="813732" cy="629507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400" dirty="0" smtClean="0">
                  <a:ln>
                    <a:solidFill>
                      <a:sysClr val="windowText" lastClr="000000"/>
                    </a:solidFill>
                  </a:ln>
                  <a:solidFill>
                    <a:schemeClr val="tx1"/>
                  </a:solidFill>
                </a:rPr>
                <a:t>1</a:t>
              </a:r>
              <a:endParaRPr lang="zh-CN" altLang="en-US" sz="2400" dirty="0">
                <a:ln>
                  <a:solidFill>
                    <a:sysClr val="windowText" lastClr="000000"/>
                  </a:solidFill>
                </a:ln>
                <a:solidFill>
                  <a:schemeClr val="tx1"/>
                </a:solidFill>
              </a:endParaRPr>
            </a:p>
          </p:txBody>
        </p:sp>
        <p:cxnSp>
          <p:nvCxnSpPr>
            <p:cNvPr id="9" name="直接连接符 8"/>
            <p:cNvCxnSpPr/>
            <p:nvPr/>
          </p:nvCxnSpPr>
          <p:spPr>
            <a:xfrm flipV="1">
              <a:off x="3896391" y="1837386"/>
              <a:ext cx="684195" cy="336504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直接连接符 10"/>
            <p:cNvCxnSpPr/>
            <p:nvPr/>
          </p:nvCxnSpPr>
          <p:spPr>
            <a:xfrm>
              <a:off x="3859134" y="2412166"/>
              <a:ext cx="730038" cy="369671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椭圆 12"/>
            <p:cNvSpPr/>
            <p:nvPr/>
          </p:nvSpPr>
          <p:spPr>
            <a:xfrm>
              <a:off x="4589172" y="1522632"/>
              <a:ext cx="813732" cy="629507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400" dirty="0" smtClean="0">
                  <a:ln>
                    <a:solidFill>
                      <a:sysClr val="windowText" lastClr="000000"/>
                    </a:solidFill>
                  </a:ln>
                  <a:solidFill>
                    <a:schemeClr val="tx1"/>
                  </a:solidFill>
                </a:rPr>
                <a:t>2</a:t>
              </a:r>
              <a:endParaRPr lang="zh-CN" altLang="en-US" sz="2400" dirty="0">
                <a:ln>
                  <a:solidFill>
                    <a:sysClr val="windowText" lastClr="000000"/>
                  </a:solidFill>
                </a:ln>
                <a:solidFill>
                  <a:schemeClr val="tx1"/>
                </a:solidFill>
              </a:endParaRPr>
            </a:p>
          </p:txBody>
        </p:sp>
        <p:sp>
          <p:nvSpPr>
            <p:cNvPr id="14" name="椭圆 13"/>
            <p:cNvSpPr/>
            <p:nvPr/>
          </p:nvSpPr>
          <p:spPr>
            <a:xfrm>
              <a:off x="4589172" y="2461849"/>
              <a:ext cx="813732" cy="629507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400" dirty="0" smtClean="0">
                  <a:ln>
                    <a:solidFill>
                      <a:sysClr val="windowText" lastClr="000000"/>
                    </a:solidFill>
                  </a:ln>
                  <a:solidFill>
                    <a:schemeClr val="tx1"/>
                  </a:solidFill>
                </a:rPr>
                <a:t>3</a:t>
              </a:r>
              <a:endParaRPr lang="zh-CN" altLang="en-US" sz="2400" dirty="0">
                <a:ln>
                  <a:solidFill>
                    <a:sysClr val="windowText" lastClr="000000"/>
                  </a:solidFill>
                </a:ln>
                <a:solidFill>
                  <a:schemeClr val="tx1"/>
                </a:solidFill>
              </a:endParaRPr>
            </a:p>
          </p:txBody>
        </p:sp>
        <p:cxnSp>
          <p:nvCxnSpPr>
            <p:cNvPr id="15" name="直接连接符 14"/>
            <p:cNvCxnSpPr>
              <a:endCxn id="17" idx="2"/>
            </p:cNvCxnSpPr>
            <p:nvPr/>
          </p:nvCxnSpPr>
          <p:spPr>
            <a:xfrm>
              <a:off x="5394318" y="1884698"/>
              <a:ext cx="895180" cy="356621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接连接符 15"/>
            <p:cNvCxnSpPr/>
            <p:nvPr/>
          </p:nvCxnSpPr>
          <p:spPr>
            <a:xfrm flipV="1">
              <a:off x="5402904" y="2320391"/>
              <a:ext cx="895180" cy="458190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椭圆 16"/>
            <p:cNvSpPr/>
            <p:nvPr/>
          </p:nvSpPr>
          <p:spPr>
            <a:xfrm>
              <a:off x="6289498" y="1926565"/>
              <a:ext cx="813732" cy="629507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400" dirty="0" smtClean="0">
                  <a:ln>
                    <a:solidFill>
                      <a:sysClr val="windowText" lastClr="000000"/>
                    </a:solidFill>
                  </a:ln>
                  <a:solidFill>
                    <a:schemeClr val="tx1"/>
                  </a:solidFill>
                </a:rPr>
                <a:t>4</a:t>
              </a:r>
              <a:endParaRPr lang="zh-CN" altLang="en-US" sz="2400" dirty="0">
                <a:ln>
                  <a:solidFill>
                    <a:sysClr val="windowText" lastClr="000000"/>
                  </a:solidFill>
                </a:ln>
                <a:solidFill>
                  <a:schemeClr val="tx1"/>
                </a:solidFill>
              </a:endParaRPr>
            </a:p>
          </p:txBody>
        </p:sp>
        <p:cxnSp>
          <p:nvCxnSpPr>
            <p:cNvPr id="20" name="直接连接符 19"/>
            <p:cNvCxnSpPr/>
            <p:nvPr/>
          </p:nvCxnSpPr>
          <p:spPr>
            <a:xfrm flipV="1">
              <a:off x="7104087" y="1807858"/>
              <a:ext cx="684195" cy="336504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接连接符 20"/>
            <p:cNvCxnSpPr/>
            <p:nvPr/>
          </p:nvCxnSpPr>
          <p:spPr>
            <a:xfrm>
              <a:off x="7066830" y="2382638"/>
              <a:ext cx="730038" cy="369671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椭圆 21"/>
            <p:cNvSpPr/>
            <p:nvPr/>
          </p:nvSpPr>
          <p:spPr>
            <a:xfrm>
              <a:off x="7796868" y="1493104"/>
              <a:ext cx="813732" cy="629507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400" dirty="0" smtClean="0">
                  <a:ln>
                    <a:solidFill>
                      <a:sysClr val="windowText" lastClr="000000"/>
                    </a:solidFill>
                  </a:ln>
                  <a:solidFill>
                    <a:schemeClr val="tx1"/>
                  </a:solidFill>
                </a:rPr>
                <a:t>5</a:t>
              </a:r>
              <a:endParaRPr lang="zh-CN" altLang="en-US" sz="2400" dirty="0">
                <a:ln>
                  <a:solidFill>
                    <a:sysClr val="windowText" lastClr="000000"/>
                  </a:solidFill>
                </a:ln>
                <a:solidFill>
                  <a:schemeClr val="tx1"/>
                </a:solidFill>
              </a:endParaRPr>
            </a:p>
          </p:txBody>
        </p:sp>
        <p:sp>
          <p:nvSpPr>
            <p:cNvPr id="23" name="椭圆 22"/>
            <p:cNvSpPr/>
            <p:nvPr/>
          </p:nvSpPr>
          <p:spPr>
            <a:xfrm>
              <a:off x="7796868" y="2432321"/>
              <a:ext cx="813732" cy="629507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400" dirty="0" smtClean="0">
                  <a:ln>
                    <a:solidFill>
                      <a:sysClr val="windowText" lastClr="000000"/>
                    </a:solidFill>
                  </a:ln>
                  <a:solidFill>
                    <a:schemeClr val="tx1"/>
                  </a:solidFill>
                </a:rPr>
                <a:t>6</a:t>
              </a:r>
              <a:endParaRPr lang="zh-CN" altLang="en-US" sz="2400" dirty="0">
                <a:ln>
                  <a:solidFill>
                    <a:sysClr val="windowText" lastClr="000000"/>
                  </a:solidFill>
                </a:ln>
                <a:solidFill>
                  <a:schemeClr val="tx1"/>
                </a:solidFill>
              </a:endParaRPr>
            </a:p>
          </p:txBody>
        </p:sp>
        <p:cxnSp>
          <p:nvCxnSpPr>
            <p:cNvPr id="24" name="直接连接符 23"/>
            <p:cNvCxnSpPr>
              <a:endCxn id="26" idx="2"/>
            </p:cNvCxnSpPr>
            <p:nvPr/>
          </p:nvCxnSpPr>
          <p:spPr>
            <a:xfrm>
              <a:off x="8602014" y="1855170"/>
              <a:ext cx="895180" cy="356621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直接连接符 24"/>
            <p:cNvCxnSpPr/>
            <p:nvPr/>
          </p:nvCxnSpPr>
          <p:spPr>
            <a:xfrm flipV="1">
              <a:off x="8610600" y="2290863"/>
              <a:ext cx="895180" cy="458190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椭圆 25"/>
            <p:cNvSpPr/>
            <p:nvPr/>
          </p:nvSpPr>
          <p:spPr>
            <a:xfrm>
              <a:off x="9497194" y="1897037"/>
              <a:ext cx="813732" cy="629507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400" dirty="0" smtClean="0">
                  <a:ln>
                    <a:solidFill>
                      <a:sysClr val="windowText" lastClr="000000"/>
                    </a:solidFill>
                  </a:ln>
                  <a:solidFill>
                    <a:schemeClr val="tx1"/>
                  </a:solidFill>
                </a:rPr>
                <a:t>7</a:t>
              </a:r>
              <a:endParaRPr lang="zh-CN" altLang="en-US" sz="2400" dirty="0">
                <a:ln>
                  <a:solidFill>
                    <a:sysClr val="windowText" lastClr="000000"/>
                  </a:solidFill>
                </a:ln>
                <a:solidFill>
                  <a:schemeClr val="tx1"/>
                </a:solidFill>
              </a:endParaRPr>
            </a:p>
          </p:txBody>
        </p:sp>
        <p:sp>
          <p:nvSpPr>
            <p:cNvPr id="27" name="文本框 26"/>
            <p:cNvSpPr txBox="1"/>
            <p:nvPr/>
          </p:nvSpPr>
          <p:spPr>
            <a:xfrm>
              <a:off x="3081694" y="1460976"/>
              <a:ext cx="892935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400" dirty="0" smtClean="0"/>
                <a:t>X=42</a:t>
              </a:r>
              <a:endParaRPr lang="zh-CN" altLang="en-US" sz="2400" dirty="0"/>
            </a:p>
          </p:txBody>
        </p:sp>
        <p:sp>
          <p:nvSpPr>
            <p:cNvPr id="28" name="文本框 27"/>
            <p:cNvSpPr txBox="1"/>
            <p:nvPr/>
          </p:nvSpPr>
          <p:spPr>
            <a:xfrm>
              <a:off x="7749645" y="1011921"/>
              <a:ext cx="108526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400" dirty="0" smtClean="0"/>
                <a:t>Z=X*2</a:t>
              </a:r>
              <a:endParaRPr lang="zh-CN" altLang="en-US" sz="2400" dirty="0"/>
            </a:p>
          </p:txBody>
        </p:sp>
        <p:sp>
          <p:nvSpPr>
            <p:cNvPr id="29" name="文本框 28"/>
            <p:cNvSpPr txBox="1"/>
            <p:nvPr/>
          </p:nvSpPr>
          <p:spPr>
            <a:xfrm>
              <a:off x="7796868" y="3066873"/>
              <a:ext cx="108526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400" dirty="0" smtClean="0"/>
                <a:t>Z=X-8</a:t>
              </a:r>
              <a:endParaRPr lang="zh-CN" altLang="en-US" sz="2400" dirty="0"/>
            </a:p>
          </p:txBody>
        </p:sp>
      </p:grpSp>
      <p:graphicFrame>
        <p:nvGraphicFramePr>
          <p:cNvPr id="30" name="表格 29"/>
          <p:cNvGraphicFramePr>
            <a:graphicFrameLocks noGrp="1"/>
          </p:cNvGraphicFramePr>
          <p:nvPr/>
        </p:nvGraphicFramePr>
        <p:xfrm>
          <a:off x="2095744" y="5060673"/>
          <a:ext cx="2266990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6699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CN" sz="2400" dirty="0" smtClean="0">
                          <a:solidFill>
                            <a:schemeClr val="tx1"/>
                          </a:solidFill>
                        </a:rPr>
                        <a:t>All-</a:t>
                      </a:r>
                      <a:r>
                        <a:rPr lang="en-US" altLang="zh-CN" sz="2400" dirty="0" err="1" smtClean="0">
                          <a:solidFill>
                            <a:schemeClr val="tx1"/>
                          </a:solidFill>
                        </a:rPr>
                        <a:t>defs</a:t>
                      </a:r>
                      <a:r>
                        <a:rPr lang="en-US" altLang="zh-CN" sz="2400" dirty="0" smtClean="0">
                          <a:solidFill>
                            <a:schemeClr val="tx1"/>
                          </a:solidFill>
                        </a:rPr>
                        <a:t> for</a:t>
                      </a:r>
                      <a:r>
                        <a:rPr lang="en-US" altLang="zh-CN" sz="2400" baseline="0" dirty="0" smtClean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zh-CN" sz="2400" i="1" baseline="0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zh-CN" altLang="en-US" sz="2400" i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29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2400" dirty="0" smtClean="0"/>
                        <a:t>&lt;1,2,4,5&gt;</a:t>
                      </a:r>
                      <a:endParaRPr lang="zh-CN" altLang="en-US" sz="240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2" name="表格 31"/>
          <p:cNvGraphicFramePr>
            <a:graphicFrameLocks noGrp="1"/>
          </p:cNvGraphicFramePr>
          <p:nvPr/>
        </p:nvGraphicFramePr>
        <p:xfrm>
          <a:off x="5081315" y="5060673"/>
          <a:ext cx="226699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6699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CN" sz="2400" dirty="0" smtClean="0">
                          <a:solidFill>
                            <a:schemeClr val="tx1"/>
                          </a:solidFill>
                        </a:rPr>
                        <a:t>All-uses for</a:t>
                      </a:r>
                      <a:r>
                        <a:rPr lang="en-US" altLang="zh-CN" sz="2400" baseline="0" dirty="0" smtClean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zh-CN" sz="2400" i="1" baseline="0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zh-CN" altLang="en-US" sz="2400" i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29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2400" dirty="0" smtClean="0"/>
                        <a:t>&lt;1,2,4,5&gt;</a:t>
                      </a:r>
                      <a:endParaRPr lang="en-US" altLang="zh-CN" sz="2400" dirty="0" smtClean="0"/>
                    </a:p>
                    <a:p>
                      <a:r>
                        <a:rPr lang="en-US" altLang="zh-CN" sz="2400" dirty="0" smtClean="0"/>
                        <a:t>&lt;1,2,4,6&gt;</a:t>
                      </a:r>
                      <a:endParaRPr lang="zh-CN" altLang="en-US" sz="240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>
                <a:ea typeface="宋体" panose="02010600030101010101" pitchFamily="2" charset="-122"/>
              </a:rPr>
              <a:t>Dataflow Test Coverage Criteria (cont’d)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86A48D-B8D4-430A-AE1C-E921A6F75A10}" type="slidenum">
              <a:rPr lang="zh-CN" altLang="en-US" smtClean="0"/>
            </a:fld>
            <a:endParaRPr lang="zh-CN" altLang="en-US" dirty="0"/>
          </a:p>
        </p:txBody>
      </p:sp>
      <p:sp>
        <p:nvSpPr>
          <p:cNvPr id="6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285749" y="1625374"/>
            <a:ext cx="6588017" cy="4791755"/>
          </a:xfrm>
        </p:spPr>
        <p:txBody>
          <a:bodyPr>
            <a:normAutofit/>
          </a:bodyPr>
          <a:lstStyle/>
          <a:p>
            <a:pPr>
              <a:spcBef>
                <a:spcPct val="0"/>
              </a:spcBef>
              <a:spcAft>
                <a:spcPct val="0"/>
              </a:spcAft>
            </a:pPr>
            <a:r>
              <a:rPr lang="en-US" altLang="zh-CN" sz="2800" dirty="0" smtClean="0">
                <a:latin typeface="Verdana" panose="020B0604030504040204" pitchFamily="34" charset="0"/>
                <a:ea typeface="宋体" panose="02010600030101010101" pitchFamily="2" charset="-122"/>
              </a:rPr>
              <a:t>Consider additional test cases executing paths:</a:t>
            </a:r>
            <a:endParaRPr lang="en-US" altLang="zh-CN" sz="2800" dirty="0" smtClean="0">
              <a:latin typeface="Verdana" panose="020B0604030504040204" pitchFamily="34" charset="0"/>
              <a:ea typeface="宋体" panose="02010600030101010101" pitchFamily="2" charset="-122"/>
            </a:endParaRPr>
          </a:p>
          <a:p>
            <a:pPr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CN" sz="2800" dirty="0" smtClean="0">
                <a:ea typeface="宋体" panose="02010600030101010101" pitchFamily="2" charset="-122"/>
              </a:rPr>
              <a:t>			</a:t>
            </a:r>
            <a:r>
              <a:rPr lang="en-US" altLang="zh-CN" sz="2800" dirty="0">
                <a:ea typeface="宋体" panose="02010600030101010101" pitchFamily="2" charset="-122"/>
              </a:rPr>
              <a:t>1. </a:t>
            </a:r>
            <a:r>
              <a:rPr lang="en-US" altLang="zh-CN" sz="2800" b="1" dirty="0">
                <a:ea typeface="宋体" panose="02010600030101010101" pitchFamily="2" charset="-122"/>
              </a:rPr>
              <a:t>&lt;1,2,3,4,5</a:t>
            </a:r>
            <a:r>
              <a:rPr lang="en-US" altLang="zh-CN" sz="2800" b="1" dirty="0" smtClean="0">
                <a:ea typeface="宋体" panose="02010600030101010101" pitchFamily="2" charset="-122"/>
              </a:rPr>
              <a:t>&gt;</a:t>
            </a:r>
            <a:endParaRPr lang="en-US" altLang="zh-CN" sz="2800" dirty="0" smtClean="0">
              <a:ea typeface="宋体" panose="02010600030101010101" pitchFamily="2" charset="-122"/>
            </a:endParaRPr>
          </a:p>
          <a:p>
            <a:pPr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CN" sz="2800" dirty="0" smtClean="0">
                <a:ea typeface="宋体" panose="02010600030101010101" pitchFamily="2" charset="-122"/>
              </a:rPr>
              <a:t>                    </a:t>
            </a:r>
            <a:r>
              <a:rPr lang="en-US" altLang="zh-CN" sz="2800" dirty="0" smtClean="0">
                <a:ea typeface="宋体" panose="02010600030101010101" pitchFamily="2" charset="-122"/>
              </a:rPr>
              <a:t>   2</a:t>
            </a:r>
            <a:r>
              <a:rPr lang="en-US" altLang="zh-CN" sz="2800" dirty="0" smtClean="0">
                <a:ea typeface="宋体" panose="02010600030101010101" pitchFamily="2" charset="-122"/>
              </a:rPr>
              <a:t>. </a:t>
            </a:r>
            <a:r>
              <a:rPr lang="en-US" altLang="zh-CN" sz="2800" b="1" dirty="0" smtClean="0">
                <a:solidFill>
                  <a:srgbClr val="00FF00"/>
                </a:solidFill>
                <a:ea typeface="宋体" panose="02010600030101010101" pitchFamily="2" charset="-122"/>
              </a:rPr>
              <a:t>&lt;1,3,4,5&gt;</a:t>
            </a:r>
            <a:endParaRPr lang="en-US" altLang="zh-CN" sz="2800" b="1" dirty="0" smtClean="0">
              <a:solidFill>
                <a:srgbClr val="00FF00"/>
              </a:solidFill>
              <a:ea typeface="宋体" panose="02010600030101010101" pitchFamily="2" charset="-122"/>
            </a:endParaRPr>
          </a:p>
          <a:p>
            <a:pPr>
              <a:spcBef>
                <a:spcPct val="0"/>
              </a:spcBef>
              <a:buNone/>
            </a:pPr>
            <a:r>
              <a:rPr lang="en-US" altLang="zh-CN" sz="2800" dirty="0" smtClean="0">
                <a:ea typeface="宋体" panose="02010600030101010101" pitchFamily="2" charset="-122"/>
              </a:rPr>
              <a:t>			3. </a:t>
            </a:r>
            <a:r>
              <a:rPr lang="en-US" altLang="zh-CN" sz="2800" b="1" dirty="0" smtClean="0">
                <a:solidFill>
                  <a:srgbClr val="99CCFF"/>
                </a:solidFill>
                <a:ea typeface="宋体" panose="02010600030101010101" pitchFamily="2" charset="-122"/>
              </a:rPr>
              <a:t>&lt;1,2,3,5&gt;</a:t>
            </a:r>
            <a:endParaRPr lang="en-US" altLang="zh-CN" sz="2800" b="1" dirty="0" smtClean="0">
              <a:solidFill>
                <a:srgbClr val="99CCFF"/>
              </a:solidFill>
              <a:ea typeface="宋体" panose="02010600030101010101" pitchFamily="2" charset="-122"/>
            </a:endParaRPr>
          </a:p>
          <a:p>
            <a:r>
              <a:rPr lang="en-US" altLang="zh-CN" sz="2800" dirty="0" smtClean="0">
                <a:latin typeface="Verdana" panose="020B0604030504040204" pitchFamily="34" charset="0"/>
                <a:ea typeface="宋体" panose="02010600030101010101" pitchFamily="2" charset="-122"/>
              </a:rPr>
              <a:t>Do all three test cases provide All-Uses coverage?</a:t>
            </a:r>
            <a:endParaRPr lang="en-US" altLang="zh-CN" sz="2800" dirty="0" smtClean="0"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7" name="Oval 44"/>
          <p:cNvSpPr>
            <a:spLocks noChangeArrowheads="1"/>
          </p:cNvSpPr>
          <p:nvPr/>
        </p:nvSpPr>
        <p:spPr bwMode="auto">
          <a:xfrm>
            <a:off x="7580566" y="2215893"/>
            <a:ext cx="533400" cy="533400"/>
          </a:xfrm>
          <a:prstGeom prst="ellipse">
            <a:avLst/>
          </a:prstGeom>
          <a:solidFill>
            <a:srgbClr val="FFFF99"/>
          </a:solidFill>
          <a:ln w="9525">
            <a:solidFill>
              <a:schemeClr val="tx1"/>
            </a:solidFill>
            <a:round/>
          </a:ln>
        </p:spPr>
        <p:txBody>
          <a:bodyPr wrap="none" anchor="ctr"/>
          <a:lstStyle/>
          <a:p>
            <a:pPr eaLnBrk="1" hangingPunct="1"/>
            <a:endParaRPr lang="zh-CN" altLang="zh-CN">
              <a:ea typeface="宋体" panose="02010600030101010101" pitchFamily="2" charset="-122"/>
            </a:endParaRPr>
          </a:p>
        </p:txBody>
      </p:sp>
      <p:sp>
        <p:nvSpPr>
          <p:cNvPr id="8" name="Oval 45"/>
          <p:cNvSpPr>
            <a:spLocks noChangeArrowheads="1"/>
          </p:cNvSpPr>
          <p:nvPr/>
        </p:nvSpPr>
        <p:spPr bwMode="auto">
          <a:xfrm>
            <a:off x="7580566" y="3739893"/>
            <a:ext cx="533400" cy="533400"/>
          </a:xfrm>
          <a:prstGeom prst="ellipse">
            <a:avLst/>
          </a:prstGeom>
          <a:solidFill>
            <a:srgbClr val="FFFF99"/>
          </a:solidFill>
          <a:ln w="9525">
            <a:solidFill>
              <a:schemeClr val="tx1"/>
            </a:solidFill>
            <a:round/>
          </a:ln>
        </p:spPr>
        <p:txBody>
          <a:bodyPr wrap="none" anchor="ctr"/>
          <a:lstStyle/>
          <a:p>
            <a:pPr eaLnBrk="1" hangingPunct="1"/>
            <a:endParaRPr lang="zh-CN" altLang="zh-CN">
              <a:ea typeface="宋体" panose="02010600030101010101" pitchFamily="2" charset="-122"/>
            </a:endParaRPr>
          </a:p>
        </p:txBody>
      </p:sp>
      <p:sp>
        <p:nvSpPr>
          <p:cNvPr id="9" name="Oval 46"/>
          <p:cNvSpPr>
            <a:spLocks noChangeArrowheads="1"/>
          </p:cNvSpPr>
          <p:nvPr/>
        </p:nvSpPr>
        <p:spPr bwMode="auto">
          <a:xfrm>
            <a:off x="8571166" y="2977893"/>
            <a:ext cx="533400" cy="533400"/>
          </a:xfrm>
          <a:prstGeom prst="ellipse">
            <a:avLst/>
          </a:prstGeom>
          <a:solidFill>
            <a:srgbClr val="FFFF99"/>
          </a:solidFill>
          <a:ln w="9525">
            <a:solidFill>
              <a:schemeClr val="tx1"/>
            </a:solidFill>
            <a:round/>
          </a:ln>
        </p:spPr>
        <p:txBody>
          <a:bodyPr wrap="none" anchor="ctr"/>
          <a:lstStyle/>
          <a:p>
            <a:pPr eaLnBrk="1" hangingPunct="1"/>
            <a:endParaRPr lang="zh-CN" altLang="zh-CN">
              <a:ea typeface="宋体" panose="02010600030101010101" pitchFamily="2" charset="-122"/>
            </a:endParaRPr>
          </a:p>
        </p:txBody>
      </p:sp>
      <p:sp>
        <p:nvSpPr>
          <p:cNvPr id="10" name="Line 47"/>
          <p:cNvSpPr>
            <a:spLocks noChangeShapeType="1"/>
          </p:cNvSpPr>
          <p:nvPr/>
        </p:nvSpPr>
        <p:spPr bwMode="auto">
          <a:xfrm>
            <a:off x="8037766" y="2673093"/>
            <a:ext cx="609600" cy="4572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Line 48"/>
          <p:cNvSpPr>
            <a:spLocks noChangeShapeType="1"/>
          </p:cNvSpPr>
          <p:nvPr/>
        </p:nvSpPr>
        <p:spPr bwMode="auto">
          <a:xfrm flipH="1">
            <a:off x="8037766" y="3358893"/>
            <a:ext cx="609600" cy="4572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Line 49"/>
          <p:cNvSpPr>
            <a:spLocks noChangeShapeType="1"/>
          </p:cNvSpPr>
          <p:nvPr/>
        </p:nvSpPr>
        <p:spPr bwMode="auto">
          <a:xfrm>
            <a:off x="7809166" y="2749293"/>
            <a:ext cx="0" cy="990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Freeform 50"/>
          <p:cNvSpPr/>
          <p:nvPr/>
        </p:nvSpPr>
        <p:spPr bwMode="auto">
          <a:xfrm>
            <a:off x="7961566" y="1834893"/>
            <a:ext cx="152400" cy="457200"/>
          </a:xfrm>
          <a:custGeom>
            <a:avLst/>
            <a:gdLst>
              <a:gd name="T0" fmla="*/ 2147483646 w 96"/>
              <a:gd name="T1" fmla="*/ 0 h 288"/>
              <a:gd name="T2" fmla="*/ 0 w 96"/>
              <a:gd name="T3" fmla="*/ 2147483646 h 288"/>
              <a:gd name="T4" fmla="*/ 2147483646 w 96"/>
              <a:gd name="T5" fmla="*/ 2147483646 h 288"/>
              <a:gd name="T6" fmla="*/ 0 w 96"/>
              <a:gd name="T7" fmla="*/ 2147483646 h 288"/>
              <a:gd name="T8" fmla="*/ 0 60000 65536"/>
              <a:gd name="T9" fmla="*/ 0 60000 65536"/>
              <a:gd name="T10" fmla="*/ 0 60000 65536"/>
              <a:gd name="T11" fmla="*/ 0 60000 65536"/>
              <a:gd name="T12" fmla="*/ 0 w 96"/>
              <a:gd name="T13" fmla="*/ 0 h 288"/>
              <a:gd name="T14" fmla="*/ 96 w 96"/>
              <a:gd name="T15" fmla="*/ 288 h 288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96" h="288">
                <a:moveTo>
                  <a:pt x="96" y="0"/>
                </a:moveTo>
                <a:cubicBezTo>
                  <a:pt x="48" y="32"/>
                  <a:pt x="0" y="64"/>
                  <a:pt x="0" y="96"/>
                </a:cubicBezTo>
                <a:cubicBezTo>
                  <a:pt x="0" y="128"/>
                  <a:pt x="96" y="160"/>
                  <a:pt x="96" y="192"/>
                </a:cubicBezTo>
                <a:cubicBezTo>
                  <a:pt x="96" y="224"/>
                  <a:pt x="16" y="272"/>
                  <a:pt x="0" y="288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 type="none" w="med" len="med"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Freeform 51"/>
          <p:cNvSpPr/>
          <p:nvPr/>
        </p:nvSpPr>
        <p:spPr bwMode="auto">
          <a:xfrm>
            <a:off x="7656766" y="5797293"/>
            <a:ext cx="152400" cy="457200"/>
          </a:xfrm>
          <a:custGeom>
            <a:avLst/>
            <a:gdLst>
              <a:gd name="T0" fmla="*/ 2147483646 w 96"/>
              <a:gd name="T1" fmla="*/ 0 h 288"/>
              <a:gd name="T2" fmla="*/ 0 w 96"/>
              <a:gd name="T3" fmla="*/ 2147483646 h 288"/>
              <a:gd name="T4" fmla="*/ 2147483646 w 96"/>
              <a:gd name="T5" fmla="*/ 2147483646 h 288"/>
              <a:gd name="T6" fmla="*/ 0 w 96"/>
              <a:gd name="T7" fmla="*/ 2147483646 h 288"/>
              <a:gd name="T8" fmla="*/ 0 60000 65536"/>
              <a:gd name="T9" fmla="*/ 0 60000 65536"/>
              <a:gd name="T10" fmla="*/ 0 60000 65536"/>
              <a:gd name="T11" fmla="*/ 0 60000 65536"/>
              <a:gd name="T12" fmla="*/ 0 w 96"/>
              <a:gd name="T13" fmla="*/ 0 h 288"/>
              <a:gd name="T14" fmla="*/ 96 w 96"/>
              <a:gd name="T15" fmla="*/ 288 h 288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96" h="288">
                <a:moveTo>
                  <a:pt x="96" y="0"/>
                </a:moveTo>
                <a:cubicBezTo>
                  <a:pt x="48" y="32"/>
                  <a:pt x="0" y="64"/>
                  <a:pt x="0" y="96"/>
                </a:cubicBezTo>
                <a:cubicBezTo>
                  <a:pt x="0" y="128"/>
                  <a:pt x="96" y="160"/>
                  <a:pt x="96" y="192"/>
                </a:cubicBezTo>
                <a:cubicBezTo>
                  <a:pt x="96" y="224"/>
                  <a:pt x="16" y="272"/>
                  <a:pt x="0" y="288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 type="none" w="med" len="med"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Oval 52"/>
          <p:cNvSpPr>
            <a:spLocks noChangeArrowheads="1"/>
          </p:cNvSpPr>
          <p:nvPr/>
        </p:nvSpPr>
        <p:spPr bwMode="auto">
          <a:xfrm>
            <a:off x="7580566" y="5263893"/>
            <a:ext cx="533400" cy="533400"/>
          </a:xfrm>
          <a:prstGeom prst="ellipse">
            <a:avLst/>
          </a:prstGeom>
          <a:solidFill>
            <a:srgbClr val="FFFF99"/>
          </a:solidFill>
          <a:ln w="9525">
            <a:solidFill>
              <a:schemeClr val="tx1"/>
            </a:solidFill>
            <a:round/>
          </a:ln>
        </p:spPr>
        <p:txBody>
          <a:bodyPr wrap="none" anchor="ctr"/>
          <a:lstStyle/>
          <a:p>
            <a:pPr eaLnBrk="1" hangingPunct="1"/>
            <a:endParaRPr lang="zh-CN" altLang="zh-CN">
              <a:ea typeface="宋体" panose="02010600030101010101" pitchFamily="2" charset="-122"/>
            </a:endParaRPr>
          </a:p>
        </p:txBody>
      </p:sp>
      <p:sp>
        <p:nvSpPr>
          <p:cNvPr id="16" name="Oval 53"/>
          <p:cNvSpPr>
            <a:spLocks noChangeArrowheads="1"/>
          </p:cNvSpPr>
          <p:nvPr/>
        </p:nvSpPr>
        <p:spPr bwMode="auto">
          <a:xfrm>
            <a:off x="8571166" y="4501893"/>
            <a:ext cx="533400" cy="533400"/>
          </a:xfrm>
          <a:prstGeom prst="ellipse">
            <a:avLst/>
          </a:prstGeom>
          <a:solidFill>
            <a:srgbClr val="FFFF99"/>
          </a:solidFill>
          <a:ln w="9525">
            <a:solidFill>
              <a:schemeClr val="tx1"/>
            </a:solidFill>
            <a:round/>
          </a:ln>
        </p:spPr>
        <p:txBody>
          <a:bodyPr wrap="none" anchor="ctr"/>
          <a:lstStyle/>
          <a:p>
            <a:pPr eaLnBrk="1" hangingPunct="1"/>
            <a:endParaRPr lang="zh-CN" altLang="zh-CN">
              <a:ea typeface="宋体" panose="02010600030101010101" pitchFamily="2" charset="-122"/>
            </a:endParaRPr>
          </a:p>
        </p:txBody>
      </p:sp>
      <p:sp>
        <p:nvSpPr>
          <p:cNvPr id="17" name="Line 54"/>
          <p:cNvSpPr>
            <a:spLocks noChangeShapeType="1"/>
          </p:cNvSpPr>
          <p:nvPr/>
        </p:nvSpPr>
        <p:spPr bwMode="auto">
          <a:xfrm>
            <a:off x="8037766" y="4197093"/>
            <a:ext cx="609600" cy="4572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Line 55"/>
          <p:cNvSpPr>
            <a:spLocks noChangeShapeType="1"/>
          </p:cNvSpPr>
          <p:nvPr/>
        </p:nvSpPr>
        <p:spPr bwMode="auto">
          <a:xfrm flipH="1">
            <a:off x="8037766" y="4882893"/>
            <a:ext cx="609600" cy="4572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Line 56"/>
          <p:cNvSpPr>
            <a:spLocks noChangeShapeType="1"/>
          </p:cNvSpPr>
          <p:nvPr/>
        </p:nvSpPr>
        <p:spPr bwMode="auto">
          <a:xfrm>
            <a:off x="7809166" y="4273293"/>
            <a:ext cx="0" cy="990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Text Box 57"/>
          <p:cNvSpPr txBox="1">
            <a:spLocks noChangeArrowheads="1"/>
          </p:cNvSpPr>
          <p:nvPr/>
        </p:nvSpPr>
        <p:spPr bwMode="auto">
          <a:xfrm>
            <a:off x="7580566" y="2292093"/>
            <a:ext cx="4572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algn="ctr" eaLnBrk="1" hangingPunct="1">
              <a:spcBef>
                <a:spcPct val="50000"/>
              </a:spcBef>
            </a:pPr>
            <a:r>
              <a:rPr lang="en-US" altLang="zh-CN" sz="2400" b="1">
                <a:ea typeface="宋体" panose="02010600030101010101" pitchFamily="2" charset="-122"/>
              </a:rPr>
              <a:t>1</a:t>
            </a:r>
            <a:endParaRPr lang="en-US" altLang="zh-CN" sz="2400" b="1">
              <a:ea typeface="宋体" panose="02010600030101010101" pitchFamily="2" charset="-122"/>
            </a:endParaRPr>
          </a:p>
        </p:txBody>
      </p:sp>
      <p:sp>
        <p:nvSpPr>
          <p:cNvPr id="21" name="Text Box 58"/>
          <p:cNvSpPr txBox="1">
            <a:spLocks noChangeArrowheads="1"/>
          </p:cNvSpPr>
          <p:nvPr/>
        </p:nvSpPr>
        <p:spPr bwMode="auto">
          <a:xfrm>
            <a:off x="8647366" y="3054093"/>
            <a:ext cx="4572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algn="ctr" eaLnBrk="1" hangingPunct="1">
              <a:spcBef>
                <a:spcPct val="50000"/>
              </a:spcBef>
            </a:pPr>
            <a:r>
              <a:rPr lang="en-US" altLang="zh-CN" sz="2400" b="1">
                <a:ea typeface="宋体" panose="02010600030101010101" pitchFamily="2" charset="-122"/>
              </a:rPr>
              <a:t>2</a:t>
            </a:r>
            <a:endParaRPr lang="en-US" altLang="zh-CN" sz="2400" b="1">
              <a:ea typeface="宋体" panose="02010600030101010101" pitchFamily="2" charset="-122"/>
            </a:endParaRPr>
          </a:p>
        </p:txBody>
      </p:sp>
      <p:sp>
        <p:nvSpPr>
          <p:cNvPr id="22" name="Text Box 59"/>
          <p:cNvSpPr txBox="1">
            <a:spLocks noChangeArrowheads="1"/>
          </p:cNvSpPr>
          <p:nvPr/>
        </p:nvSpPr>
        <p:spPr bwMode="auto">
          <a:xfrm>
            <a:off x="7580566" y="3739893"/>
            <a:ext cx="4572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algn="ctr" eaLnBrk="1" hangingPunct="1">
              <a:spcBef>
                <a:spcPct val="50000"/>
              </a:spcBef>
            </a:pPr>
            <a:r>
              <a:rPr lang="en-US" altLang="zh-CN" sz="2400" b="1">
                <a:ea typeface="宋体" panose="02010600030101010101" pitchFamily="2" charset="-122"/>
              </a:rPr>
              <a:t>3</a:t>
            </a:r>
            <a:endParaRPr lang="en-US" altLang="zh-CN" sz="2400" b="1">
              <a:ea typeface="宋体" panose="02010600030101010101" pitchFamily="2" charset="-122"/>
            </a:endParaRPr>
          </a:p>
        </p:txBody>
      </p:sp>
      <p:sp>
        <p:nvSpPr>
          <p:cNvPr id="23" name="Text Box 60"/>
          <p:cNvSpPr txBox="1">
            <a:spLocks noChangeArrowheads="1"/>
          </p:cNvSpPr>
          <p:nvPr/>
        </p:nvSpPr>
        <p:spPr bwMode="auto">
          <a:xfrm>
            <a:off x="8647366" y="4501893"/>
            <a:ext cx="4572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algn="ctr" eaLnBrk="1" hangingPunct="1">
              <a:spcBef>
                <a:spcPct val="50000"/>
              </a:spcBef>
            </a:pPr>
            <a:r>
              <a:rPr lang="en-US" altLang="zh-CN" sz="2400" b="1">
                <a:ea typeface="宋体" panose="02010600030101010101" pitchFamily="2" charset="-122"/>
              </a:rPr>
              <a:t>4</a:t>
            </a:r>
            <a:endParaRPr lang="en-US" altLang="zh-CN" sz="2400" b="1">
              <a:ea typeface="宋体" panose="02010600030101010101" pitchFamily="2" charset="-122"/>
            </a:endParaRPr>
          </a:p>
        </p:txBody>
      </p:sp>
      <p:sp>
        <p:nvSpPr>
          <p:cNvPr id="24" name="Text Box 61"/>
          <p:cNvSpPr txBox="1">
            <a:spLocks noChangeArrowheads="1"/>
          </p:cNvSpPr>
          <p:nvPr/>
        </p:nvSpPr>
        <p:spPr bwMode="auto">
          <a:xfrm>
            <a:off x="7580566" y="5263893"/>
            <a:ext cx="4572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algn="ctr" eaLnBrk="1" hangingPunct="1">
              <a:spcBef>
                <a:spcPct val="50000"/>
              </a:spcBef>
            </a:pPr>
            <a:r>
              <a:rPr lang="en-US" altLang="zh-CN" sz="2400" b="1">
                <a:ea typeface="宋体" panose="02010600030101010101" pitchFamily="2" charset="-122"/>
              </a:rPr>
              <a:t>5</a:t>
            </a:r>
            <a:endParaRPr lang="en-US" altLang="zh-CN" sz="2400" b="1">
              <a:ea typeface="宋体" panose="02010600030101010101" pitchFamily="2" charset="-122"/>
            </a:endParaRPr>
          </a:p>
        </p:txBody>
      </p:sp>
      <p:sp>
        <p:nvSpPr>
          <p:cNvPr id="25" name="Text Box 62"/>
          <p:cNvSpPr txBox="1">
            <a:spLocks noChangeArrowheads="1"/>
          </p:cNvSpPr>
          <p:nvPr/>
        </p:nvSpPr>
        <p:spPr bwMode="auto">
          <a:xfrm>
            <a:off x="8190166" y="2063493"/>
            <a:ext cx="1752600" cy="3968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sz="2000">
                <a:latin typeface="Century Gothic" panose="020B0502020202020204" pitchFamily="34" charset="0"/>
                <a:ea typeface="宋体" panose="02010600030101010101" pitchFamily="2" charset="-122"/>
              </a:rPr>
              <a:t>input(A,B)</a:t>
            </a:r>
            <a:endParaRPr lang="en-US" altLang="zh-CN" sz="2000">
              <a:latin typeface="Century Gothic" panose="020B0502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6" name="Text Box 64"/>
          <p:cNvSpPr txBox="1">
            <a:spLocks noChangeArrowheads="1"/>
          </p:cNvSpPr>
          <p:nvPr/>
        </p:nvSpPr>
        <p:spPr bwMode="auto">
          <a:xfrm>
            <a:off x="9104566" y="4501893"/>
            <a:ext cx="1447800" cy="3968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sz="2000">
                <a:latin typeface="Century Gothic" panose="020B0502020202020204" pitchFamily="34" charset="0"/>
                <a:ea typeface="宋体" panose="02010600030101010101" pitchFamily="2" charset="-122"/>
              </a:rPr>
              <a:t>B := A+B</a:t>
            </a:r>
            <a:endParaRPr lang="en-US" altLang="zh-CN" sz="2000">
              <a:latin typeface="Century Gothic" panose="020B0502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7" name="Text Box 65"/>
          <p:cNvSpPr txBox="1">
            <a:spLocks noChangeArrowheads="1"/>
          </p:cNvSpPr>
          <p:nvPr/>
        </p:nvSpPr>
        <p:spPr bwMode="auto">
          <a:xfrm>
            <a:off x="8266366" y="2520693"/>
            <a:ext cx="838200" cy="3968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sz="2000">
                <a:latin typeface="Century Gothic" panose="020B0502020202020204" pitchFamily="34" charset="0"/>
                <a:ea typeface="宋体" panose="02010600030101010101" pitchFamily="2" charset="-122"/>
              </a:rPr>
              <a:t>B&gt;1</a:t>
            </a:r>
            <a:endParaRPr lang="en-US" altLang="zh-CN" sz="2000">
              <a:latin typeface="Century Gothic" panose="020B0502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8" name="Text Box 66"/>
          <p:cNvSpPr txBox="1">
            <a:spLocks noChangeArrowheads="1"/>
          </p:cNvSpPr>
          <p:nvPr/>
        </p:nvSpPr>
        <p:spPr bwMode="auto">
          <a:xfrm>
            <a:off x="7199566" y="3054093"/>
            <a:ext cx="685800" cy="3968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sz="2000" dirty="0">
                <a:latin typeface="Century Gothic" panose="020B0502020202020204" pitchFamily="34" charset="0"/>
                <a:ea typeface="宋体" panose="02010600030101010101" pitchFamily="2" charset="-122"/>
              </a:rPr>
              <a:t>B</a:t>
            </a:r>
            <a:r>
              <a:rPr lang="en-US" altLang="zh-CN" sz="2000" dirty="0">
                <a:latin typeface="Century Gothic" panose="020B0502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</a:t>
            </a:r>
            <a:r>
              <a:rPr lang="en-US" altLang="zh-CN" sz="2000" dirty="0">
                <a:latin typeface="Century Gothic" panose="020B0502020202020204" pitchFamily="34" charset="0"/>
                <a:ea typeface="宋体" panose="02010600030101010101" pitchFamily="2" charset="-122"/>
              </a:rPr>
              <a:t>1</a:t>
            </a:r>
            <a:endParaRPr lang="en-US" altLang="zh-CN" sz="2000" dirty="0">
              <a:latin typeface="Century Gothic" panose="020B0502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9" name="Text Box 67"/>
          <p:cNvSpPr txBox="1">
            <a:spLocks noChangeArrowheads="1"/>
          </p:cNvSpPr>
          <p:nvPr/>
        </p:nvSpPr>
        <p:spPr bwMode="auto">
          <a:xfrm>
            <a:off x="8266366" y="4044693"/>
            <a:ext cx="838200" cy="3968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sz="2000">
                <a:latin typeface="Century Gothic" panose="020B0502020202020204" pitchFamily="34" charset="0"/>
                <a:ea typeface="宋体" panose="02010600030101010101" pitchFamily="2" charset="-122"/>
              </a:rPr>
              <a:t>A&gt;10</a:t>
            </a:r>
            <a:endParaRPr lang="en-US" altLang="zh-CN" sz="2000">
              <a:latin typeface="Century Gothic" panose="020B0502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0" name="Text Box 68"/>
          <p:cNvSpPr txBox="1">
            <a:spLocks noChangeArrowheads="1"/>
          </p:cNvSpPr>
          <p:nvPr/>
        </p:nvSpPr>
        <p:spPr bwMode="auto">
          <a:xfrm>
            <a:off x="6970966" y="4501893"/>
            <a:ext cx="838200" cy="3968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sz="2000">
                <a:latin typeface="Century Gothic" panose="020B0502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A</a:t>
            </a:r>
            <a:r>
              <a:rPr lang="en-US" altLang="zh-CN" sz="2000">
                <a:latin typeface="Century Gothic" panose="020B0502020202020204" pitchFamily="34" charset="0"/>
                <a:ea typeface="宋体" panose="02010600030101010101" pitchFamily="2" charset="-122"/>
              </a:rPr>
              <a:t>10</a:t>
            </a:r>
            <a:endParaRPr lang="en-US" altLang="zh-CN" sz="2000">
              <a:latin typeface="Century Gothic" panose="020B0502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1" name="Text Box 69"/>
          <p:cNvSpPr txBox="1">
            <a:spLocks noChangeArrowheads="1"/>
          </p:cNvSpPr>
          <p:nvPr/>
        </p:nvSpPr>
        <p:spPr bwMode="auto">
          <a:xfrm>
            <a:off x="8113966" y="5416293"/>
            <a:ext cx="1752600" cy="3968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sz="2000">
                <a:latin typeface="Century Gothic" panose="020B0502020202020204" pitchFamily="34" charset="0"/>
                <a:ea typeface="宋体" panose="02010600030101010101" pitchFamily="2" charset="-122"/>
              </a:rPr>
              <a:t>output(A,B)</a:t>
            </a:r>
            <a:endParaRPr lang="en-US" altLang="zh-CN" sz="2000">
              <a:latin typeface="Century Gothic" panose="020B0502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192595"/>
            <a:ext cx="10515600" cy="1325563"/>
          </a:xfrm>
        </p:spPr>
        <p:txBody>
          <a:bodyPr/>
          <a:lstStyle/>
          <a:p>
            <a:r>
              <a:rPr lang="en-US" altLang="zh-CN" dirty="0" smtClean="0">
                <a:ea typeface="宋体" panose="02010600030101010101" pitchFamily="2" charset="-122"/>
              </a:rPr>
              <a:t>Def-Clear Paths Subsumed by </a:t>
            </a:r>
            <a:r>
              <a:rPr lang="en-US" altLang="zh-CN" dirty="0" smtClean="0">
                <a:solidFill>
                  <a:srgbClr val="00FF00"/>
                </a:solidFill>
                <a:ea typeface="宋体" panose="02010600030101010101" pitchFamily="2" charset="-122"/>
              </a:rPr>
              <a:t>&lt;1,3,4,5&gt;</a:t>
            </a:r>
            <a:r>
              <a:rPr lang="en-US" altLang="zh-CN" dirty="0" smtClean="0">
                <a:ea typeface="宋体" panose="02010600030101010101" pitchFamily="2" charset="-122"/>
              </a:rPr>
              <a:t> for Variable A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86A48D-B8D4-430A-AE1C-E921A6F75A10}" type="slidenum">
              <a:rPr lang="zh-CN" altLang="en-US" smtClean="0"/>
            </a:fld>
            <a:endParaRPr lang="zh-CN" altLang="en-US"/>
          </a:p>
        </p:txBody>
      </p:sp>
      <p:graphicFrame>
        <p:nvGraphicFramePr>
          <p:cNvPr id="7" name="Group 78"/>
          <p:cNvGraphicFramePr/>
          <p:nvPr/>
        </p:nvGraphicFramePr>
        <p:xfrm>
          <a:off x="685800" y="1447800"/>
          <a:ext cx="3352800" cy="4695825"/>
        </p:xfrm>
        <a:graphic>
          <a:graphicData uri="http://schemas.openxmlformats.org/drawingml/2006/table">
            <a:tbl>
              <a:tblPr/>
              <a:tblGrid>
                <a:gridCol w="1524000"/>
                <a:gridCol w="1828800"/>
              </a:tblGrid>
              <a:tr h="365749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buSzPct val="75000"/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FDAD23"/>
                        </a:buClr>
                        <a:buFont typeface="Times New Roman" panose="02020603050405020304" pitchFamily="18" charset="0"/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buSzTx/>
                        <a:buFontTx/>
                        <a:buNone/>
                      </a:pPr>
                      <a:r>
                        <a:rPr kumimoji="0" lang="en-US" altLang="zh-CN" sz="2000" b="1" i="0" u="sng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anose="020B0604030504040204" pitchFamily="34" charset="0"/>
                          <a:ea typeface="宋体" panose="02010600030101010101" pitchFamily="2" charset="-122"/>
                        </a:rPr>
                        <a:t>du-pair</a:t>
                      </a:r>
                      <a:endParaRPr kumimoji="0" lang="en-US" altLang="zh-CN" sz="2000" b="1" i="0" u="sng" strike="noStrike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Verdan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5716" marB="4571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buSzPct val="75000"/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FDAD23"/>
                        </a:buClr>
                        <a:buFont typeface="Times New Roman" panose="02020603050405020304" pitchFamily="18" charset="0"/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buSzTx/>
                        <a:buFontTx/>
                        <a:buNone/>
                      </a:pPr>
                      <a:r>
                        <a:rPr kumimoji="0" lang="en-US" altLang="zh-CN" sz="2000" b="1" i="0" u="sng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anose="020B0604030504040204" pitchFamily="34" charset="0"/>
                          <a:ea typeface="宋体" panose="02010600030101010101" pitchFamily="2" charset="-122"/>
                        </a:rPr>
                        <a:t>path(s)</a:t>
                      </a:r>
                      <a:endParaRPr kumimoji="0" lang="en-US" altLang="zh-CN" sz="2000" b="1" i="0" u="sng" strike="noStrike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Verdan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5716" marB="4571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</a:tr>
              <a:tr h="39364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buSzPct val="75000"/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FDAD23"/>
                        </a:buClr>
                        <a:buFont typeface="Times New Roman" panose="02020603050405020304" pitchFamily="18" charset="0"/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buSzTx/>
                        <a:buFontTx/>
                        <a:buNone/>
                      </a:pPr>
                      <a:r>
                        <a:rPr kumimoji="0" lang="en-US" altLang="zh-CN" sz="2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entury Gothic" panose="020B0502020202020204" pitchFamily="34" charset="0"/>
                          <a:ea typeface="宋体" panose="02010600030101010101" pitchFamily="2" charset="-122"/>
                        </a:rPr>
                        <a:t>(1,2)        </a:t>
                      </a:r>
                      <a:endParaRPr kumimoji="0" lang="en-US" altLang="zh-CN" sz="2200" b="1" i="0" u="none" strike="noStrike" cap="none" normalizeH="0" baseline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Century Gothic" panose="020B0502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16" marB="4571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buSzPct val="75000"/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FDAD23"/>
                        </a:buClr>
                        <a:buFont typeface="Times New Roman" panose="02020603050405020304" pitchFamily="18" charset="0"/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buSzTx/>
                        <a:buFontTx/>
                        <a:buNone/>
                      </a:pPr>
                      <a:r>
                        <a:rPr kumimoji="0" lang="en-US" altLang="zh-CN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entury Gothic" panose="020B0502020202020204" pitchFamily="34" charset="0"/>
                          <a:ea typeface="宋体" panose="02010600030101010101" pitchFamily="2" charset="-122"/>
                        </a:rPr>
                        <a:t>&lt;1,2&gt; </a:t>
                      </a:r>
                      <a:r>
                        <a:rPr kumimoji="0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99"/>
                          </a:solidFill>
                          <a:effectLst/>
                          <a:latin typeface="Century Gothic" panose="020B0502020202020204" pitchFamily="34" charset="0"/>
                          <a:ea typeface="宋体" panose="02010600030101010101" pitchFamily="2" charset="-122"/>
                          <a:sym typeface="Webdings" panose="05030102010509060703" pitchFamily="18" charset="2"/>
                        </a:rPr>
                        <a:t></a:t>
                      </a:r>
                      <a:endParaRPr kumimoji="0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rgbClr val="FFFF99"/>
                        </a:solidFill>
                        <a:effectLst/>
                        <a:latin typeface="Century Gothic" panose="020B0502020202020204" pitchFamily="34" charset="0"/>
                        <a:ea typeface="宋体" panose="02010600030101010101" pitchFamily="2" charset="-122"/>
                        <a:sym typeface="Webdings" panose="05030102010509060703" pitchFamily="18" charset="2"/>
                      </a:endParaRPr>
                    </a:p>
                  </a:txBody>
                  <a:tcPr marT="45716" marB="4571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</a:tr>
              <a:tr h="39364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buSzPct val="75000"/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FDAD23"/>
                        </a:buClr>
                        <a:buFont typeface="Times New Roman" panose="02020603050405020304" pitchFamily="18" charset="0"/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buSzTx/>
                        <a:buFontTx/>
                        <a:buNone/>
                      </a:pPr>
                      <a:r>
                        <a:rPr kumimoji="0" lang="en-US" altLang="zh-CN" sz="2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entury Gothic" panose="020B0502020202020204" pitchFamily="34" charset="0"/>
                          <a:ea typeface="宋体" panose="02010600030101010101" pitchFamily="2" charset="-122"/>
                        </a:rPr>
                        <a:t>(1,4)         </a:t>
                      </a:r>
                      <a:endParaRPr kumimoji="0" lang="en-US" altLang="zh-CN" sz="2200" b="1" i="0" u="none" strike="noStrike" cap="none" normalizeH="0" baseline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Century Gothic" panose="020B0502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16" marB="4571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buSzPct val="75000"/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FDAD23"/>
                        </a:buClr>
                        <a:buFont typeface="Times New Roman" panose="02020603050405020304" pitchFamily="18" charset="0"/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buSzTx/>
                        <a:buFontTx/>
                        <a:buNone/>
                      </a:pPr>
                      <a:r>
                        <a:rPr kumimoji="0" lang="en-US" altLang="zh-CN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entury Gothic" panose="020B0502020202020204" pitchFamily="34" charset="0"/>
                          <a:ea typeface="宋体" panose="02010600030101010101" pitchFamily="2" charset="-122"/>
                        </a:rPr>
                        <a:t>&lt;1,3,4&gt; </a:t>
                      </a:r>
                      <a:r>
                        <a:rPr kumimoji="0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FF00"/>
                          </a:solidFill>
                          <a:effectLst/>
                          <a:latin typeface="Century Gothic" panose="020B0502020202020204" pitchFamily="34" charset="0"/>
                          <a:ea typeface="宋体" panose="02010600030101010101" pitchFamily="2" charset="-122"/>
                          <a:sym typeface="Webdings" panose="05030102010509060703" pitchFamily="18" charset="2"/>
                        </a:rPr>
                        <a:t></a:t>
                      </a:r>
                      <a:endParaRPr kumimoji="0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rgbClr val="00FF00"/>
                        </a:solidFill>
                        <a:effectLst/>
                        <a:latin typeface="Century Gothic" panose="020B0502020202020204" pitchFamily="34" charset="0"/>
                        <a:ea typeface="宋体" panose="02010600030101010101" pitchFamily="2" charset="-122"/>
                        <a:sym typeface="Webdings" panose="05030102010509060703" pitchFamily="18" charset="2"/>
                      </a:endParaRPr>
                    </a:p>
                  </a:txBody>
                  <a:tcPr marT="45716" marB="4571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</a:tr>
              <a:tr h="39364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buSzPct val="75000"/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FDAD23"/>
                        </a:buClr>
                        <a:buFont typeface="Times New Roman" panose="02020603050405020304" pitchFamily="18" charset="0"/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buSzTx/>
                        <a:buFontTx/>
                        <a:buNone/>
                      </a:pPr>
                      <a:r>
                        <a:rPr kumimoji="0" lang="en-US" altLang="zh-CN" sz="2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entury Gothic" panose="020B0502020202020204" pitchFamily="34" charset="0"/>
                          <a:ea typeface="宋体" panose="02010600030101010101" pitchFamily="2" charset="-122"/>
                        </a:rPr>
                        <a:t>(1,5)         </a:t>
                      </a:r>
                      <a:endParaRPr kumimoji="0" lang="en-US" altLang="zh-CN" sz="2200" b="1" i="0" u="none" strike="noStrike" cap="none" normalizeH="0" baseline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Century Gothic" panose="020B0502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16" marB="4571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buSzPct val="75000"/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FDAD23"/>
                        </a:buClr>
                        <a:buFont typeface="Times New Roman" panose="02020603050405020304" pitchFamily="18" charset="0"/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buSzTx/>
                        <a:buFontTx/>
                        <a:buNone/>
                      </a:pPr>
                      <a:r>
                        <a:rPr kumimoji="0" lang="en-US" altLang="zh-CN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entury Gothic" panose="020B0502020202020204" pitchFamily="34" charset="0"/>
                          <a:ea typeface="宋体" panose="02010600030101010101" pitchFamily="2" charset="-122"/>
                        </a:rPr>
                        <a:t>&lt;1,3,4,5&gt; </a:t>
                      </a:r>
                      <a:r>
                        <a:rPr kumimoji="0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FF00"/>
                          </a:solidFill>
                          <a:effectLst/>
                          <a:latin typeface="Century Gothic" panose="020B0502020202020204" pitchFamily="34" charset="0"/>
                          <a:ea typeface="宋体" panose="02010600030101010101" pitchFamily="2" charset="-122"/>
                          <a:sym typeface="Webdings" panose="05030102010509060703" pitchFamily="18" charset="2"/>
                        </a:rPr>
                        <a:t></a:t>
                      </a:r>
                      <a:endParaRPr kumimoji="0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rgbClr val="00FF00"/>
                        </a:solidFill>
                        <a:effectLst/>
                        <a:latin typeface="Century Gothic" panose="020B0502020202020204" pitchFamily="34" charset="0"/>
                        <a:ea typeface="宋体" panose="02010600030101010101" pitchFamily="2" charset="-122"/>
                        <a:sym typeface="Webdings" panose="05030102010509060703" pitchFamily="18" charset="2"/>
                      </a:endParaRPr>
                    </a:p>
                  </a:txBody>
                  <a:tcPr marT="45716" marB="4571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</a:tr>
              <a:tr h="39364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buSzPct val="75000"/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FDAD23"/>
                        </a:buClr>
                        <a:buFont typeface="Times New Roman" panose="02020603050405020304" pitchFamily="18" charset="0"/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buSzTx/>
                        <a:buFontTx/>
                        <a:buNone/>
                      </a:pPr>
                      <a:r>
                        <a:rPr kumimoji="0" lang="en-US" altLang="zh-CN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entury Gothic" panose="020B0502020202020204" pitchFamily="34" charset="0"/>
                          <a:ea typeface="宋体" panose="02010600030101010101" pitchFamily="2" charset="-122"/>
                        </a:rPr>
                        <a:t>                 </a:t>
                      </a:r>
                      <a:endParaRPr kumimoji="0" lang="en-US" altLang="zh-CN" sz="2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Century Gothic" panose="020B0502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16" marB="4571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buSzPct val="75000"/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FDAD23"/>
                        </a:buClr>
                        <a:buFont typeface="Times New Roman" panose="02020603050405020304" pitchFamily="18" charset="0"/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buSzTx/>
                        <a:buFontTx/>
                        <a:buNone/>
                      </a:pPr>
                      <a:r>
                        <a:rPr kumimoji="0" lang="en-US" altLang="zh-CN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entury Gothic" panose="020B0502020202020204" pitchFamily="34" charset="0"/>
                          <a:ea typeface="宋体" panose="02010600030101010101" pitchFamily="2" charset="-122"/>
                        </a:rPr>
                        <a:t>&lt;1,3,5&gt;</a:t>
                      </a:r>
                      <a:endParaRPr kumimoji="0" lang="en-US" altLang="zh-CN" sz="2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Century Gothic" panose="020B0502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16" marB="4571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</a:tr>
              <a:tr h="39364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buSzPct val="75000"/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FDAD23"/>
                        </a:buClr>
                        <a:buFont typeface="Times New Roman" panose="02020603050405020304" pitchFamily="18" charset="0"/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buSzTx/>
                        <a:buFontTx/>
                        <a:buNone/>
                      </a:pPr>
                      <a:r>
                        <a:rPr kumimoji="0" lang="en-US" altLang="zh-CN" sz="2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entury Gothic" panose="020B0502020202020204" pitchFamily="34" charset="0"/>
                          <a:ea typeface="宋体" panose="02010600030101010101" pitchFamily="2" charset="-122"/>
                        </a:rPr>
                        <a:t>(1,&lt;3,4&gt;)</a:t>
                      </a:r>
                      <a:endParaRPr kumimoji="0" lang="en-US" altLang="zh-CN" sz="2200" b="1" i="0" u="none" strike="noStrike" cap="none" normalizeH="0" baseline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Century Gothic" panose="020B0502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16" marB="4571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buSzPct val="75000"/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FDAD23"/>
                        </a:buClr>
                        <a:buFont typeface="Times New Roman" panose="02020603050405020304" pitchFamily="18" charset="0"/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buSzTx/>
                        <a:buFontTx/>
                        <a:buNone/>
                      </a:pPr>
                      <a:r>
                        <a:rPr kumimoji="0" lang="en-US" altLang="zh-CN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entury Gothic" panose="020B0502020202020204" pitchFamily="34" charset="0"/>
                          <a:ea typeface="宋体" panose="02010600030101010101" pitchFamily="2" charset="-122"/>
                        </a:rPr>
                        <a:t>&lt;1,3,4&gt; </a:t>
                      </a:r>
                      <a:r>
                        <a:rPr kumimoji="0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FF00"/>
                          </a:solidFill>
                          <a:effectLst/>
                          <a:latin typeface="Century Gothic" panose="020B0502020202020204" pitchFamily="34" charset="0"/>
                          <a:ea typeface="宋体" panose="02010600030101010101" pitchFamily="2" charset="-122"/>
                          <a:sym typeface="Webdings" panose="05030102010509060703" pitchFamily="18" charset="2"/>
                        </a:rPr>
                        <a:t></a:t>
                      </a:r>
                      <a:endParaRPr kumimoji="0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rgbClr val="00FF00"/>
                        </a:solidFill>
                        <a:effectLst/>
                        <a:latin typeface="Century Gothic" panose="020B0502020202020204" pitchFamily="34" charset="0"/>
                        <a:ea typeface="宋体" panose="02010600030101010101" pitchFamily="2" charset="-122"/>
                        <a:sym typeface="Webdings" panose="05030102010509060703" pitchFamily="18" charset="2"/>
                      </a:endParaRPr>
                    </a:p>
                  </a:txBody>
                  <a:tcPr marT="45716" marB="4571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</a:tr>
              <a:tr h="39364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buSzPct val="75000"/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FDAD23"/>
                        </a:buClr>
                        <a:buFont typeface="Times New Roman" panose="02020603050405020304" pitchFamily="18" charset="0"/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buSzTx/>
                        <a:buFontTx/>
                        <a:buNone/>
                      </a:pPr>
                      <a:r>
                        <a:rPr kumimoji="0" lang="en-US" altLang="zh-CN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entury Gothic" panose="020B0502020202020204" pitchFamily="34" charset="0"/>
                          <a:ea typeface="宋体" panose="02010600030101010101" pitchFamily="2" charset="-122"/>
                        </a:rPr>
                        <a:t>(1,&lt;3,5&gt;)</a:t>
                      </a:r>
                      <a:endParaRPr kumimoji="0" lang="en-US" altLang="zh-CN" sz="2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Century Gothic" panose="020B0502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16" marB="4571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buSzPct val="75000"/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FDAD23"/>
                        </a:buClr>
                        <a:buFont typeface="Times New Roman" panose="02020603050405020304" pitchFamily="18" charset="0"/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buSzTx/>
                        <a:buFontTx/>
                        <a:buNone/>
                      </a:pPr>
                      <a:r>
                        <a:rPr kumimoji="0" lang="en-US" altLang="zh-CN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entury Gothic" panose="020B0502020202020204" pitchFamily="34" charset="0"/>
                          <a:ea typeface="宋体" panose="02010600030101010101" pitchFamily="2" charset="-122"/>
                        </a:rPr>
                        <a:t>&lt;1,3,5&gt;</a:t>
                      </a:r>
                      <a:endParaRPr kumimoji="0" lang="en-US" altLang="zh-CN" sz="2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Century Gothic" panose="020B0502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16" marB="4571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</a:tr>
              <a:tr h="39364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buSzPct val="75000"/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FDAD23"/>
                        </a:buClr>
                        <a:buFont typeface="Times New Roman" panose="02020603050405020304" pitchFamily="18" charset="0"/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buSzTx/>
                        <a:buFontTx/>
                        <a:buNone/>
                      </a:pPr>
                      <a:r>
                        <a:rPr kumimoji="0" lang="en-US" altLang="zh-CN" sz="2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entury Gothic" panose="020B0502020202020204" pitchFamily="34" charset="0"/>
                          <a:ea typeface="宋体" panose="02010600030101010101" pitchFamily="2" charset="-122"/>
                        </a:rPr>
                        <a:t>(2,4)        </a:t>
                      </a:r>
                      <a:endParaRPr kumimoji="0" lang="en-US" altLang="zh-CN" sz="2200" b="1" i="0" u="none" strike="noStrike" cap="none" normalizeH="0" baseline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Century Gothic" panose="020B0502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16" marB="4571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buSzPct val="75000"/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FDAD23"/>
                        </a:buClr>
                        <a:buFont typeface="Times New Roman" panose="02020603050405020304" pitchFamily="18" charset="0"/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buSzTx/>
                        <a:buFontTx/>
                        <a:buNone/>
                      </a:pPr>
                      <a:r>
                        <a:rPr kumimoji="0" lang="en-US" altLang="zh-CN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entury Gothic" panose="020B0502020202020204" pitchFamily="34" charset="0"/>
                          <a:ea typeface="宋体" panose="02010600030101010101" pitchFamily="2" charset="-122"/>
                        </a:rPr>
                        <a:t>&lt;2,3,4&gt; </a:t>
                      </a:r>
                      <a:r>
                        <a:rPr kumimoji="0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99"/>
                          </a:solidFill>
                          <a:effectLst/>
                          <a:latin typeface="Century Gothic" panose="020B0502020202020204" pitchFamily="34" charset="0"/>
                          <a:ea typeface="宋体" panose="02010600030101010101" pitchFamily="2" charset="-122"/>
                          <a:sym typeface="Webdings" panose="05030102010509060703" pitchFamily="18" charset="2"/>
                        </a:rPr>
                        <a:t></a:t>
                      </a:r>
                      <a:endParaRPr kumimoji="0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rgbClr val="FFFF99"/>
                        </a:solidFill>
                        <a:effectLst/>
                        <a:latin typeface="Century Gothic" panose="020B0502020202020204" pitchFamily="34" charset="0"/>
                        <a:ea typeface="宋体" panose="02010600030101010101" pitchFamily="2" charset="-122"/>
                        <a:sym typeface="Webdings" panose="05030102010509060703" pitchFamily="18" charset="2"/>
                      </a:endParaRPr>
                    </a:p>
                  </a:txBody>
                  <a:tcPr marT="45716" marB="4571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</a:tr>
              <a:tr h="39364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buSzPct val="75000"/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FDAD23"/>
                        </a:buClr>
                        <a:buFont typeface="Times New Roman" panose="02020603050405020304" pitchFamily="18" charset="0"/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buSzTx/>
                        <a:buFontTx/>
                        <a:buNone/>
                      </a:pPr>
                      <a:r>
                        <a:rPr kumimoji="0" lang="en-US" altLang="zh-CN" sz="2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entury Gothic" panose="020B0502020202020204" pitchFamily="34" charset="0"/>
                          <a:ea typeface="宋体" panose="02010600030101010101" pitchFamily="2" charset="-122"/>
                        </a:rPr>
                        <a:t>(2,5)         </a:t>
                      </a:r>
                      <a:endParaRPr kumimoji="0" lang="en-US" altLang="zh-CN" sz="2200" b="1" i="0" u="none" strike="noStrike" cap="none" normalizeH="0" baseline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Century Gothic" panose="020B0502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16" marB="4571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buSzPct val="75000"/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FDAD23"/>
                        </a:buClr>
                        <a:buFont typeface="Times New Roman" panose="02020603050405020304" pitchFamily="18" charset="0"/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buSzTx/>
                        <a:buFontTx/>
                        <a:buNone/>
                      </a:pPr>
                      <a:r>
                        <a:rPr kumimoji="0" lang="en-US" altLang="zh-CN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entury Gothic" panose="020B0502020202020204" pitchFamily="34" charset="0"/>
                          <a:ea typeface="宋体" panose="02010600030101010101" pitchFamily="2" charset="-122"/>
                        </a:rPr>
                        <a:t>&lt;2,3,4,5&gt; </a:t>
                      </a:r>
                      <a:r>
                        <a:rPr kumimoji="0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99"/>
                          </a:solidFill>
                          <a:effectLst/>
                          <a:latin typeface="Century Gothic" panose="020B0502020202020204" pitchFamily="34" charset="0"/>
                          <a:ea typeface="宋体" panose="02010600030101010101" pitchFamily="2" charset="-122"/>
                          <a:sym typeface="Webdings" panose="05030102010509060703" pitchFamily="18" charset="2"/>
                        </a:rPr>
                        <a:t></a:t>
                      </a:r>
                      <a:endParaRPr kumimoji="0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rgbClr val="FFFF99"/>
                        </a:solidFill>
                        <a:effectLst/>
                        <a:latin typeface="Century Gothic" panose="020B0502020202020204" pitchFamily="34" charset="0"/>
                        <a:ea typeface="宋体" panose="02010600030101010101" pitchFamily="2" charset="-122"/>
                        <a:sym typeface="Webdings" panose="05030102010509060703" pitchFamily="18" charset="2"/>
                      </a:endParaRPr>
                    </a:p>
                  </a:txBody>
                  <a:tcPr marT="45716" marB="4571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</a:tr>
              <a:tr h="39364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buSzPct val="75000"/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FDAD23"/>
                        </a:buClr>
                        <a:buFont typeface="Times New Roman" panose="02020603050405020304" pitchFamily="18" charset="0"/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buSzTx/>
                        <a:buFontTx/>
                        <a:buNone/>
                      </a:pPr>
                      <a:r>
                        <a:rPr kumimoji="0" lang="en-US" altLang="zh-CN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entury Gothic" panose="020B0502020202020204" pitchFamily="34" charset="0"/>
                          <a:ea typeface="宋体" panose="02010600030101010101" pitchFamily="2" charset="-122"/>
                        </a:rPr>
                        <a:t>                </a:t>
                      </a:r>
                      <a:endParaRPr kumimoji="0" lang="en-US" altLang="zh-CN" sz="2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Century Gothic" panose="020B0502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16" marB="4571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buSzPct val="75000"/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FDAD23"/>
                        </a:buClr>
                        <a:buFont typeface="Times New Roman" panose="02020603050405020304" pitchFamily="18" charset="0"/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buSzTx/>
                        <a:buFontTx/>
                        <a:buNone/>
                      </a:pPr>
                      <a:r>
                        <a:rPr kumimoji="0" lang="en-US" altLang="zh-CN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entury Gothic" panose="020B0502020202020204" pitchFamily="34" charset="0"/>
                          <a:ea typeface="宋体" panose="02010600030101010101" pitchFamily="2" charset="-122"/>
                        </a:rPr>
                        <a:t>&lt;2,3,5&gt;</a:t>
                      </a:r>
                      <a:endParaRPr kumimoji="0" lang="en-US" altLang="zh-CN" sz="2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Century Gothic" panose="020B0502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16" marB="4571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</a:tr>
              <a:tr h="39364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buSzPct val="75000"/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FDAD23"/>
                        </a:buClr>
                        <a:buFont typeface="Times New Roman" panose="02020603050405020304" pitchFamily="18" charset="0"/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buSzTx/>
                        <a:buFontTx/>
                        <a:buNone/>
                      </a:pPr>
                      <a:r>
                        <a:rPr kumimoji="0" lang="en-US" altLang="zh-CN" sz="2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entury Gothic" panose="020B0502020202020204" pitchFamily="34" charset="0"/>
                          <a:ea typeface="宋体" panose="02010600030101010101" pitchFamily="2" charset="-122"/>
                        </a:rPr>
                        <a:t>(2,&lt;3,4&gt;)</a:t>
                      </a:r>
                      <a:endParaRPr kumimoji="0" lang="en-US" altLang="zh-CN" sz="2200" b="1" i="0" u="none" strike="noStrike" cap="none" normalizeH="0" baseline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Century Gothic" panose="020B0502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16" marB="4571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buSzPct val="75000"/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FDAD23"/>
                        </a:buClr>
                        <a:buFont typeface="Times New Roman" panose="02020603050405020304" pitchFamily="18" charset="0"/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buSzTx/>
                        <a:buFontTx/>
                        <a:buNone/>
                      </a:pPr>
                      <a:r>
                        <a:rPr kumimoji="0" lang="en-US" altLang="zh-CN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entury Gothic" panose="020B0502020202020204" pitchFamily="34" charset="0"/>
                          <a:ea typeface="宋体" panose="02010600030101010101" pitchFamily="2" charset="-122"/>
                        </a:rPr>
                        <a:t>&lt;2,3,4&gt; </a:t>
                      </a:r>
                      <a:r>
                        <a:rPr kumimoji="0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99"/>
                          </a:solidFill>
                          <a:effectLst/>
                          <a:latin typeface="Century Gothic" panose="020B0502020202020204" pitchFamily="34" charset="0"/>
                          <a:ea typeface="宋体" panose="02010600030101010101" pitchFamily="2" charset="-122"/>
                          <a:sym typeface="Webdings" panose="05030102010509060703" pitchFamily="18" charset="2"/>
                        </a:rPr>
                        <a:t></a:t>
                      </a:r>
                      <a:endParaRPr kumimoji="0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rgbClr val="FFFF99"/>
                        </a:solidFill>
                        <a:effectLst/>
                        <a:latin typeface="Century Gothic" panose="020B0502020202020204" pitchFamily="34" charset="0"/>
                        <a:ea typeface="宋体" panose="02010600030101010101" pitchFamily="2" charset="-122"/>
                        <a:sym typeface="Webdings" panose="05030102010509060703" pitchFamily="18" charset="2"/>
                      </a:endParaRPr>
                    </a:p>
                  </a:txBody>
                  <a:tcPr marT="45716" marB="4571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</a:tr>
              <a:tr h="39364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buSzPct val="75000"/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FDAD23"/>
                        </a:buClr>
                        <a:buFont typeface="Times New Roman" panose="02020603050405020304" pitchFamily="18" charset="0"/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buSzTx/>
                        <a:buFontTx/>
                        <a:buNone/>
                      </a:pPr>
                      <a:r>
                        <a:rPr kumimoji="0" lang="en-US" altLang="zh-CN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entury Gothic" panose="020B0502020202020204" pitchFamily="34" charset="0"/>
                          <a:ea typeface="宋体" panose="02010600030101010101" pitchFamily="2" charset="-122"/>
                        </a:rPr>
                        <a:t>(2,&lt;3,5&gt;)</a:t>
                      </a:r>
                      <a:endParaRPr kumimoji="0" lang="en-US" altLang="zh-CN" sz="2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Century Gothic" panose="020B0502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16" marB="4571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buSzPct val="75000"/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FDAD23"/>
                        </a:buClr>
                        <a:buFont typeface="Times New Roman" panose="02020603050405020304" pitchFamily="18" charset="0"/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buSzTx/>
                        <a:buFontTx/>
                        <a:buNone/>
                      </a:pPr>
                      <a:r>
                        <a:rPr kumimoji="0" lang="en-US" altLang="zh-CN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entury Gothic" panose="020B0502020202020204" pitchFamily="34" charset="0"/>
                          <a:ea typeface="宋体" panose="02010600030101010101" pitchFamily="2" charset="-122"/>
                        </a:rPr>
                        <a:t>&lt;2,3,5&gt;</a:t>
                      </a:r>
                      <a:endParaRPr kumimoji="0" lang="en-US" altLang="zh-CN" sz="2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Century Gothic" panose="020B0502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16" marB="4571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</a:tr>
            </a:tbl>
          </a:graphicData>
        </a:graphic>
      </p:graphicFrame>
      <p:sp>
        <p:nvSpPr>
          <p:cNvPr id="8" name="Oval 44"/>
          <p:cNvSpPr>
            <a:spLocks noChangeArrowheads="1"/>
          </p:cNvSpPr>
          <p:nvPr/>
        </p:nvSpPr>
        <p:spPr bwMode="auto">
          <a:xfrm>
            <a:off x="4648200" y="1981200"/>
            <a:ext cx="533400" cy="533400"/>
          </a:xfrm>
          <a:prstGeom prst="ellipse">
            <a:avLst/>
          </a:prstGeom>
          <a:solidFill>
            <a:srgbClr val="00FF00"/>
          </a:solidFill>
          <a:ln w="9525">
            <a:solidFill>
              <a:schemeClr val="tx1"/>
            </a:solidFill>
            <a:round/>
          </a:ln>
        </p:spPr>
        <p:txBody>
          <a:bodyPr wrap="none" anchor="ctr"/>
          <a:lstStyle/>
          <a:p>
            <a:pPr eaLnBrk="1" hangingPunct="1"/>
            <a:endParaRPr lang="zh-CN" altLang="zh-CN">
              <a:ea typeface="宋体" panose="02010600030101010101" pitchFamily="2" charset="-122"/>
            </a:endParaRPr>
          </a:p>
        </p:txBody>
      </p:sp>
      <p:sp>
        <p:nvSpPr>
          <p:cNvPr id="9" name="Oval 45"/>
          <p:cNvSpPr>
            <a:spLocks noChangeArrowheads="1"/>
          </p:cNvSpPr>
          <p:nvPr/>
        </p:nvSpPr>
        <p:spPr bwMode="auto">
          <a:xfrm>
            <a:off x="4648200" y="3505200"/>
            <a:ext cx="533400" cy="533400"/>
          </a:xfrm>
          <a:prstGeom prst="ellipse">
            <a:avLst/>
          </a:prstGeom>
          <a:solidFill>
            <a:srgbClr val="00FF00"/>
          </a:solidFill>
          <a:ln w="9525">
            <a:solidFill>
              <a:schemeClr val="tx1"/>
            </a:solidFill>
            <a:round/>
          </a:ln>
        </p:spPr>
        <p:txBody>
          <a:bodyPr wrap="none" anchor="ctr"/>
          <a:lstStyle/>
          <a:p>
            <a:pPr eaLnBrk="1" hangingPunct="1"/>
            <a:endParaRPr lang="zh-CN" altLang="zh-CN">
              <a:ea typeface="宋体" panose="02010600030101010101" pitchFamily="2" charset="-122"/>
            </a:endParaRPr>
          </a:p>
        </p:txBody>
      </p:sp>
      <p:sp>
        <p:nvSpPr>
          <p:cNvPr id="10" name="Oval 46"/>
          <p:cNvSpPr>
            <a:spLocks noChangeArrowheads="1"/>
          </p:cNvSpPr>
          <p:nvPr/>
        </p:nvSpPr>
        <p:spPr bwMode="auto">
          <a:xfrm>
            <a:off x="5638800" y="2743200"/>
            <a:ext cx="533400" cy="5334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</a:ln>
        </p:spPr>
        <p:txBody>
          <a:bodyPr wrap="none" anchor="ctr"/>
          <a:lstStyle/>
          <a:p>
            <a:pPr eaLnBrk="1" hangingPunct="1"/>
            <a:endParaRPr lang="zh-CN" altLang="zh-CN">
              <a:ea typeface="宋体" panose="02010600030101010101" pitchFamily="2" charset="-122"/>
            </a:endParaRPr>
          </a:p>
        </p:txBody>
      </p:sp>
      <p:sp>
        <p:nvSpPr>
          <p:cNvPr id="11" name="Line 47"/>
          <p:cNvSpPr>
            <a:spLocks noChangeShapeType="1"/>
          </p:cNvSpPr>
          <p:nvPr/>
        </p:nvSpPr>
        <p:spPr bwMode="auto">
          <a:xfrm>
            <a:off x="5105400" y="2438400"/>
            <a:ext cx="6096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Line 48"/>
          <p:cNvSpPr>
            <a:spLocks noChangeShapeType="1"/>
          </p:cNvSpPr>
          <p:nvPr/>
        </p:nvSpPr>
        <p:spPr bwMode="auto">
          <a:xfrm flipH="1">
            <a:off x="5105400" y="3124200"/>
            <a:ext cx="6096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Line 49"/>
          <p:cNvSpPr>
            <a:spLocks noChangeShapeType="1"/>
          </p:cNvSpPr>
          <p:nvPr/>
        </p:nvSpPr>
        <p:spPr bwMode="auto">
          <a:xfrm>
            <a:off x="4876800" y="2514600"/>
            <a:ext cx="0" cy="9906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Freeform 50"/>
          <p:cNvSpPr/>
          <p:nvPr/>
        </p:nvSpPr>
        <p:spPr bwMode="auto">
          <a:xfrm>
            <a:off x="5029200" y="1600200"/>
            <a:ext cx="152400" cy="457200"/>
          </a:xfrm>
          <a:custGeom>
            <a:avLst/>
            <a:gdLst>
              <a:gd name="T0" fmla="*/ 2147483646 w 96"/>
              <a:gd name="T1" fmla="*/ 0 h 288"/>
              <a:gd name="T2" fmla="*/ 0 w 96"/>
              <a:gd name="T3" fmla="*/ 2147483646 h 288"/>
              <a:gd name="T4" fmla="*/ 2147483646 w 96"/>
              <a:gd name="T5" fmla="*/ 2147483646 h 288"/>
              <a:gd name="T6" fmla="*/ 0 w 96"/>
              <a:gd name="T7" fmla="*/ 2147483646 h 288"/>
              <a:gd name="T8" fmla="*/ 0 60000 65536"/>
              <a:gd name="T9" fmla="*/ 0 60000 65536"/>
              <a:gd name="T10" fmla="*/ 0 60000 65536"/>
              <a:gd name="T11" fmla="*/ 0 60000 65536"/>
              <a:gd name="T12" fmla="*/ 0 w 96"/>
              <a:gd name="T13" fmla="*/ 0 h 288"/>
              <a:gd name="T14" fmla="*/ 96 w 96"/>
              <a:gd name="T15" fmla="*/ 288 h 288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96" h="288">
                <a:moveTo>
                  <a:pt x="96" y="0"/>
                </a:moveTo>
                <a:cubicBezTo>
                  <a:pt x="48" y="32"/>
                  <a:pt x="0" y="64"/>
                  <a:pt x="0" y="96"/>
                </a:cubicBezTo>
                <a:cubicBezTo>
                  <a:pt x="0" y="128"/>
                  <a:pt x="96" y="160"/>
                  <a:pt x="96" y="192"/>
                </a:cubicBezTo>
                <a:cubicBezTo>
                  <a:pt x="96" y="224"/>
                  <a:pt x="16" y="272"/>
                  <a:pt x="0" y="288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 type="none" w="med" len="med"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Freeform 51"/>
          <p:cNvSpPr/>
          <p:nvPr/>
        </p:nvSpPr>
        <p:spPr bwMode="auto">
          <a:xfrm>
            <a:off x="4724400" y="5562600"/>
            <a:ext cx="152400" cy="457200"/>
          </a:xfrm>
          <a:custGeom>
            <a:avLst/>
            <a:gdLst>
              <a:gd name="T0" fmla="*/ 2147483646 w 96"/>
              <a:gd name="T1" fmla="*/ 0 h 288"/>
              <a:gd name="T2" fmla="*/ 0 w 96"/>
              <a:gd name="T3" fmla="*/ 2147483646 h 288"/>
              <a:gd name="T4" fmla="*/ 2147483646 w 96"/>
              <a:gd name="T5" fmla="*/ 2147483646 h 288"/>
              <a:gd name="T6" fmla="*/ 0 w 96"/>
              <a:gd name="T7" fmla="*/ 2147483646 h 288"/>
              <a:gd name="T8" fmla="*/ 0 60000 65536"/>
              <a:gd name="T9" fmla="*/ 0 60000 65536"/>
              <a:gd name="T10" fmla="*/ 0 60000 65536"/>
              <a:gd name="T11" fmla="*/ 0 60000 65536"/>
              <a:gd name="T12" fmla="*/ 0 w 96"/>
              <a:gd name="T13" fmla="*/ 0 h 288"/>
              <a:gd name="T14" fmla="*/ 96 w 96"/>
              <a:gd name="T15" fmla="*/ 288 h 288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96" h="288">
                <a:moveTo>
                  <a:pt x="96" y="0"/>
                </a:moveTo>
                <a:cubicBezTo>
                  <a:pt x="48" y="32"/>
                  <a:pt x="0" y="64"/>
                  <a:pt x="0" y="96"/>
                </a:cubicBezTo>
                <a:cubicBezTo>
                  <a:pt x="0" y="128"/>
                  <a:pt x="96" y="160"/>
                  <a:pt x="96" y="192"/>
                </a:cubicBezTo>
                <a:cubicBezTo>
                  <a:pt x="96" y="224"/>
                  <a:pt x="16" y="272"/>
                  <a:pt x="0" y="288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 type="none" w="med" len="med"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Oval 52"/>
          <p:cNvSpPr>
            <a:spLocks noChangeArrowheads="1"/>
          </p:cNvSpPr>
          <p:nvPr/>
        </p:nvSpPr>
        <p:spPr bwMode="auto">
          <a:xfrm>
            <a:off x="4648200" y="5029200"/>
            <a:ext cx="533400" cy="533400"/>
          </a:xfrm>
          <a:prstGeom prst="ellipse">
            <a:avLst/>
          </a:prstGeom>
          <a:solidFill>
            <a:srgbClr val="00FF00"/>
          </a:solidFill>
          <a:ln w="9525">
            <a:solidFill>
              <a:schemeClr val="tx1"/>
            </a:solidFill>
            <a:round/>
          </a:ln>
        </p:spPr>
        <p:txBody>
          <a:bodyPr wrap="none" anchor="ctr"/>
          <a:lstStyle/>
          <a:p>
            <a:pPr eaLnBrk="1" hangingPunct="1"/>
            <a:endParaRPr lang="zh-CN" altLang="zh-CN">
              <a:ea typeface="宋体" panose="02010600030101010101" pitchFamily="2" charset="-122"/>
            </a:endParaRPr>
          </a:p>
        </p:txBody>
      </p:sp>
      <p:sp>
        <p:nvSpPr>
          <p:cNvPr id="17" name="Oval 53"/>
          <p:cNvSpPr>
            <a:spLocks noChangeArrowheads="1"/>
          </p:cNvSpPr>
          <p:nvPr/>
        </p:nvSpPr>
        <p:spPr bwMode="auto">
          <a:xfrm>
            <a:off x="5638800" y="4267200"/>
            <a:ext cx="533400" cy="533400"/>
          </a:xfrm>
          <a:prstGeom prst="ellipse">
            <a:avLst/>
          </a:prstGeom>
          <a:solidFill>
            <a:srgbClr val="00FF00"/>
          </a:solidFill>
          <a:ln w="9525">
            <a:solidFill>
              <a:schemeClr val="tx1"/>
            </a:solidFill>
            <a:round/>
          </a:ln>
        </p:spPr>
        <p:txBody>
          <a:bodyPr wrap="none" anchor="ctr"/>
          <a:lstStyle/>
          <a:p>
            <a:pPr eaLnBrk="1" hangingPunct="1"/>
            <a:endParaRPr lang="zh-CN" altLang="zh-CN">
              <a:ea typeface="宋体" panose="02010600030101010101" pitchFamily="2" charset="-122"/>
            </a:endParaRPr>
          </a:p>
        </p:txBody>
      </p:sp>
      <p:sp>
        <p:nvSpPr>
          <p:cNvPr id="18" name="Line 54"/>
          <p:cNvSpPr>
            <a:spLocks noChangeShapeType="1"/>
          </p:cNvSpPr>
          <p:nvPr/>
        </p:nvSpPr>
        <p:spPr bwMode="auto">
          <a:xfrm>
            <a:off x="5105400" y="3962400"/>
            <a:ext cx="60960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Line 55"/>
          <p:cNvSpPr>
            <a:spLocks noChangeShapeType="1"/>
          </p:cNvSpPr>
          <p:nvPr/>
        </p:nvSpPr>
        <p:spPr bwMode="auto">
          <a:xfrm flipH="1">
            <a:off x="5105400" y="4648200"/>
            <a:ext cx="60960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Line 56"/>
          <p:cNvSpPr>
            <a:spLocks noChangeShapeType="1"/>
          </p:cNvSpPr>
          <p:nvPr/>
        </p:nvSpPr>
        <p:spPr bwMode="auto">
          <a:xfrm>
            <a:off x="4876800" y="4038600"/>
            <a:ext cx="0" cy="990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Text Box 57"/>
          <p:cNvSpPr txBox="1">
            <a:spLocks noChangeArrowheads="1"/>
          </p:cNvSpPr>
          <p:nvPr/>
        </p:nvSpPr>
        <p:spPr bwMode="auto">
          <a:xfrm>
            <a:off x="4648200" y="2057400"/>
            <a:ext cx="4572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algn="ctr" eaLnBrk="1" hangingPunct="1">
              <a:spcBef>
                <a:spcPct val="50000"/>
              </a:spcBef>
            </a:pPr>
            <a:r>
              <a:rPr lang="en-US" altLang="zh-CN" sz="2400" b="1">
                <a:ea typeface="宋体" panose="02010600030101010101" pitchFamily="2" charset="-122"/>
              </a:rPr>
              <a:t>1</a:t>
            </a:r>
            <a:endParaRPr lang="en-US" altLang="zh-CN" sz="2400" b="1">
              <a:ea typeface="宋体" panose="02010600030101010101" pitchFamily="2" charset="-122"/>
            </a:endParaRPr>
          </a:p>
        </p:txBody>
      </p:sp>
      <p:sp>
        <p:nvSpPr>
          <p:cNvPr id="22" name="Text Box 58"/>
          <p:cNvSpPr txBox="1">
            <a:spLocks noChangeArrowheads="1"/>
          </p:cNvSpPr>
          <p:nvPr/>
        </p:nvSpPr>
        <p:spPr bwMode="auto">
          <a:xfrm>
            <a:off x="5715000" y="2819400"/>
            <a:ext cx="4572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algn="ctr" eaLnBrk="1" hangingPunct="1">
              <a:spcBef>
                <a:spcPct val="50000"/>
              </a:spcBef>
            </a:pPr>
            <a:r>
              <a:rPr lang="en-US" altLang="zh-CN" sz="2400" b="1">
                <a:ea typeface="宋体" panose="02010600030101010101" pitchFamily="2" charset="-122"/>
              </a:rPr>
              <a:t>2</a:t>
            </a:r>
            <a:endParaRPr lang="en-US" altLang="zh-CN" sz="2400" b="1">
              <a:ea typeface="宋体" panose="02010600030101010101" pitchFamily="2" charset="-122"/>
            </a:endParaRPr>
          </a:p>
        </p:txBody>
      </p:sp>
      <p:sp>
        <p:nvSpPr>
          <p:cNvPr id="23" name="Text Box 59"/>
          <p:cNvSpPr txBox="1">
            <a:spLocks noChangeArrowheads="1"/>
          </p:cNvSpPr>
          <p:nvPr/>
        </p:nvSpPr>
        <p:spPr bwMode="auto">
          <a:xfrm>
            <a:off x="4648200" y="3505200"/>
            <a:ext cx="4572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algn="ctr" eaLnBrk="1" hangingPunct="1">
              <a:spcBef>
                <a:spcPct val="50000"/>
              </a:spcBef>
            </a:pPr>
            <a:r>
              <a:rPr lang="en-US" altLang="zh-CN" sz="2400" b="1">
                <a:ea typeface="宋体" panose="02010600030101010101" pitchFamily="2" charset="-122"/>
              </a:rPr>
              <a:t>3</a:t>
            </a:r>
            <a:endParaRPr lang="en-US" altLang="zh-CN" sz="2400" b="1">
              <a:ea typeface="宋体" panose="02010600030101010101" pitchFamily="2" charset="-122"/>
            </a:endParaRPr>
          </a:p>
        </p:txBody>
      </p:sp>
      <p:sp>
        <p:nvSpPr>
          <p:cNvPr id="24" name="Text Box 60"/>
          <p:cNvSpPr txBox="1">
            <a:spLocks noChangeArrowheads="1"/>
          </p:cNvSpPr>
          <p:nvPr/>
        </p:nvSpPr>
        <p:spPr bwMode="auto">
          <a:xfrm>
            <a:off x="5715000" y="4267200"/>
            <a:ext cx="4572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algn="ctr" eaLnBrk="1" hangingPunct="1">
              <a:spcBef>
                <a:spcPct val="50000"/>
              </a:spcBef>
            </a:pPr>
            <a:r>
              <a:rPr lang="en-US" altLang="zh-CN" sz="2400" b="1">
                <a:ea typeface="宋体" panose="02010600030101010101" pitchFamily="2" charset="-122"/>
              </a:rPr>
              <a:t>4</a:t>
            </a:r>
            <a:endParaRPr lang="en-US" altLang="zh-CN" sz="2400" b="1">
              <a:ea typeface="宋体" panose="02010600030101010101" pitchFamily="2" charset="-122"/>
            </a:endParaRPr>
          </a:p>
        </p:txBody>
      </p:sp>
      <p:sp>
        <p:nvSpPr>
          <p:cNvPr id="25" name="Text Box 61"/>
          <p:cNvSpPr txBox="1">
            <a:spLocks noChangeArrowheads="1"/>
          </p:cNvSpPr>
          <p:nvPr/>
        </p:nvSpPr>
        <p:spPr bwMode="auto">
          <a:xfrm>
            <a:off x="4648200" y="5029200"/>
            <a:ext cx="4572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algn="ctr" eaLnBrk="1" hangingPunct="1">
              <a:spcBef>
                <a:spcPct val="50000"/>
              </a:spcBef>
            </a:pPr>
            <a:r>
              <a:rPr lang="en-US" altLang="zh-CN" sz="2400" b="1">
                <a:ea typeface="宋体" panose="02010600030101010101" pitchFamily="2" charset="-122"/>
              </a:rPr>
              <a:t>5</a:t>
            </a:r>
            <a:endParaRPr lang="en-US" altLang="zh-CN" sz="2400" b="1">
              <a:ea typeface="宋体" panose="02010600030101010101" pitchFamily="2" charset="-122"/>
            </a:endParaRPr>
          </a:p>
        </p:txBody>
      </p:sp>
      <p:sp>
        <p:nvSpPr>
          <p:cNvPr id="26" name="Text Box 62"/>
          <p:cNvSpPr txBox="1">
            <a:spLocks noChangeArrowheads="1"/>
          </p:cNvSpPr>
          <p:nvPr/>
        </p:nvSpPr>
        <p:spPr bwMode="auto">
          <a:xfrm>
            <a:off x="5257800" y="1828800"/>
            <a:ext cx="1752600" cy="396875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sz="2000">
                <a:latin typeface="Century Gothic" panose="020B0502020202020204" pitchFamily="34" charset="0"/>
                <a:ea typeface="宋体" panose="02010600030101010101" pitchFamily="2" charset="-122"/>
              </a:rPr>
              <a:t>input(A,B)</a:t>
            </a:r>
            <a:endParaRPr lang="en-US" altLang="zh-CN" sz="2000">
              <a:latin typeface="Century Gothic" panose="020B0502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7" name="Text Box 63"/>
          <p:cNvSpPr txBox="1">
            <a:spLocks noChangeArrowheads="1"/>
          </p:cNvSpPr>
          <p:nvPr/>
        </p:nvSpPr>
        <p:spPr bwMode="auto">
          <a:xfrm>
            <a:off x="6172200" y="2819400"/>
            <a:ext cx="1752600" cy="3968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sz="2000" dirty="0">
                <a:latin typeface="Century Gothic" panose="020B0502020202020204" pitchFamily="34" charset="0"/>
                <a:ea typeface="宋体" panose="02010600030101010101" pitchFamily="2" charset="-122"/>
              </a:rPr>
              <a:t>A := A+7</a:t>
            </a:r>
            <a:endParaRPr lang="en-US" altLang="zh-CN" sz="2000" dirty="0">
              <a:latin typeface="Century Gothic" panose="020B0502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8" name="Text Box 64"/>
          <p:cNvSpPr txBox="1">
            <a:spLocks noChangeArrowheads="1"/>
          </p:cNvSpPr>
          <p:nvPr/>
        </p:nvSpPr>
        <p:spPr bwMode="auto">
          <a:xfrm>
            <a:off x="6172200" y="4267200"/>
            <a:ext cx="1447800" cy="3968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sz="2000">
                <a:latin typeface="Century Gothic" panose="020B0502020202020204" pitchFamily="34" charset="0"/>
                <a:ea typeface="宋体" panose="02010600030101010101" pitchFamily="2" charset="-122"/>
              </a:rPr>
              <a:t>B := A+B</a:t>
            </a:r>
            <a:endParaRPr lang="en-US" altLang="zh-CN" sz="2000">
              <a:latin typeface="Century Gothic" panose="020B0502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9" name="Text Box 65"/>
          <p:cNvSpPr txBox="1">
            <a:spLocks noChangeArrowheads="1"/>
          </p:cNvSpPr>
          <p:nvPr/>
        </p:nvSpPr>
        <p:spPr bwMode="auto">
          <a:xfrm>
            <a:off x="5334000" y="2286000"/>
            <a:ext cx="838200" cy="3968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sz="2000" dirty="0">
                <a:latin typeface="Century Gothic" panose="020B0502020202020204" pitchFamily="34" charset="0"/>
                <a:ea typeface="宋体" panose="02010600030101010101" pitchFamily="2" charset="-122"/>
              </a:rPr>
              <a:t>B&gt;1</a:t>
            </a:r>
            <a:endParaRPr lang="en-US" altLang="zh-CN" sz="2000" dirty="0">
              <a:latin typeface="Century Gothic" panose="020B0502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0" name="Text Box 66"/>
          <p:cNvSpPr txBox="1">
            <a:spLocks noChangeArrowheads="1"/>
          </p:cNvSpPr>
          <p:nvPr/>
        </p:nvSpPr>
        <p:spPr bwMode="auto">
          <a:xfrm>
            <a:off x="4267200" y="2819400"/>
            <a:ext cx="685800" cy="3968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sz="2000" dirty="0">
                <a:latin typeface="Century Gothic" panose="020B0502020202020204" pitchFamily="34" charset="0"/>
                <a:ea typeface="宋体" panose="02010600030101010101" pitchFamily="2" charset="-122"/>
              </a:rPr>
              <a:t>B</a:t>
            </a:r>
            <a:r>
              <a:rPr lang="en-US" altLang="zh-CN" sz="2000" dirty="0">
                <a:latin typeface="Century Gothic" panose="020B0502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</a:t>
            </a:r>
            <a:r>
              <a:rPr lang="en-US" altLang="zh-CN" sz="2000" dirty="0">
                <a:latin typeface="Century Gothic" panose="020B0502020202020204" pitchFamily="34" charset="0"/>
                <a:ea typeface="宋体" panose="02010600030101010101" pitchFamily="2" charset="-122"/>
              </a:rPr>
              <a:t>1</a:t>
            </a:r>
            <a:endParaRPr lang="en-US" altLang="zh-CN" sz="2000" dirty="0">
              <a:latin typeface="Century Gothic" panose="020B0502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1" name="Text Box 67"/>
          <p:cNvSpPr txBox="1">
            <a:spLocks noChangeArrowheads="1"/>
          </p:cNvSpPr>
          <p:nvPr/>
        </p:nvSpPr>
        <p:spPr bwMode="auto">
          <a:xfrm>
            <a:off x="5334000" y="3810000"/>
            <a:ext cx="838200" cy="3968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sz="2000">
                <a:latin typeface="Century Gothic" panose="020B0502020202020204" pitchFamily="34" charset="0"/>
                <a:ea typeface="宋体" panose="02010600030101010101" pitchFamily="2" charset="-122"/>
              </a:rPr>
              <a:t>A&gt;10</a:t>
            </a:r>
            <a:endParaRPr lang="en-US" altLang="zh-CN" sz="2000">
              <a:latin typeface="Century Gothic" panose="020B0502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2" name="Text Box 68"/>
          <p:cNvSpPr txBox="1">
            <a:spLocks noChangeArrowheads="1"/>
          </p:cNvSpPr>
          <p:nvPr/>
        </p:nvSpPr>
        <p:spPr bwMode="auto">
          <a:xfrm>
            <a:off x="4038600" y="4267200"/>
            <a:ext cx="838200" cy="3968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sz="2000" dirty="0">
                <a:latin typeface="Century Gothic" panose="020B0502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A</a:t>
            </a:r>
            <a:r>
              <a:rPr lang="en-US" altLang="zh-CN" sz="2000" dirty="0">
                <a:latin typeface="Century Gothic" panose="020B0502020202020204" pitchFamily="34" charset="0"/>
                <a:ea typeface="宋体" panose="02010600030101010101" pitchFamily="2" charset="-122"/>
              </a:rPr>
              <a:t>10</a:t>
            </a:r>
            <a:endParaRPr lang="en-US" altLang="zh-CN" sz="2000" dirty="0">
              <a:latin typeface="Century Gothic" panose="020B0502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3" name="Text Box 69"/>
          <p:cNvSpPr txBox="1">
            <a:spLocks noChangeArrowheads="1"/>
          </p:cNvSpPr>
          <p:nvPr/>
        </p:nvSpPr>
        <p:spPr bwMode="auto">
          <a:xfrm>
            <a:off x="5181600" y="5181600"/>
            <a:ext cx="1752600" cy="3968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sz="2000">
                <a:latin typeface="Century Gothic" panose="020B0502020202020204" pitchFamily="34" charset="0"/>
                <a:ea typeface="宋体" panose="02010600030101010101" pitchFamily="2" charset="-122"/>
              </a:rPr>
              <a:t>output(A,B)</a:t>
            </a:r>
            <a:endParaRPr lang="en-US" altLang="zh-CN" sz="2000">
              <a:latin typeface="Century Gothic" panose="020B0502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>
                <a:ea typeface="宋体" panose="02010600030101010101" pitchFamily="2" charset="-122"/>
              </a:rPr>
              <a:t>Def-Clear Paths Subsumed by </a:t>
            </a:r>
            <a:r>
              <a:rPr lang="en-US" altLang="zh-CN" dirty="0" smtClean="0">
                <a:solidFill>
                  <a:srgbClr val="00FF00"/>
                </a:solidFill>
                <a:ea typeface="宋体" panose="02010600030101010101" pitchFamily="2" charset="-122"/>
              </a:rPr>
              <a:t>&lt;1,3,4,5&gt;</a:t>
            </a:r>
            <a:r>
              <a:rPr lang="en-US" altLang="zh-CN" dirty="0" smtClean="0">
                <a:ea typeface="宋体" panose="02010600030101010101" pitchFamily="2" charset="-122"/>
              </a:rPr>
              <a:t> for Variable B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86A48D-B8D4-430A-AE1C-E921A6F75A10}" type="slidenum">
              <a:rPr lang="zh-CN" altLang="en-US" smtClean="0"/>
            </a:fld>
            <a:endParaRPr lang="zh-CN" altLang="en-US"/>
          </a:p>
        </p:txBody>
      </p:sp>
      <p:graphicFrame>
        <p:nvGraphicFramePr>
          <p:cNvPr id="7" name="Group 69"/>
          <p:cNvGraphicFramePr/>
          <p:nvPr/>
        </p:nvGraphicFramePr>
        <p:xfrm>
          <a:off x="685800" y="2057400"/>
          <a:ext cx="3352800" cy="3355972"/>
        </p:xfrm>
        <a:graphic>
          <a:graphicData uri="http://schemas.openxmlformats.org/drawingml/2006/table">
            <a:tbl>
              <a:tblPr/>
              <a:tblGrid>
                <a:gridCol w="1524000"/>
                <a:gridCol w="1828800"/>
              </a:tblGrid>
              <a:tr h="41116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buSzPct val="75000"/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FDAD23"/>
                        </a:buClr>
                        <a:buFont typeface="Times New Roman" panose="02020603050405020304" pitchFamily="18" charset="0"/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buSzTx/>
                        <a:buFontTx/>
                        <a:buNone/>
                      </a:pPr>
                      <a:r>
                        <a:rPr kumimoji="0" lang="en-US" altLang="zh-CN" sz="2200" b="1" i="0" u="sng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anose="020B0604030504040204" pitchFamily="34" charset="0"/>
                          <a:ea typeface="宋体" panose="02010600030101010101" pitchFamily="2" charset="-122"/>
                        </a:rPr>
                        <a:t>du-pair</a:t>
                      </a:r>
                      <a:endParaRPr kumimoji="0" lang="en-US" altLang="zh-CN" sz="2200" b="1" i="0" u="sng" strike="noStrike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Verdan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5726" marB="4572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buSzPct val="75000"/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FDAD23"/>
                        </a:buClr>
                        <a:buFont typeface="Times New Roman" panose="02020603050405020304" pitchFamily="18" charset="0"/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buSzTx/>
                        <a:buFontTx/>
                        <a:buNone/>
                      </a:pPr>
                      <a:r>
                        <a:rPr kumimoji="0" lang="en-US" altLang="zh-CN" sz="2200" b="1" i="0" u="sng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anose="020B0604030504040204" pitchFamily="34" charset="0"/>
                          <a:ea typeface="宋体" panose="02010600030101010101" pitchFamily="2" charset="-122"/>
                        </a:rPr>
                        <a:t>path(s)</a:t>
                      </a:r>
                      <a:endParaRPr kumimoji="0" lang="en-US" altLang="zh-CN" sz="2200" b="1" i="0" u="sng" strike="noStrike" cap="none" normalizeH="0" baseline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Verdan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</a:tr>
              <a:tr h="420687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buSzPct val="75000"/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FDAD23"/>
                        </a:buClr>
                        <a:buFont typeface="Times New Roman" panose="02020603050405020304" pitchFamily="18" charset="0"/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buSzTx/>
                        <a:buFontTx/>
                        <a:buNone/>
                      </a:pPr>
                      <a:r>
                        <a:rPr kumimoji="0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entury Gothic" panose="020B0502020202020204" pitchFamily="34" charset="0"/>
                          <a:ea typeface="宋体" panose="02010600030101010101" pitchFamily="2" charset="-122"/>
                        </a:rPr>
                        <a:t>(1,4)</a:t>
                      </a:r>
                      <a:r>
                        <a:rPr kumimoji="0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entury Gothic" panose="020B0502020202020204" pitchFamily="34" charset="0"/>
                          <a:ea typeface="宋体" panose="02010600030101010101" pitchFamily="2" charset="-122"/>
                        </a:rPr>
                        <a:t>        </a:t>
                      </a:r>
                      <a:endParaRPr kumimoji="0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Century Gothic" panose="020B0502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26" marB="4572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buSzPct val="75000"/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FDAD23"/>
                        </a:buClr>
                        <a:buFont typeface="Times New Roman" panose="02020603050405020304" pitchFamily="18" charset="0"/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buSzTx/>
                        <a:buFontTx/>
                        <a:buNone/>
                      </a:pPr>
                      <a:r>
                        <a:rPr kumimoji="0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entury Gothic" panose="020B0502020202020204" pitchFamily="34" charset="0"/>
                          <a:ea typeface="宋体" panose="02010600030101010101" pitchFamily="2" charset="-122"/>
                        </a:rPr>
                        <a:t>&lt;1,2,3,4&gt; </a:t>
                      </a:r>
                      <a:r>
                        <a:rPr kumimoji="0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99"/>
                          </a:solidFill>
                          <a:effectLst/>
                          <a:latin typeface="Century Gothic" panose="020B0502020202020204" pitchFamily="34" charset="0"/>
                          <a:ea typeface="宋体" panose="02010600030101010101" pitchFamily="2" charset="-122"/>
                          <a:sym typeface="Webdings" panose="05030102010509060703" pitchFamily="18" charset="2"/>
                        </a:rPr>
                        <a:t></a:t>
                      </a:r>
                      <a:endParaRPr kumimoji="0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rgbClr val="FFFF99"/>
                        </a:solidFill>
                        <a:effectLst/>
                        <a:latin typeface="Century Gothic" panose="020B0502020202020204" pitchFamily="34" charset="0"/>
                        <a:ea typeface="宋体" panose="02010600030101010101" pitchFamily="2" charset="-122"/>
                        <a:sym typeface="Webdings" panose="05030102010509060703" pitchFamily="18" charset="2"/>
                      </a:endParaRP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</a:tr>
              <a:tr h="420687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buSzPct val="75000"/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FDAD23"/>
                        </a:buClr>
                        <a:buFont typeface="Times New Roman" panose="02020603050405020304" pitchFamily="18" charset="0"/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buSzTx/>
                        <a:buFontTx/>
                        <a:buNone/>
                      </a:pPr>
                      <a:endParaRPr kumimoji="0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Century Gothic" panose="020B0502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26" marB="4572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buSzPct val="75000"/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FDAD23"/>
                        </a:buClr>
                        <a:buFont typeface="Times New Roman" panose="02020603050405020304" pitchFamily="18" charset="0"/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buSzTx/>
                        <a:buFontTx/>
                        <a:buNone/>
                      </a:pPr>
                      <a:r>
                        <a:rPr kumimoji="0" lang="en-US" altLang="zh-CN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entury Gothic" panose="020B0502020202020204" pitchFamily="34" charset="0"/>
                          <a:ea typeface="宋体" panose="02010600030101010101" pitchFamily="2" charset="-122"/>
                        </a:rPr>
                        <a:t>&lt;1,3,4&gt; </a:t>
                      </a:r>
                      <a:r>
                        <a:rPr kumimoji="0" lang="en-US" altLang="zh-CN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FF00"/>
                          </a:solidFill>
                          <a:effectLst/>
                          <a:latin typeface="Century Gothic" panose="020B0502020202020204" pitchFamily="34" charset="0"/>
                          <a:ea typeface="宋体" panose="02010600030101010101" pitchFamily="2" charset="-122"/>
                          <a:sym typeface="Webdings" panose="05030102010509060703" pitchFamily="18" charset="2"/>
                        </a:rPr>
                        <a:t></a:t>
                      </a:r>
                      <a:endParaRPr kumimoji="0" lang="en-US" altLang="zh-CN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FF00"/>
                        </a:solidFill>
                        <a:effectLst/>
                        <a:latin typeface="Century Gothic" panose="020B0502020202020204" pitchFamily="34" charset="0"/>
                        <a:ea typeface="宋体" panose="02010600030101010101" pitchFamily="2" charset="-122"/>
                        <a:sym typeface="Webdings" panose="05030102010509060703" pitchFamily="18" charset="2"/>
                      </a:endParaRP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</a:tr>
              <a:tr h="420687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buSzPct val="75000"/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FDAD23"/>
                        </a:buClr>
                        <a:buFont typeface="Times New Roman" panose="02020603050405020304" pitchFamily="18" charset="0"/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buSzTx/>
                        <a:buFontTx/>
                        <a:buNone/>
                      </a:pPr>
                      <a:r>
                        <a:rPr kumimoji="0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entury Gothic" panose="020B0502020202020204" pitchFamily="34" charset="0"/>
                          <a:ea typeface="宋体" panose="02010600030101010101" pitchFamily="2" charset="-122"/>
                        </a:rPr>
                        <a:t>(1,5)         </a:t>
                      </a:r>
                      <a:endParaRPr kumimoji="0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Century Gothic" panose="020B0502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26" marB="4572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buSzPct val="75000"/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FDAD23"/>
                        </a:buClr>
                        <a:buFont typeface="Times New Roman" panose="02020603050405020304" pitchFamily="18" charset="0"/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buSzTx/>
                        <a:buFontTx/>
                        <a:buNone/>
                      </a:pPr>
                      <a:r>
                        <a:rPr kumimoji="0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entury Gothic" panose="020B0502020202020204" pitchFamily="34" charset="0"/>
                          <a:ea typeface="宋体" panose="02010600030101010101" pitchFamily="2" charset="-122"/>
                        </a:rPr>
                        <a:t>&lt;1,2,3,5&gt;</a:t>
                      </a:r>
                      <a:endParaRPr kumimoji="0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Century Gothic" panose="020B0502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</a:tr>
              <a:tr h="420687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buSzPct val="75000"/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FDAD23"/>
                        </a:buClr>
                        <a:buFont typeface="Times New Roman" panose="02020603050405020304" pitchFamily="18" charset="0"/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buSzTx/>
                        <a:buFontTx/>
                        <a:buNone/>
                      </a:pPr>
                      <a:r>
                        <a:rPr kumimoji="0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entury Gothic" panose="020B0502020202020204" pitchFamily="34" charset="0"/>
                          <a:ea typeface="宋体" panose="02010600030101010101" pitchFamily="2" charset="-122"/>
                        </a:rPr>
                        <a:t>                 </a:t>
                      </a:r>
                      <a:endParaRPr kumimoji="0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Century Gothic" panose="020B0502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26" marB="4572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buSzPct val="75000"/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FDAD23"/>
                        </a:buClr>
                        <a:buFont typeface="Times New Roman" panose="02020603050405020304" pitchFamily="18" charset="0"/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buSzTx/>
                        <a:buFontTx/>
                        <a:buNone/>
                      </a:pPr>
                      <a:r>
                        <a:rPr kumimoji="0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entury Gothic" panose="020B0502020202020204" pitchFamily="34" charset="0"/>
                          <a:ea typeface="宋体" panose="02010600030101010101" pitchFamily="2" charset="-122"/>
                        </a:rPr>
                        <a:t>&lt;1,3,5&gt;</a:t>
                      </a:r>
                      <a:endParaRPr kumimoji="0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Century Gothic" panose="020B0502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</a:tr>
              <a:tr h="420687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buSzPct val="75000"/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FDAD23"/>
                        </a:buClr>
                        <a:buFont typeface="Times New Roman" panose="02020603050405020304" pitchFamily="18" charset="0"/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buSzTx/>
                        <a:buFontTx/>
                        <a:buNone/>
                      </a:pPr>
                      <a:r>
                        <a:rPr kumimoji="0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entury Gothic" panose="020B0502020202020204" pitchFamily="34" charset="0"/>
                          <a:ea typeface="宋体" panose="02010600030101010101" pitchFamily="2" charset="-122"/>
                        </a:rPr>
                        <a:t>(4,5)        </a:t>
                      </a:r>
                      <a:endParaRPr kumimoji="0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Century Gothic" panose="020B0502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26" marB="4572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buSzPct val="75000"/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FDAD23"/>
                        </a:buClr>
                        <a:buFont typeface="Times New Roman" panose="02020603050405020304" pitchFamily="18" charset="0"/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buSzTx/>
                        <a:buFontTx/>
                        <a:buNone/>
                      </a:pPr>
                      <a:r>
                        <a:rPr kumimoji="0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entury Gothic" panose="020B0502020202020204" pitchFamily="34" charset="0"/>
                          <a:ea typeface="宋体" panose="02010600030101010101" pitchFamily="2" charset="-122"/>
                        </a:rPr>
                        <a:t>&lt;4,5&gt; </a:t>
                      </a:r>
                      <a:r>
                        <a:rPr kumimoji="0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99"/>
                          </a:solidFill>
                          <a:effectLst/>
                          <a:latin typeface="Century Gothic" panose="020B0502020202020204" pitchFamily="34" charset="0"/>
                          <a:ea typeface="宋体" panose="02010600030101010101" pitchFamily="2" charset="-122"/>
                          <a:sym typeface="Webdings" panose="05030102010509060703" pitchFamily="18" charset="2"/>
                        </a:rPr>
                        <a:t></a:t>
                      </a:r>
                      <a:r>
                        <a:rPr kumimoji="0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FF00"/>
                          </a:solidFill>
                          <a:effectLst/>
                          <a:latin typeface="Century Gothic" panose="020B0502020202020204" pitchFamily="34" charset="0"/>
                          <a:ea typeface="宋体" panose="02010600030101010101" pitchFamily="2" charset="-122"/>
                          <a:sym typeface="Webdings" panose="05030102010509060703" pitchFamily="18" charset="2"/>
                        </a:rPr>
                        <a:t></a:t>
                      </a:r>
                      <a:endParaRPr kumimoji="0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rgbClr val="00FF00"/>
                        </a:solidFill>
                        <a:effectLst/>
                        <a:latin typeface="Century Gothic" panose="020B0502020202020204" pitchFamily="34" charset="0"/>
                        <a:ea typeface="宋体" panose="02010600030101010101" pitchFamily="2" charset="-122"/>
                        <a:sym typeface="Webdings" panose="05030102010509060703" pitchFamily="18" charset="2"/>
                      </a:endParaRP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</a:tr>
              <a:tr h="420687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buSzPct val="75000"/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FDAD23"/>
                        </a:buClr>
                        <a:buFont typeface="Times New Roman" panose="02020603050405020304" pitchFamily="18" charset="0"/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buSzTx/>
                        <a:buFontTx/>
                        <a:buNone/>
                      </a:pPr>
                      <a:r>
                        <a:rPr kumimoji="0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entury Gothic" panose="020B0502020202020204" pitchFamily="34" charset="0"/>
                          <a:ea typeface="宋体" panose="02010600030101010101" pitchFamily="2" charset="-122"/>
                        </a:rPr>
                        <a:t>(1,&lt;1,2&gt;)         </a:t>
                      </a:r>
                      <a:endParaRPr kumimoji="0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Century Gothic" panose="020B0502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26" marB="4572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buSzPct val="75000"/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FDAD23"/>
                        </a:buClr>
                        <a:buFont typeface="Times New Roman" panose="02020603050405020304" pitchFamily="18" charset="0"/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buSzTx/>
                        <a:buFontTx/>
                        <a:buNone/>
                      </a:pPr>
                      <a:r>
                        <a:rPr kumimoji="0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entury Gothic" panose="020B0502020202020204" pitchFamily="34" charset="0"/>
                          <a:ea typeface="宋体" panose="02010600030101010101" pitchFamily="2" charset="-122"/>
                        </a:rPr>
                        <a:t>&lt;1,2&gt; </a:t>
                      </a:r>
                      <a:r>
                        <a:rPr kumimoji="0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99"/>
                          </a:solidFill>
                          <a:effectLst/>
                          <a:latin typeface="Century Gothic" panose="020B0502020202020204" pitchFamily="34" charset="0"/>
                          <a:ea typeface="宋体" panose="02010600030101010101" pitchFamily="2" charset="-122"/>
                          <a:sym typeface="Webdings" panose="05030102010509060703" pitchFamily="18" charset="2"/>
                        </a:rPr>
                        <a:t></a:t>
                      </a:r>
                      <a:endParaRPr kumimoji="0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rgbClr val="FFFF99"/>
                        </a:solidFill>
                        <a:effectLst/>
                        <a:latin typeface="Century Gothic" panose="020B0502020202020204" pitchFamily="34" charset="0"/>
                        <a:ea typeface="宋体" panose="02010600030101010101" pitchFamily="2" charset="-122"/>
                        <a:sym typeface="Webdings" panose="05030102010509060703" pitchFamily="18" charset="2"/>
                      </a:endParaRP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</a:tr>
              <a:tr h="420687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buSzPct val="75000"/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FDAD23"/>
                        </a:buClr>
                        <a:buFont typeface="Times New Roman" panose="02020603050405020304" pitchFamily="18" charset="0"/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buSzTx/>
                        <a:buFontTx/>
                        <a:buNone/>
                      </a:pPr>
                      <a:r>
                        <a:rPr kumimoji="0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entury Gothic" panose="020B0502020202020204" pitchFamily="34" charset="0"/>
                          <a:ea typeface="宋体" panose="02010600030101010101" pitchFamily="2" charset="-122"/>
                        </a:rPr>
                        <a:t>(1,&lt;1,3&gt;)               </a:t>
                      </a:r>
                      <a:endParaRPr kumimoji="0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Century Gothic" panose="020B0502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26" marB="4572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DAD23"/>
                        </a:buClr>
                        <a:buSzPct val="75000"/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FDAD23"/>
                        </a:buClr>
                        <a:buFont typeface="Times New Roman" panose="02020603050405020304" pitchFamily="18" charset="0"/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defRPr sz="200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DAD23"/>
                        </a:buClr>
                        <a:buSzTx/>
                        <a:buFontTx/>
                        <a:buNone/>
                      </a:pPr>
                      <a:r>
                        <a:rPr kumimoji="0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entury Gothic" panose="020B0502020202020204" pitchFamily="34" charset="0"/>
                          <a:ea typeface="宋体" panose="02010600030101010101" pitchFamily="2" charset="-122"/>
                        </a:rPr>
                        <a:t>&lt;1,3&gt; </a:t>
                      </a:r>
                      <a:r>
                        <a:rPr kumimoji="0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FF00"/>
                          </a:solidFill>
                          <a:effectLst/>
                          <a:latin typeface="Century Gothic" panose="020B0502020202020204" pitchFamily="34" charset="0"/>
                          <a:ea typeface="宋体" panose="02010600030101010101" pitchFamily="2" charset="-122"/>
                          <a:sym typeface="Webdings" panose="05030102010509060703" pitchFamily="18" charset="2"/>
                        </a:rPr>
                        <a:t></a:t>
                      </a:r>
                      <a:endParaRPr kumimoji="0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rgbClr val="00FF00"/>
                        </a:solidFill>
                        <a:effectLst/>
                        <a:latin typeface="Century Gothic" panose="020B0502020202020204" pitchFamily="34" charset="0"/>
                        <a:ea typeface="宋体" panose="02010600030101010101" pitchFamily="2" charset="-122"/>
                        <a:sym typeface="Webdings" panose="05030102010509060703" pitchFamily="18" charset="2"/>
                      </a:endParaRP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</a:tr>
            </a:tbl>
          </a:graphicData>
        </a:graphic>
      </p:graphicFrame>
      <p:sp>
        <p:nvSpPr>
          <p:cNvPr id="8" name="Oval 32"/>
          <p:cNvSpPr>
            <a:spLocks noChangeArrowheads="1"/>
          </p:cNvSpPr>
          <p:nvPr/>
        </p:nvSpPr>
        <p:spPr bwMode="auto">
          <a:xfrm>
            <a:off x="4648200" y="1981200"/>
            <a:ext cx="533400" cy="533400"/>
          </a:xfrm>
          <a:prstGeom prst="ellipse">
            <a:avLst/>
          </a:prstGeom>
          <a:solidFill>
            <a:srgbClr val="00FF00"/>
          </a:solidFill>
          <a:ln w="9525">
            <a:solidFill>
              <a:schemeClr val="tx1"/>
            </a:solidFill>
            <a:round/>
          </a:ln>
        </p:spPr>
        <p:txBody>
          <a:bodyPr wrap="none" anchor="ctr"/>
          <a:lstStyle/>
          <a:p>
            <a:pPr eaLnBrk="1" hangingPunct="1"/>
            <a:endParaRPr lang="zh-CN" altLang="zh-CN">
              <a:ea typeface="宋体" panose="02010600030101010101" pitchFamily="2" charset="-122"/>
            </a:endParaRPr>
          </a:p>
        </p:txBody>
      </p:sp>
      <p:sp>
        <p:nvSpPr>
          <p:cNvPr id="9" name="Oval 33"/>
          <p:cNvSpPr>
            <a:spLocks noChangeArrowheads="1"/>
          </p:cNvSpPr>
          <p:nvPr/>
        </p:nvSpPr>
        <p:spPr bwMode="auto">
          <a:xfrm>
            <a:off x="4648200" y="3505200"/>
            <a:ext cx="533400" cy="533400"/>
          </a:xfrm>
          <a:prstGeom prst="ellipse">
            <a:avLst/>
          </a:prstGeom>
          <a:solidFill>
            <a:srgbClr val="00FF00"/>
          </a:solidFill>
          <a:ln w="9525">
            <a:solidFill>
              <a:srgbClr val="00FF00"/>
            </a:solidFill>
            <a:round/>
          </a:ln>
        </p:spPr>
        <p:txBody>
          <a:bodyPr wrap="none" anchor="ctr"/>
          <a:lstStyle/>
          <a:p>
            <a:pPr eaLnBrk="1" hangingPunct="1"/>
            <a:endParaRPr lang="zh-CN" altLang="zh-CN">
              <a:ea typeface="宋体" panose="02010600030101010101" pitchFamily="2" charset="-122"/>
            </a:endParaRPr>
          </a:p>
        </p:txBody>
      </p:sp>
      <p:sp>
        <p:nvSpPr>
          <p:cNvPr id="10" name="Oval 34"/>
          <p:cNvSpPr>
            <a:spLocks noChangeArrowheads="1"/>
          </p:cNvSpPr>
          <p:nvPr/>
        </p:nvSpPr>
        <p:spPr bwMode="auto">
          <a:xfrm>
            <a:off x="5638800" y="2743200"/>
            <a:ext cx="533400" cy="5334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</a:ln>
        </p:spPr>
        <p:txBody>
          <a:bodyPr wrap="none" anchor="ctr"/>
          <a:lstStyle/>
          <a:p>
            <a:pPr eaLnBrk="1" hangingPunct="1"/>
            <a:endParaRPr lang="zh-CN" altLang="zh-CN">
              <a:ea typeface="宋体" panose="02010600030101010101" pitchFamily="2" charset="-122"/>
            </a:endParaRPr>
          </a:p>
        </p:txBody>
      </p:sp>
      <p:sp>
        <p:nvSpPr>
          <p:cNvPr id="11" name="Line 35"/>
          <p:cNvSpPr>
            <a:spLocks noChangeShapeType="1"/>
          </p:cNvSpPr>
          <p:nvPr/>
        </p:nvSpPr>
        <p:spPr bwMode="auto">
          <a:xfrm>
            <a:off x="5105400" y="2438400"/>
            <a:ext cx="6096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Line 36"/>
          <p:cNvSpPr>
            <a:spLocks noChangeShapeType="1"/>
          </p:cNvSpPr>
          <p:nvPr/>
        </p:nvSpPr>
        <p:spPr bwMode="auto">
          <a:xfrm flipH="1">
            <a:off x="5105400" y="3124200"/>
            <a:ext cx="6096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Line 37"/>
          <p:cNvSpPr>
            <a:spLocks noChangeShapeType="1"/>
          </p:cNvSpPr>
          <p:nvPr/>
        </p:nvSpPr>
        <p:spPr bwMode="auto">
          <a:xfrm>
            <a:off x="4876800" y="2514600"/>
            <a:ext cx="0" cy="990600"/>
          </a:xfrm>
          <a:prstGeom prst="line">
            <a:avLst/>
          </a:prstGeom>
          <a:noFill/>
          <a:ln w="38100">
            <a:solidFill>
              <a:srgbClr val="00FF00"/>
            </a:solidFill>
            <a:round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Freeform 38"/>
          <p:cNvSpPr/>
          <p:nvPr/>
        </p:nvSpPr>
        <p:spPr bwMode="auto">
          <a:xfrm>
            <a:off x="5029200" y="1600200"/>
            <a:ext cx="152400" cy="457200"/>
          </a:xfrm>
          <a:custGeom>
            <a:avLst/>
            <a:gdLst>
              <a:gd name="T0" fmla="*/ 2147483646 w 96"/>
              <a:gd name="T1" fmla="*/ 0 h 288"/>
              <a:gd name="T2" fmla="*/ 0 w 96"/>
              <a:gd name="T3" fmla="*/ 2147483646 h 288"/>
              <a:gd name="T4" fmla="*/ 2147483646 w 96"/>
              <a:gd name="T5" fmla="*/ 2147483646 h 288"/>
              <a:gd name="T6" fmla="*/ 0 w 96"/>
              <a:gd name="T7" fmla="*/ 2147483646 h 288"/>
              <a:gd name="T8" fmla="*/ 0 60000 65536"/>
              <a:gd name="T9" fmla="*/ 0 60000 65536"/>
              <a:gd name="T10" fmla="*/ 0 60000 65536"/>
              <a:gd name="T11" fmla="*/ 0 60000 65536"/>
              <a:gd name="T12" fmla="*/ 0 w 96"/>
              <a:gd name="T13" fmla="*/ 0 h 288"/>
              <a:gd name="T14" fmla="*/ 96 w 96"/>
              <a:gd name="T15" fmla="*/ 288 h 288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96" h="288">
                <a:moveTo>
                  <a:pt x="96" y="0"/>
                </a:moveTo>
                <a:cubicBezTo>
                  <a:pt x="48" y="32"/>
                  <a:pt x="0" y="64"/>
                  <a:pt x="0" y="96"/>
                </a:cubicBezTo>
                <a:cubicBezTo>
                  <a:pt x="0" y="128"/>
                  <a:pt x="96" y="160"/>
                  <a:pt x="96" y="192"/>
                </a:cubicBezTo>
                <a:cubicBezTo>
                  <a:pt x="96" y="224"/>
                  <a:pt x="16" y="272"/>
                  <a:pt x="0" y="288"/>
                </a:cubicBezTo>
              </a:path>
            </a:pathLst>
          </a:custGeom>
          <a:noFill/>
          <a:ln w="9525">
            <a:solidFill>
              <a:srgbClr val="00FF00"/>
            </a:solidFill>
            <a:round/>
            <a:headEnd type="none" w="med" len="med"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Freeform 39"/>
          <p:cNvSpPr/>
          <p:nvPr/>
        </p:nvSpPr>
        <p:spPr bwMode="auto">
          <a:xfrm>
            <a:off x="4724400" y="5562600"/>
            <a:ext cx="152400" cy="457200"/>
          </a:xfrm>
          <a:custGeom>
            <a:avLst/>
            <a:gdLst>
              <a:gd name="T0" fmla="*/ 2147483646 w 96"/>
              <a:gd name="T1" fmla="*/ 0 h 288"/>
              <a:gd name="T2" fmla="*/ 0 w 96"/>
              <a:gd name="T3" fmla="*/ 2147483646 h 288"/>
              <a:gd name="T4" fmla="*/ 2147483646 w 96"/>
              <a:gd name="T5" fmla="*/ 2147483646 h 288"/>
              <a:gd name="T6" fmla="*/ 0 w 96"/>
              <a:gd name="T7" fmla="*/ 2147483646 h 288"/>
              <a:gd name="T8" fmla="*/ 0 60000 65536"/>
              <a:gd name="T9" fmla="*/ 0 60000 65536"/>
              <a:gd name="T10" fmla="*/ 0 60000 65536"/>
              <a:gd name="T11" fmla="*/ 0 60000 65536"/>
              <a:gd name="T12" fmla="*/ 0 w 96"/>
              <a:gd name="T13" fmla="*/ 0 h 288"/>
              <a:gd name="T14" fmla="*/ 96 w 96"/>
              <a:gd name="T15" fmla="*/ 288 h 288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96" h="288">
                <a:moveTo>
                  <a:pt x="96" y="0"/>
                </a:moveTo>
                <a:cubicBezTo>
                  <a:pt x="48" y="32"/>
                  <a:pt x="0" y="64"/>
                  <a:pt x="0" y="96"/>
                </a:cubicBezTo>
                <a:cubicBezTo>
                  <a:pt x="0" y="128"/>
                  <a:pt x="96" y="160"/>
                  <a:pt x="96" y="192"/>
                </a:cubicBezTo>
                <a:cubicBezTo>
                  <a:pt x="96" y="224"/>
                  <a:pt x="16" y="272"/>
                  <a:pt x="0" y="288"/>
                </a:cubicBezTo>
              </a:path>
            </a:pathLst>
          </a:custGeom>
          <a:noFill/>
          <a:ln w="9525">
            <a:solidFill>
              <a:srgbClr val="00FF00"/>
            </a:solidFill>
            <a:round/>
            <a:headEnd type="none" w="med" len="med"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Oval 40"/>
          <p:cNvSpPr>
            <a:spLocks noChangeArrowheads="1"/>
          </p:cNvSpPr>
          <p:nvPr/>
        </p:nvSpPr>
        <p:spPr bwMode="auto">
          <a:xfrm>
            <a:off x="4648200" y="5029200"/>
            <a:ext cx="533400" cy="533400"/>
          </a:xfrm>
          <a:prstGeom prst="ellipse">
            <a:avLst/>
          </a:prstGeom>
          <a:solidFill>
            <a:srgbClr val="00FF00"/>
          </a:solidFill>
          <a:ln w="9525">
            <a:solidFill>
              <a:srgbClr val="00FF00"/>
            </a:solidFill>
            <a:round/>
          </a:ln>
        </p:spPr>
        <p:txBody>
          <a:bodyPr wrap="none" anchor="ctr"/>
          <a:lstStyle/>
          <a:p>
            <a:pPr eaLnBrk="1" hangingPunct="1"/>
            <a:endParaRPr lang="zh-CN" altLang="zh-CN">
              <a:ea typeface="宋体" panose="02010600030101010101" pitchFamily="2" charset="-122"/>
            </a:endParaRPr>
          </a:p>
        </p:txBody>
      </p:sp>
      <p:sp>
        <p:nvSpPr>
          <p:cNvPr id="17" name="Oval 41"/>
          <p:cNvSpPr>
            <a:spLocks noChangeArrowheads="1"/>
          </p:cNvSpPr>
          <p:nvPr/>
        </p:nvSpPr>
        <p:spPr bwMode="auto">
          <a:xfrm>
            <a:off x="5638800" y="4267200"/>
            <a:ext cx="533400" cy="533400"/>
          </a:xfrm>
          <a:prstGeom prst="ellipse">
            <a:avLst/>
          </a:prstGeom>
          <a:solidFill>
            <a:srgbClr val="00FF00"/>
          </a:solidFill>
          <a:ln w="9525">
            <a:solidFill>
              <a:srgbClr val="00FF00"/>
            </a:solidFill>
            <a:round/>
          </a:ln>
        </p:spPr>
        <p:txBody>
          <a:bodyPr wrap="none" anchor="ctr"/>
          <a:lstStyle/>
          <a:p>
            <a:pPr eaLnBrk="1" hangingPunct="1"/>
            <a:endParaRPr lang="zh-CN" altLang="zh-CN">
              <a:ea typeface="宋体" panose="02010600030101010101" pitchFamily="2" charset="-122"/>
            </a:endParaRPr>
          </a:p>
        </p:txBody>
      </p:sp>
      <p:sp>
        <p:nvSpPr>
          <p:cNvPr id="18" name="Line 42"/>
          <p:cNvSpPr>
            <a:spLocks noChangeShapeType="1"/>
          </p:cNvSpPr>
          <p:nvPr/>
        </p:nvSpPr>
        <p:spPr bwMode="auto">
          <a:xfrm>
            <a:off x="5105400" y="3962400"/>
            <a:ext cx="609600" cy="457200"/>
          </a:xfrm>
          <a:prstGeom prst="line">
            <a:avLst/>
          </a:prstGeom>
          <a:noFill/>
          <a:ln w="38100">
            <a:solidFill>
              <a:srgbClr val="00FF00"/>
            </a:solidFill>
            <a:round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Line 43"/>
          <p:cNvSpPr>
            <a:spLocks noChangeShapeType="1"/>
          </p:cNvSpPr>
          <p:nvPr/>
        </p:nvSpPr>
        <p:spPr bwMode="auto">
          <a:xfrm flipH="1">
            <a:off x="5105400" y="4648200"/>
            <a:ext cx="609600" cy="457200"/>
          </a:xfrm>
          <a:prstGeom prst="line">
            <a:avLst/>
          </a:prstGeom>
          <a:noFill/>
          <a:ln w="38100">
            <a:solidFill>
              <a:srgbClr val="00FF00"/>
            </a:solidFill>
            <a:round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Line 44"/>
          <p:cNvSpPr>
            <a:spLocks noChangeShapeType="1"/>
          </p:cNvSpPr>
          <p:nvPr/>
        </p:nvSpPr>
        <p:spPr bwMode="auto">
          <a:xfrm>
            <a:off x="4876800" y="4038600"/>
            <a:ext cx="0" cy="990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Text Box 45"/>
          <p:cNvSpPr txBox="1">
            <a:spLocks noChangeArrowheads="1"/>
          </p:cNvSpPr>
          <p:nvPr/>
        </p:nvSpPr>
        <p:spPr bwMode="auto">
          <a:xfrm>
            <a:off x="4648200" y="2057400"/>
            <a:ext cx="4572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algn="ctr" eaLnBrk="1" hangingPunct="1">
              <a:spcBef>
                <a:spcPct val="50000"/>
              </a:spcBef>
            </a:pPr>
            <a:r>
              <a:rPr lang="en-US" altLang="zh-CN" sz="2400" b="1">
                <a:ea typeface="宋体" panose="02010600030101010101" pitchFamily="2" charset="-122"/>
              </a:rPr>
              <a:t>1</a:t>
            </a:r>
            <a:endParaRPr lang="en-US" altLang="zh-CN" sz="2400" b="1">
              <a:ea typeface="宋体" panose="02010600030101010101" pitchFamily="2" charset="-122"/>
            </a:endParaRPr>
          </a:p>
        </p:txBody>
      </p:sp>
      <p:sp>
        <p:nvSpPr>
          <p:cNvPr id="22" name="Text Box 46"/>
          <p:cNvSpPr txBox="1">
            <a:spLocks noChangeArrowheads="1"/>
          </p:cNvSpPr>
          <p:nvPr/>
        </p:nvSpPr>
        <p:spPr bwMode="auto">
          <a:xfrm>
            <a:off x="5715000" y="2819400"/>
            <a:ext cx="4572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algn="ctr" eaLnBrk="1" hangingPunct="1">
              <a:spcBef>
                <a:spcPct val="50000"/>
              </a:spcBef>
            </a:pPr>
            <a:r>
              <a:rPr lang="en-US" altLang="zh-CN" sz="2400" b="1">
                <a:ea typeface="宋体" panose="02010600030101010101" pitchFamily="2" charset="-122"/>
              </a:rPr>
              <a:t>2</a:t>
            </a:r>
            <a:endParaRPr lang="en-US" altLang="zh-CN" sz="2400" b="1">
              <a:ea typeface="宋体" panose="02010600030101010101" pitchFamily="2" charset="-122"/>
            </a:endParaRPr>
          </a:p>
        </p:txBody>
      </p:sp>
      <p:sp>
        <p:nvSpPr>
          <p:cNvPr id="23" name="Text Box 47"/>
          <p:cNvSpPr txBox="1">
            <a:spLocks noChangeArrowheads="1"/>
          </p:cNvSpPr>
          <p:nvPr/>
        </p:nvSpPr>
        <p:spPr bwMode="auto">
          <a:xfrm>
            <a:off x="4648200" y="3505200"/>
            <a:ext cx="4572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algn="ctr" eaLnBrk="1" hangingPunct="1">
              <a:spcBef>
                <a:spcPct val="50000"/>
              </a:spcBef>
            </a:pPr>
            <a:r>
              <a:rPr lang="en-US" altLang="zh-CN" sz="2400" b="1">
                <a:ea typeface="宋体" panose="02010600030101010101" pitchFamily="2" charset="-122"/>
              </a:rPr>
              <a:t>3</a:t>
            </a:r>
            <a:endParaRPr lang="en-US" altLang="zh-CN" sz="2400" b="1">
              <a:ea typeface="宋体" panose="02010600030101010101" pitchFamily="2" charset="-122"/>
            </a:endParaRPr>
          </a:p>
        </p:txBody>
      </p:sp>
      <p:sp>
        <p:nvSpPr>
          <p:cNvPr id="24" name="Text Box 48"/>
          <p:cNvSpPr txBox="1">
            <a:spLocks noChangeArrowheads="1"/>
          </p:cNvSpPr>
          <p:nvPr/>
        </p:nvSpPr>
        <p:spPr bwMode="auto">
          <a:xfrm>
            <a:off x="5715000" y="4267200"/>
            <a:ext cx="4572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algn="ctr" eaLnBrk="1" hangingPunct="1">
              <a:spcBef>
                <a:spcPct val="50000"/>
              </a:spcBef>
            </a:pPr>
            <a:r>
              <a:rPr lang="en-US" altLang="zh-CN" sz="2400" b="1">
                <a:ea typeface="宋体" panose="02010600030101010101" pitchFamily="2" charset="-122"/>
              </a:rPr>
              <a:t>4</a:t>
            </a:r>
            <a:endParaRPr lang="en-US" altLang="zh-CN" sz="2400" b="1">
              <a:ea typeface="宋体" panose="02010600030101010101" pitchFamily="2" charset="-122"/>
            </a:endParaRPr>
          </a:p>
        </p:txBody>
      </p:sp>
      <p:sp>
        <p:nvSpPr>
          <p:cNvPr id="25" name="Text Box 49"/>
          <p:cNvSpPr txBox="1">
            <a:spLocks noChangeArrowheads="1"/>
          </p:cNvSpPr>
          <p:nvPr/>
        </p:nvSpPr>
        <p:spPr bwMode="auto">
          <a:xfrm>
            <a:off x="4648200" y="5029200"/>
            <a:ext cx="4572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algn="ctr" eaLnBrk="1" hangingPunct="1">
              <a:spcBef>
                <a:spcPct val="50000"/>
              </a:spcBef>
            </a:pPr>
            <a:r>
              <a:rPr lang="en-US" altLang="zh-CN" sz="2400" b="1">
                <a:ea typeface="宋体" panose="02010600030101010101" pitchFamily="2" charset="-122"/>
              </a:rPr>
              <a:t>5</a:t>
            </a:r>
            <a:endParaRPr lang="en-US" altLang="zh-CN" sz="2400" b="1">
              <a:ea typeface="宋体" panose="02010600030101010101" pitchFamily="2" charset="-122"/>
            </a:endParaRPr>
          </a:p>
        </p:txBody>
      </p:sp>
      <p:sp>
        <p:nvSpPr>
          <p:cNvPr id="26" name="Text Box 50"/>
          <p:cNvSpPr txBox="1">
            <a:spLocks noChangeArrowheads="1"/>
          </p:cNvSpPr>
          <p:nvPr/>
        </p:nvSpPr>
        <p:spPr bwMode="auto">
          <a:xfrm>
            <a:off x="5257800" y="1828800"/>
            <a:ext cx="1752600" cy="3968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sz="2000">
                <a:latin typeface="Century Gothic" panose="020B0502020202020204" pitchFamily="34" charset="0"/>
                <a:ea typeface="宋体" panose="02010600030101010101" pitchFamily="2" charset="-122"/>
              </a:rPr>
              <a:t>input(A,B)</a:t>
            </a:r>
            <a:endParaRPr lang="en-US" altLang="zh-CN" sz="2000">
              <a:latin typeface="Century Gothic" panose="020B0502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7" name="Text Box 51"/>
          <p:cNvSpPr txBox="1">
            <a:spLocks noChangeArrowheads="1"/>
          </p:cNvSpPr>
          <p:nvPr/>
        </p:nvSpPr>
        <p:spPr bwMode="auto">
          <a:xfrm>
            <a:off x="6172200" y="2819400"/>
            <a:ext cx="1752600" cy="3968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sz="2000">
                <a:latin typeface="Century Gothic" panose="020B0502020202020204" pitchFamily="34" charset="0"/>
                <a:ea typeface="宋体" panose="02010600030101010101" pitchFamily="2" charset="-122"/>
              </a:rPr>
              <a:t>A := A+7</a:t>
            </a:r>
            <a:endParaRPr lang="en-US" altLang="zh-CN" sz="2000">
              <a:latin typeface="Century Gothic" panose="020B0502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8" name="Text Box 52"/>
          <p:cNvSpPr txBox="1">
            <a:spLocks noChangeArrowheads="1"/>
          </p:cNvSpPr>
          <p:nvPr/>
        </p:nvSpPr>
        <p:spPr bwMode="auto">
          <a:xfrm>
            <a:off x="6172200" y="4267200"/>
            <a:ext cx="1447800" cy="3968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sz="2000">
                <a:latin typeface="Century Gothic" panose="020B0502020202020204" pitchFamily="34" charset="0"/>
                <a:ea typeface="宋体" panose="02010600030101010101" pitchFamily="2" charset="-122"/>
              </a:rPr>
              <a:t>B := A+B</a:t>
            </a:r>
            <a:endParaRPr lang="en-US" altLang="zh-CN" sz="2000">
              <a:latin typeface="Century Gothic" panose="020B0502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9" name="Text Box 53"/>
          <p:cNvSpPr txBox="1">
            <a:spLocks noChangeArrowheads="1"/>
          </p:cNvSpPr>
          <p:nvPr/>
        </p:nvSpPr>
        <p:spPr bwMode="auto">
          <a:xfrm>
            <a:off x="5334000" y="2286000"/>
            <a:ext cx="838200" cy="3968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sz="2000" dirty="0">
                <a:latin typeface="Century Gothic" panose="020B0502020202020204" pitchFamily="34" charset="0"/>
                <a:ea typeface="宋体" panose="02010600030101010101" pitchFamily="2" charset="-122"/>
              </a:rPr>
              <a:t>B&gt;1</a:t>
            </a:r>
            <a:endParaRPr lang="en-US" altLang="zh-CN" sz="2000" dirty="0">
              <a:latin typeface="Century Gothic" panose="020B0502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0" name="Text Box 54"/>
          <p:cNvSpPr txBox="1">
            <a:spLocks noChangeArrowheads="1"/>
          </p:cNvSpPr>
          <p:nvPr/>
        </p:nvSpPr>
        <p:spPr bwMode="auto">
          <a:xfrm>
            <a:off x="4267200" y="2819400"/>
            <a:ext cx="685800" cy="3968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sz="2000" dirty="0">
                <a:latin typeface="Century Gothic" panose="020B0502020202020204" pitchFamily="34" charset="0"/>
                <a:ea typeface="宋体" panose="02010600030101010101" pitchFamily="2" charset="-122"/>
              </a:rPr>
              <a:t>B</a:t>
            </a:r>
            <a:r>
              <a:rPr lang="en-US" altLang="zh-CN" sz="2000" dirty="0">
                <a:latin typeface="Century Gothic" panose="020B0502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</a:t>
            </a:r>
            <a:r>
              <a:rPr lang="en-US" altLang="zh-CN" sz="2000" dirty="0">
                <a:latin typeface="Century Gothic" panose="020B0502020202020204" pitchFamily="34" charset="0"/>
                <a:ea typeface="宋体" panose="02010600030101010101" pitchFamily="2" charset="-122"/>
              </a:rPr>
              <a:t>1</a:t>
            </a:r>
            <a:endParaRPr lang="en-US" altLang="zh-CN" sz="2000" dirty="0">
              <a:latin typeface="Century Gothic" panose="020B0502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1" name="Text Box 55"/>
          <p:cNvSpPr txBox="1">
            <a:spLocks noChangeArrowheads="1"/>
          </p:cNvSpPr>
          <p:nvPr/>
        </p:nvSpPr>
        <p:spPr bwMode="auto">
          <a:xfrm>
            <a:off x="5334000" y="3810000"/>
            <a:ext cx="838200" cy="3968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sz="2000">
                <a:latin typeface="Century Gothic" panose="020B0502020202020204" pitchFamily="34" charset="0"/>
                <a:ea typeface="宋体" panose="02010600030101010101" pitchFamily="2" charset="-122"/>
              </a:rPr>
              <a:t>A&gt;10</a:t>
            </a:r>
            <a:endParaRPr lang="en-US" altLang="zh-CN" sz="2000">
              <a:latin typeface="Century Gothic" panose="020B0502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2" name="Text Box 56"/>
          <p:cNvSpPr txBox="1">
            <a:spLocks noChangeArrowheads="1"/>
          </p:cNvSpPr>
          <p:nvPr/>
        </p:nvSpPr>
        <p:spPr bwMode="auto">
          <a:xfrm>
            <a:off x="4038600" y="4267200"/>
            <a:ext cx="838200" cy="3968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sz="2000">
                <a:latin typeface="Century Gothic" panose="020B0502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A</a:t>
            </a:r>
            <a:r>
              <a:rPr lang="en-US" altLang="zh-CN" sz="2000">
                <a:latin typeface="Century Gothic" panose="020B0502020202020204" pitchFamily="34" charset="0"/>
                <a:ea typeface="宋体" panose="02010600030101010101" pitchFamily="2" charset="-122"/>
              </a:rPr>
              <a:t>10</a:t>
            </a:r>
            <a:endParaRPr lang="en-US" altLang="zh-CN" sz="2000">
              <a:latin typeface="Century Gothic" panose="020B0502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3" name="Text Box 57"/>
          <p:cNvSpPr txBox="1">
            <a:spLocks noChangeArrowheads="1"/>
          </p:cNvSpPr>
          <p:nvPr/>
        </p:nvSpPr>
        <p:spPr bwMode="auto">
          <a:xfrm>
            <a:off x="5181600" y="5181600"/>
            <a:ext cx="1752600" cy="3968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sz="2000">
                <a:latin typeface="Century Gothic" panose="020B0502020202020204" pitchFamily="34" charset="0"/>
                <a:ea typeface="宋体" panose="02010600030101010101" pitchFamily="2" charset="-122"/>
              </a:rPr>
              <a:t>output(A,B)</a:t>
            </a:r>
            <a:endParaRPr lang="en-US" altLang="zh-CN" sz="2000">
              <a:latin typeface="Century Gothic" panose="020B0502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381000"/>
            <a:ext cx="7772400" cy="7620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zh-CN" smtClean="0">
                <a:ea typeface="宋体" panose="02010600030101010101" pitchFamily="2" charset="-122"/>
              </a:rPr>
              <a:t>Dataflow Test Coverage Criteria (cont’d)</a:t>
            </a:r>
            <a:endParaRPr lang="en-US" altLang="zh-CN" smtClean="0">
              <a:ea typeface="宋体" panose="02010600030101010101" pitchFamily="2" charset="-122"/>
            </a:endParaRPr>
          </a:p>
        </p:txBody>
      </p:sp>
      <p:sp>
        <p:nvSpPr>
          <p:cNvPr id="12" name="Rectangle 3"/>
          <p:cNvSpPr txBox="1">
            <a:spLocks noChangeArrowheads="1"/>
          </p:cNvSpPr>
          <p:nvPr/>
        </p:nvSpPr>
        <p:spPr>
          <a:xfrm>
            <a:off x="685800" y="1600200"/>
            <a:ext cx="7391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 smtClean="0">
                <a:latin typeface="Verdana" panose="020B0604030504040204" pitchFamily="34" charset="0"/>
                <a:ea typeface="宋体" panose="02010600030101010101" pitchFamily="2" charset="-122"/>
              </a:rPr>
              <a:t>Since none of the three test cases covers the du-pair (1,&lt;3,5&gt;) for variable A, </a:t>
            </a:r>
            <a:r>
              <a:rPr lang="en-US" altLang="zh-CN" dirty="0" smtClean="0">
                <a:solidFill>
                  <a:srgbClr val="FF0000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All-Uses Coverage is not provided.</a:t>
            </a:r>
            <a:endParaRPr lang="en-US" altLang="zh-CN" dirty="0" smtClean="0">
              <a:solidFill>
                <a:srgbClr val="FF0000"/>
              </a:solidFill>
              <a:latin typeface="Verdana" panose="020B0604030504040204" pitchFamily="34" charset="0"/>
              <a:ea typeface="宋体" panose="02010600030101010101" pitchFamily="2" charset="-122"/>
            </a:endParaRPr>
          </a:p>
          <a:p>
            <a:endParaRPr lang="en-US" altLang="zh-CN" dirty="0" smtClean="0"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381000"/>
            <a:ext cx="7772400" cy="7620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zh-CN" dirty="0" smtClean="0">
                <a:ea typeface="宋体" panose="02010600030101010101" pitchFamily="2" charset="-122"/>
              </a:rPr>
              <a:t>Another Dataflow Test Coverage Criterion</a:t>
            </a:r>
            <a:endParaRPr lang="en-US" altLang="zh-CN" b="0" dirty="0" smtClean="0">
              <a:ea typeface="宋体" panose="02010600030101010101" pitchFamily="2" charset="-122"/>
            </a:endParaRPr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>
          <a:xfrm>
            <a:off x="685800" y="1600200"/>
            <a:ext cx="68580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b="1" i="1" smtClean="0">
                <a:solidFill>
                  <a:srgbClr val="FDAD23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All-DU-Paths:</a:t>
            </a:r>
            <a:r>
              <a:rPr lang="en-US" altLang="zh-CN" i="1" smtClean="0">
                <a:latin typeface="Verdana" panose="020B0604030504040204" pitchFamily="34" charset="0"/>
                <a:ea typeface="宋体" panose="02010600030101010101" pitchFamily="2" charset="-122"/>
              </a:rPr>
              <a:t> </a:t>
            </a:r>
            <a:r>
              <a:rPr lang="en-US" altLang="zh-CN" smtClean="0">
                <a:latin typeface="Verdana" panose="020B0604030504040204" pitchFamily="34" charset="0"/>
                <a:ea typeface="宋体" panose="02010600030101010101" pitchFamily="2" charset="-122"/>
              </a:rPr>
              <a:t>for </a:t>
            </a:r>
            <a:r>
              <a:rPr lang="en-US" altLang="zh-CN" b="1" smtClean="0">
                <a:latin typeface="Verdana" panose="020B0604030504040204" pitchFamily="34" charset="0"/>
                <a:ea typeface="宋体" panose="02010600030101010101" pitchFamily="2" charset="-122"/>
              </a:rPr>
              <a:t>every program variable v,</a:t>
            </a:r>
            <a:r>
              <a:rPr lang="en-US" altLang="zh-CN" smtClean="0">
                <a:latin typeface="Verdana" panose="020B0604030504040204" pitchFamily="34" charset="0"/>
                <a:ea typeface="宋体" panose="02010600030101010101" pitchFamily="2" charset="-122"/>
              </a:rPr>
              <a:t> </a:t>
            </a:r>
            <a:r>
              <a:rPr lang="en-US" altLang="zh-CN" b="1" smtClean="0">
                <a:latin typeface="Verdana" panose="020B0604030504040204" pitchFamily="34" charset="0"/>
                <a:ea typeface="宋体" panose="02010600030101010101" pitchFamily="2" charset="-122"/>
              </a:rPr>
              <a:t>every du-path</a:t>
            </a:r>
            <a:r>
              <a:rPr lang="en-US" altLang="zh-CN" smtClean="0">
                <a:latin typeface="Verdana" panose="020B0604030504040204" pitchFamily="34" charset="0"/>
                <a:ea typeface="宋体" panose="02010600030101010101" pitchFamily="2" charset="-122"/>
              </a:rPr>
              <a:t> from </a:t>
            </a:r>
            <a:r>
              <a:rPr lang="en-US" altLang="zh-CN" b="1" smtClean="0">
                <a:latin typeface="Verdana" panose="020B0604030504040204" pitchFamily="34" charset="0"/>
                <a:ea typeface="宋体" panose="02010600030101010101" pitchFamily="2" charset="-122"/>
              </a:rPr>
              <a:t>every definition</a:t>
            </a:r>
            <a:r>
              <a:rPr lang="en-US" altLang="zh-CN" smtClean="0">
                <a:latin typeface="Verdana" panose="020B0604030504040204" pitchFamily="34" charset="0"/>
                <a:ea typeface="宋体" panose="02010600030101010101" pitchFamily="2" charset="-122"/>
              </a:rPr>
              <a:t> of v to </a:t>
            </a:r>
            <a:r>
              <a:rPr lang="en-US" altLang="zh-CN" b="1" smtClean="0">
                <a:latin typeface="Verdana" panose="020B0604030504040204" pitchFamily="34" charset="0"/>
                <a:ea typeface="宋体" panose="02010600030101010101" pitchFamily="2" charset="-122"/>
              </a:rPr>
              <a:t>every c-use</a:t>
            </a:r>
            <a:r>
              <a:rPr lang="en-US" altLang="zh-CN" smtClean="0">
                <a:latin typeface="Verdana" panose="020B0604030504040204" pitchFamily="34" charset="0"/>
                <a:ea typeface="宋体" panose="02010600030101010101" pitchFamily="2" charset="-122"/>
              </a:rPr>
              <a:t> and </a:t>
            </a:r>
            <a:r>
              <a:rPr lang="en-US" altLang="zh-CN" b="1" smtClean="0">
                <a:latin typeface="Verdana" panose="020B0604030504040204" pitchFamily="34" charset="0"/>
                <a:ea typeface="宋体" panose="02010600030101010101" pitchFamily="2" charset="-122"/>
              </a:rPr>
              <a:t>every p-use</a:t>
            </a:r>
            <a:r>
              <a:rPr lang="en-US" altLang="zh-CN" smtClean="0">
                <a:latin typeface="Verdana" panose="020B0604030504040204" pitchFamily="34" charset="0"/>
                <a:ea typeface="宋体" panose="02010600030101010101" pitchFamily="2" charset="-122"/>
              </a:rPr>
              <a:t> of v must be covered.</a:t>
            </a:r>
            <a:endParaRPr lang="en-US" altLang="zh-CN" smtClean="0">
              <a:latin typeface="Verdana" panose="020B0604030504040204" pitchFamily="34" charset="0"/>
              <a:ea typeface="宋体" panose="02010600030101010101" pitchFamily="2" charset="-122"/>
            </a:endParaRPr>
          </a:p>
          <a:p>
            <a:endParaRPr lang="en-US" altLang="zh-CN" smtClean="0">
              <a:latin typeface="Verdana" panose="020B0604030504040204" pitchFamily="34" charset="0"/>
              <a:ea typeface="宋体" panose="02010600030101010101" pitchFamily="2" charset="-122"/>
            </a:endParaRPr>
          </a:p>
          <a:p>
            <a:endParaRPr lang="en-US" altLang="zh-CN" dirty="0" smtClean="0"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Example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86A48D-B8D4-430A-AE1C-E921A6F75A10}" type="slidenum">
              <a:rPr lang="zh-CN" altLang="en-US" smtClean="0"/>
            </a:fld>
            <a:endParaRPr lang="zh-CN" altLang="en-US"/>
          </a:p>
        </p:txBody>
      </p:sp>
      <p:grpSp>
        <p:nvGrpSpPr>
          <p:cNvPr id="31" name="组合 30"/>
          <p:cNvGrpSpPr/>
          <p:nvPr/>
        </p:nvGrpSpPr>
        <p:grpSpPr>
          <a:xfrm>
            <a:off x="1717281" y="1675068"/>
            <a:ext cx="7970398" cy="2516617"/>
            <a:chOff x="2340528" y="1011921"/>
            <a:chExt cx="7970398" cy="2516617"/>
          </a:xfrm>
        </p:grpSpPr>
        <p:cxnSp>
          <p:nvCxnSpPr>
            <p:cNvPr id="7" name="直接连接符 6"/>
            <p:cNvCxnSpPr/>
            <p:nvPr/>
          </p:nvCxnSpPr>
          <p:spPr>
            <a:xfrm>
              <a:off x="2340528" y="2306972"/>
              <a:ext cx="755010" cy="0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椭圆 7"/>
            <p:cNvSpPr/>
            <p:nvPr/>
          </p:nvSpPr>
          <p:spPr>
            <a:xfrm>
              <a:off x="3095538" y="1962691"/>
              <a:ext cx="813732" cy="629507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400" dirty="0" smtClean="0">
                  <a:ln>
                    <a:solidFill>
                      <a:sysClr val="windowText" lastClr="000000"/>
                    </a:solidFill>
                  </a:ln>
                  <a:solidFill>
                    <a:schemeClr val="tx1"/>
                  </a:solidFill>
                </a:rPr>
                <a:t>1</a:t>
              </a:r>
              <a:endParaRPr lang="zh-CN" altLang="en-US" sz="2400" dirty="0">
                <a:ln>
                  <a:solidFill>
                    <a:sysClr val="windowText" lastClr="000000"/>
                  </a:solidFill>
                </a:ln>
                <a:solidFill>
                  <a:schemeClr val="tx1"/>
                </a:solidFill>
              </a:endParaRPr>
            </a:p>
          </p:txBody>
        </p:sp>
        <p:cxnSp>
          <p:nvCxnSpPr>
            <p:cNvPr id="9" name="直接连接符 8"/>
            <p:cNvCxnSpPr/>
            <p:nvPr/>
          </p:nvCxnSpPr>
          <p:spPr>
            <a:xfrm flipV="1">
              <a:off x="3896391" y="1837386"/>
              <a:ext cx="684195" cy="336504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直接连接符 10"/>
            <p:cNvCxnSpPr/>
            <p:nvPr/>
          </p:nvCxnSpPr>
          <p:spPr>
            <a:xfrm>
              <a:off x="3859134" y="2412166"/>
              <a:ext cx="730038" cy="369671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椭圆 12"/>
            <p:cNvSpPr/>
            <p:nvPr/>
          </p:nvSpPr>
          <p:spPr>
            <a:xfrm>
              <a:off x="4589172" y="1522632"/>
              <a:ext cx="813732" cy="629507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400" dirty="0" smtClean="0">
                  <a:ln>
                    <a:solidFill>
                      <a:sysClr val="windowText" lastClr="000000"/>
                    </a:solidFill>
                  </a:ln>
                  <a:solidFill>
                    <a:schemeClr val="tx1"/>
                  </a:solidFill>
                </a:rPr>
                <a:t>2</a:t>
              </a:r>
              <a:endParaRPr lang="zh-CN" altLang="en-US" sz="2400" dirty="0">
                <a:ln>
                  <a:solidFill>
                    <a:sysClr val="windowText" lastClr="000000"/>
                  </a:solidFill>
                </a:ln>
                <a:solidFill>
                  <a:schemeClr val="tx1"/>
                </a:solidFill>
              </a:endParaRPr>
            </a:p>
          </p:txBody>
        </p:sp>
        <p:sp>
          <p:nvSpPr>
            <p:cNvPr id="14" name="椭圆 13"/>
            <p:cNvSpPr/>
            <p:nvPr/>
          </p:nvSpPr>
          <p:spPr>
            <a:xfrm>
              <a:off x="4589172" y="2461849"/>
              <a:ext cx="813732" cy="629507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400" dirty="0" smtClean="0">
                  <a:ln>
                    <a:solidFill>
                      <a:sysClr val="windowText" lastClr="000000"/>
                    </a:solidFill>
                  </a:ln>
                  <a:solidFill>
                    <a:schemeClr val="tx1"/>
                  </a:solidFill>
                </a:rPr>
                <a:t>3</a:t>
              </a:r>
              <a:endParaRPr lang="zh-CN" altLang="en-US" sz="2400" dirty="0">
                <a:ln>
                  <a:solidFill>
                    <a:sysClr val="windowText" lastClr="000000"/>
                  </a:solidFill>
                </a:ln>
                <a:solidFill>
                  <a:schemeClr val="tx1"/>
                </a:solidFill>
              </a:endParaRPr>
            </a:p>
          </p:txBody>
        </p:sp>
        <p:cxnSp>
          <p:nvCxnSpPr>
            <p:cNvPr id="15" name="直接连接符 14"/>
            <p:cNvCxnSpPr>
              <a:endCxn id="17" idx="2"/>
            </p:cNvCxnSpPr>
            <p:nvPr/>
          </p:nvCxnSpPr>
          <p:spPr>
            <a:xfrm>
              <a:off x="5394318" y="1884698"/>
              <a:ext cx="895180" cy="356621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接连接符 15"/>
            <p:cNvCxnSpPr/>
            <p:nvPr/>
          </p:nvCxnSpPr>
          <p:spPr>
            <a:xfrm flipV="1">
              <a:off x="5402904" y="2320391"/>
              <a:ext cx="895180" cy="458190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椭圆 16"/>
            <p:cNvSpPr/>
            <p:nvPr/>
          </p:nvSpPr>
          <p:spPr>
            <a:xfrm>
              <a:off x="6289498" y="1926565"/>
              <a:ext cx="813732" cy="629507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400" dirty="0" smtClean="0">
                  <a:ln>
                    <a:solidFill>
                      <a:sysClr val="windowText" lastClr="000000"/>
                    </a:solidFill>
                  </a:ln>
                  <a:solidFill>
                    <a:schemeClr val="tx1"/>
                  </a:solidFill>
                </a:rPr>
                <a:t>4</a:t>
              </a:r>
              <a:endParaRPr lang="zh-CN" altLang="en-US" sz="2400" dirty="0">
                <a:ln>
                  <a:solidFill>
                    <a:sysClr val="windowText" lastClr="000000"/>
                  </a:solidFill>
                </a:ln>
                <a:solidFill>
                  <a:schemeClr val="tx1"/>
                </a:solidFill>
              </a:endParaRPr>
            </a:p>
          </p:txBody>
        </p:sp>
        <p:cxnSp>
          <p:nvCxnSpPr>
            <p:cNvPr id="20" name="直接连接符 19"/>
            <p:cNvCxnSpPr/>
            <p:nvPr/>
          </p:nvCxnSpPr>
          <p:spPr>
            <a:xfrm flipV="1">
              <a:off x="7104087" y="1807858"/>
              <a:ext cx="684195" cy="336504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接连接符 20"/>
            <p:cNvCxnSpPr/>
            <p:nvPr/>
          </p:nvCxnSpPr>
          <p:spPr>
            <a:xfrm>
              <a:off x="7066830" y="2382638"/>
              <a:ext cx="730038" cy="369671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椭圆 21"/>
            <p:cNvSpPr/>
            <p:nvPr/>
          </p:nvSpPr>
          <p:spPr>
            <a:xfrm>
              <a:off x="7796868" y="1493104"/>
              <a:ext cx="813732" cy="629507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400" dirty="0" smtClean="0">
                  <a:ln>
                    <a:solidFill>
                      <a:sysClr val="windowText" lastClr="000000"/>
                    </a:solidFill>
                  </a:ln>
                  <a:solidFill>
                    <a:schemeClr val="tx1"/>
                  </a:solidFill>
                </a:rPr>
                <a:t>5</a:t>
              </a:r>
              <a:endParaRPr lang="zh-CN" altLang="en-US" sz="2400" dirty="0">
                <a:ln>
                  <a:solidFill>
                    <a:sysClr val="windowText" lastClr="000000"/>
                  </a:solidFill>
                </a:ln>
                <a:solidFill>
                  <a:schemeClr val="tx1"/>
                </a:solidFill>
              </a:endParaRPr>
            </a:p>
          </p:txBody>
        </p:sp>
        <p:sp>
          <p:nvSpPr>
            <p:cNvPr id="23" name="椭圆 22"/>
            <p:cNvSpPr/>
            <p:nvPr/>
          </p:nvSpPr>
          <p:spPr>
            <a:xfrm>
              <a:off x="7796868" y="2432321"/>
              <a:ext cx="813732" cy="629507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400" dirty="0" smtClean="0">
                  <a:ln>
                    <a:solidFill>
                      <a:sysClr val="windowText" lastClr="000000"/>
                    </a:solidFill>
                  </a:ln>
                  <a:solidFill>
                    <a:schemeClr val="tx1"/>
                  </a:solidFill>
                </a:rPr>
                <a:t>6</a:t>
              </a:r>
              <a:endParaRPr lang="zh-CN" altLang="en-US" sz="2400" dirty="0">
                <a:ln>
                  <a:solidFill>
                    <a:sysClr val="windowText" lastClr="000000"/>
                  </a:solidFill>
                </a:ln>
                <a:solidFill>
                  <a:schemeClr val="tx1"/>
                </a:solidFill>
              </a:endParaRPr>
            </a:p>
          </p:txBody>
        </p:sp>
        <p:cxnSp>
          <p:nvCxnSpPr>
            <p:cNvPr id="24" name="直接连接符 23"/>
            <p:cNvCxnSpPr>
              <a:endCxn id="26" idx="2"/>
            </p:cNvCxnSpPr>
            <p:nvPr/>
          </p:nvCxnSpPr>
          <p:spPr>
            <a:xfrm>
              <a:off x="8602014" y="1855170"/>
              <a:ext cx="895180" cy="356621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直接连接符 24"/>
            <p:cNvCxnSpPr/>
            <p:nvPr/>
          </p:nvCxnSpPr>
          <p:spPr>
            <a:xfrm flipV="1">
              <a:off x="8610600" y="2290863"/>
              <a:ext cx="895180" cy="458190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椭圆 25"/>
            <p:cNvSpPr/>
            <p:nvPr/>
          </p:nvSpPr>
          <p:spPr>
            <a:xfrm>
              <a:off x="9497194" y="1897037"/>
              <a:ext cx="813732" cy="629507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400" dirty="0" smtClean="0">
                  <a:ln>
                    <a:solidFill>
                      <a:sysClr val="windowText" lastClr="000000"/>
                    </a:solidFill>
                  </a:ln>
                  <a:solidFill>
                    <a:schemeClr val="tx1"/>
                  </a:solidFill>
                </a:rPr>
                <a:t>7</a:t>
              </a:r>
              <a:endParaRPr lang="zh-CN" altLang="en-US" sz="2400" dirty="0">
                <a:ln>
                  <a:solidFill>
                    <a:sysClr val="windowText" lastClr="000000"/>
                  </a:solidFill>
                </a:ln>
                <a:solidFill>
                  <a:schemeClr val="tx1"/>
                </a:solidFill>
              </a:endParaRPr>
            </a:p>
          </p:txBody>
        </p:sp>
        <p:sp>
          <p:nvSpPr>
            <p:cNvPr id="27" name="文本框 26"/>
            <p:cNvSpPr txBox="1"/>
            <p:nvPr/>
          </p:nvSpPr>
          <p:spPr>
            <a:xfrm>
              <a:off x="3081694" y="1460976"/>
              <a:ext cx="892935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400" dirty="0" smtClean="0"/>
                <a:t>X=42</a:t>
              </a:r>
              <a:endParaRPr lang="zh-CN" altLang="en-US" sz="2400" dirty="0"/>
            </a:p>
          </p:txBody>
        </p:sp>
        <p:sp>
          <p:nvSpPr>
            <p:cNvPr id="28" name="文本框 27"/>
            <p:cNvSpPr txBox="1"/>
            <p:nvPr/>
          </p:nvSpPr>
          <p:spPr>
            <a:xfrm>
              <a:off x="7749645" y="1011921"/>
              <a:ext cx="108526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400" dirty="0" smtClean="0"/>
                <a:t>Z=X*2</a:t>
              </a:r>
              <a:endParaRPr lang="zh-CN" altLang="en-US" sz="2400" dirty="0"/>
            </a:p>
          </p:txBody>
        </p:sp>
        <p:sp>
          <p:nvSpPr>
            <p:cNvPr id="29" name="文本框 28"/>
            <p:cNvSpPr txBox="1"/>
            <p:nvPr/>
          </p:nvSpPr>
          <p:spPr>
            <a:xfrm>
              <a:off x="7796868" y="3066873"/>
              <a:ext cx="108526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400" dirty="0" smtClean="0"/>
                <a:t>Z=X-8</a:t>
              </a:r>
              <a:endParaRPr lang="zh-CN" altLang="en-US" sz="2400" dirty="0"/>
            </a:p>
          </p:txBody>
        </p:sp>
      </p:grpSp>
      <p:graphicFrame>
        <p:nvGraphicFramePr>
          <p:cNvPr id="30" name="表格 29"/>
          <p:cNvGraphicFramePr>
            <a:graphicFrameLocks noGrp="1"/>
          </p:cNvGraphicFramePr>
          <p:nvPr/>
        </p:nvGraphicFramePr>
        <p:xfrm>
          <a:off x="1030341" y="4305663"/>
          <a:ext cx="2266990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6699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CN" sz="2400" dirty="0" smtClean="0">
                          <a:solidFill>
                            <a:schemeClr val="tx1"/>
                          </a:solidFill>
                        </a:rPr>
                        <a:t>All-</a:t>
                      </a:r>
                      <a:r>
                        <a:rPr lang="en-US" altLang="zh-CN" sz="2400" dirty="0" err="1" smtClean="0">
                          <a:solidFill>
                            <a:schemeClr val="tx1"/>
                          </a:solidFill>
                        </a:rPr>
                        <a:t>defs</a:t>
                      </a:r>
                      <a:r>
                        <a:rPr lang="en-US" altLang="zh-CN" sz="2400" dirty="0" smtClean="0">
                          <a:solidFill>
                            <a:schemeClr val="tx1"/>
                          </a:solidFill>
                        </a:rPr>
                        <a:t> for</a:t>
                      </a:r>
                      <a:r>
                        <a:rPr lang="en-US" altLang="zh-CN" sz="2400" baseline="0" dirty="0" smtClean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zh-CN" sz="2400" i="1" baseline="0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zh-CN" altLang="en-US" sz="2400" i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29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2400" dirty="0" smtClean="0"/>
                        <a:t>&lt;1,2,4,5&gt;</a:t>
                      </a:r>
                      <a:endParaRPr lang="zh-CN" altLang="en-US" sz="240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2" name="表格 31"/>
          <p:cNvGraphicFramePr>
            <a:graphicFrameLocks noGrp="1"/>
          </p:cNvGraphicFramePr>
          <p:nvPr/>
        </p:nvGraphicFramePr>
        <p:xfrm>
          <a:off x="3906855" y="4305663"/>
          <a:ext cx="226699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6699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CN" sz="2400" dirty="0" smtClean="0">
                          <a:solidFill>
                            <a:schemeClr val="tx1"/>
                          </a:solidFill>
                        </a:rPr>
                        <a:t>All-uses for</a:t>
                      </a:r>
                      <a:r>
                        <a:rPr lang="en-US" altLang="zh-CN" sz="2400" baseline="0" dirty="0" smtClean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zh-CN" sz="2400" i="1" baseline="0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zh-CN" altLang="en-US" sz="2400" i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29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2400" dirty="0" smtClean="0"/>
                        <a:t>&lt;1,2,4,5&gt;</a:t>
                      </a:r>
                      <a:endParaRPr lang="en-US" altLang="zh-CN" sz="2400" dirty="0" smtClean="0"/>
                    </a:p>
                    <a:p>
                      <a:r>
                        <a:rPr lang="en-US" altLang="zh-CN" sz="2400" dirty="0" smtClean="0"/>
                        <a:t>&lt;1,2,4,6&gt;</a:t>
                      </a:r>
                      <a:endParaRPr lang="zh-CN" altLang="en-US" sz="240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3" name="表格 32"/>
          <p:cNvGraphicFramePr>
            <a:graphicFrameLocks noGrp="1"/>
          </p:cNvGraphicFramePr>
          <p:nvPr/>
        </p:nvGraphicFramePr>
        <p:xfrm>
          <a:off x="7072952" y="4305663"/>
          <a:ext cx="288478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8478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CN" sz="2400" dirty="0" smtClean="0">
                          <a:solidFill>
                            <a:schemeClr val="tx1"/>
                          </a:solidFill>
                        </a:rPr>
                        <a:t>All-DU-Paths for</a:t>
                      </a:r>
                      <a:r>
                        <a:rPr lang="en-US" altLang="zh-CN" sz="2400" baseline="0" dirty="0" smtClean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zh-CN" sz="2400" i="1" baseline="0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zh-CN" altLang="en-US" sz="2400" i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29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2400" dirty="0" smtClean="0"/>
                        <a:t>&lt;1,2,4,5&gt;</a:t>
                      </a:r>
                      <a:endParaRPr lang="en-US" altLang="zh-CN" sz="2400" dirty="0" smtClean="0"/>
                    </a:p>
                    <a:p>
                      <a:r>
                        <a:rPr lang="en-US" altLang="zh-CN" sz="2400" dirty="0" smtClean="0"/>
                        <a:t>&lt;1,3,4,5&gt;</a:t>
                      </a:r>
                      <a:endParaRPr lang="en-US" altLang="zh-CN" sz="2400" dirty="0" smtClean="0"/>
                    </a:p>
                    <a:p>
                      <a:r>
                        <a:rPr lang="en-US" altLang="zh-CN" sz="2400" dirty="0" smtClean="0"/>
                        <a:t>&lt;1,2,4,6&gt;</a:t>
                      </a:r>
                      <a:endParaRPr lang="en-US" altLang="zh-CN" sz="2400" dirty="0" smtClean="0"/>
                    </a:p>
                    <a:p>
                      <a:r>
                        <a:rPr lang="en-US" altLang="zh-CN" sz="2400" dirty="0" smtClean="0"/>
                        <a:t>&lt;1,3,4,6&gt;</a:t>
                      </a:r>
                      <a:endParaRPr lang="zh-CN" altLang="en-US" sz="240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86A48D-B8D4-430A-AE1C-E921A6F75A10}" type="slidenum">
              <a:rPr lang="zh-CN" altLang="en-US" smtClean="0"/>
            </a:fld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title"/>
          </p:nvPr>
        </p:nvSpPr>
        <p:spPr>
          <a:xfrm>
            <a:off x="685800" y="381000"/>
            <a:ext cx="8382000" cy="762000"/>
          </a:xfrm>
        </p:spPr>
        <p:txBody>
          <a:bodyPr/>
          <a:lstStyle/>
          <a:p>
            <a:pPr eaLnBrk="1" hangingPunct="1"/>
            <a:r>
              <a:rPr lang="en-US" altLang="zh-CN" sz="2800" smtClean="0">
                <a:ea typeface="宋体" panose="02010600030101010101" pitchFamily="2" charset="-122"/>
              </a:rPr>
              <a:t>Summary of White-Box Coverage Relationships</a:t>
            </a:r>
            <a:endParaRPr lang="en-US" altLang="zh-CN" sz="2800" b="0" smtClean="0">
              <a:ea typeface="宋体" panose="02010600030101010101" pitchFamily="2" charset="-122"/>
            </a:endParaRPr>
          </a:p>
        </p:txBody>
      </p:sp>
      <p:sp>
        <p:nvSpPr>
          <p:cNvPr id="6" name="Text Box 8"/>
          <p:cNvSpPr txBox="1">
            <a:spLocks noChangeArrowheads="1"/>
          </p:cNvSpPr>
          <p:nvPr/>
        </p:nvSpPr>
        <p:spPr bwMode="auto">
          <a:xfrm>
            <a:off x="5257800" y="1965325"/>
            <a:ext cx="914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000">
                <a:latin typeface="Verdana" panose="020B0604030504040204" pitchFamily="34" charset="0"/>
                <a:ea typeface="宋体" panose="02010600030101010101" pitchFamily="2" charset="-122"/>
              </a:rPr>
              <a:t>Path</a:t>
            </a:r>
            <a:endParaRPr lang="en-US" altLang="zh-CN" sz="2000"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7" name="Text Box 9"/>
          <p:cNvSpPr txBox="1">
            <a:spLocks noChangeArrowheads="1"/>
          </p:cNvSpPr>
          <p:nvPr/>
        </p:nvSpPr>
        <p:spPr bwMode="auto">
          <a:xfrm>
            <a:off x="5067300" y="2803525"/>
            <a:ext cx="114300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zh-CN" sz="2000">
                <a:latin typeface="Verdana" panose="020B0604030504040204" pitchFamily="34" charset="0"/>
                <a:ea typeface="宋体" panose="02010600030101010101" pitchFamily="2" charset="-122"/>
              </a:rPr>
              <a:t>All du-paths</a:t>
            </a:r>
            <a:endParaRPr lang="en-US" altLang="zh-CN" sz="2000"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8" name="Text Box 10"/>
          <p:cNvSpPr txBox="1">
            <a:spLocks noChangeArrowheads="1"/>
          </p:cNvSpPr>
          <p:nvPr/>
        </p:nvSpPr>
        <p:spPr bwMode="auto">
          <a:xfrm>
            <a:off x="5105400" y="4114800"/>
            <a:ext cx="1371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000">
                <a:latin typeface="Verdana" panose="020B0604030504040204" pitchFamily="34" charset="0"/>
                <a:ea typeface="宋体" panose="02010600030101010101" pitchFamily="2" charset="-122"/>
              </a:rPr>
              <a:t>All-Uses</a:t>
            </a:r>
            <a:endParaRPr lang="en-US" altLang="zh-CN" sz="2000"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9" name="Text Box 11"/>
          <p:cNvSpPr txBox="1">
            <a:spLocks noChangeArrowheads="1"/>
          </p:cNvSpPr>
          <p:nvPr/>
        </p:nvSpPr>
        <p:spPr bwMode="auto">
          <a:xfrm>
            <a:off x="5143500" y="5243513"/>
            <a:ext cx="1295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000">
                <a:latin typeface="Verdana" panose="020B0604030504040204" pitchFamily="34" charset="0"/>
                <a:ea typeface="宋体" panose="02010600030101010101" pitchFamily="2" charset="-122"/>
              </a:rPr>
              <a:t>All-Defs</a:t>
            </a:r>
            <a:endParaRPr lang="en-US" altLang="zh-CN" sz="2000"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0" name="Text Box 12"/>
          <p:cNvSpPr txBox="1">
            <a:spLocks noChangeArrowheads="1"/>
          </p:cNvSpPr>
          <p:nvPr/>
        </p:nvSpPr>
        <p:spPr bwMode="auto">
          <a:xfrm>
            <a:off x="1143000" y="1905000"/>
            <a:ext cx="2122488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zh-CN" sz="2000">
                <a:latin typeface="Verdana" panose="020B0604030504040204" pitchFamily="34" charset="0"/>
                <a:ea typeface="宋体" panose="02010600030101010101" pitchFamily="2" charset="-122"/>
              </a:rPr>
              <a:t>Condition Combination</a:t>
            </a:r>
            <a:endParaRPr lang="en-US" altLang="zh-CN" sz="2000"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1" name="Text Box 13"/>
          <p:cNvSpPr txBox="1">
            <a:spLocks noChangeArrowheads="1"/>
          </p:cNvSpPr>
          <p:nvPr/>
        </p:nvSpPr>
        <p:spPr bwMode="auto">
          <a:xfrm>
            <a:off x="1447800" y="3946525"/>
            <a:ext cx="1676400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zh-CN" sz="2000" dirty="0" smtClean="0">
                <a:latin typeface="Verdana" panose="020B0604030504040204" pitchFamily="34" charset="0"/>
              </a:rPr>
              <a:t>Condition/ </a:t>
            </a:r>
            <a:r>
              <a:rPr lang="en-US" altLang="zh-CN" sz="2000" dirty="0">
                <a:latin typeface="Verdana" panose="020B0604030504040204" pitchFamily="34" charset="0"/>
              </a:rPr>
              <a:t>Decision</a:t>
            </a:r>
            <a:endParaRPr lang="en-US" altLang="zh-CN" sz="2000" dirty="0"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2" name="Text Box 14"/>
          <p:cNvSpPr txBox="1">
            <a:spLocks noChangeArrowheads="1"/>
          </p:cNvSpPr>
          <p:nvPr/>
        </p:nvSpPr>
        <p:spPr bwMode="auto">
          <a:xfrm>
            <a:off x="3124200" y="4114800"/>
            <a:ext cx="19812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000">
                <a:latin typeface="Verdana" panose="020B0604030504040204" pitchFamily="34" charset="0"/>
                <a:ea typeface="宋体" panose="02010600030101010101" pitchFamily="2" charset="-122"/>
              </a:rPr>
              <a:t>Basis Paths</a:t>
            </a:r>
            <a:endParaRPr lang="en-US" altLang="zh-CN" sz="2000"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3" name="Text Box 15"/>
          <p:cNvSpPr txBox="1">
            <a:spLocks noChangeArrowheads="1"/>
          </p:cNvSpPr>
          <p:nvPr/>
        </p:nvSpPr>
        <p:spPr bwMode="auto">
          <a:xfrm>
            <a:off x="6705600" y="4114800"/>
            <a:ext cx="12192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000">
                <a:latin typeface="Verdana" panose="020B0604030504040204" pitchFamily="34" charset="0"/>
                <a:ea typeface="宋体" panose="02010600030101010101" pitchFamily="2" charset="-122"/>
              </a:rPr>
              <a:t>Loop</a:t>
            </a:r>
            <a:endParaRPr lang="en-US" altLang="zh-CN" sz="2000"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4" name="Text Box 16"/>
          <p:cNvSpPr txBox="1">
            <a:spLocks noChangeArrowheads="1"/>
          </p:cNvSpPr>
          <p:nvPr/>
        </p:nvSpPr>
        <p:spPr bwMode="auto">
          <a:xfrm>
            <a:off x="544513" y="5173663"/>
            <a:ext cx="1676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000" dirty="0" smtClean="0">
                <a:latin typeface="Verdana" panose="020B0604030504040204" pitchFamily="34" charset="0"/>
                <a:ea typeface="宋体" panose="02010600030101010101" pitchFamily="2" charset="-122"/>
              </a:rPr>
              <a:t>Condition</a:t>
            </a:r>
            <a:endParaRPr lang="en-US" altLang="zh-CN" sz="2000" dirty="0"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5" name="Text Box 17"/>
          <p:cNvSpPr txBox="1">
            <a:spLocks noChangeArrowheads="1"/>
          </p:cNvSpPr>
          <p:nvPr/>
        </p:nvSpPr>
        <p:spPr bwMode="auto">
          <a:xfrm>
            <a:off x="3200400" y="6248400"/>
            <a:ext cx="1752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000">
                <a:latin typeface="Verdana" panose="020B0604030504040204" pitchFamily="34" charset="0"/>
                <a:ea typeface="宋体" panose="02010600030101010101" pitchFamily="2" charset="-122"/>
              </a:rPr>
              <a:t>Statement</a:t>
            </a:r>
            <a:endParaRPr lang="en-US" altLang="zh-CN" sz="2000"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6" name="Text Box 18"/>
          <p:cNvSpPr txBox="1">
            <a:spLocks noChangeArrowheads="1"/>
          </p:cNvSpPr>
          <p:nvPr/>
        </p:nvSpPr>
        <p:spPr bwMode="auto">
          <a:xfrm>
            <a:off x="3276600" y="5181600"/>
            <a:ext cx="1371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zh-CN" sz="2000" dirty="0">
                <a:latin typeface="Verdana" panose="020B0604030504040204" pitchFamily="34" charset="0"/>
                <a:ea typeface="宋体" panose="02010600030101010101" pitchFamily="2" charset="-122"/>
              </a:rPr>
              <a:t>Decision</a:t>
            </a:r>
            <a:endParaRPr lang="en-US" altLang="zh-CN" sz="2000" dirty="0"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7" name="Line 19"/>
          <p:cNvSpPr>
            <a:spLocks noChangeShapeType="1"/>
          </p:cNvSpPr>
          <p:nvPr/>
        </p:nvSpPr>
        <p:spPr bwMode="auto">
          <a:xfrm>
            <a:off x="5638800" y="2362200"/>
            <a:ext cx="0" cy="381000"/>
          </a:xfrm>
          <a:prstGeom prst="line">
            <a:avLst/>
          </a:prstGeom>
          <a:noFill/>
          <a:ln w="38100">
            <a:solidFill>
              <a:srgbClr val="FDAD23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8" name="Line 20"/>
          <p:cNvSpPr>
            <a:spLocks noChangeShapeType="1"/>
          </p:cNvSpPr>
          <p:nvPr/>
        </p:nvSpPr>
        <p:spPr bwMode="auto">
          <a:xfrm flipH="1">
            <a:off x="4114800" y="2362200"/>
            <a:ext cx="1447800" cy="1676400"/>
          </a:xfrm>
          <a:prstGeom prst="line">
            <a:avLst/>
          </a:prstGeom>
          <a:noFill/>
          <a:ln w="38100">
            <a:solidFill>
              <a:srgbClr val="FDAD23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9" name="Line 21"/>
          <p:cNvSpPr>
            <a:spLocks noChangeShapeType="1"/>
          </p:cNvSpPr>
          <p:nvPr/>
        </p:nvSpPr>
        <p:spPr bwMode="auto">
          <a:xfrm>
            <a:off x="5715000" y="2362200"/>
            <a:ext cx="1447800" cy="1676400"/>
          </a:xfrm>
          <a:prstGeom prst="line">
            <a:avLst/>
          </a:prstGeom>
          <a:noFill/>
          <a:ln w="38100">
            <a:solidFill>
              <a:srgbClr val="FDAD23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0" name="Line 22"/>
          <p:cNvSpPr>
            <a:spLocks noChangeShapeType="1"/>
          </p:cNvSpPr>
          <p:nvPr/>
        </p:nvSpPr>
        <p:spPr bwMode="auto">
          <a:xfrm>
            <a:off x="5638800" y="3581400"/>
            <a:ext cx="0" cy="457200"/>
          </a:xfrm>
          <a:prstGeom prst="line">
            <a:avLst/>
          </a:prstGeom>
          <a:noFill/>
          <a:ln w="38100">
            <a:solidFill>
              <a:srgbClr val="FDAD23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1" name="Line 23"/>
          <p:cNvSpPr>
            <a:spLocks noChangeShapeType="1"/>
          </p:cNvSpPr>
          <p:nvPr/>
        </p:nvSpPr>
        <p:spPr bwMode="auto">
          <a:xfrm flipH="1">
            <a:off x="4191000" y="4572000"/>
            <a:ext cx="1447800" cy="609600"/>
          </a:xfrm>
          <a:prstGeom prst="line">
            <a:avLst/>
          </a:prstGeom>
          <a:noFill/>
          <a:ln w="38100">
            <a:solidFill>
              <a:srgbClr val="FDAD23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2" name="Line 24"/>
          <p:cNvSpPr>
            <a:spLocks noChangeShapeType="1"/>
          </p:cNvSpPr>
          <p:nvPr/>
        </p:nvSpPr>
        <p:spPr bwMode="auto">
          <a:xfrm>
            <a:off x="5715000" y="4572000"/>
            <a:ext cx="0" cy="685800"/>
          </a:xfrm>
          <a:prstGeom prst="line">
            <a:avLst/>
          </a:prstGeom>
          <a:noFill/>
          <a:ln w="38100">
            <a:solidFill>
              <a:srgbClr val="FDAD23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3" name="Line 25"/>
          <p:cNvSpPr>
            <a:spLocks noChangeShapeType="1"/>
          </p:cNvSpPr>
          <p:nvPr/>
        </p:nvSpPr>
        <p:spPr bwMode="auto">
          <a:xfrm flipH="1">
            <a:off x="3957638" y="4572000"/>
            <a:ext cx="0" cy="609600"/>
          </a:xfrm>
          <a:prstGeom prst="line">
            <a:avLst/>
          </a:prstGeom>
          <a:noFill/>
          <a:ln w="38100">
            <a:solidFill>
              <a:srgbClr val="FDAD23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4" name="Line 26"/>
          <p:cNvSpPr>
            <a:spLocks noChangeShapeType="1"/>
          </p:cNvSpPr>
          <p:nvPr/>
        </p:nvSpPr>
        <p:spPr bwMode="auto">
          <a:xfrm>
            <a:off x="3962400" y="5638800"/>
            <a:ext cx="0" cy="609600"/>
          </a:xfrm>
          <a:prstGeom prst="line">
            <a:avLst/>
          </a:prstGeom>
          <a:noFill/>
          <a:ln w="38100">
            <a:solidFill>
              <a:srgbClr val="FDAD23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5" name="Line 27"/>
          <p:cNvSpPr>
            <a:spLocks noChangeShapeType="1"/>
          </p:cNvSpPr>
          <p:nvPr/>
        </p:nvSpPr>
        <p:spPr bwMode="auto">
          <a:xfrm>
            <a:off x="2209800" y="3619500"/>
            <a:ext cx="0" cy="381000"/>
          </a:xfrm>
          <a:prstGeom prst="line">
            <a:avLst/>
          </a:prstGeom>
          <a:noFill/>
          <a:ln w="38100">
            <a:solidFill>
              <a:srgbClr val="FDAD23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6" name="Line 28"/>
          <p:cNvSpPr>
            <a:spLocks noChangeShapeType="1"/>
          </p:cNvSpPr>
          <p:nvPr/>
        </p:nvSpPr>
        <p:spPr bwMode="auto">
          <a:xfrm flipH="1">
            <a:off x="1085850" y="4629150"/>
            <a:ext cx="1119188" cy="593725"/>
          </a:xfrm>
          <a:prstGeom prst="line">
            <a:avLst/>
          </a:prstGeom>
          <a:noFill/>
          <a:ln w="38100">
            <a:solidFill>
              <a:srgbClr val="FDAD23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7" name="Line 29"/>
          <p:cNvSpPr>
            <a:spLocks noChangeShapeType="1"/>
          </p:cNvSpPr>
          <p:nvPr/>
        </p:nvSpPr>
        <p:spPr bwMode="auto">
          <a:xfrm>
            <a:off x="2286000" y="4648200"/>
            <a:ext cx="1447800" cy="533400"/>
          </a:xfrm>
          <a:prstGeom prst="line">
            <a:avLst/>
          </a:prstGeom>
          <a:noFill/>
          <a:ln w="38100">
            <a:solidFill>
              <a:srgbClr val="FDAD23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8" name="Text Box 12"/>
          <p:cNvSpPr txBox="1">
            <a:spLocks noChangeArrowheads="1"/>
          </p:cNvSpPr>
          <p:nvPr/>
        </p:nvSpPr>
        <p:spPr bwMode="auto">
          <a:xfrm>
            <a:off x="876300" y="2908300"/>
            <a:ext cx="2743200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en-US" altLang="zh-CN" sz="2000" dirty="0">
                <a:latin typeface="Verdana" panose="020B0604030504040204" pitchFamily="34" charset="0"/>
                <a:ea typeface="宋体" panose="02010600030101010101" pitchFamily="2" charset="-122"/>
              </a:rPr>
              <a:t>Modified </a:t>
            </a:r>
            <a:endParaRPr lang="en-US" altLang="zh-CN" sz="2000" dirty="0">
              <a:latin typeface="Verdana" panose="020B0604030504040204" pitchFamily="34" charset="0"/>
              <a:ea typeface="宋体" panose="02010600030101010101" pitchFamily="2" charset="-122"/>
            </a:endParaRPr>
          </a:p>
          <a:p>
            <a:pPr algn="ctr"/>
            <a:r>
              <a:rPr lang="en-US" altLang="zh-CN" sz="2000" dirty="0" smtClean="0">
                <a:latin typeface="Verdana" panose="020B0604030504040204" pitchFamily="34" charset="0"/>
              </a:rPr>
              <a:t>Condition/Decision</a:t>
            </a:r>
            <a:endParaRPr lang="en-US" altLang="zh-CN" sz="2000" dirty="0"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29" name="Line 27"/>
          <p:cNvSpPr>
            <a:spLocks noChangeShapeType="1"/>
          </p:cNvSpPr>
          <p:nvPr/>
        </p:nvSpPr>
        <p:spPr bwMode="auto">
          <a:xfrm>
            <a:off x="2205038" y="2574925"/>
            <a:ext cx="0" cy="381000"/>
          </a:xfrm>
          <a:prstGeom prst="line">
            <a:avLst/>
          </a:prstGeom>
          <a:noFill/>
          <a:ln w="38100">
            <a:solidFill>
              <a:srgbClr val="FDAD23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0" name="Text Box 8"/>
          <p:cNvSpPr txBox="1">
            <a:spLocks noChangeArrowheads="1"/>
          </p:cNvSpPr>
          <p:nvPr/>
        </p:nvSpPr>
        <p:spPr bwMode="auto">
          <a:xfrm>
            <a:off x="3281363" y="1171575"/>
            <a:ext cx="1671637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000">
                <a:latin typeface="Verdana" panose="020B0604030504040204" pitchFamily="34" charset="0"/>
                <a:ea typeface="宋体" panose="02010600030101010101" pitchFamily="2" charset="-122"/>
              </a:rPr>
              <a:t>Complete</a:t>
            </a:r>
            <a:endParaRPr lang="en-US" altLang="zh-CN" sz="2000"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31" name="Line 20"/>
          <p:cNvSpPr>
            <a:spLocks noChangeShapeType="1"/>
          </p:cNvSpPr>
          <p:nvPr/>
        </p:nvSpPr>
        <p:spPr bwMode="auto">
          <a:xfrm flipH="1">
            <a:off x="2438400" y="1466850"/>
            <a:ext cx="876300" cy="428625"/>
          </a:xfrm>
          <a:prstGeom prst="line">
            <a:avLst/>
          </a:prstGeom>
          <a:noFill/>
          <a:ln w="38100">
            <a:solidFill>
              <a:srgbClr val="FDAD23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2" name="Line 21"/>
          <p:cNvSpPr>
            <a:spLocks noChangeShapeType="1"/>
          </p:cNvSpPr>
          <p:nvPr/>
        </p:nvSpPr>
        <p:spPr bwMode="auto">
          <a:xfrm>
            <a:off x="4619625" y="1474788"/>
            <a:ext cx="1019175" cy="420687"/>
          </a:xfrm>
          <a:prstGeom prst="line">
            <a:avLst/>
          </a:prstGeom>
          <a:noFill/>
          <a:ln w="38100">
            <a:solidFill>
              <a:srgbClr val="FDAD23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28" grpId="0"/>
      <p:bldP spid="30" grpId="0"/>
    </p:bldLst>
  </p:timing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KSO_WM_BEAUTIFY_FLAG" val=""/>
</p:tagLst>
</file>

<file path=ppt/tags/tag4.xml><?xml version="1.0" encoding="utf-8"?>
<p:tagLst xmlns:p="http://schemas.openxmlformats.org/presentationml/2006/main">
  <p:tag name="KSO_WM_BEAUTIFY_FLAG" val=""/>
</p:tagLst>
</file>

<file path=ppt/tags/tag5.xml><?xml version="1.0" encoding="utf-8"?>
<p:tagLst xmlns:p="http://schemas.openxmlformats.org/presentationml/2006/main">
  <p:tag name="KSO_WM_BEAUTIFY_FLAG" val=""/>
</p:tagLst>
</file>

<file path=ppt/tags/tag6.xml><?xml version="1.0" encoding="utf-8"?>
<p:tagLst xmlns:p="http://schemas.openxmlformats.org/presentationml/2006/main">
  <p:tag name="KSO_WM_BEAUTIFY_FLAG" val=""/>
</p:tagLst>
</file>

<file path=ppt/tags/tag7.xml><?xml version="1.0" encoding="utf-8"?>
<p:tagLst xmlns:p="http://schemas.openxmlformats.org/presentationml/2006/main">
  <p:tag name="KSO_WM_BEAUTIFY_FLAG" val=""/>
</p:tagLst>
</file>

<file path=ppt/tags/tag8.xml><?xml version="1.0" encoding="utf-8"?>
<p:tagLst xmlns:p="http://schemas.openxmlformats.org/presentationml/2006/main">
  <p:tag name="KSO_WM_BEAUTIFY_FLAG" val=""/>
</p:tagLst>
</file>

<file path=ppt/tags/tag9.xml><?xml version="1.0" encoding="utf-8"?>
<p:tagLst xmlns:p="http://schemas.openxmlformats.org/presentationml/2006/main">
  <p:tag name="KSO_WM_BEAUTIFY_FLAG" val=""/>
</p:tagLst>
</file>

<file path=ppt/tags/tag10.xml><?xml version="1.0" encoding="utf-8"?>
<p:tagLst xmlns:p="http://schemas.openxmlformats.org/presentationml/2006/main">
  <p:tag name="KSO_WM_BEAUTIFY_FLAG" val=""/>
</p:tagLst>
</file>

<file path=ppt/tags/tag11.xml><?xml version="1.0" encoding="utf-8"?>
<p:tagLst xmlns:p="http://schemas.openxmlformats.org/presentationml/2006/main">
  <p:tag name="KSO_WM_BEAUTIFY_FLAG" val=""/>
</p:tagLst>
</file>

<file path=ppt/tags/tag12.xml><?xml version="1.0" encoding="utf-8"?>
<p:tagLst xmlns:p="http://schemas.openxmlformats.org/presentationml/2006/main">
  <p:tag name="KSO_WM_BEAUTIFY_FLAG" val=""/>
</p:tagLst>
</file>

<file path=ppt/tags/tag13.xml><?xml version="1.0" encoding="utf-8"?>
<p:tagLst xmlns:p="http://schemas.openxmlformats.org/presentationml/2006/main">
  <p:tag name="KSO_WM_BEAUTIFY_FLAG" val=""/>
</p:tagLst>
</file>

<file path=ppt/tags/tag14.xml><?xml version="1.0" encoding="utf-8"?>
<p:tagLst xmlns:p="http://schemas.openxmlformats.org/presentationml/2006/main">
  <p:tag name="commondata" val="eyJoZGlkIjoiODA5MTA2NDMzZjIxODllMWZmMzY1NzJhMzc2YzVkYTEifQ==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alibri">
      <a:majorFont>
        <a:latin typeface="Calibri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7471</Words>
  <Application>WPS 演示</Application>
  <PresentationFormat>自定义</PresentationFormat>
  <Paragraphs>946</Paragraphs>
  <Slides>35</Slides>
  <Notes>22</Notes>
  <HiddenSlides>0</HiddenSlides>
  <MMClips>0</MMClips>
  <ScaleCrop>false</ScaleCrop>
  <HeadingPairs>
    <vt:vector size="8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35</vt:i4>
      </vt:variant>
    </vt:vector>
  </HeadingPairs>
  <TitlesOfParts>
    <vt:vector size="50" baseType="lpstr">
      <vt:lpstr>Arial</vt:lpstr>
      <vt:lpstr>宋体</vt:lpstr>
      <vt:lpstr>Wingdings</vt:lpstr>
      <vt:lpstr>微软雅黑</vt:lpstr>
      <vt:lpstr>Times New Roman</vt:lpstr>
      <vt:lpstr>Verdana</vt:lpstr>
      <vt:lpstr>微软雅黑 Light</vt:lpstr>
      <vt:lpstr>Century Gothic</vt:lpstr>
      <vt:lpstr>Symbol</vt:lpstr>
      <vt:lpstr>Calibri</vt:lpstr>
      <vt:lpstr>Arial Unicode MS</vt:lpstr>
      <vt:lpstr>等线</vt:lpstr>
      <vt:lpstr>Webdings</vt:lpstr>
      <vt:lpstr>Office 主题​​</vt:lpstr>
      <vt:lpstr>Paint.Picture</vt:lpstr>
      <vt:lpstr>Session 4   White-Box Testing              ——3.5 Data Flow Testing</vt:lpstr>
      <vt:lpstr>Dataflow Coverage</vt:lpstr>
      <vt:lpstr>Data Flow Testing</vt:lpstr>
      <vt:lpstr>Variable Definitions and Uses</vt:lpstr>
      <vt:lpstr>Variable Definitions and Uses (cont’d)</vt:lpstr>
      <vt:lpstr>Variable Definitions and Uses (cont’d)</vt:lpstr>
      <vt:lpstr>Variable Definitions and Uses (cont’d)</vt:lpstr>
      <vt:lpstr>Other Dataflow Terms and Definitions</vt:lpstr>
      <vt:lpstr>Example 1</vt:lpstr>
      <vt:lpstr>Identifying DU-Pairs – Variable A</vt:lpstr>
      <vt:lpstr>Exercise</vt:lpstr>
      <vt:lpstr>Identifying DU-Pairs – Variable X</vt:lpstr>
      <vt:lpstr>Identifying DU-Pairs – Variable X</vt:lpstr>
      <vt:lpstr>Data Flow Testing</vt:lpstr>
      <vt:lpstr>def-clear path</vt:lpstr>
      <vt:lpstr>More Dataflow Terms and Definitions</vt:lpstr>
      <vt:lpstr>Simple and Loop-Free Paths</vt:lpstr>
      <vt:lpstr>Simple and Loop-Free Paths (cont’d)</vt:lpstr>
      <vt:lpstr>More Dataflow Terms and Definitions</vt:lpstr>
      <vt:lpstr>PowerPoint 演示文稿</vt:lpstr>
      <vt:lpstr>Dataflow Test Coverage Criteria</vt:lpstr>
      <vt:lpstr>Example</vt:lpstr>
      <vt:lpstr>Dataflow Test Coverage Criteria (cont’d)</vt:lpstr>
      <vt:lpstr>Def-Clear Paths Subsumed by &lt;1,2,3,4,5&gt; for Variable A</vt:lpstr>
      <vt:lpstr>Def-Clear Paths Subsumed by &lt;1,2,3,4,5&gt; for Variable B</vt:lpstr>
      <vt:lpstr>Dataflow Test Coverage Criteria (cont’d)</vt:lpstr>
      <vt:lpstr>Dataflow Test Coverage Criteria (cont’d)</vt:lpstr>
      <vt:lpstr>Example</vt:lpstr>
      <vt:lpstr>Dataflow Test Coverage Criteria (cont’d)</vt:lpstr>
      <vt:lpstr>Def-Clear Paths Subsumed by &lt;1,3,4,5&gt; for Variable A</vt:lpstr>
      <vt:lpstr>Def-Clear Paths Subsumed by &lt;1,3,4,5&gt; for Variable B</vt:lpstr>
      <vt:lpstr>Dataflow Test Coverage Criteria (cont’d)</vt:lpstr>
      <vt:lpstr>Another Dataflow Test Coverage Criterion</vt:lpstr>
      <vt:lpstr>Example</vt:lpstr>
      <vt:lpstr>Summary of White-Box Coverage Relationships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麻醉的起源</dc:title>
  <dc:creator>月烊 游</dc:creator>
  <cp:lastModifiedBy>大孜</cp:lastModifiedBy>
  <cp:revision>657</cp:revision>
  <dcterms:created xsi:type="dcterms:W3CDTF">2019-05-27T02:30:00Z</dcterms:created>
  <dcterms:modified xsi:type="dcterms:W3CDTF">2023-10-21T12:26:36Z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2052-12.1.0.15712</vt:lpwstr>
  </property>
  <property fmtid="{D5CDD505-2E9C-101B-9397-08002B2CF9AE}" pid="3" name="ICV">
    <vt:lpwstr>3003EA77EE0048F9B39BC6DEDEC22B4C_12</vt:lpwstr>
  </property>
</Properties>
</file>