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03" r:id="rId3"/>
    <p:sldId id="280" r:id="rId4"/>
    <p:sldId id="304" r:id="rId5"/>
    <p:sldId id="305" r:id="rId6"/>
    <p:sldId id="306" r:id="rId7"/>
    <p:sldId id="307" r:id="rId8"/>
    <p:sldId id="333" r:id="rId9"/>
    <p:sldId id="309" r:id="rId10"/>
    <p:sldId id="310" r:id="rId11"/>
    <p:sldId id="334" r:id="rId12"/>
    <p:sldId id="335" r:id="rId13"/>
    <p:sldId id="336" r:id="rId14"/>
    <p:sldId id="345" r:id="rId15"/>
    <p:sldId id="308" r:id="rId16"/>
    <p:sldId id="312" r:id="rId17"/>
    <p:sldId id="338" r:id="rId18"/>
    <p:sldId id="313" r:id="rId19"/>
    <p:sldId id="314" r:id="rId20"/>
    <p:sldId id="332" r:id="rId21"/>
    <p:sldId id="315" r:id="rId22"/>
    <p:sldId id="316" r:id="rId23"/>
    <p:sldId id="343" r:id="rId24"/>
    <p:sldId id="340" r:id="rId25"/>
    <p:sldId id="317" r:id="rId26"/>
    <p:sldId id="318" r:id="rId27"/>
    <p:sldId id="295" r:id="rId28"/>
    <p:sldId id="337" r:id="rId29"/>
    <p:sldId id="344" r:id="rId30"/>
    <p:sldId id="342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40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00CC"/>
    <a:srgbClr val="4674C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89082" autoAdjust="0"/>
  </p:normalViewPr>
  <p:slideViewPr>
    <p:cSldViewPr snapToGrid="0">
      <p:cViewPr varScale="1">
        <p:scale>
          <a:sx n="60" d="100"/>
          <a:sy n="60" d="100"/>
        </p:scale>
        <p:origin x="-108" y="-348"/>
      </p:cViewPr>
      <p:guideLst>
        <p:guide orient="horz" pos="2840"/>
        <p:guide orient="horz" pos="3158"/>
        <p:guide pos="5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DCA99-9244-45F3-8A53-C4B5E4BE72FE}" type="datetimeFigureOut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8E83-7467-4844-86B0-1E72CB4E13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9729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2098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63121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2040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51991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5487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85223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91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5487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34924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83954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05761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05761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67572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39838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46684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64634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52314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/>
              <a:pPr/>
              <a:t>2020/9/10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9144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/>
              <a:pPr/>
              <a:t>2020/9/10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3979" y="898358"/>
            <a:ext cx="9826935" cy="32725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 smtClean="0"/>
              <a:t>Session 4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5400" dirty="0" smtClean="0"/>
              <a:t> </a:t>
            </a:r>
            <a:r>
              <a:rPr lang="en-US" altLang="zh-CN" sz="5400" b="1" dirty="0" smtClean="0"/>
              <a:t>White-Box Testing </a:t>
            </a:r>
            <a:r>
              <a:rPr lang="en-US" altLang="zh-CN" sz="5400" dirty="0" smtClean="0"/>
              <a:t/>
            </a:r>
            <a:br>
              <a:rPr lang="en-US" altLang="zh-CN" sz="5400" dirty="0" smtClean="0"/>
            </a:br>
            <a:r>
              <a:rPr lang="en-US" altLang="zh-CN" sz="5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altLang="zh-CN" sz="4400" dirty="0" smtClean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en-US" altLang="zh-CN" sz="4400" b="1" dirty="0" smtClean="0"/>
              <a:t>3.5 Data Flow Testing</a:t>
            </a:r>
            <a:endParaRPr lang="zh-CN" altLang="en-US" sz="44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苏州大学计算机科学与技术学院  程宝雷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Dataflow </a:t>
            </a:r>
            <a:r>
              <a:rPr lang="en-US" altLang="zh-CN" dirty="0"/>
              <a:t>Coverage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Based on the idea that program paths along which variables are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defined</a:t>
            </a:r>
            <a:r>
              <a:rPr lang="en-US" altLang="zh-CN" sz="3200" dirty="0">
                <a:latin typeface="Verdana" panose="020B0604030504040204" pitchFamily="34" charset="0"/>
              </a:rPr>
              <a:t> and then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used</a:t>
            </a:r>
            <a:r>
              <a:rPr lang="en-US" altLang="zh-CN" sz="3200" dirty="0">
                <a:latin typeface="Verdana" panose="020B0604030504040204" pitchFamily="34" charset="0"/>
              </a:rPr>
              <a:t> should be covered.</a:t>
            </a:r>
          </a:p>
          <a:p>
            <a:r>
              <a:rPr lang="en-US" altLang="zh-CN" sz="3200" dirty="0">
                <a:latin typeface="Verdana" panose="020B0604030504040204" pitchFamily="34" charset="0"/>
              </a:rPr>
              <a:t>A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family of path selection criteria</a:t>
            </a:r>
            <a:r>
              <a:rPr lang="en-US" altLang="zh-CN" sz="3200" dirty="0">
                <a:latin typeface="Verdana" panose="020B0604030504040204" pitchFamily="34" charset="0"/>
              </a:rPr>
              <a:t> has been defined, each providing a different degree of coverage</a:t>
            </a:r>
            <a:r>
              <a:rPr lang="en-US" altLang="zh-CN" sz="3200" dirty="0" smtClean="0">
                <a:latin typeface="Verdana" panose="020B060403050404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Flow Testing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301" y="1690687"/>
            <a:ext cx="8419446" cy="4934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solidFill>
                  <a:srgbClr val="3333FF"/>
                </a:solidFill>
                <a:latin typeface="Verdana" pitchFamily="34" charset="0"/>
                <a:ea typeface="宋体" charset="-122"/>
              </a:rPr>
              <a:t>definition-use path</a:t>
            </a:r>
            <a:endParaRPr lang="en-US" altLang="zh-CN" sz="3600" dirty="0" smtClean="0">
              <a:solidFill>
                <a:srgbClr val="3333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latin typeface="Verdana" pitchFamily="34" charset="0"/>
                <a:ea typeface="宋体" charset="-122"/>
              </a:rPr>
              <a:t>definition</a:t>
            </a:r>
            <a:r>
              <a:rPr lang="en-US" altLang="zh-CN" sz="3600" dirty="0" smtClean="0">
                <a:latin typeface="Verdana" pitchFamily="34" charset="0"/>
                <a:ea typeface="宋体" charset="-122"/>
              </a:rPr>
              <a:t>-clear </a:t>
            </a:r>
            <a:r>
              <a:rPr lang="en-US" altLang="zh-CN" sz="3600" dirty="0" smtClean="0">
                <a:latin typeface="Verdana" pitchFamily="34" charset="0"/>
                <a:ea typeface="宋体" charset="-122"/>
              </a:rPr>
              <a:t>path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Verdana" panose="020B0604030504040204" pitchFamily="34" charset="0"/>
              </a:rPr>
              <a:t>A program variable is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</a:rPr>
              <a:t>DEFINED</a:t>
            </a:r>
            <a:r>
              <a:rPr lang="en-US" altLang="zh-CN" sz="2800" dirty="0">
                <a:latin typeface="Verdana" panose="020B0604030504040204" pitchFamily="34" charset="0"/>
              </a:rPr>
              <a:t> when it appears: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on the </a:t>
            </a:r>
            <a:r>
              <a:rPr lang="en-US" altLang="zh-CN" sz="2800" i="1" dirty="0">
                <a:latin typeface="Verdana" panose="020B0604030504040204" pitchFamily="34" charset="0"/>
              </a:rPr>
              <a:t>left </a:t>
            </a:r>
            <a:r>
              <a:rPr lang="en-US" altLang="zh-CN" sz="2800" dirty="0">
                <a:latin typeface="Verdana" panose="020B0604030504040204" pitchFamily="34" charset="0"/>
              </a:rPr>
              <a:t>hand side of an assignment statement (e.g.,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 := 17)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in an input statement</a:t>
            </a:r>
            <a:r>
              <a:rPr lang="en-US" altLang="zh-CN" sz="2800" dirty="0"/>
              <a:t> (e.g., input(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))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as an OUT parameter in a subroutine call (e.g.,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Verdana" panose="020B0604030504040204" pitchFamily="34" charset="0"/>
              </a:rPr>
              <a:t>DOIT</a:t>
            </a:r>
            <a:r>
              <a:rPr lang="en-US" altLang="zh-CN" sz="2800" dirty="0"/>
              <a:t>(X:IN,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:OUT</a:t>
            </a:r>
            <a:r>
              <a:rPr lang="en-US" altLang="zh-CN" sz="2800" dirty="0" smtClean="0"/>
              <a:t>))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xmlns="" val="42260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Verdana" panose="020B0604030504040204" pitchFamily="34" charset="0"/>
              </a:rPr>
              <a:t>A program variable is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</a:rPr>
              <a:t>USED</a:t>
            </a:r>
            <a:r>
              <a:rPr lang="en-US" altLang="zh-CN" sz="2800" dirty="0">
                <a:latin typeface="Verdana" panose="020B0604030504040204" pitchFamily="34" charset="0"/>
              </a:rPr>
              <a:t> when it appears: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on the </a:t>
            </a:r>
            <a:r>
              <a:rPr lang="en-US" altLang="zh-CN" sz="2800" i="1" dirty="0">
                <a:latin typeface="Verdana" panose="020B0604030504040204" pitchFamily="34" charset="0"/>
              </a:rPr>
              <a:t>right </a:t>
            </a:r>
            <a:r>
              <a:rPr lang="en-US" altLang="zh-CN" sz="2800" dirty="0">
                <a:latin typeface="Verdana" panose="020B0604030504040204" pitchFamily="34" charset="0"/>
              </a:rPr>
              <a:t>hand side of an assignment statement (e.g.,</a:t>
            </a:r>
            <a:r>
              <a:rPr lang="en-US" altLang="zh-CN" sz="2800" dirty="0"/>
              <a:t> Y := 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+17)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as an IN parameter in a subroutine or function call (e.g.,</a:t>
            </a:r>
            <a:r>
              <a:rPr lang="en-US" altLang="zh-CN" sz="2800" dirty="0"/>
              <a:t> Y := SQRT(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))</a:t>
            </a: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in the predicate of a branch statement (e.g., if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&gt;0 </a:t>
            </a:r>
            <a:r>
              <a:rPr lang="en-US" altLang="zh-CN" sz="2800" dirty="0">
                <a:latin typeface="Verdana" panose="020B0604030504040204" pitchFamily="34" charset="0"/>
              </a:rPr>
              <a:t>then</a:t>
            </a:r>
            <a:r>
              <a:rPr lang="en-US" altLang="zh-CN" sz="2800" dirty="0" smtClean="0">
                <a:latin typeface="Verdana" panose="020B0604030504040204" pitchFamily="34" charset="0"/>
              </a:rPr>
              <a:t>...)</a:t>
            </a:r>
            <a:endParaRPr lang="en-US" altLang="zh-CN" sz="28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723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Use of a variable in the predicate of a branch statement is called a </a:t>
            </a:r>
            <a:r>
              <a:rPr lang="en-US" altLang="zh-CN" sz="3200" i="1" dirty="0">
                <a:solidFill>
                  <a:srgbClr val="FDAD23"/>
                </a:solidFill>
                <a:latin typeface="Verdana" panose="020B0604030504040204" pitchFamily="34" charset="0"/>
              </a:rPr>
              <a:t>predicate-use </a:t>
            </a:r>
            <a:r>
              <a:rPr lang="en-US" altLang="zh-CN" sz="3200" b="1" dirty="0">
                <a:solidFill>
                  <a:srgbClr val="FDAD23"/>
                </a:solidFill>
                <a:latin typeface="Verdana" panose="020B0604030504040204" pitchFamily="34" charset="0"/>
              </a:rPr>
              <a:t>(“p-use”).</a:t>
            </a:r>
            <a:r>
              <a:rPr lang="en-US" altLang="zh-CN" sz="3200" dirty="0">
                <a:latin typeface="Verdana" panose="020B0604030504040204" pitchFamily="34" charset="0"/>
              </a:rPr>
              <a:t> Any other use is called a </a:t>
            </a:r>
            <a:r>
              <a:rPr lang="en-US" altLang="zh-CN" sz="3200" i="1" dirty="0">
                <a:solidFill>
                  <a:srgbClr val="FDAD23"/>
                </a:solidFill>
                <a:latin typeface="Verdana" panose="020B0604030504040204" pitchFamily="34" charset="0"/>
              </a:rPr>
              <a:t>computation-use </a:t>
            </a:r>
            <a:r>
              <a:rPr lang="en-US" altLang="zh-CN" sz="3200" b="1" dirty="0">
                <a:solidFill>
                  <a:srgbClr val="FDAD23"/>
                </a:solidFill>
                <a:latin typeface="Verdana" panose="020B0604030504040204" pitchFamily="34" charset="0"/>
              </a:rPr>
              <a:t>(“c-use”).</a:t>
            </a:r>
          </a:p>
          <a:p>
            <a:r>
              <a:rPr lang="en-US" altLang="zh-CN" sz="3200" dirty="0">
                <a:latin typeface="Verdana" panose="020B0604030504040204" pitchFamily="34" charset="0"/>
              </a:rPr>
              <a:t>For example, in the program statement:</a:t>
            </a: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latin typeface="Verdana" panose="020B0604030504040204" pitchFamily="34" charset="0"/>
              </a:rPr>
              <a:t>			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If</a:t>
            </a:r>
            <a:r>
              <a:rPr lang="en-US" altLang="zh-CN" sz="3200" dirty="0">
                <a:solidFill>
                  <a:srgbClr val="FDAD23"/>
                </a:solidFill>
              </a:rPr>
              <a:t> (X&gt;0)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then</a:t>
            </a: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			    print</a:t>
            </a:r>
            <a:r>
              <a:rPr lang="en-US" altLang="zh-CN" sz="3200" dirty="0">
                <a:solidFill>
                  <a:srgbClr val="FDAD23"/>
                </a:solidFill>
              </a:rPr>
              <a:t>(Y)</a:t>
            </a: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solidFill>
                  <a:srgbClr val="FDAD23"/>
                </a:solidFill>
              </a:rPr>
              <a:t>			</a:t>
            </a:r>
            <a:r>
              <a:rPr lang="en-US" altLang="zh-CN" sz="3200" dirty="0" err="1">
                <a:solidFill>
                  <a:srgbClr val="FDAD23"/>
                </a:solidFill>
                <a:latin typeface="Verdana" panose="020B0604030504040204" pitchFamily="34" charset="0"/>
              </a:rPr>
              <a:t>end_if_then</a:t>
            </a:r>
            <a:endParaRPr lang="en-US" altLang="zh-CN" sz="3200" dirty="0">
              <a:solidFill>
                <a:srgbClr val="FDAD23"/>
              </a:solidFill>
              <a:latin typeface="Verdana" panose="020B060403050404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latin typeface="Verdana" panose="020B0604030504040204" pitchFamily="34" charset="0"/>
              </a:rPr>
              <a:t>	there is a p-use of</a:t>
            </a:r>
            <a:r>
              <a:rPr lang="en-US" altLang="zh-CN" sz="3200" dirty="0"/>
              <a:t> X </a:t>
            </a:r>
            <a:r>
              <a:rPr lang="en-US" altLang="zh-CN" sz="3200" dirty="0">
                <a:latin typeface="Verdana" panose="020B0604030504040204" pitchFamily="34" charset="0"/>
              </a:rPr>
              <a:t>and a c-use of</a:t>
            </a:r>
            <a:r>
              <a:rPr lang="en-US" altLang="zh-CN" sz="3200" dirty="0"/>
              <a:t> Y.</a:t>
            </a:r>
          </a:p>
        </p:txBody>
      </p:sp>
    </p:spTree>
    <p:extLst>
      <p:ext uri="{BB962C8B-B14F-4D97-AF65-F5344CB8AC3E}">
        <p14:creationId xmlns:p14="http://schemas.microsoft.com/office/powerpoint/2010/main" xmlns="" val="67226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8" y="1625374"/>
            <a:ext cx="9895115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A variable can also be used and then re-defined in a single statement when it appears:</a:t>
            </a:r>
          </a:p>
          <a:p>
            <a:pPr lvl="1"/>
            <a:r>
              <a:rPr lang="en-US" altLang="zh-CN" sz="3200" dirty="0">
                <a:latin typeface="Verdana" panose="020B0604030504040204" pitchFamily="34" charset="0"/>
              </a:rPr>
              <a:t>on </a:t>
            </a:r>
            <a:r>
              <a:rPr lang="en-US" altLang="zh-CN" sz="3200" i="1" dirty="0">
                <a:latin typeface="Verdana" panose="020B0604030504040204" pitchFamily="34" charset="0"/>
              </a:rPr>
              <a:t>both </a:t>
            </a:r>
            <a:r>
              <a:rPr lang="en-US" altLang="zh-CN" sz="3200" dirty="0">
                <a:latin typeface="Verdana" panose="020B0604030504040204" pitchFamily="34" charset="0"/>
              </a:rPr>
              <a:t>sides of an assignment statement (e.g.,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 := 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+X)</a:t>
            </a:r>
          </a:p>
          <a:p>
            <a:pPr lvl="1"/>
            <a:r>
              <a:rPr lang="en-US" altLang="zh-CN" sz="3200" dirty="0">
                <a:latin typeface="Verdana" panose="020B0604030504040204" pitchFamily="34" charset="0"/>
              </a:rPr>
              <a:t>as an IN/OUT parameter in a subroutine call (e.g., INCREMENT</a:t>
            </a:r>
            <a:r>
              <a:rPr lang="en-US" altLang="zh-CN" sz="3200" dirty="0"/>
              <a:t>(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:IN/OUT))</a:t>
            </a:r>
          </a:p>
        </p:txBody>
      </p:sp>
    </p:spTree>
    <p:extLst>
      <p:ext uri="{BB962C8B-B14F-4D97-AF65-F5344CB8AC3E}">
        <p14:creationId xmlns:p14="http://schemas.microsoft.com/office/powerpoint/2010/main" xmlns="" val="6942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Other </a:t>
            </a:r>
            <a:r>
              <a:rPr lang="en-US" altLang="zh-CN" dirty="0"/>
              <a:t>Dataflow Terms and Definitions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3000" dirty="0" smtClean="0">
                <a:latin typeface="Verdana" panose="020B0604030504040204" pitchFamily="34" charset="0"/>
              </a:rPr>
              <a:t>A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definition-use pair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dirty="0">
                <a:solidFill>
                  <a:srgbClr val="FDAD23"/>
                </a:solidFill>
                <a:latin typeface="Verdana" panose="020B0604030504040204" pitchFamily="34" charset="0"/>
              </a:rPr>
              <a:t>(“du-pair”)</a:t>
            </a:r>
            <a:r>
              <a:rPr lang="en-US" altLang="zh-CN" sz="3000" dirty="0">
                <a:latin typeface="Verdana" panose="020B0604030504040204" pitchFamily="34" charset="0"/>
              </a:rPr>
              <a:t> with respect to a variable v is a double (</a:t>
            </a:r>
            <a:r>
              <a:rPr lang="en-US" altLang="zh-CN" sz="3000" dirty="0" err="1">
                <a:latin typeface="Verdana" panose="020B0604030504040204" pitchFamily="34" charset="0"/>
              </a:rPr>
              <a:t>d,u</a:t>
            </a:r>
            <a:r>
              <a:rPr lang="en-US" altLang="zh-CN" sz="3000" dirty="0">
                <a:latin typeface="Verdana" panose="020B0604030504040204" pitchFamily="34" charset="0"/>
              </a:rPr>
              <a:t>) such that d is a node in the program’s flow graph at which v is defined, u is a node or edge at which v is </a:t>
            </a:r>
            <a:r>
              <a:rPr lang="en-US" altLang="zh-CN" sz="3000" dirty="0" smtClean="0">
                <a:latin typeface="Verdana" panose="020B0604030504040204" pitchFamily="34" charset="0"/>
              </a:rPr>
              <a:t>used</a:t>
            </a:r>
            <a:r>
              <a:rPr lang="zh-CN" altLang="en-US" sz="3000" dirty="0" smtClean="0">
                <a:latin typeface="Verdana" panose="020B0604030504040204" pitchFamily="34" charset="0"/>
              </a:rPr>
              <a:t>。</a:t>
            </a:r>
            <a:endParaRPr lang="en-US" altLang="zh-CN" sz="3000" dirty="0">
              <a:latin typeface="Verdana" panose="020B0604030504040204" pitchFamily="34" charset="0"/>
            </a:endParaRPr>
          </a:p>
          <a:p>
            <a:pPr>
              <a:lnSpc>
                <a:spcPct val="110000"/>
              </a:lnSpc>
              <a:buNone/>
            </a:pPr>
            <a:endParaRPr lang="en-US" altLang="zh-CN" sz="3000" i="1" dirty="0">
              <a:latin typeface="Verdana" panose="020B0604030504040204" pitchFamily="34" charset="0"/>
            </a:endParaRPr>
          </a:p>
          <a:p>
            <a:endParaRPr lang="en-US" altLang="zh-CN" sz="32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281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>
          <a:xfrm>
            <a:off x="685800" y="1600200"/>
            <a:ext cx="2743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1.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mtClean="0">
                <a:ea typeface="宋体" panose="02010600030101010101" pitchFamily="2" charset="-122"/>
              </a:rPr>
              <a:t>(A,B)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 (B&gt;1)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2.     A := A+7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end_if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3.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 (A&gt;10)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4.     B := A+B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end_if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5.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mtClean="0">
                <a:ea typeface="宋体" panose="02010600030101010101" pitchFamily="2" charset="-122"/>
              </a:rPr>
              <a:t>(A,B)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2" name="Oval 4"/>
          <p:cNvSpPr>
            <a:spLocks noChangeArrowheads="1"/>
          </p:cNvSpPr>
          <p:nvPr/>
        </p:nvSpPr>
        <p:spPr bwMode="auto">
          <a:xfrm>
            <a:off x="5105400" y="1828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5"/>
          <p:cNvSpPr>
            <a:spLocks noChangeArrowheads="1"/>
          </p:cNvSpPr>
          <p:nvPr/>
        </p:nvSpPr>
        <p:spPr bwMode="auto">
          <a:xfrm>
            <a:off x="5105400" y="3352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Oval 6"/>
          <p:cNvSpPr>
            <a:spLocks noChangeArrowheads="1"/>
          </p:cNvSpPr>
          <p:nvPr/>
        </p:nvSpPr>
        <p:spPr bwMode="auto">
          <a:xfrm>
            <a:off x="6096000" y="2590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Line 7"/>
          <p:cNvSpPr>
            <a:spLocks noChangeShapeType="1"/>
          </p:cNvSpPr>
          <p:nvPr/>
        </p:nvSpPr>
        <p:spPr bwMode="auto">
          <a:xfrm>
            <a:off x="5562600" y="2286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8"/>
          <p:cNvSpPr>
            <a:spLocks noChangeShapeType="1"/>
          </p:cNvSpPr>
          <p:nvPr/>
        </p:nvSpPr>
        <p:spPr bwMode="auto">
          <a:xfrm flipH="1">
            <a:off x="5562600" y="2971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>
            <a:off x="5334000" y="2362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0"/>
          <p:cNvSpPr>
            <a:spLocks/>
          </p:cNvSpPr>
          <p:nvPr/>
        </p:nvSpPr>
        <p:spPr bwMode="auto">
          <a:xfrm>
            <a:off x="5486400" y="14478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1"/>
          <p:cNvSpPr>
            <a:spLocks/>
          </p:cNvSpPr>
          <p:nvPr/>
        </p:nvSpPr>
        <p:spPr bwMode="auto">
          <a:xfrm>
            <a:off x="5257800" y="541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Oval 13"/>
          <p:cNvSpPr>
            <a:spLocks noChangeArrowheads="1"/>
          </p:cNvSpPr>
          <p:nvPr/>
        </p:nvSpPr>
        <p:spPr bwMode="auto">
          <a:xfrm>
            <a:off x="5105400" y="4876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Oval 14"/>
          <p:cNvSpPr>
            <a:spLocks noChangeArrowheads="1"/>
          </p:cNvSpPr>
          <p:nvPr/>
        </p:nvSpPr>
        <p:spPr bwMode="auto">
          <a:xfrm>
            <a:off x="6096000" y="4114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>
            <a:off x="5562600" y="3810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6"/>
          <p:cNvSpPr>
            <a:spLocks noChangeShapeType="1"/>
          </p:cNvSpPr>
          <p:nvPr/>
        </p:nvSpPr>
        <p:spPr bwMode="auto">
          <a:xfrm flipH="1">
            <a:off x="5562600" y="4495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7"/>
          <p:cNvSpPr>
            <a:spLocks noChangeShapeType="1"/>
          </p:cNvSpPr>
          <p:nvPr/>
        </p:nvSpPr>
        <p:spPr bwMode="auto">
          <a:xfrm>
            <a:off x="5334000" y="3886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20"/>
          <p:cNvSpPr txBox="1">
            <a:spLocks noChangeArrowheads="1"/>
          </p:cNvSpPr>
          <p:nvPr/>
        </p:nvSpPr>
        <p:spPr bwMode="auto">
          <a:xfrm>
            <a:off x="51054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6" name="Text Box 22"/>
          <p:cNvSpPr txBox="1">
            <a:spLocks noChangeArrowheads="1"/>
          </p:cNvSpPr>
          <p:nvPr/>
        </p:nvSpPr>
        <p:spPr bwMode="auto">
          <a:xfrm>
            <a:off x="61722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51054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6172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51054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5715000" y="16764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input(A,B)</a:t>
            </a: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6629400" y="26670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 := A+7</a:t>
            </a: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6629400" y="41148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 := A+B</a:t>
            </a:r>
          </a:p>
        </p:txBody>
      </p:sp>
      <p:sp>
        <p:nvSpPr>
          <p:cNvPr id="83" name="Text Box 29"/>
          <p:cNvSpPr txBox="1">
            <a:spLocks noChangeArrowheads="1"/>
          </p:cNvSpPr>
          <p:nvPr/>
        </p:nvSpPr>
        <p:spPr bwMode="auto">
          <a:xfrm>
            <a:off x="5791200" y="2133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B&gt;1</a:t>
            </a:r>
          </a:p>
        </p:txBody>
      </p:sp>
      <p:sp>
        <p:nvSpPr>
          <p:cNvPr id="84" name="Text Box 30"/>
          <p:cNvSpPr txBox="1">
            <a:spLocks noChangeArrowheads="1"/>
          </p:cNvSpPr>
          <p:nvPr/>
        </p:nvSpPr>
        <p:spPr bwMode="auto">
          <a:xfrm>
            <a:off x="4724400" y="2667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" name="Text Box 31"/>
          <p:cNvSpPr txBox="1">
            <a:spLocks noChangeArrowheads="1"/>
          </p:cNvSpPr>
          <p:nvPr/>
        </p:nvSpPr>
        <p:spPr bwMode="auto">
          <a:xfrm>
            <a:off x="5791200" y="3657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A&gt;10</a:t>
            </a:r>
          </a:p>
        </p:txBody>
      </p:sp>
      <p:sp>
        <p:nvSpPr>
          <p:cNvPr id="86" name="Text Box 32"/>
          <p:cNvSpPr txBox="1">
            <a:spLocks noChangeArrowheads="1"/>
          </p:cNvSpPr>
          <p:nvPr/>
        </p:nvSpPr>
        <p:spPr bwMode="auto">
          <a:xfrm>
            <a:off x="4495800" y="41148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5638800" y="50292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212549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Identifying DU-Pairs –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10</a:t>
            </a:fld>
            <a:endParaRPr lang="zh-CN" altLang="en-US"/>
          </a:p>
        </p:txBody>
      </p:sp>
      <p:graphicFrame>
        <p:nvGraphicFramePr>
          <p:cNvPr id="7" name="Group 1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076509925"/>
              </p:ext>
            </p:extLst>
          </p:nvPr>
        </p:nvGraphicFramePr>
        <p:xfrm>
          <a:off x="685800" y="1447800"/>
          <a:ext cx="3124200" cy="469106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</a:rPr>
                        <a:t>du-pair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</a:rPr>
                        <a:t>path(s)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(1,2)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&lt;1,2&gt;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(1,4) 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&lt;1,3,4&gt;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(1,5) 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&lt;1,3,4,5&gt;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         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&lt;1,3,5&gt;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(1,&lt;3,4&gt;)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&lt;1,3,4&gt;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(1,&lt;3,5&gt;)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&lt;1,3,5&gt;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(2,4)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&lt;2,3,4&gt;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(2,5) 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&lt;2,3,4,5&gt;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               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&lt;2,3,5&gt;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(2,&lt;3,4&gt;)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&lt;2,3,4&gt;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(2,&lt;3,5&gt;)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itchFamily="34" charset="0"/>
                        </a:rPr>
                        <a:t>&lt;2,3,5&gt;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8" name="Oval 53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Oval 54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Oval 55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8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9"/>
          <p:cNvSpPr>
            <a:spLocks/>
          </p:cNvSpPr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60"/>
          <p:cNvSpPr>
            <a:spLocks/>
          </p:cNvSpPr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Oval 61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Oval 62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63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4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5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66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" name="Text Box 67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3" name="Text Box 68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4" name="Text Box 69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5" name="Text Box 70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" name="Text Box 71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input(A,B)</a:t>
            </a:r>
          </a:p>
        </p:txBody>
      </p:sp>
      <p:sp>
        <p:nvSpPr>
          <p:cNvPr id="27" name="Text Box 72"/>
          <p:cNvSpPr txBox="1">
            <a:spLocks noChangeArrowheads="1"/>
          </p:cNvSpPr>
          <p:nvPr/>
        </p:nvSpPr>
        <p:spPr bwMode="auto">
          <a:xfrm>
            <a:off x="6188528" y="28194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 := A+7</a:t>
            </a:r>
          </a:p>
        </p:txBody>
      </p:sp>
      <p:sp>
        <p:nvSpPr>
          <p:cNvPr id="28" name="Text Box 73"/>
          <p:cNvSpPr txBox="1">
            <a:spLocks noChangeArrowheads="1"/>
          </p:cNvSpPr>
          <p:nvPr/>
        </p:nvSpPr>
        <p:spPr bwMode="auto">
          <a:xfrm>
            <a:off x="6196692" y="4267200"/>
            <a:ext cx="14478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 := A+B</a:t>
            </a:r>
          </a:p>
        </p:txBody>
      </p:sp>
      <p:sp>
        <p:nvSpPr>
          <p:cNvPr id="29" name="Text Box 74"/>
          <p:cNvSpPr txBox="1">
            <a:spLocks noChangeArrowheads="1"/>
          </p:cNvSpPr>
          <p:nvPr/>
        </p:nvSpPr>
        <p:spPr bwMode="auto">
          <a:xfrm>
            <a:off x="5472024" y="2286000"/>
            <a:ext cx="8382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B&gt;1</a:t>
            </a:r>
          </a:p>
        </p:txBody>
      </p:sp>
      <p:sp>
        <p:nvSpPr>
          <p:cNvPr id="30" name="Text Box 75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" name="Text Box 76"/>
          <p:cNvSpPr txBox="1">
            <a:spLocks noChangeArrowheads="1"/>
          </p:cNvSpPr>
          <p:nvPr/>
        </p:nvSpPr>
        <p:spPr bwMode="auto">
          <a:xfrm>
            <a:off x="5454771" y="3775494"/>
            <a:ext cx="8382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A&gt;10</a:t>
            </a:r>
          </a:p>
        </p:txBody>
      </p:sp>
      <p:sp>
        <p:nvSpPr>
          <p:cNvPr id="32" name="Text Box 77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33" name="Text Box 78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output(A,B)</a:t>
            </a: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533400" y="4191000"/>
            <a:ext cx="3429000" cy="158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1803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val 35"/>
          <p:cNvSpPr>
            <a:spLocks noChangeArrowheads="1"/>
          </p:cNvSpPr>
          <p:nvPr/>
        </p:nvSpPr>
        <p:spPr bwMode="auto">
          <a:xfrm>
            <a:off x="7721600" y="2971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37891" name="Oval 30"/>
          <p:cNvSpPr>
            <a:spLocks noChangeArrowheads="1"/>
          </p:cNvSpPr>
          <p:nvPr/>
        </p:nvSpPr>
        <p:spPr bwMode="auto">
          <a:xfrm>
            <a:off x="6502400" y="1600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4379259" cy="132556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Exercise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4470400" cy="4114800"/>
          </a:xfrm>
        </p:spPr>
        <p:txBody>
          <a:bodyPr/>
          <a:lstStyle/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1.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input</a:t>
            </a:r>
            <a:r>
              <a:rPr lang="en-US" altLang="zh-CN" smtClean="0">
                <a:ea typeface="宋体" charset="-122"/>
              </a:rPr>
              <a:t>(X,Y)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2.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while</a:t>
            </a:r>
            <a:r>
              <a:rPr lang="en-US" altLang="zh-CN" smtClean="0">
                <a:ea typeface="宋体" charset="-122"/>
              </a:rPr>
              <a:t> (Y&gt;0)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do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3.   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if</a:t>
            </a:r>
            <a:r>
              <a:rPr lang="en-US" altLang="zh-CN" smtClean="0">
                <a:ea typeface="宋体" charset="-122"/>
              </a:rPr>
              <a:t> (X&gt;0)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then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4.         Y := Y-X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      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else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5.       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 input</a:t>
            </a:r>
            <a:r>
              <a:rPr lang="en-US" altLang="zh-CN" smtClean="0">
                <a:ea typeface="宋体" charset="-122"/>
              </a:rPr>
              <a:t>(X)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     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end_if_then_else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6.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end_while</a:t>
            </a: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charset="-122"/>
              </a:rPr>
              <a:t>7. </a:t>
            </a:r>
            <a:r>
              <a:rPr lang="en-US" altLang="zh-CN" smtClean="0">
                <a:latin typeface="Verdana" pitchFamily="34" charset="0"/>
                <a:ea typeface="宋体" charset="-122"/>
              </a:rPr>
              <a:t>output</a:t>
            </a:r>
            <a:r>
              <a:rPr lang="en-US" altLang="zh-CN" smtClean="0">
                <a:ea typeface="宋体" charset="-122"/>
              </a:rPr>
              <a:t>(X,Y)</a:t>
            </a:r>
          </a:p>
        </p:txBody>
      </p:sp>
      <p:sp>
        <p:nvSpPr>
          <p:cNvPr id="37894" name="Freeform 10"/>
          <p:cNvSpPr>
            <a:spLocks/>
          </p:cNvSpPr>
          <p:nvPr/>
        </p:nvSpPr>
        <p:spPr bwMode="auto">
          <a:xfrm>
            <a:off x="6807200" y="11430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Freeform 11"/>
          <p:cNvSpPr>
            <a:spLocks/>
          </p:cNvSpPr>
          <p:nvPr/>
        </p:nvSpPr>
        <p:spPr bwMode="auto">
          <a:xfrm>
            <a:off x="6604000" y="54102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Text Box 17"/>
          <p:cNvSpPr txBox="1">
            <a:spLocks noChangeArrowheads="1"/>
          </p:cNvSpPr>
          <p:nvPr/>
        </p:nvSpPr>
        <p:spPr bwMode="auto">
          <a:xfrm>
            <a:off x="6502400" y="1600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charset="-122"/>
              </a:rPr>
              <a:t>1</a:t>
            </a:r>
          </a:p>
        </p:txBody>
      </p:sp>
      <p:sp>
        <p:nvSpPr>
          <p:cNvPr id="37897" name="Text Box 19"/>
          <p:cNvSpPr txBox="1">
            <a:spLocks noChangeArrowheads="1"/>
          </p:cNvSpPr>
          <p:nvPr/>
        </p:nvSpPr>
        <p:spPr bwMode="auto">
          <a:xfrm>
            <a:off x="7721600" y="2971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charset="-122"/>
              </a:rPr>
              <a:t>3</a:t>
            </a:r>
          </a:p>
        </p:txBody>
      </p:sp>
      <p:sp>
        <p:nvSpPr>
          <p:cNvPr id="37898" name="Text Box 22"/>
          <p:cNvSpPr txBox="1">
            <a:spLocks noChangeArrowheads="1"/>
          </p:cNvSpPr>
          <p:nvPr/>
        </p:nvSpPr>
        <p:spPr bwMode="auto">
          <a:xfrm>
            <a:off x="7112000" y="1600201"/>
            <a:ext cx="233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input(X,Y))</a:t>
            </a:r>
          </a:p>
        </p:txBody>
      </p:sp>
      <p:sp>
        <p:nvSpPr>
          <p:cNvPr id="37899" name="Text Box 23"/>
          <p:cNvSpPr txBox="1">
            <a:spLocks noChangeArrowheads="1"/>
          </p:cNvSpPr>
          <p:nvPr/>
        </p:nvSpPr>
        <p:spPr bwMode="auto">
          <a:xfrm>
            <a:off x="9144000" y="3733801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Y := Y-X</a:t>
            </a:r>
          </a:p>
        </p:txBody>
      </p:sp>
      <p:sp>
        <p:nvSpPr>
          <p:cNvPr id="37900" name="Text Box 24"/>
          <p:cNvSpPr txBox="1">
            <a:spLocks noChangeArrowheads="1"/>
          </p:cNvSpPr>
          <p:nvPr/>
        </p:nvSpPr>
        <p:spPr bwMode="auto">
          <a:xfrm>
            <a:off x="5384800" y="3733801"/>
            <a:ext cx="1625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input(X)</a:t>
            </a:r>
          </a:p>
        </p:txBody>
      </p:sp>
      <p:sp>
        <p:nvSpPr>
          <p:cNvPr id="37901" name="Text Box 25"/>
          <p:cNvSpPr txBox="1">
            <a:spLocks noChangeArrowheads="1"/>
          </p:cNvSpPr>
          <p:nvPr/>
        </p:nvSpPr>
        <p:spPr bwMode="auto">
          <a:xfrm>
            <a:off x="7251700" y="2597151"/>
            <a:ext cx="111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Y&gt;0</a:t>
            </a:r>
          </a:p>
        </p:txBody>
      </p:sp>
      <p:sp>
        <p:nvSpPr>
          <p:cNvPr id="37903" name="Text Box 27"/>
          <p:cNvSpPr txBox="1">
            <a:spLocks noChangeArrowheads="1"/>
          </p:cNvSpPr>
          <p:nvPr/>
        </p:nvSpPr>
        <p:spPr bwMode="auto">
          <a:xfrm>
            <a:off x="8331200" y="3276601"/>
            <a:ext cx="101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X&gt;0</a:t>
            </a:r>
          </a:p>
        </p:txBody>
      </p:sp>
      <p:sp>
        <p:nvSpPr>
          <p:cNvPr id="37904" name="Text Box 29"/>
          <p:cNvSpPr txBox="1">
            <a:spLocks noChangeArrowheads="1"/>
          </p:cNvSpPr>
          <p:nvPr/>
        </p:nvSpPr>
        <p:spPr bwMode="auto">
          <a:xfrm>
            <a:off x="7010400" y="5105401"/>
            <a:ext cx="223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output(X,Y)</a:t>
            </a:r>
          </a:p>
        </p:txBody>
      </p:sp>
      <p:sp>
        <p:nvSpPr>
          <p:cNvPr id="37905" name="Oval 31"/>
          <p:cNvSpPr>
            <a:spLocks noChangeArrowheads="1"/>
          </p:cNvSpPr>
          <p:nvPr/>
        </p:nvSpPr>
        <p:spPr bwMode="auto">
          <a:xfrm>
            <a:off x="6502400" y="2362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7906" name="Oval 32"/>
          <p:cNvSpPr>
            <a:spLocks noChangeArrowheads="1"/>
          </p:cNvSpPr>
          <p:nvPr/>
        </p:nvSpPr>
        <p:spPr bwMode="auto">
          <a:xfrm>
            <a:off x="7721600" y="4267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37907" name="Oval 33"/>
          <p:cNvSpPr>
            <a:spLocks noChangeArrowheads="1"/>
          </p:cNvSpPr>
          <p:nvPr/>
        </p:nvSpPr>
        <p:spPr bwMode="auto">
          <a:xfrm>
            <a:off x="8534400" y="3733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37908" name="Oval 34"/>
          <p:cNvSpPr>
            <a:spLocks noChangeArrowheads="1"/>
          </p:cNvSpPr>
          <p:nvPr/>
        </p:nvSpPr>
        <p:spPr bwMode="auto">
          <a:xfrm>
            <a:off x="6908800" y="3733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7909" name="Oval 36"/>
          <p:cNvSpPr>
            <a:spLocks noChangeArrowheads="1"/>
          </p:cNvSpPr>
          <p:nvPr/>
        </p:nvSpPr>
        <p:spPr bwMode="auto">
          <a:xfrm>
            <a:off x="6502400" y="49530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7910" name="Line 40"/>
          <p:cNvSpPr>
            <a:spLocks noChangeShapeType="1"/>
          </p:cNvSpPr>
          <p:nvPr/>
        </p:nvSpPr>
        <p:spPr bwMode="auto">
          <a:xfrm>
            <a:off x="6807200" y="2057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41"/>
          <p:cNvSpPr>
            <a:spLocks noChangeShapeType="1"/>
          </p:cNvSpPr>
          <p:nvPr/>
        </p:nvSpPr>
        <p:spPr bwMode="auto">
          <a:xfrm>
            <a:off x="7112000" y="2743200"/>
            <a:ext cx="711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Line 42"/>
          <p:cNvSpPr>
            <a:spLocks noChangeShapeType="1"/>
          </p:cNvSpPr>
          <p:nvPr/>
        </p:nvSpPr>
        <p:spPr bwMode="auto">
          <a:xfrm>
            <a:off x="8229600" y="3429000"/>
            <a:ext cx="40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Line 43"/>
          <p:cNvSpPr>
            <a:spLocks noChangeShapeType="1"/>
          </p:cNvSpPr>
          <p:nvPr/>
        </p:nvSpPr>
        <p:spPr bwMode="auto">
          <a:xfrm flipH="1">
            <a:off x="7315200" y="3352800"/>
            <a:ext cx="508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Line 44"/>
          <p:cNvSpPr>
            <a:spLocks noChangeShapeType="1"/>
          </p:cNvSpPr>
          <p:nvPr/>
        </p:nvSpPr>
        <p:spPr bwMode="auto">
          <a:xfrm>
            <a:off x="7315200" y="4038600"/>
            <a:ext cx="508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Line 45"/>
          <p:cNvSpPr>
            <a:spLocks noChangeShapeType="1"/>
          </p:cNvSpPr>
          <p:nvPr/>
        </p:nvSpPr>
        <p:spPr bwMode="auto">
          <a:xfrm flipH="1">
            <a:off x="8229600" y="4114800"/>
            <a:ext cx="40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Text Box 47"/>
          <p:cNvSpPr txBox="1">
            <a:spLocks noChangeArrowheads="1"/>
          </p:cNvSpPr>
          <p:nvPr/>
        </p:nvSpPr>
        <p:spPr bwMode="auto">
          <a:xfrm>
            <a:off x="6807200" y="32766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X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0</a:t>
            </a:r>
          </a:p>
        </p:txBody>
      </p:sp>
      <p:sp>
        <p:nvSpPr>
          <p:cNvPr id="37918" name="Text Box 18"/>
          <p:cNvSpPr txBox="1">
            <a:spLocks noChangeArrowheads="1"/>
          </p:cNvSpPr>
          <p:nvPr/>
        </p:nvSpPr>
        <p:spPr bwMode="auto">
          <a:xfrm>
            <a:off x="6502400" y="2362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ea typeface="宋体" charset="-122"/>
              </a:rPr>
              <a:t>2</a:t>
            </a:r>
          </a:p>
        </p:txBody>
      </p:sp>
      <p:sp>
        <p:nvSpPr>
          <p:cNvPr id="37919" name="Text Box 20"/>
          <p:cNvSpPr txBox="1">
            <a:spLocks noChangeArrowheads="1"/>
          </p:cNvSpPr>
          <p:nvPr/>
        </p:nvSpPr>
        <p:spPr bwMode="auto">
          <a:xfrm>
            <a:off x="8534400" y="3733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37920" name="Text Box 21"/>
          <p:cNvSpPr txBox="1">
            <a:spLocks noChangeArrowheads="1"/>
          </p:cNvSpPr>
          <p:nvPr/>
        </p:nvSpPr>
        <p:spPr bwMode="auto">
          <a:xfrm>
            <a:off x="6908800" y="3733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charset="-122"/>
              </a:rPr>
              <a:t>5</a:t>
            </a:r>
          </a:p>
        </p:txBody>
      </p:sp>
      <p:sp>
        <p:nvSpPr>
          <p:cNvPr id="37921" name="Text Box 48"/>
          <p:cNvSpPr txBox="1">
            <a:spLocks noChangeArrowheads="1"/>
          </p:cNvSpPr>
          <p:nvPr/>
        </p:nvSpPr>
        <p:spPr bwMode="auto">
          <a:xfrm>
            <a:off x="7721600" y="4267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6</a:t>
            </a:r>
          </a:p>
        </p:txBody>
      </p:sp>
      <p:sp>
        <p:nvSpPr>
          <p:cNvPr id="37922" name="Text Box 49"/>
          <p:cNvSpPr txBox="1">
            <a:spLocks noChangeArrowheads="1"/>
          </p:cNvSpPr>
          <p:nvPr/>
        </p:nvSpPr>
        <p:spPr bwMode="auto">
          <a:xfrm>
            <a:off x="6502400" y="4953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charset="-122"/>
              </a:rPr>
              <a:t>7</a:t>
            </a:r>
          </a:p>
        </p:txBody>
      </p:sp>
      <p:sp>
        <p:nvSpPr>
          <p:cNvPr id="37923" name="Freeform 52"/>
          <p:cNvSpPr>
            <a:spLocks/>
          </p:cNvSpPr>
          <p:nvPr/>
        </p:nvSpPr>
        <p:spPr bwMode="auto">
          <a:xfrm>
            <a:off x="5977467" y="2819400"/>
            <a:ext cx="728133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Text Box 56"/>
          <p:cNvSpPr txBox="1">
            <a:spLocks noChangeArrowheads="1"/>
          </p:cNvSpPr>
          <p:nvPr/>
        </p:nvSpPr>
        <p:spPr bwMode="auto">
          <a:xfrm>
            <a:off x="5384800" y="28956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</a:t>
            </a: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0</a:t>
            </a:r>
          </a:p>
        </p:txBody>
      </p:sp>
      <p:cxnSp>
        <p:nvCxnSpPr>
          <p:cNvPr id="10" name="曲线连接符 9"/>
          <p:cNvCxnSpPr>
            <a:stCxn id="37906" idx="6"/>
            <a:endCxn id="37918" idx="3"/>
          </p:cNvCxnSpPr>
          <p:nvPr/>
        </p:nvCxnSpPr>
        <p:spPr>
          <a:xfrm flipH="1" flipV="1">
            <a:off x="7112000" y="2590800"/>
            <a:ext cx="12192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1" grpId="0" animBg="1"/>
      <p:bldP spid="37894" grpId="0" animBg="1"/>
      <p:bldP spid="37895" grpId="0" animBg="1"/>
      <p:bldP spid="37896" grpId="0"/>
      <p:bldP spid="37897" grpId="0"/>
      <p:bldP spid="37898" grpId="0"/>
      <p:bldP spid="37899" grpId="0"/>
      <p:bldP spid="37900" grpId="0"/>
      <p:bldP spid="37901" grpId="0"/>
      <p:bldP spid="37903" grpId="0"/>
      <p:bldP spid="37904" grpId="0"/>
      <p:bldP spid="37905" grpId="0" animBg="1"/>
      <p:bldP spid="37906" grpId="0" animBg="1"/>
      <p:bldP spid="37907" grpId="0" animBg="1"/>
      <p:bldP spid="37908" grpId="0" animBg="1"/>
      <p:bldP spid="37909" grpId="0" animBg="1"/>
      <p:bldP spid="37910" grpId="0" animBg="1"/>
      <p:bldP spid="37911" grpId="0" animBg="1"/>
      <p:bldP spid="37912" grpId="0" animBg="1"/>
      <p:bldP spid="37913" grpId="0" animBg="1"/>
      <p:bldP spid="37914" grpId="0" animBg="1"/>
      <p:bldP spid="37915" grpId="0" animBg="1"/>
      <p:bldP spid="37917" grpId="0"/>
      <p:bldP spid="37918" grpId="0" animBg="1"/>
      <p:bldP spid="37919" grpId="0"/>
      <p:bldP spid="37920" grpId="0"/>
      <p:bldP spid="37921" grpId="0"/>
      <p:bldP spid="37922" grpId="0"/>
      <p:bldP spid="37923" grpId="0" animBg="1"/>
      <p:bldP spid="379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Identifying DU-Pairs – Variable X</a:t>
            </a:r>
          </a:p>
        </p:txBody>
      </p:sp>
      <p:graphicFrame>
        <p:nvGraphicFramePr>
          <p:cNvPr id="406617" name="Group 89"/>
          <p:cNvGraphicFramePr>
            <a:graphicFrameLocks noGrp="1"/>
          </p:cNvGraphicFramePr>
          <p:nvPr>
            <p:ph type="tbl" idx="1"/>
          </p:nvPr>
        </p:nvGraphicFramePr>
        <p:xfrm>
          <a:off x="330200" y="1571625"/>
          <a:ext cx="5384800" cy="3984628"/>
        </p:xfrm>
        <a:graphic>
          <a:graphicData uri="http://schemas.openxmlformats.org/drawingml/2006/table">
            <a:tbl>
              <a:tblPr/>
              <a:tblGrid>
                <a:gridCol w="1569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56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&lt;1,2,3,4,(6,2,3,4)*&gt;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(1,7)         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&lt;1,2,7&gt;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&lt;1,2,3,4,6,2,7&gt;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&lt;1,2,3,4,6,(2,3,4,6)*,2,7&gt;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&lt;1,2,3,4,(6,2,3,4)*&gt;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         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(5,4)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&lt;5,6,2,3,4,(6,2,3,4)*&gt;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39977" name="Oval 53"/>
          <p:cNvSpPr>
            <a:spLocks noChangeArrowheads="1"/>
          </p:cNvSpPr>
          <p:nvPr/>
        </p:nvSpPr>
        <p:spPr bwMode="auto">
          <a:xfrm>
            <a:off x="8128000" y="3124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78" name="Oval 54"/>
          <p:cNvSpPr>
            <a:spLocks noChangeArrowheads="1"/>
          </p:cNvSpPr>
          <p:nvPr/>
        </p:nvSpPr>
        <p:spPr bwMode="auto">
          <a:xfrm>
            <a:off x="6908800" y="1752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79" name="Freeform 55"/>
          <p:cNvSpPr>
            <a:spLocks/>
          </p:cNvSpPr>
          <p:nvPr/>
        </p:nvSpPr>
        <p:spPr bwMode="auto">
          <a:xfrm>
            <a:off x="7213600" y="12954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0" name="Freeform 56"/>
          <p:cNvSpPr>
            <a:spLocks/>
          </p:cNvSpPr>
          <p:nvPr/>
        </p:nvSpPr>
        <p:spPr bwMode="auto">
          <a:xfrm>
            <a:off x="7010400" y="55626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1" name="Text Box 57"/>
          <p:cNvSpPr txBox="1">
            <a:spLocks noChangeArrowheads="1"/>
          </p:cNvSpPr>
          <p:nvPr/>
        </p:nvSpPr>
        <p:spPr bwMode="auto">
          <a:xfrm>
            <a:off x="6908800" y="17526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39982" name="Text Box 58"/>
          <p:cNvSpPr txBox="1">
            <a:spLocks noChangeArrowheads="1"/>
          </p:cNvSpPr>
          <p:nvPr/>
        </p:nvSpPr>
        <p:spPr bwMode="auto">
          <a:xfrm>
            <a:off x="8128000" y="3124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39983" name="Text Box 59"/>
          <p:cNvSpPr txBox="1">
            <a:spLocks noChangeArrowheads="1"/>
          </p:cNvSpPr>
          <p:nvPr/>
        </p:nvSpPr>
        <p:spPr bwMode="auto">
          <a:xfrm>
            <a:off x="7518400" y="1752601"/>
            <a:ext cx="233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input(X,Y))</a:t>
            </a:r>
          </a:p>
        </p:txBody>
      </p:sp>
      <p:sp>
        <p:nvSpPr>
          <p:cNvPr id="39984" name="Text Box 60"/>
          <p:cNvSpPr txBox="1">
            <a:spLocks noChangeArrowheads="1"/>
          </p:cNvSpPr>
          <p:nvPr/>
        </p:nvSpPr>
        <p:spPr bwMode="auto">
          <a:xfrm>
            <a:off x="9550400" y="3886201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 := Y-X</a:t>
            </a:r>
          </a:p>
        </p:txBody>
      </p:sp>
      <p:sp>
        <p:nvSpPr>
          <p:cNvPr id="39985" name="Text Box 61"/>
          <p:cNvSpPr txBox="1">
            <a:spLocks noChangeArrowheads="1"/>
          </p:cNvSpPr>
          <p:nvPr/>
        </p:nvSpPr>
        <p:spPr bwMode="auto">
          <a:xfrm>
            <a:off x="5791200" y="3886201"/>
            <a:ext cx="1625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Century Gothic" pitchFamily="34" charset="0"/>
                <a:ea typeface="宋体" charset="-122"/>
              </a:rPr>
              <a:t>input(X)</a:t>
            </a:r>
          </a:p>
        </p:txBody>
      </p:sp>
      <p:sp>
        <p:nvSpPr>
          <p:cNvPr id="39986" name="Text Box 62"/>
          <p:cNvSpPr txBox="1">
            <a:spLocks noChangeArrowheads="1"/>
          </p:cNvSpPr>
          <p:nvPr/>
        </p:nvSpPr>
        <p:spPr bwMode="auto">
          <a:xfrm>
            <a:off x="7721600" y="2667001"/>
            <a:ext cx="111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Y&gt;0</a:t>
            </a:r>
          </a:p>
        </p:txBody>
      </p:sp>
      <p:sp>
        <p:nvSpPr>
          <p:cNvPr id="39987" name="Text Box 64"/>
          <p:cNvSpPr txBox="1">
            <a:spLocks noChangeArrowheads="1"/>
          </p:cNvSpPr>
          <p:nvPr/>
        </p:nvSpPr>
        <p:spPr bwMode="auto">
          <a:xfrm>
            <a:off x="8737600" y="3429001"/>
            <a:ext cx="101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X&gt;0</a:t>
            </a:r>
          </a:p>
        </p:txBody>
      </p:sp>
      <p:sp>
        <p:nvSpPr>
          <p:cNvPr id="39988" name="Text Box 65"/>
          <p:cNvSpPr txBox="1">
            <a:spLocks noChangeArrowheads="1"/>
          </p:cNvSpPr>
          <p:nvPr/>
        </p:nvSpPr>
        <p:spPr bwMode="auto">
          <a:xfrm>
            <a:off x="7416800" y="5257801"/>
            <a:ext cx="223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output(X,Y)</a:t>
            </a:r>
          </a:p>
        </p:txBody>
      </p:sp>
      <p:sp>
        <p:nvSpPr>
          <p:cNvPr id="39989" name="Oval 66"/>
          <p:cNvSpPr>
            <a:spLocks noChangeArrowheads="1"/>
          </p:cNvSpPr>
          <p:nvPr/>
        </p:nvSpPr>
        <p:spPr bwMode="auto">
          <a:xfrm>
            <a:off x="6908800" y="2514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90" name="Oval 67"/>
          <p:cNvSpPr>
            <a:spLocks noChangeArrowheads="1"/>
          </p:cNvSpPr>
          <p:nvPr/>
        </p:nvSpPr>
        <p:spPr bwMode="auto">
          <a:xfrm>
            <a:off x="8128000" y="4419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91" name="Oval 68"/>
          <p:cNvSpPr>
            <a:spLocks noChangeArrowheads="1"/>
          </p:cNvSpPr>
          <p:nvPr/>
        </p:nvSpPr>
        <p:spPr bwMode="auto">
          <a:xfrm>
            <a:off x="8940800" y="3886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92" name="Oval 69"/>
          <p:cNvSpPr>
            <a:spLocks noChangeArrowheads="1"/>
          </p:cNvSpPr>
          <p:nvPr/>
        </p:nvSpPr>
        <p:spPr bwMode="auto">
          <a:xfrm>
            <a:off x="7315200" y="3886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93" name="Oval 70"/>
          <p:cNvSpPr>
            <a:spLocks noChangeArrowheads="1"/>
          </p:cNvSpPr>
          <p:nvPr/>
        </p:nvSpPr>
        <p:spPr bwMode="auto">
          <a:xfrm>
            <a:off x="6908800" y="51054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39994" name="Line 71"/>
          <p:cNvSpPr>
            <a:spLocks noChangeShapeType="1"/>
          </p:cNvSpPr>
          <p:nvPr/>
        </p:nvSpPr>
        <p:spPr bwMode="auto">
          <a:xfrm>
            <a:off x="7213600" y="220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5" name="Line 72"/>
          <p:cNvSpPr>
            <a:spLocks noChangeShapeType="1"/>
          </p:cNvSpPr>
          <p:nvPr/>
        </p:nvSpPr>
        <p:spPr bwMode="auto">
          <a:xfrm>
            <a:off x="7518400" y="2895600"/>
            <a:ext cx="711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6" name="Line 73"/>
          <p:cNvSpPr>
            <a:spLocks noChangeShapeType="1"/>
          </p:cNvSpPr>
          <p:nvPr/>
        </p:nvSpPr>
        <p:spPr bwMode="auto">
          <a:xfrm>
            <a:off x="8636000" y="3581400"/>
            <a:ext cx="40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7" name="Line 74"/>
          <p:cNvSpPr>
            <a:spLocks noChangeShapeType="1"/>
          </p:cNvSpPr>
          <p:nvPr/>
        </p:nvSpPr>
        <p:spPr bwMode="auto">
          <a:xfrm flipH="1">
            <a:off x="7721600" y="3505200"/>
            <a:ext cx="508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8" name="Line 75"/>
          <p:cNvSpPr>
            <a:spLocks noChangeShapeType="1"/>
          </p:cNvSpPr>
          <p:nvPr/>
        </p:nvSpPr>
        <p:spPr bwMode="auto">
          <a:xfrm>
            <a:off x="7721600" y="4191000"/>
            <a:ext cx="508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9" name="Line 76"/>
          <p:cNvSpPr>
            <a:spLocks noChangeShapeType="1"/>
          </p:cNvSpPr>
          <p:nvPr/>
        </p:nvSpPr>
        <p:spPr bwMode="auto">
          <a:xfrm flipH="1">
            <a:off x="8636000" y="4267200"/>
            <a:ext cx="40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00" name="Text Box 78"/>
          <p:cNvSpPr txBox="1">
            <a:spLocks noChangeArrowheads="1"/>
          </p:cNvSpPr>
          <p:nvPr/>
        </p:nvSpPr>
        <p:spPr bwMode="auto">
          <a:xfrm>
            <a:off x="7213600" y="34290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X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0</a:t>
            </a:r>
          </a:p>
        </p:txBody>
      </p:sp>
      <p:sp>
        <p:nvSpPr>
          <p:cNvPr id="40001" name="Text Box 79"/>
          <p:cNvSpPr txBox="1">
            <a:spLocks noChangeArrowheads="1"/>
          </p:cNvSpPr>
          <p:nvPr/>
        </p:nvSpPr>
        <p:spPr bwMode="auto">
          <a:xfrm>
            <a:off x="6908800" y="25146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40002" name="Text Box 80"/>
          <p:cNvSpPr txBox="1">
            <a:spLocks noChangeArrowheads="1"/>
          </p:cNvSpPr>
          <p:nvPr/>
        </p:nvSpPr>
        <p:spPr bwMode="auto">
          <a:xfrm>
            <a:off x="8940800" y="3886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40003" name="Text Box 81"/>
          <p:cNvSpPr txBox="1">
            <a:spLocks noChangeArrowheads="1"/>
          </p:cNvSpPr>
          <p:nvPr/>
        </p:nvSpPr>
        <p:spPr bwMode="auto">
          <a:xfrm>
            <a:off x="7315200" y="38862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40004" name="Text Box 82"/>
          <p:cNvSpPr txBox="1">
            <a:spLocks noChangeArrowheads="1"/>
          </p:cNvSpPr>
          <p:nvPr/>
        </p:nvSpPr>
        <p:spPr bwMode="auto">
          <a:xfrm>
            <a:off x="8128000" y="44196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6</a:t>
            </a:r>
          </a:p>
        </p:txBody>
      </p:sp>
      <p:sp>
        <p:nvSpPr>
          <p:cNvPr id="40005" name="Text Box 83"/>
          <p:cNvSpPr txBox="1">
            <a:spLocks noChangeArrowheads="1"/>
          </p:cNvSpPr>
          <p:nvPr/>
        </p:nvSpPr>
        <p:spPr bwMode="auto">
          <a:xfrm>
            <a:off x="6908800" y="5105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7</a:t>
            </a:r>
          </a:p>
        </p:txBody>
      </p:sp>
      <p:sp>
        <p:nvSpPr>
          <p:cNvPr id="40006" name="Freeform 84"/>
          <p:cNvSpPr>
            <a:spLocks/>
          </p:cNvSpPr>
          <p:nvPr/>
        </p:nvSpPr>
        <p:spPr bwMode="auto">
          <a:xfrm>
            <a:off x="6383867" y="2971800"/>
            <a:ext cx="728133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07" name="Text Box 87"/>
          <p:cNvSpPr txBox="1">
            <a:spLocks noChangeArrowheads="1"/>
          </p:cNvSpPr>
          <p:nvPr/>
        </p:nvSpPr>
        <p:spPr bwMode="auto">
          <a:xfrm>
            <a:off x="5791200" y="30480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latin typeface="Century Gothic" pitchFamily="34" charset="0"/>
                <a:ea typeface="宋体" charset="-122"/>
              </a:rPr>
              <a:t>Y</a:t>
            </a:r>
            <a:r>
              <a:rPr lang="en-US" altLang="zh-CN" sz="2000">
                <a:solidFill>
                  <a:schemeClr val="bg1"/>
                </a:solidFill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>
                <a:solidFill>
                  <a:schemeClr val="bg1"/>
                </a:solidFill>
                <a:latin typeface="Century Gothic" pitchFamily="34" charset="0"/>
                <a:ea typeface="宋体" charset="-122"/>
              </a:rPr>
              <a:t>0</a:t>
            </a:r>
          </a:p>
        </p:txBody>
      </p:sp>
      <p:cxnSp>
        <p:nvCxnSpPr>
          <p:cNvPr id="39" name="曲线连接符 38"/>
          <p:cNvCxnSpPr/>
          <p:nvPr/>
        </p:nvCxnSpPr>
        <p:spPr>
          <a:xfrm flipH="1" flipV="1">
            <a:off x="7467600" y="2705100"/>
            <a:ext cx="12192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01600" y="4800600"/>
            <a:ext cx="5791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Identifying DU-Pairs – Variable X</a:t>
            </a:r>
          </a:p>
        </p:txBody>
      </p:sp>
      <p:graphicFrame>
        <p:nvGraphicFramePr>
          <p:cNvPr id="5" name="Group 202"/>
          <p:cNvGraphicFramePr>
            <a:graphicFrameLocks noGrp="1"/>
          </p:cNvGraphicFramePr>
          <p:nvPr>
            <p:ph type="tbl" idx="1"/>
          </p:nvPr>
        </p:nvGraphicFramePr>
        <p:xfrm>
          <a:off x="76200" y="1447800"/>
          <a:ext cx="4330700" cy="3881439"/>
        </p:xfrm>
        <a:graphic>
          <a:graphicData uri="http://schemas.openxmlformats.org/drawingml/2006/table">
            <a:tbl>
              <a:tblPr/>
              <a:tblGrid>
                <a:gridCol w="11634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672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04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1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(5,7)               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&lt;5,6,2,7&gt;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&lt;5,6,2,3,4,6,2,7&gt;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&lt;5,6,2,3,4,6,(2,3,4,6)*,2,7&gt;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(5,&lt;3,4&gt;)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&lt;5,6,2,3,4&gt;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&lt;5,6,2,3,4,(6,2,3,4)*&gt;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(5,&lt;3,5&gt;)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&lt;5,6,2,3,5&gt;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&lt;5,6,2,3,4,6,2,3,5&gt;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85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&lt;5,6,2,3,4,6,(2,3,4,6)*,2,3,5&gt;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201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 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infeasible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6" name="Oval 70"/>
          <p:cNvSpPr>
            <a:spLocks noChangeArrowheads="1"/>
          </p:cNvSpPr>
          <p:nvPr/>
        </p:nvSpPr>
        <p:spPr bwMode="auto">
          <a:xfrm>
            <a:off x="6303390" y="3105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7" name="Oval 71"/>
          <p:cNvSpPr>
            <a:spLocks noChangeArrowheads="1"/>
          </p:cNvSpPr>
          <p:nvPr/>
        </p:nvSpPr>
        <p:spPr bwMode="auto">
          <a:xfrm>
            <a:off x="5388990" y="1733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8" name="Freeform 72"/>
          <p:cNvSpPr>
            <a:spLocks/>
          </p:cNvSpPr>
          <p:nvPr/>
        </p:nvSpPr>
        <p:spPr bwMode="auto">
          <a:xfrm>
            <a:off x="5617590" y="1276547"/>
            <a:ext cx="1524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3"/>
          <p:cNvSpPr>
            <a:spLocks/>
          </p:cNvSpPr>
          <p:nvPr/>
        </p:nvSpPr>
        <p:spPr bwMode="auto">
          <a:xfrm>
            <a:off x="5465190" y="5543747"/>
            <a:ext cx="1524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4"/>
          <p:cNvSpPr txBox="1">
            <a:spLocks noChangeArrowheads="1"/>
          </p:cNvSpPr>
          <p:nvPr/>
        </p:nvSpPr>
        <p:spPr bwMode="auto">
          <a:xfrm>
            <a:off x="5388990" y="17337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11" name="Text Box 75"/>
          <p:cNvSpPr txBox="1">
            <a:spLocks noChangeArrowheads="1"/>
          </p:cNvSpPr>
          <p:nvPr/>
        </p:nvSpPr>
        <p:spPr bwMode="auto">
          <a:xfrm>
            <a:off x="6303390" y="31053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12" name="Text Box 76"/>
          <p:cNvSpPr txBox="1">
            <a:spLocks noChangeArrowheads="1"/>
          </p:cNvSpPr>
          <p:nvPr/>
        </p:nvSpPr>
        <p:spPr bwMode="auto">
          <a:xfrm>
            <a:off x="5846190" y="1733747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input(X,Y))</a:t>
            </a:r>
          </a:p>
        </p:txBody>
      </p:sp>
      <p:sp>
        <p:nvSpPr>
          <p:cNvPr id="13" name="Text Box 77"/>
          <p:cNvSpPr txBox="1">
            <a:spLocks noChangeArrowheads="1"/>
          </p:cNvSpPr>
          <p:nvPr/>
        </p:nvSpPr>
        <p:spPr bwMode="auto">
          <a:xfrm>
            <a:off x="7370190" y="3867347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 := Y-X</a:t>
            </a:r>
          </a:p>
        </p:txBody>
      </p:sp>
      <p:sp>
        <p:nvSpPr>
          <p:cNvPr id="14" name="Text Box 78"/>
          <p:cNvSpPr txBox="1">
            <a:spLocks noChangeArrowheads="1"/>
          </p:cNvSpPr>
          <p:nvPr/>
        </p:nvSpPr>
        <p:spPr bwMode="auto">
          <a:xfrm>
            <a:off x="4550790" y="3867347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input(X)</a:t>
            </a:r>
          </a:p>
        </p:txBody>
      </p:sp>
      <p:sp>
        <p:nvSpPr>
          <p:cNvPr id="15" name="Text Box 79"/>
          <p:cNvSpPr txBox="1">
            <a:spLocks noChangeArrowheads="1"/>
          </p:cNvSpPr>
          <p:nvPr/>
        </p:nvSpPr>
        <p:spPr bwMode="auto">
          <a:xfrm>
            <a:off x="5998590" y="2648147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Y&gt;0</a:t>
            </a:r>
          </a:p>
        </p:txBody>
      </p:sp>
      <p:sp>
        <p:nvSpPr>
          <p:cNvPr id="16" name="Text Box 81"/>
          <p:cNvSpPr txBox="1">
            <a:spLocks noChangeArrowheads="1"/>
          </p:cNvSpPr>
          <p:nvPr/>
        </p:nvSpPr>
        <p:spPr bwMode="auto">
          <a:xfrm>
            <a:off x="6760590" y="3410147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X&gt;0</a:t>
            </a:r>
          </a:p>
        </p:txBody>
      </p:sp>
      <p:sp>
        <p:nvSpPr>
          <p:cNvPr id="17" name="Text Box 82"/>
          <p:cNvSpPr txBox="1">
            <a:spLocks noChangeArrowheads="1"/>
          </p:cNvSpPr>
          <p:nvPr/>
        </p:nvSpPr>
        <p:spPr bwMode="auto">
          <a:xfrm>
            <a:off x="5769990" y="5238947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output(X,Y)</a:t>
            </a:r>
          </a:p>
        </p:txBody>
      </p:sp>
      <p:sp>
        <p:nvSpPr>
          <p:cNvPr id="18" name="Oval 83"/>
          <p:cNvSpPr>
            <a:spLocks noChangeArrowheads="1"/>
          </p:cNvSpPr>
          <p:nvPr/>
        </p:nvSpPr>
        <p:spPr bwMode="auto">
          <a:xfrm>
            <a:off x="5388990" y="2495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9" name="Oval 84"/>
          <p:cNvSpPr>
            <a:spLocks noChangeArrowheads="1"/>
          </p:cNvSpPr>
          <p:nvPr/>
        </p:nvSpPr>
        <p:spPr bwMode="auto">
          <a:xfrm>
            <a:off x="6303390" y="4400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20" name="Oval 85"/>
          <p:cNvSpPr>
            <a:spLocks noChangeArrowheads="1"/>
          </p:cNvSpPr>
          <p:nvPr/>
        </p:nvSpPr>
        <p:spPr bwMode="auto">
          <a:xfrm>
            <a:off x="6912990" y="3867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21" name="Oval 86"/>
          <p:cNvSpPr>
            <a:spLocks noChangeArrowheads="1"/>
          </p:cNvSpPr>
          <p:nvPr/>
        </p:nvSpPr>
        <p:spPr bwMode="auto">
          <a:xfrm>
            <a:off x="5693790" y="3867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22" name="Oval 87"/>
          <p:cNvSpPr>
            <a:spLocks noChangeArrowheads="1"/>
          </p:cNvSpPr>
          <p:nvPr/>
        </p:nvSpPr>
        <p:spPr bwMode="auto">
          <a:xfrm>
            <a:off x="5388990" y="50865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23" name="Line 88"/>
          <p:cNvSpPr>
            <a:spLocks noChangeShapeType="1"/>
          </p:cNvSpPr>
          <p:nvPr/>
        </p:nvSpPr>
        <p:spPr bwMode="auto">
          <a:xfrm>
            <a:off x="5617590" y="219094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89"/>
          <p:cNvSpPr>
            <a:spLocks noChangeShapeType="1"/>
          </p:cNvSpPr>
          <p:nvPr/>
        </p:nvSpPr>
        <p:spPr bwMode="auto">
          <a:xfrm>
            <a:off x="5846190" y="2876747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90"/>
          <p:cNvSpPr>
            <a:spLocks noChangeShapeType="1"/>
          </p:cNvSpPr>
          <p:nvPr/>
        </p:nvSpPr>
        <p:spPr bwMode="auto">
          <a:xfrm>
            <a:off x="6684390" y="3562547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91"/>
          <p:cNvSpPr>
            <a:spLocks noChangeShapeType="1"/>
          </p:cNvSpPr>
          <p:nvPr/>
        </p:nvSpPr>
        <p:spPr bwMode="auto">
          <a:xfrm flipH="1">
            <a:off x="5998590" y="3486347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92"/>
          <p:cNvSpPr>
            <a:spLocks noChangeShapeType="1"/>
          </p:cNvSpPr>
          <p:nvPr/>
        </p:nvSpPr>
        <p:spPr bwMode="auto">
          <a:xfrm>
            <a:off x="5998590" y="4172147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 93"/>
          <p:cNvSpPr>
            <a:spLocks noChangeShapeType="1"/>
          </p:cNvSpPr>
          <p:nvPr/>
        </p:nvSpPr>
        <p:spPr bwMode="auto">
          <a:xfrm flipH="1">
            <a:off x="6684390" y="4248347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95"/>
          <p:cNvSpPr txBox="1">
            <a:spLocks noChangeArrowheads="1"/>
          </p:cNvSpPr>
          <p:nvPr/>
        </p:nvSpPr>
        <p:spPr bwMode="auto">
          <a:xfrm>
            <a:off x="5617590" y="3410147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X</a:t>
            </a: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0</a:t>
            </a:r>
          </a:p>
        </p:txBody>
      </p:sp>
      <p:sp>
        <p:nvSpPr>
          <p:cNvPr id="30" name="Text Box 96"/>
          <p:cNvSpPr txBox="1">
            <a:spLocks noChangeArrowheads="1"/>
          </p:cNvSpPr>
          <p:nvPr/>
        </p:nvSpPr>
        <p:spPr bwMode="auto">
          <a:xfrm>
            <a:off x="5388990" y="24957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31" name="Text Box 97"/>
          <p:cNvSpPr txBox="1">
            <a:spLocks noChangeArrowheads="1"/>
          </p:cNvSpPr>
          <p:nvPr/>
        </p:nvSpPr>
        <p:spPr bwMode="auto">
          <a:xfrm>
            <a:off x="6912990" y="38673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32" name="Text Box 98"/>
          <p:cNvSpPr txBox="1">
            <a:spLocks noChangeArrowheads="1"/>
          </p:cNvSpPr>
          <p:nvPr/>
        </p:nvSpPr>
        <p:spPr bwMode="auto">
          <a:xfrm>
            <a:off x="5693790" y="38673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33" name="Text Box 99"/>
          <p:cNvSpPr txBox="1">
            <a:spLocks noChangeArrowheads="1"/>
          </p:cNvSpPr>
          <p:nvPr/>
        </p:nvSpPr>
        <p:spPr bwMode="auto">
          <a:xfrm>
            <a:off x="6303390" y="44007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6</a:t>
            </a:r>
          </a:p>
        </p:txBody>
      </p:sp>
      <p:sp>
        <p:nvSpPr>
          <p:cNvPr id="34" name="Text Box 100"/>
          <p:cNvSpPr txBox="1">
            <a:spLocks noChangeArrowheads="1"/>
          </p:cNvSpPr>
          <p:nvPr/>
        </p:nvSpPr>
        <p:spPr bwMode="auto">
          <a:xfrm>
            <a:off x="5388990" y="50865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7</a:t>
            </a:r>
          </a:p>
        </p:txBody>
      </p:sp>
      <p:sp>
        <p:nvSpPr>
          <p:cNvPr id="35" name="Freeform 101"/>
          <p:cNvSpPr>
            <a:spLocks/>
          </p:cNvSpPr>
          <p:nvPr/>
        </p:nvSpPr>
        <p:spPr bwMode="auto">
          <a:xfrm>
            <a:off x="4995290" y="2952947"/>
            <a:ext cx="546100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104"/>
          <p:cNvSpPr txBox="1">
            <a:spLocks noChangeArrowheads="1"/>
          </p:cNvSpPr>
          <p:nvPr/>
        </p:nvSpPr>
        <p:spPr bwMode="auto">
          <a:xfrm>
            <a:off x="4550790" y="3029147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Y</a:t>
            </a: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0</a:t>
            </a:r>
          </a:p>
        </p:txBody>
      </p:sp>
      <p:cxnSp>
        <p:nvCxnSpPr>
          <p:cNvPr id="37" name="曲线连接符 36"/>
          <p:cNvCxnSpPr/>
          <p:nvPr/>
        </p:nvCxnSpPr>
        <p:spPr>
          <a:xfrm flipH="1" flipV="1">
            <a:off x="5808090" y="2686247"/>
            <a:ext cx="9144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Flow Testing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301" y="1690687"/>
            <a:ext cx="8419446" cy="4934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latin typeface="Verdana" pitchFamily="34" charset="0"/>
                <a:ea typeface="宋体" charset="-122"/>
              </a:rPr>
              <a:t>definition-use path</a:t>
            </a:r>
            <a:endParaRPr lang="en-US" altLang="zh-CN" sz="3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solidFill>
                  <a:srgbClr val="3333FF"/>
                </a:solidFill>
                <a:latin typeface="Verdana" pitchFamily="34" charset="0"/>
                <a:ea typeface="宋体" charset="-122"/>
              </a:rPr>
              <a:t>definition-clear </a:t>
            </a:r>
            <a:r>
              <a:rPr lang="en-US" altLang="zh-CN" sz="3600" dirty="0" smtClean="0">
                <a:solidFill>
                  <a:srgbClr val="3333FF"/>
                </a:solidFill>
                <a:latin typeface="Verdana" pitchFamily="34" charset="0"/>
                <a:ea typeface="宋体" charset="-122"/>
              </a:rPr>
              <a:t>path</a:t>
            </a:r>
            <a:endParaRPr lang="en-US" altLang="zh-CN" sz="3600" dirty="0" smtClean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Verdana" pitchFamily="34" charset="0"/>
                <a:ea typeface="宋体" charset="-122"/>
              </a:rPr>
              <a:t>def-clear path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50" y="1625375"/>
            <a:ext cx="8141814" cy="351223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sz="3000" i="1" dirty="0">
                <a:latin typeface="Verdana" panose="020B0604030504040204" pitchFamily="34" charset="0"/>
              </a:rPr>
              <a:t>A path is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 clear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i="1" dirty="0">
                <a:solidFill>
                  <a:srgbClr val="FDAD23"/>
                </a:solidFill>
                <a:latin typeface="Verdana" panose="020B0604030504040204" pitchFamily="34" charset="0"/>
              </a:rPr>
              <a:t>(“</a:t>
            </a:r>
            <a:r>
              <a:rPr lang="en-US" altLang="zh-CN" sz="3000" b="1" i="1" dirty="0" err="1">
                <a:solidFill>
                  <a:srgbClr val="FDAD23"/>
                </a:solidFill>
                <a:latin typeface="Verdana" panose="020B0604030504040204" pitchFamily="34" charset="0"/>
              </a:rPr>
              <a:t>def</a:t>
            </a:r>
            <a:r>
              <a:rPr lang="en-US" altLang="zh-CN" sz="3000" b="1" i="1" dirty="0">
                <a:solidFill>
                  <a:srgbClr val="FDAD23"/>
                </a:solidFill>
                <a:latin typeface="Verdana" panose="020B0604030504040204" pitchFamily="34" charset="0"/>
              </a:rPr>
              <a:t>-clear”)</a:t>
            </a:r>
            <a:r>
              <a:rPr lang="en-US" altLang="zh-CN" sz="3000" i="1" dirty="0">
                <a:latin typeface="Verdana" panose="020B0604030504040204" pitchFamily="34" charset="0"/>
              </a:rPr>
              <a:t> with respect to a variable v if there is </a:t>
            </a:r>
            <a:r>
              <a:rPr lang="en-US" altLang="zh-CN" sz="3000" i="1" dirty="0">
                <a:solidFill>
                  <a:srgbClr val="FF0000"/>
                </a:solidFill>
                <a:latin typeface="Verdana" panose="020B0604030504040204" pitchFamily="34" charset="0"/>
              </a:rPr>
              <a:t>no </a:t>
            </a:r>
            <a:r>
              <a:rPr lang="en-US" altLang="zh-CN" sz="3000" b="1" i="1" dirty="0">
                <a:solidFill>
                  <a:srgbClr val="FF0000"/>
                </a:solidFill>
                <a:latin typeface="Verdana" panose="020B0604030504040204" pitchFamily="34" charset="0"/>
              </a:rPr>
              <a:t>re</a:t>
            </a:r>
            <a:r>
              <a:rPr lang="en-US" altLang="zh-CN" sz="3000" i="1" dirty="0">
                <a:solidFill>
                  <a:srgbClr val="FF0000"/>
                </a:solidFill>
                <a:latin typeface="Verdana" panose="020B0604030504040204" pitchFamily="34" charset="0"/>
              </a:rPr>
              <a:t>-definition</a:t>
            </a:r>
            <a:r>
              <a:rPr lang="en-US" altLang="zh-CN" sz="3000" i="1" dirty="0">
                <a:latin typeface="Verdana" panose="020B0604030504040204" pitchFamily="34" charset="0"/>
              </a:rPr>
              <a:t> of v within the path.</a:t>
            </a:r>
          </a:p>
          <a:p>
            <a:pPr>
              <a:lnSpc>
                <a:spcPct val="110000"/>
              </a:lnSpc>
            </a:pPr>
            <a:r>
              <a:rPr lang="en-US" altLang="zh-CN" sz="3000" dirty="0">
                <a:latin typeface="Verdana" panose="020B0604030504040204" pitchFamily="34" charset="0"/>
              </a:rPr>
              <a:t>A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definition-use pair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dirty="0">
                <a:solidFill>
                  <a:srgbClr val="FDAD23"/>
                </a:solidFill>
                <a:latin typeface="Verdana" panose="020B0604030504040204" pitchFamily="34" charset="0"/>
              </a:rPr>
              <a:t>(“du-pair”)</a:t>
            </a:r>
            <a:r>
              <a:rPr lang="en-US" altLang="zh-CN" sz="3000" dirty="0">
                <a:latin typeface="Verdana" panose="020B0604030504040204" pitchFamily="34" charset="0"/>
              </a:rPr>
              <a:t> with respect to a variable v is a double (</a:t>
            </a:r>
            <a:r>
              <a:rPr lang="en-US" altLang="zh-CN" sz="3000" dirty="0" err="1">
                <a:latin typeface="Verdana" panose="020B0604030504040204" pitchFamily="34" charset="0"/>
              </a:rPr>
              <a:t>d,u</a:t>
            </a:r>
            <a:r>
              <a:rPr lang="en-US" altLang="zh-CN" sz="3000" dirty="0">
                <a:latin typeface="Verdana" panose="020B0604030504040204" pitchFamily="34" charset="0"/>
              </a:rPr>
              <a:t>) such that d is a node in the program’s flow graph at which v is defined, u is a node or edge at which v is used, and there is </a:t>
            </a:r>
            <a:r>
              <a:rPr lang="en-US" altLang="zh-CN" sz="3000" dirty="0">
                <a:solidFill>
                  <a:srgbClr val="FF0000"/>
                </a:solidFill>
                <a:latin typeface="Verdana" panose="020B0604030504040204" pitchFamily="34" charset="0"/>
              </a:rPr>
              <a:t>a </a:t>
            </a:r>
            <a:r>
              <a:rPr lang="en-US" altLang="zh-CN" sz="3000" dirty="0" err="1">
                <a:solidFill>
                  <a:srgbClr val="FF0000"/>
                </a:solidFill>
                <a:latin typeface="Verdana" panose="020B0604030504040204" pitchFamily="34" charset="0"/>
              </a:rPr>
              <a:t>def</a:t>
            </a:r>
            <a:r>
              <a:rPr lang="en-US" altLang="zh-CN" sz="3000" dirty="0">
                <a:solidFill>
                  <a:srgbClr val="FF0000"/>
                </a:solidFill>
                <a:latin typeface="Verdana" panose="020B0604030504040204" pitchFamily="34" charset="0"/>
              </a:rPr>
              <a:t>-clear path </a:t>
            </a:r>
            <a:r>
              <a:rPr lang="en-US" altLang="zh-CN" sz="3000" dirty="0">
                <a:latin typeface="Verdana" panose="020B0604030504040204" pitchFamily="34" charset="0"/>
              </a:rPr>
              <a:t>with respect to v from d to u.</a:t>
            </a:r>
          </a:p>
          <a:p>
            <a:endParaRPr lang="en-US" altLang="zh-CN" sz="32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281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Dataflow Test Coverage Criteria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b="1" i="1" dirty="0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All-</a:t>
            </a:r>
            <a:r>
              <a:rPr lang="en-US" altLang="zh-CN" sz="3200" b="1" i="1" dirty="0" err="1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Defs</a:t>
            </a:r>
            <a:r>
              <a:rPr lang="en-US" altLang="zh-CN" sz="3200" b="1" i="1" dirty="0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:  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for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every program variable v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,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at least one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def-clear path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from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every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 definition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of v to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at least one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c-use or one p-use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of v must be covered.</a:t>
            </a:r>
          </a:p>
        </p:txBody>
      </p:sp>
    </p:spTree>
    <p:extLst>
      <p:ext uri="{BB962C8B-B14F-4D97-AF65-F5344CB8AC3E}">
        <p14:creationId xmlns:p14="http://schemas.microsoft.com/office/powerpoint/2010/main" xmlns="" val="370487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17</a:t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985461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50640310"/>
              </p:ext>
            </p:extLst>
          </p:nvPr>
        </p:nvGraphicFramePr>
        <p:xfrm>
          <a:off x="2095744" y="506067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6951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7470885" cy="4791755"/>
          </a:xfrm>
        </p:spPr>
        <p:txBody>
          <a:bodyPr>
            <a:normAutofit/>
          </a:bodyPr>
          <a:lstStyle/>
          <a:p>
            <a:r>
              <a:rPr lang="en-US" altLang="zh-CN" sz="2800" dirty="0" smtClean="0">
                <a:latin typeface="Verdana" pitchFamily="34" charset="0"/>
                <a:ea typeface="宋体" charset="-122"/>
              </a:rPr>
              <a:t>Consider a test case executing path:</a:t>
            </a:r>
            <a:r>
              <a:rPr lang="en-US" altLang="zh-CN" sz="2800" dirty="0" smtClean="0">
                <a:ea typeface="宋体" charset="-122"/>
              </a:rPr>
              <a:t> </a:t>
            </a:r>
          </a:p>
          <a:p>
            <a:pPr>
              <a:buNone/>
            </a:pPr>
            <a:r>
              <a:rPr lang="en-US" altLang="zh-CN" sz="2800" dirty="0" smtClean="0">
                <a:ea typeface="宋体" charset="-122"/>
              </a:rPr>
              <a:t>			1. </a:t>
            </a:r>
            <a:r>
              <a:rPr lang="en-US" altLang="zh-CN" sz="2800" b="1" dirty="0" smtClean="0">
                <a:solidFill>
                  <a:srgbClr val="9900CC"/>
                </a:solidFill>
                <a:ea typeface="宋体" charset="-122"/>
              </a:rPr>
              <a:t>&lt;1,2,3,4,5&gt;</a:t>
            </a:r>
          </a:p>
          <a:p>
            <a:r>
              <a:rPr lang="en-US" altLang="zh-CN" sz="2800" dirty="0" smtClean="0">
                <a:latin typeface="Verdana" pitchFamily="34" charset="0"/>
                <a:ea typeface="宋体" charset="-122"/>
              </a:rPr>
              <a:t>Identify </a:t>
            </a:r>
            <a:r>
              <a:rPr lang="en-US" altLang="zh-CN" sz="2800" dirty="0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all def-clear paths covered (i.e., subsumed)</a:t>
            </a:r>
            <a:r>
              <a:rPr lang="en-US" altLang="zh-CN" sz="2800" dirty="0" smtClean="0">
                <a:latin typeface="Verdana" pitchFamily="34" charset="0"/>
                <a:ea typeface="宋体" charset="-122"/>
              </a:rPr>
              <a:t> by this path for each variable.</a:t>
            </a:r>
          </a:p>
          <a:p>
            <a:r>
              <a:rPr lang="en-US" altLang="zh-CN" sz="2800" dirty="0" smtClean="0">
                <a:latin typeface="Verdana" pitchFamily="34" charset="0"/>
                <a:ea typeface="宋体" charset="-122"/>
              </a:rPr>
              <a:t>Are </a:t>
            </a:r>
            <a:r>
              <a:rPr lang="en-US" altLang="zh-CN" sz="2800" dirty="0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all definitions for each variable</a:t>
            </a:r>
            <a:r>
              <a:rPr lang="en-US" altLang="zh-CN" sz="2800" dirty="0" smtClean="0">
                <a:latin typeface="Verdana" pitchFamily="34" charset="0"/>
                <a:ea typeface="宋体" charset="-122"/>
              </a:rPr>
              <a:t> associated with at least one of the subsumed def-clear  paths?</a:t>
            </a:r>
          </a:p>
        </p:txBody>
      </p:sp>
      <p:sp>
        <p:nvSpPr>
          <p:cNvPr id="7" name="Oval 44"/>
          <p:cNvSpPr>
            <a:spLocks noChangeArrowheads="1"/>
          </p:cNvSpPr>
          <p:nvPr/>
        </p:nvSpPr>
        <p:spPr bwMode="auto">
          <a:xfrm>
            <a:off x="8242738" y="2515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8" name="Oval 45"/>
          <p:cNvSpPr>
            <a:spLocks noChangeArrowheads="1"/>
          </p:cNvSpPr>
          <p:nvPr/>
        </p:nvSpPr>
        <p:spPr bwMode="auto">
          <a:xfrm>
            <a:off x="8242738" y="4039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46"/>
          <p:cNvSpPr>
            <a:spLocks noChangeArrowheads="1"/>
          </p:cNvSpPr>
          <p:nvPr/>
        </p:nvSpPr>
        <p:spPr bwMode="auto">
          <a:xfrm>
            <a:off x="9233338" y="3277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auto">
          <a:xfrm>
            <a:off x="8699938" y="29726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 flipH="1">
            <a:off x="8699938" y="36584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auto">
          <a:xfrm>
            <a:off x="8471338" y="304884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50"/>
          <p:cNvSpPr>
            <a:spLocks/>
          </p:cNvSpPr>
          <p:nvPr/>
        </p:nvSpPr>
        <p:spPr bwMode="auto">
          <a:xfrm>
            <a:off x="8623738" y="2134447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1"/>
          <p:cNvSpPr>
            <a:spLocks/>
          </p:cNvSpPr>
          <p:nvPr/>
        </p:nvSpPr>
        <p:spPr bwMode="auto">
          <a:xfrm>
            <a:off x="8318938" y="6096847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val 52"/>
          <p:cNvSpPr>
            <a:spLocks noChangeArrowheads="1"/>
          </p:cNvSpPr>
          <p:nvPr/>
        </p:nvSpPr>
        <p:spPr bwMode="auto">
          <a:xfrm>
            <a:off x="8242738" y="5563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6" name="Oval 53"/>
          <p:cNvSpPr>
            <a:spLocks noChangeArrowheads="1"/>
          </p:cNvSpPr>
          <p:nvPr/>
        </p:nvSpPr>
        <p:spPr bwMode="auto">
          <a:xfrm>
            <a:off x="9233338" y="4801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Line 54"/>
          <p:cNvSpPr>
            <a:spLocks noChangeShapeType="1"/>
          </p:cNvSpPr>
          <p:nvPr/>
        </p:nvSpPr>
        <p:spPr bwMode="auto">
          <a:xfrm>
            <a:off x="8699938" y="44966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5"/>
          <p:cNvSpPr>
            <a:spLocks noChangeShapeType="1"/>
          </p:cNvSpPr>
          <p:nvPr/>
        </p:nvSpPr>
        <p:spPr bwMode="auto">
          <a:xfrm flipH="1">
            <a:off x="8699938" y="51824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6"/>
          <p:cNvSpPr>
            <a:spLocks noChangeShapeType="1"/>
          </p:cNvSpPr>
          <p:nvPr/>
        </p:nvSpPr>
        <p:spPr bwMode="auto">
          <a:xfrm>
            <a:off x="8471338" y="457284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8242738" y="25916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1" name="Text Box 58"/>
          <p:cNvSpPr txBox="1">
            <a:spLocks noChangeArrowheads="1"/>
          </p:cNvSpPr>
          <p:nvPr/>
        </p:nvSpPr>
        <p:spPr bwMode="auto">
          <a:xfrm>
            <a:off x="9309538" y="33536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8242738" y="40394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9309538" y="48014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4" name="Text Box 61"/>
          <p:cNvSpPr txBox="1">
            <a:spLocks noChangeArrowheads="1"/>
          </p:cNvSpPr>
          <p:nvPr/>
        </p:nvSpPr>
        <p:spPr bwMode="auto">
          <a:xfrm>
            <a:off x="8242738" y="5563447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5" name="Text Box 62"/>
          <p:cNvSpPr txBox="1">
            <a:spLocks noChangeArrowheads="1"/>
          </p:cNvSpPr>
          <p:nvPr/>
        </p:nvSpPr>
        <p:spPr bwMode="auto">
          <a:xfrm>
            <a:off x="8852338" y="2363047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9766738" y="4801447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8928538" y="2820247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7861738" y="3353647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8928538" y="4344247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7633138" y="4801447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8776138" y="5715847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191889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Def-Clear Paths Subsumed by </a:t>
            </a:r>
            <a:r>
              <a:rPr lang="en-US" altLang="zh-CN" dirty="0" smtClean="0">
                <a:solidFill>
                  <a:srgbClr val="9900CC"/>
                </a:solidFill>
                <a:ea typeface="宋体" charset="-122"/>
              </a:rPr>
              <a:t>&lt;1,2,3,4,5&gt; </a:t>
            </a:r>
            <a:r>
              <a:rPr lang="en-US" altLang="zh-CN" dirty="0" smtClean="0">
                <a:ea typeface="宋体" charset="-122"/>
              </a:rPr>
              <a:t>for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19</a:t>
            </a:fld>
            <a:endParaRPr lang="zh-CN" altLang="en-US"/>
          </a:p>
        </p:txBody>
      </p:sp>
      <p:graphicFrame>
        <p:nvGraphicFramePr>
          <p:cNvPr id="7" name="Group 78"/>
          <p:cNvGraphicFramePr>
            <a:graphicFrameLocks/>
          </p:cNvGraphicFramePr>
          <p:nvPr/>
        </p:nvGraphicFramePr>
        <p:xfrm>
          <a:off x="685800" y="1792860"/>
          <a:ext cx="3276600" cy="46958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(1,2)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(2,4)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(2,5)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(2,&lt;3,4&gt;)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(2,&lt;3,5&gt;)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2326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850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3088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783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469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859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>
            <a:spLocks/>
          </p:cNvSpPr>
          <p:nvPr/>
        </p:nvSpPr>
        <p:spPr bwMode="auto">
          <a:xfrm>
            <a:off x="5029200" y="19452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>
            <a:spLocks/>
          </p:cNvSpPr>
          <p:nvPr/>
        </p:nvSpPr>
        <p:spPr bwMode="auto">
          <a:xfrm>
            <a:off x="4724400" y="59076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374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612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4307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993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383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4024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31644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850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612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374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21738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31644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A := A+7</a:t>
            </a: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61226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6310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3164460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41550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6122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5266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415356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Def-Clear Paths Subsumed by </a:t>
            </a:r>
            <a:r>
              <a:rPr lang="en-US" altLang="zh-CN" dirty="0" smtClean="0">
                <a:solidFill>
                  <a:srgbClr val="9900CC"/>
                </a:solidFill>
                <a:ea typeface="宋体" charset="-122"/>
              </a:rPr>
              <a:t>&lt;1,2,3,4,5&gt; </a:t>
            </a:r>
            <a:r>
              <a:rPr lang="en-US" altLang="zh-CN" dirty="0" smtClean="0">
                <a:ea typeface="宋体" charset="-122"/>
              </a:rPr>
              <a:t>for Variable 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2326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850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3088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783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469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859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>
            <a:spLocks/>
          </p:cNvSpPr>
          <p:nvPr/>
        </p:nvSpPr>
        <p:spPr bwMode="auto">
          <a:xfrm>
            <a:off x="5029200" y="19452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>
            <a:spLocks/>
          </p:cNvSpPr>
          <p:nvPr/>
        </p:nvSpPr>
        <p:spPr bwMode="auto">
          <a:xfrm>
            <a:off x="4724400" y="59076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374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612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4307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993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383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4024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31644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850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612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37426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21738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31644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A := A+7</a:t>
            </a: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61226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6310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3164460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41550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61226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52666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  <p:graphicFrame>
        <p:nvGraphicFramePr>
          <p:cNvPr id="34" name="Group 67"/>
          <p:cNvGraphicFramePr>
            <a:graphicFrameLocks/>
          </p:cNvGraphicFramePr>
          <p:nvPr/>
        </p:nvGraphicFramePr>
        <p:xfrm>
          <a:off x="685800" y="2057400"/>
          <a:ext cx="3429000" cy="335597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(4,5)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&lt;4,5&gt;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(1,&lt;1,2&gt;)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(1,&lt;1,3&gt;)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5356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 smtClean="0">
                <a:latin typeface="Verdana" pitchFamily="34" charset="0"/>
                <a:ea typeface="宋体" charset="-122"/>
              </a:rPr>
              <a:t>Since</a:t>
            </a:r>
            <a:r>
              <a:rPr lang="en-US" altLang="zh-CN" sz="3200" dirty="0" smtClean="0">
                <a:ea typeface="宋体" charset="-122"/>
              </a:rPr>
              <a:t> </a:t>
            </a:r>
            <a:r>
              <a:rPr lang="en-US" altLang="zh-CN" sz="3200" b="1" dirty="0" smtClean="0">
                <a:solidFill>
                  <a:srgbClr val="9900CC"/>
                </a:solidFill>
                <a:ea typeface="宋体" charset="-122"/>
              </a:rPr>
              <a:t>&lt;1,2,3,4,5&gt;</a:t>
            </a:r>
            <a:r>
              <a:rPr lang="en-US" altLang="zh-CN" sz="3200" dirty="0" smtClean="0">
                <a:solidFill>
                  <a:srgbClr val="9900CC"/>
                </a:solidFill>
                <a:ea typeface="宋体" charset="-122"/>
              </a:rPr>
              <a:t> 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covers at least one def-clear path from every definition of A/B to at least one c-use or p-use of A/B, </a:t>
            </a:r>
            <a:r>
              <a:rPr lang="en-US" altLang="zh-CN" sz="3200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All-</a:t>
            </a:r>
            <a:r>
              <a:rPr lang="en-US" altLang="zh-CN" sz="3200" dirty="0" err="1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Defs</a:t>
            </a:r>
            <a:r>
              <a:rPr lang="en-US" altLang="zh-CN" sz="3200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 coverage is achieved. </a:t>
            </a:r>
          </a:p>
        </p:txBody>
      </p:sp>
    </p:spTree>
    <p:extLst>
      <p:ext uri="{BB962C8B-B14F-4D97-AF65-F5344CB8AC3E}">
        <p14:creationId xmlns:p14="http://schemas.microsoft.com/office/powerpoint/2010/main" xmlns="" val="130078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b="1" i="1" dirty="0" smtClean="0">
                <a:solidFill>
                  <a:srgbClr val="FDAD23"/>
                </a:solidFill>
                <a:latin typeface="Verdana" pitchFamily="34" charset="0"/>
                <a:ea typeface="宋体" charset="-122"/>
              </a:rPr>
              <a:t>All-Uses: 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for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every program variable v,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at least one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def-clear path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from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every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</a:t>
            </a:r>
            <a:r>
              <a:rPr lang="en-US" altLang="zh-CN" sz="3200" b="1" dirty="0" smtClean="0">
                <a:latin typeface="Verdana" pitchFamily="34" charset="0"/>
                <a:ea typeface="宋体" charset="-122"/>
              </a:rPr>
              <a:t>definition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of v to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every</a:t>
            </a:r>
            <a:r>
              <a:rPr lang="en-US" altLang="zh-CN" sz="3200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c-use</a:t>
            </a:r>
            <a:r>
              <a:rPr lang="en-US" altLang="zh-CN" sz="3200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 and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itchFamily="34" charset="0"/>
                <a:ea typeface="宋体" charset="-122"/>
              </a:rPr>
              <a:t>every p-use</a:t>
            </a:r>
            <a:r>
              <a:rPr lang="en-US" altLang="zh-CN" sz="3200" dirty="0" smtClean="0">
                <a:latin typeface="Verdana" pitchFamily="34" charset="0"/>
                <a:ea typeface="宋体" charset="-122"/>
              </a:rPr>
              <a:t> of v must be covered.</a:t>
            </a:r>
          </a:p>
        </p:txBody>
      </p:sp>
    </p:spTree>
    <p:extLst>
      <p:ext uri="{BB962C8B-B14F-4D97-AF65-F5344CB8AC3E}">
        <p14:creationId xmlns:p14="http://schemas.microsoft.com/office/powerpoint/2010/main" xmlns="" val="27734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23</a:t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985461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82956630"/>
              </p:ext>
            </p:extLst>
          </p:nvPr>
        </p:nvGraphicFramePr>
        <p:xfrm>
          <a:off x="2095744" y="506067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66316989"/>
              </p:ext>
            </p:extLst>
          </p:nvPr>
        </p:nvGraphicFramePr>
        <p:xfrm>
          <a:off x="5081315" y="5060673"/>
          <a:ext cx="22669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All-uses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</a:p>
                    <a:p>
                      <a:r>
                        <a:rPr lang="en-US" altLang="zh-CN" sz="2400" dirty="0" smtClean="0"/>
                        <a:t>&lt;1,2,4,6&gt;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24477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6588017" cy="479175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latin typeface="Verdana" pitchFamily="34" charset="0"/>
                <a:ea typeface="宋体" charset="-122"/>
              </a:rPr>
              <a:t>Consider additional test cases executing paths:</a:t>
            </a: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dirty="0" smtClean="0">
                <a:ea typeface="宋体" charset="-122"/>
              </a:rPr>
              <a:t>			</a:t>
            </a:r>
            <a:r>
              <a:rPr lang="en-US" altLang="zh-CN" sz="2800" dirty="0">
                <a:ea typeface="宋体" charset="-122"/>
              </a:rPr>
              <a:t>1. </a:t>
            </a:r>
            <a:r>
              <a:rPr lang="en-US" altLang="zh-CN" sz="2800" b="1" dirty="0">
                <a:ea typeface="宋体" charset="-122"/>
              </a:rPr>
              <a:t>&lt;1,2,3,4,5</a:t>
            </a:r>
            <a:r>
              <a:rPr lang="en-US" altLang="zh-CN" sz="2800" b="1" dirty="0" smtClean="0">
                <a:ea typeface="宋体" charset="-122"/>
              </a:rPr>
              <a:t>&gt;</a:t>
            </a:r>
            <a:endParaRPr lang="en-US" altLang="zh-CN" sz="2800" dirty="0" smtClean="0">
              <a:ea typeface="宋体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dirty="0" smtClean="0">
                <a:ea typeface="宋体" charset="-122"/>
              </a:rPr>
              <a:t>                    </a:t>
            </a:r>
            <a:r>
              <a:rPr lang="en-US" altLang="zh-CN" sz="2800" dirty="0" smtClean="0">
                <a:ea typeface="宋体" charset="-122"/>
              </a:rPr>
              <a:t>   2</a:t>
            </a:r>
            <a:r>
              <a:rPr lang="en-US" altLang="zh-CN" sz="2800" dirty="0" smtClean="0">
                <a:ea typeface="宋体" charset="-122"/>
              </a:rPr>
              <a:t>. </a:t>
            </a:r>
            <a:r>
              <a:rPr lang="en-US" altLang="zh-CN" sz="2800" b="1" dirty="0" smtClean="0">
                <a:solidFill>
                  <a:srgbClr val="00FF00"/>
                </a:solidFill>
                <a:ea typeface="宋体" charset="-122"/>
              </a:rPr>
              <a:t>&lt;1,3,4,5&gt;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800" dirty="0" smtClean="0">
                <a:ea typeface="宋体" charset="-122"/>
              </a:rPr>
              <a:t>			3. </a:t>
            </a:r>
            <a:r>
              <a:rPr lang="en-US" altLang="zh-CN" sz="2800" b="1" dirty="0" smtClean="0">
                <a:solidFill>
                  <a:srgbClr val="99CCFF"/>
                </a:solidFill>
                <a:ea typeface="宋体" charset="-122"/>
              </a:rPr>
              <a:t>&lt;1,2,3,5&gt;</a:t>
            </a:r>
          </a:p>
          <a:p>
            <a:r>
              <a:rPr lang="en-US" altLang="zh-CN" sz="2800" dirty="0" smtClean="0">
                <a:latin typeface="Verdana" pitchFamily="34" charset="0"/>
                <a:ea typeface="宋体" charset="-122"/>
              </a:rPr>
              <a:t>Do all three test cases provide All-Uses coverage?</a:t>
            </a:r>
          </a:p>
        </p:txBody>
      </p:sp>
      <p:sp>
        <p:nvSpPr>
          <p:cNvPr id="7" name="Oval 44"/>
          <p:cNvSpPr>
            <a:spLocks noChangeArrowheads="1"/>
          </p:cNvSpPr>
          <p:nvPr/>
        </p:nvSpPr>
        <p:spPr bwMode="auto">
          <a:xfrm>
            <a:off x="7580566" y="2215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8" name="Oval 45"/>
          <p:cNvSpPr>
            <a:spLocks noChangeArrowheads="1"/>
          </p:cNvSpPr>
          <p:nvPr/>
        </p:nvSpPr>
        <p:spPr bwMode="auto">
          <a:xfrm>
            <a:off x="7580566" y="3739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46"/>
          <p:cNvSpPr>
            <a:spLocks noChangeArrowheads="1"/>
          </p:cNvSpPr>
          <p:nvPr/>
        </p:nvSpPr>
        <p:spPr bwMode="auto">
          <a:xfrm>
            <a:off x="8571166" y="2977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auto">
          <a:xfrm>
            <a:off x="8037766" y="26730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 flipH="1">
            <a:off x="8037766" y="33588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auto">
          <a:xfrm>
            <a:off x="7809166" y="274929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50"/>
          <p:cNvSpPr>
            <a:spLocks/>
          </p:cNvSpPr>
          <p:nvPr/>
        </p:nvSpPr>
        <p:spPr bwMode="auto">
          <a:xfrm>
            <a:off x="7961566" y="1834893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1"/>
          <p:cNvSpPr>
            <a:spLocks/>
          </p:cNvSpPr>
          <p:nvPr/>
        </p:nvSpPr>
        <p:spPr bwMode="auto">
          <a:xfrm>
            <a:off x="7656766" y="5797293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val 52"/>
          <p:cNvSpPr>
            <a:spLocks noChangeArrowheads="1"/>
          </p:cNvSpPr>
          <p:nvPr/>
        </p:nvSpPr>
        <p:spPr bwMode="auto">
          <a:xfrm>
            <a:off x="7580566" y="5263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6" name="Oval 53"/>
          <p:cNvSpPr>
            <a:spLocks noChangeArrowheads="1"/>
          </p:cNvSpPr>
          <p:nvPr/>
        </p:nvSpPr>
        <p:spPr bwMode="auto">
          <a:xfrm>
            <a:off x="8571166" y="4501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Line 54"/>
          <p:cNvSpPr>
            <a:spLocks noChangeShapeType="1"/>
          </p:cNvSpPr>
          <p:nvPr/>
        </p:nvSpPr>
        <p:spPr bwMode="auto">
          <a:xfrm>
            <a:off x="8037766" y="41970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5"/>
          <p:cNvSpPr>
            <a:spLocks noChangeShapeType="1"/>
          </p:cNvSpPr>
          <p:nvPr/>
        </p:nvSpPr>
        <p:spPr bwMode="auto">
          <a:xfrm flipH="1">
            <a:off x="8037766" y="48828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6"/>
          <p:cNvSpPr>
            <a:spLocks noChangeShapeType="1"/>
          </p:cNvSpPr>
          <p:nvPr/>
        </p:nvSpPr>
        <p:spPr bwMode="auto">
          <a:xfrm>
            <a:off x="7809166" y="427329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7580566" y="229209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1" name="Text Box 58"/>
          <p:cNvSpPr txBox="1">
            <a:spLocks noChangeArrowheads="1"/>
          </p:cNvSpPr>
          <p:nvPr/>
        </p:nvSpPr>
        <p:spPr bwMode="auto">
          <a:xfrm>
            <a:off x="8647366" y="305409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7580566" y="373989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8647366" y="450189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4" name="Text Box 61"/>
          <p:cNvSpPr txBox="1">
            <a:spLocks noChangeArrowheads="1"/>
          </p:cNvSpPr>
          <p:nvPr/>
        </p:nvSpPr>
        <p:spPr bwMode="auto">
          <a:xfrm>
            <a:off x="7580566" y="526389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5" name="Text Box 62"/>
          <p:cNvSpPr txBox="1">
            <a:spLocks noChangeArrowheads="1"/>
          </p:cNvSpPr>
          <p:nvPr/>
        </p:nvSpPr>
        <p:spPr bwMode="auto">
          <a:xfrm>
            <a:off x="8190166" y="2063493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9104566" y="4501893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8266366" y="2520693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7199566" y="3054093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8266366" y="4044693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6970966" y="4501893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8113966" y="5416293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416478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2595"/>
            <a:ext cx="10515600" cy="1325563"/>
          </a:xfrm>
        </p:spPr>
        <p:txBody>
          <a:bodyPr/>
          <a:lstStyle/>
          <a:p>
            <a:r>
              <a:rPr lang="en-US" altLang="zh-CN" dirty="0" smtClean="0">
                <a:ea typeface="宋体" charset="-122"/>
              </a:rPr>
              <a:t>Def-Clear Paths Subsumed by </a:t>
            </a:r>
            <a:r>
              <a:rPr lang="en-US" altLang="zh-CN" dirty="0" smtClean="0">
                <a:solidFill>
                  <a:srgbClr val="00FF00"/>
                </a:solidFill>
                <a:ea typeface="宋体" charset="-122"/>
              </a:rPr>
              <a:t>&lt;1,3,4,5&gt;</a:t>
            </a:r>
            <a:r>
              <a:rPr lang="en-US" altLang="zh-CN" dirty="0" smtClean="0">
                <a:ea typeface="宋体" charset="-122"/>
              </a:rPr>
              <a:t> for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25</a:t>
            </a:fld>
            <a:endParaRPr lang="zh-CN" altLang="en-US"/>
          </a:p>
        </p:txBody>
      </p:sp>
      <p:graphicFrame>
        <p:nvGraphicFramePr>
          <p:cNvPr id="7" name="Group 78"/>
          <p:cNvGraphicFramePr>
            <a:graphicFrameLocks/>
          </p:cNvGraphicFramePr>
          <p:nvPr/>
        </p:nvGraphicFramePr>
        <p:xfrm>
          <a:off x="685800" y="1447800"/>
          <a:ext cx="3352800" cy="46958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(1,2)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(2,4)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(2,5)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(2,&lt;3,4&gt;)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(2,&lt;3,5&gt;)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>
            <a:spLocks/>
          </p:cNvSpPr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>
            <a:spLocks/>
          </p:cNvSpPr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28194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A := A+7</a:t>
            </a: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2672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2860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38100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288479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Def-Clear Paths Subsumed by </a:t>
            </a:r>
            <a:r>
              <a:rPr lang="en-US" altLang="zh-CN" dirty="0" smtClean="0">
                <a:solidFill>
                  <a:srgbClr val="00FF00"/>
                </a:solidFill>
                <a:ea typeface="宋体" charset="-122"/>
              </a:rPr>
              <a:t>&lt;1,3,4,5&gt;</a:t>
            </a:r>
            <a:r>
              <a:rPr lang="en-US" altLang="zh-CN" dirty="0" smtClean="0">
                <a:ea typeface="宋体" charset="-122"/>
              </a:rPr>
              <a:t> for Variable 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26</a:t>
            </a:fld>
            <a:endParaRPr lang="zh-CN" altLang="en-US"/>
          </a:p>
        </p:txBody>
      </p:sp>
      <p:graphicFrame>
        <p:nvGraphicFramePr>
          <p:cNvPr id="7" name="Group 69"/>
          <p:cNvGraphicFramePr>
            <a:graphicFrameLocks/>
          </p:cNvGraphicFramePr>
          <p:nvPr/>
        </p:nvGraphicFramePr>
        <p:xfrm>
          <a:off x="685800" y="2057400"/>
          <a:ext cx="3352800" cy="335597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(4,5)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(1,&lt;1,2&gt;)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(1,&lt;1,3&gt;)              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0" name="Oval 34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1" name="Line 35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6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7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38"/>
          <p:cNvSpPr>
            <a:spLocks/>
          </p:cNvSpPr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rgbClr val="00FF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39"/>
          <p:cNvSpPr>
            <a:spLocks/>
          </p:cNvSpPr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rgbClr val="00FF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40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  <p:sp>
        <p:nvSpPr>
          <p:cNvPr id="18" name="Line 42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4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45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1</a:t>
            </a:r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2</a:t>
            </a:r>
          </a:p>
        </p:txBody>
      </p:sp>
      <p:sp>
        <p:nvSpPr>
          <p:cNvPr id="23" name="Text Box 47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3</a:t>
            </a: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4</a:t>
            </a:r>
          </a:p>
        </p:txBody>
      </p:sp>
      <p:sp>
        <p:nvSpPr>
          <p:cNvPr id="25" name="Text Box 49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charset="-122"/>
              </a:rPr>
              <a:t>5</a:t>
            </a:r>
          </a:p>
        </p:txBody>
      </p:sp>
      <p:sp>
        <p:nvSpPr>
          <p:cNvPr id="26" name="Text Box 50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input(A,B)</a:t>
            </a:r>
          </a:p>
        </p:txBody>
      </p:sp>
      <p:sp>
        <p:nvSpPr>
          <p:cNvPr id="27" name="Text Box 51"/>
          <p:cNvSpPr txBox="1">
            <a:spLocks noChangeArrowheads="1"/>
          </p:cNvSpPr>
          <p:nvPr/>
        </p:nvSpPr>
        <p:spPr bwMode="auto">
          <a:xfrm>
            <a:off x="6172200" y="28194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 := A+7</a:t>
            </a: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6172200" y="42672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B := A+B</a:t>
            </a:r>
          </a:p>
        </p:txBody>
      </p:sp>
      <p:sp>
        <p:nvSpPr>
          <p:cNvPr id="29" name="Text Box 53"/>
          <p:cNvSpPr txBox="1">
            <a:spLocks noChangeArrowheads="1"/>
          </p:cNvSpPr>
          <p:nvPr/>
        </p:nvSpPr>
        <p:spPr bwMode="auto">
          <a:xfrm>
            <a:off x="5334000" y="22860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B&gt;1</a:t>
            </a:r>
          </a:p>
        </p:txBody>
      </p:sp>
      <p:sp>
        <p:nvSpPr>
          <p:cNvPr id="30" name="Text Box 54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itchFamily="34" charset="0"/>
                <a:ea typeface="宋体" charset="-122"/>
              </a:rPr>
              <a:t>B</a:t>
            </a:r>
            <a:r>
              <a:rPr lang="en-US" altLang="zh-CN" sz="2000" dirty="0">
                <a:latin typeface="Century Gothic" pitchFamily="34" charset="0"/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dirty="0">
                <a:latin typeface="Century Gothic" pitchFamily="34" charset="0"/>
                <a:ea typeface="宋体" charset="-122"/>
              </a:rPr>
              <a:t>1</a:t>
            </a:r>
          </a:p>
        </p:txBody>
      </p:sp>
      <p:sp>
        <p:nvSpPr>
          <p:cNvPr id="31" name="Text Box 55"/>
          <p:cNvSpPr txBox="1">
            <a:spLocks noChangeArrowheads="1"/>
          </p:cNvSpPr>
          <p:nvPr/>
        </p:nvSpPr>
        <p:spPr bwMode="auto">
          <a:xfrm>
            <a:off x="5334000" y="38100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A&gt;10</a:t>
            </a:r>
          </a:p>
        </p:txBody>
      </p:sp>
      <p:sp>
        <p:nvSpPr>
          <p:cNvPr id="32" name="Text Box 56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  <a:sym typeface="Symbol" pitchFamily="18" charset="2"/>
              </a:rPr>
              <a:t>A</a:t>
            </a:r>
            <a:r>
              <a:rPr lang="en-US" altLang="zh-CN" sz="2000">
                <a:latin typeface="Century Gothic" pitchFamily="34" charset="0"/>
                <a:ea typeface="宋体" charset="-122"/>
              </a:rPr>
              <a:t>10</a:t>
            </a:r>
          </a:p>
        </p:txBody>
      </p:sp>
      <p:sp>
        <p:nvSpPr>
          <p:cNvPr id="33" name="Text Box 57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itchFamily="34" charset="0"/>
                <a:ea typeface="宋体" charset="-122"/>
              </a:rPr>
              <a:t>output(A,B)</a:t>
            </a:r>
          </a:p>
        </p:txBody>
      </p:sp>
    </p:spTree>
    <p:extLst>
      <p:ext uri="{BB962C8B-B14F-4D97-AF65-F5344CB8AC3E}">
        <p14:creationId xmlns:p14="http://schemas.microsoft.com/office/powerpoint/2010/main" xmlns="" val="40530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Dataflow Test Coverage Criteria (cont’d)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85800" y="1600200"/>
            <a:ext cx="7391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Verdana" panose="020B0604030504040204" pitchFamily="34" charset="0"/>
                <a:ea typeface="宋体" panose="02010600030101010101" pitchFamily="2" charset="-122"/>
              </a:rPr>
              <a:t>Since none of the three test cases covers the du-pair (1,&lt;3,5&gt;) for variable A, </a:t>
            </a:r>
            <a:r>
              <a:rPr lang="en-US" altLang="zh-CN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All-Uses Coverage is not provided.</a:t>
            </a:r>
          </a:p>
          <a:p>
            <a:endParaRPr lang="en-US" altLang="zh-CN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Another Dataflow Test Coverage Criterion</a:t>
            </a:r>
            <a:endParaRPr lang="en-US" altLang="zh-CN" b="0" dirty="0" smtClean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5800" y="1600200"/>
            <a:ext cx="6858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i="1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All-DU-Paths:</a:t>
            </a:r>
            <a:r>
              <a:rPr lang="en-US" altLang="zh-CN" i="1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for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program variable v,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du-path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from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definition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of v to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c-use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and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p-use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of v must be covered.</a:t>
            </a:r>
          </a:p>
          <a:p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1171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29</a:t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675068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26622074"/>
              </p:ext>
            </p:extLst>
          </p:nvPr>
        </p:nvGraphicFramePr>
        <p:xfrm>
          <a:off x="1030341" y="430566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86203682"/>
              </p:ext>
            </p:extLst>
          </p:nvPr>
        </p:nvGraphicFramePr>
        <p:xfrm>
          <a:off x="3906855" y="4305663"/>
          <a:ext cx="22669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All-uses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</a:p>
                    <a:p>
                      <a:r>
                        <a:rPr lang="en-US" altLang="zh-CN" sz="2400" dirty="0" smtClean="0"/>
                        <a:t>&lt;1,2,4,6&gt;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51697232"/>
              </p:ext>
            </p:extLst>
          </p:nvPr>
        </p:nvGraphicFramePr>
        <p:xfrm>
          <a:off x="7072952" y="4305663"/>
          <a:ext cx="28847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780">
                  <a:extLst>
                    <a:ext uri="{9D8B030D-6E8A-4147-A177-3AD203B41FA5}">
                      <a16:colId xmlns:a16="http://schemas.microsoft.com/office/drawing/2014/main" xmlns="" val="136262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All-DU-Paths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352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</a:p>
                    <a:p>
                      <a:r>
                        <a:rPr lang="en-US" altLang="zh-CN" sz="2400" dirty="0" smtClean="0"/>
                        <a:t>&lt;1,3,4,5&gt;</a:t>
                      </a:r>
                    </a:p>
                    <a:p>
                      <a:r>
                        <a:rPr lang="en-US" altLang="zh-CN" sz="2400" dirty="0" smtClean="0"/>
                        <a:t>&lt;1,2,4,6&gt;</a:t>
                      </a:r>
                    </a:p>
                    <a:p>
                      <a:r>
                        <a:rPr lang="en-US" altLang="zh-CN" sz="2400" dirty="0" smtClean="0"/>
                        <a:t>&lt;1,3,4,6&gt;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382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92580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382000" cy="762000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Summary of White-Box Coverage Relationships</a:t>
            </a:r>
            <a:endParaRPr lang="en-US" altLang="zh-CN" sz="2800" b="0" smtClean="0">
              <a:ea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257800" y="19653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Path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067300" y="2803525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 du-paths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105400" y="41148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All-Uses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143500" y="52435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All-Defs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143000" y="1905000"/>
            <a:ext cx="21224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Condition Combination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447800" y="3946525"/>
            <a:ext cx="1676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dirty="0" smtClean="0">
                <a:latin typeface="Verdana" panose="020B0604030504040204" pitchFamily="34" charset="0"/>
              </a:rPr>
              <a:t>Condition/ </a:t>
            </a:r>
            <a:r>
              <a:rPr lang="en-US" altLang="zh-CN" sz="2000" dirty="0">
                <a:latin typeface="Verdana" panose="020B0604030504040204" pitchFamily="34" charset="0"/>
              </a:rPr>
              <a:t>Decision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124200" y="41148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Basis Paths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705600" y="41148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Loop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544513" y="5173663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 smtClean="0">
                <a:latin typeface="Verdana" panose="020B0604030504040204" pitchFamily="34" charset="0"/>
                <a:ea typeface="宋体" panose="02010600030101010101" pitchFamily="2" charset="-122"/>
              </a:rPr>
              <a:t>Condition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3200400" y="62484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Statement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276600" y="51816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Decision</a:t>
            </a: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5638800" y="2362200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4114800" y="2362200"/>
            <a:ext cx="1447800" cy="1676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5715000" y="2362200"/>
            <a:ext cx="1447800" cy="1676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5638800" y="3581400"/>
            <a:ext cx="0" cy="4572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4191000" y="4572000"/>
            <a:ext cx="144780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715000" y="4572000"/>
            <a:ext cx="0" cy="6858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>
            <a:off x="3957638" y="4572000"/>
            <a:ext cx="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3962400" y="5638800"/>
            <a:ext cx="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2209800" y="3619500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>
            <a:off x="1085850" y="4629150"/>
            <a:ext cx="1119188" cy="593725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2286000" y="4648200"/>
            <a:ext cx="1447800" cy="533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876300" y="2908300"/>
            <a:ext cx="2743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Modified </a:t>
            </a:r>
          </a:p>
          <a:p>
            <a:pPr algn="ctr"/>
            <a:r>
              <a:rPr lang="en-US" altLang="zh-CN" sz="2000" dirty="0" smtClean="0">
                <a:latin typeface="Verdana" panose="020B0604030504040204" pitchFamily="34" charset="0"/>
              </a:rPr>
              <a:t>Condition/Decision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2205038" y="2574925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3281363" y="1171575"/>
            <a:ext cx="1671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Complete</a:t>
            </a: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 flipH="1">
            <a:off x="2438400" y="1466850"/>
            <a:ext cx="876300" cy="428625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1"/>
          <p:cNvSpPr>
            <a:spLocks noChangeShapeType="1"/>
          </p:cNvSpPr>
          <p:nvPr/>
        </p:nvSpPr>
        <p:spPr bwMode="auto">
          <a:xfrm>
            <a:off x="4619625" y="1474788"/>
            <a:ext cx="1019175" cy="420687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6104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8" grpId="0"/>
      <p:bldP spid="3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3565</TotalTime>
  <Words>1595</Words>
  <Application>Microsoft Office PowerPoint</Application>
  <PresentationFormat>自定义</PresentationFormat>
  <Paragraphs>483</Paragraphs>
  <Slides>30</Slides>
  <Notes>22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主题​​</vt:lpstr>
      <vt:lpstr>Session 4   White-Box Testing              ——3.5 Data Flow Testing</vt:lpstr>
      <vt:lpstr>Dataflow Coverage</vt:lpstr>
      <vt:lpstr>Data Flow Testing</vt:lpstr>
      <vt:lpstr>Variable Definitions and Uses</vt:lpstr>
      <vt:lpstr>Variable Definitions and Uses (cont’d)</vt:lpstr>
      <vt:lpstr>Variable Definitions and Uses (cont’d)</vt:lpstr>
      <vt:lpstr>Variable Definitions and Uses (cont’d)</vt:lpstr>
      <vt:lpstr>Other Dataflow Terms and Definitions</vt:lpstr>
      <vt:lpstr>Example 1</vt:lpstr>
      <vt:lpstr>Identifying DU-Pairs – Variable A</vt:lpstr>
      <vt:lpstr>Exercise</vt:lpstr>
      <vt:lpstr>Identifying DU-Pairs – Variable X</vt:lpstr>
      <vt:lpstr>Identifying DU-Pairs – Variable X</vt:lpstr>
      <vt:lpstr>Data Flow Testing</vt:lpstr>
      <vt:lpstr>def-clear path</vt:lpstr>
      <vt:lpstr>Dataflow Test Coverage Criteria</vt:lpstr>
      <vt:lpstr>Example</vt:lpstr>
      <vt:lpstr>Dataflow Test Coverage Criteria (cont’d)</vt:lpstr>
      <vt:lpstr>Def-Clear Paths Subsumed by &lt;1,2,3,4,5&gt; for Variable A</vt:lpstr>
      <vt:lpstr>Def-Clear Paths Subsumed by &lt;1,2,3,4,5&gt; for Variable B</vt:lpstr>
      <vt:lpstr>Dataflow Test Coverage Criteria (cont’d)</vt:lpstr>
      <vt:lpstr>Dataflow Test Coverage Criteria (cont’d)</vt:lpstr>
      <vt:lpstr>Example</vt:lpstr>
      <vt:lpstr>Dataflow Test Coverage Criteria (cont’d)</vt:lpstr>
      <vt:lpstr>Def-Clear Paths Subsumed by &lt;1,3,4,5&gt; for Variable A</vt:lpstr>
      <vt:lpstr>Def-Clear Paths Subsumed by &lt;1,3,4,5&gt; for Variable B</vt:lpstr>
      <vt:lpstr>Dataflow Test Coverage Criteria (cont’d)</vt:lpstr>
      <vt:lpstr>Another Dataflow Test Coverage Criterion</vt:lpstr>
      <vt:lpstr>Example</vt:lpstr>
      <vt:lpstr>Summary of White-Box Coverage Relationships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麻醉的起源</dc:title>
  <dc:creator>月烊 游</dc:creator>
  <cp:lastModifiedBy>chengbaolei</cp:lastModifiedBy>
  <cp:revision>653</cp:revision>
  <dcterms:created xsi:type="dcterms:W3CDTF">2019-05-27T02:30:01Z</dcterms:created>
  <dcterms:modified xsi:type="dcterms:W3CDTF">2020-09-10T13:55:44Z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2052-1.0.0.1203</vt:lpwstr>
  </property>
</Properties>
</file>