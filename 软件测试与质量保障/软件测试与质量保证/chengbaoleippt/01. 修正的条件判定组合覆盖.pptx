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36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08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1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7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9191" autoAdjust="0"/>
    <p:restoredTop sz="89082" autoAdjust="0"/>
  </p:normalViewPr>
  <p:slideViewPr>
    <p:cSldViewPr snapToGrid="0" showGuides="1">
      <p:cViewPr varScale="1">
        <p:scale>
          <a:sx n="60" d="100"/>
          <a:sy n="60" d="100"/>
        </p:scale>
        <p:origin x="-108" y="-1122"/>
      </p:cViewPr>
      <p:guideLst>
        <p:guide orient="horz" pos="2840"/>
        <p:guide pos="551"/>
        <p:guide orient="horz" pos="31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23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DCA99-9244-45F3-8A53-C4B5E4BE72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B601-5397-4551-A762-7F5F3BCCC0F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D89D-949D-4764-9E92-6A4C0240D47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BE235-6CB3-465C-B79D-2ED7CC3238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9E6E-E8E9-4E10-B381-7A672952EE8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7C2-A9DF-4F31-AD39-FEB95D02439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74F86-9ECE-487E-870F-62CFE95345C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74955" y="1390015"/>
            <a:ext cx="11358245" cy="2387600"/>
          </a:xfrm>
        </p:spPr>
        <p:txBody>
          <a:bodyPr>
            <a:normAutofit fontScale="90000"/>
          </a:bodyPr>
          <a:lstStyle/>
          <a:p>
            <a:pPr marL="0" indent="0" fontAlgn="auto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Session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b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5400" dirty="0">
                <a:sym typeface="+mn-ea"/>
              </a:rPr>
              <a:t>Modified Condition/Decision Coverage (MC/DC)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36609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苏州大学计算机科学与技术学院  程宝雷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5"/>
          <p:cNvSpPr>
            <a:spLocks noGrp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-109537" y="1116013"/>
            <a:ext cx="8785225" cy="5446712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05000"/>
              </a:lnSpc>
            </a:pPr>
            <a:endParaRPr lang="en-US" altLang="zh-CN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105000"/>
              </a:lnSpc>
            </a:pPr>
            <a:endParaRPr lang="en-US" altLang="zh-CN" sz="2400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105000"/>
              </a:lnSpc>
            </a:pPr>
            <a:endParaRPr lang="zh-CN" altLang="zh-CN" sz="2400" dirty="0">
              <a:ea typeface="黑体" panose="02010609060101010101" pitchFamily="49" charset="-122"/>
            </a:endParaRPr>
          </a:p>
        </p:txBody>
      </p:sp>
      <p:sp>
        <p:nvSpPr>
          <p:cNvPr id="21507" name="连接器 1"/>
          <p:cNvSpPr/>
          <p:nvPr>
            <p:custDataLst>
              <p:tags r:id="rId2"/>
            </p:custDataLst>
          </p:nvPr>
        </p:nvSpPr>
        <p:spPr>
          <a:xfrm>
            <a:off x="3058478" y="4644390"/>
            <a:ext cx="360362" cy="287338"/>
          </a:xfrm>
          <a:prstGeom prst="flowChartConnector">
            <a:avLst/>
          </a:prstGeom>
          <a:noFill/>
          <a:ln w="9525">
            <a:noFill/>
          </a:ln>
        </p:spPr>
        <p:txBody>
          <a:bodyPr wrap="none" lIns="0" rIns="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•"/>
            </a:pPr>
            <a:endParaRPr lang="en-US" altLang="zh-CN" sz="20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1508" name="连接器 2"/>
          <p:cNvSpPr/>
          <p:nvPr>
            <p:custDataLst>
              <p:tags r:id="rId3"/>
            </p:custDataLst>
          </p:nvPr>
        </p:nvSpPr>
        <p:spPr>
          <a:xfrm>
            <a:off x="2842578" y="4068128"/>
            <a:ext cx="2159000" cy="1152525"/>
          </a:xfrm>
          <a:prstGeom prst="flowChartConnector">
            <a:avLst/>
          </a:prstGeom>
          <a:noFill/>
          <a:ln w="9525">
            <a:noFill/>
          </a:ln>
        </p:spPr>
        <p:txBody>
          <a:bodyPr wrap="none" lIns="0" rIns="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•"/>
            </a:pPr>
            <a:endParaRPr lang="en-US" altLang="zh-CN" sz="20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1509" name="椭圆 3"/>
          <p:cNvSpPr/>
          <p:nvPr>
            <p:custDataLst>
              <p:tags r:id="rId4"/>
            </p:custDataLst>
          </p:nvPr>
        </p:nvSpPr>
        <p:spPr>
          <a:xfrm>
            <a:off x="4137978" y="4715828"/>
            <a:ext cx="576262" cy="73025"/>
          </a:xfrm>
          <a:prstGeom prst="ellipse">
            <a:avLst/>
          </a:prstGeom>
          <a:noFill/>
          <a:ln w="9525">
            <a:noFill/>
          </a:ln>
        </p:spPr>
        <p:txBody>
          <a:bodyPr wrap="none" lIns="0" rIns="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latin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•"/>
            </a:pPr>
            <a:endParaRPr lang="en-US" altLang="zh-CN" sz="20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cxnSp>
        <p:nvCxnSpPr>
          <p:cNvPr id="21510" name="直线箭头连接符 5"/>
          <p:cNvCxnSpPr/>
          <p:nvPr>
            <p:custDataLst>
              <p:tags r:id="rId5"/>
            </p:custDataLst>
          </p:nvPr>
        </p:nvCxnSpPr>
        <p:spPr>
          <a:xfrm flipV="1">
            <a:off x="3274378" y="4068128"/>
            <a:ext cx="2232025" cy="1152525"/>
          </a:xfrm>
          <a:prstGeom prst="straightConnector1">
            <a:avLst/>
          </a:prstGeom>
          <a:ln w="9525">
            <a:noFill/>
          </a:ln>
        </p:spPr>
      </p:cxn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3499803" y="467678"/>
            <a:ext cx="2428875" cy="642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1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Complete Coverage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499553" y="1610678"/>
            <a:ext cx="2428875" cy="642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457200" marR="0" lvl="1" indent="0" algn="l" defTabSz="914400" rtl="0" eaLnBrk="1" fontAlgn="base" latinLnBrk="1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Path Coverage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4928553" y="1610678"/>
            <a:ext cx="4071938" cy="642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457200" marR="0" lvl="1" indent="0" algn="l" defTabSz="914400" rtl="0" eaLnBrk="1" fontAlgn="base" latinLnBrk="1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Condition Combination Coverage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5084128" y="3380740"/>
            <a:ext cx="3786188" cy="642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457200" marR="0" lvl="1" indent="0" algn="l" defTabSz="914400" rtl="0" eaLnBrk="1" fontAlgn="base" latinLnBrk="1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Condition-Decision Coverage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2928303" y="4487228"/>
            <a:ext cx="2857500" cy="642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457200" marR="0" lvl="1" indent="0" algn="l" defTabSz="914400" rtl="0" eaLnBrk="1" fontAlgn="base" latinLnBrk="1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Condition Coverage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6428740" y="4487545"/>
            <a:ext cx="2875280" cy="643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457200" marR="0" lvl="1" indent="0" algn="l" defTabSz="914400" rtl="0" eaLnBrk="1" fontAlgn="base" latinLnBrk="1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Decision Coverage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矩形 14"/>
          <p:cNvSpPr/>
          <p:nvPr>
            <p:custDataLst>
              <p:tags r:id="rId12"/>
            </p:custDataLst>
          </p:nvPr>
        </p:nvSpPr>
        <p:spPr>
          <a:xfrm>
            <a:off x="6357303" y="5415915"/>
            <a:ext cx="2786063" cy="642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457200" marR="0" lvl="1" indent="0" algn="l" defTabSz="914400" rtl="0" eaLnBrk="1" fontAlgn="base" latinLnBrk="1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Statement Coverage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7" name="直接箭头连接符 16"/>
          <p:cNvCxnSpPr/>
          <p:nvPr>
            <p:custDataLst>
              <p:tags r:id="rId13"/>
            </p:custDataLst>
          </p:nvPr>
        </p:nvCxnSpPr>
        <p:spPr>
          <a:xfrm rot="10800000" flipV="1">
            <a:off x="2999740" y="1110615"/>
            <a:ext cx="928688" cy="50006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>
            <p:custDataLst>
              <p:tags r:id="rId14"/>
            </p:custDataLst>
          </p:nvPr>
        </p:nvCxnSpPr>
        <p:spPr>
          <a:xfrm>
            <a:off x="5500053" y="1110615"/>
            <a:ext cx="1214438" cy="4286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1" idx="2"/>
          </p:cNvCxnSpPr>
          <p:nvPr>
            <p:custDataLst>
              <p:tags r:id="rId15"/>
            </p:custDataLst>
          </p:nvPr>
        </p:nvCxnSpPr>
        <p:spPr>
          <a:xfrm>
            <a:off x="6965315" y="2253615"/>
            <a:ext cx="11113" cy="3397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16"/>
            </p:custDataLst>
          </p:nvPr>
        </p:nvSpPr>
        <p:spPr>
          <a:xfrm>
            <a:off x="4214178" y="1610678"/>
            <a:ext cx="428625" cy="642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>
            <p:custDataLst>
              <p:tags r:id="rId17"/>
            </p:custDataLst>
          </p:nvPr>
        </p:nvSpPr>
        <p:spPr>
          <a:xfrm>
            <a:off x="5857240" y="4487228"/>
            <a:ext cx="428625" cy="642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6" name="直接箭头连接符 25"/>
          <p:cNvCxnSpPr/>
          <p:nvPr>
            <p:custDataLst>
              <p:tags r:id="rId18"/>
            </p:custDataLst>
          </p:nvPr>
        </p:nvCxnSpPr>
        <p:spPr>
          <a:xfrm rot="10800000" flipV="1">
            <a:off x="4857115" y="4058603"/>
            <a:ext cx="785813" cy="4286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>
            <p:custDataLst>
              <p:tags r:id="rId19"/>
            </p:custDataLst>
          </p:nvPr>
        </p:nvCxnSpPr>
        <p:spPr>
          <a:xfrm>
            <a:off x="7428865" y="4058603"/>
            <a:ext cx="714375" cy="4286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>
            <p:custDataLst>
              <p:tags r:id="rId20"/>
            </p:custDataLst>
          </p:nvPr>
        </p:nvCxnSpPr>
        <p:spPr>
          <a:xfrm rot="5400000">
            <a:off x="7608253" y="5236528"/>
            <a:ext cx="3571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>
            <p:custDataLst>
              <p:tags r:id="rId21"/>
            </p:custDataLst>
          </p:nvPr>
        </p:nvSpPr>
        <p:spPr>
          <a:xfrm>
            <a:off x="4357370" y="2547620"/>
            <a:ext cx="5008880" cy="643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457200" marR="0" lvl="1" indent="0" algn="l" defTabSz="914400" rtl="0" eaLnBrk="1" fontAlgn="base" latinLnBrk="1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Modified Condition-Decision Coverage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9" name="直接箭头连接符 28"/>
          <p:cNvCxnSpPr/>
          <p:nvPr>
            <p:custDataLst>
              <p:tags r:id="rId22"/>
            </p:custDataLst>
          </p:nvPr>
        </p:nvCxnSpPr>
        <p:spPr>
          <a:xfrm>
            <a:off x="6965315" y="3085465"/>
            <a:ext cx="11113" cy="3397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A code coverage criterion that requires</a:t>
            </a:r>
            <a:r>
              <a:rPr lang="en-US" altLang="zh-CN" sz="3600" dirty="0" smtClean="0"/>
              <a:t>:</a:t>
            </a:r>
            <a:endParaRPr lang="en-US" altLang="zh-CN" sz="3600" dirty="0" smtClean="0"/>
          </a:p>
          <a:p>
            <a:pPr lvl="1"/>
            <a:r>
              <a:rPr lang="en-US" altLang="zh-CN" sz="3200" dirty="0"/>
              <a:t>Each entry and exit point is </a:t>
            </a:r>
            <a:r>
              <a:rPr lang="en-US" altLang="zh-CN" sz="3200" dirty="0" smtClean="0"/>
              <a:t>invoked</a:t>
            </a:r>
            <a:endParaRPr lang="en-US" altLang="zh-CN" sz="3200" dirty="0" smtClean="0"/>
          </a:p>
          <a:p>
            <a:pPr lvl="1"/>
            <a:r>
              <a:rPr lang="en-US" altLang="zh-CN" sz="3200" dirty="0"/>
              <a:t>Each decision takes every possible outcome</a:t>
            </a:r>
            <a:endParaRPr lang="en-US" altLang="zh-CN" sz="3200" dirty="0"/>
          </a:p>
          <a:p>
            <a:pPr lvl="1"/>
            <a:r>
              <a:rPr lang="en-US" altLang="zh-CN" sz="3200" dirty="0"/>
              <a:t>Each condition in a decision takes every possible outcome</a:t>
            </a:r>
            <a:endParaRPr lang="en-US" altLang="zh-CN" sz="3200" dirty="0"/>
          </a:p>
          <a:p>
            <a:pPr lvl="1">
              <a:lnSpc>
                <a:spcPct val="120000"/>
              </a:lnSpc>
            </a:pPr>
            <a:r>
              <a:rPr lang="en-US" altLang="zh-CN" sz="3200" dirty="0"/>
              <a:t>Each condition in a decision is shown to </a:t>
            </a:r>
            <a:r>
              <a:rPr lang="en-US" altLang="zh-CN" sz="3200" dirty="0">
                <a:solidFill>
                  <a:srgbClr val="FF0000"/>
                </a:solidFill>
              </a:rPr>
              <a:t>independently affect </a:t>
            </a:r>
            <a:r>
              <a:rPr lang="en-US" altLang="zh-CN" sz="3200" dirty="0"/>
              <a:t>the outcome of the decision.</a:t>
            </a:r>
            <a:endParaRPr lang="zh-CN" altLang="en-US" sz="32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Modified Condition/Decision Coverage (MC/DC)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Independence of a condition is shown by proving that only one condition changes at a time. </a:t>
            </a:r>
            <a:endParaRPr lang="en-US" altLang="zh-CN" sz="3600" dirty="0"/>
          </a:p>
          <a:p>
            <a:endParaRPr lang="en-US" altLang="zh-CN" sz="3400" dirty="0"/>
          </a:p>
          <a:p>
            <a:r>
              <a:rPr lang="en-US" altLang="zh-CN" sz="3600" dirty="0"/>
              <a:t>MC/DC is used in avionics software development guidance DO-178B and DO-178C to ensure adequate testing of the most critical (Level A) software.</a:t>
            </a:r>
            <a:endParaRPr lang="zh-CN" altLang="en-US" sz="36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MC/DC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MC/DC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981075"/>
            <a:ext cx="5943600" cy="511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838200" y="838200"/>
            <a:ext cx="8313964" cy="5285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2" panose="05020102010507070707" pitchFamily="18" charset="2"/>
              <a:buNone/>
            </a:pPr>
            <a:r>
              <a:rPr lang="en-US" altLang="zh-CN" sz="3600" dirty="0" err="1" smtClean="0"/>
              <a:t>int</a:t>
            </a:r>
            <a:r>
              <a:rPr lang="en-US" altLang="zh-CN" sz="3600" dirty="0" smtClean="0"/>
              <a:t> function1</a:t>
            </a:r>
            <a:r>
              <a:rPr lang="zh-CN" altLang="en-US" sz="3600" dirty="0" smtClean="0"/>
              <a:t>（</a:t>
            </a:r>
            <a:r>
              <a:rPr lang="en-US" altLang="zh-CN" sz="3600" dirty="0" smtClean="0"/>
              <a:t>bool a</a:t>
            </a:r>
            <a:r>
              <a:rPr lang="zh-CN" altLang="en-US" sz="3600" dirty="0" smtClean="0"/>
              <a:t>，</a:t>
            </a:r>
            <a:r>
              <a:rPr lang="en-US" altLang="zh-CN" sz="3600" dirty="0" smtClean="0"/>
              <a:t>bool b</a:t>
            </a:r>
            <a:r>
              <a:rPr lang="zh-CN" altLang="en-US" sz="3600" dirty="0" smtClean="0"/>
              <a:t>，</a:t>
            </a:r>
            <a:r>
              <a:rPr lang="en-US" altLang="zh-CN" sz="3600" dirty="0" smtClean="0"/>
              <a:t>bool c</a:t>
            </a:r>
            <a:r>
              <a:rPr lang="zh-CN" altLang="en-US" sz="3600" dirty="0" smtClean="0"/>
              <a:t>）</a:t>
            </a:r>
            <a:endParaRPr lang="zh-CN" altLang="en-US" sz="3600" dirty="0" smtClean="0"/>
          </a:p>
          <a:p>
            <a:pPr marL="0" indent="0" algn="just">
              <a:buFont typeface="Wingdings 2" panose="05020102010507070707" pitchFamily="18" charset="2"/>
              <a:buNone/>
            </a:pPr>
            <a:r>
              <a:rPr lang="en-US" altLang="zh-CN" sz="3600" dirty="0" smtClean="0"/>
              <a:t>{</a:t>
            </a:r>
            <a:endParaRPr lang="en-US" altLang="zh-CN" sz="3600" dirty="0" smtClean="0"/>
          </a:p>
          <a:p>
            <a:pPr marL="0" indent="0" algn="just">
              <a:buFont typeface="Wingdings 2" panose="05020102010507070707" pitchFamily="18" charset="2"/>
              <a:buNone/>
            </a:pPr>
            <a:r>
              <a:rPr lang="en-US" altLang="zh-CN" sz="3600" dirty="0" smtClean="0"/>
              <a:t>  </a:t>
            </a:r>
            <a:r>
              <a:rPr lang="en-US" altLang="zh-CN" sz="3600" dirty="0" err="1" smtClean="0"/>
              <a:t>int</a:t>
            </a:r>
            <a:r>
              <a:rPr lang="en-US" altLang="zh-CN" sz="3600" dirty="0" smtClean="0"/>
              <a:t> x=0;</a:t>
            </a:r>
            <a:endParaRPr lang="en-US" altLang="zh-CN" sz="3600" dirty="0" smtClean="0"/>
          </a:p>
          <a:p>
            <a:pPr marL="0" indent="0" algn="just">
              <a:buFont typeface="Wingdings 2" panose="05020102010507070707" pitchFamily="18" charset="2"/>
              <a:buNone/>
            </a:pPr>
            <a:r>
              <a:rPr lang="en-US" altLang="zh-CN" sz="3600" dirty="0" smtClean="0"/>
              <a:t>  if(a&amp;&amp;(b||c))</a:t>
            </a:r>
            <a:endParaRPr lang="en-US" altLang="zh-CN" sz="3600" dirty="0" smtClean="0"/>
          </a:p>
          <a:p>
            <a:pPr marL="0" indent="0" algn="just">
              <a:buFont typeface="Wingdings 2" panose="05020102010507070707" pitchFamily="18" charset="2"/>
              <a:buNone/>
            </a:pPr>
            <a:r>
              <a:rPr lang="en-US" altLang="zh-CN" sz="3600" dirty="0" smtClean="0"/>
              <a:t>     x=1;</a:t>
            </a:r>
            <a:endParaRPr lang="en-US" altLang="zh-CN" sz="3600" dirty="0" smtClean="0"/>
          </a:p>
          <a:p>
            <a:pPr marL="0" indent="0" algn="just">
              <a:buFont typeface="Wingdings 2" panose="05020102010507070707" pitchFamily="18" charset="2"/>
              <a:buNone/>
            </a:pPr>
            <a:r>
              <a:rPr lang="en-US" altLang="zh-CN" sz="3600" dirty="0" smtClean="0"/>
              <a:t>  return x;</a:t>
            </a:r>
            <a:endParaRPr lang="en-US" altLang="zh-CN" sz="3600" dirty="0" smtClean="0"/>
          </a:p>
          <a:p>
            <a:pPr marL="0" indent="0" algn="just">
              <a:buFont typeface="Wingdings 2" panose="05020102010507070707" pitchFamily="18" charset="2"/>
              <a:buNone/>
            </a:pPr>
            <a:r>
              <a:rPr lang="en-US" altLang="zh-CN" sz="3600" dirty="0" smtClean="0"/>
              <a:t>}</a:t>
            </a:r>
            <a:endParaRPr lang="en-US" altLang="zh-CN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smtClean="0"/>
              <a:t>Decision </a:t>
            </a:r>
            <a:r>
              <a:rPr lang="en-US" altLang="zh-CN" sz="3600" dirty="0"/>
              <a:t>coverage</a:t>
            </a:r>
            <a:endParaRPr lang="en-US" altLang="zh-CN" sz="3600" dirty="0"/>
          </a:p>
          <a:p>
            <a:r>
              <a:rPr lang="en-US" altLang="zh-CN" sz="3600" dirty="0"/>
              <a:t>Condition </a:t>
            </a:r>
            <a:r>
              <a:rPr lang="en-US" altLang="zh-CN" sz="3600" dirty="0" smtClean="0"/>
              <a:t>coverage</a:t>
            </a:r>
            <a:endParaRPr lang="en-US" altLang="zh-CN" sz="3600" dirty="0" smtClean="0"/>
          </a:p>
          <a:p>
            <a:r>
              <a:rPr lang="en-US" altLang="zh-CN" sz="3600" dirty="0" smtClean="0"/>
              <a:t>Condition </a:t>
            </a:r>
            <a:r>
              <a:rPr lang="en-US" altLang="zh-CN" sz="3600" dirty="0"/>
              <a:t>combination coverage</a:t>
            </a:r>
            <a:endParaRPr lang="en-US" altLang="zh-CN" sz="36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MC/DC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6" name="Group 250"/>
          <p:cNvGraphicFramePr>
            <a:graphicFrameLocks noGrp="1"/>
          </p:cNvGraphicFramePr>
          <p:nvPr>
            <p:ph sz="half" idx="1"/>
          </p:nvPr>
        </p:nvGraphicFramePr>
        <p:xfrm>
          <a:off x="611188" y="2205038"/>
          <a:ext cx="4392612" cy="3840192"/>
        </p:xfrm>
        <a:graphic>
          <a:graphicData uri="http://schemas.openxmlformats.org/drawingml/2006/table">
            <a:tbl>
              <a:tblPr/>
              <a:tblGrid>
                <a:gridCol w="792162"/>
                <a:gridCol w="708025"/>
                <a:gridCol w="731838"/>
                <a:gridCol w="649287"/>
                <a:gridCol w="1511300"/>
              </a:tblGrid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序号</a:t>
                      </a:r>
                      <a:endParaRPr kumimoji="1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a&amp;&amp;(b||c)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237"/>
          <p:cNvGraphicFramePr/>
          <p:nvPr/>
        </p:nvGraphicFramePr>
        <p:xfrm>
          <a:off x="5003800" y="2205038"/>
          <a:ext cx="2159000" cy="3840192"/>
        </p:xfrm>
        <a:graphic>
          <a:graphicData uri="http://schemas.openxmlformats.org/drawingml/2006/table">
            <a:tbl>
              <a:tblPr/>
              <a:tblGrid>
                <a:gridCol w="719138"/>
                <a:gridCol w="720725"/>
                <a:gridCol w="719137"/>
              </a:tblGrid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3600" b="1" i="1" u="sng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华文隶书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3400" b="1">
                          <a:solidFill>
                            <a:srgbClr val="00CC66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 sz="3200" b="1" i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华文仿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rgbClr val="990099"/>
                          </a:solidFill>
                          <a:latin typeface="Times New Roman" panose="02020603050405020304" pitchFamily="18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251"/>
          <p:cNvSpPr>
            <a:spLocks noChangeArrowheads="1"/>
          </p:cNvSpPr>
          <p:nvPr/>
        </p:nvSpPr>
        <p:spPr bwMode="auto">
          <a:xfrm>
            <a:off x="5076825" y="6308725"/>
            <a:ext cx="31670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</a:rPr>
              <a:t>{1, 2, 3, 4, 5} / {2, 3, 4, 6}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cxnSp>
        <p:nvCxnSpPr>
          <p:cNvPr id="10" name="直接连接符 6"/>
          <p:cNvCxnSpPr>
            <a:cxnSpLocks noChangeShapeType="1"/>
          </p:cNvCxnSpPr>
          <p:nvPr/>
        </p:nvCxnSpPr>
        <p:spPr bwMode="auto">
          <a:xfrm>
            <a:off x="395288" y="3933825"/>
            <a:ext cx="705643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矩形 10"/>
          <p:cNvSpPr/>
          <p:nvPr/>
        </p:nvSpPr>
        <p:spPr>
          <a:xfrm>
            <a:off x="7451725" y="4508500"/>
            <a:ext cx="1584325" cy="72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800" dirty="0"/>
              <a:t>n+1~2</a:t>
            </a:r>
            <a:r>
              <a:rPr lang="en-US" altLang="zh-CN" sz="2800" baseline="30000" dirty="0"/>
              <a:t>n</a:t>
            </a:r>
            <a:endParaRPr lang="zh-CN" altLang="en-US" sz="2800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3"/>
          <p:cNvSpPr>
            <a:spLocks noGrp="1"/>
          </p:cNvSpPr>
          <p:nvPr>
            <p:ph sz="half" idx="4294967295"/>
          </p:nvPr>
        </p:nvSpPr>
        <p:spPr>
          <a:xfrm>
            <a:off x="5284788" y="1600200"/>
            <a:ext cx="3402012" cy="4525963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Design test cases to satisfy MC/DC of this example.</a:t>
            </a:r>
            <a:endParaRPr lang="zh-CN" altLang="en-US" smtClean="0"/>
          </a:p>
        </p:txBody>
      </p:sp>
      <p:grpSp>
        <p:nvGrpSpPr>
          <p:cNvPr id="10" name="Group 4"/>
          <p:cNvGrpSpPr/>
          <p:nvPr/>
        </p:nvGrpSpPr>
        <p:grpSpPr bwMode="auto">
          <a:xfrm>
            <a:off x="344488" y="3175"/>
            <a:ext cx="4443412" cy="3713163"/>
            <a:chOff x="2245" y="754"/>
            <a:chExt cx="3447" cy="2948"/>
          </a:xfrm>
        </p:grpSpPr>
        <p:grpSp>
          <p:nvGrpSpPr>
            <p:cNvPr id="11" name="Group 5"/>
            <p:cNvGrpSpPr/>
            <p:nvPr/>
          </p:nvGrpSpPr>
          <p:grpSpPr bwMode="auto">
            <a:xfrm>
              <a:off x="2245" y="754"/>
              <a:ext cx="2313" cy="2948"/>
              <a:chOff x="2472" y="754"/>
              <a:chExt cx="2313" cy="2948"/>
            </a:xfrm>
          </p:grpSpPr>
          <p:grpSp>
            <p:nvGrpSpPr>
              <p:cNvPr id="13" name="Group 6"/>
              <p:cNvGrpSpPr/>
              <p:nvPr/>
            </p:nvGrpSpPr>
            <p:grpSpPr bwMode="auto">
              <a:xfrm>
                <a:off x="2562" y="754"/>
                <a:ext cx="2223" cy="2948"/>
                <a:chOff x="2744" y="754"/>
                <a:chExt cx="2223" cy="2948"/>
              </a:xfrm>
            </p:grpSpPr>
            <p:sp>
              <p:nvSpPr>
                <p:cNvPr id="23" name="AutoShape 7"/>
                <p:cNvSpPr>
                  <a:spLocks noChangeArrowheads="1"/>
                </p:cNvSpPr>
                <p:nvPr/>
              </p:nvSpPr>
              <p:spPr bwMode="auto">
                <a:xfrm>
                  <a:off x="3152" y="1117"/>
                  <a:ext cx="1089" cy="318"/>
                </a:xfrm>
                <a:prstGeom prst="flowChartDecision">
                  <a:avLst/>
                </a:prstGeom>
                <a:solidFill>
                  <a:srgbClr val="FFFFCC"/>
                </a:solidFill>
                <a:ln w="381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ß"/>
                    <a:defRPr sz="32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Þ"/>
                    <a:defRPr sz="28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"/>
                    <a:defRPr sz="24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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9pPr>
                </a:lstStyle>
                <a:p>
                  <a:pPr algn="ctr" eaLnBrk="1" latin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>
                      <a:latin typeface="Times New Roman" panose="02020603050405020304" pitchFamily="18" charset="0"/>
                      <a:ea typeface="Gulim" pitchFamily="34" charset="-127"/>
                    </a:rPr>
                    <a:t>(A&gt;1) ∧(B=0)</a:t>
                  </a:r>
                  <a:endParaRPr lang="en-US" altLang="zh-CN" sz="1400">
                    <a:latin typeface="Times New Roman" panose="02020603050405020304" pitchFamily="18" charset="0"/>
                    <a:ea typeface="Gulim" pitchFamily="34" charset="-127"/>
                  </a:endParaRPr>
                </a:p>
              </p:txBody>
            </p:sp>
            <p:sp>
              <p:nvSpPr>
                <p:cNvPr id="24" name="AutoShape 8"/>
                <p:cNvSpPr>
                  <a:spLocks noChangeArrowheads="1"/>
                </p:cNvSpPr>
                <p:nvPr/>
              </p:nvSpPr>
              <p:spPr bwMode="auto">
                <a:xfrm>
                  <a:off x="3152" y="2432"/>
                  <a:ext cx="1089" cy="318"/>
                </a:xfrm>
                <a:prstGeom prst="flowChartDecision">
                  <a:avLst/>
                </a:prstGeom>
                <a:solidFill>
                  <a:srgbClr val="FFFFCC"/>
                </a:solidFill>
                <a:ln w="381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ß"/>
                    <a:defRPr sz="32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Þ"/>
                    <a:defRPr sz="28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"/>
                    <a:defRPr sz="24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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9pPr>
                </a:lstStyle>
                <a:p>
                  <a:pPr algn="ctr" eaLnBrk="1" latin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>
                      <a:latin typeface="Times New Roman" panose="02020603050405020304" pitchFamily="18" charset="0"/>
                      <a:ea typeface="Gulim" pitchFamily="34" charset="-127"/>
                    </a:rPr>
                    <a:t>(A=2) ∨(x&gt;1)</a:t>
                  </a:r>
                  <a:endParaRPr lang="en-US" altLang="zh-CN" sz="1400">
                    <a:latin typeface="Times New Roman" panose="02020603050405020304" pitchFamily="18" charset="0"/>
                    <a:ea typeface="Gulim" pitchFamily="34" charset="-127"/>
                  </a:endParaRPr>
                </a:p>
              </p:txBody>
            </p:sp>
            <p:sp>
              <p:nvSpPr>
                <p:cNvPr id="25" name="Rectangle 9"/>
                <p:cNvSpPr>
                  <a:spLocks noChangeArrowheads="1"/>
                </p:cNvSpPr>
                <p:nvPr/>
              </p:nvSpPr>
              <p:spPr bwMode="auto">
                <a:xfrm>
                  <a:off x="4514" y="1616"/>
                  <a:ext cx="453" cy="181"/>
                </a:xfrm>
                <a:prstGeom prst="rect">
                  <a:avLst/>
                </a:prstGeom>
                <a:solidFill>
                  <a:srgbClr val="FFFFCC"/>
                </a:solidFill>
                <a:ln w="381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ß"/>
                    <a:defRPr sz="32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Þ"/>
                    <a:defRPr sz="28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"/>
                    <a:defRPr sz="24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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9pPr>
                </a:lstStyle>
                <a:p>
                  <a:pPr algn="ctr" eaLnBrk="1" latin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>
                      <a:latin typeface="Times New Roman" panose="02020603050405020304" pitchFamily="18" charset="0"/>
                      <a:ea typeface="Gulim" pitchFamily="34" charset="-127"/>
                    </a:rPr>
                    <a:t>x=x/A</a:t>
                  </a:r>
                  <a:endParaRPr lang="en-US" altLang="zh-CN" sz="1400">
                    <a:latin typeface="Times New Roman" panose="02020603050405020304" pitchFamily="18" charset="0"/>
                    <a:ea typeface="Gulim" pitchFamily="34" charset="-127"/>
                  </a:endParaRPr>
                </a:p>
              </p:txBody>
            </p:sp>
            <p:sp>
              <p:nvSpPr>
                <p:cNvPr id="26" name="Rectangle 10"/>
                <p:cNvSpPr>
                  <a:spLocks noChangeArrowheads="1"/>
                </p:cNvSpPr>
                <p:nvPr/>
              </p:nvSpPr>
              <p:spPr bwMode="auto">
                <a:xfrm>
                  <a:off x="4513" y="2841"/>
                  <a:ext cx="453" cy="181"/>
                </a:xfrm>
                <a:prstGeom prst="rect">
                  <a:avLst/>
                </a:prstGeom>
                <a:solidFill>
                  <a:srgbClr val="FFFFCC"/>
                </a:solidFill>
                <a:ln w="3810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ß"/>
                    <a:defRPr sz="32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Þ"/>
                    <a:defRPr sz="28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"/>
                    <a:defRPr sz="24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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9pPr>
                </a:lstStyle>
                <a:p>
                  <a:pPr algn="ctr" eaLnBrk="1" latin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400">
                      <a:latin typeface="Times New Roman" panose="02020603050405020304" pitchFamily="18" charset="0"/>
                      <a:ea typeface="Gulim" pitchFamily="34" charset="-127"/>
                    </a:rPr>
                    <a:t>x=x+1</a:t>
                  </a:r>
                  <a:endParaRPr lang="en-US" altLang="zh-CN" sz="1400">
                    <a:latin typeface="Times New Roman" panose="02020603050405020304" pitchFamily="18" charset="0"/>
                    <a:ea typeface="Gulim" pitchFamily="34" charset="-127"/>
                  </a:endParaRPr>
                </a:p>
              </p:txBody>
            </p:sp>
            <p:sp>
              <p:nvSpPr>
                <p:cNvPr id="27" name="Line 11"/>
                <p:cNvSpPr>
                  <a:spLocks noChangeShapeType="1"/>
                </p:cNvSpPr>
                <p:nvPr/>
              </p:nvSpPr>
              <p:spPr bwMode="auto">
                <a:xfrm>
                  <a:off x="3696" y="754"/>
                  <a:ext cx="0" cy="36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28" name="AutoShape 12"/>
                <p:cNvCxnSpPr>
                  <a:cxnSpLocks noChangeShapeType="1"/>
                  <a:stCxn id="23" idx="3"/>
                  <a:endCxn id="25" idx="0"/>
                </p:cNvCxnSpPr>
                <p:nvPr/>
              </p:nvCxnSpPr>
              <p:spPr bwMode="auto">
                <a:xfrm>
                  <a:off x="4253" y="1276"/>
                  <a:ext cx="488" cy="328"/>
                </a:xfrm>
                <a:prstGeom prst="bentConnector2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9" name="AutoShape 13"/>
                <p:cNvCxnSpPr>
                  <a:cxnSpLocks noChangeShapeType="1"/>
                  <a:stCxn id="24" idx="3"/>
                  <a:endCxn id="26" idx="0"/>
                </p:cNvCxnSpPr>
                <p:nvPr/>
              </p:nvCxnSpPr>
              <p:spPr bwMode="auto">
                <a:xfrm>
                  <a:off x="4253" y="2591"/>
                  <a:ext cx="487" cy="238"/>
                </a:xfrm>
                <a:prstGeom prst="bentConnector2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0" name="Line 14"/>
                <p:cNvSpPr>
                  <a:spLocks noChangeShapeType="1"/>
                </p:cNvSpPr>
                <p:nvPr/>
              </p:nvSpPr>
              <p:spPr bwMode="auto">
                <a:xfrm>
                  <a:off x="2744" y="2069"/>
                  <a:ext cx="19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15"/>
                <p:cNvSpPr>
                  <a:spLocks noChangeShapeType="1"/>
                </p:cNvSpPr>
                <p:nvPr/>
              </p:nvSpPr>
              <p:spPr bwMode="auto">
                <a:xfrm>
                  <a:off x="4740" y="1797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744" y="1298"/>
                  <a:ext cx="0" cy="77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Line 17"/>
                <p:cNvSpPr>
                  <a:spLocks noChangeShapeType="1"/>
                </p:cNvSpPr>
                <p:nvPr/>
              </p:nvSpPr>
              <p:spPr bwMode="auto">
                <a:xfrm>
                  <a:off x="2744" y="1298"/>
                  <a:ext cx="40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18"/>
                <p:cNvSpPr>
                  <a:spLocks noChangeShapeType="1"/>
                </p:cNvSpPr>
                <p:nvPr/>
              </p:nvSpPr>
              <p:spPr bwMode="auto">
                <a:xfrm>
                  <a:off x="3696" y="2069"/>
                  <a:ext cx="0" cy="36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19"/>
                <p:cNvSpPr>
                  <a:spLocks noChangeShapeType="1"/>
                </p:cNvSpPr>
                <p:nvPr/>
              </p:nvSpPr>
              <p:spPr bwMode="auto">
                <a:xfrm>
                  <a:off x="2744" y="3339"/>
                  <a:ext cx="199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Line 20"/>
                <p:cNvSpPr>
                  <a:spLocks noChangeShapeType="1"/>
                </p:cNvSpPr>
                <p:nvPr/>
              </p:nvSpPr>
              <p:spPr bwMode="auto">
                <a:xfrm>
                  <a:off x="4740" y="3022"/>
                  <a:ext cx="0" cy="31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2744" y="2568"/>
                  <a:ext cx="0" cy="77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22"/>
                <p:cNvSpPr>
                  <a:spLocks noChangeShapeType="1"/>
                </p:cNvSpPr>
                <p:nvPr/>
              </p:nvSpPr>
              <p:spPr bwMode="auto">
                <a:xfrm>
                  <a:off x="2744" y="2568"/>
                  <a:ext cx="40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Line 23"/>
                <p:cNvSpPr>
                  <a:spLocks noChangeShapeType="1"/>
                </p:cNvSpPr>
                <p:nvPr/>
              </p:nvSpPr>
              <p:spPr bwMode="auto">
                <a:xfrm>
                  <a:off x="3696" y="3339"/>
                  <a:ext cx="0" cy="36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Text Box 24"/>
              <p:cNvSpPr txBox="1">
                <a:spLocks noChangeArrowheads="1"/>
              </p:cNvSpPr>
              <p:nvPr/>
            </p:nvSpPr>
            <p:spPr bwMode="auto">
              <a:xfrm>
                <a:off x="2699" y="935"/>
                <a:ext cx="182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ß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  <a:ea typeface="Gulim" pitchFamily="34" charset="-127"/>
                  </a:rPr>
                  <a:t>F</a:t>
                </a:r>
                <a:endParaRPr lang="en-US" altLang="zh-CN" sz="1800">
                  <a:latin typeface="Times New Roman" panose="02020603050405020304" pitchFamily="18" charset="0"/>
                  <a:ea typeface="Gulim" pitchFamily="34" charset="-127"/>
                </a:endParaRPr>
              </a:p>
            </p:txBody>
          </p:sp>
          <p:sp>
            <p:nvSpPr>
              <p:cNvPr id="15" name="Text Box 25"/>
              <p:cNvSpPr txBox="1">
                <a:spLocks noChangeArrowheads="1"/>
              </p:cNvSpPr>
              <p:nvPr/>
            </p:nvSpPr>
            <p:spPr bwMode="auto">
              <a:xfrm>
                <a:off x="2744" y="2205"/>
                <a:ext cx="182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ß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  <a:ea typeface="Gulim" pitchFamily="34" charset="-127"/>
                  </a:rPr>
                  <a:t>F</a:t>
                </a:r>
                <a:endParaRPr lang="en-US" altLang="zh-CN" sz="1800">
                  <a:latin typeface="Times New Roman" panose="02020603050405020304" pitchFamily="18" charset="0"/>
                  <a:ea typeface="Gulim" pitchFamily="34" charset="-127"/>
                </a:endParaRPr>
              </a:p>
            </p:txBody>
          </p:sp>
          <p:sp>
            <p:nvSpPr>
              <p:cNvPr id="16" name="Text Box 26"/>
              <p:cNvSpPr txBox="1">
                <a:spLocks noChangeArrowheads="1"/>
              </p:cNvSpPr>
              <p:nvPr/>
            </p:nvSpPr>
            <p:spPr bwMode="auto">
              <a:xfrm>
                <a:off x="4241" y="935"/>
                <a:ext cx="182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ß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  <a:ea typeface="Gulim" pitchFamily="34" charset="-127"/>
                  </a:rPr>
                  <a:t>T</a:t>
                </a:r>
                <a:endParaRPr lang="en-US" altLang="zh-CN" sz="1800">
                  <a:latin typeface="Times New Roman" panose="02020603050405020304" pitchFamily="18" charset="0"/>
                  <a:ea typeface="Gulim" pitchFamily="34" charset="-127"/>
                </a:endParaRPr>
              </a:p>
            </p:txBody>
          </p:sp>
          <p:sp>
            <p:nvSpPr>
              <p:cNvPr id="17" name="Text Box 27"/>
              <p:cNvSpPr txBox="1">
                <a:spLocks noChangeArrowheads="1"/>
              </p:cNvSpPr>
              <p:nvPr/>
            </p:nvSpPr>
            <p:spPr bwMode="auto">
              <a:xfrm>
                <a:off x="4241" y="2201"/>
                <a:ext cx="182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ß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  <a:ea typeface="Gulim" pitchFamily="34" charset="-127"/>
                  </a:rPr>
                  <a:t>T</a:t>
                </a:r>
                <a:endParaRPr lang="en-US" altLang="zh-CN" sz="1800">
                  <a:latin typeface="Times New Roman" panose="02020603050405020304" pitchFamily="18" charset="0"/>
                  <a:ea typeface="Gulim" pitchFamily="34" charset="-127"/>
                </a:endParaRPr>
              </a:p>
            </p:txBody>
          </p:sp>
          <p:sp>
            <p:nvSpPr>
              <p:cNvPr id="18" name="Text Box 28"/>
              <p:cNvSpPr txBox="1">
                <a:spLocks noChangeArrowheads="1"/>
              </p:cNvSpPr>
              <p:nvPr/>
            </p:nvSpPr>
            <p:spPr bwMode="auto">
              <a:xfrm>
                <a:off x="3652" y="799"/>
                <a:ext cx="22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ß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ea typeface="Gulim" pitchFamily="34" charset="-127"/>
                  </a:rPr>
                  <a:t>a</a:t>
                </a:r>
                <a:endPara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Gulim" pitchFamily="34" charset="-127"/>
                </a:endParaRPr>
              </a:p>
            </p:txBody>
          </p:sp>
          <p:sp>
            <p:nvSpPr>
              <p:cNvPr id="19" name="Text Box 29"/>
              <p:cNvSpPr txBox="1">
                <a:spLocks noChangeArrowheads="1"/>
              </p:cNvSpPr>
              <p:nvPr/>
            </p:nvSpPr>
            <p:spPr bwMode="auto">
              <a:xfrm>
                <a:off x="2472" y="981"/>
                <a:ext cx="227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ß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ea typeface="Gulim" pitchFamily="34" charset="-127"/>
                  </a:rPr>
                  <a:t>b</a:t>
                </a:r>
                <a:endPara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Gulim" pitchFamily="34" charset="-127"/>
                </a:endParaRPr>
              </a:p>
            </p:txBody>
          </p:sp>
          <p:sp>
            <p:nvSpPr>
              <p:cNvPr id="20" name="Text Box 30"/>
              <p:cNvSpPr txBox="1">
                <a:spLocks noChangeArrowheads="1"/>
              </p:cNvSpPr>
              <p:nvPr/>
            </p:nvSpPr>
            <p:spPr bwMode="auto">
              <a:xfrm>
                <a:off x="4558" y="935"/>
                <a:ext cx="227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ß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ea typeface="Gulim" pitchFamily="34" charset="-127"/>
                  </a:rPr>
                  <a:t>c</a:t>
                </a:r>
                <a:endPara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Gulim" pitchFamily="34" charset="-127"/>
                </a:endParaRPr>
              </a:p>
            </p:txBody>
          </p:sp>
          <p:sp>
            <p:nvSpPr>
              <p:cNvPr id="21" name="Text Box 31"/>
              <p:cNvSpPr txBox="1">
                <a:spLocks noChangeArrowheads="1"/>
              </p:cNvSpPr>
              <p:nvPr/>
            </p:nvSpPr>
            <p:spPr bwMode="auto">
              <a:xfrm>
                <a:off x="2562" y="2251"/>
                <a:ext cx="227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ß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ea typeface="Gulim" pitchFamily="34" charset="-127"/>
                  </a:rPr>
                  <a:t>d</a:t>
                </a:r>
                <a:endPara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Gulim" pitchFamily="34" charset="-127"/>
                </a:endParaRPr>
              </a:p>
            </p:txBody>
          </p:sp>
          <p:sp>
            <p:nvSpPr>
              <p:cNvPr id="22" name="Text Box 32"/>
              <p:cNvSpPr txBox="1">
                <a:spLocks noChangeArrowheads="1"/>
              </p:cNvSpPr>
              <p:nvPr/>
            </p:nvSpPr>
            <p:spPr bwMode="auto">
              <a:xfrm>
                <a:off x="4468" y="2251"/>
                <a:ext cx="227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ß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latin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ea typeface="Gulim" pitchFamily="34" charset="-127"/>
                  </a:rPr>
                  <a:t>e</a:t>
                </a:r>
                <a:endPara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ea typeface="Gulim" pitchFamily="34" charset="-127"/>
                </a:endParaRPr>
              </a:p>
            </p:txBody>
          </p:sp>
        </p:grpSp>
        <p:sp>
          <p:nvSpPr>
            <p:cNvPr id="12" name="Text Box 33"/>
            <p:cNvSpPr txBox="1">
              <a:spLocks noChangeArrowheads="1"/>
            </p:cNvSpPr>
            <p:nvPr/>
          </p:nvSpPr>
          <p:spPr bwMode="auto">
            <a:xfrm>
              <a:off x="4580" y="1660"/>
              <a:ext cx="1112" cy="1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Path</a:t>
              </a:r>
              <a:r>
                <a:rPr lang="zh-CN" altLang="en-US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</a:t>
              </a:r>
              <a:endParaRPr lang="zh-CN" altLang="en-US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L1(a→c →e)</a:t>
              </a:r>
              <a:endPara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L2(a→b →d)</a:t>
              </a:r>
              <a:endPara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Gulim" pitchFamily="34" charset="-127"/>
                </a:rPr>
                <a:t>L3(a→b →e)</a:t>
              </a:r>
              <a:endParaRPr lang="en-US" altLang="zh-CN" sz="1800">
                <a:solidFill>
                  <a:srgbClr val="FF0000"/>
                </a:solidFill>
                <a:latin typeface="Times New Roman" panose="02020603050405020304" pitchFamily="18" charset="0"/>
                <a:ea typeface="Gulim" pitchFamily="34" charset="-127"/>
              </a:endParaRPr>
            </a:p>
            <a:p>
              <a:pPr eaLnBrk="1" latin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Gulim" pitchFamily="34" charset="-127"/>
                </a:rPr>
                <a:t>L4(a→c →d)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</p:grpSp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3741738"/>
            <a:ext cx="8747125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/>
              <a:t>The MC/DC criterion is much stronger than the condition/decision coverage.</a:t>
            </a:r>
            <a:endParaRPr lang="en-US" altLang="zh-CN" sz="3600" dirty="0"/>
          </a:p>
          <a:p>
            <a:r>
              <a:rPr lang="en-US" altLang="zh-CN" sz="3600" dirty="0"/>
              <a:t>The MC/DC criterion is NOT stronger than Condition Combination Coverage</a:t>
            </a:r>
            <a:r>
              <a:rPr lang="en-US" altLang="zh-CN" sz="3600" dirty="0" smtClean="0"/>
              <a:t>.</a:t>
            </a:r>
            <a:endParaRPr lang="en-US" altLang="zh-CN" sz="3400" dirty="0"/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FF0000"/>
                </a:solidFill>
              </a:rPr>
              <a:t>Update Exercise 5/6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MC/DC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425575"/>
            <a:ext cx="10515600" cy="1734004"/>
          </a:xfrm>
        </p:spPr>
        <p:txBody>
          <a:bodyPr>
            <a:normAutofit lnSpcReduction="10000"/>
          </a:bodyPr>
          <a:lstStyle/>
          <a:p>
            <a:pPr>
              <a:lnSpc>
                <a:spcPct val="105000"/>
              </a:lnSpc>
            </a:pPr>
            <a:r>
              <a:rPr lang="en-US" altLang="zh-CN" sz="3600" dirty="0"/>
              <a:t>Design test cases for the following flowchart to satisfy 8 types of coverage</a:t>
            </a:r>
            <a:r>
              <a:rPr lang="zh-CN" altLang="zh-CN" sz="3600" dirty="0"/>
              <a:t>。</a:t>
            </a:r>
            <a:r>
              <a:rPr lang="en-US" altLang="zh-CN" sz="3600" dirty="0"/>
              <a:t>(Note: X and Y are signed integers or 0</a:t>
            </a:r>
            <a:r>
              <a:rPr lang="en-US" altLang="zh-CN" sz="3600" dirty="0" smtClean="0"/>
              <a:t>)</a:t>
            </a:r>
            <a:endParaRPr lang="zh-CN" altLang="zh-CN" sz="36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 5’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Group 39"/>
          <p:cNvGrpSpPr/>
          <p:nvPr/>
        </p:nvGrpSpPr>
        <p:grpSpPr bwMode="auto">
          <a:xfrm>
            <a:off x="1323975" y="2746602"/>
            <a:ext cx="7286625" cy="4022725"/>
            <a:chOff x="1152" y="1200"/>
            <a:chExt cx="4272" cy="2784"/>
          </a:xfrm>
        </p:grpSpPr>
        <p:sp>
          <p:nvSpPr>
            <p:cNvPr id="8" name="AutoShape 40"/>
            <p:cNvSpPr>
              <a:spLocks noChangeArrowheads="1"/>
            </p:cNvSpPr>
            <p:nvPr/>
          </p:nvSpPr>
          <p:spPr bwMode="auto">
            <a:xfrm>
              <a:off x="2784" y="1440"/>
              <a:ext cx="1392" cy="528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X&gt;8 AND Y&gt;5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9" name="AutoShape 41"/>
            <p:cNvSpPr>
              <a:spLocks noChangeArrowheads="1"/>
            </p:cNvSpPr>
            <p:nvPr/>
          </p:nvSpPr>
          <p:spPr bwMode="auto">
            <a:xfrm>
              <a:off x="1584" y="2112"/>
              <a:ext cx="1392" cy="528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X&gt;0 OR Y&gt;0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10" name="Line 42"/>
            <p:cNvSpPr>
              <a:spLocks noChangeShapeType="1"/>
            </p:cNvSpPr>
            <p:nvPr/>
          </p:nvSpPr>
          <p:spPr bwMode="auto">
            <a:xfrm flipH="1">
              <a:off x="2304" y="168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>
              <a:off x="2304" y="168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44"/>
            <p:cNvSpPr>
              <a:spLocks noChangeShapeType="1"/>
            </p:cNvSpPr>
            <p:nvPr/>
          </p:nvSpPr>
          <p:spPr bwMode="auto">
            <a:xfrm>
              <a:off x="4176" y="168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45"/>
            <p:cNvSpPr>
              <a:spLocks noChangeShapeType="1"/>
            </p:cNvSpPr>
            <p:nvPr/>
          </p:nvSpPr>
          <p:spPr bwMode="auto">
            <a:xfrm>
              <a:off x="4320" y="168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46"/>
            <p:cNvSpPr>
              <a:spLocks noChangeArrowheads="1"/>
            </p:cNvSpPr>
            <p:nvPr/>
          </p:nvSpPr>
          <p:spPr bwMode="auto">
            <a:xfrm>
              <a:off x="1152" y="2832"/>
              <a:ext cx="76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S1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15" name="Rectangle 47"/>
            <p:cNvSpPr>
              <a:spLocks noChangeArrowheads="1"/>
            </p:cNvSpPr>
            <p:nvPr/>
          </p:nvSpPr>
          <p:spPr bwMode="auto">
            <a:xfrm>
              <a:off x="2592" y="2832"/>
              <a:ext cx="76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S2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16" name="Line 48"/>
            <p:cNvSpPr>
              <a:spLocks noChangeShapeType="1"/>
            </p:cNvSpPr>
            <p:nvPr/>
          </p:nvSpPr>
          <p:spPr bwMode="auto">
            <a:xfrm>
              <a:off x="1584" y="235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49"/>
            <p:cNvSpPr>
              <a:spLocks noChangeShapeType="1"/>
            </p:cNvSpPr>
            <p:nvPr/>
          </p:nvSpPr>
          <p:spPr bwMode="auto">
            <a:xfrm>
              <a:off x="2976" y="235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50"/>
            <p:cNvSpPr>
              <a:spLocks noChangeArrowheads="1"/>
            </p:cNvSpPr>
            <p:nvPr/>
          </p:nvSpPr>
          <p:spPr bwMode="auto">
            <a:xfrm>
              <a:off x="2304" y="1449"/>
              <a:ext cx="229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N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19" name="Rectangle 51"/>
            <p:cNvSpPr>
              <a:spLocks noChangeArrowheads="1"/>
            </p:cNvSpPr>
            <p:nvPr/>
          </p:nvSpPr>
          <p:spPr bwMode="auto">
            <a:xfrm>
              <a:off x="4320" y="1545"/>
              <a:ext cx="21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Y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20" name="Rectangle 52"/>
            <p:cNvSpPr>
              <a:spLocks noChangeArrowheads="1"/>
            </p:cNvSpPr>
            <p:nvPr/>
          </p:nvSpPr>
          <p:spPr bwMode="auto">
            <a:xfrm>
              <a:off x="1392" y="2304"/>
              <a:ext cx="229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N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21" name="Rectangle 53"/>
            <p:cNvSpPr>
              <a:spLocks noChangeArrowheads="1"/>
            </p:cNvSpPr>
            <p:nvPr/>
          </p:nvSpPr>
          <p:spPr bwMode="auto">
            <a:xfrm>
              <a:off x="2944" y="2304"/>
              <a:ext cx="209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Y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22" name="Line 54"/>
            <p:cNvSpPr>
              <a:spLocks noChangeShapeType="1"/>
            </p:cNvSpPr>
            <p:nvPr/>
          </p:nvSpPr>
          <p:spPr bwMode="auto">
            <a:xfrm>
              <a:off x="3456" y="12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5"/>
            <p:cNvSpPr>
              <a:spLocks noChangeShapeType="1"/>
            </p:cNvSpPr>
            <p:nvPr/>
          </p:nvSpPr>
          <p:spPr bwMode="auto">
            <a:xfrm>
              <a:off x="1584" y="32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6"/>
            <p:cNvSpPr>
              <a:spLocks noChangeShapeType="1"/>
            </p:cNvSpPr>
            <p:nvPr/>
          </p:nvSpPr>
          <p:spPr bwMode="auto">
            <a:xfrm>
              <a:off x="2976" y="32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57"/>
            <p:cNvSpPr>
              <a:spLocks noChangeShapeType="1"/>
            </p:cNvSpPr>
            <p:nvPr/>
          </p:nvSpPr>
          <p:spPr bwMode="auto">
            <a:xfrm>
              <a:off x="2304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58"/>
            <p:cNvSpPr>
              <a:spLocks noChangeShapeType="1"/>
            </p:cNvSpPr>
            <p:nvPr/>
          </p:nvSpPr>
          <p:spPr bwMode="auto">
            <a:xfrm>
              <a:off x="2304" y="3744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59"/>
            <p:cNvSpPr>
              <a:spLocks noChangeShapeType="1"/>
            </p:cNvSpPr>
            <p:nvPr/>
          </p:nvSpPr>
          <p:spPr bwMode="auto">
            <a:xfrm flipH="1">
              <a:off x="3408" y="374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60"/>
            <p:cNvSpPr>
              <a:spLocks noChangeShapeType="1"/>
            </p:cNvSpPr>
            <p:nvPr/>
          </p:nvSpPr>
          <p:spPr bwMode="auto">
            <a:xfrm>
              <a:off x="3408" y="374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AutoShape 61"/>
            <p:cNvSpPr>
              <a:spLocks noChangeArrowheads="1"/>
            </p:cNvSpPr>
            <p:nvPr/>
          </p:nvSpPr>
          <p:spPr bwMode="auto">
            <a:xfrm>
              <a:off x="3648" y="2160"/>
              <a:ext cx="1392" cy="528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X&gt;16 OR Y&gt;10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30" name="Rectangle 62"/>
            <p:cNvSpPr>
              <a:spLocks noChangeArrowheads="1"/>
            </p:cNvSpPr>
            <p:nvPr/>
          </p:nvSpPr>
          <p:spPr bwMode="auto">
            <a:xfrm>
              <a:off x="4656" y="2736"/>
              <a:ext cx="76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S3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31" name="Line 63"/>
            <p:cNvSpPr>
              <a:spLocks noChangeShapeType="1"/>
            </p:cNvSpPr>
            <p:nvPr/>
          </p:nvSpPr>
          <p:spPr bwMode="auto">
            <a:xfrm flipH="1">
              <a:off x="5040" y="24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64"/>
            <p:cNvSpPr>
              <a:spLocks noChangeArrowheads="1"/>
            </p:cNvSpPr>
            <p:nvPr/>
          </p:nvSpPr>
          <p:spPr bwMode="auto">
            <a:xfrm>
              <a:off x="3472" y="2304"/>
              <a:ext cx="229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N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33" name="Rectangle 65"/>
            <p:cNvSpPr>
              <a:spLocks noChangeArrowheads="1"/>
            </p:cNvSpPr>
            <p:nvPr/>
          </p:nvSpPr>
          <p:spPr bwMode="auto">
            <a:xfrm>
              <a:off x="5040" y="2352"/>
              <a:ext cx="21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ß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latin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Verdana" panose="020B0604030504040204" pitchFamily="34" charset="0"/>
                </a:rPr>
                <a:t>Y</a:t>
              </a:r>
              <a:endParaRPr lang="en-US" altLang="zh-CN" sz="1800">
                <a:latin typeface="Verdana" panose="020B0604030504040204" pitchFamily="34" charset="0"/>
              </a:endParaRPr>
            </a:p>
          </p:txBody>
        </p:sp>
        <p:sp>
          <p:nvSpPr>
            <p:cNvPr id="34" name="Line 66"/>
            <p:cNvSpPr>
              <a:spLocks noChangeShapeType="1"/>
            </p:cNvSpPr>
            <p:nvPr/>
          </p:nvSpPr>
          <p:spPr bwMode="auto">
            <a:xfrm>
              <a:off x="5040" y="31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67"/>
            <p:cNvSpPr>
              <a:spLocks noChangeShapeType="1"/>
            </p:cNvSpPr>
            <p:nvPr/>
          </p:nvSpPr>
          <p:spPr bwMode="auto">
            <a:xfrm>
              <a:off x="3648" y="244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68"/>
            <p:cNvSpPr>
              <a:spLocks noChangeShapeType="1"/>
            </p:cNvSpPr>
            <p:nvPr/>
          </p:nvSpPr>
          <p:spPr bwMode="auto">
            <a:xfrm>
              <a:off x="3648" y="34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69"/>
            <p:cNvSpPr>
              <a:spLocks noChangeShapeType="1"/>
            </p:cNvSpPr>
            <p:nvPr/>
          </p:nvSpPr>
          <p:spPr bwMode="auto">
            <a:xfrm flipH="1">
              <a:off x="4368" y="340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70"/>
            <p:cNvSpPr>
              <a:spLocks noChangeShapeType="1"/>
            </p:cNvSpPr>
            <p:nvPr/>
          </p:nvSpPr>
          <p:spPr bwMode="auto">
            <a:xfrm>
              <a:off x="4368" y="340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71"/>
            <p:cNvSpPr>
              <a:spLocks noChangeShapeType="1"/>
            </p:cNvSpPr>
            <p:nvPr/>
          </p:nvSpPr>
          <p:spPr bwMode="auto">
            <a:xfrm>
              <a:off x="1584" y="350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72"/>
            <p:cNvSpPr>
              <a:spLocks noChangeShapeType="1"/>
            </p:cNvSpPr>
            <p:nvPr/>
          </p:nvSpPr>
          <p:spPr bwMode="auto">
            <a:xfrm flipH="1">
              <a:off x="2304" y="35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5000"/>
              </a:lnSpc>
            </a:pPr>
            <a:r>
              <a:rPr lang="en-US" altLang="zh-CN" sz="3600" dirty="0"/>
              <a:t>Try to analyze the relationship among 8 different coverage strategies </a:t>
            </a:r>
            <a:endParaRPr lang="en-US" altLang="zh-CN" sz="3600" dirty="0"/>
          </a:p>
          <a:p>
            <a:pPr lvl="1"/>
            <a:r>
              <a:rPr lang="en-US" altLang="zh-CN" sz="3200" dirty="0"/>
              <a:t>Statement Coverage</a:t>
            </a:r>
            <a:endParaRPr lang="en-US" altLang="zh-CN" sz="3200" dirty="0"/>
          </a:p>
          <a:p>
            <a:pPr lvl="1"/>
            <a:r>
              <a:rPr lang="en-US" altLang="zh-CN" sz="3200" dirty="0"/>
              <a:t>Decision Coverage</a:t>
            </a:r>
            <a:endParaRPr lang="en-US" altLang="zh-CN" sz="3200" dirty="0"/>
          </a:p>
          <a:p>
            <a:pPr lvl="1"/>
            <a:r>
              <a:rPr lang="en-US" altLang="zh-CN" sz="3200" dirty="0"/>
              <a:t>Condition Coverage</a:t>
            </a:r>
            <a:endParaRPr lang="en-US" altLang="zh-CN" sz="3200" dirty="0"/>
          </a:p>
          <a:p>
            <a:pPr lvl="1"/>
            <a:r>
              <a:rPr lang="en-US" altLang="zh-CN" sz="3200" dirty="0"/>
              <a:t>Condition-Decision Coverage</a:t>
            </a:r>
            <a:endParaRPr lang="en-US" altLang="zh-CN" sz="3200" dirty="0"/>
          </a:p>
          <a:p>
            <a:pPr lvl="1"/>
            <a:r>
              <a:rPr lang="en-US" altLang="zh-CN" sz="3200" dirty="0"/>
              <a:t>Condition Combination Coverage</a:t>
            </a:r>
            <a:endParaRPr lang="en-US" altLang="zh-CN" sz="3200" dirty="0"/>
          </a:p>
          <a:p>
            <a:pPr lvl="1"/>
            <a:r>
              <a:rPr lang="en-US" altLang="zh-CN" sz="3200" dirty="0"/>
              <a:t>Path Coverage</a:t>
            </a:r>
            <a:endParaRPr lang="en-US" altLang="zh-CN" sz="3200" dirty="0"/>
          </a:p>
          <a:p>
            <a:pPr lvl="1">
              <a:lnSpc>
                <a:spcPct val="105000"/>
              </a:lnSpc>
            </a:pPr>
            <a:r>
              <a:rPr lang="en-US" altLang="zh-CN" sz="3200" dirty="0"/>
              <a:t>Complete Coverage</a:t>
            </a:r>
            <a:endParaRPr lang="en-US" altLang="zh-CN" sz="3200" dirty="0"/>
          </a:p>
          <a:p>
            <a:pPr lvl="1">
              <a:lnSpc>
                <a:spcPct val="105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Modified Condition/Decision </a:t>
            </a:r>
            <a:r>
              <a:rPr lang="en-US" altLang="zh-CN" sz="3200" dirty="0" smtClean="0">
                <a:solidFill>
                  <a:srgbClr val="FF0000"/>
                </a:solidFill>
              </a:rPr>
              <a:t>Coverage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 6’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COMMONDATA" val="eyJoZGlkIjoiNjc2ZmM4ZGNkYzM3YmUzMmMzMTQ5MjYxMDc0MTUyOT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1818</Words>
  <Application>WPS 演示</Application>
  <PresentationFormat>自定义</PresentationFormat>
  <Paragraphs>281</Paragraphs>
  <Slides>12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Times New Roman</vt:lpstr>
      <vt:lpstr>幼圆</vt:lpstr>
      <vt:lpstr>Wingdings 2</vt:lpstr>
      <vt:lpstr>Franklin Gothic Book</vt:lpstr>
      <vt:lpstr>Arial Unicode MS</vt:lpstr>
      <vt:lpstr>Gulim</vt:lpstr>
      <vt:lpstr>Malgun Gothic</vt:lpstr>
      <vt:lpstr>Calibri</vt:lpstr>
      <vt:lpstr>等线</vt:lpstr>
      <vt:lpstr>华文行楷</vt:lpstr>
      <vt:lpstr>黑体</vt:lpstr>
      <vt:lpstr>Tahoma</vt:lpstr>
      <vt:lpstr>Wingdings</vt:lpstr>
      <vt:lpstr>Wingdings 2</vt:lpstr>
      <vt:lpstr>Verdana</vt:lpstr>
      <vt:lpstr>华文隶书</vt:lpstr>
      <vt:lpstr>楷体_GB2312</vt:lpstr>
      <vt:lpstr>新宋体</vt:lpstr>
      <vt:lpstr>华文仿宋</vt:lpstr>
      <vt:lpstr>华文细黑</vt:lpstr>
      <vt:lpstr>隶书</vt:lpstr>
      <vt:lpstr>Symbol</vt:lpstr>
      <vt:lpstr>Office 主题​​</vt:lpstr>
      <vt:lpstr>Session 3 White-Box Testing</vt:lpstr>
      <vt:lpstr>PowerPoint 演示文稿</vt:lpstr>
      <vt:lpstr>Modified Condition/Decision Coverage (MC/DC)</vt:lpstr>
      <vt:lpstr>MC/DC</vt:lpstr>
      <vt:lpstr>MC/DC</vt:lpstr>
      <vt:lpstr>PowerPoint 演示文稿</vt:lpstr>
      <vt:lpstr>Exercise</vt:lpstr>
      <vt:lpstr>MC/DC</vt:lpstr>
      <vt:lpstr>PowerPoint 演示文稿</vt:lpstr>
      <vt:lpstr>MC/DC</vt:lpstr>
      <vt:lpstr>Exercise 5’</vt:lpstr>
      <vt:lpstr>Exercise 6’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麻醉的起源</dc:title>
  <dc:creator>月烊 游</dc:creator>
  <cp:lastModifiedBy>宝老师</cp:lastModifiedBy>
  <cp:revision>564</cp:revision>
  <dcterms:created xsi:type="dcterms:W3CDTF">2019-05-27T02:30:00Z</dcterms:created>
  <dcterms:modified xsi:type="dcterms:W3CDTF">2023-10-06T14:04:50Z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91C143AD3F544EAEA720AF8142167654_13</vt:lpwstr>
  </property>
</Properties>
</file>