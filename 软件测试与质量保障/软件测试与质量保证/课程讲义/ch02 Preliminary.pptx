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7"/>
  </p:handoutMasterIdLst>
  <p:sldIdLst>
    <p:sldId id="1107" r:id="rId3"/>
    <p:sldId id="1104" r:id="rId4"/>
    <p:sldId id="1105" r:id="rId6"/>
    <p:sldId id="472" r:id="rId7"/>
    <p:sldId id="955" r:id="rId8"/>
    <p:sldId id="1070" r:id="rId9"/>
    <p:sldId id="1115" r:id="rId10"/>
    <p:sldId id="1112" r:id="rId11"/>
    <p:sldId id="1072" r:id="rId12"/>
    <p:sldId id="1073" r:id="rId13"/>
    <p:sldId id="1067" r:id="rId14"/>
    <p:sldId id="1146" r:id="rId15"/>
    <p:sldId id="1147" r:id="rId16"/>
    <p:sldId id="1148" r:id="rId17"/>
    <p:sldId id="1149" r:id="rId18"/>
    <p:sldId id="1150" r:id="rId19"/>
    <p:sldId id="1151" r:id="rId20"/>
    <p:sldId id="1079" r:id="rId21"/>
    <p:sldId id="1076" r:id="rId22"/>
    <p:sldId id="1068" r:id="rId23"/>
    <p:sldId id="1077" r:id="rId24"/>
    <p:sldId id="1089" r:id="rId25"/>
    <p:sldId id="1090" r:id="rId26"/>
    <p:sldId id="1108" r:id="rId27"/>
    <p:sldId id="1075" r:id="rId28"/>
    <p:sldId id="1109" r:id="rId29"/>
    <p:sldId id="1053" r:id="rId30"/>
    <p:sldId id="1096" r:id="rId31"/>
    <p:sldId id="1101" r:id="rId32"/>
    <p:sldId id="1097" r:id="rId33"/>
    <p:sldId id="1102" r:id="rId34"/>
    <p:sldId id="1099" r:id="rId35"/>
    <p:sldId id="1100" r:id="rId36"/>
    <p:sldId id="1114" r:id="rId37"/>
    <p:sldId id="1103" r:id="rId38"/>
    <p:sldId id="1110" r:id="rId39"/>
    <p:sldId id="1091" r:id="rId40"/>
    <p:sldId id="1092" r:id="rId41"/>
    <p:sldId id="1093" r:id="rId42"/>
    <p:sldId id="1094" r:id="rId43"/>
    <p:sldId id="1113" r:id="rId44"/>
    <p:sldId id="1062" r:id="rId45"/>
    <p:sldId id="1111" r:id="rId46"/>
  </p:sldIdLst>
  <p:sldSz cx="9144000" cy="6858000" type="screen4x3"/>
  <p:notesSz cx="7099300" cy="10234295"/>
  <p:custDataLst>
    <p:tags r:id="rId5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ani.Mullick" initials="" lastIdx="2" clrIdx="0"/>
  <p:cmAuthor id="1" name="Xiaofang Zhang" initials="XZ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00"/>
    <a:srgbClr val="0033CC"/>
    <a:srgbClr val="D6CF3E"/>
    <a:srgbClr val="CEC62C"/>
    <a:srgbClr val="D9D58D"/>
    <a:srgbClr val="FF00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0494" autoAdjust="0"/>
  </p:normalViewPr>
  <p:slideViewPr>
    <p:cSldViewPr showGuides="1">
      <p:cViewPr varScale="1">
        <p:scale>
          <a:sx n="85" d="100"/>
          <a:sy n="85" d="100"/>
        </p:scale>
        <p:origin x="1363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928" y="-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5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80" cy="5110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Arial" panose="020B0604020202020204" pitchFamily="34" charset="0"/>
              </a:defRPr>
            </a:lvl1pPr>
          </a:lstStyle>
          <a:p>
            <a:endParaRPr lang="zh-CN" altLang="zh-CN"/>
          </a:p>
        </p:txBody>
      </p:sp>
      <p:sp>
        <p:nvSpPr>
          <p:cNvPr id="7669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39" y="0"/>
            <a:ext cx="3076680" cy="5110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Arial" panose="020B0604020202020204" pitchFamily="34" charset="0"/>
              </a:defRPr>
            </a:lvl1pPr>
          </a:lstStyle>
          <a:p>
            <a:endParaRPr lang="zh-CN" altLang="zh-CN"/>
          </a:p>
        </p:txBody>
      </p:sp>
      <p:sp>
        <p:nvSpPr>
          <p:cNvPr id="7669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47"/>
            <a:ext cx="3076680" cy="5110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latin typeface="Arial" panose="020B0604020202020204" pitchFamily="34" charset="0"/>
              </a:defRPr>
            </a:lvl1pPr>
          </a:lstStyle>
          <a:p>
            <a:endParaRPr lang="zh-CN" altLang="zh-CN"/>
          </a:p>
        </p:txBody>
      </p:sp>
      <p:sp>
        <p:nvSpPr>
          <p:cNvPr id="7669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39" y="9721847"/>
            <a:ext cx="3076680" cy="5110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latin typeface="Arial" panose="020B0604020202020204" pitchFamily="34" charset="0"/>
              </a:defRPr>
            </a:lvl1pPr>
          </a:lstStyle>
          <a:p>
            <a:fld id="{9865E2D8-82B0-4129-976B-F09D1E3916D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0-09T20:56:13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10725.2 4543.59,'0'-44,"11"-33,22-44,21-43,12-1,11-11,11-21,-11 10,11-10,-12 65,12 55,-44 11,-11 44,-11 11,-11-10,22 53,22 34,11 44,-22 77,21-23,1 34,-11-23,-11-10,-11 120,-11-208,-22-44,0-11,0-11,-11 11,-22-33,-33-44,-22-22,-10-54,-1-1,-11-22,-22-10,12 21,10-22,11 12,0 43,33-11,12 77,21-11,22 44,-11 11,55-21,32 21,67 0,44 0,21 0,34 0,21 0,12 10,-23 12,-21-11,-45 22,-43 0,-44-11,-55-11,-33 11,-11-11,-22 22,-33 22,-66 22,-54 11,-45 10,-307 67,286-99,10 0,23 0,-121 65,208-87,44 11,22-11,33-11,1 0,21 0,-11-11,22 11,0-22,0 11,11-99,21-44,56-55,11-43,0-12,11 1,-23 32,-21 1,0 54,-22 11,-11 45,-11 43,-11-11,-11 22,0 0,0 0,0 22,22-11,22 33,22 44,-1 22,1 54,-11 56,-22 11,-22-1,11 12,-22-23,0-10,0-11,0-12,0 12,0-23,0 144,0-154,0-34,11-21,22-22,-11-22,11-22,-22 11,11 11,-22-22,0-11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0-09T20:56:13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3826.95 3445.59,'11'-22,"11"22,-11 0,11 0,11 0,-22 0,21 11,-10 11,11-11,-22 11,11-11,-11 11,-11-11,22-11,-22 22,11-22,11 0,11 0,11-33,22 0,0-33,21 0,-10 1,22-12,-11-11,-11 22,10 0,23-43,-44 76,-11-22,-11 11,11-11,-22 22,-22 22,-11 11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0-09T20:56:13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9478.95 4927.59,'0'11,"22"11,11 11,-22 0,22 0,-11-22,-11 22,11 0,-11-12,-11-10,22 11,-11-11,11 11,-22-11,11-11,-11 22,33-33,21-11,12-22,33-21,-22-1,44-22,-12 22,56-11,-11-11,21 12,-10-12,-33 22,-34-11,1 22,-33 11,-33 22,0 11,-11-11,-11 22,-11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0-09T20:56:13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6504.95 7144.59,'11'33,"-11"0,22 0,-11 22,11-22,-11 0,22-1,-11 12,10 11,-21-11,11-11,-11-11,-11-11,22-11,-11 0,22-11,22-22,11-33,0-11,0 12,10-1,23 0,-11 0,11 11,0 11,-23-11,12 22,77-43,-99 43,11 11,-12-11,1 22,-11-11,-22 11,-22 11,11 0,-22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0-09T20:56:13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11466 9207.59,'11'11,"-11"0,33 44,0 11,0 0,-1 0,12-22,-11 22,0-12,-11-21,-11 0,11-33,-22 11,11 11,11-22,-22 11,11-22,44-33,-11-43,44-23,-12-44,45 22,11-10,11 21,10 11,12 11,-22 12,87-45,-142 66,-22 22,0 11,-23 11,-10 11,-33 11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0-09T20:56:13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12162 7078.59,'0'-11,"11"-22,44-76,-22 10,0-22,33-22,0-10,0-12,10-11,12 45,-11-1,11 0,-22 34,0 32,-22 11,-12 22,-10 22,-11 22,-11 33,22 44,-11 43,-11 12,0 22,0-1,0 23,0-23,0 177,0-210,0-10,-11-44,11-11,0-11,-11-22,11-22,-22 11,22-33,-33-11,-10-44,-23 0,-33-44,0-43,0 21,1-11,-1-11,11 45,44 10,-22 33,33 11,0 11,0 11,12 11,21 11,0-11,0 12,10-12,12 11,11-11,11 11,22-11,22 11,22-11,10 22,45 0,11 0,21 0,1 0,-34 11,-32-11,-11 22,-22-11,-55-11,-23 0,-10 0,-11 22,-11 22,-65 76,10-43,-33 11,-33-11,-318 219,154-109,33-12,54-21,143-88,-22 0,55-33,33-33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0-09T20:56:13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12130.5 4148.59,'11'-22,"11"-44,10-33,12-22,22-10,22-12,-11-22,-11 12,21 10,-21-11,-22 56,55-34,-77 121,-11-11,11 11,-11 11,22 44,-11 55,11 43,-22 78,-11 21,0 12,0-12,0-10,0-34,0-32,0-33,0-34,-11-32,0 22,-11-77,11 11,-22-55,0-11,-33-44,-22-54,11-23,-10-22,-12-10,0 21,22 12,-109-122,109 177,22 10,22 33,0 33,22 0,-11 33,22-22,11 11,11-22,22 11,22 22,131 0,-76 0,-11 11,22 11,197 22,-11-11,-76 0,-89-11,-142-22,-33 33,-109 98,32-32,-296 99,131-99,-317 76,339-109,45 22,-89 44,176-89,110-21,-22-22,12 11,20-11,-10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0-09T20:56:13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7109.2 4675.59,'0'21,"0"-10,11-32,22-45,32-66,23-88,-11-43,22-33,0-1,21 23,-21 11,0 32,0 66,0 34,-34 65,-32 33,0 11,-22 22,11 44,11 88,-22 87,11 88,-22 45,0 10,0 231,0-418,0-43,-11-33,11-66,-22-12,-11-53,-33-34,-11-66,-10-44,-12-21,22-23,-22 23,11 21,12 44,10 12,0 21,-55-110,88 111,0 10,0 44,33 11,-11 33,22 0,33 0,22 11,55 22,-11 0,21 0,1-22,0 11,21 11,-21-22,0 21,-22 1,10 0,-43 0,11 0,-44 0,-11 0,22 66,-55-44,-11 22,-11-12,-44 1,-11 0,-22 22,-21-22,-45 0,0-1,-10 12,-12-11,44 22,-10-22,21 0,22 0,12-23,43 12,-11-11,66-22,0-22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0-09T20:56:13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9545.2 4334.59,'0'11,"-11"11,11-33,11-44,22-10,11-67,44-11,-11-43,44-23,10 11,1 12,0 21,-23 55,-21 45,-44 10,-11 44,0 22,0 66,22 76,-11 45,11 43,-12 23,-10-34,0-10,0 175,-11-231,-22-54,0-22,0-44,0-22,0-11,0 11,-11-11,-22-11,-22-22,-43-66,-45-44,-22-76,-32-12,-23-10,23 21,-1-10,22 21,-10 1,43 32,22 55,45 44,43 11,11 55,22-11,33-10,33 21,43-11,89 22,21 21,23 1,10 11,12-11,-23 0,12 0,-12 22,-10-22,-34 0,67 11,-210-44,-21 22,-33-11,0 22,0-1,-33 34,-10-33,-45 22,-11 11,-77-22,-43 44,-12-11,-65 10,33-43,-12 22,-21-11,10-22,12 0,44 0,32 0,33-22,67-11,10 22,44-22,22 0,11 0,11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80" cy="5110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Arial" panose="020B0604020202020204" pitchFamily="34" charset="0"/>
              </a:defRPr>
            </a:lvl1pPr>
          </a:lstStyle>
          <a:p>
            <a:endParaRPr lang="zh-CN" altLang="zh-CN"/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39" y="0"/>
            <a:ext cx="3076680" cy="5110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Arial" panose="020B0604020202020204" pitchFamily="34" charset="0"/>
              </a:defRPr>
            </a:lvl1pPr>
          </a:lstStyle>
          <a:p>
            <a:endParaRPr lang="zh-CN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385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47" y="4861787"/>
            <a:ext cx="5678807" cy="46045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2385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47"/>
            <a:ext cx="3076680" cy="5110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latin typeface="Arial" panose="020B0604020202020204" pitchFamily="34" charset="0"/>
              </a:defRPr>
            </a:lvl1pPr>
          </a:lstStyle>
          <a:p>
            <a:endParaRPr lang="zh-CN" altLang="zh-CN"/>
          </a:p>
        </p:txBody>
      </p:sp>
      <p:sp>
        <p:nvSpPr>
          <p:cNvPr id="238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39" y="9721847"/>
            <a:ext cx="3076680" cy="5110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latin typeface="Arial" panose="020B0604020202020204" pitchFamily="34" charset="0"/>
              </a:defRPr>
            </a:lvl1pPr>
          </a:lstStyle>
          <a:p>
            <a:fld id="{70DC6BFD-768D-457F-B4AE-2279F971535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28E0C8-C140-4681-AB51-72E63B2FCD92}" type="slidenum">
              <a:rPr lang="en-US" altLang="zh-CN"/>
            </a:fld>
            <a:endParaRPr lang="en-US" altLang="zh-CN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2B5A6E5-DE8A-4373-AED1-296248744982}" type="slidenum">
              <a:rPr lang="en-US" altLang="zh-CN"/>
            </a:fld>
            <a:endParaRPr lang="en-US" altLang="zh-CN"/>
          </a:p>
        </p:txBody>
      </p:sp>
      <p:sp>
        <p:nvSpPr>
          <p:cNvPr id="194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28E0C8-C140-4681-AB51-72E63B2FCD92}" type="slidenum">
              <a:rPr lang="en-US" altLang="zh-CN"/>
            </a:fld>
            <a:endParaRPr lang="en-US" altLang="zh-CN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61A8A4-32F5-4C8C-84CE-B91FEFD2D305}" type="slidenum">
              <a:rPr lang="en-US" altLang="zh-CN"/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B255A72-56E2-42EB-8469-DA1BAB17BB0B}" type="slidenum">
              <a:rPr lang="zh-CN" altLang="en-US"/>
            </a:fld>
            <a:endParaRPr lang="en-US" altLang="zh-CN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缺陷的表现形式有很多种，不仅仅表现为功能失效方面，还体现在其他方面。</a:t>
            </a:r>
            <a:endParaRPr lang="zh-CN" altLang="en-US" dirty="0"/>
          </a:p>
          <a:p>
            <a:r>
              <a:rPr lang="zh-CN" altLang="en-US" dirty="0"/>
              <a:t>例如，数据结果不精确，精度不够，</a:t>
            </a:r>
            <a:endParaRPr lang="zh-CN" altLang="en-US" dirty="0"/>
          </a:p>
          <a:p>
            <a:r>
              <a:rPr lang="zh-CN" altLang="en-US" dirty="0"/>
              <a:t>实际结果和预期结果不一致，</a:t>
            </a:r>
            <a:endParaRPr lang="zh-CN" altLang="en-US" dirty="0"/>
          </a:p>
          <a:p>
            <a:r>
              <a:rPr lang="zh-CN" altLang="en-US" dirty="0"/>
              <a:t>用户界面出错、混乱、不美观，</a:t>
            </a:r>
            <a:endParaRPr lang="zh-CN" altLang="en-US" dirty="0"/>
          </a:p>
          <a:p>
            <a:r>
              <a:rPr lang="zh-CN" altLang="en-US" dirty="0"/>
              <a:t>运行中断、系统崩溃。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8DA3DD5-5204-4F8B-957B-34E90542E8C0}" type="slidenum">
              <a:rPr lang="zh-CN" altLang="en-US"/>
            </a:fld>
            <a:endParaRPr lang="en-US" altLang="zh-CN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E0E9269-2D50-463D-90F7-8C84084C719E}" type="slidenum">
              <a:rPr lang="en-US" altLang="zh-CN"/>
            </a:fld>
            <a:endParaRPr lang="en-US" altLang="zh-CN"/>
          </a:p>
        </p:txBody>
      </p:sp>
      <p:sp>
        <p:nvSpPr>
          <p:cNvPr id="173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3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9738" y="455613"/>
            <a:ext cx="6218237" cy="4664075"/>
          </a:xfrm>
        </p:spPr>
      </p:sp>
      <p:sp>
        <p:nvSpPr>
          <p:cNvPr id="14499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0517" y="4862450"/>
            <a:ext cx="5679440" cy="46040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kumimoji="0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E0E9269-2D50-463D-90F7-8C84084C719E}" type="slidenum">
              <a:rPr lang="en-US" altLang="zh-CN"/>
            </a:fld>
            <a:endParaRPr lang="en-US" altLang="zh-CN"/>
          </a:p>
        </p:txBody>
      </p:sp>
      <p:sp>
        <p:nvSpPr>
          <p:cNvPr id="173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3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9738" y="455613"/>
            <a:ext cx="6218237" cy="4664075"/>
          </a:xfrm>
        </p:spPr>
      </p:sp>
      <p:sp>
        <p:nvSpPr>
          <p:cNvPr id="14499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0517" y="4862450"/>
            <a:ext cx="5679440" cy="46040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kumimoji="0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28E0C8-C140-4681-AB51-72E63B2FCD92}" type="slidenum">
              <a:rPr lang="en-US" altLang="zh-CN"/>
            </a:fld>
            <a:endParaRPr lang="en-US" altLang="zh-CN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28E0C8-C140-4681-AB51-72E63B2FCD92}" type="slidenum">
              <a:rPr lang="en-US" altLang="zh-CN"/>
            </a:fld>
            <a:endParaRPr lang="en-US" altLang="zh-CN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638E50-F573-4C0B-9464-1D611631D20E}" type="slidenum">
              <a:rPr lang="en-US" altLang="zh-CN"/>
            </a:fld>
            <a:endParaRPr lang="en-US" altLang="zh-CN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E6F67F-DBA9-441C-B3F9-12C600A826F6}" type="slidenum">
              <a:rPr lang="en-US" altLang="zh-CN"/>
            </a:fld>
            <a:endParaRPr lang="en-US" altLang="zh-CN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E6F67F-DBA9-441C-B3F9-12C600A826F6}" type="slidenum">
              <a:rPr lang="en-US" altLang="zh-CN"/>
            </a:fld>
            <a:endParaRPr lang="en-US" altLang="zh-CN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53F485-6FF6-461B-9326-514EA6CCA77F}" type="slidenum">
              <a:rPr lang="en-US" altLang="zh-CN"/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B6D965-8165-4290-B1FF-A62169880EC5}" type="slidenum">
              <a:rPr lang="en-US" altLang="zh-CN"/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A7C224-A2DF-44FD-A01C-67EA18528044}" type="slidenum">
              <a:rPr lang="en-US" altLang="zh-CN"/>
            </a:fld>
            <a:endParaRPr lang="en-US" altLang="zh-CN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E202C8-0FA7-4B27-BF1F-83B23F824DDA}" type="slidenum">
              <a:rPr lang="en-US" altLang="zh-CN"/>
            </a:fld>
            <a:endParaRPr lang="en-US" altLang="zh-CN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B6D965-8165-4290-B1FF-A62169880EC5}" type="slidenum">
              <a:rPr lang="en-US" altLang="zh-CN"/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A7C224-A2DF-44FD-A01C-67EA18528044}" type="slidenum">
              <a:rPr lang="en-US" altLang="zh-CN"/>
            </a:fld>
            <a:endParaRPr lang="en-US" altLang="zh-CN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28E0C8-C140-4681-AB51-72E63B2FCD92}" type="slidenum">
              <a:rPr lang="en-US" altLang="zh-CN"/>
            </a:fld>
            <a:endParaRPr lang="en-US" altLang="zh-CN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7726FF5-BD8B-49FA-A65D-21B92F31F9DA}" type="slidenum">
              <a:rPr lang="zh-CN" altLang="en-US"/>
            </a:fld>
            <a:endParaRPr lang="en-US" altLang="zh-CN"/>
          </a:p>
        </p:txBody>
      </p:sp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C1:</a:t>
            </a:r>
            <a:r>
              <a:rPr lang="zh-CN" altLang="en-US" dirty="0"/>
              <a:t>按照测试生成的来源</a:t>
            </a:r>
            <a:endParaRPr lang="zh-CN" altLang="en-US" dirty="0"/>
          </a:p>
          <a:p>
            <a:r>
              <a:rPr lang="en-US" altLang="zh-CN" dirty="0"/>
              <a:t>C2</a:t>
            </a:r>
            <a:r>
              <a:rPr lang="zh-CN" altLang="en-US" dirty="0"/>
              <a:t>：按照生命周期的阶段</a:t>
            </a:r>
            <a:endParaRPr lang="zh-CN" altLang="en-US" dirty="0"/>
          </a:p>
          <a:p>
            <a:r>
              <a:rPr lang="en-US" altLang="zh-CN" dirty="0"/>
              <a:t>C3</a:t>
            </a:r>
            <a:r>
              <a:rPr lang="zh-CN" altLang="en-US" dirty="0"/>
              <a:t>：按照测试活动的目的</a:t>
            </a:r>
            <a:endParaRPr lang="zh-CN" altLang="en-US" dirty="0"/>
          </a:p>
          <a:p>
            <a:r>
              <a:rPr lang="en-US" altLang="zh-CN" dirty="0"/>
              <a:t>C4</a:t>
            </a:r>
            <a:r>
              <a:rPr lang="zh-CN" altLang="en-US" dirty="0"/>
              <a:t>：按被测对象的特征</a:t>
            </a:r>
            <a:endParaRPr lang="zh-CN" altLang="en-US" dirty="0"/>
          </a:p>
          <a:p>
            <a:r>
              <a:rPr lang="en-US" altLang="zh-CN" dirty="0"/>
              <a:t>C5</a:t>
            </a:r>
            <a:r>
              <a:rPr lang="zh-CN" altLang="en-US" dirty="0"/>
              <a:t>：按测试过程的模型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9738" y="454025"/>
            <a:ext cx="6219825" cy="4665663"/>
          </a:xfrm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0517" y="4862450"/>
            <a:ext cx="5679440" cy="460403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638E50-F573-4C0B-9464-1D611631D20E}" type="slidenum">
              <a:rPr lang="en-US" altLang="zh-CN"/>
            </a:fld>
            <a:endParaRPr lang="en-US" altLang="zh-CN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2B5A6E5-DE8A-4373-AED1-296248744982}" type="slidenum">
              <a:rPr lang="en-US" altLang="zh-CN"/>
            </a:fld>
            <a:endParaRPr lang="en-US" altLang="zh-CN"/>
          </a:p>
        </p:txBody>
      </p:sp>
      <p:sp>
        <p:nvSpPr>
          <p:cNvPr id="194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410176-38EC-4438-AFFF-F089969144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55626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B060B24-6413-4F51-A4F2-F96B8D39C80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51B0D8-63F4-4044-85D8-0C527395AC0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49ADA0-1B58-4085-9CFD-DBA18F573B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2E51C3-C78B-4970-8DE2-9223914A294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C9E5BF-80F7-4365-B217-45595DBFAB7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93CC5B-3D12-464D-874C-F479AD9E813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FFF219-6BD7-4B58-B013-9B7F8E4015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E69847-FC13-4255-8E8E-042427C9C9D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8CC08F-AC95-4BB1-895D-BBF0BF843B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04BD0C-7B3B-4C43-936F-403BBECE99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524000"/>
            <a:ext cx="403860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0386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57200" y="6461125"/>
            <a:ext cx="2895600" cy="24447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629400" y="6477000"/>
            <a:ext cx="1371600" cy="228600"/>
          </a:xfrm>
        </p:spPr>
        <p:txBody>
          <a:bodyPr/>
          <a:lstStyle>
            <a:lvl1pPr>
              <a:defRPr/>
            </a:lvl1pPr>
          </a:lstStyle>
          <a:p>
            <a:fld id="{D02AD461-1001-41A8-AC0D-E3F3C6BE76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524000"/>
            <a:ext cx="82296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62400"/>
            <a:ext cx="82296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>
                <a:latin typeface="Arial" panose="020B0604020202020204" pitchFamily="34" charset="0"/>
              </a:defRPr>
            </a:lvl1pPr>
          </a:lstStyle>
          <a:p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>
                <a:latin typeface="Arial" panose="020B0604020202020204" pitchFamily="34" charset="0"/>
              </a:defRPr>
            </a:lvl1pPr>
          </a:lstStyle>
          <a:p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FE657286-3575-4B33-89A0-0227EFEC9618}" type="slidenum">
              <a:rPr lang="en-US" altLang="zh-CN"/>
            </a:fld>
            <a:endParaRPr lang="en-US" altLang="zh-CN"/>
          </a:p>
        </p:txBody>
      </p:sp>
      <p:pic>
        <p:nvPicPr>
          <p:cNvPr id="2055" name="Picture 7" descr="IEC_BG02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863600" y="6600825"/>
            <a:ext cx="7239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</a:rPr>
              <a:t>Ver.  1.0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 userDrawn="1"/>
        </p:nvSpPr>
        <p:spPr bwMode="auto">
          <a:xfrm>
            <a:off x="160338" y="152400"/>
            <a:ext cx="762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solidFill>
                  <a:schemeClr val="bg1"/>
                </a:solidFill>
              </a:rPr>
              <a:t>Software Testing and Quality Assurance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048" name="Text Box 24"/>
          <p:cNvSpPr txBox="1">
            <a:spLocks noChangeArrowheads="1"/>
          </p:cNvSpPr>
          <p:nvPr userDrawn="1"/>
        </p:nvSpPr>
        <p:spPr bwMode="auto">
          <a:xfrm>
            <a:off x="7620000" y="6583363"/>
            <a:ext cx="1524000" cy="2746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Slide </a:t>
            </a:r>
            <a:fld id="{B9480154-20C3-4CF8-93C2-EDC6AB3F721F}" type="slidenum">
              <a:rPr lang="en-US" altLang="zh-CN" sz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of 36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2.png"/><Relationship Id="rId7" Type="http://schemas.openxmlformats.org/officeDocument/2006/relationships/customXml" Target="../ink/ink5.xml"/><Relationship Id="rId6" Type="http://schemas.openxmlformats.org/officeDocument/2006/relationships/image" Target="../media/image11.png"/><Relationship Id="rId5" Type="http://schemas.openxmlformats.org/officeDocument/2006/relationships/customXml" Target="../ink/ink4.xml"/><Relationship Id="rId4" Type="http://schemas.openxmlformats.org/officeDocument/2006/relationships/image" Target="../media/image10.png"/><Relationship Id="rId3" Type="http://schemas.openxmlformats.org/officeDocument/2006/relationships/customXml" Target="../ink/ink3.xml"/><Relationship Id="rId2" Type="http://schemas.openxmlformats.org/officeDocument/2006/relationships/image" Target="../media/image9.png"/><Relationship Id="rId1" Type="http://schemas.openxmlformats.org/officeDocument/2006/relationships/customXml" Target="../ink/ink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customXml" Target="../ink/ink7.xml"/><Relationship Id="rId2" Type="http://schemas.openxmlformats.org/officeDocument/2006/relationships/image" Target="../media/image13.png"/><Relationship Id="rId1" Type="http://schemas.openxmlformats.org/officeDocument/2006/relationships/customXml" Target="../ink/ink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customXml" Target="../ink/ink9.xml"/><Relationship Id="rId3" Type="http://schemas.openxmlformats.org/officeDocument/2006/relationships/image" Target="../media/image21.png"/><Relationship Id="rId2" Type="http://schemas.openxmlformats.org/officeDocument/2006/relationships/customXml" Target="../ink/ink8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wmf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305800" cy="14700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Session 2</a:t>
            </a:r>
            <a:br>
              <a:rPr lang="en-US" altLang="zh-CN" sz="3200" dirty="0"/>
            </a:br>
            <a:r>
              <a:rPr lang="en-US" altLang="zh-CN" sz="3200" dirty="0"/>
              <a:t>Preliminary to Software Testing</a:t>
            </a:r>
            <a:endParaRPr lang="zh-CN" altLang="en-US" sz="3200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905000" y="4419600"/>
            <a:ext cx="6400800" cy="1752600"/>
          </a:xfrm>
        </p:spPr>
        <p:txBody>
          <a:bodyPr/>
          <a:lstStyle/>
          <a:p>
            <a:pPr algn="r"/>
            <a:r>
              <a:rPr lang="en-US" altLang="zh-CN" dirty="0"/>
              <a:t>chengbaolei@suda.edu.cn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24"/>
          <p:cNvSpPr txBox="1">
            <a:spLocks noChangeArrowheads="1"/>
          </p:cNvSpPr>
          <p:nvPr/>
        </p:nvSpPr>
        <p:spPr bwMode="auto">
          <a:xfrm>
            <a:off x="153988" y="709613"/>
            <a:ext cx="68580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</a:rPr>
              <a:t>Objectives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076" name="Rectangle 25"/>
          <p:cNvSpPr>
            <a:spLocks noChangeArrowheads="1"/>
          </p:cNvSpPr>
          <p:nvPr/>
        </p:nvSpPr>
        <p:spPr bwMode="auto">
          <a:xfrm>
            <a:off x="1525588" y="1598613"/>
            <a:ext cx="7315200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Review of Session 1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Why we need SQA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Definition of SQA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QA VS. QC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Testing overview: what, who, when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554" name="Rectangle 2"/>
          <p:cNvSpPr>
            <a:spLocks noChangeArrowheads="1"/>
          </p:cNvSpPr>
          <p:nvPr/>
        </p:nvSpPr>
        <p:spPr bwMode="auto">
          <a:xfrm>
            <a:off x="1143000" y="1219200"/>
            <a:ext cx="7315200" cy="4040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739775" lvl="1" indent="-282575">
              <a:lnSpc>
                <a:spcPct val="15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endParaRPr lang="en-IN" altLang="zh-CN" sz="2200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82575" indent="-282575">
              <a:lnSpc>
                <a:spcPct val="15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IN" altLang="zh-CN" sz="2800" b="0" dirty="0">
                <a:solidFill>
                  <a:srgbClr val="3333C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 question:</a:t>
            </a:r>
            <a:endParaRPr lang="en-IN" altLang="zh-CN" sz="2800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50000"/>
              </a:lnSpc>
              <a:spcBef>
                <a:spcPct val="20000"/>
              </a:spcBef>
            </a:pPr>
            <a:r>
              <a:rPr lang="en-IN" altLang="zh-CN" sz="2800" b="0" dirty="0">
                <a:solidFill>
                  <a:srgbClr val="3333C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Testing is a subset of quality assurance or quality control?</a:t>
            </a:r>
            <a:endParaRPr lang="en-IN" altLang="zh-CN" sz="2800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779520" y="1917065"/>
            <a:ext cx="5002530" cy="38309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24"/>
          <p:cNvSpPr txBox="1">
            <a:spLocks noChangeArrowheads="1"/>
          </p:cNvSpPr>
          <p:nvPr/>
        </p:nvSpPr>
        <p:spPr bwMode="auto">
          <a:xfrm>
            <a:off x="153988" y="709613"/>
            <a:ext cx="68580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</a:rPr>
              <a:t>Objectives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076" name="Rectangle 25"/>
          <p:cNvSpPr>
            <a:spLocks noChangeArrowheads="1"/>
          </p:cNvSpPr>
          <p:nvPr/>
        </p:nvSpPr>
        <p:spPr bwMode="auto">
          <a:xfrm>
            <a:off x="1525588" y="1598613"/>
            <a:ext cx="7315200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 this session, you will learn: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Comparison of some concepts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Testing life cycle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Model of testing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Types of testing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ChangeArrowheads="1"/>
          </p:cNvSpPr>
          <p:nvPr/>
        </p:nvSpPr>
        <p:spPr bwMode="auto">
          <a:xfrm>
            <a:off x="1525588" y="1598613"/>
            <a:ext cx="7315200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altLang="zh-CN" sz="28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What is “defect”?</a:t>
            </a:r>
            <a:endParaRPr lang="en-US" altLang="zh-CN" sz="2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sz="28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Verification / Validation</a:t>
            </a:r>
            <a:endParaRPr lang="en-US" sz="2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sz="28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Testing / De</a:t>
            </a:r>
            <a:r>
              <a:rPr lang="en-US" sz="2800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bug</a:t>
            </a:r>
            <a:r>
              <a:rPr lang="en-US" sz="28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ging</a:t>
            </a:r>
            <a:endParaRPr lang="en-US" sz="2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sz="28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White-box </a:t>
            </a:r>
            <a:r>
              <a:rPr lang="en-US" altLang="zh-CN" sz="28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testing </a:t>
            </a:r>
            <a:r>
              <a:rPr lang="en-US" sz="28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 Black-box testing</a:t>
            </a:r>
            <a:endParaRPr lang="en-US" sz="2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endParaRPr lang="en-IN" sz="1800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99" name="Text Box 16"/>
          <p:cNvSpPr txBox="1">
            <a:spLocks noChangeArrowheads="1"/>
          </p:cNvSpPr>
          <p:nvPr/>
        </p:nvSpPr>
        <p:spPr bwMode="auto">
          <a:xfrm>
            <a:off x="153988" y="709613"/>
            <a:ext cx="83058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lvl="1"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Comparison of some concepts</a:t>
            </a: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</a:rPr>
              <a:t>	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7772400" cy="457200"/>
          </a:xfrm>
        </p:spPr>
        <p:txBody>
          <a:bodyPr/>
          <a:lstStyle/>
          <a:p>
            <a:pPr algn="l"/>
            <a:r>
              <a:rPr lang="en-US" altLang="zh-CN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“defect”?</a:t>
            </a:r>
            <a:endParaRPr lang="en-US" altLang="zh-CN" sz="1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1066800" y="1341438"/>
            <a:ext cx="7696199" cy="4830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71689" tIns="35844" rIns="71689" bIns="35844"/>
          <a:lstStyle/>
          <a:p>
            <a:pPr marL="342900" indent="-342900" algn="l"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●"/>
            </a:pPr>
            <a:r>
              <a:rPr lang="en-US" altLang="zh-CN" sz="2400" b="0" dirty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Error</a:t>
            </a:r>
            <a:r>
              <a:rPr lang="zh-CN" altLang="en-US" sz="2400" b="0" dirty="0">
                <a:solidFill>
                  <a:srgbClr val="FF0000"/>
                </a:solidFill>
                <a:ea typeface="宋体" panose="02010600030101010101" pitchFamily="2" charset="-122"/>
                <a:cs typeface="Tahoma" panose="020B0604030504040204" pitchFamily="34" charset="0"/>
              </a:rPr>
              <a:t>（错误）</a:t>
            </a:r>
            <a:r>
              <a:rPr lang="en-US" altLang="zh-CN" sz="2400" b="0" dirty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altLang="zh-CN" sz="2400" b="0" dirty="0">
                <a:ea typeface="Tahoma" panose="020B0604030504040204" pitchFamily="34" charset="0"/>
                <a:cs typeface="Tahoma" panose="020B0604030504040204" pitchFamily="34" charset="0"/>
              </a:rPr>
              <a:t>  occurs in the process of </a:t>
            </a:r>
            <a:r>
              <a:rPr lang="en-US" altLang="zh-CN" sz="2400" b="0" dirty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writing</a:t>
            </a:r>
            <a:r>
              <a:rPr lang="en-US" altLang="zh-CN" sz="2400" b="0" dirty="0">
                <a:ea typeface="Tahoma" panose="020B0604030504040204" pitchFamily="34" charset="0"/>
                <a:cs typeface="Tahoma" panose="020B0604030504040204" pitchFamily="34" charset="0"/>
              </a:rPr>
              <a:t> a program.</a:t>
            </a:r>
            <a:endParaRPr lang="en-US" altLang="zh-CN" sz="2400" b="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l"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●"/>
            </a:pPr>
            <a:r>
              <a:rPr lang="en-US" altLang="zh-CN" sz="2400" b="0" dirty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Fault</a:t>
            </a:r>
            <a:r>
              <a:rPr lang="zh-CN" altLang="en-US" sz="2400" b="0" dirty="0">
                <a:solidFill>
                  <a:srgbClr val="FF0000"/>
                </a:solidFill>
                <a:ea typeface="宋体" panose="02010600030101010101" pitchFamily="2" charset="-122"/>
                <a:cs typeface="Tahoma" panose="020B0604030504040204" pitchFamily="34" charset="0"/>
              </a:rPr>
              <a:t>（故障）</a:t>
            </a:r>
            <a:r>
              <a:rPr lang="en-US" altLang="zh-CN" sz="2400" b="0" dirty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altLang="zh-CN" sz="2400" b="0" dirty="0">
                <a:ea typeface="Tahoma" panose="020B0604030504040204" pitchFamily="34" charset="0"/>
                <a:cs typeface="Tahoma" panose="020B0604030504040204" pitchFamily="34" charset="0"/>
              </a:rPr>
              <a:t> is the manifestation of one or more errors.  (</a:t>
            </a:r>
            <a:r>
              <a:rPr lang="en-US" altLang="zh-CN" sz="2400" b="0" dirty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internal</a:t>
            </a:r>
            <a:r>
              <a:rPr lang="en-US" altLang="zh-CN" sz="2400" b="0" dirty="0">
                <a:ea typeface="Tahoma" panose="020B0604030504040204" pitchFamily="34" charset="0"/>
                <a:cs typeface="Tahoma" panose="020B0604030504040204" pitchFamily="34" charset="0"/>
              </a:rPr>
              <a:t> state)</a:t>
            </a:r>
            <a:endParaRPr lang="en-US" altLang="zh-CN" sz="2400" b="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l"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●"/>
            </a:pPr>
            <a:r>
              <a:rPr lang="en-US" altLang="zh-CN" sz="2400" b="0" dirty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Failure</a:t>
            </a:r>
            <a:r>
              <a:rPr lang="zh-CN" altLang="en-US" sz="2400" b="0" dirty="0">
                <a:solidFill>
                  <a:srgbClr val="FF0000"/>
                </a:solidFill>
                <a:ea typeface="宋体" panose="02010600030101010101" pitchFamily="2" charset="-122"/>
                <a:cs typeface="Tahoma" panose="020B0604030504040204" pitchFamily="34" charset="0"/>
              </a:rPr>
              <a:t>（失效）</a:t>
            </a:r>
            <a:r>
              <a:rPr lang="en-US" altLang="zh-CN" sz="2400" b="0" dirty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altLang="zh-CN" sz="2400" b="0" dirty="0">
                <a:ea typeface="Tahoma" panose="020B0604030504040204" pitchFamily="34" charset="0"/>
                <a:cs typeface="Tahoma" panose="020B0604030504040204" pitchFamily="34" charset="0"/>
              </a:rPr>
              <a:t> occurs when faulty piece of code is executed leading to an incorrect state that propagates to the program’s </a:t>
            </a:r>
            <a:r>
              <a:rPr lang="en-US" altLang="zh-CN" sz="2400" b="0" dirty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output</a:t>
            </a:r>
            <a:r>
              <a:rPr lang="en-US" altLang="zh-CN" sz="2400" b="0" dirty="0"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altLang="zh-CN" sz="2400" b="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l"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●"/>
            </a:pPr>
            <a:r>
              <a:rPr lang="en-US" altLang="zh-CN" sz="2400" b="0" dirty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Incident</a:t>
            </a:r>
            <a:r>
              <a:rPr lang="zh-CN" altLang="en-US" sz="2400" b="0" dirty="0">
                <a:solidFill>
                  <a:srgbClr val="FF0000"/>
                </a:solidFill>
                <a:ea typeface="宋体" panose="02010600030101010101" pitchFamily="2" charset="-122"/>
                <a:cs typeface="Tahoma" panose="020B0604030504040204" pitchFamily="34" charset="0"/>
              </a:rPr>
              <a:t>（事故）</a:t>
            </a:r>
            <a:r>
              <a:rPr lang="en-US" altLang="zh-CN" sz="2400" b="0" dirty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: no message </a:t>
            </a:r>
            <a:r>
              <a:rPr lang="en-US" altLang="zh-CN" sz="2400" b="0" dirty="0">
                <a:ea typeface="Tahoma" panose="020B0604030504040204" pitchFamily="34" charset="0"/>
                <a:cs typeface="Tahoma" panose="020B0604030504040204" pitchFamily="34" charset="0"/>
              </a:rPr>
              <a:t>is displayed when failure occurs.</a:t>
            </a:r>
            <a:endParaRPr lang="en-US" altLang="zh-CN" sz="2400" b="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0662" name="AutoShape 6"/>
          <p:cNvSpPr>
            <a:spLocks noChangeArrowheads="1"/>
          </p:cNvSpPr>
          <p:nvPr/>
        </p:nvSpPr>
        <p:spPr bwMode="auto">
          <a:xfrm>
            <a:off x="4343400" y="5029200"/>
            <a:ext cx="4648200" cy="1828800"/>
          </a:xfrm>
          <a:prstGeom prst="irregularSeal2">
            <a:avLst/>
          </a:prstGeom>
          <a:solidFill>
            <a:srgbClr val="FFFE62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lIns="71689" tIns="35844" rIns="71689" bIns="35844" anchor="ctr"/>
          <a:lstStyle/>
          <a:p>
            <a:pPr defTabSz="717550" eaLnBrk="0" hangingPunct="0"/>
            <a:r>
              <a:rPr lang="en-US" altLang="zh-CN" sz="3400" b="0" dirty="0">
                <a:ea typeface="宋体" panose="02010600030101010101" pitchFamily="2" charset="-122"/>
              </a:rPr>
              <a:t>Defect (Bug)</a:t>
            </a:r>
            <a:endParaRPr lang="en-US" altLang="zh-CN" sz="3400" b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576" y="692696"/>
            <a:ext cx="7741368" cy="5760640"/>
          </a:xfrm>
        </p:spPr>
        <p:txBody>
          <a:bodyPr/>
          <a:lstStyle/>
          <a:p>
            <a:r>
              <a:rPr lang="en-US" altLang="zh-CN" sz="2400" dirty="0"/>
              <a:t>void test(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iLength</a:t>
            </a:r>
            <a:r>
              <a:rPr lang="en-US" altLang="zh-CN" sz="2400" dirty="0"/>
              <a:t>, char </a:t>
            </a:r>
            <a:r>
              <a:rPr lang="en-US" altLang="zh-CN" sz="2400" dirty="0" err="1"/>
              <a:t>iData</a:t>
            </a:r>
            <a:r>
              <a:rPr lang="en-US" altLang="zh-CN" sz="2400" dirty="0"/>
              <a:t>[ ])</a:t>
            </a:r>
            <a:br>
              <a:rPr lang="en-US" altLang="zh-CN" sz="2400" dirty="0"/>
            </a:br>
            <a:r>
              <a:rPr lang="en-US" altLang="zh-CN" sz="2400" dirty="0"/>
              <a:t>0  {</a:t>
            </a:r>
            <a:br>
              <a:rPr lang="en-US" altLang="zh-CN" sz="2400" dirty="0"/>
            </a:br>
            <a:r>
              <a:rPr lang="en-US" altLang="zh-CN" sz="2400" dirty="0"/>
              <a:t>1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x=0;</a:t>
            </a:r>
            <a:br>
              <a:rPr lang="en-US" altLang="zh-CN" sz="2400" dirty="0"/>
            </a:br>
            <a:r>
              <a:rPr lang="en-US" altLang="zh-CN" sz="2400" dirty="0"/>
              <a:t>2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y=0;</a:t>
            </a:r>
            <a:br>
              <a:rPr lang="en-US" altLang="zh-CN" sz="2400" dirty="0"/>
            </a:br>
            <a:r>
              <a:rPr lang="en-US" altLang="zh-CN" sz="2400" dirty="0"/>
              <a:t>3    for(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loop=0; loop&lt;</a:t>
            </a:r>
            <a:r>
              <a:rPr lang="en-US" altLang="zh-CN" sz="2400" dirty="0" err="1"/>
              <a:t>iLength</a:t>
            </a:r>
            <a:r>
              <a:rPr lang="en-US" altLang="zh-CN" sz="2400" dirty="0"/>
              <a:t>; loop++)</a:t>
            </a:r>
            <a:br>
              <a:rPr lang="en-US" altLang="zh-CN" sz="2400" dirty="0"/>
            </a:br>
            <a:r>
              <a:rPr lang="en-US" altLang="zh-CN" sz="2400" dirty="0"/>
              <a:t>4    {</a:t>
            </a:r>
            <a:br>
              <a:rPr lang="en-US" altLang="zh-CN" sz="2400" dirty="0"/>
            </a:br>
            <a:r>
              <a:rPr lang="en-US" altLang="zh-CN" sz="2400" dirty="0"/>
              <a:t>5      if(“A”= =</a:t>
            </a:r>
            <a:r>
              <a:rPr lang="en-US" altLang="zh-CN" sz="2400" dirty="0" err="1"/>
              <a:t>iData</a:t>
            </a:r>
            <a:r>
              <a:rPr lang="en-US" altLang="zh-CN" sz="2400" dirty="0"/>
              <a:t>[loop])</a:t>
            </a:r>
            <a:br>
              <a:rPr lang="en-US" altLang="zh-CN" sz="2400" dirty="0"/>
            </a:br>
            <a:r>
              <a:rPr lang="en-US" altLang="zh-CN" sz="2400" dirty="0"/>
              <a:t>6           x++;</a:t>
            </a:r>
            <a:br>
              <a:rPr lang="en-US" altLang="zh-CN" sz="2400" dirty="0"/>
            </a:br>
            <a:r>
              <a:rPr lang="en-US" altLang="zh-CN" sz="2400" dirty="0"/>
              <a:t>7      else </a:t>
            </a:r>
            <a:br>
              <a:rPr lang="en-US" altLang="zh-CN" sz="2400" dirty="0"/>
            </a:br>
            <a:r>
              <a:rPr lang="en-US" altLang="zh-CN" sz="2400" dirty="0"/>
              <a:t>8        if(“a”= = </a:t>
            </a:r>
            <a:r>
              <a:rPr lang="en-US" altLang="zh-CN" sz="2400" dirty="0" err="1"/>
              <a:t>iData</a:t>
            </a:r>
            <a:r>
              <a:rPr lang="en-US" altLang="zh-CN" sz="2400" dirty="0"/>
              <a:t>[loop])</a:t>
            </a:r>
            <a:br>
              <a:rPr lang="en-US" altLang="zh-CN" sz="2400" dirty="0"/>
            </a:br>
            <a:r>
              <a:rPr lang="en-US" altLang="zh-CN" sz="2400" dirty="0"/>
              <a:t>9           x++;</a:t>
            </a:r>
            <a:br>
              <a:rPr lang="en-US" altLang="zh-CN" sz="2400" dirty="0"/>
            </a:br>
            <a:r>
              <a:rPr lang="en-US" altLang="zh-CN" sz="2400" dirty="0"/>
              <a:t>10       else</a:t>
            </a:r>
            <a:br>
              <a:rPr lang="en-US" altLang="zh-CN" sz="2400" dirty="0"/>
            </a:br>
            <a:r>
              <a:rPr lang="en-US" altLang="zh-CN" sz="2400" dirty="0"/>
              <a:t>11          y++;</a:t>
            </a:r>
            <a:br>
              <a:rPr lang="en-US" altLang="zh-CN" sz="2400" dirty="0"/>
            </a:br>
            <a:r>
              <a:rPr lang="en-US" altLang="zh-CN" sz="2400" dirty="0"/>
              <a:t>12   }</a:t>
            </a:r>
            <a:br>
              <a:rPr lang="en-US" altLang="zh-CN" sz="2400" dirty="0"/>
            </a:br>
            <a:r>
              <a:rPr lang="en-US" altLang="zh-CN" sz="2400" dirty="0"/>
              <a:t>13  </a:t>
            </a:r>
            <a:r>
              <a:rPr lang="en-US" altLang="zh-CN" sz="2400" dirty="0" err="1"/>
              <a:t>printf</a:t>
            </a:r>
            <a:r>
              <a:rPr lang="zh-CN" altLang="en-US" sz="2400" dirty="0"/>
              <a:t>（</a:t>
            </a:r>
            <a:r>
              <a:rPr lang="en-US" altLang="zh-CN" sz="2400" dirty="0"/>
              <a:t>"%</a:t>
            </a:r>
            <a:r>
              <a:rPr lang="en-US" altLang="zh-CN" sz="2400" dirty="0" err="1"/>
              <a:t>d,%d</a:t>
            </a:r>
            <a:r>
              <a:rPr lang="en-US" altLang="zh-CN" sz="2400" dirty="0"/>
              <a:t>\n", x, y);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14 }</a:t>
            </a:r>
            <a:endParaRPr lang="zh-CN" altLang="en-US" sz="2400" dirty="0"/>
          </a:p>
        </p:txBody>
      </p:sp>
      <p:sp>
        <p:nvSpPr>
          <p:cNvPr id="5" name="圆角矩形标注 4"/>
          <p:cNvSpPr/>
          <p:nvPr/>
        </p:nvSpPr>
        <p:spPr bwMode="auto">
          <a:xfrm>
            <a:off x="3347864" y="4509120"/>
            <a:ext cx="936104" cy="432048"/>
          </a:xfrm>
          <a:prstGeom prst="wedgeRoundRectCallout">
            <a:avLst>
              <a:gd name="adj1" fmla="val -69335"/>
              <a:gd name="adj2" fmla="val -22157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2000" dirty="0">
                <a:latin typeface="+mn-lt"/>
              </a:rPr>
              <a:t>y++;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300192" y="3212976"/>
            <a:ext cx="2376264" cy="144016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dirty="0"/>
              <a:t>char </a:t>
            </a:r>
            <a:r>
              <a:rPr lang="en-US" altLang="zh-CN" dirty="0" err="1"/>
              <a:t>iData</a:t>
            </a:r>
            <a:r>
              <a:rPr lang="en-US" altLang="zh-CN" dirty="0"/>
              <a:t>[]=“John”</a:t>
            </a:r>
            <a:endParaRPr lang="zh-CN" altLang="en-US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/>
              <a:t>char </a:t>
            </a:r>
            <a:r>
              <a:rPr lang="en-US" altLang="zh-CN" dirty="0" err="1"/>
              <a:t>iData</a:t>
            </a:r>
            <a:r>
              <a:rPr lang="en-US" altLang="zh-CN" dirty="0"/>
              <a:t>[]=“Amy”</a:t>
            </a: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  <a:p>
            <a:r>
              <a:rPr lang="en-US" altLang="zh-CN" dirty="0"/>
              <a:t>char </a:t>
            </a:r>
            <a:r>
              <a:rPr lang="en-US" altLang="zh-CN" dirty="0" err="1"/>
              <a:t>iData</a:t>
            </a:r>
            <a:r>
              <a:rPr lang="en-US" altLang="zh-CN" dirty="0"/>
              <a:t>[]=“Anna”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143000"/>
          </a:xfrm>
        </p:spPr>
        <p:txBody>
          <a:bodyPr/>
          <a:lstStyle/>
          <a:p>
            <a:r>
              <a:rPr lang="en-US" altLang="zh-CN" sz="2800" dirty="0">
                <a:solidFill>
                  <a:schemeClr val="bg1"/>
                </a:solidFill>
                <a:latin typeface="+mn-lt"/>
              </a:rPr>
              <a:t>First Bug-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chemeClr val="bg1"/>
                </a:solidFill>
                <a:latin typeface="+mn-lt"/>
              </a:rPr>
              <a:t>1947</a:t>
            </a:r>
            <a:br>
              <a:rPr lang="en-US" altLang="zh-CN" sz="2800" dirty="0">
                <a:solidFill>
                  <a:schemeClr val="bg1"/>
                </a:solidFill>
                <a:latin typeface="+mn-lt"/>
              </a:rPr>
            </a:b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Harvard University Mark II Aiken Relay Calculator 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6322" name="Picture 2" descr="First Computer Bu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11560" y="1447800"/>
            <a:ext cx="7594591" cy="4860540"/>
          </a:xfrm>
          <a:prstGeom prst="rect">
            <a:avLst/>
          </a:prstGeom>
          <a:noFill/>
        </p:spPr>
      </p:pic>
      <p:pic>
        <p:nvPicPr>
          <p:cNvPr id="56324" name="Picture 4" descr="http://modernitamoveis.com.br/wp-content/themes/illacrimo/first-computer-bug-78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3657600"/>
            <a:ext cx="2027049" cy="2628292"/>
          </a:xfrm>
          <a:prstGeom prst="rect">
            <a:avLst/>
          </a:prstGeom>
          <a:noFill/>
        </p:spPr>
      </p:pic>
      <p:sp>
        <p:nvSpPr>
          <p:cNvPr id="6" name="矩形 5"/>
          <p:cNvSpPr/>
          <p:nvPr/>
        </p:nvSpPr>
        <p:spPr>
          <a:xfrm>
            <a:off x="3131840" y="6309320"/>
            <a:ext cx="39805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http://en.wikipedia.org/wiki/Grace_Hopper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41450"/>
            <a:ext cx="8451850" cy="4724400"/>
          </a:xfrm>
        </p:spPr>
        <p:txBody>
          <a:bodyPr/>
          <a:lstStyle/>
          <a:p>
            <a:r>
              <a:rPr lang="en-US" altLang="zh-CN" sz="3500" dirty="0">
                <a:ea typeface="宋体" panose="02010600030101010101" pitchFamily="2" charset="-122"/>
              </a:rPr>
              <a:t>Software defect definition</a:t>
            </a:r>
            <a:endParaRPr lang="en-US" altLang="zh-CN" sz="3500" dirty="0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ea typeface="宋体" panose="02010600030101010101" pitchFamily="2" charset="-122"/>
              </a:rPr>
              <a:t>All kinds of software problems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ea typeface="宋体" panose="02010600030101010101" pitchFamily="2" charset="-122"/>
              </a:rPr>
              <a:t>Exist in code,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data </a:t>
            </a:r>
            <a:r>
              <a:rPr lang="en-US" altLang="zh-CN" dirty="0">
                <a:ea typeface="宋体" panose="02010600030101010101" pitchFamily="2" charset="-122"/>
              </a:rPr>
              <a:t>and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documents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ea typeface="宋体" panose="02010600030101010101" pitchFamily="2" charset="-122"/>
              </a:rPr>
              <a:t>Out of accord with user expectation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7772400" cy="457200"/>
          </a:xfrm>
        </p:spPr>
        <p:txBody>
          <a:bodyPr/>
          <a:lstStyle/>
          <a:p>
            <a:pPr algn="l"/>
            <a:r>
              <a:rPr lang="en-US" altLang="zh-CN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“defect”?</a:t>
            </a:r>
            <a:endParaRPr lang="en-US" altLang="zh-CN" sz="1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560185" y="1393825"/>
              <a:ext cx="1673225" cy="178498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560185" y="1393825"/>
                <a:ext cx="1673225" cy="178498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424863" cy="5257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Defect example</a:t>
            </a:r>
            <a:r>
              <a:rPr lang="zh-CN" altLang="en-US" sz="2800" dirty="0">
                <a:ea typeface="宋体" panose="02010600030101010101" pitchFamily="2" charset="-122"/>
              </a:rPr>
              <a:t>：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ea typeface="宋体" panose="02010600030101010101" pitchFamily="2" charset="-122"/>
              </a:rPr>
              <a:t>Software function cannot be executed correctly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ea typeface="宋体" panose="02010600030101010101" pitchFamily="2" charset="-122"/>
              </a:rPr>
              <a:t>Shortcoming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dirty="0">
                <a:ea typeface="宋体" panose="02010600030101010101" pitchFamily="2" charset="-122"/>
              </a:rPr>
              <a:t>running slowly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Inconsistency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Ctrl+S</a:t>
            </a:r>
            <a:r>
              <a:rPr lang="en-US" altLang="zh-CN" dirty="0">
                <a:ea typeface="宋体" panose="02010600030101010101" pitchFamily="2" charset="-122"/>
              </a:rPr>
              <a:t> can’t save all applications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ea typeface="宋体" panose="02010600030101010101" pitchFamily="2" charset="-122"/>
              </a:rPr>
              <a:t>User interface design defect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dirty="0">
                <a:ea typeface="宋体" panose="02010600030101010101" pitchFamily="2" charset="-122"/>
              </a:rPr>
              <a:t> an button should show 5 words on it, but only 3 words could be seen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7772400" cy="457200"/>
          </a:xfrm>
        </p:spPr>
        <p:txBody>
          <a:bodyPr/>
          <a:lstStyle/>
          <a:p>
            <a:pPr algn="l"/>
            <a:r>
              <a:rPr lang="en-US" altLang="zh-CN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“defect”?</a:t>
            </a:r>
            <a:endParaRPr lang="en-US" altLang="zh-CN" sz="1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39762"/>
            <a:ext cx="8229600" cy="579438"/>
          </a:xfrm>
        </p:spPr>
        <p:txBody>
          <a:bodyPr/>
          <a:lstStyle/>
          <a:p>
            <a:pPr algn="l">
              <a:defRPr/>
            </a:pPr>
            <a:r>
              <a:rPr kumimoji="0" lang="da-DK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Bug Kinds (</a:t>
            </a:r>
            <a:r>
              <a:rPr kumimoji="0" lang="da-DK" sz="18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</a:t>
            </a:r>
            <a:r>
              <a:rPr kumimoji="0" lang="da-DK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kinds of errors)</a:t>
            </a:r>
            <a:endParaRPr kumimoji="0" lang="da-DK" sz="1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414" y="1600200"/>
            <a:ext cx="7772400" cy="4530725"/>
          </a:xfrm>
        </p:spPr>
        <p:txBody>
          <a:bodyPr/>
          <a:lstStyle/>
          <a:p>
            <a:r>
              <a:rPr kumimoji="0" lang="da-DK" altLang="zh-CN" sz="2800" b="1" i="1" dirty="0"/>
              <a:t>Syntactic</a:t>
            </a:r>
            <a:r>
              <a:rPr kumimoji="0" lang="da-DK" altLang="zh-CN" sz="2800" dirty="0"/>
              <a:t> errors:</a:t>
            </a:r>
            <a:endParaRPr kumimoji="0" lang="da-DK" altLang="zh-CN" sz="2800" dirty="0"/>
          </a:p>
          <a:p>
            <a:pPr lvl="2"/>
            <a:r>
              <a:rPr kumimoji="0" lang="da-DK" altLang="zh-CN" dirty="0"/>
              <a:t>Mal-formed program:</a:t>
            </a:r>
            <a:endParaRPr kumimoji="0" lang="da-DK" altLang="zh-CN" dirty="0"/>
          </a:p>
          <a:p>
            <a:pPr lvl="4"/>
            <a:endParaRPr kumimoji="0" lang="da-DK" altLang="zh-CN" dirty="0"/>
          </a:p>
          <a:p>
            <a:r>
              <a:rPr lang="da-DK" altLang="zh-CN" sz="2800" b="1" i="1" dirty="0"/>
              <a:t>Semantic </a:t>
            </a:r>
            <a:r>
              <a:rPr lang="da-DK" altLang="zh-CN" sz="2800" dirty="0"/>
              <a:t>errors</a:t>
            </a:r>
            <a:r>
              <a:rPr lang="da-DK" altLang="zh-CN" sz="2800" b="1" i="1" dirty="0"/>
              <a:t>:</a:t>
            </a:r>
            <a:endParaRPr lang="da-DK" altLang="zh-CN" sz="2800" b="1" i="1" dirty="0"/>
          </a:p>
          <a:p>
            <a:pPr lvl="2"/>
            <a:r>
              <a:rPr kumimoji="0" lang="da-DK" altLang="zh-CN" b="1" i="1" dirty="0"/>
              <a:t>Symbol</a:t>
            </a:r>
            <a:r>
              <a:rPr kumimoji="0" lang="da-DK" altLang="zh-CN" dirty="0"/>
              <a:t> errors</a:t>
            </a:r>
            <a:endParaRPr kumimoji="0" lang="da-DK" altLang="zh-CN" dirty="0"/>
          </a:p>
          <a:p>
            <a:pPr lvl="2"/>
            <a:r>
              <a:rPr kumimoji="0" lang="da-DK" altLang="zh-CN" b="1" i="1" dirty="0"/>
              <a:t>Type</a:t>
            </a:r>
            <a:r>
              <a:rPr kumimoji="0" lang="da-DK" altLang="zh-CN" i="1" dirty="0"/>
              <a:t> </a:t>
            </a:r>
            <a:r>
              <a:rPr kumimoji="0" lang="da-DK" altLang="zh-CN" dirty="0"/>
              <a:t>errors</a:t>
            </a:r>
            <a:endParaRPr kumimoji="0" lang="da-DK" altLang="zh-CN" dirty="0"/>
          </a:p>
          <a:p>
            <a:pPr lvl="2"/>
            <a:r>
              <a:rPr kumimoji="0" lang="da-DK" altLang="zh-CN" i="1" dirty="0"/>
              <a:t>Other</a:t>
            </a:r>
            <a:r>
              <a:rPr kumimoji="0" lang="da-DK" altLang="zh-CN" dirty="0"/>
              <a:t> semantic errors:</a:t>
            </a:r>
            <a:br>
              <a:rPr kumimoji="0" lang="da-DK" altLang="zh-CN" dirty="0"/>
            </a:br>
            <a:r>
              <a:rPr kumimoji="0" lang="da-DK" altLang="zh-CN" dirty="0">
                <a:solidFill>
                  <a:schemeClr val="bg2"/>
                </a:solidFill>
              </a:rPr>
              <a:t>(e.g. uninitialized vars)</a:t>
            </a:r>
            <a:endParaRPr kumimoji="0" lang="da-DK" altLang="zh-CN" dirty="0">
              <a:solidFill>
                <a:schemeClr val="bg2"/>
              </a:solidFill>
            </a:endParaRPr>
          </a:p>
          <a:p>
            <a:pPr lvl="4"/>
            <a:endParaRPr kumimoji="0" lang="da-DK" altLang="zh-CN" sz="1000" dirty="0">
              <a:solidFill>
                <a:schemeClr val="bg2"/>
              </a:solidFill>
            </a:endParaRPr>
          </a:p>
          <a:p>
            <a:r>
              <a:rPr kumimoji="0" lang="da-DK" altLang="zh-CN" sz="2800" b="1" i="1" dirty="0"/>
              <a:t>Logical </a:t>
            </a:r>
            <a:r>
              <a:rPr kumimoji="0" lang="da-DK" altLang="zh-CN" sz="2800" dirty="0"/>
              <a:t>errors:</a:t>
            </a:r>
            <a:endParaRPr kumimoji="0" lang="da-DK" altLang="zh-CN" sz="2800" dirty="0"/>
          </a:p>
          <a:p>
            <a:pPr lvl="2"/>
            <a:r>
              <a:rPr kumimoji="0" lang="da-DK" altLang="zh-CN" dirty="0"/>
              <a:t>Compiler: </a:t>
            </a:r>
            <a:r>
              <a:rPr kumimoji="0" lang="da-DK" altLang="en-US" dirty="0"/>
              <a:t>”</a:t>
            </a:r>
            <a:r>
              <a:rPr kumimoji="0" lang="da-DK" altLang="zh-CN" dirty="0"/>
              <a:t>no errors</a:t>
            </a:r>
            <a:r>
              <a:rPr kumimoji="0" lang="da-DK" altLang="en-US" dirty="0"/>
              <a:t>”</a:t>
            </a:r>
            <a:endParaRPr kumimoji="0" lang="da-DK" altLang="zh-CN" dirty="0"/>
          </a:p>
        </p:txBody>
      </p:sp>
      <p:sp>
        <p:nvSpPr>
          <p:cNvPr id="264197" name="Rectangle 5"/>
          <p:cNvSpPr>
            <a:spLocks noChangeArrowheads="1"/>
          </p:cNvSpPr>
          <p:nvPr/>
        </p:nvSpPr>
        <p:spPr bwMode="auto">
          <a:xfrm>
            <a:off x="4500563" y="1484313"/>
            <a:ext cx="4464050" cy="1081087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>
              <a:defRPr/>
            </a:pP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int square(int x) {</a:t>
            </a:r>
            <a:endParaRPr lang="da-DK" b="1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  return x*x</a:t>
            </a:r>
            <a:endParaRPr lang="da-DK" b="1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da-DK" b="1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64200" name="Text Box 8"/>
          <p:cNvSpPr txBox="1">
            <a:spLocks noChangeArrowheads="1"/>
          </p:cNvSpPr>
          <p:nvPr/>
        </p:nvSpPr>
        <p:spPr bwMode="auto">
          <a:xfrm>
            <a:off x="5692775" y="2112963"/>
            <a:ext cx="335915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C0C0C0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80000"/>
              </a:lnSpc>
            </a:pPr>
            <a:r>
              <a:rPr lang="da-DK" altLang="zh-CN" sz="1600" b="1">
                <a:solidFill>
                  <a:srgbClr val="990000"/>
                </a:solidFill>
                <a:latin typeface="Courier New" panose="02070309020205020404" charset="0"/>
              </a:rPr>
              <a:t>*** syntax error at line 2</a:t>
            </a:r>
            <a:br>
              <a:rPr lang="da-DK" altLang="zh-CN" sz="1600" b="1">
                <a:solidFill>
                  <a:srgbClr val="990000"/>
                </a:solidFill>
                <a:latin typeface="Courier New" panose="02070309020205020404" charset="0"/>
              </a:rPr>
            </a:br>
            <a:r>
              <a:rPr lang="da-DK" altLang="zh-CN" sz="1600" b="1">
                <a:solidFill>
                  <a:srgbClr val="990000"/>
                </a:solidFill>
                <a:latin typeface="Courier New" panose="02070309020205020404" charset="0"/>
              </a:rPr>
              <a:t>    </a:t>
            </a:r>
            <a:r>
              <a:rPr lang="da-DK" altLang="en-US" sz="1600" b="1">
                <a:solidFill>
                  <a:srgbClr val="990000"/>
                </a:solidFill>
                <a:latin typeface="Courier New" panose="02070309020205020404" charset="0"/>
              </a:rPr>
              <a:t>’</a:t>
            </a:r>
            <a:r>
              <a:rPr lang="da-DK" altLang="zh-CN" sz="1600" b="1">
                <a:solidFill>
                  <a:srgbClr val="990000"/>
                </a:solidFill>
                <a:latin typeface="Courier New" panose="02070309020205020404" charset="0"/>
              </a:rPr>
              <a:t>;</a:t>
            </a:r>
            <a:r>
              <a:rPr lang="da-DK" altLang="en-US" sz="1600" b="1">
                <a:solidFill>
                  <a:srgbClr val="990000"/>
                </a:solidFill>
                <a:latin typeface="Courier New" panose="02070309020205020404" charset="0"/>
              </a:rPr>
              <a:t>’</a:t>
            </a:r>
            <a:r>
              <a:rPr lang="da-DK" altLang="zh-CN" sz="1600" b="1">
                <a:solidFill>
                  <a:srgbClr val="990000"/>
                </a:solidFill>
                <a:latin typeface="Courier New" panose="02070309020205020404" charset="0"/>
              </a:rPr>
              <a:t> expected</a:t>
            </a:r>
            <a:endParaRPr lang="da-DK" altLang="zh-CN" sz="1600" b="1">
              <a:solidFill>
                <a:srgbClr val="990000"/>
              </a:solidFill>
              <a:latin typeface="Courier New" panose="02070309020205020404" charset="0"/>
            </a:endParaRPr>
          </a:p>
        </p:txBody>
      </p:sp>
      <p:sp>
        <p:nvSpPr>
          <p:cNvPr id="264201" name="Rectangle 9"/>
          <p:cNvSpPr>
            <a:spLocks noChangeArrowheads="1"/>
          </p:cNvSpPr>
          <p:nvPr/>
        </p:nvSpPr>
        <p:spPr bwMode="auto">
          <a:xfrm>
            <a:off x="4500563" y="2882900"/>
            <a:ext cx="4464050" cy="1106488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36000" tIns="0" rIns="36000" bIns="0" anchor="ctr"/>
          <a:lstStyle/>
          <a:p>
            <a:pPr>
              <a:defRPr/>
            </a:pP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int square(int x) {</a:t>
            </a:r>
            <a:endParaRPr lang="da-DK" b="1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  return n*n;</a:t>
            </a:r>
            <a:endParaRPr lang="da-DK" b="1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da-DK" b="1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64202" name="Text Box 10"/>
          <p:cNvSpPr txBox="1">
            <a:spLocks noChangeArrowheads="1"/>
          </p:cNvSpPr>
          <p:nvPr/>
        </p:nvSpPr>
        <p:spPr bwMode="auto">
          <a:xfrm>
            <a:off x="5651500" y="3511550"/>
            <a:ext cx="335915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C0C0C0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80000"/>
              </a:lnSpc>
            </a:pPr>
            <a:r>
              <a:rPr lang="da-DK" altLang="zh-CN" sz="1600" b="1">
                <a:solidFill>
                  <a:srgbClr val="990000"/>
                </a:solidFill>
                <a:latin typeface="Courier New" panose="02070309020205020404" charset="0"/>
              </a:rPr>
              <a:t>*** symbol error at line 2</a:t>
            </a:r>
            <a:endParaRPr lang="da-DK" altLang="zh-CN" sz="1600" b="1">
              <a:solidFill>
                <a:srgbClr val="990000"/>
              </a:solidFill>
              <a:latin typeface="Courier New" panose="02070309020205020404" charset="0"/>
            </a:endParaRPr>
          </a:p>
          <a:p>
            <a:pPr>
              <a:lnSpc>
                <a:spcPct val="80000"/>
              </a:lnSpc>
            </a:pPr>
            <a:r>
              <a:rPr lang="da-DK" altLang="zh-CN" sz="1600" b="1">
                <a:solidFill>
                  <a:srgbClr val="990000"/>
                </a:solidFill>
                <a:latin typeface="Courier New" panose="02070309020205020404" charset="0"/>
              </a:rPr>
              <a:t>    undefined variable </a:t>
            </a:r>
            <a:r>
              <a:rPr lang="da-DK" altLang="en-US" sz="1600" b="1">
                <a:solidFill>
                  <a:srgbClr val="990000"/>
                </a:solidFill>
                <a:latin typeface="Courier New" panose="02070309020205020404" charset="0"/>
              </a:rPr>
              <a:t>”</a:t>
            </a:r>
            <a:r>
              <a:rPr lang="da-DK" altLang="zh-CN" sz="1600" b="1">
                <a:solidFill>
                  <a:srgbClr val="990000"/>
                </a:solidFill>
                <a:latin typeface="Courier New" panose="02070309020205020404" charset="0"/>
              </a:rPr>
              <a:t>n</a:t>
            </a:r>
            <a:r>
              <a:rPr lang="da-DK" altLang="en-US" sz="1600" b="1">
                <a:solidFill>
                  <a:srgbClr val="990000"/>
                </a:solidFill>
                <a:latin typeface="Courier New" panose="02070309020205020404" charset="0"/>
              </a:rPr>
              <a:t>”</a:t>
            </a:r>
            <a:endParaRPr lang="da-DK" altLang="en-US" sz="1600" b="1">
              <a:solidFill>
                <a:srgbClr val="990000"/>
              </a:solidFill>
              <a:latin typeface="Courier New" panose="02070309020205020404" charset="0"/>
            </a:endParaRPr>
          </a:p>
        </p:txBody>
      </p:sp>
      <p:sp>
        <p:nvSpPr>
          <p:cNvPr id="264205" name="Rectangle 13"/>
          <p:cNvSpPr>
            <a:spLocks noChangeArrowheads="1"/>
          </p:cNvSpPr>
          <p:nvPr/>
        </p:nvSpPr>
        <p:spPr bwMode="auto">
          <a:xfrm>
            <a:off x="4500563" y="4051300"/>
            <a:ext cx="4464050" cy="1106488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36000" tIns="0" rIns="36000" bIns="0" anchor="ctr"/>
          <a:lstStyle/>
          <a:p>
            <a:pPr>
              <a:defRPr/>
            </a:pP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int square(float x) {</a:t>
            </a:r>
            <a:endParaRPr lang="da-DK" b="1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  return x*x;</a:t>
            </a:r>
            <a:endParaRPr lang="da-DK" b="1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da-DK" b="1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64206" name="Text Box 14"/>
          <p:cNvSpPr txBox="1">
            <a:spLocks noChangeArrowheads="1"/>
          </p:cNvSpPr>
          <p:nvPr/>
        </p:nvSpPr>
        <p:spPr bwMode="auto">
          <a:xfrm>
            <a:off x="4572000" y="4699000"/>
            <a:ext cx="4459288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C0C0C0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da-DK" sz="1600" b="1">
                <a:solidFill>
                  <a:srgbClr val="990000"/>
                </a:solidFill>
                <a:latin typeface="Courier New" panose="02070309020205020404" charset="0"/>
                <a:ea typeface="宋体" panose="02010600030101010101" pitchFamily="2" charset="-122"/>
              </a:rPr>
              <a:t>*** type error at line 2</a:t>
            </a:r>
            <a:endParaRPr lang="da-DK" sz="1600" b="1">
              <a:solidFill>
                <a:srgbClr val="99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defRPr/>
            </a:pPr>
            <a:r>
              <a:rPr lang="da-DK" sz="1600" b="1">
                <a:solidFill>
                  <a:srgbClr val="990000"/>
                </a:solidFill>
                <a:latin typeface="Courier New" panose="02070309020205020404" charset="0"/>
                <a:ea typeface="宋体" panose="02010600030101010101" pitchFamily="2" charset="-122"/>
              </a:rPr>
              <a:t>    function returns float, not int</a:t>
            </a:r>
            <a:endParaRPr lang="da-DK" sz="1600" b="1">
              <a:solidFill>
                <a:srgbClr val="99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64207" name="Rectangle 15"/>
          <p:cNvSpPr>
            <a:spLocks noChangeArrowheads="1"/>
          </p:cNvSpPr>
          <p:nvPr/>
        </p:nvSpPr>
        <p:spPr bwMode="auto">
          <a:xfrm>
            <a:off x="4500563" y="5373688"/>
            <a:ext cx="4464050" cy="1008062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36000" tIns="0" rIns="36000" bIns="0" anchor="ctr"/>
          <a:lstStyle/>
          <a:p>
            <a:pPr>
              <a:defRPr/>
            </a:pP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int square(int x) {</a:t>
            </a:r>
            <a:endParaRPr lang="da-DK" b="1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  return x</a:t>
            </a:r>
            <a:r>
              <a:rPr lang="da-DK" b="1">
                <a:solidFill>
                  <a:schemeClr val="hlink"/>
                </a:solidFill>
                <a:latin typeface="Courier New" panose="02070309020205020404" charset="0"/>
                <a:ea typeface="宋体" panose="02010600030101010101" pitchFamily="2" charset="-122"/>
              </a:rPr>
              <a:t>+</a:t>
            </a: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x;</a:t>
            </a:r>
            <a:endParaRPr lang="da-DK" b="1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da-DK" b="1"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da-DK" b="1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64208" name="Text Box 16"/>
          <p:cNvSpPr txBox="1">
            <a:spLocks noChangeArrowheads="1"/>
          </p:cNvSpPr>
          <p:nvPr/>
        </p:nvSpPr>
        <p:spPr bwMode="auto">
          <a:xfrm>
            <a:off x="6611938" y="6083300"/>
            <a:ext cx="23812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C0C0C0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da-DK" sz="1600" b="1">
                <a:solidFill>
                  <a:schemeClr val="hlink"/>
                </a:solidFill>
                <a:latin typeface="Courier New" panose="02070309020205020404" charset="0"/>
                <a:ea typeface="宋体" panose="02010600030101010101" pitchFamily="2" charset="-122"/>
              </a:rPr>
              <a:t>no errors found!!!</a:t>
            </a:r>
            <a:endParaRPr lang="da-DK" sz="1600" b="1">
              <a:solidFill>
                <a:schemeClr val="hlink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64211" name="Line 19"/>
          <p:cNvSpPr>
            <a:spLocks noChangeShapeType="1"/>
          </p:cNvSpPr>
          <p:nvPr/>
        </p:nvSpPr>
        <p:spPr bwMode="auto">
          <a:xfrm>
            <a:off x="179388" y="2762250"/>
            <a:ext cx="8785225" cy="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4212" name="Line 20"/>
          <p:cNvSpPr>
            <a:spLocks noChangeShapeType="1"/>
          </p:cNvSpPr>
          <p:nvPr/>
        </p:nvSpPr>
        <p:spPr bwMode="auto">
          <a:xfrm>
            <a:off x="358775" y="6629400"/>
            <a:ext cx="8785225" cy="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6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6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64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6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7" grpId="0" animBg="1"/>
      <p:bldP spid="264200" grpId="0"/>
      <p:bldP spid="264201" grpId="0" animBg="1"/>
      <p:bldP spid="264202" grpId="0"/>
      <p:bldP spid="264205" grpId="0" animBg="1"/>
      <p:bldP spid="264206" grpId="0"/>
      <p:bldP spid="264207" grpId="0" animBg="1"/>
      <p:bldP spid="26420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Software Quality Attributes</a:t>
            </a:r>
            <a:endParaRPr lang="zh-CN" altLang="en-US"/>
          </a:p>
          <a:p>
            <a:pPr lvl="1"/>
            <a:r>
              <a:rPr lang="zh-CN" altLang="en-US"/>
              <a:t>McCall (1977)</a:t>
            </a:r>
            <a:endParaRPr lang="zh-CN" altLang="en-US"/>
          </a:p>
          <a:p>
            <a:pPr lvl="1"/>
            <a:r>
              <a:rPr lang="zh-CN" altLang="en-US"/>
              <a:t>Boehm (1978)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r>
              <a:rPr lang="zh-CN" altLang="en-US" dirty="0"/>
              <a:t>McCall's Quality Model - 1977</a:t>
            </a:r>
            <a:endParaRPr lang="zh-CN" altLang="en-US" dirty="0"/>
          </a:p>
          <a:p>
            <a:pPr lvl="1"/>
            <a:r>
              <a:rPr lang="zh-CN" altLang="en-US" sz="2000" dirty="0"/>
              <a:t>Product operations (basic operational characteristics).</a:t>
            </a:r>
            <a:endParaRPr lang="zh-CN" altLang="en-US" sz="2000" dirty="0"/>
          </a:p>
          <a:p>
            <a:pPr lvl="1"/>
            <a:r>
              <a:rPr lang="zh-CN" altLang="en-US" sz="2000" dirty="0"/>
              <a:t>The product operations perspective identifies quality factors that influence the extent to which the software fulfils its specification:</a:t>
            </a:r>
            <a:endParaRPr lang="zh-CN" altLang="en-US" sz="2000" dirty="0"/>
          </a:p>
          <a:p>
            <a:pPr lvl="2"/>
            <a:r>
              <a:rPr lang="zh-CN" altLang="en-US" sz="1710" dirty="0"/>
              <a:t>Correctness, the functionality matches the specification.</a:t>
            </a:r>
            <a:endParaRPr lang="zh-CN" altLang="en-US" sz="1710" dirty="0"/>
          </a:p>
          <a:p>
            <a:pPr lvl="2"/>
            <a:r>
              <a:rPr lang="zh-CN" altLang="en-US" sz="1710" dirty="0"/>
              <a:t> Reliability, the extent to which the system fails.</a:t>
            </a:r>
            <a:endParaRPr lang="zh-CN" altLang="en-US" sz="1710" dirty="0"/>
          </a:p>
          <a:p>
            <a:pPr lvl="2"/>
            <a:r>
              <a:rPr lang="zh-CN" altLang="en-US" sz="1710" dirty="0"/>
              <a:t>Efficiency, system resource (including cpu, disk, memory, network) usage.</a:t>
            </a:r>
            <a:endParaRPr lang="zh-CN" altLang="en-US" sz="2000" dirty="0"/>
          </a:p>
          <a:p>
            <a:pPr lvl="2"/>
            <a:r>
              <a:rPr lang="zh-CN" altLang="en-US" sz="1710" dirty="0"/>
              <a:t>Integrity, </a:t>
            </a:r>
            <a:r>
              <a:rPr lang="zh-CN" altLang="en-US" sz="1710" b="1" dirty="0"/>
              <a:t>protection from unauthorized access.</a:t>
            </a:r>
            <a:endParaRPr lang="zh-CN" altLang="en-US" sz="1710" b="1" dirty="0"/>
          </a:p>
          <a:p>
            <a:pPr lvl="2"/>
            <a:r>
              <a:rPr lang="zh-CN" altLang="en-US" sz="1710" dirty="0"/>
              <a:t> Usability, ease of use.</a:t>
            </a:r>
            <a:r>
              <a:rPr lang="en-US" altLang="zh-CN" sz="1710" dirty="0"/>
              <a:t>(</a:t>
            </a:r>
            <a:r>
              <a:rPr lang="en-US" altLang="zh-CN" sz="1800" dirty="0"/>
              <a:t>Usability requirements deal with the scope of staff resources needed to train a new employee and to operate the software System)</a:t>
            </a:r>
            <a:endParaRPr lang="en-US" altLang="zh-CN" sz="1800" dirty="0"/>
          </a:p>
          <a:p>
            <a:pPr lvl="2"/>
            <a:endParaRPr lang="zh-CN" altLang="en-US" sz="1710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340768"/>
            <a:ext cx="8291264" cy="4785395"/>
          </a:xfrm>
        </p:spPr>
        <p:txBody>
          <a:bodyPr/>
          <a:lstStyle/>
          <a:p>
            <a:pPr lvl="1"/>
            <a:r>
              <a:rPr lang="zh-CN" altLang="en-US" sz="2000" dirty="0"/>
              <a:t>Product revision (ability to change).</a:t>
            </a:r>
            <a:endParaRPr lang="zh-CN" altLang="en-US" sz="2000" dirty="0"/>
          </a:p>
          <a:p>
            <a:pPr lvl="1"/>
            <a:r>
              <a:rPr lang="zh-CN" altLang="en-US" sz="2000" dirty="0"/>
              <a:t>The product revision perspective identifies quality factors that influence the ability to change the software product, these factors are:</a:t>
            </a:r>
            <a:endParaRPr lang="zh-CN" altLang="en-US" sz="2000" dirty="0"/>
          </a:p>
          <a:p>
            <a:pPr lvl="2"/>
            <a:r>
              <a:rPr lang="zh-CN" altLang="en-US" sz="1800" dirty="0"/>
              <a:t> Maintainability, the ability to find and fix a defect.</a:t>
            </a:r>
            <a:endParaRPr lang="zh-CN" altLang="en-US" sz="1800" dirty="0"/>
          </a:p>
          <a:p>
            <a:pPr lvl="2"/>
            <a:r>
              <a:rPr lang="zh-CN" altLang="en-US" sz="1800" dirty="0"/>
              <a:t> Flexibility, the ability to make changes required as dictated by the business.</a:t>
            </a:r>
            <a:endParaRPr lang="zh-CN" altLang="en-US" sz="1800" dirty="0"/>
          </a:p>
          <a:p>
            <a:pPr lvl="2"/>
            <a:r>
              <a:rPr lang="zh-CN" altLang="en-US" sz="1800" dirty="0"/>
              <a:t> Testability, the ability to Validate the software requirements.</a:t>
            </a:r>
            <a:endParaRPr lang="en-US" altLang="zh-CN" sz="1800" dirty="0"/>
          </a:p>
          <a:p>
            <a:pPr lvl="3"/>
            <a:endParaRPr lang="zh-CN" altLang="en-US" sz="14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196975"/>
            <a:ext cx="8229600" cy="4525963"/>
          </a:xfrm>
        </p:spPr>
        <p:txBody>
          <a:bodyPr/>
          <a:lstStyle/>
          <a:p>
            <a:pPr lvl="1"/>
            <a:r>
              <a:rPr lang="zh-CN" altLang="en-US" sz="2100" dirty="0"/>
              <a:t>Product transition (adaptability to new environments).</a:t>
            </a:r>
            <a:endParaRPr lang="zh-CN" altLang="en-US" sz="2100" dirty="0"/>
          </a:p>
          <a:p>
            <a:pPr lvl="1"/>
            <a:r>
              <a:rPr lang="zh-CN" altLang="en-US" sz="2100" dirty="0"/>
              <a:t>The product transition perspective identifies quality factors that influence the ability to adapt the software to new environments:-</a:t>
            </a:r>
            <a:endParaRPr lang="zh-CN" altLang="en-US" sz="2100" dirty="0"/>
          </a:p>
          <a:p>
            <a:pPr lvl="2"/>
            <a:r>
              <a:rPr lang="zh-CN" altLang="en-US" sz="1800" dirty="0"/>
              <a:t>Portability, the ability to transfer the software from one environment to another.</a:t>
            </a:r>
            <a:endParaRPr lang="zh-CN" altLang="en-US" sz="1800" dirty="0"/>
          </a:p>
          <a:p>
            <a:pPr lvl="2"/>
            <a:r>
              <a:rPr lang="zh-CN" altLang="en-US" sz="1800" dirty="0"/>
              <a:t> Reusability, the ease of using existing software components in a different context.</a:t>
            </a:r>
            <a:endParaRPr lang="zh-CN" altLang="en-US" sz="2400" dirty="0"/>
          </a:p>
          <a:p>
            <a:pPr lvl="2"/>
            <a:r>
              <a:rPr lang="zh-CN" altLang="en-US" sz="1800" dirty="0"/>
              <a:t>Interoperability, the extent, or ease, to which software components work together.</a:t>
            </a:r>
            <a:endParaRPr lang="zh-CN" altLang="en-US" sz="1800" dirty="0"/>
          </a:p>
          <a:p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64704"/>
            <a:ext cx="7416800" cy="621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zh-CN" altLang="en-US" sz="2400" dirty="0"/>
              <a:t>某软件系统的需求文档中包括规格：编程遵守公司的编码标准和指南，该需求属于哪个软件质量因素？ </a:t>
            </a:r>
            <a:endParaRPr lang="zh-CN" altLang="en-US" sz="2400" dirty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dirty="0"/>
              <a:t>A. </a:t>
            </a:r>
            <a:r>
              <a:rPr lang="zh-CN" altLang="en-US" sz="2400" dirty="0"/>
              <a:t>可维护性	 </a:t>
            </a:r>
            <a:r>
              <a:rPr lang="en-US" altLang="zh-CN" sz="2400" dirty="0"/>
              <a:t>B. </a:t>
            </a:r>
            <a:r>
              <a:rPr lang="zh-CN" altLang="en-US" sz="2400" dirty="0"/>
              <a:t>可测试性	</a:t>
            </a:r>
            <a:r>
              <a:rPr lang="en-US" altLang="zh-CN" sz="2400" dirty="0"/>
              <a:t>C. </a:t>
            </a:r>
            <a:r>
              <a:rPr lang="zh-CN" altLang="en-US" sz="2400" dirty="0"/>
              <a:t>正确性 	</a:t>
            </a:r>
            <a:r>
              <a:rPr lang="en-US" altLang="zh-CN" sz="2400" dirty="0"/>
              <a:t>D. </a:t>
            </a:r>
            <a:r>
              <a:rPr lang="zh-CN" altLang="en-US" sz="2400" dirty="0"/>
              <a:t>灵活性</a:t>
            </a:r>
            <a:endParaRPr lang="en-US" altLang="zh-CN" sz="2400" dirty="0"/>
          </a:p>
          <a:p>
            <a:pPr marL="609600" indent="-609600" eaLnBrk="1" hangingPunct="1">
              <a:lnSpc>
                <a:spcPct val="80000"/>
              </a:lnSpc>
            </a:pPr>
            <a:r>
              <a:rPr lang="zh-CN" altLang="en-US" sz="2400" dirty="0"/>
              <a:t>软件质量的主要特性中，在功能改变和扩充的情况下，软件能够正常运行的能力是哪一个？                                         </a:t>
            </a:r>
            <a:br>
              <a:rPr lang="en-US" altLang="zh-CN" sz="2400" dirty="0"/>
            </a:br>
            <a:r>
              <a:rPr lang="en-US" altLang="zh-CN" sz="2400" dirty="0"/>
              <a:t>A. </a:t>
            </a:r>
            <a:r>
              <a:rPr lang="zh-CN" altLang="en-US" sz="2400" dirty="0"/>
              <a:t>可靠性	 </a:t>
            </a:r>
            <a:r>
              <a:rPr lang="en-US" altLang="zh-CN" sz="2400" dirty="0"/>
              <a:t>B. </a:t>
            </a:r>
            <a:r>
              <a:rPr lang="zh-CN" altLang="en-US" sz="2400" dirty="0"/>
              <a:t>安全性	</a:t>
            </a:r>
            <a:r>
              <a:rPr lang="en-US" altLang="zh-CN" sz="2400" dirty="0"/>
              <a:t>C. </a:t>
            </a:r>
            <a:r>
              <a:rPr lang="zh-CN" altLang="en-US" sz="2400" dirty="0"/>
              <a:t>可扩展性 	</a:t>
            </a:r>
            <a:r>
              <a:rPr lang="en-US" altLang="zh-CN" sz="2400" dirty="0"/>
              <a:t>D. </a:t>
            </a:r>
            <a:r>
              <a:rPr lang="zh-CN" altLang="en-US" sz="2400" dirty="0"/>
              <a:t>功能性</a:t>
            </a:r>
            <a:endParaRPr lang="zh-CN" altLang="en-US" sz="2400" dirty="0"/>
          </a:p>
          <a:p>
            <a:pPr marL="609600" indent="-609600" eaLnBrk="1" hangingPunct="1">
              <a:lnSpc>
                <a:spcPct val="80000"/>
              </a:lnSpc>
            </a:pPr>
            <a:r>
              <a:rPr lang="zh-CN" altLang="en-US" sz="2400" dirty="0"/>
              <a:t>某软件系统的需求文档中包括规格：普通用户可以通过</a:t>
            </a:r>
            <a:r>
              <a:rPr lang="en-US" altLang="zh-CN" sz="2400" dirty="0"/>
              <a:t>Internet</a:t>
            </a:r>
            <a:r>
              <a:rPr lang="zh-CN" altLang="en-US" sz="2400" dirty="0"/>
              <a:t>访问</a:t>
            </a:r>
            <a:r>
              <a:rPr lang="en-US" altLang="zh-CN" sz="2400" dirty="0"/>
              <a:t>GIS</a:t>
            </a:r>
            <a:r>
              <a:rPr lang="zh-CN" altLang="en-US" sz="2400" dirty="0"/>
              <a:t>（地理信息系统）文件，但不得在所访问的地图中插入更改，该需求属于哪个软件质量因素？ </a:t>
            </a:r>
            <a:endParaRPr lang="zh-CN" altLang="en-US" sz="2400" dirty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dirty="0"/>
              <a:t>A. </a:t>
            </a:r>
            <a:r>
              <a:rPr lang="zh-CN" altLang="en-US" sz="2400" dirty="0"/>
              <a:t>可维护性	 </a:t>
            </a:r>
            <a:r>
              <a:rPr lang="en-US" altLang="zh-CN" sz="2400" dirty="0"/>
              <a:t>B. </a:t>
            </a:r>
            <a:r>
              <a:rPr lang="zh-CN" altLang="en-US" sz="2400" dirty="0"/>
              <a:t>完整性	</a:t>
            </a:r>
            <a:r>
              <a:rPr lang="en-US" altLang="zh-CN" sz="2400" dirty="0"/>
              <a:t>C. </a:t>
            </a:r>
            <a:r>
              <a:rPr lang="zh-CN" altLang="en-US" sz="2400" dirty="0"/>
              <a:t>正确性 	</a:t>
            </a:r>
            <a:r>
              <a:rPr lang="en-US" altLang="zh-CN" sz="2400" dirty="0"/>
              <a:t>D. </a:t>
            </a:r>
            <a:r>
              <a:rPr lang="zh-CN" altLang="en-US" sz="2400" dirty="0"/>
              <a:t>灵活性 </a:t>
            </a:r>
            <a:endParaRPr lang="en-US" altLang="zh-CN" sz="2400" dirty="0"/>
          </a:p>
          <a:p>
            <a:pPr marL="609600" indent="-609600" eaLnBrk="1" hangingPunct="1">
              <a:lnSpc>
                <a:spcPct val="80000"/>
              </a:lnSpc>
            </a:pPr>
            <a:r>
              <a:rPr lang="zh-CN" altLang="en-US" sz="2400" dirty="0"/>
              <a:t>某软件系统的需求文档中包括规格：系统可在稍后经过修改后适合其它的同行单位使用，该需求属于哪个软件质量因素？</a:t>
            </a:r>
            <a:endParaRPr lang="zh-CN" altLang="en-US" sz="2400" dirty="0"/>
          </a:p>
          <a:p>
            <a:pPr marL="609600" indent="-609600" eaLnBrk="1" hangingPunct="1">
              <a:lnSpc>
                <a:spcPct val="80000"/>
              </a:lnSpc>
            </a:pPr>
            <a:r>
              <a:rPr lang="zh-CN" altLang="en-US" sz="2400" dirty="0"/>
              <a:t> </a:t>
            </a:r>
            <a:r>
              <a:rPr lang="en-US" altLang="zh-CN" sz="2400" dirty="0"/>
              <a:t>A. </a:t>
            </a:r>
            <a:r>
              <a:rPr lang="zh-CN" altLang="en-US" sz="2400" dirty="0"/>
              <a:t>可靠性	 </a:t>
            </a:r>
            <a:r>
              <a:rPr lang="en-US" altLang="zh-CN" sz="2400" dirty="0"/>
              <a:t>B. </a:t>
            </a:r>
            <a:r>
              <a:rPr lang="zh-CN" altLang="en-US" sz="2400" dirty="0"/>
              <a:t>安全性	</a:t>
            </a:r>
            <a:r>
              <a:rPr lang="en-US" altLang="zh-CN" sz="2400" dirty="0"/>
              <a:t>C. </a:t>
            </a:r>
            <a:r>
              <a:rPr lang="zh-CN" altLang="en-US" sz="2400" dirty="0"/>
              <a:t>正确性	</a:t>
            </a:r>
            <a:r>
              <a:rPr lang="en-US" altLang="zh-CN" sz="2400" dirty="0"/>
              <a:t>D. </a:t>
            </a:r>
            <a:r>
              <a:rPr lang="zh-CN" altLang="en-US" sz="2400" dirty="0"/>
              <a:t>灵活性</a:t>
            </a:r>
            <a:endParaRPr lang="en-US" altLang="zh-CN" sz="2400" dirty="0"/>
          </a:p>
          <a:p>
            <a:pPr marL="609600" indent="-609600" eaLnBrk="1" hangingPunct="1">
              <a:lnSpc>
                <a:spcPct val="80000"/>
              </a:lnSpc>
            </a:pPr>
            <a:endParaRPr lang="en-US" altLang="zh-CN" sz="2000" dirty="0"/>
          </a:p>
          <a:p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2430145" y="1686560"/>
              <a:ext cx="885825" cy="57213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2430145" y="1686560"/>
                <a:ext cx="885825" cy="572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6019165" y="2710815"/>
              <a:ext cx="1234440" cy="62801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6019165" y="2710815"/>
                <a:ext cx="1234440" cy="6280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" name="墨迹 4"/>
              <p14:cNvContentPartPr/>
              <p14:nvPr/>
            </p14:nvContentPartPr>
            <p14:xfrm>
              <a:off x="4130675" y="4293235"/>
              <a:ext cx="1087755" cy="53721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6"/>
            </p:blipFill>
            <p:spPr>
              <a:xfrm>
                <a:off x="4130675" y="4293235"/>
                <a:ext cx="1087755" cy="5372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墨迹 5"/>
              <p14:cNvContentPartPr/>
              <p14:nvPr/>
            </p14:nvContentPartPr>
            <p14:xfrm>
              <a:off x="7280910" y="5303520"/>
              <a:ext cx="1268730" cy="89281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8"/>
            </p:blipFill>
            <p:spPr>
              <a:xfrm>
                <a:off x="7280910" y="5303520"/>
                <a:ext cx="1268730" cy="89281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" y="1295400"/>
            <a:ext cx="8305800" cy="2973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Font typeface="Arial" panose="020B0604020202020204" pitchFamily="34" charset="0"/>
              <a:buChar char="●"/>
            </a:pPr>
            <a:r>
              <a:rPr lang="en-GB" sz="2400" dirty="0"/>
              <a:t>Verification</a:t>
            </a:r>
            <a:r>
              <a:rPr lang="zh-CN" altLang="en-GB" sz="2400" dirty="0">
                <a:ea typeface="宋体" panose="02010600030101010101" pitchFamily="2" charset="-122"/>
              </a:rPr>
              <a:t>（验证）</a:t>
            </a:r>
            <a:r>
              <a:rPr lang="en-GB" sz="2400" b="0" dirty="0"/>
              <a:t>:  The software should conform to its specification</a:t>
            </a:r>
            <a:endParaRPr lang="en-GB" sz="2400" b="0" dirty="0"/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</a:pPr>
            <a:r>
              <a:rPr lang="en-GB" sz="2400" b="0" dirty="0"/>
              <a:t> (Are we building the product right?)</a:t>
            </a:r>
            <a:endParaRPr lang="en-GB" sz="2400" b="0" dirty="0"/>
          </a:p>
          <a:p>
            <a:pPr marL="1143000" lvl="2" indent="-228600">
              <a:spcBef>
                <a:spcPts val="0"/>
              </a:spcBef>
              <a:buClr>
                <a:schemeClr val="hlink"/>
              </a:buClr>
            </a:pPr>
            <a:endParaRPr lang="en-GB" altLang="zh-CN" sz="2400" b="0" dirty="0">
              <a:ea typeface="宋体" panose="02010600030101010101" pitchFamily="2" charset="-122"/>
            </a:endParaRP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Font typeface="Arial" panose="020B0604020202020204" pitchFamily="34" charset="0"/>
              <a:buChar char="●"/>
            </a:pPr>
            <a:r>
              <a:rPr lang="en-GB" sz="2400" dirty="0"/>
              <a:t>Validation</a:t>
            </a:r>
            <a:r>
              <a:rPr lang="zh-CN" altLang="en-GB" sz="2400" dirty="0">
                <a:ea typeface="宋体" panose="02010600030101010101" pitchFamily="2" charset="-122"/>
              </a:rPr>
              <a:t>（确认）</a:t>
            </a:r>
            <a:r>
              <a:rPr lang="en-GB" sz="2400" b="0" dirty="0"/>
              <a:t>: The software should do what the user really requires </a:t>
            </a:r>
            <a:endParaRPr lang="en-GB" sz="2400" b="0" dirty="0"/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</a:pPr>
            <a:r>
              <a:rPr lang="en-GB" sz="2400" b="0" dirty="0"/>
              <a:t>(Are we building the right product?)</a:t>
            </a:r>
            <a:r>
              <a:rPr lang="en-US" altLang="zh-CN" sz="2400" b="0" dirty="0">
                <a:ea typeface="宋体" panose="02010600030101010101" pitchFamily="2" charset="-122"/>
              </a:rPr>
              <a:t> </a:t>
            </a:r>
            <a:endParaRPr lang="en-US" altLang="zh-CN" sz="2400" b="0" dirty="0">
              <a:ea typeface="宋体" panose="02010600030101010101" pitchFamily="2" charset="-122"/>
            </a:endParaRPr>
          </a:p>
        </p:txBody>
      </p:sp>
      <p:sp>
        <p:nvSpPr>
          <p:cNvPr id="3" name="Text Box 23"/>
          <p:cNvSpPr txBox="1">
            <a:spLocks noChangeArrowheads="1"/>
          </p:cNvSpPr>
          <p:nvPr/>
        </p:nvSpPr>
        <p:spPr bwMode="auto">
          <a:xfrm>
            <a:off x="153988" y="709613"/>
            <a:ext cx="68580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IN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Verification vs. validation</a:t>
            </a:r>
            <a:endParaRPr lang="en-US" altLang="zh-CN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18"/>
          <p:cNvGrpSpPr/>
          <p:nvPr/>
        </p:nvGrpSpPr>
        <p:grpSpPr bwMode="auto">
          <a:xfrm>
            <a:off x="1295400" y="4343400"/>
            <a:ext cx="7162800" cy="2209800"/>
            <a:chOff x="204" y="890"/>
            <a:chExt cx="5352" cy="2087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204" y="1480"/>
              <a:ext cx="1497" cy="6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/>
                <a:t>客观世界</a:t>
              </a:r>
              <a:endParaRPr lang="zh-CN" altLang="en-US"/>
            </a:p>
            <a:p>
              <a:pPr algn="ctr"/>
              <a:r>
                <a:rPr lang="zh-CN" altLang="en-US"/>
                <a:t>用户期望、需求</a:t>
              </a:r>
              <a:endParaRPr lang="zh-CN" altLang="en-US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746" y="2704"/>
              <a:ext cx="1360" cy="27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/>
                <a:t>确认</a:t>
              </a:r>
              <a:r>
                <a:rPr lang="en-US" altLang="zh-CN"/>
                <a:t>(validation)</a:t>
              </a:r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4059" y="1525"/>
              <a:ext cx="1497" cy="6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/>
                <a:t>开发出的软件产品</a:t>
              </a:r>
              <a:endParaRPr lang="zh-CN" altLang="en-US"/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4740" y="2115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1020" y="2568"/>
              <a:ext cx="3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 flipV="1">
              <a:off x="1020" y="2115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>
              <a:off x="4740" y="1253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2744" y="1253"/>
              <a:ext cx="19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2744" y="1253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2074" y="1629"/>
              <a:ext cx="1497" cy="6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 dirty="0"/>
                <a:t>软件需求</a:t>
              </a:r>
              <a:endParaRPr lang="zh-CN" altLang="en-US" dirty="0"/>
            </a:p>
            <a:p>
              <a:pPr algn="ctr"/>
              <a:r>
                <a:rPr lang="zh-CN" altLang="en-US" dirty="0"/>
                <a:t>规格说明书</a:t>
              </a:r>
              <a:endParaRPr lang="zh-CN" altLang="en-US" dirty="0"/>
            </a:p>
          </p:txBody>
        </p:sp>
        <p:sp>
          <p:nvSpPr>
            <p:cNvPr id="15" name="Rectangle 17"/>
            <p:cNvSpPr>
              <a:spLocks noChangeArrowheads="1"/>
            </p:cNvSpPr>
            <p:nvPr/>
          </p:nvSpPr>
          <p:spPr bwMode="auto">
            <a:xfrm>
              <a:off x="3334" y="890"/>
              <a:ext cx="816" cy="27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/>
                <a:t>验证</a:t>
              </a:r>
              <a:r>
                <a:rPr lang="en-US" altLang="zh-CN"/>
                <a:t>(verification)</a:t>
              </a:r>
              <a:endParaRPr lang="en-US" altLang="zh-CN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6" name="墨迹 15"/>
              <p14:cNvContentPartPr/>
              <p14:nvPr/>
            </p14:nvContentPartPr>
            <p14:xfrm>
              <a:off x="7681595" y="3435985"/>
              <a:ext cx="1156970" cy="124142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"/>
            </p:blipFill>
            <p:spPr>
              <a:xfrm>
                <a:off x="7681595" y="3435985"/>
                <a:ext cx="1156970" cy="1241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7" name="墨迹 16"/>
              <p14:cNvContentPartPr/>
              <p14:nvPr/>
            </p14:nvContentPartPr>
            <p14:xfrm>
              <a:off x="7152640" y="1700530"/>
              <a:ext cx="1498600" cy="142938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4"/>
            </p:blipFill>
            <p:spPr>
              <a:xfrm>
                <a:off x="7152640" y="1700530"/>
                <a:ext cx="1498600" cy="1429385"/>
              </a:xfrm>
              <a:prstGeom prst="rect"/>
            </p:spPr>
          </p:pic>
        </mc:Fallback>
      </mc:AlternateContent>
      <p:sp>
        <p:nvSpPr>
          <p:cNvPr id="18" name="文本框 17"/>
          <p:cNvSpPr txBox="1"/>
          <p:nvPr/>
        </p:nvSpPr>
        <p:spPr>
          <a:xfrm>
            <a:off x="9486265" y="3205480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607" name="Text Box 23"/>
          <p:cNvSpPr txBox="1">
            <a:spLocks noChangeArrowheads="1"/>
          </p:cNvSpPr>
          <p:nvPr/>
        </p:nvSpPr>
        <p:spPr bwMode="auto">
          <a:xfrm>
            <a:off x="153988" y="709613"/>
            <a:ext cx="68580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IN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Verification vs. validation</a:t>
            </a:r>
            <a:endParaRPr lang="en-US" altLang="zh-CN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01101" y="1414463"/>
            <a:ext cx="8514299" cy="475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圆角矩形 1"/>
          <p:cNvSpPr/>
          <p:nvPr/>
        </p:nvSpPr>
        <p:spPr bwMode="auto">
          <a:xfrm>
            <a:off x="3048000" y="709613"/>
            <a:ext cx="2438400" cy="190500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1 meaning; 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2 purpose;</a:t>
            </a:r>
            <a:r>
              <a:rPr kumimoji="0" lang="en-US" altLang="zh-CN" sz="20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</a:t>
            </a:r>
            <a:endParaRPr kumimoji="0" lang="en-US" altLang="zh-CN" sz="2000" b="1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3 time; </a:t>
            </a:r>
            <a:endParaRPr kumimoji="0" lang="en-US" altLang="zh-CN" sz="2000" b="1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4 participant; </a:t>
            </a:r>
            <a:endParaRPr kumimoji="0" lang="en-US" altLang="zh-CN" sz="2000" b="1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5 activities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5867400"/>
            <a:ext cx="2895600" cy="661988"/>
          </a:xfrm>
        </p:spPr>
        <p:txBody>
          <a:bodyPr/>
          <a:lstStyle/>
          <a:p>
            <a:pPr algn="l"/>
            <a:r>
              <a:rPr lang="en-US" altLang="zh-CN" sz="1800" b="1" kern="12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Test Information Flow</a:t>
            </a:r>
            <a:endParaRPr lang="zh-CN" altLang="en-US" sz="1800" b="1" kern="1200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0898" name="图片 1" descr="屏幕快照 2014-02-19 下午10.06.21.jpg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85800" y="1524000"/>
            <a:ext cx="8158162" cy="435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761999"/>
            <a:ext cx="7905750" cy="3810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 eaLnBrk="0" hangingPunct="0"/>
            <a:r>
              <a:rPr lang="da-DK" altLang="zh-CN" sz="1800" kern="0" dirty="0">
                <a:solidFill>
                  <a:schemeClr val="bg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Testing vs. Debugging </a:t>
            </a:r>
            <a:endParaRPr lang="da-DK" altLang="zh-CN" sz="1800" kern="0" dirty="0">
              <a:solidFill>
                <a:schemeClr val="bg1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 flipV="1">
            <a:off x="4876800" y="1676400"/>
            <a:ext cx="1143000" cy="152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矩形 5"/>
          <p:cNvSpPr/>
          <p:nvPr/>
        </p:nvSpPr>
        <p:spPr bwMode="auto">
          <a:xfrm>
            <a:off x="6172200" y="1524000"/>
            <a:ext cx="1219200" cy="457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Pass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7086600" y="4038600"/>
            <a:ext cx="1905000" cy="9144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Regression Testing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586" name="Rectangle 2"/>
          <p:cNvSpPr>
            <a:spLocks noChangeArrowheads="1"/>
          </p:cNvSpPr>
          <p:nvPr/>
        </p:nvSpPr>
        <p:spPr bwMode="auto">
          <a:xfrm>
            <a:off x="1525588" y="1598613"/>
            <a:ext cx="7315200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Testing :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r>
              <a:rPr lang="en-US" altLang="zh-CN" sz="2400" dirty="0">
                <a:latin typeface="+mn-lt"/>
              </a:rPr>
              <a:t>It involves the identification of bug/defect in the software without correcting it. </a:t>
            </a:r>
            <a:endParaRPr lang="en-US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Testing is performed in the testing phase.</a:t>
            </a:r>
            <a:endParaRPr lang="en-US" altLang="zh-CN" sz="2400" dirty="0">
              <a:latin typeface="+mn-lt"/>
            </a:endParaRPr>
          </a:p>
          <a:p>
            <a:endParaRPr lang="en-US" altLang="zh-CN" sz="2400" dirty="0">
              <a:latin typeface="+mn-lt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Debugging</a:t>
            </a:r>
            <a:r>
              <a:rPr lang="en-US" altLang="zh-CN" sz="2400" dirty="0">
                <a:latin typeface="+mn-lt"/>
              </a:rPr>
              <a:t> :</a:t>
            </a:r>
            <a:endParaRPr lang="en-US" altLang="zh-CN" sz="2400" dirty="0">
              <a:latin typeface="+mn-lt"/>
            </a:endParaRPr>
          </a:p>
          <a:p>
            <a:pPr>
              <a:spcAft>
                <a:spcPts val="600"/>
              </a:spcAft>
            </a:pPr>
            <a:r>
              <a:rPr lang="en-US" altLang="zh-CN" sz="2400" dirty="0">
                <a:latin typeface="+mn-lt"/>
              </a:rPr>
              <a:t>It involves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identifying , isolating and fixing </a:t>
            </a:r>
            <a:r>
              <a:rPr lang="en-US" altLang="zh-CN" sz="2400" dirty="0">
                <a:latin typeface="+mn-lt"/>
              </a:rPr>
              <a:t>the problems/bugs . </a:t>
            </a:r>
            <a:endParaRPr lang="en-US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Debugging can be performed in the development phase while conducting Unit Testing </a:t>
            </a:r>
            <a:endParaRPr lang="en-US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or in phases while fixing the reported bugs.</a:t>
            </a:r>
            <a:endParaRPr lang="en-IN" altLang="zh-CN" sz="2200" b="0" dirty="0">
              <a:solidFill>
                <a:srgbClr val="3333CC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731607" name="Text Box 23"/>
          <p:cNvSpPr txBox="1">
            <a:spLocks noChangeArrowheads="1"/>
          </p:cNvSpPr>
          <p:nvPr/>
        </p:nvSpPr>
        <p:spPr bwMode="auto">
          <a:xfrm>
            <a:off x="153988" y="709613"/>
            <a:ext cx="68580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IN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Testing vs. debugging</a:t>
            </a:r>
            <a:endParaRPr lang="en-US" altLang="zh-CN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143000" y="1916112"/>
            <a:ext cx="7821613" cy="3360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i="1" dirty="0"/>
              <a:t>Test Case:</a:t>
            </a:r>
            <a:endParaRPr lang="en-US" altLang="zh-CN" sz="2400" i="1" dirty="0"/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To test whether a component conforms to project specification – </a:t>
            </a:r>
            <a:r>
              <a:rPr lang="en-US" altLang="zh-CN" sz="2400" dirty="0">
                <a:solidFill>
                  <a:srgbClr val="FF0000"/>
                </a:solidFill>
              </a:rPr>
              <a:t>Black Box Testing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To test whether a component conforms to development design – </a:t>
            </a:r>
            <a:r>
              <a:rPr lang="en-US" altLang="zh-CN" sz="2400" dirty="0">
                <a:solidFill>
                  <a:srgbClr val="FF0000"/>
                </a:solidFill>
              </a:rPr>
              <a:t>White Box Testing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609600"/>
            <a:ext cx="7905750" cy="5334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da-DK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White-box vs. Black-box Test</a:t>
            </a:r>
            <a:endParaRPr kumimoji="0" lang="da-DK" altLang="zh-CN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7905750" cy="533401"/>
          </a:xfrm>
        </p:spPr>
        <p:txBody>
          <a:bodyPr/>
          <a:lstStyle/>
          <a:p>
            <a:pPr algn="l"/>
            <a:r>
              <a:rPr kumimoji="0" lang="da-DK" altLang="zh-CN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White-box vs. Black-box Test </a:t>
            </a:r>
            <a:endParaRPr kumimoji="0" lang="da-DK" altLang="zh-CN" sz="1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kumimoji="0" lang="da-DK" altLang="zh-CN" sz="2000" b="1" dirty="0"/>
              <a:t>      White-box Testing:</a:t>
            </a:r>
            <a:endParaRPr kumimoji="0" lang="da-DK" altLang="zh-CN" sz="2000" b="1" dirty="0"/>
          </a:p>
          <a:p>
            <a:pPr lvl="2"/>
            <a:r>
              <a:rPr kumimoji="0" lang="da-DK" altLang="zh-CN" i="1" dirty="0">
                <a:solidFill>
                  <a:schemeClr val="bg2"/>
                </a:solidFill>
              </a:rPr>
              <a:t>structural testing</a:t>
            </a:r>
            <a:endParaRPr kumimoji="0" lang="da-DK" altLang="zh-CN" dirty="0">
              <a:solidFill>
                <a:schemeClr val="bg2"/>
              </a:solidFill>
            </a:endParaRPr>
          </a:p>
          <a:p>
            <a:pPr lvl="2"/>
            <a:r>
              <a:rPr kumimoji="0" lang="da-DK" altLang="zh-CN" i="1" dirty="0">
                <a:solidFill>
                  <a:schemeClr val="bg2"/>
                </a:solidFill>
              </a:rPr>
              <a:t>internal testing</a:t>
            </a:r>
            <a:endParaRPr kumimoji="0" lang="da-DK" altLang="zh-CN" dirty="0">
              <a:solidFill>
                <a:schemeClr val="bg2"/>
              </a:solidFill>
            </a:endParaRPr>
          </a:p>
          <a:p>
            <a:r>
              <a:rPr kumimoji="0" lang="da-DK" altLang="zh-CN" sz="2000" dirty="0"/>
              <a:t>Test focus:</a:t>
            </a:r>
            <a:endParaRPr kumimoji="0" lang="da-DK" altLang="zh-CN" sz="2000" dirty="0"/>
          </a:p>
          <a:p>
            <a:pPr lvl="2"/>
            <a:r>
              <a:rPr kumimoji="0" lang="da-DK" altLang="zh-CN" b="1" i="1" dirty="0">
                <a:solidFill>
                  <a:schemeClr val="hlink"/>
                </a:solidFill>
              </a:rPr>
              <a:t>source code </a:t>
            </a:r>
            <a:r>
              <a:rPr kumimoji="0" lang="en-US" altLang="zh-CN" b="1" i="1" dirty="0">
                <a:solidFill>
                  <a:schemeClr val="hlink"/>
                </a:solidFill>
              </a:rPr>
              <a:t>/ design</a:t>
            </a:r>
            <a:endParaRPr kumimoji="0" lang="da-DK" altLang="zh-CN" b="1" i="1" dirty="0">
              <a:solidFill>
                <a:schemeClr val="hlink"/>
              </a:solidFill>
            </a:endParaRPr>
          </a:p>
        </p:txBody>
      </p:sp>
      <p:sp>
        <p:nvSpPr>
          <p:cNvPr id="26726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3438" y="1600200"/>
            <a:ext cx="4321175" cy="4530725"/>
          </a:xfrm>
        </p:spPr>
        <p:txBody>
          <a:bodyPr/>
          <a:lstStyle/>
          <a:p>
            <a:r>
              <a:rPr kumimoji="0" lang="da-DK" altLang="zh-CN" dirty="0"/>
              <a:t>      </a:t>
            </a:r>
            <a:r>
              <a:rPr kumimoji="0" lang="da-DK" altLang="zh-CN" sz="2000" b="1" dirty="0"/>
              <a:t>Black-box Testing:</a:t>
            </a:r>
            <a:endParaRPr kumimoji="0" lang="da-DK" altLang="zh-CN" sz="2000" b="1" dirty="0"/>
          </a:p>
          <a:p>
            <a:pPr lvl="2"/>
            <a:r>
              <a:rPr kumimoji="0" lang="da-DK" altLang="zh-CN" i="1" dirty="0">
                <a:solidFill>
                  <a:schemeClr val="bg2"/>
                </a:solidFill>
              </a:rPr>
              <a:t>behavioral testing</a:t>
            </a:r>
            <a:endParaRPr kumimoji="0" lang="da-DK" altLang="zh-CN" dirty="0">
              <a:solidFill>
                <a:schemeClr val="bg2"/>
              </a:solidFill>
            </a:endParaRPr>
          </a:p>
          <a:p>
            <a:pPr lvl="2"/>
            <a:r>
              <a:rPr kumimoji="0" lang="da-DK" altLang="zh-CN" i="1" dirty="0">
                <a:solidFill>
                  <a:schemeClr val="bg2"/>
                </a:solidFill>
              </a:rPr>
              <a:t>external testing</a:t>
            </a:r>
            <a:endParaRPr kumimoji="0" lang="da-DK" altLang="zh-CN" dirty="0">
              <a:solidFill>
                <a:schemeClr val="bg2"/>
              </a:solidFill>
            </a:endParaRPr>
          </a:p>
          <a:p>
            <a:pPr lvl="2"/>
            <a:r>
              <a:rPr lang="da-DK" altLang="zh-CN" i="1" dirty="0">
                <a:solidFill>
                  <a:schemeClr val="bg2"/>
                </a:solidFill>
              </a:rPr>
              <a:t>input-ouput testing</a:t>
            </a:r>
            <a:endParaRPr lang="da-DK" altLang="zh-CN" i="1" dirty="0">
              <a:solidFill>
                <a:schemeClr val="bg2"/>
              </a:solidFill>
            </a:endParaRPr>
          </a:p>
          <a:p>
            <a:pPr lvl="4"/>
            <a:endParaRPr kumimoji="0" lang="da-DK" altLang="zh-CN" sz="700" dirty="0"/>
          </a:p>
          <a:p>
            <a:r>
              <a:rPr kumimoji="0" lang="da-DK" altLang="zh-CN" sz="2000" dirty="0"/>
              <a:t>Test focus:</a:t>
            </a:r>
            <a:endParaRPr kumimoji="0" lang="da-DK" altLang="zh-CN" sz="2000" dirty="0"/>
          </a:p>
          <a:p>
            <a:pPr lvl="2"/>
            <a:r>
              <a:rPr kumimoji="0" lang="da-DK" altLang="zh-CN" b="1" i="1" dirty="0">
                <a:solidFill>
                  <a:schemeClr val="hlink"/>
                </a:solidFill>
              </a:rPr>
              <a:t>specification</a:t>
            </a:r>
            <a:r>
              <a:rPr kumimoji="0" lang="da-DK" altLang="zh-CN" dirty="0"/>
              <a:t> </a:t>
            </a:r>
            <a:r>
              <a:rPr kumimoji="0" lang="da-DK" altLang="zh-CN" sz="1800" i="1" dirty="0">
                <a:solidFill>
                  <a:schemeClr val="bg2"/>
                </a:solidFill>
              </a:rPr>
              <a:t>(or intention)</a:t>
            </a:r>
            <a:endParaRPr kumimoji="0" lang="da-DK" altLang="zh-CN" sz="1800" dirty="0">
              <a:solidFill>
                <a:schemeClr val="bg2"/>
              </a:solidFill>
            </a:endParaRPr>
          </a:p>
        </p:txBody>
      </p:sp>
      <p:sp>
        <p:nvSpPr>
          <p:cNvPr id="267269" name="Rectangle 5"/>
          <p:cNvSpPr>
            <a:spLocks noChangeArrowheads="1"/>
          </p:cNvSpPr>
          <p:nvPr/>
        </p:nvSpPr>
        <p:spPr bwMode="auto">
          <a:xfrm>
            <a:off x="762000" y="1676400"/>
            <a:ext cx="473075" cy="35877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7271" name="Rectangle 7"/>
          <p:cNvSpPr>
            <a:spLocks noChangeArrowheads="1"/>
          </p:cNvSpPr>
          <p:nvPr/>
        </p:nvSpPr>
        <p:spPr bwMode="auto">
          <a:xfrm>
            <a:off x="5076825" y="1665288"/>
            <a:ext cx="473075" cy="358775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7276" name="Line 12"/>
          <p:cNvSpPr>
            <a:spLocks noChangeShapeType="1"/>
          </p:cNvSpPr>
          <p:nvPr/>
        </p:nvSpPr>
        <p:spPr bwMode="auto">
          <a:xfrm>
            <a:off x="4643438" y="1412875"/>
            <a:ext cx="0" cy="446405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7280" name="Text Box 16"/>
          <p:cNvSpPr txBox="1">
            <a:spLocks noChangeArrowheads="1"/>
          </p:cNvSpPr>
          <p:nvPr/>
        </p:nvSpPr>
        <p:spPr bwMode="auto">
          <a:xfrm>
            <a:off x="1951038" y="6034087"/>
            <a:ext cx="53863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C0C0C0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da-DK" sz="2800" b="1" i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Complementary Approaches!!!</a:t>
            </a:r>
            <a:endParaRPr lang="da-DK" sz="2800" b="1" i="1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48"/>
          <p:cNvGrpSpPr/>
          <p:nvPr/>
        </p:nvGrpSpPr>
        <p:grpSpPr bwMode="auto">
          <a:xfrm>
            <a:off x="1223963" y="3657601"/>
            <a:ext cx="3022600" cy="2292350"/>
            <a:chOff x="748" y="2568"/>
            <a:chExt cx="1904" cy="1089"/>
          </a:xfrm>
        </p:grpSpPr>
        <p:sp>
          <p:nvSpPr>
            <p:cNvPr id="267289" name="Rectangle 25"/>
            <p:cNvSpPr>
              <a:spLocks noChangeArrowheads="1"/>
            </p:cNvSpPr>
            <p:nvPr/>
          </p:nvSpPr>
          <p:spPr bwMode="auto">
            <a:xfrm>
              <a:off x="748" y="2568"/>
              <a:ext cx="1904" cy="108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endParaRPr lang="da-DK" b="1">
                <a:latin typeface="Courier New" panose="02070309020205020404" charset="0"/>
                <a:ea typeface="宋体" panose="02010600030101010101" pitchFamily="2" charset="-122"/>
              </a:endParaRPr>
            </a:p>
          </p:txBody>
        </p:sp>
        <p:sp>
          <p:nvSpPr>
            <p:cNvPr id="267290" name="Rectangle 26"/>
            <p:cNvSpPr>
              <a:spLocks noChangeArrowheads="1"/>
            </p:cNvSpPr>
            <p:nvPr/>
          </p:nvSpPr>
          <p:spPr bwMode="auto">
            <a:xfrm>
              <a:off x="1253" y="2614"/>
              <a:ext cx="772" cy="146"/>
            </a:xfrm>
            <a:prstGeom prst="rect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8000" tIns="0" rIns="18000" bIns="0" anchor="ctr">
              <a:spAutoFit/>
            </a:bodyPr>
            <a:lstStyle/>
            <a:p>
              <a:pPr algn="ctr">
                <a:defRPr/>
              </a:pPr>
              <a:r>
                <a:rPr lang="da-DK" sz="1400" b="1">
                  <a:latin typeface="Courier New" panose="02070309020205020404" charset="0"/>
                  <a:ea typeface="宋体" panose="02010600030101010101" pitchFamily="2" charset="-122"/>
                </a:rPr>
                <a:t>n = in();</a:t>
              </a:r>
              <a:endParaRPr lang="da-DK" sz="1400" b="1">
                <a:latin typeface="Courier New" panose="02070309020205020404" charset="0"/>
                <a:ea typeface="宋体" panose="02010600030101010101" pitchFamily="2" charset="-122"/>
              </a:endParaRPr>
            </a:p>
          </p:txBody>
        </p:sp>
        <p:sp>
          <p:nvSpPr>
            <p:cNvPr id="267291" name="Rectangle 27"/>
            <p:cNvSpPr>
              <a:spLocks noChangeArrowheads="1"/>
            </p:cNvSpPr>
            <p:nvPr/>
          </p:nvSpPr>
          <p:spPr bwMode="auto">
            <a:xfrm>
              <a:off x="836" y="3178"/>
              <a:ext cx="642" cy="146"/>
            </a:xfrm>
            <a:prstGeom prst="rect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8000" tIns="0" rIns="18000" bIns="0" anchor="ctr">
              <a:spAutoFit/>
            </a:bodyPr>
            <a:lstStyle/>
            <a:p>
              <a:pPr algn="ctr">
                <a:defRPr/>
              </a:pPr>
              <a:r>
                <a:rPr lang="da-DK" sz="1400" b="1">
                  <a:latin typeface="Courier New" panose="02070309020205020404" charset="0"/>
                  <a:ea typeface="宋体" panose="02010600030101010101" pitchFamily="2" charset="-122"/>
                </a:rPr>
                <a:t>n = n/2;</a:t>
              </a:r>
              <a:endParaRPr lang="da-DK" sz="1400" b="1">
                <a:latin typeface="Courier New" panose="02070309020205020404" charset="0"/>
                <a:ea typeface="宋体" panose="02010600030101010101" pitchFamily="2" charset="-122"/>
              </a:endParaRPr>
            </a:p>
          </p:txBody>
        </p:sp>
        <p:sp>
          <p:nvSpPr>
            <p:cNvPr id="267292" name="AutoShape 28"/>
            <p:cNvSpPr>
              <a:spLocks noChangeArrowheads="1"/>
            </p:cNvSpPr>
            <p:nvPr/>
          </p:nvSpPr>
          <p:spPr bwMode="auto">
            <a:xfrm>
              <a:off x="1168" y="2886"/>
              <a:ext cx="953" cy="203"/>
            </a:xfrm>
            <a:prstGeom prst="flowChartDecision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r>
                <a:rPr lang="da-DK" sz="1400" b="1">
                  <a:latin typeface="Courier New" panose="02070309020205020404" charset="0"/>
                  <a:ea typeface="宋体" panose="02010600030101010101" pitchFamily="2" charset="-122"/>
                </a:rPr>
                <a:t>odd(n)</a:t>
              </a:r>
              <a:endParaRPr lang="da-DK" sz="1400" b="1">
                <a:latin typeface="Courier New" panose="02070309020205020404" charset="0"/>
                <a:ea typeface="宋体" panose="02010600030101010101" pitchFamily="2" charset="-122"/>
              </a:endParaRPr>
            </a:p>
          </p:txBody>
        </p:sp>
        <p:sp>
          <p:nvSpPr>
            <p:cNvPr id="267294" name="Rectangle 30"/>
            <p:cNvSpPr>
              <a:spLocks noChangeArrowheads="1"/>
            </p:cNvSpPr>
            <p:nvPr/>
          </p:nvSpPr>
          <p:spPr bwMode="auto">
            <a:xfrm>
              <a:off x="1834" y="3175"/>
              <a:ext cx="732" cy="146"/>
            </a:xfrm>
            <a:prstGeom prst="rect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8000" tIns="0" rIns="18000" bIns="0" anchor="ctr">
              <a:spAutoFit/>
            </a:bodyPr>
            <a:lstStyle/>
            <a:p>
              <a:pPr algn="ctr">
                <a:defRPr/>
              </a:pPr>
              <a:r>
                <a:rPr lang="da-DK" sz="1400" b="1">
                  <a:latin typeface="Courier New" panose="02070309020205020404" charset="0"/>
                  <a:ea typeface="宋体" panose="02010600030101010101" pitchFamily="2" charset="-122"/>
                </a:rPr>
                <a:t>n = 3*n+1;</a:t>
              </a:r>
              <a:endParaRPr lang="da-DK" sz="1400" b="1">
                <a:latin typeface="Courier New" panose="02070309020205020404" charset="0"/>
                <a:ea typeface="宋体" panose="02010600030101010101" pitchFamily="2" charset="-122"/>
              </a:endParaRPr>
            </a:p>
          </p:txBody>
        </p:sp>
        <p:sp>
          <p:nvSpPr>
            <p:cNvPr id="267295" name="Rectangle 31"/>
            <p:cNvSpPr>
              <a:spLocks noChangeArrowheads="1"/>
            </p:cNvSpPr>
            <p:nvPr/>
          </p:nvSpPr>
          <p:spPr bwMode="auto">
            <a:xfrm>
              <a:off x="1376" y="3466"/>
              <a:ext cx="539" cy="146"/>
            </a:xfrm>
            <a:prstGeom prst="rect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8000" tIns="0" rIns="18000" bIns="0" anchor="ctr">
              <a:spAutoFit/>
            </a:bodyPr>
            <a:lstStyle/>
            <a:p>
              <a:pPr algn="ctr">
                <a:defRPr/>
              </a:pPr>
              <a:r>
                <a:rPr lang="da-DK" sz="1400" b="1">
                  <a:latin typeface="Courier New" panose="02070309020205020404" charset="0"/>
                  <a:ea typeface="宋体" panose="02010600030101010101" pitchFamily="2" charset="-122"/>
                </a:rPr>
                <a:t>out(n);</a:t>
              </a:r>
              <a:endParaRPr lang="da-DK" sz="1400" b="1">
                <a:latin typeface="Courier New" panose="02070309020205020404" charset="0"/>
                <a:ea typeface="宋体" panose="02010600030101010101" pitchFamily="2" charset="-122"/>
              </a:endParaRPr>
            </a:p>
          </p:txBody>
        </p:sp>
        <p:sp>
          <p:nvSpPr>
            <p:cNvPr id="267296" name="Line 32"/>
            <p:cNvSpPr>
              <a:spLocks noChangeShapeType="1"/>
            </p:cNvSpPr>
            <p:nvPr/>
          </p:nvSpPr>
          <p:spPr bwMode="auto">
            <a:xfrm flipH="1">
              <a:off x="1649" y="2783"/>
              <a:ext cx="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7299" name="Line 35"/>
            <p:cNvSpPr>
              <a:spLocks noChangeShapeType="1"/>
            </p:cNvSpPr>
            <p:nvPr/>
          </p:nvSpPr>
          <p:spPr bwMode="auto">
            <a:xfrm>
              <a:off x="1837" y="3067"/>
              <a:ext cx="45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7300" name="Line 36"/>
            <p:cNvSpPr>
              <a:spLocks noChangeShapeType="1"/>
            </p:cNvSpPr>
            <p:nvPr/>
          </p:nvSpPr>
          <p:spPr bwMode="auto">
            <a:xfrm>
              <a:off x="1447" y="3357"/>
              <a:ext cx="45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7301" name="Line 37"/>
            <p:cNvSpPr>
              <a:spLocks noChangeShapeType="1"/>
            </p:cNvSpPr>
            <p:nvPr/>
          </p:nvSpPr>
          <p:spPr bwMode="auto">
            <a:xfrm flipH="1">
              <a:off x="1426" y="3073"/>
              <a:ext cx="45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7302" name="Line 38"/>
            <p:cNvSpPr>
              <a:spLocks noChangeShapeType="1"/>
            </p:cNvSpPr>
            <p:nvPr/>
          </p:nvSpPr>
          <p:spPr bwMode="auto">
            <a:xfrm flipH="1">
              <a:off x="1837" y="3351"/>
              <a:ext cx="45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7307" name="Text Box 43"/>
            <p:cNvSpPr txBox="1">
              <a:spLocks noChangeArrowheads="1"/>
            </p:cNvSpPr>
            <p:nvPr/>
          </p:nvSpPr>
          <p:spPr bwMode="auto">
            <a:xfrm>
              <a:off x="1271" y="2999"/>
              <a:ext cx="1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C0C0C0"/>
                      </a:gs>
                    </a:gsLst>
                    <a:lin ang="0" scaled="1"/>
                  </a:gra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defRPr/>
              </a:pPr>
              <a:r>
                <a:rPr lang="da-DK" sz="1400" i="1">
                  <a:latin typeface="Arial" panose="020B0604020202020204" pitchFamily="34" charset="0"/>
                  <a:ea typeface="宋体" panose="02010600030101010101" pitchFamily="2" charset="-122"/>
                </a:rPr>
                <a:t>tt</a:t>
              </a:r>
              <a:endParaRPr lang="da-DK" sz="1400" i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7308" name="Text Box 44"/>
            <p:cNvSpPr txBox="1">
              <a:spLocks noChangeArrowheads="1"/>
            </p:cNvSpPr>
            <p:nvPr/>
          </p:nvSpPr>
          <p:spPr bwMode="auto">
            <a:xfrm>
              <a:off x="1852" y="3000"/>
              <a:ext cx="1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C0C0C0"/>
                      </a:gs>
                    </a:gsLst>
                    <a:lin ang="0" scaled="1"/>
                  </a:gra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defRPr/>
              </a:pPr>
              <a:r>
                <a:rPr lang="da-DK" sz="1400" i="1">
                  <a:latin typeface="Arial" panose="020B0604020202020204" pitchFamily="34" charset="0"/>
                  <a:ea typeface="宋体" panose="02010600030101010101" pitchFamily="2" charset="-122"/>
                </a:rPr>
                <a:t>ff</a:t>
              </a:r>
              <a:endParaRPr lang="da-DK" sz="1400" i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49"/>
          <p:cNvGrpSpPr/>
          <p:nvPr/>
        </p:nvGrpSpPr>
        <p:grpSpPr bwMode="auto">
          <a:xfrm>
            <a:off x="5689600" y="4076700"/>
            <a:ext cx="3024188" cy="1873250"/>
            <a:chOff x="3584" y="2568"/>
            <a:chExt cx="1905" cy="1089"/>
          </a:xfrm>
        </p:grpSpPr>
        <p:sp>
          <p:nvSpPr>
            <p:cNvPr id="267306" name="Rectangle 42"/>
            <p:cNvSpPr>
              <a:spLocks noChangeArrowheads="1"/>
            </p:cNvSpPr>
            <p:nvPr/>
          </p:nvSpPr>
          <p:spPr bwMode="auto">
            <a:xfrm>
              <a:off x="3584" y="2568"/>
              <a:ext cx="1905" cy="108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endParaRPr lang="da-DK" b="1">
                <a:latin typeface="Courier New" panose="02070309020205020404" charset="0"/>
                <a:ea typeface="宋体" panose="02010600030101010101" pitchFamily="2" charset="-122"/>
              </a:endParaRPr>
            </a:p>
          </p:txBody>
        </p:sp>
        <p:sp>
          <p:nvSpPr>
            <p:cNvPr id="267282" name="Rectangle 18"/>
            <p:cNvSpPr>
              <a:spLocks noChangeArrowheads="1"/>
            </p:cNvSpPr>
            <p:nvPr/>
          </p:nvSpPr>
          <p:spPr bwMode="auto">
            <a:xfrm>
              <a:off x="3679" y="2803"/>
              <a:ext cx="605" cy="609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endParaRPr lang="da-DK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40973" name="Picture 20" descr="Tandhjul217"/>
            <p:cNvPicPr>
              <a:picLocks noChangeAspect="1" noChangeArrowheads="1"/>
            </p:cNvPicPr>
            <p:nvPr/>
          </p:nvPicPr>
          <p:blipFill>
            <a:blip r:embed="rId1" cstate="print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639" y="2659"/>
              <a:ext cx="690" cy="7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7285" name="Text Box 21"/>
            <p:cNvSpPr txBox="1">
              <a:spLocks noChangeArrowheads="1"/>
            </p:cNvSpPr>
            <p:nvPr/>
          </p:nvSpPr>
          <p:spPr bwMode="auto">
            <a:xfrm>
              <a:off x="4384" y="2820"/>
              <a:ext cx="338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C0C0C0"/>
                      </a:gs>
                    </a:gsLst>
                    <a:lin ang="0" scaled="1"/>
                  </a:gra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da-DK" altLang="zh-CN" sz="4800"/>
                <a:t>~</a:t>
              </a:r>
              <a:endParaRPr lang="da-DK" altLang="zh-CN" sz="4800"/>
            </a:p>
          </p:txBody>
        </p:sp>
        <p:pic>
          <p:nvPicPr>
            <p:cNvPr id="40975" name="Picture 23" descr="manual_50x5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48" y="2723"/>
              <a:ext cx="660" cy="7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7288" name="Text Box 24"/>
            <p:cNvSpPr txBox="1">
              <a:spLocks noChangeArrowheads="1"/>
            </p:cNvSpPr>
            <p:nvPr/>
          </p:nvSpPr>
          <p:spPr bwMode="auto">
            <a:xfrm>
              <a:off x="4440" y="2830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C0C0C0"/>
                      </a:gs>
                    </a:gsLst>
                    <a:lin ang="0" scaled="1"/>
                  </a:gra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da-DK" altLang="zh-CN" b="1"/>
                <a:t>?</a:t>
              </a:r>
              <a:endParaRPr lang="da-DK" altLang="zh-CN" b="1"/>
            </a:p>
          </p:txBody>
        </p:sp>
        <p:sp>
          <p:nvSpPr>
            <p:cNvPr id="267309" name="Text Box 45"/>
            <p:cNvSpPr txBox="1">
              <a:spLocks noChangeArrowheads="1"/>
            </p:cNvSpPr>
            <p:nvPr/>
          </p:nvSpPr>
          <p:spPr bwMode="auto">
            <a:xfrm>
              <a:off x="3696" y="3397"/>
              <a:ext cx="56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C0C0C0"/>
                      </a:gs>
                    </a:gsLst>
                    <a:lin ang="0" scaled="1"/>
                  </a:gra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defRPr/>
              </a:pPr>
              <a:r>
                <a:rPr lang="da-DK" sz="1400" b="1" i="1">
                  <a:latin typeface="Arial" panose="020B0604020202020204" pitchFamily="34" charset="0"/>
                  <a:ea typeface="宋体" panose="02010600030101010101" pitchFamily="2" charset="-122"/>
                </a:rPr>
                <a:t>program</a:t>
              </a:r>
              <a:endParaRPr lang="da-DK" sz="1400" b="1" i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7310" name="Text Box 46"/>
            <p:cNvSpPr txBox="1">
              <a:spLocks noChangeArrowheads="1"/>
            </p:cNvSpPr>
            <p:nvPr/>
          </p:nvSpPr>
          <p:spPr bwMode="auto">
            <a:xfrm>
              <a:off x="4877" y="3397"/>
              <a:ext cx="36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C0C0C0"/>
                      </a:gs>
                    </a:gsLst>
                    <a:lin ang="0" scaled="1"/>
                  </a:gra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defRPr/>
              </a:pPr>
              <a:r>
                <a:rPr lang="da-DK" sz="1400" b="1" i="1">
                  <a:latin typeface="Arial" panose="020B0604020202020204" pitchFamily="34" charset="0"/>
                  <a:ea typeface="宋体" panose="02010600030101010101" pitchFamily="2" charset="-122"/>
                </a:rPr>
                <a:t>spec</a:t>
              </a:r>
              <a:endParaRPr lang="da-DK" sz="1400" b="1" i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8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24"/>
          <p:cNvSpPr txBox="1">
            <a:spLocks noChangeArrowheads="1"/>
          </p:cNvSpPr>
          <p:nvPr/>
        </p:nvSpPr>
        <p:spPr bwMode="auto">
          <a:xfrm>
            <a:off x="153988" y="709613"/>
            <a:ext cx="68580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</a:rPr>
              <a:t>Objectives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076" name="Rectangle 25"/>
          <p:cNvSpPr>
            <a:spLocks noChangeArrowheads="1"/>
          </p:cNvSpPr>
          <p:nvPr/>
        </p:nvSpPr>
        <p:spPr bwMode="auto">
          <a:xfrm>
            <a:off x="1525588" y="1598613"/>
            <a:ext cx="7315200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 this session, you will learn: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Comparison of some concepts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Testing life cycle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Model of testing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Types of testing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3395663" y="186690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8456612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</a:rPr>
              <a:t>Testing Life Cycle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421" y="1093742"/>
            <a:ext cx="6943579" cy="552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" y="1093742"/>
            <a:ext cx="4415971" cy="164945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1259632" y="3463281"/>
            <a:ext cx="1512168" cy="7200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PDCA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4" name="圆角矩形标注 3"/>
          <p:cNvSpPr/>
          <p:nvPr/>
        </p:nvSpPr>
        <p:spPr bwMode="auto">
          <a:xfrm>
            <a:off x="7236296" y="1484783"/>
            <a:ext cx="1907704" cy="720081"/>
          </a:xfrm>
          <a:prstGeom prst="wedgeRoundRectCallout">
            <a:avLst>
              <a:gd name="adj1" fmla="val -39890"/>
              <a:gd name="adj2" fmla="val 105466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400" dirty="0"/>
              <a:t>Analysis testing requirements;</a:t>
            </a:r>
            <a:endParaRPr lang="en-US" altLang="zh-CN" sz="140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Design</a:t>
            </a:r>
            <a:r>
              <a:rPr kumimoji="0" lang="en-US" altLang="zh-CN" sz="1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test case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圆角矩形标注 8"/>
          <p:cNvSpPr/>
          <p:nvPr/>
        </p:nvSpPr>
        <p:spPr bwMode="auto">
          <a:xfrm>
            <a:off x="7120036" y="2743200"/>
            <a:ext cx="2034704" cy="720081"/>
          </a:xfrm>
          <a:prstGeom prst="wedgeRoundRectCallout">
            <a:avLst>
              <a:gd name="adj1" fmla="val -42366"/>
              <a:gd name="adj2" fmla="val 75483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400" dirty="0"/>
              <a:t>Prepare testing environment;</a:t>
            </a:r>
            <a:endParaRPr lang="en-US" altLang="zh-CN" sz="140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select</a:t>
            </a:r>
            <a:r>
              <a:rPr kumimoji="0" lang="en-US" altLang="zh-CN" sz="1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testing tools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24"/>
          <p:cNvSpPr txBox="1">
            <a:spLocks noChangeArrowheads="1"/>
          </p:cNvSpPr>
          <p:nvPr/>
        </p:nvSpPr>
        <p:spPr bwMode="auto">
          <a:xfrm>
            <a:off x="153988" y="709613"/>
            <a:ext cx="68580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</a:rPr>
              <a:t>Objectives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076" name="Rectangle 25"/>
          <p:cNvSpPr>
            <a:spLocks noChangeArrowheads="1"/>
          </p:cNvSpPr>
          <p:nvPr/>
        </p:nvSpPr>
        <p:spPr bwMode="auto">
          <a:xfrm>
            <a:off x="1525588" y="1598613"/>
            <a:ext cx="7315200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 this session, you will learn: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Comparison of some concepts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Testing life cycle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Model of testing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Types of testing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525588" y="1598613"/>
            <a:ext cx="7315200" cy="4040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7980" indent="-347980"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altLang="zh-CN" sz="28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V model</a:t>
            </a:r>
            <a:endParaRPr lang="en-US" altLang="zh-CN" sz="2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7980" indent="-347980">
              <a:spcBef>
                <a:spcPct val="20000"/>
              </a:spcBef>
              <a:buFontTx/>
              <a:buBlip>
                <a:blip r:embed="rId1"/>
              </a:buBlip>
            </a:pPr>
            <a:endParaRPr lang="en-US" altLang="zh-CN" sz="2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7980" indent="-347980"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altLang="zh-CN" sz="28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W model</a:t>
            </a:r>
            <a:endParaRPr lang="en-US" altLang="zh-CN" sz="2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7980" indent="-347980">
              <a:spcBef>
                <a:spcPct val="20000"/>
              </a:spcBef>
              <a:buFontTx/>
              <a:buBlip>
                <a:blip r:embed="rId1"/>
              </a:buBlip>
            </a:pPr>
            <a:endParaRPr lang="en-IN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8610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</a:rPr>
              <a:t>Model of testing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4493895" y="1414780"/>
              <a:ext cx="1171575" cy="157543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4493895" y="1414780"/>
                <a:ext cx="1171575" cy="15754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5302250" y="1763395"/>
              <a:ext cx="2181860" cy="143637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5302250" y="1763395"/>
                <a:ext cx="2181860" cy="143637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6858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The V Model</a:t>
            </a:r>
            <a:endParaRPr lang="en-US" altLang="zh-CN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525588" y="1598613"/>
            <a:ext cx="7389812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8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To reduce the cost of correcting defects, the defects must be detected early in the development life cycle. </a:t>
            </a:r>
            <a:endParaRPr lang="en-US" altLang="zh-CN" sz="2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8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earlier, the better.</a:t>
            </a:r>
            <a:endParaRPr lang="en-US" altLang="zh-CN" sz="2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>
              <a:spcBef>
                <a:spcPct val="20000"/>
              </a:spcBef>
            </a:pPr>
            <a:endParaRPr lang="en-IN" sz="1800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1600200" lvl="3" indent="-228600">
              <a:spcBef>
                <a:spcPct val="20000"/>
              </a:spcBef>
            </a:pPr>
            <a:endParaRPr lang="en-US" altLang="zh-CN" sz="1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6858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The V Model</a:t>
            </a:r>
            <a:endParaRPr lang="en-US" altLang="zh-CN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525588" y="1598613"/>
            <a:ext cx="7313612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V model proposes an approach to software development in which both the software development process and the software test process begin simultaneously. 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When the project starts, the development team starts the software development process and the </a:t>
            </a:r>
            <a:r>
              <a:rPr lang="en-US" altLang="zh-CN" sz="2400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testing team starts planning </a:t>
            </a: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 the test process. 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This planning is based on the documents created during the development process.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>
              <a:spcBef>
                <a:spcPct val="20000"/>
              </a:spcBef>
            </a:pPr>
            <a:endParaRPr lang="en-IN" sz="1800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1600200" lvl="3" indent="-228600">
              <a:spcBef>
                <a:spcPct val="20000"/>
              </a:spcBef>
            </a:pPr>
            <a:endParaRPr lang="en-US" altLang="zh-CN" sz="1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68580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1"/>
                </a:solidFill>
                <a:ea typeface="宋体" panose="02010600030101010101" pitchFamily="2" charset="-122"/>
              </a:rPr>
              <a:t>The V Model (Contd.)</a:t>
            </a:r>
            <a:endParaRPr lang="en-US" altLang="zh-CN" sz="20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533400" y="1595438"/>
            <a:ext cx="8610600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endParaRPr lang="en-US" altLang="zh-CN" sz="20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endParaRPr lang="en-US" altLang="zh-CN" sz="20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endParaRPr lang="en-US" altLang="zh-CN" sz="20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endParaRPr lang="en-US" altLang="zh-CN" sz="20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endParaRPr lang="en-US" altLang="zh-CN" sz="20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endParaRPr lang="en-US" altLang="zh-CN" sz="20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endParaRPr lang="en-US" altLang="zh-CN" sz="20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2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V model places the development phases such as requirements, analysis, design, and coding on one side of the V. </a:t>
            </a:r>
            <a:endParaRPr lang="en-US" altLang="zh-CN" sz="22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2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various types of testing such as unit, integration, system, and acceptance, are placed on the other side of the V.</a:t>
            </a:r>
            <a:endParaRPr lang="en-US" altLang="zh-CN" sz="22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1447800" y="1295400"/>
          <a:ext cx="6705600" cy="2771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Picture" r:id="rId2" imgW="5219700" imgH="2171700" progId="Word.Picture.8">
                  <p:embed/>
                </p:oleObj>
              </mc:Choice>
              <mc:Fallback>
                <p:oleObj name="Picture" r:id="rId2" imgW="5219700" imgH="2171700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8333" b="9650"/>
                      <a:stretch>
                        <a:fillRect/>
                      </a:stretch>
                    </p:blipFill>
                    <p:spPr bwMode="auto">
                      <a:xfrm>
                        <a:off x="1447800" y="1295400"/>
                        <a:ext cx="6705600" cy="27711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6858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1"/>
                </a:solidFill>
                <a:ea typeface="宋体" panose="02010600030101010101" pitchFamily="2" charset="-122"/>
              </a:rPr>
              <a:t>The V Model (Contd.)</a:t>
            </a:r>
            <a:endParaRPr lang="en-US" altLang="zh-CN" sz="20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1525588" y="1598613"/>
            <a:ext cx="7313612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What is the disadvantages of  the V model?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V model focuses only on </a:t>
            </a:r>
            <a:r>
              <a:rPr lang="en-US" altLang="zh-CN" sz="2400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dynamic testing </a:t>
            </a: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and does not mention the benefits and effectiveness of static testing techniques such as reviews, inspections, and static code analysis. 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6858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1"/>
                </a:solidFill>
                <a:ea typeface="宋体" panose="02010600030101010101" pitchFamily="2" charset="-122"/>
              </a:rPr>
              <a:t>The W Model</a:t>
            </a:r>
            <a:endParaRPr lang="en-US" altLang="zh-CN" sz="20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1525588" y="1598613"/>
            <a:ext cx="7313612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W model is an extension of and addresses the limitations of the V model. 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It focuses on a testing methodology where </a:t>
            </a:r>
            <a:r>
              <a:rPr lang="en-US" altLang="zh-CN" sz="2400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static testing</a:t>
            </a: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techniques are applied during the various stages of development. This results in tests being performed in parallel with the development process. 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These techniques </a:t>
            </a:r>
            <a:r>
              <a:rPr lang="en-US" altLang="zh-CN" sz="2400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are cheaper and more effective </a:t>
            </a: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than dynamic testing. 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6858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1"/>
                </a:solidFill>
                <a:ea typeface="宋体" panose="02010600030101010101" pitchFamily="2" charset="-122"/>
              </a:rPr>
              <a:t>The W Model (Contd.)</a:t>
            </a:r>
            <a:endParaRPr lang="en-US" altLang="zh-CN" sz="20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525588" y="1598613"/>
            <a:ext cx="7313612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altLang="zh-CN" sz="2000" b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following figure shows the W model of testing.</a:t>
            </a:r>
            <a:endParaRPr lang="en-US" altLang="zh-CN" sz="2000" b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4341" name="Picture 2" descr="Cycle1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181224"/>
            <a:ext cx="7010400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6858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The W Model (Contd.)</a:t>
            </a:r>
            <a:endParaRPr lang="en-US" altLang="zh-CN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1525588" y="1598613"/>
            <a:ext cx="7313612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altLang="zh-CN" sz="20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following table describes the test activities performed in each phase of the development life cycle.</a:t>
            </a:r>
            <a:endParaRPr lang="en-US" altLang="zh-CN" sz="20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CN" sz="20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20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endParaRPr lang="en-US" altLang="zh-CN" sz="20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>
              <a:spcBef>
                <a:spcPct val="20000"/>
              </a:spcBef>
            </a:pPr>
            <a:endParaRPr lang="en-IN" sz="1800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1600200" lvl="3" indent="-228600">
              <a:spcBef>
                <a:spcPct val="20000"/>
              </a:spcBef>
            </a:pPr>
            <a:endParaRPr lang="en-US" altLang="zh-CN" sz="1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383" name="Group 9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507444" y="2438400"/>
          <a:ext cx="7484155" cy="4077411"/>
        </p:xfrm>
        <a:graphic>
          <a:graphicData uri="http://schemas.openxmlformats.org/drawingml/2006/table">
            <a:tbl>
              <a:tblPr/>
              <a:tblGrid>
                <a:gridCol w="3080177"/>
                <a:gridCol w="4403978"/>
              </a:tblGrid>
              <a:tr h="614143"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Phase of the development life cycle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Test Activity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Requirements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Test the requirements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Acceptance Test Plan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8229"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High-Level Design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Test the design documents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System Test Plan  Integration Test Plan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989"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Detailed Design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Test the design documents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Unit Test Plan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191"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Coding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Unit Testing 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5839"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Integration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Integration Testing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System Testing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001"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Acceptance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83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Acceptance Testing 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6858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1"/>
                </a:solidFill>
                <a:ea typeface="宋体" panose="02010600030101010101" pitchFamily="2" charset="-122"/>
              </a:rPr>
              <a:t>The W Model</a:t>
            </a:r>
            <a:endParaRPr lang="en-US" altLang="zh-CN" sz="20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1525588" y="1598613"/>
            <a:ext cx="7313612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The W model places the test process on an equal footing with the development process. 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The W model adopts both of static testing and dynamic testing.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Recall verification &amp; validation.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24"/>
          <p:cNvSpPr txBox="1">
            <a:spLocks noChangeArrowheads="1"/>
          </p:cNvSpPr>
          <p:nvPr/>
        </p:nvSpPr>
        <p:spPr bwMode="auto">
          <a:xfrm>
            <a:off x="153988" y="709613"/>
            <a:ext cx="68580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</a:rPr>
              <a:t>Objectives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076" name="Rectangle 25"/>
          <p:cNvSpPr>
            <a:spLocks noChangeArrowheads="1"/>
          </p:cNvSpPr>
          <p:nvPr/>
        </p:nvSpPr>
        <p:spPr bwMode="auto">
          <a:xfrm>
            <a:off x="1525588" y="1598613"/>
            <a:ext cx="7315200" cy="4570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 this session, you will learn: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Comparison of some concepts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Testing life cycle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Blip>
                <a:blip r:embed="rId2"/>
              </a:buBlip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Model of testing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Types of testing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10600" cy="4525963"/>
          </a:xfrm>
        </p:spPr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Types of testing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C1:Source of test generation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C2:Life cycle phase in which testing takes place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C3:Goal of a specific testing activity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624681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lvl="1"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Types of testing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8229600" cy="2260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C1:Source of test generation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endParaRPr lang="zh-CN" altLang="en-US" sz="3200">
              <a:ea typeface="宋体" panose="02010600030101010101" pitchFamily="2" charset="-122"/>
            </a:endParaRPr>
          </a:p>
        </p:txBody>
      </p:sp>
      <p:graphicFrame>
        <p:nvGraphicFramePr>
          <p:cNvPr id="144414" name="Group 30"/>
          <p:cNvGraphicFramePr>
            <a:graphicFrameLocks noGrp="1"/>
          </p:cNvGraphicFramePr>
          <p:nvPr>
            <p:ph sz="half" idx="2"/>
            <p:custDataLst>
              <p:tags r:id="rId1"/>
            </p:custDataLst>
          </p:nvPr>
        </p:nvGraphicFramePr>
        <p:xfrm>
          <a:off x="468313" y="2276473"/>
          <a:ext cx="8229600" cy="3819526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65166"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Artifact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Technique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565166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Requirements (informal)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Black-box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565166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Code 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White-box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565166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Requirements and code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Black-box and white-box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993696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Formal model: graphical or mathematical specification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Model-based specification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565166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Component’s interface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Interface testing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624681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lvl="1"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Types of testing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8229600" cy="2260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C2:Life cycle phase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145440" name="Group 32"/>
          <p:cNvGraphicFramePr>
            <a:graphicFrameLocks noGrp="1"/>
          </p:cNvGraphicFramePr>
          <p:nvPr>
            <p:ph sz="half" idx="2"/>
            <p:custDataLst>
              <p:tags r:id="rId1"/>
            </p:custDataLst>
          </p:nvPr>
        </p:nvGraphicFramePr>
        <p:xfrm>
          <a:off x="609599" y="2343597"/>
          <a:ext cx="8062686" cy="3772116"/>
        </p:xfrm>
        <a:graphic>
          <a:graphicData uri="http://schemas.openxmlformats.org/drawingml/2006/table">
            <a:tbl>
              <a:tblPr/>
              <a:tblGrid>
                <a:gridCol w="4267201"/>
                <a:gridCol w="3795485"/>
              </a:tblGrid>
              <a:tr h="282575"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Phase 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Technique 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Coding 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Unit testing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Integration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Integration testing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System integration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System testing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Post system, pre-release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Alpha/Beta-testing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/Acceptance testing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Maintenance 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Regression testing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624681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lvl="1"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Types of testing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196975"/>
            <a:ext cx="8229600" cy="2260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C3:Goal-directed testing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146486" name="Group 54"/>
          <p:cNvGraphicFramePr>
            <a:graphicFrameLocks noGrp="1"/>
          </p:cNvGraphicFramePr>
          <p:nvPr>
            <p:ph sz="half" idx="2"/>
          </p:nvPr>
        </p:nvGraphicFramePr>
        <p:xfrm>
          <a:off x="1547812" y="1773238"/>
          <a:ext cx="6453187" cy="4703760"/>
        </p:xfrm>
        <a:graphic>
          <a:graphicData uri="http://schemas.openxmlformats.org/drawingml/2006/table">
            <a:tbl>
              <a:tblPr/>
              <a:tblGrid>
                <a:gridCol w="3081746"/>
                <a:gridCol w="3371441"/>
              </a:tblGrid>
              <a:tr h="391980"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Goal 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Technique 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91980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Advertised features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Functional 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391980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Security 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Security 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391980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Invalid inputs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Robustness 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391980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Errors in GUI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GUI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391980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Operational correctness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Operational 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391980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Reliability assessment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Reliability 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391980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System performance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Performance 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391980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Customer acceptability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Acceptance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391980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Business compatibility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Compatibility 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391980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Peripherals compatibility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Configuration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  <a:tr h="391980"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Foreign language compatibility</a:t>
                      </a:r>
                      <a:endParaRPr kumimoji="0" lang="en-US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Foreign language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623" marR="116623" marT="58311" marB="583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624681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lvl="1"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Types of testing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9"/>
          <p:cNvGrpSpPr/>
          <p:nvPr/>
        </p:nvGrpSpPr>
        <p:grpSpPr bwMode="auto">
          <a:xfrm>
            <a:off x="827088" y="1557338"/>
            <a:ext cx="6877050" cy="4872037"/>
            <a:chOff x="521" y="981"/>
            <a:chExt cx="4332" cy="3069"/>
          </a:xfrm>
        </p:grpSpPr>
        <p:sp>
          <p:nvSpPr>
            <p:cNvPr id="29704" name="Text Box 24"/>
            <p:cNvSpPr txBox="1">
              <a:spLocks noChangeArrowheads="1"/>
            </p:cNvSpPr>
            <p:nvPr/>
          </p:nvSpPr>
          <p:spPr bwMode="auto">
            <a:xfrm>
              <a:off x="4382" y="2328"/>
              <a:ext cx="471" cy="231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>
              <a:spAutoFit/>
            </a:bodyPr>
            <a:lstStyle/>
            <a:p>
              <a:pPr defTabSz="762000" eaLnBrk="0" hangingPunct="0">
                <a:spcBef>
                  <a:spcPct val="50000"/>
                </a:spcBef>
              </a:pPr>
              <a:r>
                <a:rPr lang="zh-CN" altLang="en-GB" b="1" i="0">
                  <a:solidFill>
                    <a:srgbClr val="3366FF"/>
                  </a:solidFill>
                  <a:latin typeface="Comic Sans MS" panose="030F0702030302020204" pitchFamily="66" charset="0"/>
                </a:rPr>
                <a:t>方法</a:t>
              </a:r>
              <a:endParaRPr lang="zh-CN" altLang="en-GB" b="1" i="0">
                <a:solidFill>
                  <a:srgbClr val="3366FF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" name="Group 38"/>
            <p:cNvGrpSpPr/>
            <p:nvPr/>
          </p:nvGrpSpPr>
          <p:grpSpPr bwMode="auto">
            <a:xfrm>
              <a:off x="521" y="981"/>
              <a:ext cx="3905" cy="3069"/>
              <a:chOff x="521" y="981"/>
              <a:chExt cx="3905" cy="3069"/>
            </a:xfrm>
          </p:grpSpPr>
          <p:sp>
            <p:nvSpPr>
              <p:cNvPr id="29706" name="Text Box 25"/>
              <p:cNvSpPr txBox="1">
                <a:spLocks noChangeArrowheads="1"/>
              </p:cNvSpPr>
              <p:nvPr/>
            </p:nvSpPr>
            <p:spPr bwMode="auto">
              <a:xfrm>
                <a:off x="1010" y="3800"/>
                <a:ext cx="1529" cy="25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spcBef>
                    <a:spcPct val="50000"/>
                  </a:spcBef>
                </a:pPr>
                <a:r>
                  <a:rPr lang="zh-CN" altLang="en-GB" sz="2000" b="1" i="0">
                    <a:solidFill>
                      <a:srgbClr val="3366FF"/>
                    </a:solidFill>
                    <a:latin typeface="Comic Sans MS" panose="030F0702030302020204" pitchFamily="66" charset="0"/>
                  </a:rPr>
                  <a:t>目标</a:t>
                </a:r>
                <a:r>
                  <a:rPr lang="en-GB" altLang="zh-CN" sz="2000" b="1" i="0">
                    <a:solidFill>
                      <a:srgbClr val="3366FF"/>
                    </a:solidFill>
                    <a:latin typeface="Comic Sans MS" panose="030F0702030302020204" pitchFamily="66" charset="0"/>
                  </a:rPr>
                  <a:t>/</a:t>
                </a:r>
                <a:r>
                  <a:rPr lang="zh-CN" altLang="en-GB" sz="2000" b="1" i="0">
                    <a:solidFill>
                      <a:srgbClr val="3366FF"/>
                    </a:solidFill>
                    <a:latin typeface="Comic Sans MS" panose="030F0702030302020204" pitchFamily="66" charset="0"/>
                  </a:rPr>
                  <a:t>特性</a:t>
                </a:r>
                <a:endParaRPr lang="zh-CN" altLang="en-GB" sz="2000" b="1" i="0">
                  <a:solidFill>
                    <a:srgbClr val="3366FF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07" name="Line 4"/>
              <p:cNvSpPr>
                <a:spLocks noChangeShapeType="1"/>
              </p:cNvSpPr>
              <p:nvPr/>
            </p:nvSpPr>
            <p:spPr bwMode="auto">
              <a:xfrm>
                <a:off x="2654" y="1080"/>
                <a:ext cx="0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08" name="Line 5"/>
              <p:cNvSpPr>
                <a:spLocks noChangeShapeType="1"/>
              </p:cNvSpPr>
              <p:nvPr/>
            </p:nvSpPr>
            <p:spPr bwMode="auto">
              <a:xfrm flipH="1">
                <a:off x="1280" y="2472"/>
                <a:ext cx="1374" cy="1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09" name="Line 6"/>
              <p:cNvSpPr>
                <a:spLocks noChangeShapeType="1"/>
              </p:cNvSpPr>
              <p:nvPr/>
            </p:nvSpPr>
            <p:spPr bwMode="auto">
              <a:xfrm>
                <a:off x="2661" y="2472"/>
                <a:ext cx="168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10" name="Text Box 7"/>
              <p:cNvSpPr txBox="1">
                <a:spLocks noChangeArrowheads="1"/>
              </p:cNvSpPr>
              <p:nvPr/>
            </p:nvSpPr>
            <p:spPr bwMode="auto">
              <a:xfrm>
                <a:off x="1901" y="2040"/>
                <a:ext cx="708" cy="23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spcBef>
                    <a:spcPct val="50000"/>
                  </a:spcBef>
                </a:pPr>
                <a:r>
                  <a:rPr lang="zh-CN" altLang="en-GB" b="1" i="0">
                    <a:latin typeface="Comic Sans MS" panose="030F0702030302020204" pitchFamily="66" charset="0"/>
                  </a:rPr>
                  <a:t>单元测试</a:t>
                </a:r>
                <a:endParaRPr lang="zh-CN" altLang="en-GB" b="1" i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11" name="Text Box 8"/>
              <p:cNvSpPr txBox="1">
                <a:spLocks noChangeArrowheads="1"/>
              </p:cNvSpPr>
              <p:nvPr/>
            </p:nvSpPr>
            <p:spPr bwMode="auto">
              <a:xfrm>
                <a:off x="1901" y="1466"/>
                <a:ext cx="749" cy="23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spcBef>
                    <a:spcPct val="50000"/>
                  </a:spcBef>
                </a:pPr>
                <a:r>
                  <a:rPr lang="zh-CN" altLang="en-GB" b="1" i="0">
                    <a:latin typeface="Comic Sans MS" panose="030F0702030302020204" pitchFamily="66" charset="0"/>
                  </a:rPr>
                  <a:t>系统测试</a:t>
                </a:r>
                <a:endParaRPr lang="zh-CN" altLang="en-GB" b="1" i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12" name="Text Box 9"/>
              <p:cNvSpPr txBox="1">
                <a:spLocks noChangeArrowheads="1"/>
              </p:cNvSpPr>
              <p:nvPr/>
            </p:nvSpPr>
            <p:spPr bwMode="auto">
              <a:xfrm>
                <a:off x="1923" y="1171"/>
                <a:ext cx="708" cy="23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spcBef>
                    <a:spcPct val="50000"/>
                  </a:spcBef>
                </a:pPr>
                <a:r>
                  <a:rPr lang="zh-CN" altLang="en-GB" b="1" i="0">
                    <a:latin typeface="Comic Sans MS" panose="030F0702030302020204" pitchFamily="66" charset="0"/>
                  </a:rPr>
                  <a:t>验收测试</a:t>
                </a:r>
                <a:endParaRPr lang="zh-CN" altLang="en-GB" b="1" i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13" name="Line 10"/>
              <p:cNvSpPr>
                <a:spLocks noChangeShapeType="1"/>
              </p:cNvSpPr>
              <p:nvPr/>
            </p:nvSpPr>
            <p:spPr bwMode="auto">
              <a:xfrm>
                <a:off x="2565" y="1292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14" name="Line 11"/>
              <p:cNvSpPr>
                <a:spLocks noChangeShapeType="1"/>
              </p:cNvSpPr>
              <p:nvPr/>
            </p:nvSpPr>
            <p:spPr bwMode="auto">
              <a:xfrm>
                <a:off x="2277" y="2712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15" name="Text Box 12"/>
              <p:cNvSpPr txBox="1">
                <a:spLocks noChangeArrowheads="1"/>
              </p:cNvSpPr>
              <p:nvPr/>
            </p:nvSpPr>
            <p:spPr bwMode="auto">
              <a:xfrm>
                <a:off x="1383" y="2795"/>
                <a:ext cx="709" cy="23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spcBef>
                    <a:spcPct val="50000"/>
                  </a:spcBef>
                </a:pPr>
                <a:r>
                  <a:rPr lang="zh-CN" altLang="en-GB" b="1" i="0">
                    <a:latin typeface="Comic Sans MS" panose="030F0702030302020204" pitchFamily="66" charset="0"/>
                  </a:rPr>
                  <a:t>性能测试</a:t>
                </a:r>
                <a:endParaRPr lang="zh-CN" altLang="en-GB" b="1" i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16" name="Text Box 13"/>
              <p:cNvSpPr txBox="1">
                <a:spLocks noChangeArrowheads="1"/>
              </p:cNvSpPr>
              <p:nvPr/>
            </p:nvSpPr>
            <p:spPr bwMode="auto">
              <a:xfrm>
                <a:off x="1474" y="2614"/>
                <a:ext cx="915" cy="23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spcBef>
                    <a:spcPct val="50000"/>
                  </a:spcBef>
                </a:pPr>
                <a:r>
                  <a:rPr lang="zh-CN" altLang="en-GB" b="1" i="0">
                    <a:latin typeface="Comic Sans MS" panose="030F0702030302020204" pitchFamily="66" charset="0"/>
                  </a:rPr>
                  <a:t>强壮性测试</a:t>
                </a:r>
                <a:endParaRPr lang="zh-CN" altLang="en-GB" b="1" i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17" name="Text Box 14"/>
              <p:cNvSpPr txBox="1">
                <a:spLocks noChangeArrowheads="1"/>
              </p:cNvSpPr>
              <p:nvPr/>
            </p:nvSpPr>
            <p:spPr bwMode="auto">
              <a:xfrm>
                <a:off x="1746" y="2432"/>
                <a:ext cx="703" cy="21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zh-CN" altLang="en-GB" b="1" i="0">
                    <a:latin typeface="Comic Sans MS" panose="030F0702030302020204" pitchFamily="66" charset="0"/>
                  </a:rPr>
                  <a:t>功能测试</a:t>
                </a:r>
                <a:endParaRPr lang="zh-CN" altLang="en-GB" b="1" i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18" name="Line 15"/>
              <p:cNvSpPr>
                <a:spLocks noChangeShapeType="1"/>
              </p:cNvSpPr>
              <p:nvPr/>
            </p:nvSpPr>
            <p:spPr bwMode="auto">
              <a:xfrm>
                <a:off x="2565" y="1580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19" name="Line 16"/>
              <p:cNvSpPr>
                <a:spLocks noChangeShapeType="1"/>
              </p:cNvSpPr>
              <p:nvPr/>
            </p:nvSpPr>
            <p:spPr bwMode="auto">
              <a:xfrm>
                <a:off x="2565" y="2156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20" name="Line 17"/>
              <p:cNvSpPr>
                <a:spLocks noChangeShapeType="1"/>
              </p:cNvSpPr>
              <p:nvPr/>
            </p:nvSpPr>
            <p:spPr bwMode="auto">
              <a:xfrm>
                <a:off x="1812" y="314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21" name="Line 18"/>
              <p:cNvSpPr>
                <a:spLocks noChangeShapeType="1"/>
              </p:cNvSpPr>
              <p:nvPr/>
            </p:nvSpPr>
            <p:spPr bwMode="auto">
              <a:xfrm>
                <a:off x="1337" y="36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22" name="Line 19"/>
              <p:cNvSpPr>
                <a:spLocks noChangeShapeType="1"/>
              </p:cNvSpPr>
              <p:nvPr/>
            </p:nvSpPr>
            <p:spPr bwMode="auto">
              <a:xfrm>
                <a:off x="3141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23" name="Line 20"/>
              <p:cNvSpPr>
                <a:spLocks noChangeShapeType="1"/>
              </p:cNvSpPr>
              <p:nvPr/>
            </p:nvSpPr>
            <p:spPr bwMode="auto">
              <a:xfrm>
                <a:off x="3894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24" name="Text Box 21"/>
              <p:cNvSpPr txBox="1">
                <a:spLocks noChangeArrowheads="1"/>
              </p:cNvSpPr>
              <p:nvPr/>
            </p:nvSpPr>
            <p:spPr bwMode="auto">
              <a:xfrm>
                <a:off x="2757" y="2568"/>
                <a:ext cx="798" cy="23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spcBef>
                    <a:spcPct val="50000"/>
                  </a:spcBef>
                </a:pPr>
                <a:r>
                  <a:rPr lang="zh-CN" altLang="en-GB" b="1" i="0">
                    <a:latin typeface="Comic Sans MS" panose="030F0702030302020204" pitchFamily="66" charset="0"/>
                  </a:rPr>
                  <a:t>白盒测试</a:t>
                </a:r>
                <a:endParaRPr lang="zh-CN" altLang="en-GB" b="1" i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25" name="Text Box 22"/>
              <p:cNvSpPr txBox="1">
                <a:spLocks noChangeArrowheads="1"/>
              </p:cNvSpPr>
              <p:nvPr/>
            </p:nvSpPr>
            <p:spPr bwMode="auto">
              <a:xfrm>
                <a:off x="3628" y="2568"/>
                <a:ext cx="798" cy="23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spcBef>
                    <a:spcPct val="50000"/>
                  </a:spcBef>
                </a:pPr>
                <a:r>
                  <a:rPr lang="zh-CN" altLang="en-GB" b="1" i="0">
                    <a:latin typeface="Comic Sans MS" panose="030F0702030302020204" pitchFamily="66" charset="0"/>
                  </a:rPr>
                  <a:t>黑盒测试</a:t>
                </a:r>
                <a:endParaRPr lang="zh-CN" altLang="en-GB" b="1" i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26" name="Text Box 23"/>
              <p:cNvSpPr txBox="1">
                <a:spLocks noChangeArrowheads="1"/>
              </p:cNvSpPr>
              <p:nvPr/>
            </p:nvSpPr>
            <p:spPr bwMode="auto">
              <a:xfrm>
                <a:off x="2699" y="981"/>
                <a:ext cx="1428" cy="25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spcBef>
                    <a:spcPct val="50000"/>
                  </a:spcBef>
                </a:pPr>
                <a:r>
                  <a:rPr lang="zh-CN" altLang="en-GB" sz="2000" b="1" i="0">
                    <a:solidFill>
                      <a:srgbClr val="3366FF"/>
                    </a:solidFill>
                    <a:latin typeface="Comic Sans MS" panose="030F0702030302020204" pitchFamily="66" charset="0"/>
                  </a:rPr>
                  <a:t>测试阶段或层次</a:t>
                </a:r>
                <a:endParaRPr lang="zh-CN" altLang="en-GB" sz="2000" b="1" i="0">
                  <a:solidFill>
                    <a:srgbClr val="3366FF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27" name="Line 26"/>
              <p:cNvSpPr>
                <a:spLocks noChangeShapeType="1"/>
              </p:cNvSpPr>
              <p:nvPr/>
            </p:nvSpPr>
            <p:spPr bwMode="auto">
              <a:xfrm>
                <a:off x="2075" y="29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28" name="Line 27"/>
              <p:cNvSpPr>
                <a:spLocks noChangeShapeType="1"/>
              </p:cNvSpPr>
              <p:nvPr/>
            </p:nvSpPr>
            <p:spPr bwMode="auto">
              <a:xfrm>
                <a:off x="1566" y="338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29" name="Text Box 28"/>
              <p:cNvSpPr txBox="1">
                <a:spLocks noChangeArrowheads="1"/>
              </p:cNvSpPr>
              <p:nvPr/>
            </p:nvSpPr>
            <p:spPr bwMode="auto">
              <a:xfrm>
                <a:off x="1020" y="3045"/>
                <a:ext cx="846" cy="23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spcBef>
                    <a:spcPct val="50000"/>
                  </a:spcBef>
                </a:pPr>
                <a:r>
                  <a:rPr lang="zh-CN" altLang="en-GB" b="1" i="0">
                    <a:latin typeface="Comic Sans MS" panose="030F0702030302020204" pitchFamily="66" charset="0"/>
                  </a:rPr>
                  <a:t>适用性测试</a:t>
                </a:r>
                <a:endParaRPr lang="zh-CN" altLang="en-GB" b="1" i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30" name="Text Box 29"/>
              <p:cNvSpPr txBox="1">
                <a:spLocks noChangeArrowheads="1"/>
              </p:cNvSpPr>
              <p:nvPr/>
            </p:nvSpPr>
            <p:spPr bwMode="auto">
              <a:xfrm>
                <a:off x="521" y="3498"/>
                <a:ext cx="862" cy="23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spcBef>
                    <a:spcPct val="50000"/>
                  </a:spcBef>
                </a:pPr>
                <a:r>
                  <a:rPr lang="zh-CN" altLang="en-GB" b="1" i="0">
                    <a:latin typeface="Comic Sans MS" panose="030F0702030302020204" pitchFamily="66" charset="0"/>
                  </a:rPr>
                  <a:t>可靠性测试</a:t>
                </a:r>
                <a:endParaRPr lang="zh-CN" altLang="en-GB" b="1" i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31" name="Line 30"/>
              <p:cNvSpPr>
                <a:spLocks noChangeShapeType="1"/>
              </p:cNvSpPr>
              <p:nvPr/>
            </p:nvSpPr>
            <p:spPr bwMode="auto">
              <a:xfrm>
                <a:off x="2565" y="1868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  <p:sp>
            <p:nvSpPr>
              <p:cNvPr id="29732" name="Text Box 31"/>
              <p:cNvSpPr txBox="1">
                <a:spLocks noChangeArrowheads="1"/>
              </p:cNvSpPr>
              <p:nvPr/>
            </p:nvSpPr>
            <p:spPr bwMode="auto">
              <a:xfrm>
                <a:off x="1787" y="1760"/>
                <a:ext cx="822" cy="23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 defTabSz="762000" eaLnBrk="0" hangingPunct="0">
                  <a:spcBef>
                    <a:spcPct val="50000"/>
                  </a:spcBef>
                </a:pPr>
                <a:r>
                  <a:rPr lang="zh-CN" altLang="en-US" b="1" i="0">
                    <a:latin typeface="Comic Sans MS" panose="030F0702030302020204" pitchFamily="66" charset="0"/>
                  </a:rPr>
                  <a:t>集成测试</a:t>
                </a:r>
                <a:endParaRPr lang="zh-CN" altLang="en-GB" b="1" i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33" name="Text Box 32"/>
              <p:cNvSpPr txBox="1">
                <a:spLocks noChangeArrowheads="1"/>
              </p:cNvSpPr>
              <p:nvPr/>
            </p:nvSpPr>
            <p:spPr bwMode="auto">
              <a:xfrm>
                <a:off x="771" y="3271"/>
                <a:ext cx="880" cy="23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defTabSz="762000" eaLnBrk="0" hangingPunct="0">
                  <a:spcBef>
                    <a:spcPct val="50000"/>
                  </a:spcBef>
                </a:pPr>
                <a:r>
                  <a:rPr lang="zh-CN" altLang="en-GB" b="1" i="0">
                    <a:latin typeface="Comic Sans MS" panose="030F0702030302020204" pitchFamily="66" charset="0"/>
                  </a:rPr>
                  <a:t>安全性测试</a:t>
                </a:r>
                <a:endParaRPr lang="zh-CN" altLang="en-GB" b="1" i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734" name="Line 33"/>
              <p:cNvSpPr>
                <a:spLocks noChangeShapeType="1"/>
              </p:cNvSpPr>
              <p:nvPr/>
            </p:nvSpPr>
            <p:spPr bwMode="auto">
              <a:xfrm>
                <a:off x="2421" y="2560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i="0"/>
              </a:p>
            </p:txBody>
          </p:sp>
        </p:grpSp>
      </p:grpSp>
      <p:grpSp>
        <p:nvGrpSpPr>
          <p:cNvPr id="4" name="Group 34"/>
          <p:cNvGrpSpPr/>
          <p:nvPr/>
        </p:nvGrpSpPr>
        <p:grpSpPr bwMode="auto">
          <a:xfrm>
            <a:off x="2355850" y="1828800"/>
            <a:ext cx="3892550" cy="3675063"/>
            <a:chOff x="4098" y="40"/>
            <a:chExt cx="2436" cy="2264"/>
          </a:xfrm>
        </p:grpSpPr>
        <p:sp>
          <p:nvSpPr>
            <p:cNvPr id="29702" name="Rectangle 35"/>
            <p:cNvSpPr>
              <a:spLocks noChangeArrowheads="1"/>
            </p:cNvSpPr>
            <p:nvPr/>
          </p:nvSpPr>
          <p:spPr bwMode="auto">
            <a:xfrm>
              <a:off x="5086" y="1200"/>
              <a:ext cx="288" cy="278"/>
            </a:xfrm>
            <a:prstGeom prst="rect">
              <a:avLst/>
            </a:prstGeom>
            <a:solidFill>
              <a:schemeClr val="accent2">
                <a:alpha val="38039"/>
              </a:schemeClr>
            </a:solidFill>
            <a:ln w="9525">
              <a:miter lim="800000"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 i="0"/>
            </a:p>
          </p:txBody>
        </p:sp>
        <p:sp>
          <p:nvSpPr>
            <p:cNvPr id="29703" name="AutoShape 36"/>
            <p:cNvSpPr>
              <a:spLocks noChangeArrowheads="1"/>
            </p:cNvSpPr>
            <p:nvPr/>
          </p:nvSpPr>
          <p:spPr bwMode="auto">
            <a:xfrm>
              <a:off x="4098" y="40"/>
              <a:ext cx="2436" cy="2264"/>
            </a:xfrm>
            <a:prstGeom prst="cube">
              <a:avLst>
                <a:gd name="adj" fmla="val 52032"/>
              </a:avLst>
            </a:prstGeom>
            <a:noFill/>
            <a:ln w="57150">
              <a:solidFill>
                <a:srgbClr val="808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</p:grp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153988" y="685800"/>
            <a:ext cx="624681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lvl="1"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Types of testing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525588" y="1598613"/>
            <a:ext cx="7315200" cy="4040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 this session, you learned that: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Comparison of some concepts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Testing life cycle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Model of testing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Blip>
                <a:blip r:embed="rId2"/>
              </a:buBlip>
            </a:pPr>
            <a:r>
              <a:rPr lang="en-US" altLang="zh-CN" sz="2400" b="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Types of testing</a:t>
            </a: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endParaRPr lang="en-US" altLang="zh-CN" sz="24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6600" lvl="1" indent="-274955">
              <a:spcBef>
                <a:spcPct val="20000"/>
              </a:spcBef>
              <a:buFontTx/>
              <a:buBlip>
                <a:blip r:embed="rId2"/>
              </a:buBlip>
            </a:pPr>
            <a:endParaRPr lang="en-US" altLang="zh-CN" sz="1800" b="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53988" y="709613"/>
            <a:ext cx="8610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bg1"/>
                </a:solidFill>
                <a:ea typeface="宋体" panose="02010600030101010101" pitchFamily="2" charset="-122"/>
              </a:rPr>
              <a:t>Summary</a:t>
            </a:r>
            <a:endParaRPr lang="en-US" altLang="zh-CN" sz="18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554" name="Rectangle 2"/>
          <p:cNvSpPr>
            <a:spLocks noChangeArrowheads="1"/>
          </p:cNvSpPr>
          <p:nvPr/>
        </p:nvSpPr>
        <p:spPr bwMode="auto">
          <a:xfrm>
            <a:off x="1143000" y="1219200"/>
            <a:ext cx="7315200" cy="4040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82575" indent="-282575">
              <a:lnSpc>
                <a:spcPct val="15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en-IN" altLang="zh-CN" sz="2800" b="0" dirty="0">
                <a:solidFill>
                  <a:srgbClr val="3333C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Questions:</a:t>
            </a:r>
            <a:endParaRPr lang="en-IN" altLang="zh-CN" sz="2800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50000"/>
              </a:lnSpc>
              <a:spcBef>
                <a:spcPct val="20000"/>
              </a:spcBef>
            </a:pPr>
            <a:r>
              <a:rPr lang="en-IN" altLang="zh-CN" sz="2800" b="0" dirty="0">
                <a:solidFill>
                  <a:srgbClr val="3333C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1 Testing is a subset of quality assurance or quality control?</a:t>
            </a:r>
            <a:endParaRPr lang="en-IN" altLang="zh-CN" sz="2800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50000"/>
              </a:lnSpc>
              <a:spcBef>
                <a:spcPct val="20000"/>
              </a:spcBef>
            </a:pPr>
            <a:r>
              <a:rPr lang="en-IN" altLang="zh-CN" sz="2800" b="0" dirty="0">
                <a:solidFill>
                  <a:srgbClr val="3333C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2 Testing </a:t>
            </a:r>
            <a:r>
              <a:rPr lang="en-IN" altLang="zh-CN" sz="2800" b="0">
                <a:solidFill>
                  <a:srgbClr val="3333C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life cycle </a:t>
            </a:r>
            <a:endParaRPr lang="en-IN" altLang="zh-CN" sz="2800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50000"/>
              </a:lnSpc>
              <a:spcBef>
                <a:spcPct val="20000"/>
              </a:spcBef>
            </a:pPr>
            <a:r>
              <a:rPr lang="en-IN" altLang="zh-CN" sz="2800" b="0" dirty="0">
                <a:solidFill>
                  <a:srgbClr val="3333C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3 V model and W model</a:t>
            </a:r>
            <a:endParaRPr lang="en-IN" altLang="zh-CN" sz="2800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739775" lvl="1" indent="-282575">
              <a:lnSpc>
                <a:spcPct val="150000"/>
              </a:lnSpc>
              <a:spcBef>
                <a:spcPct val="20000"/>
              </a:spcBef>
            </a:pPr>
            <a:endParaRPr lang="en-IN" altLang="zh-CN" sz="2800" b="0" dirty="0">
              <a:solidFill>
                <a:srgbClr val="3333CC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TABLE_BEAUTIFY" val="smartTable{fa08ec8f-c6b5-483e-ae9f-35c04a063574}"/>
</p:tagLst>
</file>

<file path=ppt/tags/tag3.xml><?xml version="1.0" encoding="utf-8"?>
<p:tagLst xmlns:p="http://schemas.openxmlformats.org/presentationml/2006/main">
  <p:tag name="KSO_WM_UNIT_TABLE_BEAUTIFY" val="smartTable{c9f8aea6-6949-44ad-b0b1-b27071224bf3}"/>
</p:tagLst>
</file>

<file path=ppt/tags/tag4.xml><?xml version="1.0" encoding="utf-8"?>
<p:tagLst xmlns:p="http://schemas.openxmlformats.org/presentationml/2006/main">
  <p:tag name="KSO_WM_UNIT_TABLE_BEAUTIFY" val="smartTable{806e2f26-a4d1-4716-9147-d2daff40737b}"/>
</p:tagLst>
</file>

<file path=ppt/tags/tag5.xml><?xml version="1.0" encoding="utf-8"?>
<p:tagLst xmlns:p="http://schemas.openxmlformats.org/presentationml/2006/main">
  <p:tag name="COMMONDATA" val="eyJoZGlkIjoiN2IwOWFlOGM2YmZkYmVhODljOWM2OWVmNWFhOGVlYjQifQ=="/>
  <p:tag name="commondata" val="eyJoZGlkIjoiODA5MTA2NDMzZjIxODllMWZmMzY1NzJhMzc2YzVkYTEifQ==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9304</Words>
  <Application>WPS 演示</Application>
  <PresentationFormat>全屏显示(4:3)</PresentationFormat>
  <Paragraphs>552</Paragraphs>
  <Slides>43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Tahoma</vt:lpstr>
      <vt:lpstr>Times New Roman</vt:lpstr>
      <vt:lpstr>微软雅黑</vt:lpstr>
      <vt:lpstr>Arial Unicode MS</vt:lpstr>
      <vt:lpstr>Courier New</vt:lpstr>
      <vt:lpstr>Comic Sans MS</vt:lpstr>
      <vt:lpstr>Calibri</vt:lpstr>
      <vt:lpstr>Default Design</vt:lpstr>
      <vt:lpstr>Word.Picture.8</vt:lpstr>
      <vt:lpstr>Session 2 Preliminary to Software Testing</vt:lpstr>
      <vt:lpstr>PowerPoint 演示文稿</vt:lpstr>
      <vt:lpstr>PowerPoint 演示文稿</vt:lpstr>
      <vt:lpstr>PowerPoint 演示文稿</vt:lpstr>
      <vt:lpstr>PowerPoint 演示文稿</vt:lpstr>
      <vt:lpstr>What is “defect”?</vt:lpstr>
      <vt:lpstr>PowerPoint 演示文稿</vt:lpstr>
      <vt:lpstr>First Bug- 1947 Harvard University Mark II Aiken Relay Calculator </vt:lpstr>
      <vt:lpstr>What is “defect”?</vt:lpstr>
      <vt:lpstr>What is “defect”?</vt:lpstr>
      <vt:lpstr>Bug Kinds (diff. kinds of errors)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Test Information Flow</vt:lpstr>
      <vt:lpstr>PowerPoint 演示文稿</vt:lpstr>
      <vt:lpstr>PowerPoint 演示文稿</vt:lpstr>
      <vt:lpstr>White-box vs. Black-box Test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niit limited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arjunt</dc:creator>
  <cp:lastModifiedBy>大孜</cp:lastModifiedBy>
  <cp:revision>439</cp:revision>
  <cp:lastPrinted>2017-04-28T03:40:00Z</cp:lastPrinted>
  <dcterms:created xsi:type="dcterms:W3CDTF">2006-08-22T06:17:00Z</dcterms:created>
  <dcterms:modified xsi:type="dcterms:W3CDTF">2023-10-21T04:24:55Z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D5C3168880724223BDF4E69373938ADD</vt:lpwstr>
  </property>
  <property fmtid="{D5CDD505-2E9C-101B-9397-08002B2CF9AE}" pid="3" name="KSOProductBuildVer">
    <vt:lpwstr>2052-12.1.0.15712</vt:lpwstr>
  </property>
</Properties>
</file>