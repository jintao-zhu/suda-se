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70" r:id="rId3"/>
    <p:sldId id="320" r:id="rId4"/>
    <p:sldId id="290" r:id="rId5"/>
    <p:sldId id="273" r:id="rId6"/>
    <p:sldId id="274" r:id="rId7"/>
    <p:sldId id="275" r:id="rId8"/>
    <p:sldId id="276" r:id="rId9"/>
    <p:sldId id="277" r:id="rId10"/>
    <p:sldId id="291" r:id="rId11"/>
    <p:sldId id="278" r:id="rId12"/>
    <p:sldId id="310" r:id="rId13"/>
    <p:sldId id="312" r:id="rId15"/>
    <p:sldId id="279" r:id="rId16"/>
    <p:sldId id="280" r:id="rId17"/>
    <p:sldId id="281" r:id="rId18"/>
    <p:sldId id="282" r:id="rId19"/>
    <p:sldId id="283" r:id="rId20"/>
    <p:sldId id="292" r:id="rId21"/>
    <p:sldId id="293" r:id="rId22"/>
    <p:sldId id="295" r:id="rId23"/>
    <p:sldId id="308" r:id="rId24"/>
    <p:sldId id="284" r:id="rId25"/>
    <p:sldId id="285" r:id="rId26"/>
    <p:sldId id="286" r:id="rId27"/>
    <p:sldId id="287" r:id="rId28"/>
    <p:sldId id="288" r:id="rId29"/>
    <p:sldId id="289" r:id="rId30"/>
    <p:sldId id="309" r:id="rId31"/>
    <p:sldId id="314" r:id="rId32"/>
    <p:sldId id="315" r:id="rId33"/>
    <p:sldId id="316" r:id="rId34"/>
    <p:sldId id="318" r:id="rId35"/>
    <p:sldId id="319" r:id="rId36"/>
  </p:sldIdLst>
  <p:sldSz cx="9144000" cy="6858000" type="screen4x3"/>
  <p:notesSz cx="6858000" cy="9144000"/>
  <p:custDataLst>
    <p:tags r:id="rId4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王子俊" initials="王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98" autoAdjust="0"/>
    <p:restoredTop sz="95000" autoAdjust="0"/>
  </p:normalViewPr>
  <p:slideViewPr>
    <p:cSldViewPr showGuides="1">
      <p:cViewPr varScale="1">
        <p:scale>
          <a:sx n="82" d="100"/>
          <a:sy n="82" d="100"/>
        </p:scale>
        <p:origin x="139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1" Type="http://schemas.openxmlformats.org/officeDocument/2006/relationships/tags" Target="tags/tag1.xml"/><Relationship Id="rId40" Type="http://schemas.openxmlformats.org/officeDocument/2006/relationships/commentAuthors" Target="commentAuthors.xml"/><Relationship Id="rId4" Type="http://schemas.openxmlformats.org/officeDocument/2006/relationships/slide" Target="slides/slide2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A7CE78-6E30-4438-9540-D4A4FCA7FEC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3D947A-D0E2-4F44-9DEA-02D5E93B37E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3D947A-D0E2-4F44-9DEA-02D5E93B37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E8244-DA23-47F4-B4C7-D6B998081E8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72B63-65FE-44EB-99C0-47AB06BF322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E8244-DA23-47F4-B4C7-D6B998081E8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72B63-65FE-44EB-99C0-47AB06BF322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E8244-DA23-47F4-B4C7-D6B998081E8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72B63-65FE-44EB-99C0-47AB06BF322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E8244-DA23-47F4-B4C7-D6B998081E8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72B63-65FE-44EB-99C0-47AB06BF322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E8244-DA23-47F4-B4C7-D6B998081E8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72B63-65FE-44EB-99C0-47AB06BF322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E8244-DA23-47F4-B4C7-D6B998081E8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72B63-65FE-44EB-99C0-47AB06BF322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E8244-DA23-47F4-B4C7-D6B998081E8D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72B63-65FE-44EB-99C0-47AB06BF322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E8244-DA23-47F4-B4C7-D6B998081E8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72B63-65FE-44EB-99C0-47AB06BF322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E8244-DA23-47F4-B4C7-D6B998081E8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72B63-65FE-44EB-99C0-47AB06BF322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E8244-DA23-47F4-B4C7-D6B998081E8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72B63-65FE-44EB-99C0-47AB06BF322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E8244-DA23-47F4-B4C7-D6B998081E8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72B63-65FE-44EB-99C0-47AB06BF322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CE8244-DA23-47F4-B4C7-D6B998081E8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D72B63-65FE-44EB-99C0-47AB06BF322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4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jpe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651592" y="299551"/>
            <a:ext cx="7840817" cy="6244496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>
            <a:off x="1714480" y="940418"/>
            <a:ext cx="6929486" cy="4547870"/>
          </a:xfrm>
          <a:prstGeom prst="rect">
            <a:avLst/>
          </a:prstGeom>
          <a:noFill/>
        </p:spPr>
        <p:txBody>
          <a:bodyPr wrap="square" lIns="0" tIns="0" rIns="0" bIns="40078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800" dirty="0">
                <a:solidFill>
                  <a:srgbClr val="572314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Session 10</a:t>
            </a:r>
            <a:endParaRPr lang="en-US" altLang="zh-CN" sz="3800" dirty="0">
              <a:solidFill>
                <a:srgbClr val="572314"/>
              </a:solidFill>
              <a:latin typeface="微软雅黑" panose="020B0503020204020204" pitchFamily="18" charset="-122"/>
              <a:cs typeface="微软雅黑" panose="020B0503020204020204" pitchFamily="18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3800" dirty="0">
                <a:solidFill>
                  <a:srgbClr val="572314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Black</a:t>
            </a:r>
            <a:r>
              <a:rPr lang="en-US" altLang="zh-CN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800" dirty="0">
                <a:solidFill>
                  <a:srgbClr val="572314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Box Testing (4)</a:t>
            </a:r>
            <a:endParaRPr lang="en-US" altLang="zh-CN" sz="3800" dirty="0">
              <a:solidFill>
                <a:srgbClr val="572314"/>
              </a:solidFill>
              <a:latin typeface="微软雅黑" panose="020B0503020204020204" pitchFamily="18" charset="-122"/>
              <a:cs typeface="微软雅黑" panose="020B0503020204020204" pitchFamily="18" charset="-122"/>
            </a:endParaRPr>
          </a:p>
          <a:p>
            <a:pPr>
              <a:lnSpc>
                <a:spcPts val="4295"/>
              </a:lnSpc>
            </a:pPr>
            <a:endParaRPr lang="en-US" altLang="zh-CN" sz="3800" dirty="0">
              <a:solidFill>
                <a:srgbClr val="572314"/>
              </a:solidFill>
              <a:latin typeface="微软雅黑" panose="020B0503020204020204" pitchFamily="18" charset="-122"/>
              <a:cs typeface="Times New Roman" panose="02020603050405020304" pitchFamily="18" charset="0"/>
            </a:endParaRPr>
          </a:p>
          <a:p>
            <a:pPr algn="r">
              <a:lnSpc>
                <a:spcPts val="4295"/>
              </a:lnSpc>
            </a:pPr>
            <a:r>
              <a:rPr lang="en-US" altLang="zh-CN" sz="3800" dirty="0">
                <a:solidFill>
                  <a:srgbClr val="572314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Cause Effect Graph</a:t>
            </a:r>
            <a:endParaRPr lang="en-US" altLang="zh-CN" sz="3800" dirty="0">
              <a:solidFill>
                <a:srgbClr val="572314"/>
              </a:solidFill>
              <a:latin typeface="微软雅黑" panose="020B0503020204020204" pitchFamily="18" charset="-122"/>
              <a:cs typeface="微软雅黑" panose="020B0503020204020204" pitchFamily="18" charset="-122"/>
            </a:endParaRPr>
          </a:p>
          <a:p>
            <a:pPr algn="r">
              <a:lnSpc>
                <a:spcPts val="4295"/>
              </a:lnSpc>
            </a:pPr>
            <a:endParaRPr lang="en-US" altLang="zh-CN" sz="3200" dirty="0">
              <a:solidFill>
                <a:srgbClr val="000000"/>
              </a:solidFill>
              <a:latin typeface="微软雅黑" panose="020B0503020204020204" pitchFamily="18" charset="-122"/>
              <a:cs typeface="Times New Roman" panose="02020603050405020304" pitchFamily="18" charset="0"/>
            </a:endParaRPr>
          </a:p>
          <a:p>
            <a:pPr algn="r">
              <a:lnSpc>
                <a:spcPts val="4295"/>
              </a:lnSpc>
            </a:pPr>
            <a:endParaRPr lang="en-US" altLang="zh-CN" sz="3200" dirty="0">
              <a:solidFill>
                <a:srgbClr val="000000"/>
              </a:solidFill>
              <a:latin typeface="微软雅黑" panose="020B0503020204020204" pitchFamily="18" charset="-122"/>
              <a:cs typeface="Times New Roman" panose="02020603050405020304" pitchFamily="18" charset="0"/>
            </a:endParaRPr>
          </a:p>
          <a:p>
            <a:pPr algn="r">
              <a:lnSpc>
                <a:spcPts val="4295"/>
              </a:lnSpc>
            </a:pPr>
            <a:r>
              <a:rPr lang="en-US" altLang="zh-CN" sz="3200" dirty="0">
                <a:solidFill>
                  <a:srgbClr val="000000"/>
                </a:solidFill>
                <a:latin typeface="微软雅黑" panose="020B0503020204020204" pitchFamily="18" charset="-122"/>
                <a:cs typeface="Times New Roman" panose="02020603050405020304" pitchFamily="18" charset="0"/>
              </a:rPr>
              <a:t>chengbaolei@suda.edu.cn</a:t>
            </a:r>
            <a:r>
              <a:rPr lang="en-US" altLang="zh-CN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3800" dirty="0">
              <a:solidFill>
                <a:srgbClr val="572314"/>
              </a:solidFill>
              <a:latin typeface="微软雅黑" panose="020B0503020204020204" pitchFamily="18" charset="-122"/>
              <a:cs typeface="微软雅黑" panose="020B0503020204020204" pitchFamily="18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1529187" y="328123"/>
            <a:ext cx="6952481" cy="760400"/>
          </a:xfrm>
          <a:custGeom>
            <a:avLst/>
            <a:gdLst>
              <a:gd name="connsiteX0" fmla="*/ 0 w 8130540"/>
              <a:gd name="connsiteY0" fmla="*/ 0 h 838200"/>
              <a:gd name="connsiteX1" fmla="*/ 8130539 w 8130540"/>
              <a:gd name="connsiteY1" fmla="*/ 0 h 838200"/>
              <a:gd name="connsiteX2" fmla="*/ 8130539 w 8130540"/>
              <a:gd name="connsiteY2" fmla="*/ 838200 h 838200"/>
              <a:gd name="connsiteX3" fmla="*/ 0 w 8130540"/>
              <a:gd name="connsiteY3" fmla="*/ 838200 h 838200"/>
              <a:gd name="connsiteX4" fmla="*/ 0 w 8130540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8130540" h="838200">
                <a:moveTo>
                  <a:pt x="0" y="0"/>
                </a:moveTo>
                <a:lnTo>
                  <a:pt x="8130539" y="0"/>
                </a:lnTo>
                <a:lnTo>
                  <a:pt x="8130539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3" name="Freeform 3"/>
          <p:cNvSpPr/>
          <p:nvPr/>
        </p:nvSpPr>
        <p:spPr>
          <a:xfrm>
            <a:off x="1530490" y="328123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5" name="Freeform 3"/>
          <p:cNvSpPr/>
          <p:nvPr/>
        </p:nvSpPr>
        <p:spPr>
          <a:xfrm>
            <a:off x="1530490" y="328123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6" name="Freeform 3"/>
          <p:cNvSpPr/>
          <p:nvPr/>
        </p:nvSpPr>
        <p:spPr>
          <a:xfrm>
            <a:off x="1529187" y="1105806"/>
            <a:ext cx="6952481" cy="760400"/>
          </a:xfrm>
          <a:custGeom>
            <a:avLst/>
            <a:gdLst>
              <a:gd name="connsiteX0" fmla="*/ 0 w 8130540"/>
              <a:gd name="connsiteY0" fmla="*/ 0 h 838200"/>
              <a:gd name="connsiteX1" fmla="*/ 8130539 w 8130540"/>
              <a:gd name="connsiteY1" fmla="*/ 0 h 838200"/>
              <a:gd name="connsiteX2" fmla="*/ 8130539 w 8130540"/>
              <a:gd name="connsiteY2" fmla="*/ 838199 h 838200"/>
              <a:gd name="connsiteX3" fmla="*/ 0 w 8130540"/>
              <a:gd name="connsiteY3" fmla="*/ 838199 h 838200"/>
              <a:gd name="connsiteX4" fmla="*/ 0 w 8130540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8130540" h="838200">
                <a:moveTo>
                  <a:pt x="0" y="0"/>
                </a:moveTo>
                <a:lnTo>
                  <a:pt x="8130539" y="0"/>
                </a:lnTo>
                <a:lnTo>
                  <a:pt x="8130539" y="838199"/>
                </a:lnTo>
                <a:lnTo>
                  <a:pt x="0" y="838199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7" name="Freeform 3"/>
          <p:cNvSpPr/>
          <p:nvPr/>
        </p:nvSpPr>
        <p:spPr>
          <a:xfrm>
            <a:off x="1530490" y="1105806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199 h 838200"/>
              <a:gd name="connsiteX3" fmla="*/ 0 w 73152"/>
              <a:gd name="connsiteY3" fmla="*/ 838199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199"/>
                </a:lnTo>
                <a:lnTo>
                  <a:pt x="0" y="838199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8" name="Freeform 3"/>
          <p:cNvSpPr/>
          <p:nvPr/>
        </p:nvSpPr>
        <p:spPr>
          <a:xfrm>
            <a:off x="1530490" y="1105806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199 h 838200"/>
              <a:gd name="connsiteX3" fmla="*/ 0 w 73152"/>
              <a:gd name="connsiteY3" fmla="*/ 838199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199"/>
                </a:lnTo>
                <a:lnTo>
                  <a:pt x="0" y="838199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9" name="Freeform 3"/>
          <p:cNvSpPr/>
          <p:nvPr/>
        </p:nvSpPr>
        <p:spPr>
          <a:xfrm>
            <a:off x="1529187" y="1882795"/>
            <a:ext cx="6952481" cy="760400"/>
          </a:xfrm>
          <a:custGeom>
            <a:avLst/>
            <a:gdLst>
              <a:gd name="connsiteX0" fmla="*/ 0 w 8130540"/>
              <a:gd name="connsiteY0" fmla="*/ 0 h 838200"/>
              <a:gd name="connsiteX1" fmla="*/ 8130539 w 8130540"/>
              <a:gd name="connsiteY1" fmla="*/ 0 h 838200"/>
              <a:gd name="connsiteX2" fmla="*/ 8130539 w 8130540"/>
              <a:gd name="connsiteY2" fmla="*/ 838200 h 838200"/>
              <a:gd name="connsiteX3" fmla="*/ 0 w 8130540"/>
              <a:gd name="connsiteY3" fmla="*/ 838200 h 838200"/>
              <a:gd name="connsiteX4" fmla="*/ 0 w 8130540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8130540" h="838200">
                <a:moveTo>
                  <a:pt x="0" y="0"/>
                </a:moveTo>
                <a:lnTo>
                  <a:pt x="8130539" y="0"/>
                </a:lnTo>
                <a:lnTo>
                  <a:pt x="8130539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10" name="Freeform 3"/>
          <p:cNvSpPr/>
          <p:nvPr/>
        </p:nvSpPr>
        <p:spPr>
          <a:xfrm>
            <a:off x="1530490" y="1882795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11" name="Freeform 3"/>
          <p:cNvSpPr/>
          <p:nvPr/>
        </p:nvSpPr>
        <p:spPr>
          <a:xfrm>
            <a:off x="1530490" y="1882795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12" name="Freeform 3"/>
          <p:cNvSpPr/>
          <p:nvPr/>
        </p:nvSpPr>
        <p:spPr>
          <a:xfrm>
            <a:off x="1529187" y="2660477"/>
            <a:ext cx="6952481" cy="760400"/>
          </a:xfrm>
          <a:custGeom>
            <a:avLst/>
            <a:gdLst>
              <a:gd name="connsiteX0" fmla="*/ 0 w 8130540"/>
              <a:gd name="connsiteY0" fmla="*/ 0 h 838200"/>
              <a:gd name="connsiteX1" fmla="*/ 8130539 w 8130540"/>
              <a:gd name="connsiteY1" fmla="*/ 0 h 838200"/>
              <a:gd name="connsiteX2" fmla="*/ 8130539 w 8130540"/>
              <a:gd name="connsiteY2" fmla="*/ 838200 h 838200"/>
              <a:gd name="connsiteX3" fmla="*/ 0 w 8130540"/>
              <a:gd name="connsiteY3" fmla="*/ 838200 h 838200"/>
              <a:gd name="connsiteX4" fmla="*/ 0 w 8130540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8130540" h="838200">
                <a:moveTo>
                  <a:pt x="0" y="0"/>
                </a:moveTo>
                <a:lnTo>
                  <a:pt x="8130539" y="0"/>
                </a:lnTo>
                <a:lnTo>
                  <a:pt x="8130539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13" name="Freeform 3"/>
          <p:cNvSpPr/>
          <p:nvPr/>
        </p:nvSpPr>
        <p:spPr>
          <a:xfrm>
            <a:off x="1530490" y="2660477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14" name="Freeform 3"/>
          <p:cNvSpPr/>
          <p:nvPr/>
        </p:nvSpPr>
        <p:spPr>
          <a:xfrm>
            <a:off x="1530490" y="2660477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15" name="Freeform 3"/>
          <p:cNvSpPr/>
          <p:nvPr/>
        </p:nvSpPr>
        <p:spPr>
          <a:xfrm>
            <a:off x="1529187" y="3438159"/>
            <a:ext cx="6952481" cy="760400"/>
          </a:xfrm>
          <a:custGeom>
            <a:avLst/>
            <a:gdLst>
              <a:gd name="connsiteX0" fmla="*/ 0 w 8130540"/>
              <a:gd name="connsiteY0" fmla="*/ 0 h 838200"/>
              <a:gd name="connsiteX1" fmla="*/ 8130539 w 8130540"/>
              <a:gd name="connsiteY1" fmla="*/ 0 h 838200"/>
              <a:gd name="connsiteX2" fmla="*/ 8130539 w 8130540"/>
              <a:gd name="connsiteY2" fmla="*/ 838200 h 838200"/>
              <a:gd name="connsiteX3" fmla="*/ 0 w 8130540"/>
              <a:gd name="connsiteY3" fmla="*/ 838200 h 838200"/>
              <a:gd name="connsiteX4" fmla="*/ 0 w 8130540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8130540" h="838200">
                <a:moveTo>
                  <a:pt x="0" y="0"/>
                </a:moveTo>
                <a:lnTo>
                  <a:pt x="8130539" y="0"/>
                </a:lnTo>
                <a:lnTo>
                  <a:pt x="8130539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16" name="Freeform 3"/>
          <p:cNvSpPr/>
          <p:nvPr/>
        </p:nvSpPr>
        <p:spPr>
          <a:xfrm>
            <a:off x="1530490" y="3438159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17" name="Freeform 3"/>
          <p:cNvSpPr/>
          <p:nvPr/>
        </p:nvSpPr>
        <p:spPr>
          <a:xfrm>
            <a:off x="1530490" y="3438159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18" name="Freeform 3"/>
          <p:cNvSpPr/>
          <p:nvPr/>
        </p:nvSpPr>
        <p:spPr>
          <a:xfrm>
            <a:off x="1529187" y="4215841"/>
            <a:ext cx="6952481" cy="760400"/>
          </a:xfrm>
          <a:custGeom>
            <a:avLst/>
            <a:gdLst>
              <a:gd name="connsiteX0" fmla="*/ 0 w 8130540"/>
              <a:gd name="connsiteY0" fmla="*/ 0 h 838200"/>
              <a:gd name="connsiteX1" fmla="*/ 8130539 w 8130540"/>
              <a:gd name="connsiteY1" fmla="*/ 0 h 838200"/>
              <a:gd name="connsiteX2" fmla="*/ 8130539 w 8130540"/>
              <a:gd name="connsiteY2" fmla="*/ 838200 h 838200"/>
              <a:gd name="connsiteX3" fmla="*/ 0 w 8130540"/>
              <a:gd name="connsiteY3" fmla="*/ 838200 h 838200"/>
              <a:gd name="connsiteX4" fmla="*/ 0 w 8130540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8130540" h="838200">
                <a:moveTo>
                  <a:pt x="0" y="0"/>
                </a:moveTo>
                <a:lnTo>
                  <a:pt x="8130539" y="0"/>
                </a:lnTo>
                <a:lnTo>
                  <a:pt x="8130539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19" name="Freeform 3"/>
          <p:cNvSpPr/>
          <p:nvPr/>
        </p:nvSpPr>
        <p:spPr>
          <a:xfrm>
            <a:off x="1530490" y="4215841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20" name="Freeform 3"/>
          <p:cNvSpPr/>
          <p:nvPr/>
        </p:nvSpPr>
        <p:spPr>
          <a:xfrm>
            <a:off x="1530490" y="4215841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21" name="Freeform 3"/>
          <p:cNvSpPr/>
          <p:nvPr/>
        </p:nvSpPr>
        <p:spPr>
          <a:xfrm>
            <a:off x="1529187" y="4993523"/>
            <a:ext cx="6952481" cy="760400"/>
          </a:xfrm>
          <a:custGeom>
            <a:avLst/>
            <a:gdLst>
              <a:gd name="connsiteX0" fmla="*/ 0 w 8130540"/>
              <a:gd name="connsiteY0" fmla="*/ 0 h 838200"/>
              <a:gd name="connsiteX1" fmla="*/ 8130539 w 8130540"/>
              <a:gd name="connsiteY1" fmla="*/ 0 h 838200"/>
              <a:gd name="connsiteX2" fmla="*/ 8130539 w 8130540"/>
              <a:gd name="connsiteY2" fmla="*/ 838200 h 838200"/>
              <a:gd name="connsiteX3" fmla="*/ 0 w 8130540"/>
              <a:gd name="connsiteY3" fmla="*/ 838200 h 838200"/>
              <a:gd name="connsiteX4" fmla="*/ 0 w 8130540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8130540" h="838200">
                <a:moveTo>
                  <a:pt x="0" y="0"/>
                </a:moveTo>
                <a:lnTo>
                  <a:pt x="8130539" y="0"/>
                </a:lnTo>
                <a:lnTo>
                  <a:pt x="8130539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22" name="Freeform 3"/>
          <p:cNvSpPr/>
          <p:nvPr/>
        </p:nvSpPr>
        <p:spPr>
          <a:xfrm>
            <a:off x="1530490" y="4993523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23" name="Freeform 3"/>
          <p:cNvSpPr/>
          <p:nvPr/>
        </p:nvSpPr>
        <p:spPr>
          <a:xfrm>
            <a:off x="1530490" y="4993523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24" name="Freeform 3"/>
          <p:cNvSpPr/>
          <p:nvPr/>
        </p:nvSpPr>
        <p:spPr>
          <a:xfrm>
            <a:off x="1529187" y="5771204"/>
            <a:ext cx="6952481" cy="760400"/>
          </a:xfrm>
          <a:custGeom>
            <a:avLst/>
            <a:gdLst>
              <a:gd name="connsiteX0" fmla="*/ 0 w 8130540"/>
              <a:gd name="connsiteY0" fmla="*/ 0 h 838200"/>
              <a:gd name="connsiteX1" fmla="*/ 8130539 w 8130540"/>
              <a:gd name="connsiteY1" fmla="*/ 0 h 838200"/>
              <a:gd name="connsiteX2" fmla="*/ 8130539 w 8130540"/>
              <a:gd name="connsiteY2" fmla="*/ 838199 h 838200"/>
              <a:gd name="connsiteX3" fmla="*/ 0 w 8130540"/>
              <a:gd name="connsiteY3" fmla="*/ 838199 h 838200"/>
              <a:gd name="connsiteX4" fmla="*/ 0 w 8130540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8130540" h="838200">
                <a:moveTo>
                  <a:pt x="0" y="0"/>
                </a:moveTo>
                <a:lnTo>
                  <a:pt x="8130539" y="0"/>
                </a:lnTo>
                <a:lnTo>
                  <a:pt x="8130539" y="838199"/>
                </a:lnTo>
                <a:lnTo>
                  <a:pt x="0" y="838199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25" name="Freeform 3"/>
          <p:cNvSpPr/>
          <p:nvPr/>
        </p:nvSpPr>
        <p:spPr>
          <a:xfrm>
            <a:off x="1530490" y="5771204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199 h 838200"/>
              <a:gd name="connsiteX3" fmla="*/ 0 w 73152"/>
              <a:gd name="connsiteY3" fmla="*/ 838199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199"/>
                </a:lnTo>
                <a:lnTo>
                  <a:pt x="0" y="838199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26" name="Freeform 3"/>
          <p:cNvSpPr/>
          <p:nvPr/>
        </p:nvSpPr>
        <p:spPr>
          <a:xfrm>
            <a:off x="1530490" y="5771204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199 h 838200"/>
              <a:gd name="connsiteX3" fmla="*/ 0 w 73152"/>
              <a:gd name="connsiteY3" fmla="*/ 838199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199"/>
                </a:lnTo>
                <a:lnTo>
                  <a:pt x="0" y="838199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467544" y="299551"/>
            <a:ext cx="8024865" cy="6244496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>
            <a:off x="1965635" y="818006"/>
            <a:ext cx="6715493" cy="591902"/>
          </a:xfrm>
          <a:prstGeom prst="rect">
            <a:avLst/>
          </a:prstGeom>
          <a:noFill/>
        </p:spPr>
        <p:txBody>
          <a:bodyPr wrap="none" lIns="0" tIns="0" rIns="0" bIns="40078" rtlCol="0">
            <a:spAutoFit/>
          </a:bodyPr>
          <a:lstStyle/>
          <a:p>
            <a:pPr>
              <a:lnSpc>
                <a:spcPts val="4295"/>
              </a:lnSpc>
            </a:pPr>
            <a:r>
              <a:rPr lang="en-US" altLang="zh-CN" sz="3800" dirty="0">
                <a:solidFill>
                  <a:srgbClr val="572314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Black</a:t>
            </a:r>
            <a:r>
              <a:rPr lang="en-US" altLang="zh-CN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800" dirty="0">
                <a:solidFill>
                  <a:srgbClr val="572314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Box Testing Techniques</a:t>
            </a:r>
            <a:endParaRPr lang="en-US" altLang="zh-CN" sz="3800" dirty="0">
              <a:solidFill>
                <a:srgbClr val="572314"/>
              </a:solidFill>
              <a:latin typeface="微软雅黑" panose="020B0503020204020204" pitchFamily="18" charset="-122"/>
              <a:cs typeface="微软雅黑" panose="020B0503020204020204" pitchFamily="18" charset="-122"/>
            </a:endParaRPr>
          </a:p>
        </p:txBody>
      </p:sp>
      <p:sp>
        <p:nvSpPr>
          <p:cNvPr id="29" name="TextBox 1"/>
          <p:cNvSpPr txBox="1"/>
          <p:nvPr/>
        </p:nvSpPr>
        <p:spPr>
          <a:xfrm>
            <a:off x="1770157" y="1631691"/>
            <a:ext cx="6294432" cy="4695590"/>
          </a:xfrm>
          <a:prstGeom prst="rect">
            <a:avLst/>
          </a:prstGeom>
          <a:noFill/>
        </p:spPr>
        <p:txBody>
          <a:bodyPr wrap="square" lIns="0" tIns="0" rIns="0" bIns="40078" rtlCol="0">
            <a:spAutoFit/>
          </a:bodyPr>
          <a:lstStyle/>
          <a:p>
            <a:pPr>
              <a:lnSpc>
                <a:spcPct val="130000"/>
              </a:lnSpc>
              <a:tabLst>
                <a:tab pos="6311900" algn="l"/>
              </a:tabLst>
            </a:pPr>
            <a:r>
              <a:rPr lang="en-US" altLang="zh-CN" sz="3500" dirty="0">
                <a:solidFill>
                  <a:srgbClr val="3891A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US" altLang="zh-C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35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Boundary Value Analysis</a:t>
            </a:r>
            <a:endParaRPr lang="en-US" altLang="zh-CN" sz="3500" dirty="0">
              <a:solidFill>
                <a:srgbClr val="000000"/>
              </a:solidFill>
              <a:latin typeface="微软雅黑" panose="020B0503020204020204" pitchFamily="18" charset="-122"/>
              <a:cs typeface="微软雅黑" panose="020B0503020204020204" pitchFamily="18" charset="-122"/>
            </a:endParaRPr>
          </a:p>
          <a:p>
            <a:pPr>
              <a:lnSpc>
                <a:spcPct val="130000"/>
              </a:lnSpc>
              <a:tabLst>
                <a:tab pos="6311900" algn="l"/>
              </a:tabLst>
            </a:pPr>
            <a:r>
              <a:rPr lang="en-US" altLang="zh-CN" sz="3500" dirty="0">
                <a:solidFill>
                  <a:srgbClr val="3891A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</a:t>
            </a:r>
            <a:r>
              <a:rPr lang="en-US" altLang="zh-CN" sz="35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Equivalence</a:t>
            </a:r>
            <a:r>
              <a:rPr lang="en-US" altLang="zh-C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5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Partitioning</a:t>
            </a:r>
            <a:endParaRPr lang="en-US" altLang="zh-CN" sz="3500" dirty="0">
              <a:solidFill>
                <a:srgbClr val="000000"/>
              </a:solidFill>
              <a:latin typeface="微软雅黑" panose="020B0503020204020204" pitchFamily="18" charset="-122"/>
              <a:cs typeface="微软雅黑" panose="020B0503020204020204" pitchFamily="18" charset="-122"/>
            </a:endParaRPr>
          </a:p>
          <a:p>
            <a:pPr>
              <a:lnSpc>
                <a:spcPct val="130000"/>
              </a:lnSpc>
              <a:tabLst>
                <a:tab pos="6311900" algn="l"/>
              </a:tabLst>
            </a:pPr>
            <a:r>
              <a:rPr lang="en-US" altLang="zh-CN" sz="3500" dirty="0">
                <a:solidFill>
                  <a:srgbClr val="3891A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US" altLang="zh-C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35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Decision Table</a:t>
            </a:r>
            <a:endParaRPr lang="en-US" altLang="zh-CN" sz="3500" dirty="0">
              <a:solidFill>
                <a:srgbClr val="000000"/>
              </a:solidFill>
              <a:latin typeface="微软雅黑" panose="020B0503020204020204" pitchFamily="18" charset="-122"/>
              <a:cs typeface="微软雅黑" panose="020B0503020204020204" pitchFamily="18" charset="-122"/>
            </a:endParaRPr>
          </a:p>
          <a:p>
            <a:pPr>
              <a:lnSpc>
                <a:spcPct val="130000"/>
              </a:lnSpc>
              <a:tabLst>
                <a:tab pos="6311900" algn="l"/>
              </a:tabLst>
            </a:pPr>
            <a:r>
              <a:rPr lang="en-US" altLang="zh-CN" sz="3500" dirty="0">
                <a:solidFill>
                  <a:srgbClr val="3891A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US" altLang="zh-C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3500" dirty="0">
                <a:solidFill>
                  <a:schemeClr val="accent1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Cause-Effect</a:t>
            </a:r>
            <a:r>
              <a:rPr lang="en-US" altLang="zh-CN" sz="35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500" dirty="0">
                <a:solidFill>
                  <a:schemeClr val="accent1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Graph</a:t>
            </a:r>
            <a:endParaRPr lang="en-US" altLang="zh-CN" sz="3500" dirty="0">
              <a:solidFill>
                <a:schemeClr val="accent1"/>
              </a:solidFill>
              <a:latin typeface="微软雅黑" panose="020B0503020204020204" pitchFamily="18" charset="-122"/>
              <a:cs typeface="微软雅黑" panose="020B0503020204020204" pitchFamily="18" charset="-122"/>
            </a:endParaRPr>
          </a:p>
          <a:p>
            <a:pPr>
              <a:lnSpc>
                <a:spcPct val="130000"/>
              </a:lnSpc>
              <a:tabLst>
                <a:tab pos="6311900" algn="l"/>
              </a:tabLst>
            </a:pPr>
            <a:r>
              <a:rPr lang="en-US" altLang="zh-CN" sz="3500" dirty="0">
                <a:solidFill>
                  <a:srgbClr val="3891A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US" altLang="zh-C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35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Combinatorial Test</a:t>
            </a:r>
            <a:endParaRPr lang="en-US" altLang="zh-CN" sz="3500" dirty="0">
              <a:solidFill>
                <a:srgbClr val="000000"/>
              </a:solidFill>
              <a:latin typeface="微软雅黑" panose="020B0503020204020204" pitchFamily="18" charset="-122"/>
              <a:cs typeface="微软雅黑" panose="020B0503020204020204" pitchFamily="18" charset="-122"/>
            </a:endParaRPr>
          </a:p>
          <a:p>
            <a:pPr>
              <a:lnSpc>
                <a:spcPts val="875"/>
              </a:lnSpc>
            </a:pPr>
            <a:endParaRPr lang="en-US" altLang="zh-CN" sz="3600" dirty="0"/>
          </a:p>
          <a:p>
            <a:pPr>
              <a:lnSpc>
                <a:spcPts val="875"/>
              </a:lnSpc>
            </a:pPr>
            <a:endParaRPr lang="en-US" altLang="zh-CN" sz="3600" dirty="0"/>
          </a:p>
          <a:p>
            <a:pPr>
              <a:lnSpc>
                <a:spcPts val="875"/>
              </a:lnSpc>
            </a:pPr>
            <a:endParaRPr lang="en-US" altLang="zh-CN" sz="3600" dirty="0"/>
          </a:p>
          <a:p>
            <a:pPr>
              <a:lnSpc>
                <a:spcPts val="875"/>
              </a:lnSpc>
            </a:pPr>
            <a:endParaRPr lang="en-US" altLang="zh-CN" dirty="0"/>
          </a:p>
          <a:p>
            <a:pPr>
              <a:lnSpc>
                <a:spcPts val="875"/>
              </a:lnSpc>
            </a:pPr>
            <a:endParaRPr lang="en-US" altLang="zh-CN" dirty="0"/>
          </a:p>
          <a:p>
            <a:pPr>
              <a:lnSpc>
                <a:spcPts val="875"/>
              </a:lnSpc>
            </a:pPr>
            <a:endParaRPr lang="en-US" altLang="zh-CN" dirty="0"/>
          </a:p>
          <a:p>
            <a:pPr>
              <a:lnSpc>
                <a:spcPts val="875"/>
              </a:lnSpc>
            </a:pPr>
            <a:endParaRPr lang="en-US" altLang="zh-CN" dirty="0"/>
          </a:p>
          <a:p>
            <a:pPr>
              <a:lnSpc>
                <a:spcPts val="875"/>
              </a:lnSpc>
            </a:pPr>
            <a:endParaRPr lang="en-US" altLang="zh-CN" dirty="0"/>
          </a:p>
          <a:p>
            <a:pPr>
              <a:lnSpc>
                <a:spcPts val="1840"/>
              </a:lnSpc>
              <a:tabLst>
                <a:tab pos="6311900" algn="l"/>
              </a:tabLst>
            </a:pPr>
            <a:r>
              <a:rPr lang="en-US" altLang="zh-CN" dirty="0"/>
              <a:t>	</a:t>
            </a:r>
            <a:endParaRPr lang="en-US" altLang="zh-CN" sz="1100" dirty="0">
              <a:solidFill>
                <a:srgbClr val="B5A788"/>
              </a:solidFill>
              <a:latin typeface="微软雅黑" panose="020B0503020204020204" pitchFamily="18" charset="-122"/>
              <a:cs typeface="微软雅黑" panose="020B0503020204020204" pitchFamily="18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1529187" y="328123"/>
            <a:ext cx="6952481" cy="760400"/>
          </a:xfrm>
          <a:custGeom>
            <a:avLst/>
            <a:gdLst>
              <a:gd name="connsiteX0" fmla="*/ 0 w 8130540"/>
              <a:gd name="connsiteY0" fmla="*/ 0 h 838200"/>
              <a:gd name="connsiteX1" fmla="*/ 8130539 w 8130540"/>
              <a:gd name="connsiteY1" fmla="*/ 0 h 838200"/>
              <a:gd name="connsiteX2" fmla="*/ 8130539 w 8130540"/>
              <a:gd name="connsiteY2" fmla="*/ 838200 h 838200"/>
              <a:gd name="connsiteX3" fmla="*/ 0 w 8130540"/>
              <a:gd name="connsiteY3" fmla="*/ 838200 h 838200"/>
              <a:gd name="connsiteX4" fmla="*/ 0 w 8130540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8130540" h="838200">
                <a:moveTo>
                  <a:pt x="0" y="0"/>
                </a:moveTo>
                <a:lnTo>
                  <a:pt x="8130539" y="0"/>
                </a:lnTo>
                <a:lnTo>
                  <a:pt x="8130539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3" name="Freeform 3"/>
          <p:cNvSpPr/>
          <p:nvPr/>
        </p:nvSpPr>
        <p:spPr>
          <a:xfrm>
            <a:off x="1530490" y="328123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5" name="Freeform 3"/>
          <p:cNvSpPr/>
          <p:nvPr/>
        </p:nvSpPr>
        <p:spPr>
          <a:xfrm>
            <a:off x="1530490" y="328123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6" name="Freeform 3"/>
          <p:cNvSpPr/>
          <p:nvPr/>
        </p:nvSpPr>
        <p:spPr>
          <a:xfrm>
            <a:off x="1529187" y="1105806"/>
            <a:ext cx="6952481" cy="760400"/>
          </a:xfrm>
          <a:custGeom>
            <a:avLst/>
            <a:gdLst>
              <a:gd name="connsiteX0" fmla="*/ 0 w 8130540"/>
              <a:gd name="connsiteY0" fmla="*/ 0 h 838200"/>
              <a:gd name="connsiteX1" fmla="*/ 8130539 w 8130540"/>
              <a:gd name="connsiteY1" fmla="*/ 0 h 838200"/>
              <a:gd name="connsiteX2" fmla="*/ 8130539 w 8130540"/>
              <a:gd name="connsiteY2" fmla="*/ 838199 h 838200"/>
              <a:gd name="connsiteX3" fmla="*/ 0 w 8130540"/>
              <a:gd name="connsiteY3" fmla="*/ 838199 h 838200"/>
              <a:gd name="connsiteX4" fmla="*/ 0 w 8130540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8130540" h="838200">
                <a:moveTo>
                  <a:pt x="0" y="0"/>
                </a:moveTo>
                <a:lnTo>
                  <a:pt x="8130539" y="0"/>
                </a:lnTo>
                <a:lnTo>
                  <a:pt x="8130539" y="838199"/>
                </a:lnTo>
                <a:lnTo>
                  <a:pt x="0" y="838199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7" name="Freeform 3"/>
          <p:cNvSpPr/>
          <p:nvPr/>
        </p:nvSpPr>
        <p:spPr>
          <a:xfrm>
            <a:off x="1530490" y="1105806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199 h 838200"/>
              <a:gd name="connsiteX3" fmla="*/ 0 w 73152"/>
              <a:gd name="connsiteY3" fmla="*/ 838199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199"/>
                </a:lnTo>
                <a:lnTo>
                  <a:pt x="0" y="838199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8" name="Freeform 3"/>
          <p:cNvSpPr/>
          <p:nvPr/>
        </p:nvSpPr>
        <p:spPr>
          <a:xfrm>
            <a:off x="1530490" y="1105806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199 h 838200"/>
              <a:gd name="connsiteX3" fmla="*/ 0 w 73152"/>
              <a:gd name="connsiteY3" fmla="*/ 838199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199"/>
                </a:lnTo>
                <a:lnTo>
                  <a:pt x="0" y="838199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9" name="Freeform 3"/>
          <p:cNvSpPr/>
          <p:nvPr/>
        </p:nvSpPr>
        <p:spPr>
          <a:xfrm>
            <a:off x="1529187" y="1882795"/>
            <a:ext cx="6952481" cy="760400"/>
          </a:xfrm>
          <a:custGeom>
            <a:avLst/>
            <a:gdLst>
              <a:gd name="connsiteX0" fmla="*/ 0 w 8130540"/>
              <a:gd name="connsiteY0" fmla="*/ 0 h 838200"/>
              <a:gd name="connsiteX1" fmla="*/ 8130539 w 8130540"/>
              <a:gd name="connsiteY1" fmla="*/ 0 h 838200"/>
              <a:gd name="connsiteX2" fmla="*/ 8130539 w 8130540"/>
              <a:gd name="connsiteY2" fmla="*/ 838200 h 838200"/>
              <a:gd name="connsiteX3" fmla="*/ 0 w 8130540"/>
              <a:gd name="connsiteY3" fmla="*/ 838200 h 838200"/>
              <a:gd name="connsiteX4" fmla="*/ 0 w 8130540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8130540" h="838200">
                <a:moveTo>
                  <a:pt x="0" y="0"/>
                </a:moveTo>
                <a:lnTo>
                  <a:pt x="8130539" y="0"/>
                </a:lnTo>
                <a:lnTo>
                  <a:pt x="8130539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10" name="Freeform 3"/>
          <p:cNvSpPr/>
          <p:nvPr/>
        </p:nvSpPr>
        <p:spPr>
          <a:xfrm>
            <a:off x="1530490" y="1882795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11" name="Freeform 3"/>
          <p:cNvSpPr/>
          <p:nvPr/>
        </p:nvSpPr>
        <p:spPr>
          <a:xfrm>
            <a:off x="1530490" y="1882795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12" name="Freeform 3"/>
          <p:cNvSpPr/>
          <p:nvPr/>
        </p:nvSpPr>
        <p:spPr>
          <a:xfrm>
            <a:off x="1529187" y="2660477"/>
            <a:ext cx="6952481" cy="760400"/>
          </a:xfrm>
          <a:custGeom>
            <a:avLst/>
            <a:gdLst>
              <a:gd name="connsiteX0" fmla="*/ 0 w 8130540"/>
              <a:gd name="connsiteY0" fmla="*/ 0 h 838200"/>
              <a:gd name="connsiteX1" fmla="*/ 8130539 w 8130540"/>
              <a:gd name="connsiteY1" fmla="*/ 0 h 838200"/>
              <a:gd name="connsiteX2" fmla="*/ 8130539 w 8130540"/>
              <a:gd name="connsiteY2" fmla="*/ 838200 h 838200"/>
              <a:gd name="connsiteX3" fmla="*/ 0 w 8130540"/>
              <a:gd name="connsiteY3" fmla="*/ 838200 h 838200"/>
              <a:gd name="connsiteX4" fmla="*/ 0 w 8130540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8130540" h="838200">
                <a:moveTo>
                  <a:pt x="0" y="0"/>
                </a:moveTo>
                <a:lnTo>
                  <a:pt x="8130539" y="0"/>
                </a:lnTo>
                <a:lnTo>
                  <a:pt x="8130539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13" name="Freeform 3"/>
          <p:cNvSpPr/>
          <p:nvPr/>
        </p:nvSpPr>
        <p:spPr>
          <a:xfrm>
            <a:off x="1530490" y="2660477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14" name="Freeform 3"/>
          <p:cNvSpPr/>
          <p:nvPr/>
        </p:nvSpPr>
        <p:spPr>
          <a:xfrm>
            <a:off x="1530490" y="2660477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15" name="Freeform 3"/>
          <p:cNvSpPr/>
          <p:nvPr/>
        </p:nvSpPr>
        <p:spPr>
          <a:xfrm>
            <a:off x="1529187" y="3438159"/>
            <a:ext cx="6952481" cy="760400"/>
          </a:xfrm>
          <a:custGeom>
            <a:avLst/>
            <a:gdLst>
              <a:gd name="connsiteX0" fmla="*/ 0 w 8130540"/>
              <a:gd name="connsiteY0" fmla="*/ 0 h 838200"/>
              <a:gd name="connsiteX1" fmla="*/ 8130539 w 8130540"/>
              <a:gd name="connsiteY1" fmla="*/ 0 h 838200"/>
              <a:gd name="connsiteX2" fmla="*/ 8130539 w 8130540"/>
              <a:gd name="connsiteY2" fmla="*/ 838200 h 838200"/>
              <a:gd name="connsiteX3" fmla="*/ 0 w 8130540"/>
              <a:gd name="connsiteY3" fmla="*/ 838200 h 838200"/>
              <a:gd name="connsiteX4" fmla="*/ 0 w 8130540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8130540" h="838200">
                <a:moveTo>
                  <a:pt x="0" y="0"/>
                </a:moveTo>
                <a:lnTo>
                  <a:pt x="8130539" y="0"/>
                </a:lnTo>
                <a:lnTo>
                  <a:pt x="8130539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16" name="Freeform 3"/>
          <p:cNvSpPr/>
          <p:nvPr/>
        </p:nvSpPr>
        <p:spPr>
          <a:xfrm>
            <a:off x="1530490" y="3438159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17" name="Freeform 3"/>
          <p:cNvSpPr/>
          <p:nvPr/>
        </p:nvSpPr>
        <p:spPr>
          <a:xfrm>
            <a:off x="1530490" y="3438159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18" name="Freeform 3"/>
          <p:cNvSpPr/>
          <p:nvPr/>
        </p:nvSpPr>
        <p:spPr>
          <a:xfrm>
            <a:off x="1529187" y="4215841"/>
            <a:ext cx="6952481" cy="760400"/>
          </a:xfrm>
          <a:custGeom>
            <a:avLst/>
            <a:gdLst>
              <a:gd name="connsiteX0" fmla="*/ 0 w 8130540"/>
              <a:gd name="connsiteY0" fmla="*/ 0 h 838200"/>
              <a:gd name="connsiteX1" fmla="*/ 8130539 w 8130540"/>
              <a:gd name="connsiteY1" fmla="*/ 0 h 838200"/>
              <a:gd name="connsiteX2" fmla="*/ 8130539 w 8130540"/>
              <a:gd name="connsiteY2" fmla="*/ 838200 h 838200"/>
              <a:gd name="connsiteX3" fmla="*/ 0 w 8130540"/>
              <a:gd name="connsiteY3" fmla="*/ 838200 h 838200"/>
              <a:gd name="connsiteX4" fmla="*/ 0 w 8130540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8130540" h="838200">
                <a:moveTo>
                  <a:pt x="0" y="0"/>
                </a:moveTo>
                <a:lnTo>
                  <a:pt x="8130539" y="0"/>
                </a:lnTo>
                <a:lnTo>
                  <a:pt x="8130539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19" name="Freeform 3"/>
          <p:cNvSpPr/>
          <p:nvPr/>
        </p:nvSpPr>
        <p:spPr>
          <a:xfrm>
            <a:off x="1530490" y="4215841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20" name="Freeform 3"/>
          <p:cNvSpPr/>
          <p:nvPr/>
        </p:nvSpPr>
        <p:spPr>
          <a:xfrm>
            <a:off x="1530490" y="4215841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21" name="Freeform 3"/>
          <p:cNvSpPr/>
          <p:nvPr/>
        </p:nvSpPr>
        <p:spPr>
          <a:xfrm>
            <a:off x="1529187" y="4993523"/>
            <a:ext cx="6952481" cy="760400"/>
          </a:xfrm>
          <a:custGeom>
            <a:avLst/>
            <a:gdLst>
              <a:gd name="connsiteX0" fmla="*/ 0 w 8130540"/>
              <a:gd name="connsiteY0" fmla="*/ 0 h 838200"/>
              <a:gd name="connsiteX1" fmla="*/ 8130539 w 8130540"/>
              <a:gd name="connsiteY1" fmla="*/ 0 h 838200"/>
              <a:gd name="connsiteX2" fmla="*/ 8130539 w 8130540"/>
              <a:gd name="connsiteY2" fmla="*/ 838200 h 838200"/>
              <a:gd name="connsiteX3" fmla="*/ 0 w 8130540"/>
              <a:gd name="connsiteY3" fmla="*/ 838200 h 838200"/>
              <a:gd name="connsiteX4" fmla="*/ 0 w 8130540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8130540" h="838200">
                <a:moveTo>
                  <a:pt x="0" y="0"/>
                </a:moveTo>
                <a:lnTo>
                  <a:pt x="8130539" y="0"/>
                </a:lnTo>
                <a:lnTo>
                  <a:pt x="8130539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22" name="Freeform 3"/>
          <p:cNvSpPr/>
          <p:nvPr/>
        </p:nvSpPr>
        <p:spPr>
          <a:xfrm>
            <a:off x="1530490" y="4993523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23" name="Freeform 3"/>
          <p:cNvSpPr/>
          <p:nvPr/>
        </p:nvSpPr>
        <p:spPr>
          <a:xfrm>
            <a:off x="1530490" y="4993523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24" name="Freeform 3"/>
          <p:cNvSpPr/>
          <p:nvPr/>
        </p:nvSpPr>
        <p:spPr>
          <a:xfrm>
            <a:off x="1529187" y="5771204"/>
            <a:ext cx="6952481" cy="760400"/>
          </a:xfrm>
          <a:custGeom>
            <a:avLst/>
            <a:gdLst>
              <a:gd name="connsiteX0" fmla="*/ 0 w 8130540"/>
              <a:gd name="connsiteY0" fmla="*/ 0 h 838200"/>
              <a:gd name="connsiteX1" fmla="*/ 8130539 w 8130540"/>
              <a:gd name="connsiteY1" fmla="*/ 0 h 838200"/>
              <a:gd name="connsiteX2" fmla="*/ 8130539 w 8130540"/>
              <a:gd name="connsiteY2" fmla="*/ 838199 h 838200"/>
              <a:gd name="connsiteX3" fmla="*/ 0 w 8130540"/>
              <a:gd name="connsiteY3" fmla="*/ 838199 h 838200"/>
              <a:gd name="connsiteX4" fmla="*/ 0 w 8130540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8130540" h="838200">
                <a:moveTo>
                  <a:pt x="0" y="0"/>
                </a:moveTo>
                <a:lnTo>
                  <a:pt x="8130539" y="0"/>
                </a:lnTo>
                <a:lnTo>
                  <a:pt x="8130539" y="838199"/>
                </a:lnTo>
                <a:lnTo>
                  <a:pt x="0" y="838199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25" name="Freeform 3"/>
          <p:cNvSpPr/>
          <p:nvPr/>
        </p:nvSpPr>
        <p:spPr>
          <a:xfrm>
            <a:off x="1530490" y="5771204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199 h 838200"/>
              <a:gd name="connsiteX3" fmla="*/ 0 w 73152"/>
              <a:gd name="connsiteY3" fmla="*/ 838199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199"/>
                </a:lnTo>
                <a:lnTo>
                  <a:pt x="0" y="838199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26" name="Freeform 3"/>
          <p:cNvSpPr/>
          <p:nvPr/>
        </p:nvSpPr>
        <p:spPr>
          <a:xfrm>
            <a:off x="1530490" y="5771204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199 h 838200"/>
              <a:gd name="connsiteX3" fmla="*/ 0 w 73152"/>
              <a:gd name="connsiteY3" fmla="*/ 838199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199"/>
                </a:lnTo>
                <a:lnTo>
                  <a:pt x="0" y="838199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651592" y="299551"/>
            <a:ext cx="7840817" cy="6244496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>
            <a:off x="1965634" y="818006"/>
            <a:ext cx="4462760" cy="591902"/>
          </a:xfrm>
          <a:prstGeom prst="rect">
            <a:avLst/>
          </a:prstGeom>
          <a:noFill/>
        </p:spPr>
        <p:txBody>
          <a:bodyPr wrap="none" lIns="0" tIns="0" rIns="0" bIns="40078" rtlCol="0">
            <a:spAutoFit/>
          </a:bodyPr>
          <a:lstStyle/>
          <a:p>
            <a:pPr>
              <a:lnSpc>
                <a:spcPts val="4295"/>
              </a:lnSpc>
            </a:pPr>
            <a:r>
              <a:rPr lang="en-US" altLang="zh-CN" sz="3800" dirty="0">
                <a:solidFill>
                  <a:srgbClr val="572314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Cause-Effect</a:t>
            </a:r>
            <a:r>
              <a:rPr lang="en-US" altLang="zh-CN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800" dirty="0">
                <a:solidFill>
                  <a:srgbClr val="572314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Graph</a:t>
            </a:r>
            <a:endParaRPr lang="en-US" altLang="zh-CN" sz="3800" dirty="0">
              <a:solidFill>
                <a:srgbClr val="572314"/>
              </a:solidFill>
              <a:latin typeface="微软雅黑" panose="020B0503020204020204" pitchFamily="18" charset="-122"/>
              <a:cs typeface="微软雅黑" panose="020B0503020204020204" pitchFamily="18" charset="-122"/>
            </a:endParaRPr>
          </a:p>
        </p:txBody>
      </p:sp>
      <p:sp>
        <p:nvSpPr>
          <p:cNvPr id="32" name="内容占位符 2"/>
          <p:cNvSpPr txBox="1"/>
          <p:nvPr/>
        </p:nvSpPr>
        <p:spPr>
          <a:xfrm>
            <a:off x="1500166" y="1571612"/>
            <a:ext cx="7215238" cy="45259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r>
              <a:rPr lang="en-US" altLang="zh-CN" sz="2600" dirty="0"/>
              <a:t>The Cause-Effect Graphing technique is a black-box testing technique and requirement-based technique.</a:t>
            </a:r>
            <a:endParaRPr lang="en-US" altLang="zh-CN" sz="2600" dirty="0"/>
          </a:p>
          <a:p>
            <a:endParaRPr lang="en-US" altLang="zh-CN" sz="2600" dirty="0"/>
          </a:p>
          <a:p>
            <a:r>
              <a:rPr lang="en-US" altLang="zh-CN" sz="2600" dirty="0"/>
              <a:t>Cause-Effect Graphing is very </a:t>
            </a:r>
            <a:r>
              <a:rPr lang="en-US" altLang="zh-CN" sz="2600" dirty="0">
                <a:solidFill>
                  <a:srgbClr val="FF0000"/>
                </a:solidFill>
              </a:rPr>
              <a:t>similar to Decision Table</a:t>
            </a:r>
            <a:r>
              <a:rPr lang="en-US" altLang="zh-CN" sz="2600" dirty="0"/>
              <a:t>-Based Testing, where logical combinations of the inputs produce outputs; this is shown in the form of a graph.</a:t>
            </a:r>
            <a:endParaRPr lang="en-US" altLang="zh-CN" sz="2600" dirty="0"/>
          </a:p>
          <a:p>
            <a:endParaRPr lang="en-US" altLang="zh-CN" sz="2600" dirty="0"/>
          </a:p>
          <a:p>
            <a:r>
              <a:rPr lang="en-US" altLang="zh-CN" sz="2600" dirty="0"/>
              <a:t>The Cause-Effect Graphing technique begins with the set of requirements, and determines the minimum number of test cases to completely cover the requirements.</a:t>
            </a:r>
            <a:endParaRPr lang="en-US" altLang="zh-CN" sz="2600" dirty="0"/>
          </a:p>
          <a:p>
            <a:endParaRPr lang="en-US" altLang="zh-CN" sz="2600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endParaRPr lang="zh-CN" alt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785786" y="328123"/>
            <a:ext cx="6952481" cy="760400"/>
          </a:xfrm>
          <a:custGeom>
            <a:avLst/>
            <a:gdLst>
              <a:gd name="connsiteX0" fmla="*/ 0 w 8130540"/>
              <a:gd name="connsiteY0" fmla="*/ 0 h 838200"/>
              <a:gd name="connsiteX1" fmla="*/ 8130539 w 8130540"/>
              <a:gd name="connsiteY1" fmla="*/ 0 h 838200"/>
              <a:gd name="connsiteX2" fmla="*/ 8130539 w 8130540"/>
              <a:gd name="connsiteY2" fmla="*/ 838200 h 838200"/>
              <a:gd name="connsiteX3" fmla="*/ 0 w 8130540"/>
              <a:gd name="connsiteY3" fmla="*/ 838200 h 838200"/>
              <a:gd name="connsiteX4" fmla="*/ 0 w 8130540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8130540" h="838200">
                <a:moveTo>
                  <a:pt x="0" y="0"/>
                </a:moveTo>
                <a:lnTo>
                  <a:pt x="8130539" y="0"/>
                </a:lnTo>
                <a:lnTo>
                  <a:pt x="8130539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3" name="Freeform 3"/>
          <p:cNvSpPr/>
          <p:nvPr/>
        </p:nvSpPr>
        <p:spPr>
          <a:xfrm>
            <a:off x="787089" y="328123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5" name="Freeform 3"/>
          <p:cNvSpPr/>
          <p:nvPr/>
        </p:nvSpPr>
        <p:spPr>
          <a:xfrm>
            <a:off x="787089" y="328123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6" name="Freeform 3"/>
          <p:cNvSpPr/>
          <p:nvPr/>
        </p:nvSpPr>
        <p:spPr>
          <a:xfrm>
            <a:off x="785786" y="1105806"/>
            <a:ext cx="6952481" cy="760400"/>
          </a:xfrm>
          <a:custGeom>
            <a:avLst/>
            <a:gdLst>
              <a:gd name="connsiteX0" fmla="*/ 0 w 8130540"/>
              <a:gd name="connsiteY0" fmla="*/ 0 h 838200"/>
              <a:gd name="connsiteX1" fmla="*/ 8130539 w 8130540"/>
              <a:gd name="connsiteY1" fmla="*/ 0 h 838200"/>
              <a:gd name="connsiteX2" fmla="*/ 8130539 w 8130540"/>
              <a:gd name="connsiteY2" fmla="*/ 838199 h 838200"/>
              <a:gd name="connsiteX3" fmla="*/ 0 w 8130540"/>
              <a:gd name="connsiteY3" fmla="*/ 838199 h 838200"/>
              <a:gd name="connsiteX4" fmla="*/ 0 w 8130540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8130540" h="838200">
                <a:moveTo>
                  <a:pt x="0" y="0"/>
                </a:moveTo>
                <a:lnTo>
                  <a:pt x="8130539" y="0"/>
                </a:lnTo>
                <a:lnTo>
                  <a:pt x="8130539" y="838199"/>
                </a:lnTo>
                <a:lnTo>
                  <a:pt x="0" y="838199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7" name="Freeform 3"/>
          <p:cNvSpPr/>
          <p:nvPr/>
        </p:nvSpPr>
        <p:spPr>
          <a:xfrm>
            <a:off x="787089" y="1105806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199 h 838200"/>
              <a:gd name="connsiteX3" fmla="*/ 0 w 73152"/>
              <a:gd name="connsiteY3" fmla="*/ 838199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199"/>
                </a:lnTo>
                <a:lnTo>
                  <a:pt x="0" y="838199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8" name="Freeform 3"/>
          <p:cNvSpPr/>
          <p:nvPr/>
        </p:nvSpPr>
        <p:spPr>
          <a:xfrm>
            <a:off x="787089" y="1105806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199 h 838200"/>
              <a:gd name="connsiteX3" fmla="*/ 0 w 73152"/>
              <a:gd name="connsiteY3" fmla="*/ 838199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199"/>
                </a:lnTo>
                <a:lnTo>
                  <a:pt x="0" y="838199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9" name="Freeform 3"/>
          <p:cNvSpPr/>
          <p:nvPr/>
        </p:nvSpPr>
        <p:spPr>
          <a:xfrm>
            <a:off x="785786" y="1882795"/>
            <a:ext cx="6952481" cy="760400"/>
          </a:xfrm>
          <a:custGeom>
            <a:avLst/>
            <a:gdLst>
              <a:gd name="connsiteX0" fmla="*/ 0 w 8130540"/>
              <a:gd name="connsiteY0" fmla="*/ 0 h 838200"/>
              <a:gd name="connsiteX1" fmla="*/ 8130539 w 8130540"/>
              <a:gd name="connsiteY1" fmla="*/ 0 h 838200"/>
              <a:gd name="connsiteX2" fmla="*/ 8130539 w 8130540"/>
              <a:gd name="connsiteY2" fmla="*/ 838200 h 838200"/>
              <a:gd name="connsiteX3" fmla="*/ 0 w 8130540"/>
              <a:gd name="connsiteY3" fmla="*/ 838200 h 838200"/>
              <a:gd name="connsiteX4" fmla="*/ 0 w 8130540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8130540" h="838200">
                <a:moveTo>
                  <a:pt x="0" y="0"/>
                </a:moveTo>
                <a:lnTo>
                  <a:pt x="8130539" y="0"/>
                </a:lnTo>
                <a:lnTo>
                  <a:pt x="8130539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10" name="Freeform 3"/>
          <p:cNvSpPr/>
          <p:nvPr/>
        </p:nvSpPr>
        <p:spPr>
          <a:xfrm>
            <a:off x="787089" y="1882795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11" name="Freeform 3"/>
          <p:cNvSpPr/>
          <p:nvPr/>
        </p:nvSpPr>
        <p:spPr>
          <a:xfrm>
            <a:off x="787089" y="1882795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12" name="Freeform 3"/>
          <p:cNvSpPr/>
          <p:nvPr/>
        </p:nvSpPr>
        <p:spPr>
          <a:xfrm>
            <a:off x="785786" y="2660477"/>
            <a:ext cx="6952481" cy="760400"/>
          </a:xfrm>
          <a:custGeom>
            <a:avLst/>
            <a:gdLst>
              <a:gd name="connsiteX0" fmla="*/ 0 w 8130540"/>
              <a:gd name="connsiteY0" fmla="*/ 0 h 838200"/>
              <a:gd name="connsiteX1" fmla="*/ 8130539 w 8130540"/>
              <a:gd name="connsiteY1" fmla="*/ 0 h 838200"/>
              <a:gd name="connsiteX2" fmla="*/ 8130539 w 8130540"/>
              <a:gd name="connsiteY2" fmla="*/ 838200 h 838200"/>
              <a:gd name="connsiteX3" fmla="*/ 0 w 8130540"/>
              <a:gd name="connsiteY3" fmla="*/ 838200 h 838200"/>
              <a:gd name="connsiteX4" fmla="*/ 0 w 8130540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8130540" h="838200">
                <a:moveTo>
                  <a:pt x="0" y="0"/>
                </a:moveTo>
                <a:lnTo>
                  <a:pt x="8130539" y="0"/>
                </a:lnTo>
                <a:lnTo>
                  <a:pt x="8130539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13" name="Freeform 3"/>
          <p:cNvSpPr/>
          <p:nvPr/>
        </p:nvSpPr>
        <p:spPr>
          <a:xfrm>
            <a:off x="787089" y="2660477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14" name="Freeform 3"/>
          <p:cNvSpPr/>
          <p:nvPr/>
        </p:nvSpPr>
        <p:spPr>
          <a:xfrm>
            <a:off x="787089" y="2660477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15" name="Freeform 3"/>
          <p:cNvSpPr/>
          <p:nvPr/>
        </p:nvSpPr>
        <p:spPr>
          <a:xfrm>
            <a:off x="785786" y="3438159"/>
            <a:ext cx="6952481" cy="760400"/>
          </a:xfrm>
          <a:custGeom>
            <a:avLst/>
            <a:gdLst>
              <a:gd name="connsiteX0" fmla="*/ 0 w 8130540"/>
              <a:gd name="connsiteY0" fmla="*/ 0 h 838200"/>
              <a:gd name="connsiteX1" fmla="*/ 8130539 w 8130540"/>
              <a:gd name="connsiteY1" fmla="*/ 0 h 838200"/>
              <a:gd name="connsiteX2" fmla="*/ 8130539 w 8130540"/>
              <a:gd name="connsiteY2" fmla="*/ 838200 h 838200"/>
              <a:gd name="connsiteX3" fmla="*/ 0 w 8130540"/>
              <a:gd name="connsiteY3" fmla="*/ 838200 h 838200"/>
              <a:gd name="connsiteX4" fmla="*/ 0 w 8130540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8130540" h="838200">
                <a:moveTo>
                  <a:pt x="0" y="0"/>
                </a:moveTo>
                <a:lnTo>
                  <a:pt x="8130539" y="0"/>
                </a:lnTo>
                <a:lnTo>
                  <a:pt x="8130539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16" name="Freeform 3"/>
          <p:cNvSpPr/>
          <p:nvPr/>
        </p:nvSpPr>
        <p:spPr>
          <a:xfrm>
            <a:off x="787089" y="3438159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17" name="Freeform 3"/>
          <p:cNvSpPr/>
          <p:nvPr/>
        </p:nvSpPr>
        <p:spPr>
          <a:xfrm>
            <a:off x="787089" y="3438159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18" name="Freeform 3"/>
          <p:cNvSpPr/>
          <p:nvPr/>
        </p:nvSpPr>
        <p:spPr>
          <a:xfrm>
            <a:off x="785786" y="4215841"/>
            <a:ext cx="6952481" cy="760400"/>
          </a:xfrm>
          <a:custGeom>
            <a:avLst/>
            <a:gdLst>
              <a:gd name="connsiteX0" fmla="*/ 0 w 8130540"/>
              <a:gd name="connsiteY0" fmla="*/ 0 h 838200"/>
              <a:gd name="connsiteX1" fmla="*/ 8130539 w 8130540"/>
              <a:gd name="connsiteY1" fmla="*/ 0 h 838200"/>
              <a:gd name="connsiteX2" fmla="*/ 8130539 w 8130540"/>
              <a:gd name="connsiteY2" fmla="*/ 838200 h 838200"/>
              <a:gd name="connsiteX3" fmla="*/ 0 w 8130540"/>
              <a:gd name="connsiteY3" fmla="*/ 838200 h 838200"/>
              <a:gd name="connsiteX4" fmla="*/ 0 w 8130540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8130540" h="838200">
                <a:moveTo>
                  <a:pt x="0" y="0"/>
                </a:moveTo>
                <a:lnTo>
                  <a:pt x="8130539" y="0"/>
                </a:lnTo>
                <a:lnTo>
                  <a:pt x="8130539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19" name="Freeform 3"/>
          <p:cNvSpPr/>
          <p:nvPr/>
        </p:nvSpPr>
        <p:spPr>
          <a:xfrm>
            <a:off x="787089" y="4215841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20" name="Freeform 3"/>
          <p:cNvSpPr/>
          <p:nvPr/>
        </p:nvSpPr>
        <p:spPr>
          <a:xfrm>
            <a:off x="787089" y="4215841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21" name="Freeform 3"/>
          <p:cNvSpPr/>
          <p:nvPr/>
        </p:nvSpPr>
        <p:spPr>
          <a:xfrm>
            <a:off x="785786" y="4993523"/>
            <a:ext cx="6952481" cy="760400"/>
          </a:xfrm>
          <a:custGeom>
            <a:avLst/>
            <a:gdLst>
              <a:gd name="connsiteX0" fmla="*/ 0 w 8130540"/>
              <a:gd name="connsiteY0" fmla="*/ 0 h 838200"/>
              <a:gd name="connsiteX1" fmla="*/ 8130539 w 8130540"/>
              <a:gd name="connsiteY1" fmla="*/ 0 h 838200"/>
              <a:gd name="connsiteX2" fmla="*/ 8130539 w 8130540"/>
              <a:gd name="connsiteY2" fmla="*/ 838200 h 838200"/>
              <a:gd name="connsiteX3" fmla="*/ 0 w 8130540"/>
              <a:gd name="connsiteY3" fmla="*/ 838200 h 838200"/>
              <a:gd name="connsiteX4" fmla="*/ 0 w 8130540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8130540" h="838200">
                <a:moveTo>
                  <a:pt x="0" y="0"/>
                </a:moveTo>
                <a:lnTo>
                  <a:pt x="8130539" y="0"/>
                </a:lnTo>
                <a:lnTo>
                  <a:pt x="8130539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22" name="Freeform 3"/>
          <p:cNvSpPr/>
          <p:nvPr/>
        </p:nvSpPr>
        <p:spPr>
          <a:xfrm>
            <a:off x="787089" y="4993523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23" name="Freeform 3"/>
          <p:cNvSpPr/>
          <p:nvPr/>
        </p:nvSpPr>
        <p:spPr>
          <a:xfrm>
            <a:off x="787089" y="4993523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24" name="Freeform 3"/>
          <p:cNvSpPr/>
          <p:nvPr/>
        </p:nvSpPr>
        <p:spPr>
          <a:xfrm>
            <a:off x="1529187" y="5453240"/>
            <a:ext cx="6952481" cy="760400"/>
          </a:xfrm>
          <a:custGeom>
            <a:avLst/>
            <a:gdLst>
              <a:gd name="connsiteX0" fmla="*/ 0 w 8130540"/>
              <a:gd name="connsiteY0" fmla="*/ 0 h 838200"/>
              <a:gd name="connsiteX1" fmla="*/ 8130539 w 8130540"/>
              <a:gd name="connsiteY1" fmla="*/ 0 h 838200"/>
              <a:gd name="connsiteX2" fmla="*/ 8130539 w 8130540"/>
              <a:gd name="connsiteY2" fmla="*/ 838199 h 838200"/>
              <a:gd name="connsiteX3" fmla="*/ 0 w 8130540"/>
              <a:gd name="connsiteY3" fmla="*/ 838199 h 838200"/>
              <a:gd name="connsiteX4" fmla="*/ 0 w 8130540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8130540" h="838200">
                <a:moveTo>
                  <a:pt x="0" y="0"/>
                </a:moveTo>
                <a:lnTo>
                  <a:pt x="8130539" y="0"/>
                </a:lnTo>
                <a:lnTo>
                  <a:pt x="8130539" y="838199"/>
                </a:lnTo>
                <a:lnTo>
                  <a:pt x="0" y="838199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25" name="Freeform 3"/>
          <p:cNvSpPr/>
          <p:nvPr/>
        </p:nvSpPr>
        <p:spPr>
          <a:xfrm>
            <a:off x="1530490" y="5453240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199 h 838200"/>
              <a:gd name="connsiteX3" fmla="*/ 0 w 73152"/>
              <a:gd name="connsiteY3" fmla="*/ 838199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199"/>
                </a:lnTo>
                <a:lnTo>
                  <a:pt x="0" y="838199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26" name="Freeform 3"/>
          <p:cNvSpPr/>
          <p:nvPr/>
        </p:nvSpPr>
        <p:spPr>
          <a:xfrm>
            <a:off x="1530490" y="5453240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199 h 838200"/>
              <a:gd name="connsiteX3" fmla="*/ 0 w 73152"/>
              <a:gd name="connsiteY3" fmla="*/ 838199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199"/>
                </a:lnTo>
                <a:lnTo>
                  <a:pt x="0" y="838199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285720" y="299551"/>
            <a:ext cx="7840817" cy="6244496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>
            <a:off x="1222233" y="500042"/>
            <a:ext cx="4462760" cy="591902"/>
          </a:xfrm>
          <a:prstGeom prst="rect">
            <a:avLst/>
          </a:prstGeom>
          <a:noFill/>
        </p:spPr>
        <p:txBody>
          <a:bodyPr wrap="none" lIns="0" tIns="0" rIns="0" bIns="40078" rtlCol="0">
            <a:spAutoFit/>
          </a:bodyPr>
          <a:lstStyle/>
          <a:p>
            <a:pPr>
              <a:lnSpc>
                <a:spcPts val="4295"/>
              </a:lnSpc>
            </a:pPr>
            <a:r>
              <a:rPr lang="en-US" altLang="zh-CN" sz="3800" dirty="0">
                <a:solidFill>
                  <a:srgbClr val="572314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Cause-Effect</a:t>
            </a:r>
            <a:r>
              <a:rPr lang="en-US" altLang="zh-CN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800" dirty="0">
                <a:solidFill>
                  <a:srgbClr val="572314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Graph</a:t>
            </a:r>
            <a:endParaRPr lang="en-US" altLang="zh-CN" sz="3800" dirty="0">
              <a:solidFill>
                <a:srgbClr val="572314"/>
              </a:solidFill>
              <a:latin typeface="微软雅黑" panose="020B0503020204020204" pitchFamily="18" charset="-122"/>
              <a:cs typeface="微软雅黑" panose="020B0503020204020204" pitchFamily="18" charset="-122"/>
            </a:endParaRPr>
          </a:p>
        </p:txBody>
      </p:sp>
      <p:sp>
        <p:nvSpPr>
          <p:cNvPr id="27" name="TextBox 1"/>
          <p:cNvSpPr txBox="1"/>
          <p:nvPr/>
        </p:nvSpPr>
        <p:spPr>
          <a:xfrm>
            <a:off x="1287393" y="1329569"/>
            <a:ext cx="7499449" cy="1259265"/>
          </a:xfrm>
          <a:prstGeom prst="rect">
            <a:avLst/>
          </a:prstGeom>
          <a:noFill/>
        </p:spPr>
        <p:txBody>
          <a:bodyPr wrap="square" lIns="0" tIns="0" rIns="0" bIns="40078" rtlCol="0">
            <a:spAutoFit/>
          </a:bodyPr>
          <a:lstStyle/>
          <a:p>
            <a:pPr>
              <a:lnSpc>
                <a:spcPct val="110000"/>
              </a:lnSpc>
              <a:tabLst>
                <a:tab pos="255905" algn="l"/>
              </a:tabLst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Cause-effect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graph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models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the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logical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relationship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18" charset="-122"/>
              <a:cs typeface="微软雅黑" panose="020B0503020204020204" pitchFamily="18" charset="-122"/>
            </a:endParaRPr>
          </a:p>
          <a:p>
            <a:pPr>
              <a:lnSpc>
                <a:spcPct val="110000"/>
              </a:lnSpc>
              <a:tabLst>
                <a:tab pos="255905" algn="l"/>
              </a:tabLst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between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program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input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and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output 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which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can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be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expressed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as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a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Boolean expression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.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18" charset="-122"/>
              <a:cs typeface="微软雅黑" panose="020B0503020204020204" pitchFamily="18" charset="-122"/>
            </a:endParaRPr>
          </a:p>
        </p:txBody>
      </p:sp>
      <p:sp>
        <p:nvSpPr>
          <p:cNvPr id="28" name="TextBox 1"/>
          <p:cNvSpPr txBox="1"/>
          <p:nvPr/>
        </p:nvSpPr>
        <p:spPr>
          <a:xfrm>
            <a:off x="1287392" y="2931017"/>
            <a:ext cx="7254486" cy="386718"/>
          </a:xfrm>
          <a:prstGeom prst="rect">
            <a:avLst/>
          </a:prstGeom>
          <a:noFill/>
        </p:spPr>
        <p:txBody>
          <a:bodyPr wrap="none" lIns="0" tIns="0" rIns="0" bIns="40078" rtlCol="0">
            <a:spAutoFit/>
          </a:bodyPr>
          <a:lstStyle/>
          <a:p>
            <a:pPr>
              <a:lnSpc>
                <a:spcPts val="2715"/>
              </a:lnSpc>
            </a:pPr>
            <a:r>
              <a:rPr lang="en-US" altLang="zh-CN" sz="2400" dirty="0">
                <a:solidFill>
                  <a:srgbClr val="0065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Cause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:any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condition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in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the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requirements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that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may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18" charset="-122"/>
              <a:cs typeface="微软雅黑" panose="020B0503020204020204" pitchFamily="18" charset="-122"/>
            </a:endParaRPr>
          </a:p>
        </p:txBody>
      </p:sp>
      <p:sp>
        <p:nvSpPr>
          <p:cNvPr id="29" name="TextBox 1"/>
          <p:cNvSpPr txBox="1"/>
          <p:nvPr/>
        </p:nvSpPr>
        <p:spPr>
          <a:xfrm>
            <a:off x="1537168" y="3306763"/>
            <a:ext cx="5820913" cy="758615"/>
          </a:xfrm>
          <a:prstGeom prst="rect">
            <a:avLst/>
          </a:prstGeom>
          <a:noFill/>
        </p:spPr>
        <p:txBody>
          <a:bodyPr wrap="square" lIns="0" tIns="0" rIns="0" bIns="40078" rtlCol="0">
            <a:spAutoFit/>
          </a:bodyPr>
          <a:lstStyle/>
          <a:p>
            <a:pPr>
              <a:lnSpc>
                <a:spcPts val="28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effect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the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program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output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28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(e.g. side&gt;0,side1!=side2,month=feb)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18" charset="-122"/>
              <a:cs typeface="微软雅黑" panose="020B0503020204020204" pitchFamily="18" charset="-122"/>
            </a:endParaRPr>
          </a:p>
        </p:txBody>
      </p:sp>
      <p:sp>
        <p:nvSpPr>
          <p:cNvPr id="30" name="TextBox 1"/>
          <p:cNvSpPr txBox="1"/>
          <p:nvPr/>
        </p:nvSpPr>
        <p:spPr>
          <a:xfrm>
            <a:off x="1287392" y="4290520"/>
            <a:ext cx="7548861" cy="2043262"/>
          </a:xfrm>
          <a:prstGeom prst="rect">
            <a:avLst/>
          </a:prstGeom>
          <a:noFill/>
        </p:spPr>
        <p:txBody>
          <a:bodyPr wrap="none" lIns="0" tIns="0" rIns="0" bIns="40078" rtlCol="0">
            <a:spAutoFit/>
          </a:bodyPr>
          <a:lstStyle/>
          <a:p>
            <a:pPr>
              <a:lnSpc>
                <a:spcPct val="110000"/>
              </a:lnSpc>
              <a:tabLst>
                <a:tab pos="255905" algn="l"/>
              </a:tabLst>
            </a:pPr>
            <a:r>
              <a:rPr lang="en-US" altLang="zh-CN" sz="2400" dirty="0">
                <a:solidFill>
                  <a:srgbClr val="0065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Effect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:response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of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a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program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to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some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combinations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18" charset="-122"/>
              <a:cs typeface="微软雅黑" panose="020B0503020204020204" pitchFamily="18" charset="-122"/>
            </a:endParaRPr>
          </a:p>
          <a:p>
            <a:pPr>
              <a:lnSpc>
                <a:spcPct val="110000"/>
              </a:lnSpc>
              <a:tabLst>
                <a:tab pos="255905" algn="l"/>
              </a:tabLst>
            </a:pPr>
            <a:r>
              <a:rPr lang="en-US" altLang="zh-CN" dirty="0"/>
              <a:t>	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of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input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conditions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tabLst>
                <a:tab pos="255905" algn="l"/>
              </a:tabLst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(e.g.error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message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displayed on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the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screen,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18" charset="-122"/>
              <a:cs typeface="微软雅黑" panose="020B0503020204020204" pitchFamily="18" charset="-122"/>
            </a:endParaRPr>
          </a:p>
          <a:p>
            <a:pPr>
              <a:lnSpc>
                <a:spcPct val="110000"/>
              </a:lnSpc>
              <a:tabLst>
                <a:tab pos="255905" algn="l"/>
              </a:tabLst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         a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new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window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is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displayed,or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18" charset="-122"/>
              <a:cs typeface="微软雅黑" panose="020B0503020204020204" pitchFamily="18" charset="-122"/>
            </a:endParaRPr>
          </a:p>
          <a:p>
            <a:pPr>
              <a:lnSpc>
                <a:spcPct val="110000"/>
              </a:lnSpc>
              <a:tabLst>
                <a:tab pos="255905" algn="l"/>
              </a:tabLst>
            </a:pPr>
            <a:r>
              <a:rPr lang="en-US" altLang="zh-CN" dirty="0"/>
              <a:t>	          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database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is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updated)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18" charset="-122"/>
              <a:cs typeface="微软雅黑" panose="020B0503020204020204" pitchFamily="18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1529187" y="328123"/>
            <a:ext cx="6952481" cy="760400"/>
          </a:xfrm>
          <a:custGeom>
            <a:avLst/>
            <a:gdLst>
              <a:gd name="connsiteX0" fmla="*/ 0 w 8130540"/>
              <a:gd name="connsiteY0" fmla="*/ 0 h 838200"/>
              <a:gd name="connsiteX1" fmla="*/ 8130539 w 8130540"/>
              <a:gd name="connsiteY1" fmla="*/ 0 h 838200"/>
              <a:gd name="connsiteX2" fmla="*/ 8130539 w 8130540"/>
              <a:gd name="connsiteY2" fmla="*/ 838200 h 838200"/>
              <a:gd name="connsiteX3" fmla="*/ 0 w 8130540"/>
              <a:gd name="connsiteY3" fmla="*/ 838200 h 838200"/>
              <a:gd name="connsiteX4" fmla="*/ 0 w 8130540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8130540" h="838200">
                <a:moveTo>
                  <a:pt x="0" y="0"/>
                </a:moveTo>
                <a:lnTo>
                  <a:pt x="8130539" y="0"/>
                </a:lnTo>
                <a:lnTo>
                  <a:pt x="8130539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3" name="Freeform 3"/>
          <p:cNvSpPr/>
          <p:nvPr/>
        </p:nvSpPr>
        <p:spPr>
          <a:xfrm>
            <a:off x="1530490" y="328123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5" name="Freeform 3"/>
          <p:cNvSpPr/>
          <p:nvPr/>
        </p:nvSpPr>
        <p:spPr>
          <a:xfrm>
            <a:off x="1530490" y="328123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6" name="Freeform 3"/>
          <p:cNvSpPr/>
          <p:nvPr/>
        </p:nvSpPr>
        <p:spPr>
          <a:xfrm>
            <a:off x="1529187" y="1105806"/>
            <a:ext cx="6952481" cy="760400"/>
          </a:xfrm>
          <a:custGeom>
            <a:avLst/>
            <a:gdLst>
              <a:gd name="connsiteX0" fmla="*/ 0 w 8130540"/>
              <a:gd name="connsiteY0" fmla="*/ 0 h 838200"/>
              <a:gd name="connsiteX1" fmla="*/ 8130539 w 8130540"/>
              <a:gd name="connsiteY1" fmla="*/ 0 h 838200"/>
              <a:gd name="connsiteX2" fmla="*/ 8130539 w 8130540"/>
              <a:gd name="connsiteY2" fmla="*/ 838199 h 838200"/>
              <a:gd name="connsiteX3" fmla="*/ 0 w 8130540"/>
              <a:gd name="connsiteY3" fmla="*/ 838199 h 838200"/>
              <a:gd name="connsiteX4" fmla="*/ 0 w 8130540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8130540" h="838200">
                <a:moveTo>
                  <a:pt x="0" y="0"/>
                </a:moveTo>
                <a:lnTo>
                  <a:pt x="8130539" y="0"/>
                </a:lnTo>
                <a:lnTo>
                  <a:pt x="8130539" y="838199"/>
                </a:lnTo>
                <a:lnTo>
                  <a:pt x="0" y="838199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7" name="Freeform 3"/>
          <p:cNvSpPr/>
          <p:nvPr/>
        </p:nvSpPr>
        <p:spPr>
          <a:xfrm>
            <a:off x="1530490" y="1105806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199 h 838200"/>
              <a:gd name="connsiteX3" fmla="*/ 0 w 73152"/>
              <a:gd name="connsiteY3" fmla="*/ 838199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199"/>
                </a:lnTo>
                <a:lnTo>
                  <a:pt x="0" y="838199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8" name="Freeform 3"/>
          <p:cNvSpPr/>
          <p:nvPr/>
        </p:nvSpPr>
        <p:spPr>
          <a:xfrm>
            <a:off x="1530490" y="1105806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199 h 838200"/>
              <a:gd name="connsiteX3" fmla="*/ 0 w 73152"/>
              <a:gd name="connsiteY3" fmla="*/ 838199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199"/>
                </a:lnTo>
                <a:lnTo>
                  <a:pt x="0" y="838199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9" name="Freeform 3"/>
          <p:cNvSpPr/>
          <p:nvPr/>
        </p:nvSpPr>
        <p:spPr>
          <a:xfrm>
            <a:off x="1529187" y="1882795"/>
            <a:ext cx="6952481" cy="760400"/>
          </a:xfrm>
          <a:custGeom>
            <a:avLst/>
            <a:gdLst>
              <a:gd name="connsiteX0" fmla="*/ 0 w 8130540"/>
              <a:gd name="connsiteY0" fmla="*/ 0 h 838200"/>
              <a:gd name="connsiteX1" fmla="*/ 8130539 w 8130540"/>
              <a:gd name="connsiteY1" fmla="*/ 0 h 838200"/>
              <a:gd name="connsiteX2" fmla="*/ 8130539 w 8130540"/>
              <a:gd name="connsiteY2" fmla="*/ 838200 h 838200"/>
              <a:gd name="connsiteX3" fmla="*/ 0 w 8130540"/>
              <a:gd name="connsiteY3" fmla="*/ 838200 h 838200"/>
              <a:gd name="connsiteX4" fmla="*/ 0 w 8130540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8130540" h="838200">
                <a:moveTo>
                  <a:pt x="0" y="0"/>
                </a:moveTo>
                <a:lnTo>
                  <a:pt x="8130539" y="0"/>
                </a:lnTo>
                <a:lnTo>
                  <a:pt x="8130539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10" name="Freeform 3"/>
          <p:cNvSpPr/>
          <p:nvPr/>
        </p:nvSpPr>
        <p:spPr>
          <a:xfrm>
            <a:off x="1530490" y="1882795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11" name="Freeform 3"/>
          <p:cNvSpPr/>
          <p:nvPr/>
        </p:nvSpPr>
        <p:spPr>
          <a:xfrm>
            <a:off x="1530490" y="1882795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12" name="Freeform 3"/>
          <p:cNvSpPr/>
          <p:nvPr/>
        </p:nvSpPr>
        <p:spPr>
          <a:xfrm>
            <a:off x="1529187" y="2660477"/>
            <a:ext cx="6952481" cy="760400"/>
          </a:xfrm>
          <a:custGeom>
            <a:avLst/>
            <a:gdLst>
              <a:gd name="connsiteX0" fmla="*/ 0 w 8130540"/>
              <a:gd name="connsiteY0" fmla="*/ 0 h 838200"/>
              <a:gd name="connsiteX1" fmla="*/ 8130539 w 8130540"/>
              <a:gd name="connsiteY1" fmla="*/ 0 h 838200"/>
              <a:gd name="connsiteX2" fmla="*/ 8130539 w 8130540"/>
              <a:gd name="connsiteY2" fmla="*/ 838200 h 838200"/>
              <a:gd name="connsiteX3" fmla="*/ 0 w 8130540"/>
              <a:gd name="connsiteY3" fmla="*/ 838200 h 838200"/>
              <a:gd name="connsiteX4" fmla="*/ 0 w 8130540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8130540" h="838200">
                <a:moveTo>
                  <a:pt x="0" y="0"/>
                </a:moveTo>
                <a:lnTo>
                  <a:pt x="8130539" y="0"/>
                </a:lnTo>
                <a:lnTo>
                  <a:pt x="8130539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13" name="Freeform 3"/>
          <p:cNvSpPr/>
          <p:nvPr/>
        </p:nvSpPr>
        <p:spPr>
          <a:xfrm>
            <a:off x="1530490" y="2660477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14" name="Freeform 3"/>
          <p:cNvSpPr/>
          <p:nvPr/>
        </p:nvSpPr>
        <p:spPr>
          <a:xfrm>
            <a:off x="1530490" y="2660477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15" name="Freeform 3"/>
          <p:cNvSpPr/>
          <p:nvPr/>
        </p:nvSpPr>
        <p:spPr>
          <a:xfrm>
            <a:off x="1529187" y="3438159"/>
            <a:ext cx="6952481" cy="760400"/>
          </a:xfrm>
          <a:custGeom>
            <a:avLst/>
            <a:gdLst>
              <a:gd name="connsiteX0" fmla="*/ 0 w 8130540"/>
              <a:gd name="connsiteY0" fmla="*/ 0 h 838200"/>
              <a:gd name="connsiteX1" fmla="*/ 8130539 w 8130540"/>
              <a:gd name="connsiteY1" fmla="*/ 0 h 838200"/>
              <a:gd name="connsiteX2" fmla="*/ 8130539 w 8130540"/>
              <a:gd name="connsiteY2" fmla="*/ 838200 h 838200"/>
              <a:gd name="connsiteX3" fmla="*/ 0 w 8130540"/>
              <a:gd name="connsiteY3" fmla="*/ 838200 h 838200"/>
              <a:gd name="connsiteX4" fmla="*/ 0 w 8130540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8130540" h="838200">
                <a:moveTo>
                  <a:pt x="0" y="0"/>
                </a:moveTo>
                <a:lnTo>
                  <a:pt x="8130539" y="0"/>
                </a:lnTo>
                <a:lnTo>
                  <a:pt x="8130539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16" name="Freeform 3"/>
          <p:cNvSpPr/>
          <p:nvPr/>
        </p:nvSpPr>
        <p:spPr>
          <a:xfrm>
            <a:off x="1530490" y="3438159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17" name="Freeform 3"/>
          <p:cNvSpPr/>
          <p:nvPr/>
        </p:nvSpPr>
        <p:spPr>
          <a:xfrm>
            <a:off x="1530490" y="3438159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18" name="Freeform 3"/>
          <p:cNvSpPr/>
          <p:nvPr/>
        </p:nvSpPr>
        <p:spPr>
          <a:xfrm>
            <a:off x="1529187" y="4215841"/>
            <a:ext cx="6952481" cy="760400"/>
          </a:xfrm>
          <a:custGeom>
            <a:avLst/>
            <a:gdLst>
              <a:gd name="connsiteX0" fmla="*/ 0 w 8130540"/>
              <a:gd name="connsiteY0" fmla="*/ 0 h 838200"/>
              <a:gd name="connsiteX1" fmla="*/ 8130539 w 8130540"/>
              <a:gd name="connsiteY1" fmla="*/ 0 h 838200"/>
              <a:gd name="connsiteX2" fmla="*/ 8130539 w 8130540"/>
              <a:gd name="connsiteY2" fmla="*/ 838200 h 838200"/>
              <a:gd name="connsiteX3" fmla="*/ 0 w 8130540"/>
              <a:gd name="connsiteY3" fmla="*/ 838200 h 838200"/>
              <a:gd name="connsiteX4" fmla="*/ 0 w 8130540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8130540" h="838200">
                <a:moveTo>
                  <a:pt x="0" y="0"/>
                </a:moveTo>
                <a:lnTo>
                  <a:pt x="8130539" y="0"/>
                </a:lnTo>
                <a:lnTo>
                  <a:pt x="8130539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19" name="Freeform 3"/>
          <p:cNvSpPr/>
          <p:nvPr/>
        </p:nvSpPr>
        <p:spPr>
          <a:xfrm>
            <a:off x="1530490" y="4215841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20" name="Freeform 3"/>
          <p:cNvSpPr/>
          <p:nvPr/>
        </p:nvSpPr>
        <p:spPr>
          <a:xfrm>
            <a:off x="1530490" y="4215841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21" name="Freeform 3"/>
          <p:cNvSpPr/>
          <p:nvPr/>
        </p:nvSpPr>
        <p:spPr>
          <a:xfrm>
            <a:off x="1529187" y="4993523"/>
            <a:ext cx="6952481" cy="760400"/>
          </a:xfrm>
          <a:custGeom>
            <a:avLst/>
            <a:gdLst>
              <a:gd name="connsiteX0" fmla="*/ 0 w 8130540"/>
              <a:gd name="connsiteY0" fmla="*/ 0 h 838200"/>
              <a:gd name="connsiteX1" fmla="*/ 8130539 w 8130540"/>
              <a:gd name="connsiteY1" fmla="*/ 0 h 838200"/>
              <a:gd name="connsiteX2" fmla="*/ 8130539 w 8130540"/>
              <a:gd name="connsiteY2" fmla="*/ 838200 h 838200"/>
              <a:gd name="connsiteX3" fmla="*/ 0 w 8130540"/>
              <a:gd name="connsiteY3" fmla="*/ 838200 h 838200"/>
              <a:gd name="connsiteX4" fmla="*/ 0 w 8130540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8130540" h="838200">
                <a:moveTo>
                  <a:pt x="0" y="0"/>
                </a:moveTo>
                <a:lnTo>
                  <a:pt x="8130539" y="0"/>
                </a:lnTo>
                <a:lnTo>
                  <a:pt x="8130539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22" name="Freeform 3"/>
          <p:cNvSpPr/>
          <p:nvPr/>
        </p:nvSpPr>
        <p:spPr>
          <a:xfrm>
            <a:off x="1530490" y="4993523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23" name="Freeform 3"/>
          <p:cNvSpPr/>
          <p:nvPr/>
        </p:nvSpPr>
        <p:spPr>
          <a:xfrm>
            <a:off x="1530490" y="4993523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24" name="Freeform 3"/>
          <p:cNvSpPr/>
          <p:nvPr/>
        </p:nvSpPr>
        <p:spPr>
          <a:xfrm>
            <a:off x="1529187" y="5771204"/>
            <a:ext cx="6952481" cy="760400"/>
          </a:xfrm>
          <a:custGeom>
            <a:avLst/>
            <a:gdLst>
              <a:gd name="connsiteX0" fmla="*/ 0 w 8130540"/>
              <a:gd name="connsiteY0" fmla="*/ 0 h 838200"/>
              <a:gd name="connsiteX1" fmla="*/ 8130539 w 8130540"/>
              <a:gd name="connsiteY1" fmla="*/ 0 h 838200"/>
              <a:gd name="connsiteX2" fmla="*/ 8130539 w 8130540"/>
              <a:gd name="connsiteY2" fmla="*/ 838199 h 838200"/>
              <a:gd name="connsiteX3" fmla="*/ 0 w 8130540"/>
              <a:gd name="connsiteY3" fmla="*/ 838199 h 838200"/>
              <a:gd name="connsiteX4" fmla="*/ 0 w 8130540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8130540" h="838200">
                <a:moveTo>
                  <a:pt x="0" y="0"/>
                </a:moveTo>
                <a:lnTo>
                  <a:pt x="8130539" y="0"/>
                </a:lnTo>
                <a:lnTo>
                  <a:pt x="8130539" y="838199"/>
                </a:lnTo>
                <a:lnTo>
                  <a:pt x="0" y="838199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25" name="Freeform 3"/>
          <p:cNvSpPr/>
          <p:nvPr/>
        </p:nvSpPr>
        <p:spPr>
          <a:xfrm>
            <a:off x="1530490" y="5771204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199 h 838200"/>
              <a:gd name="connsiteX3" fmla="*/ 0 w 73152"/>
              <a:gd name="connsiteY3" fmla="*/ 838199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199"/>
                </a:lnTo>
                <a:lnTo>
                  <a:pt x="0" y="838199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26" name="Freeform 3"/>
          <p:cNvSpPr/>
          <p:nvPr/>
        </p:nvSpPr>
        <p:spPr>
          <a:xfrm>
            <a:off x="1530490" y="5771204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199 h 838200"/>
              <a:gd name="connsiteX3" fmla="*/ 0 w 73152"/>
              <a:gd name="connsiteY3" fmla="*/ 838199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199"/>
                </a:lnTo>
                <a:lnTo>
                  <a:pt x="0" y="838199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651592" y="299551"/>
            <a:ext cx="7840817" cy="6244496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>
            <a:off x="1965634" y="818006"/>
            <a:ext cx="4462760" cy="591902"/>
          </a:xfrm>
          <a:prstGeom prst="rect">
            <a:avLst/>
          </a:prstGeom>
          <a:noFill/>
        </p:spPr>
        <p:txBody>
          <a:bodyPr wrap="none" lIns="0" tIns="0" rIns="0" bIns="40078" rtlCol="0">
            <a:spAutoFit/>
          </a:bodyPr>
          <a:lstStyle/>
          <a:p>
            <a:pPr>
              <a:lnSpc>
                <a:spcPts val="4295"/>
              </a:lnSpc>
            </a:pPr>
            <a:r>
              <a:rPr lang="en-US" altLang="zh-CN" sz="3800" dirty="0">
                <a:solidFill>
                  <a:srgbClr val="572314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Cause-Effect</a:t>
            </a:r>
            <a:r>
              <a:rPr lang="en-US" altLang="zh-CN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800" dirty="0">
                <a:solidFill>
                  <a:srgbClr val="572314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Graph</a:t>
            </a:r>
            <a:endParaRPr lang="en-US" altLang="zh-CN" sz="3800" dirty="0">
              <a:solidFill>
                <a:srgbClr val="572314"/>
              </a:solidFill>
              <a:latin typeface="微软雅黑" panose="020B0503020204020204" pitchFamily="18" charset="-122"/>
              <a:cs typeface="微软雅黑" panose="020B0503020204020204" pitchFamily="18" charset="-122"/>
            </a:endParaRPr>
          </a:p>
        </p:txBody>
      </p:sp>
      <p:sp>
        <p:nvSpPr>
          <p:cNvPr id="32" name="内容占位符 2"/>
          <p:cNvSpPr txBox="1"/>
          <p:nvPr/>
        </p:nvSpPr>
        <p:spPr>
          <a:xfrm>
            <a:off x="1500166" y="1571612"/>
            <a:ext cx="7215238" cy="45259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r>
              <a:rPr lang="en-US" altLang="zh-CN" sz="2800" dirty="0"/>
              <a:t>Causes /effects are represented as nodes in the cause-effect graph</a:t>
            </a:r>
            <a:endParaRPr lang="en-US" altLang="zh-CN" sz="2800" dirty="0"/>
          </a:p>
          <a:p>
            <a:endParaRPr lang="en-US" altLang="zh-CN" sz="2800" dirty="0"/>
          </a:p>
          <a:p>
            <a:r>
              <a:rPr lang="en-US" altLang="zh-CN" sz="2800" dirty="0"/>
              <a:t>The graph also includes a number of </a:t>
            </a:r>
            <a:r>
              <a:rPr lang="en-US" altLang="zh-CN" sz="2800" dirty="0">
                <a:solidFill>
                  <a:srgbClr val="FF0000"/>
                </a:solidFill>
              </a:rPr>
              <a:t>intermediate nodes </a:t>
            </a:r>
            <a:r>
              <a:rPr lang="en-US" altLang="zh-CN" sz="2800" dirty="0"/>
              <a:t>linking causes and effects</a:t>
            </a:r>
            <a:endParaRPr lang="en-US" altLang="zh-CN" sz="2800" dirty="0"/>
          </a:p>
          <a:p>
            <a:endParaRPr lang="en-US" altLang="zh-CN" sz="2800" dirty="0"/>
          </a:p>
          <a:p>
            <a:endParaRPr lang="zh-CN" alt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1529187" y="328123"/>
            <a:ext cx="6952481" cy="760400"/>
          </a:xfrm>
          <a:custGeom>
            <a:avLst/>
            <a:gdLst>
              <a:gd name="connsiteX0" fmla="*/ 0 w 8130540"/>
              <a:gd name="connsiteY0" fmla="*/ 0 h 838200"/>
              <a:gd name="connsiteX1" fmla="*/ 8130539 w 8130540"/>
              <a:gd name="connsiteY1" fmla="*/ 0 h 838200"/>
              <a:gd name="connsiteX2" fmla="*/ 8130539 w 8130540"/>
              <a:gd name="connsiteY2" fmla="*/ 838200 h 838200"/>
              <a:gd name="connsiteX3" fmla="*/ 0 w 8130540"/>
              <a:gd name="connsiteY3" fmla="*/ 838200 h 838200"/>
              <a:gd name="connsiteX4" fmla="*/ 0 w 8130540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8130540" h="838200">
                <a:moveTo>
                  <a:pt x="0" y="0"/>
                </a:moveTo>
                <a:lnTo>
                  <a:pt x="8130539" y="0"/>
                </a:lnTo>
                <a:lnTo>
                  <a:pt x="8130539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3" name="Freeform 3"/>
          <p:cNvSpPr/>
          <p:nvPr/>
        </p:nvSpPr>
        <p:spPr>
          <a:xfrm>
            <a:off x="1530490" y="328123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5" name="Freeform 3"/>
          <p:cNvSpPr/>
          <p:nvPr/>
        </p:nvSpPr>
        <p:spPr>
          <a:xfrm>
            <a:off x="1530490" y="328123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6" name="Freeform 3"/>
          <p:cNvSpPr/>
          <p:nvPr/>
        </p:nvSpPr>
        <p:spPr>
          <a:xfrm>
            <a:off x="1529187" y="1105806"/>
            <a:ext cx="6952481" cy="760400"/>
          </a:xfrm>
          <a:custGeom>
            <a:avLst/>
            <a:gdLst>
              <a:gd name="connsiteX0" fmla="*/ 0 w 8130540"/>
              <a:gd name="connsiteY0" fmla="*/ 0 h 838200"/>
              <a:gd name="connsiteX1" fmla="*/ 8130539 w 8130540"/>
              <a:gd name="connsiteY1" fmla="*/ 0 h 838200"/>
              <a:gd name="connsiteX2" fmla="*/ 8130539 w 8130540"/>
              <a:gd name="connsiteY2" fmla="*/ 838199 h 838200"/>
              <a:gd name="connsiteX3" fmla="*/ 0 w 8130540"/>
              <a:gd name="connsiteY3" fmla="*/ 838199 h 838200"/>
              <a:gd name="connsiteX4" fmla="*/ 0 w 8130540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8130540" h="838200">
                <a:moveTo>
                  <a:pt x="0" y="0"/>
                </a:moveTo>
                <a:lnTo>
                  <a:pt x="8130539" y="0"/>
                </a:lnTo>
                <a:lnTo>
                  <a:pt x="8130539" y="838199"/>
                </a:lnTo>
                <a:lnTo>
                  <a:pt x="0" y="838199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7" name="Freeform 3"/>
          <p:cNvSpPr/>
          <p:nvPr/>
        </p:nvSpPr>
        <p:spPr>
          <a:xfrm>
            <a:off x="1530490" y="1105806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199 h 838200"/>
              <a:gd name="connsiteX3" fmla="*/ 0 w 73152"/>
              <a:gd name="connsiteY3" fmla="*/ 838199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199"/>
                </a:lnTo>
                <a:lnTo>
                  <a:pt x="0" y="838199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8" name="Freeform 3"/>
          <p:cNvSpPr/>
          <p:nvPr/>
        </p:nvSpPr>
        <p:spPr>
          <a:xfrm>
            <a:off x="1530490" y="1105806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199 h 838200"/>
              <a:gd name="connsiteX3" fmla="*/ 0 w 73152"/>
              <a:gd name="connsiteY3" fmla="*/ 838199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199"/>
                </a:lnTo>
                <a:lnTo>
                  <a:pt x="0" y="838199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9" name="Freeform 3"/>
          <p:cNvSpPr/>
          <p:nvPr/>
        </p:nvSpPr>
        <p:spPr>
          <a:xfrm>
            <a:off x="1529187" y="1882795"/>
            <a:ext cx="6952481" cy="760400"/>
          </a:xfrm>
          <a:custGeom>
            <a:avLst/>
            <a:gdLst>
              <a:gd name="connsiteX0" fmla="*/ 0 w 8130540"/>
              <a:gd name="connsiteY0" fmla="*/ 0 h 838200"/>
              <a:gd name="connsiteX1" fmla="*/ 8130539 w 8130540"/>
              <a:gd name="connsiteY1" fmla="*/ 0 h 838200"/>
              <a:gd name="connsiteX2" fmla="*/ 8130539 w 8130540"/>
              <a:gd name="connsiteY2" fmla="*/ 838200 h 838200"/>
              <a:gd name="connsiteX3" fmla="*/ 0 w 8130540"/>
              <a:gd name="connsiteY3" fmla="*/ 838200 h 838200"/>
              <a:gd name="connsiteX4" fmla="*/ 0 w 8130540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8130540" h="838200">
                <a:moveTo>
                  <a:pt x="0" y="0"/>
                </a:moveTo>
                <a:lnTo>
                  <a:pt x="8130539" y="0"/>
                </a:lnTo>
                <a:lnTo>
                  <a:pt x="8130539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10" name="Freeform 3"/>
          <p:cNvSpPr/>
          <p:nvPr/>
        </p:nvSpPr>
        <p:spPr>
          <a:xfrm>
            <a:off x="1530490" y="1882795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11" name="Freeform 3"/>
          <p:cNvSpPr/>
          <p:nvPr/>
        </p:nvSpPr>
        <p:spPr>
          <a:xfrm>
            <a:off x="1530490" y="1882795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12" name="Freeform 3"/>
          <p:cNvSpPr/>
          <p:nvPr/>
        </p:nvSpPr>
        <p:spPr>
          <a:xfrm>
            <a:off x="1529187" y="2660477"/>
            <a:ext cx="6952481" cy="760400"/>
          </a:xfrm>
          <a:custGeom>
            <a:avLst/>
            <a:gdLst>
              <a:gd name="connsiteX0" fmla="*/ 0 w 8130540"/>
              <a:gd name="connsiteY0" fmla="*/ 0 h 838200"/>
              <a:gd name="connsiteX1" fmla="*/ 8130539 w 8130540"/>
              <a:gd name="connsiteY1" fmla="*/ 0 h 838200"/>
              <a:gd name="connsiteX2" fmla="*/ 8130539 w 8130540"/>
              <a:gd name="connsiteY2" fmla="*/ 838200 h 838200"/>
              <a:gd name="connsiteX3" fmla="*/ 0 w 8130540"/>
              <a:gd name="connsiteY3" fmla="*/ 838200 h 838200"/>
              <a:gd name="connsiteX4" fmla="*/ 0 w 8130540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8130540" h="838200">
                <a:moveTo>
                  <a:pt x="0" y="0"/>
                </a:moveTo>
                <a:lnTo>
                  <a:pt x="8130539" y="0"/>
                </a:lnTo>
                <a:lnTo>
                  <a:pt x="8130539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13" name="Freeform 3"/>
          <p:cNvSpPr/>
          <p:nvPr/>
        </p:nvSpPr>
        <p:spPr>
          <a:xfrm>
            <a:off x="1530490" y="2660477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14" name="Freeform 3"/>
          <p:cNvSpPr/>
          <p:nvPr/>
        </p:nvSpPr>
        <p:spPr>
          <a:xfrm>
            <a:off x="1530490" y="2660477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15" name="Freeform 3"/>
          <p:cNvSpPr/>
          <p:nvPr/>
        </p:nvSpPr>
        <p:spPr>
          <a:xfrm>
            <a:off x="1529187" y="3438159"/>
            <a:ext cx="6952481" cy="760400"/>
          </a:xfrm>
          <a:custGeom>
            <a:avLst/>
            <a:gdLst>
              <a:gd name="connsiteX0" fmla="*/ 0 w 8130540"/>
              <a:gd name="connsiteY0" fmla="*/ 0 h 838200"/>
              <a:gd name="connsiteX1" fmla="*/ 8130539 w 8130540"/>
              <a:gd name="connsiteY1" fmla="*/ 0 h 838200"/>
              <a:gd name="connsiteX2" fmla="*/ 8130539 w 8130540"/>
              <a:gd name="connsiteY2" fmla="*/ 838200 h 838200"/>
              <a:gd name="connsiteX3" fmla="*/ 0 w 8130540"/>
              <a:gd name="connsiteY3" fmla="*/ 838200 h 838200"/>
              <a:gd name="connsiteX4" fmla="*/ 0 w 8130540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8130540" h="838200">
                <a:moveTo>
                  <a:pt x="0" y="0"/>
                </a:moveTo>
                <a:lnTo>
                  <a:pt x="8130539" y="0"/>
                </a:lnTo>
                <a:lnTo>
                  <a:pt x="8130539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16" name="Freeform 3"/>
          <p:cNvSpPr/>
          <p:nvPr/>
        </p:nvSpPr>
        <p:spPr>
          <a:xfrm>
            <a:off x="1530490" y="3438159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17" name="Freeform 3"/>
          <p:cNvSpPr/>
          <p:nvPr/>
        </p:nvSpPr>
        <p:spPr>
          <a:xfrm>
            <a:off x="1530490" y="3438159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18" name="Freeform 3"/>
          <p:cNvSpPr/>
          <p:nvPr/>
        </p:nvSpPr>
        <p:spPr>
          <a:xfrm>
            <a:off x="1529187" y="4215841"/>
            <a:ext cx="6952481" cy="760400"/>
          </a:xfrm>
          <a:custGeom>
            <a:avLst/>
            <a:gdLst>
              <a:gd name="connsiteX0" fmla="*/ 0 w 8130540"/>
              <a:gd name="connsiteY0" fmla="*/ 0 h 838200"/>
              <a:gd name="connsiteX1" fmla="*/ 8130539 w 8130540"/>
              <a:gd name="connsiteY1" fmla="*/ 0 h 838200"/>
              <a:gd name="connsiteX2" fmla="*/ 8130539 w 8130540"/>
              <a:gd name="connsiteY2" fmla="*/ 838200 h 838200"/>
              <a:gd name="connsiteX3" fmla="*/ 0 w 8130540"/>
              <a:gd name="connsiteY3" fmla="*/ 838200 h 838200"/>
              <a:gd name="connsiteX4" fmla="*/ 0 w 8130540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8130540" h="838200">
                <a:moveTo>
                  <a:pt x="0" y="0"/>
                </a:moveTo>
                <a:lnTo>
                  <a:pt x="8130539" y="0"/>
                </a:lnTo>
                <a:lnTo>
                  <a:pt x="8130539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19" name="Freeform 3"/>
          <p:cNvSpPr/>
          <p:nvPr/>
        </p:nvSpPr>
        <p:spPr>
          <a:xfrm>
            <a:off x="1530490" y="4215841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20" name="Freeform 3"/>
          <p:cNvSpPr/>
          <p:nvPr/>
        </p:nvSpPr>
        <p:spPr>
          <a:xfrm>
            <a:off x="1530490" y="4215841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21" name="Freeform 3"/>
          <p:cNvSpPr/>
          <p:nvPr/>
        </p:nvSpPr>
        <p:spPr>
          <a:xfrm>
            <a:off x="1529187" y="4993523"/>
            <a:ext cx="6952481" cy="760400"/>
          </a:xfrm>
          <a:custGeom>
            <a:avLst/>
            <a:gdLst>
              <a:gd name="connsiteX0" fmla="*/ 0 w 8130540"/>
              <a:gd name="connsiteY0" fmla="*/ 0 h 838200"/>
              <a:gd name="connsiteX1" fmla="*/ 8130539 w 8130540"/>
              <a:gd name="connsiteY1" fmla="*/ 0 h 838200"/>
              <a:gd name="connsiteX2" fmla="*/ 8130539 w 8130540"/>
              <a:gd name="connsiteY2" fmla="*/ 838200 h 838200"/>
              <a:gd name="connsiteX3" fmla="*/ 0 w 8130540"/>
              <a:gd name="connsiteY3" fmla="*/ 838200 h 838200"/>
              <a:gd name="connsiteX4" fmla="*/ 0 w 8130540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8130540" h="838200">
                <a:moveTo>
                  <a:pt x="0" y="0"/>
                </a:moveTo>
                <a:lnTo>
                  <a:pt x="8130539" y="0"/>
                </a:lnTo>
                <a:lnTo>
                  <a:pt x="8130539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22" name="Freeform 3"/>
          <p:cNvSpPr/>
          <p:nvPr/>
        </p:nvSpPr>
        <p:spPr>
          <a:xfrm>
            <a:off x="1530490" y="4993523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23" name="Freeform 3"/>
          <p:cNvSpPr/>
          <p:nvPr/>
        </p:nvSpPr>
        <p:spPr>
          <a:xfrm>
            <a:off x="1530490" y="4993523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24" name="Freeform 3"/>
          <p:cNvSpPr/>
          <p:nvPr/>
        </p:nvSpPr>
        <p:spPr>
          <a:xfrm>
            <a:off x="1529187" y="5771204"/>
            <a:ext cx="6952481" cy="760400"/>
          </a:xfrm>
          <a:custGeom>
            <a:avLst/>
            <a:gdLst>
              <a:gd name="connsiteX0" fmla="*/ 0 w 8130540"/>
              <a:gd name="connsiteY0" fmla="*/ 0 h 838200"/>
              <a:gd name="connsiteX1" fmla="*/ 8130539 w 8130540"/>
              <a:gd name="connsiteY1" fmla="*/ 0 h 838200"/>
              <a:gd name="connsiteX2" fmla="*/ 8130539 w 8130540"/>
              <a:gd name="connsiteY2" fmla="*/ 838199 h 838200"/>
              <a:gd name="connsiteX3" fmla="*/ 0 w 8130540"/>
              <a:gd name="connsiteY3" fmla="*/ 838199 h 838200"/>
              <a:gd name="connsiteX4" fmla="*/ 0 w 8130540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8130540" h="838200">
                <a:moveTo>
                  <a:pt x="0" y="0"/>
                </a:moveTo>
                <a:lnTo>
                  <a:pt x="8130539" y="0"/>
                </a:lnTo>
                <a:lnTo>
                  <a:pt x="8130539" y="838199"/>
                </a:lnTo>
                <a:lnTo>
                  <a:pt x="0" y="838199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25" name="Freeform 3"/>
          <p:cNvSpPr/>
          <p:nvPr/>
        </p:nvSpPr>
        <p:spPr>
          <a:xfrm>
            <a:off x="1530490" y="5771204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199 h 838200"/>
              <a:gd name="connsiteX3" fmla="*/ 0 w 73152"/>
              <a:gd name="connsiteY3" fmla="*/ 838199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199"/>
                </a:lnTo>
                <a:lnTo>
                  <a:pt x="0" y="838199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26" name="Freeform 3"/>
          <p:cNvSpPr/>
          <p:nvPr/>
        </p:nvSpPr>
        <p:spPr>
          <a:xfrm>
            <a:off x="1530490" y="5771204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199 h 838200"/>
              <a:gd name="connsiteX3" fmla="*/ 0 w 73152"/>
              <a:gd name="connsiteY3" fmla="*/ 838199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199"/>
                </a:lnTo>
                <a:lnTo>
                  <a:pt x="0" y="838199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651592" y="299551"/>
            <a:ext cx="7840817" cy="6244496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>
            <a:off x="1965634" y="818006"/>
            <a:ext cx="2371418" cy="591902"/>
          </a:xfrm>
          <a:prstGeom prst="rect">
            <a:avLst/>
          </a:prstGeom>
          <a:noFill/>
        </p:spPr>
        <p:txBody>
          <a:bodyPr wrap="none" lIns="0" tIns="0" rIns="0" bIns="40078" rtlCol="0">
            <a:spAutoFit/>
          </a:bodyPr>
          <a:lstStyle/>
          <a:p>
            <a:pPr>
              <a:lnSpc>
                <a:spcPts val="4295"/>
              </a:lnSpc>
            </a:pPr>
            <a:r>
              <a:rPr lang="en-US" altLang="zh-CN" sz="3800" dirty="0">
                <a:solidFill>
                  <a:srgbClr val="572314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Procedure</a:t>
            </a:r>
            <a:endParaRPr lang="en-US" altLang="zh-CN" sz="3800" dirty="0">
              <a:solidFill>
                <a:srgbClr val="572314"/>
              </a:solidFill>
              <a:latin typeface="微软雅黑" panose="020B0503020204020204" pitchFamily="18" charset="-122"/>
              <a:cs typeface="微软雅黑" panose="020B0503020204020204" pitchFamily="18" charset="-122"/>
            </a:endParaRPr>
          </a:p>
        </p:txBody>
      </p:sp>
      <p:sp>
        <p:nvSpPr>
          <p:cNvPr id="32" name="内容占位符 2"/>
          <p:cNvSpPr txBox="1"/>
          <p:nvPr/>
        </p:nvSpPr>
        <p:spPr>
          <a:xfrm>
            <a:off x="1500166" y="1571612"/>
            <a:ext cx="7215238" cy="45259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514350" marR="0" lvl="0" indent="-51435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Identify causes and effects in specification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14350" marR="0" lvl="0" indent="-51435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Make Boolean graph linking causes and effects. 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14350" marR="0" lvl="0" indent="-51435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Annotate impossible combinations of causes and effects (adding constraints)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14350" marR="0" lvl="0" indent="-51435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Develop decision table from graph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14350" marR="0" lvl="0" indent="-51435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Transform </a:t>
            </a:r>
            <a:r>
              <a:rPr lang="en-US" altLang="zh-CN" sz="2800" dirty="0"/>
              <a:t>each column into test case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651592" y="299551"/>
            <a:ext cx="7840817" cy="6244496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>
            <a:off x="1500166" y="571480"/>
            <a:ext cx="7402668" cy="512906"/>
          </a:xfrm>
          <a:prstGeom prst="rect">
            <a:avLst/>
          </a:prstGeom>
          <a:noFill/>
        </p:spPr>
        <p:txBody>
          <a:bodyPr wrap="none" lIns="0" tIns="0" rIns="0" bIns="40078" rtlCol="0">
            <a:spAutoFit/>
          </a:bodyPr>
          <a:lstStyle/>
          <a:p>
            <a:pPr>
              <a:lnSpc>
                <a:spcPts val="3945"/>
              </a:lnSpc>
            </a:pPr>
            <a:r>
              <a:rPr lang="en-US" altLang="zh-CN" sz="3200" dirty="0">
                <a:solidFill>
                  <a:srgbClr val="572314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Notations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solidFill>
                  <a:srgbClr val="572314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used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solidFill>
                  <a:srgbClr val="572314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in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solidFill>
                  <a:srgbClr val="572314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cause-effect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solidFill>
                  <a:srgbClr val="572314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graphs</a:t>
            </a:r>
            <a:endParaRPr lang="en-US" altLang="zh-CN" sz="3200" dirty="0">
              <a:solidFill>
                <a:srgbClr val="572314"/>
              </a:solidFill>
              <a:latin typeface="微软雅黑" panose="020B0503020204020204" pitchFamily="18" charset="-122"/>
              <a:cs typeface="微软雅黑" panose="020B0503020204020204" pitchFamily="18" charset="-122"/>
            </a:endParaRPr>
          </a:p>
        </p:txBody>
      </p:sp>
      <p:sp>
        <p:nvSpPr>
          <p:cNvPr id="3" name="TextBox 1"/>
          <p:cNvSpPr txBox="1"/>
          <p:nvPr/>
        </p:nvSpPr>
        <p:spPr>
          <a:xfrm>
            <a:off x="2367449" y="2338806"/>
            <a:ext cx="102592" cy="220006"/>
          </a:xfrm>
          <a:prstGeom prst="rect">
            <a:avLst/>
          </a:prstGeom>
          <a:noFill/>
        </p:spPr>
        <p:txBody>
          <a:bodyPr wrap="none" lIns="0" tIns="0" rIns="0" bIns="40078" rtlCol="0">
            <a:spAutoFit/>
          </a:bodyPr>
          <a:lstStyle/>
          <a:p>
            <a:pPr>
              <a:lnSpc>
                <a:spcPts val="1405"/>
              </a:lnSpc>
            </a:pPr>
            <a:r>
              <a:rPr lang="en-US" altLang="zh-CN" sz="12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C</a:t>
            </a:r>
            <a:endParaRPr lang="en-US" altLang="zh-CN" sz="1200" dirty="0">
              <a:solidFill>
                <a:srgbClr val="000000"/>
              </a:solidFill>
              <a:latin typeface="微软雅黑" panose="020B0503020204020204" pitchFamily="18" charset="-122"/>
              <a:cs typeface="微软雅黑" panose="020B0503020204020204" pitchFamily="18" charset="-122"/>
            </a:endParaRPr>
          </a:p>
        </p:txBody>
      </p:sp>
      <p:sp>
        <p:nvSpPr>
          <p:cNvPr id="4" name="TextBox 1"/>
          <p:cNvSpPr txBox="1"/>
          <p:nvPr/>
        </p:nvSpPr>
        <p:spPr>
          <a:xfrm>
            <a:off x="3420855" y="2338806"/>
            <a:ext cx="84960" cy="220006"/>
          </a:xfrm>
          <a:prstGeom prst="rect">
            <a:avLst/>
          </a:prstGeom>
          <a:noFill/>
        </p:spPr>
        <p:txBody>
          <a:bodyPr wrap="none" lIns="0" tIns="0" rIns="0" bIns="40078" rtlCol="0">
            <a:spAutoFit/>
          </a:bodyPr>
          <a:lstStyle/>
          <a:p>
            <a:pPr>
              <a:lnSpc>
                <a:spcPts val="1405"/>
              </a:lnSpc>
            </a:pPr>
            <a:r>
              <a:rPr lang="en-US" altLang="zh-CN" sz="12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E</a:t>
            </a:r>
            <a:endParaRPr lang="en-US" altLang="zh-CN" sz="1200" dirty="0">
              <a:solidFill>
                <a:srgbClr val="000000"/>
              </a:solidFill>
              <a:latin typeface="微软雅黑" panose="020B0503020204020204" pitchFamily="18" charset="-122"/>
              <a:cs typeface="微软雅黑" panose="020B0503020204020204" pitchFamily="18" charset="-122"/>
            </a:endParaRPr>
          </a:p>
        </p:txBody>
      </p:sp>
      <p:sp>
        <p:nvSpPr>
          <p:cNvPr id="5" name="TextBox 1"/>
          <p:cNvSpPr txBox="1"/>
          <p:nvPr/>
        </p:nvSpPr>
        <p:spPr>
          <a:xfrm>
            <a:off x="5364769" y="2338806"/>
            <a:ext cx="102592" cy="220006"/>
          </a:xfrm>
          <a:prstGeom prst="rect">
            <a:avLst/>
          </a:prstGeom>
          <a:noFill/>
        </p:spPr>
        <p:txBody>
          <a:bodyPr wrap="none" lIns="0" tIns="0" rIns="0" bIns="40078" rtlCol="0">
            <a:spAutoFit/>
          </a:bodyPr>
          <a:lstStyle/>
          <a:p>
            <a:pPr>
              <a:lnSpc>
                <a:spcPts val="1405"/>
              </a:lnSpc>
            </a:pPr>
            <a:r>
              <a:rPr lang="en-US" altLang="zh-CN" sz="12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C</a:t>
            </a:r>
            <a:endParaRPr lang="en-US" altLang="zh-CN" sz="1200" dirty="0">
              <a:solidFill>
                <a:srgbClr val="000000"/>
              </a:solidFill>
              <a:latin typeface="微软雅黑" panose="020B0503020204020204" pitchFamily="18" charset="-122"/>
              <a:cs typeface="微软雅黑" panose="020B0503020204020204" pitchFamily="18" charset="-122"/>
            </a:endParaRPr>
          </a:p>
        </p:txBody>
      </p:sp>
      <p:sp>
        <p:nvSpPr>
          <p:cNvPr id="6" name="TextBox 1"/>
          <p:cNvSpPr txBox="1"/>
          <p:nvPr/>
        </p:nvSpPr>
        <p:spPr>
          <a:xfrm>
            <a:off x="6418176" y="2338806"/>
            <a:ext cx="84960" cy="220006"/>
          </a:xfrm>
          <a:prstGeom prst="rect">
            <a:avLst/>
          </a:prstGeom>
          <a:noFill/>
        </p:spPr>
        <p:txBody>
          <a:bodyPr wrap="none" lIns="0" tIns="0" rIns="0" bIns="40078" rtlCol="0">
            <a:spAutoFit/>
          </a:bodyPr>
          <a:lstStyle/>
          <a:p>
            <a:pPr>
              <a:lnSpc>
                <a:spcPts val="1405"/>
              </a:lnSpc>
            </a:pPr>
            <a:r>
              <a:rPr lang="en-US" altLang="zh-CN" sz="12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E</a:t>
            </a:r>
            <a:endParaRPr lang="en-US" altLang="zh-CN" sz="1200" dirty="0">
              <a:solidFill>
                <a:srgbClr val="000000"/>
              </a:solidFill>
              <a:latin typeface="微软雅黑" panose="020B0503020204020204" pitchFamily="18" charset="-122"/>
              <a:cs typeface="微软雅黑" panose="020B0503020204020204" pitchFamily="18" charset="-122"/>
            </a:endParaRPr>
          </a:p>
        </p:txBody>
      </p:sp>
      <p:sp>
        <p:nvSpPr>
          <p:cNvPr id="7" name="TextBox 1"/>
          <p:cNvSpPr txBox="1"/>
          <p:nvPr/>
        </p:nvSpPr>
        <p:spPr>
          <a:xfrm>
            <a:off x="2454328" y="2949430"/>
            <a:ext cx="1147750" cy="1079215"/>
          </a:xfrm>
          <a:prstGeom prst="rect">
            <a:avLst/>
          </a:prstGeom>
          <a:noFill/>
        </p:spPr>
        <p:txBody>
          <a:bodyPr wrap="none" lIns="0" tIns="0" rIns="0" bIns="40078" rtlCol="0">
            <a:spAutoFit/>
          </a:bodyPr>
          <a:lstStyle/>
          <a:p>
            <a:pPr>
              <a:lnSpc>
                <a:spcPts val="1755"/>
              </a:lnSpc>
              <a:tabLst>
                <a:tab pos="111125" algn="l"/>
              </a:tabLst>
            </a:pPr>
            <a:r>
              <a:rPr lang="en-US" altLang="zh-CN" dirty="0"/>
              <a:t>	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if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C, then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E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18" charset="-122"/>
              <a:cs typeface="微软雅黑" panose="020B0503020204020204" pitchFamily="18" charset="-122"/>
            </a:endParaRPr>
          </a:p>
          <a:p>
            <a:pPr>
              <a:lnSpc>
                <a:spcPts val="875"/>
              </a:lnSpc>
            </a:pPr>
            <a:endParaRPr lang="en-US" altLang="zh-CN" dirty="0"/>
          </a:p>
          <a:p>
            <a:pPr>
              <a:lnSpc>
                <a:spcPts val="875"/>
              </a:lnSpc>
            </a:pPr>
            <a:endParaRPr lang="en-US" altLang="zh-CN" dirty="0"/>
          </a:p>
          <a:p>
            <a:pPr>
              <a:lnSpc>
                <a:spcPts val="875"/>
              </a:lnSpc>
            </a:pPr>
            <a:endParaRPr lang="en-US" altLang="zh-CN" dirty="0"/>
          </a:p>
          <a:p>
            <a:pPr>
              <a:lnSpc>
                <a:spcPts val="875"/>
              </a:lnSpc>
            </a:pPr>
            <a:endParaRPr lang="en-US" altLang="zh-CN" dirty="0"/>
          </a:p>
          <a:p>
            <a:pPr>
              <a:lnSpc>
                <a:spcPts val="875"/>
              </a:lnSpc>
            </a:pPr>
            <a:endParaRPr lang="en-US" altLang="zh-CN" dirty="0"/>
          </a:p>
          <a:p>
            <a:pPr>
              <a:lnSpc>
                <a:spcPts val="1755"/>
              </a:lnSpc>
              <a:tabLst>
                <a:tab pos="111125" algn="l"/>
              </a:tabLst>
            </a:pPr>
            <a:r>
              <a:rPr lang="en-US" altLang="zh-CN" sz="12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C1</a:t>
            </a:r>
            <a:endParaRPr lang="en-US" altLang="zh-CN" sz="1200" dirty="0">
              <a:solidFill>
                <a:srgbClr val="000000"/>
              </a:solidFill>
              <a:latin typeface="微软雅黑" panose="020B0503020204020204" pitchFamily="18" charset="-122"/>
              <a:cs typeface="微软雅黑" panose="020B0503020204020204" pitchFamily="18" charset="-122"/>
            </a:endParaRPr>
          </a:p>
        </p:txBody>
      </p:sp>
      <p:sp>
        <p:nvSpPr>
          <p:cNvPr id="8" name="TextBox 1"/>
          <p:cNvSpPr txBox="1"/>
          <p:nvPr/>
        </p:nvSpPr>
        <p:spPr>
          <a:xfrm>
            <a:off x="5560247" y="2960951"/>
            <a:ext cx="1187826" cy="1143335"/>
          </a:xfrm>
          <a:prstGeom prst="rect">
            <a:avLst/>
          </a:prstGeom>
          <a:noFill/>
        </p:spPr>
        <p:txBody>
          <a:bodyPr wrap="none" lIns="0" tIns="0" rIns="0" bIns="40078" rtlCol="0">
            <a:spAutoFit/>
          </a:bodyPr>
          <a:lstStyle/>
          <a:p>
            <a:pPr>
              <a:lnSpc>
                <a:spcPts val="1755"/>
              </a:lnSpc>
              <a:tabLst>
                <a:tab pos="88900" algn="l"/>
              </a:tabLst>
            </a:pP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if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~C, then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E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18" charset="-122"/>
              <a:cs typeface="微软雅黑" panose="020B0503020204020204" pitchFamily="18" charset="-122"/>
            </a:endParaRPr>
          </a:p>
          <a:p>
            <a:pPr>
              <a:lnSpc>
                <a:spcPts val="875"/>
              </a:lnSpc>
            </a:pPr>
            <a:endParaRPr lang="en-US" altLang="zh-CN" dirty="0"/>
          </a:p>
          <a:p>
            <a:pPr>
              <a:lnSpc>
                <a:spcPts val="875"/>
              </a:lnSpc>
            </a:pPr>
            <a:endParaRPr lang="en-US" altLang="zh-CN" dirty="0"/>
          </a:p>
          <a:p>
            <a:pPr>
              <a:lnSpc>
                <a:spcPts val="875"/>
              </a:lnSpc>
            </a:pPr>
            <a:endParaRPr lang="en-US" altLang="zh-CN" dirty="0"/>
          </a:p>
          <a:p>
            <a:pPr>
              <a:lnSpc>
                <a:spcPts val="875"/>
              </a:lnSpc>
            </a:pPr>
            <a:endParaRPr lang="en-US" altLang="zh-CN" dirty="0"/>
          </a:p>
          <a:p>
            <a:pPr>
              <a:lnSpc>
                <a:spcPts val="875"/>
              </a:lnSpc>
            </a:pPr>
            <a:endParaRPr lang="en-US" altLang="zh-CN" dirty="0"/>
          </a:p>
          <a:p>
            <a:pPr>
              <a:lnSpc>
                <a:spcPts val="875"/>
              </a:lnSpc>
            </a:pPr>
            <a:endParaRPr lang="en-US" altLang="zh-CN" dirty="0"/>
          </a:p>
          <a:p>
            <a:pPr>
              <a:lnSpc>
                <a:spcPts val="1405"/>
              </a:lnSpc>
              <a:tabLst>
                <a:tab pos="88900" algn="l"/>
              </a:tabLst>
            </a:pPr>
            <a:r>
              <a:rPr lang="en-US" altLang="zh-CN" dirty="0"/>
              <a:t>	</a:t>
            </a:r>
            <a:r>
              <a:rPr lang="en-US" altLang="zh-CN" sz="12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C1</a:t>
            </a:r>
            <a:endParaRPr lang="en-US" altLang="zh-CN" sz="1200" dirty="0">
              <a:solidFill>
                <a:srgbClr val="000000"/>
              </a:solidFill>
              <a:latin typeface="微软雅黑" panose="020B0503020204020204" pitchFamily="18" charset="-122"/>
              <a:cs typeface="微软雅黑" panose="020B0503020204020204" pitchFamily="18" charset="-122"/>
            </a:endParaRPr>
          </a:p>
        </p:txBody>
      </p:sp>
      <p:sp>
        <p:nvSpPr>
          <p:cNvPr id="9" name="TextBox 1"/>
          <p:cNvSpPr txBox="1"/>
          <p:nvPr/>
        </p:nvSpPr>
        <p:spPr>
          <a:xfrm>
            <a:off x="2454328" y="4412623"/>
            <a:ext cx="192360" cy="220006"/>
          </a:xfrm>
          <a:prstGeom prst="rect">
            <a:avLst/>
          </a:prstGeom>
          <a:noFill/>
        </p:spPr>
        <p:txBody>
          <a:bodyPr wrap="none" lIns="0" tIns="0" rIns="0" bIns="40078" rtlCol="0">
            <a:spAutoFit/>
          </a:bodyPr>
          <a:lstStyle/>
          <a:p>
            <a:pPr>
              <a:lnSpc>
                <a:spcPts val="1405"/>
              </a:lnSpc>
            </a:pPr>
            <a:r>
              <a:rPr lang="en-US" altLang="zh-CN" sz="12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C2</a:t>
            </a:r>
            <a:endParaRPr lang="en-US" altLang="zh-CN" sz="1200" dirty="0">
              <a:solidFill>
                <a:srgbClr val="000000"/>
              </a:solidFill>
              <a:latin typeface="微软雅黑" panose="020B0503020204020204" pitchFamily="18" charset="-122"/>
              <a:cs typeface="微软雅黑" panose="020B0503020204020204" pitchFamily="18" charset="-122"/>
            </a:endParaRPr>
          </a:p>
        </p:txBody>
      </p:sp>
      <p:sp>
        <p:nvSpPr>
          <p:cNvPr id="10" name="TextBox 1"/>
          <p:cNvSpPr txBox="1"/>
          <p:nvPr/>
        </p:nvSpPr>
        <p:spPr>
          <a:xfrm>
            <a:off x="3551173" y="4412623"/>
            <a:ext cx="84960" cy="220006"/>
          </a:xfrm>
          <a:prstGeom prst="rect">
            <a:avLst/>
          </a:prstGeom>
          <a:noFill/>
        </p:spPr>
        <p:txBody>
          <a:bodyPr wrap="none" lIns="0" tIns="0" rIns="0" bIns="40078" rtlCol="0">
            <a:spAutoFit/>
          </a:bodyPr>
          <a:lstStyle/>
          <a:p>
            <a:pPr>
              <a:lnSpc>
                <a:spcPts val="1405"/>
              </a:lnSpc>
            </a:pPr>
            <a:r>
              <a:rPr lang="en-US" altLang="zh-CN" sz="12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E</a:t>
            </a:r>
            <a:endParaRPr lang="en-US" altLang="zh-CN" sz="1200" dirty="0">
              <a:solidFill>
                <a:srgbClr val="000000"/>
              </a:solidFill>
              <a:latin typeface="微软雅黑" panose="020B0503020204020204" pitchFamily="18" charset="-122"/>
              <a:cs typeface="微软雅黑" panose="020B0503020204020204" pitchFamily="18" charset="-122"/>
            </a:endParaRPr>
          </a:p>
        </p:txBody>
      </p:sp>
      <p:sp>
        <p:nvSpPr>
          <p:cNvPr id="11" name="TextBox 1"/>
          <p:cNvSpPr txBox="1"/>
          <p:nvPr/>
        </p:nvSpPr>
        <p:spPr>
          <a:xfrm>
            <a:off x="3019040" y="4182199"/>
            <a:ext cx="266098" cy="450838"/>
          </a:xfrm>
          <a:prstGeom prst="rect">
            <a:avLst/>
          </a:prstGeom>
          <a:noFill/>
        </p:spPr>
        <p:txBody>
          <a:bodyPr wrap="none" lIns="0" tIns="0" rIns="0" bIns="40078" rtlCol="0">
            <a:spAutoFit/>
          </a:bodyPr>
          <a:lstStyle/>
          <a:p>
            <a:pPr>
              <a:lnSpc>
                <a:spcPts val="3245"/>
              </a:lnSpc>
            </a:pPr>
            <a:r>
              <a:rPr lang="en-US" altLang="zh-CN" sz="28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^</a:t>
            </a:r>
            <a:endParaRPr lang="en-US" altLang="zh-CN" sz="2800" dirty="0">
              <a:solidFill>
                <a:srgbClr val="000000"/>
              </a:solidFill>
              <a:latin typeface="微软雅黑" panose="020B0503020204020204" pitchFamily="18" charset="-122"/>
              <a:cs typeface="微软雅黑" panose="020B0503020204020204" pitchFamily="18" charset="-122"/>
            </a:endParaRPr>
          </a:p>
        </p:txBody>
      </p:sp>
      <p:sp>
        <p:nvSpPr>
          <p:cNvPr id="12" name="TextBox 1"/>
          <p:cNvSpPr txBox="1"/>
          <p:nvPr/>
        </p:nvSpPr>
        <p:spPr>
          <a:xfrm>
            <a:off x="6743972" y="4481751"/>
            <a:ext cx="84960" cy="220006"/>
          </a:xfrm>
          <a:prstGeom prst="rect">
            <a:avLst/>
          </a:prstGeom>
          <a:noFill/>
        </p:spPr>
        <p:txBody>
          <a:bodyPr wrap="none" lIns="0" tIns="0" rIns="0" bIns="40078" rtlCol="0">
            <a:spAutoFit/>
          </a:bodyPr>
          <a:lstStyle/>
          <a:p>
            <a:pPr>
              <a:lnSpc>
                <a:spcPts val="1405"/>
              </a:lnSpc>
            </a:pPr>
            <a:r>
              <a:rPr lang="en-US" altLang="zh-CN" sz="12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E</a:t>
            </a:r>
            <a:endParaRPr lang="en-US" altLang="zh-CN" sz="1200" dirty="0">
              <a:solidFill>
                <a:srgbClr val="000000"/>
              </a:solidFill>
              <a:latin typeface="微软雅黑" panose="020B0503020204020204" pitchFamily="18" charset="-122"/>
              <a:cs typeface="微软雅黑" panose="020B0503020204020204" pitchFamily="18" charset="-122"/>
            </a:endParaRPr>
          </a:p>
        </p:txBody>
      </p:sp>
      <p:sp>
        <p:nvSpPr>
          <p:cNvPr id="13" name="TextBox 1"/>
          <p:cNvSpPr txBox="1"/>
          <p:nvPr/>
        </p:nvSpPr>
        <p:spPr>
          <a:xfrm>
            <a:off x="6276998" y="4378060"/>
            <a:ext cx="165110" cy="296950"/>
          </a:xfrm>
          <a:prstGeom prst="rect">
            <a:avLst/>
          </a:prstGeom>
          <a:noFill/>
        </p:spPr>
        <p:txBody>
          <a:bodyPr wrap="none" lIns="0" tIns="0" rIns="0" bIns="40078" rtlCol="0">
            <a:spAutoFit/>
          </a:bodyPr>
          <a:lstStyle/>
          <a:p>
            <a:pPr>
              <a:lnSpc>
                <a:spcPts val="2015"/>
              </a:lnSpc>
            </a:pPr>
            <a:r>
              <a:rPr lang="en-US" altLang="zh-CN" b="1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V</a:t>
            </a:r>
            <a:endParaRPr lang="en-US" altLang="zh-CN" b="1" dirty="0">
              <a:solidFill>
                <a:srgbClr val="000000"/>
              </a:solidFill>
              <a:latin typeface="微软雅黑" panose="020B0503020204020204" pitchFamily="18" charset="-122"/>
              <a:cs typeface="微软雅黑" panose="020B0503020204020204" pitchFamily="18" charset="-122"/>
            </a:endParaRPr>
          </a:p>
        </p:txBody>
      </p:sp>
      <p:sp>
        <p:nvSpPr>
          <p:cNvPr id="15" name="TextBox 1"/>
          <p:cNvSpPr txBox="1"/>
          <p:nvPr/>
        </p:nvSpPr>
        <p:spPr>
          <a:xfrm>
            <a:off x="2171971" y="5046290"/>
            <a:ext cx="2712281" cy="771439"/>
          </a:xfrm>
          <a:prstGeom prst="rect">
            <a:avLst/>
          </a:prstGeom>
          <a:noFill/>
        </p:spPr>
        <p:txBody>
          <a:bodyPr wrap="none" lIns="0" tIns="0" rIns="0" bIns="40078" rtlCol="0">
            <a:spAutoFit/>
          </a:bodyPr>
          <a:lstStyle/>
          <a:p>
            <a:pPr>
              <a:lnSpc>
                <a:spcPts val="1405"/>
              </a:lnSpc>
              <a:tabLst>
                <a:tab pos="288925" algn="l"/>
              </a:tabLst>
            </a:pPr>
            <a:r>
              <a:rPr lang="en-US" altLang="zh-CN" dirty="0"/>
              <a:t>	</a:t>
            </a:r>
            <a:r>
              <a:rPr lang="en-US" altLang="zh-CN" sz="12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C3</a:t>
            </a:r>
            <a:endParaRPr lang="en-US" altLang="zh-CN" sz="1200" dirty="0">
              <a:solidFill>
                <a:srgbClr val="000000"/>
              </a:solidFill>
              <a:latin typeface="微软雅黑" panose="020B0503020204020204" pitchFamily="18" charset="-122"/>
              <a:cs typeface="微软雅黑" panose="020B0503020204020204" pitchFamily="18" charset="-122"/>
            </a:endParaRPr>
          </a:p>
          <a:p>
            <a:pPr>
              <a:lnSpc>
                <a:spcPts val="875"/>
              </a:lnSpc>
            </a:pPr>
            <a:endParaRPr lang="en-US" altLang="zh-CN" dirty="0"/>
          </a:p>
          <a:p>
            <a:pPr>
              <a:lnSpc>
                <a:spcPts val="875"/>
              </a:lnSpc>
            </a:pPr>
            <a:endParaRPr lang="en-US" altLang="zh-CN" dirty="0"/>
          </a:p>
          <a:p>
            <a:pPr>
              <a:lnSpc>
                <a:spcPts val="2540"/>
              </a:lnSpc>
              <a:tabLst>
                <a:tab pos="288925" algn="l"/>
              </a:tabLst>
            </a:pP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if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C1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and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C2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and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C3,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then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E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18" charset="-122"/>
              <a:cs typeface="微软雅黑" panose="020B0503020204020204" pitchFamily="18" charset="-122"/>
            </a:endParaRPr>
          </a:p>
        </p:txBody>
      </p:sp>
      <p:sp>
        <p:nvSpPr>
          <p:cNvPr id="16" name="TextBox 1"/>
          <p:cNvSpPr txBox="1"/>
          <p:nvPr/>
        </p:nvSpPr>
        <p:spPr>
          <a:xfrm>
            <a:off x="5560247" y="5115417"/>
            <a:ext cx="1776127" cy="771439"/>
          </a:xfrm>
          <a:prstGeom prst="rect">
            <a:avLst/>
          </a:prstGeom>
          <a:noFill/>
        </p:spPr>
        <p:txBody>
          <a:bodyPr wrap="none" lIns="0" tIns="0" rIns="0" bIns="40078" rtlCol="0">
            <a:spAutoFit/>
          </a:bodyPr>
          <a:lstStyle/>
          <a:p>
            <a:pPr>
              <a:lnSpc>
                <a:spcPts val="1405"/>
              </a:lnSpc>
              <a:tabLst>
                <a:tab pos="88900" algn="l"/>
              </a:tabLst>
            </a:pPr>
            <a:r>
              <a:rPr lang="en-US" altLang="zh-CN" dirty="0"/>
              <a:t>	</a:t>
            </a:r>
            <a:r>
              <a:rPr lang="en-US" altLang="zh-CN" sz="12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C2</a:t>
            </a:r>
            <a:endParaRPr lang="en-US" altLang="zh-CN" sz="1200" dirty="0">
              <a:solidFill>
                <a:srgbClr val="000000"/>
              </a:solidFill>
              <a:latin typeface="微软雅黑" panose="020B0503020204020204" pitchFamily="18" charset="-122"/>
              <a:cs typeface="微软雅黑" panose="020B0503020204020204" pitchFamily="18" charset="-122"/>
            </a:endParaRPr>
          </a:p>
          <a:p>
            <a:pPr>
              <a:lnSpc>
                <a:spcPts val="875"/>
              </a:lnSpc>
            </a:pPr>
            <a:endParaRPr lang="en-US" altLang="zh-CN" dirty="0"/>
          </a:p>
          <a:p>
            <a:pPr>
              <a:lnSpc>
                <a:spcPts val="875"/>
              </a:lnSpc>
            </a:pPr>
            <a:endParaRPr lang="en-US" altLang="zh-CN" dirty="0"/>
          </a:p>
          <a:p>
            <a:pPr>
              <a:lnSpc>
                <a:spcPts val="2540"/>
              </a:lnSpc>
              <a:tabLst>
                <a:tab pos="88900" algn="l"/>
              </a:tabLst>
            </a:pP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if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C1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or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C2, then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E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18" charset="-122"/>
              <a:cs typeface="微软雅黑" panose="020B0503020204020204" pitchFamily="18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500166" y="1142984"/>
            <a:ext cx="6858048" cy="9048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lvl="0" indent="-514350">
              <a:spcBef>
                <a:spcPct val="20000"/>
              </a:spcBef>
              <a:buFont typeface="+mj-lt"/>
              <a:buAutoNum type="arabicPeriod"/>
              <a:defRPr/>
            </a:pPr>
            <a:r>
              <a:rPr lang="en-US" altLang="zh-CN" sz="2400" dirty="0">
                <a:solidFill>
                  <a:srgbClr val="0070C0"/>
                </a:solidFill>
              </a:rPr>
              <a:t>Identify causes and effects in specification</a:t>
            </a:r>
            <a:endParaRPr lang="en-US" altLang="zh-CN" sz="2400" dirty="0">
              <a:solidFill>
                <a:srgbClr val="0070C0"/>
              </a:solidFill>
            </a:endParaRPr>
          </a:p>
          <a:p>
            <a:pPr marL="514350" lvl="0" indent="-514350">
              <a:spcBef>
                <a:spcPct val="20000"/>
              </a:spcBef>
              <a:buFont typeface="+mj-lt"/>
              <a:buAutoNum type="arabicPeriod"/>
              <a:defRPr/>
            </a:pPr>
            <a:r>
              <a:rPr lang="en-US" altLang="zh-CN" sz="2400" dirty="0">
                <a:solidFill>
                  <a:srgbClr val="0070C0"/>
                </a:solidFill>
              </a:rPr>
              <a:t>Make Boolean graph linking causes and effects</a:t>
            </a:r>
            <a:endParaRPr lang="en-US" altLang="zh-CN" sz="24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1529187" y="328123"/>
            <a:ext cx="6952481" cy="760400"/>
          </a:xfrm>
          <a:custGeom>
            <a:avLst/>
            <a:gdLst>
              <a:gd name="connsiteX0" fmla="*/ 0 w 8130540"/>
              <a:gd name="connsiteY0" fmla="*/ 0 h 838200"/>
              <a:gd name="connsiteX1" fmla="*/ 8130539 w 8130540"/>
              <a:gd name="connsiteY1" fmla="*/ 0 h 838200"/>
              <a:gd name="connsiteX2" fmla="*/ 8130539 w 8130540"/>
              <a:gd name="connsiteY2" fmla="*/ 838200 h 838200"/>
              <a:gd name="connsiteX3" fmla="*/ 0 w 8130540"/>
              <a:gd name="connsiteY3" fmla="*/ 838200 h 838200"/>
              <a:gd name="connsiteX4" fmla="*/ 0 w 8130540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8130540" h="838200">
                <a:moveTo>
                  <a:pt x="0" y="0"/>
                </a:moveTo>
                <a:lnTo>
                  <a:pt x="8130539" y="0"/>
                </a:lnTo>
                <a:lnTo>
                  <a:pt x="8130539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3" name="Freeform 3"/>
          <p:cNvSpPr/>
          <p:nvPr/>
        </p:nvSpPr>
        <p:spPr>
          <a:xfrm>
            <a:off x="1530490" y="328123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5" name="Freeform 3"/>
          <p:cNvSpPr/>
          <p:nvPr/>
        </p:nvSpPr>
        <p:spPr>
          <a:xfrm>
            <a:off x="1530490" y="328123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6" name="Freeform 3"/>
          <p:cNvSpPr/>
          <p:nvPr/>
        </p:nvSpPr>
        <p:spPr>
          <a:xfrm>
            <a:off x="1529187" y="1105806"/>
            <a:ext cx="6952481" cy="760400"/>
          </a:xfrm>
          <a:custGeom>
            <a:avLst/>
            <a:gdLst>
              <a:gd name="connsiteX0" fmla="*/ 0 w 8130540"/>
              <a:gd name="connsiteY0" fmla="*/ 0 h 838200"/>
              <a:gd name="connsiteX1" fmla="*/ 8130539 w 8130540"/>
              <a:gd name="connsiteY1" fmla="*/ 0 h 838200"/>
              <a:gd name="connsiteX2" fmla="*/ 8130539 w 8130540"/>
              <a:gd name="connsiteY2" fmla="*/ 838199 h 838200"/>
              <a:gd name="connsiteX3" fmla="*/ 0 w 8130540"/>
              <a:gd name="connsiteY3" fmla="*/ 838199 h 838200"/>
              <a:gd name="connsiteX4" fmla="*/ 0 w 8130540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8130540" h="838200">
                <a:moveTo>
                  <a:pt x="0" y="0"/>
                </a:moveTo>
                <a:lnTo>
                  <a:pt x="8130539" y="0"/>
                </a:lnTo>
                <a:lnTo>
                  <a:pt x="8130539" y="838199"/>
                </a:lnTo>
                <a:lnTo>
                  <a:pt x="0" y="838199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7" name="Freeform 3"/>
          <p:cNvSpPr/>
          <p:nvPr/>
        </p:nvSpPr>
        <p:spPr>
          <a:xfrm>
            <a:off x="1530490" y="1105806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199 h 838200"/>
              <a:gd name="connsiteX3" fmla="*/ 0 w 73152"/>
              <a:gd name="connsiteY3" fmla="*/ 838199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199"/>
                </a:lnTo>
                <a:lnTo>
                  <a:pt x="0" y="838199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8" name="Freeform 3"/>
          <p:cNvSpPr/>
          <p:nvPr/>
        </p:nvSpPr>
        <p:spPr>
          <a:xfrm>
            <a:off x="1530490" y="1105806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199 h 838200"/>
              <a:gd name="connsiteX3" fmla="*/ 0 w 73152"/>
              <a:gd name="connsiteY3" fmla="*/ 838199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199"/>
                </a:lnTo>
                <a:lnTo>
                  <a:pt x="0" y="838199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9" name="Freeform 3"/>
          <p:cNvSpPr/>
          <p:nvPr/>
        </p:nvSpPr>
        <p:spPr>
          <a:xfrm>
            <a:off x="1529187" y="1882795"/>
            <a:ext cx="6952481" cy="760400"/>
          </a:xfrm>
          <a:custGeom>
            <a:avLst/>
            <a:gdLst>
              <a:gd name="connsiteX0" fmla="*/ 0 w 8130540"/>
              <a:gd name="connsiteY0" fmla="*/ 0 h 838200"/>
              <a:gd name="connsiteX1" fmla="*/ 8130539 w 8130540"/>
              <a:gd name="connsiteY1" fmla="*/ 0 h 838200"/>
              <a:gd name="connsiteX2" fmla="*/ 8130539 w 8130540"/>
              <a:gd name="connsiteY2" fmla="*/ 838200 h 838200"/>
              <a:gd name="connsiteX3" fmla="*/ 0 w 8130540"/>
              <a:gd name="connsiteY3" fmla="*/ 838200 h 838200"/>
              <a:gd name="connsiteX4" fmla="*/ 0 w 8130540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8130540" h="838200">
                <a:moveTo>
                  <a:pt x="0" y="0"/>
                </a:moveTo>
                <a:lnTo>
                  <a:pt x="8130539" y="0"/>
                </a:lnTo>
                <a:lnTo>
                  <a:pt x="8130539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10" name="Freeform 3"/>
          <p:cNvSpPr/>
          <p:nvPr/>
        </p:nvSpPr>
        <p:spPr>
          <a:xfrm>
            <a:off x="1530490" y="1882795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11" name="Freeform 3"/>
          <p:cNvSpPr/>
          <p:nvPr/>
        </p:nvSpPr>
        <p:spPr>
          <a:xfrm>
            <a:off x="1530490" y="1882795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12" name="Freeform 3"/>
          <p:cNvSpPr/>
          <p:nvPr/>
        </p:nvSpPr>
        <p:spPr>
          <a:xfrm>
            <a:off x="1529187" y="2660477"/>
            <a:ext cx="6952481" cy="760400"/>
          </a:xfrm>
          <a:custGeom>
            <a:avLst/>
            <a:gdLst>
              <a:gd name="connsiteX0" fmla="*/ 0 w 8130540"/>
              <a:gd name="connsiteY0" fmla="*/ 0 h 838200"/>
              <a:gd name="connsiteX1" fmla="*/ 8130539 w 8130540"/>
              <a:gd name="connsiteY1" fmla="*/ 0 h 838200"/>
              <a:gd name="connsiteX2" fmla="*/ 8130539 w 8130540"/>
              <a:gd name="connsiteY2" fmla="*/ 838200 h 838200"/>
              <a:gd name="connsiteX3" fmla="*/ 0 w 8130540"/>
              <a:gd name="connsiteY3" fmla="*/ 838200 h 838200"/>
              <a:gd name="connsiteX4" fmla="*/ 0 w 8130540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8130540" h="838200">
                <a:moveTo>
                  <a:pt x="0" y="0"/>
                </a:moveTo>
                <a:lnTo>
                  <a:pt x="8130539" y="0"/>
                </a:lnTo>
                <a:lnTo>
                  <a:pt x="8130539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13" name="Freeform 3"/>
          <p:cNvSpPr/>
          <p:nvPr/>
        </p:nvSpPr>
        <p:spPr>
          <a:xfrm>
            <a:off x="1530490" y="2660477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14" name="Freeform 3"/>
          <p:cNvSpPr/>
          <p:nvPr/>
        </p:nvSpPr>
        <p:spPr>
          <a:xfrm>
            <a:off x="1530490" y="2660477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15" name="Freeform 3"/>
          <p:cNvSpPr/>
          <p:nvPr/>
        </p:nvSpPr>
        <p:spPr>
          <a:xfrm>
            <a:off x="1529187" y="3438159"/>
            <a:ext cx="6952481" cy="760400"/>
          </a:xfrm>
          <a:custGeom>
            <a:avLst/>
            <a:gdLst>
              <a:gd name="connsiteX0" fmla="*/ 0 w 8130540"/>
              <a:gd name="connsiteY0" fmla="*/ 0 h 838200"/>
              <a:gd name="connsiteX1" fmla="*/ 8130539 w 8130540"/>
              <a:gd name="connsiteY1" fmla="*/ 0 h 838200"/>
              <a:gd name="connsiteX2" fmla="*/ 8130539 w 8130540"/>
              <a:gd name="connsiteY2" fmla="*/ 838200 h 838200"/>
              <a:gd name="connsiteX3" fmla="*/ 0 w 8130540"/>
              <a:gd name="connsiteY3" fmla="*/ 838200 h 838200"/>
              <a:gd name="connsiteX4" fmla="*/ 0 w 8130540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8130540" h="838200">
                <a:moveTo>
                  <a:pt x="0" y="0"/>
                </a:moveTo>
                <a:lnTo>
                  <a:pt x="8130539" y="0"/>
                </a:lnTo>
                <a:lnTo>
                  <a:pt x="8130539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16" name="Freeform 3"/>
          <p:cNvSpPr/>
          <p:nvPr/>
        </p:nvSpPr>
        <p:spPr>
          <a:xfrm>
            <a:off x="1530490" y="3438159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17" name="Freeform 3"/>
          <p:cNvSpPr/>
          <p:nvPr/>
        </p:nvSpPr>
        <p:spPr>
          <a:xfrm>
            <a:off x="1530490" y="3438159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18" name="Freeform 3"/>
          <p:cNvSpPr/>
          <p:nvPr/>
        </p:nvSpPr>
        <p:spPr>
          <a:xfrm>
            <a:off x="1529187" y="4215841"/>
            <a:ext cx="6952481" cy="760400"/>
          </a:xfrm>
          <a:custGeom>
            <a:avLst/>
            <a:gdLst>
              <a:gd name="connsiteX0" fmla="*/ 0 w 8130540"/>
              <a:gd name="connsiteY0" fmla="*/ 0 h 838200"/>
              <a:gd name="connsiteX1" fmla="*/ 8130539 w 8130540"/>
              <a:gd name="connsiteY1" fmla="*/ 0 h 838200"/>
              <a:gd name="connsiteX2" fmla="*/ 8130539 w 8130540"/>
              <a:gd name="connsiteY2" fmla="*/ 838200 h 838200"/>
              <a:gd name="connsiteX3" fmla="*/ 0 w 8130540"/>
              <a:gd name="connsiteY3" fmla="*/ 838200 h 838200"/>
              <a:gd name="connsiteX4" fmla="*/ 0 w 8130540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8130540" h="838200">
                <a:moveTo>
                  <a:pt x="0" y="0"/>
                </a:moveTo>
                <a:lnTo>
                  <a:pt x="8130539" y="0"/>
                </a:lnTo>
                <a:lnTo>
                  <a:pt x="8130539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19" name="Freeform 3"/>
          <p:cNvSpPr/>
          <p:nvPr/>
        </p:nvSpPr>
        <p:spPr>
          <a:xfrm>
            <a:off x="1530490" y="4215841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20" name="Freeform 3"/>
          <p:cNvSpPr/>
          <p:nvPr/>
        </p:nvSpPr>
        <p:spPr>
          <a:xfrm>
            <a:off x="1530490" y="4215841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21" name="Freeform 3"/>
          <p:cNvSpPr/>
          <p:nvPr/>
        </p:nvSpPr>
        <p:spPr>
          <a:xfrm>
            <a:off x="1529187" y="4993523"/>
            <a:ext cx="6952481" cy="760400"/>
          </a:xfrm>
          <a:custGeom>
            <a:avLst/>
            <a:gdLst>
              <a:gd name="connsiteX0" fmla="*/ 0 w 8130540"/>
              <a:gd name="connsiteY0" fmla="*/ 0 h 838200"/>
              <a:gd name="connsiteX1" fmla="*/ 8130539 w 8130540"/>
              <a:gd name="connsiteY1" fmla="*/ 0 h 838200"/>
              <a:gd name="connsiteX2" fmla="*/ 8130539 w 8130540"/>
              <a:gd name="connsiteY2" fmla="*/ 838200 h 838200"/>
              <a:gd name="connsiteX3" fmla="*/ 0 w 8130540"/>
              <a:gd name="connsiteY3" fmla="*/ 838200 h 838200"/>
              <a:gd name="connsiteX4" fmla="*/ 0 w 8130540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8130540" h="838200">
                <a:moveTo>
                  <a:pt x="0" y="0"/>
                </a:moveTo>
                <a:lnTo>
                  <a:pt x="8130539" y="0"/>
                </a:lnTo>
                <a:lnTo>
                  <a:pt x="8130539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22" name="Freeform 3"/>
          <p:cNvSpPr/>
          <p:nvPr/>
        </p:nvSpPr>
        <p:spPr>
          <a:xfrm>
            <a:off x="1530490" y="4993523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23" name="Freeform 3"/>
          <p:cNvSpPr/>
          <p:nvPr/>
        </p:nvSpPr>
        <p:spPr>
          <a:xfrm>
            <a:off x="1530490" y="4993523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24" name="Freeform 3"/>
          <p:cNvSpPr/>
          <p:nvPr/>
        </p:nvSpPr>
        <p:spPr>
          <a:xfrm>
            <a:off x="1529187" y="5771204"/>
            <a:ext cx="6952481" cy="760400"/>
          </a:xfrm>
          <a:custGeom>
            <a:avLst/>
            <a:gdLst>
              <a:gd name="connsiteX0" fmla="*/ 0 w 8130540"/>
              <a:gd name="connsiteY0" fmla="*/ 0 h 838200"/>
              <a:gd name="connsiteX1" fmla="*/ 8130539 w 8130540"/>
              <a:gd name="connsiteY1" fmla="*/ 0 h 838200"/>
              <a:gd name="connsiteX2" fmla="*/ 8130539 w 8130540"/>
              <a:gd name="connsiteY2" fmla="*/ 838199 h 838200"/>
              <a:gd name="connsiteX3" fmla="*/ 0 w 8130540"/>
              <a:gd name="connsiteY3" fmla="*/ 838199 h 838200"/>
              <a:gd name="connsiteX4" fmla="*/ 0 w 8130540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8130540" h="838200">
                <a:moveTo>
                  <a:pt x="0" y="0"/>
                </a:moveTo>
                <a:lnTo>
                  <a:pt x="8130539" y="0"/>
                </a:lnTo>
                <a:lnTo>
                  <a:pt x="8130539" y="838199"/>
                </a:lnTo>
                <a:lnTo>
                  <a:pt x="0" y="838199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25" name="Freeform 3"/>
          <p:cNvSpPr/>
          <p:nvPr/>
        </p:nvSpPr>
        <p:spPr>
          <a:xfrm>
            <a:off x="1530490" y="5771204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199 h 838200"/>
              <a:gd name="connsiteX3" fmla="*/ 0 w 73152"/>
              <a:gd name="connsiteY3" fmla="*/ 838199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199"/>
                </a:lnTo>
                <a:lnTo>
                  <a:pt x="0" y="838199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26" name="Freeform 3"/>
          <p:cNvSpPr/>
          <p:nvPr/>
        </p:nvSpPr>
        <p:spPr>
          <a:xfrm>
            <a:off x="1530490" y="5771204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199 h 838200"/>
              <a:gd name="connsiteX3" fmla="*/ 0 w 73152"/>
              <a:gd name="connsiteY3" fmla="*/ 838199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199"/>
                </a:lnTo>
                <a:lnTo>
                  <a:pt x="0" y="838199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651592" y="299551"/>
            <a:ext cx="7840817" cy="6244496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>
            <a:off x="1643042" y="665001"/>
            <a:ext cx="6946945" cy="963799"/>
          </a:xfrm>
          <a:prstGeom prst="rect">
            <a:avLst/>
          </a:prstGeom>
          <a:noFill/>
        </p:spPr>
        <p:txBody>
          <a:bodyPr wrap="square" lIns="0" tIns="0" rIns="0" bIns="40078" rtlCol="0">
            <a:spAutoFit/>
          </a:bodyPr>
          <a:lstStyle/>
          <a:p>
            <a:pPr marL="514350" lvl="0" indent="-514350">
              <a:defRPr/>
            </a:pPr>
            <a:r>
              <a:rPr lang="en-US" altLang="zh-CN" sz="3000" dirty="0"/>
              <a:t>3. Annotate impossible combinations of causes and effects (adding constraints)</a:t>
            </a:r>
            <a:endParaRPr lang="en-US" altLang="zh-CN" sz="30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2910" y="2281255"/>
            <a:ext cx="6215106" cy="42910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286644" y="2357430"/>
            <a:ext cx="1857356" cy="40719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214414" y="0"/>
            <a:ext cx="6881854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矩形 3"/>
          <p:cNvSpPr/>
          <p:nvPr/>
        </p:nvSpPr>
        <p:spPr>
          <a:xfrm>
            <a:off x="2771800" y="5733256"/>
            <a:ext cx="1368152" cy="8640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1529187" y="328123"/>
            <a:ext cx="6952481" cy="760400"/>
          </a:xfrm>
          <a:custGeom>
            <a:avLst/>
            <a:gdLst>
              <a:gd name="connsiteX0" fmla="*/ 0 w 8130540"/>
              <a:gd name="connsiteY0" fmla="*/ 0 h 838200"/>
              <a:gd name="connsiteX1" fmla="*/ 8130539 w 8130540"/>
              <a:gd name="connsiteY1" fmla="*/ 0 h 838200"/>
              <a:gd name="connsiteX2" fmla="*/ 8130539 w 8130540"/>
              <a:gd name="connsiteY2" fmla="*/ 838200 h 838200"/>
              <a:gd name="connsiteX3" fmla="*/ 0 w 8130540"/>
              <a:gd name="connsiteY3" fmla="*/ 838200 h 838200"/>
              <a:gd name="connsiteX4" fmla="*/ 0 w 8130540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8130540" h="838200">
                <a:moveTo>
                  <a:pt x="0" y="0"/>
                </a:moveTo>
                <a:lnTo>
                  <a:pt x="8130539" y="0"/>
                </a:lnTo>
                <a:lnTo>
                  <a:pt x="8130539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3" name="Freeform 3"/>
          <p:cNvSpPr/>
          <p:nvPr/>
        </p:nvSpPr>
        <p:spPr>
          <a:xfrm>
            <a:off x="1530490" y="328123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5" name="Freeform 3"/>
          <p:cNvSpPr/>
          <p:nvPr/>
        </p:nvSpPr>
        <p:spPr>
          <a:xfrm>
            <a:off x="1530490" y="328123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6" name="Freeform 3"/>
          <p:cNvSpPr/>
          <p:nvPr/>
        </p:nvSpPr>
        <p:spPr>
          <a:xfrm>
            <a:off x="1529187" y="1105806"/>
            <a:ext cx="6952481" cy="760400"/>
          </a:xfrm>
          <a:custGeom>
            <a:avLst/>
            <a:gdLst>
              <a:gd name="connsiteX0" fmla="*/ 0 w 8130540"/>
              <a:gd name="connsiteY0" fmla="*/ 0 h 838200"/>
              <a:gd name="connsiteX1" fmla="*/ 8130539 w 8130540"/>
              <a:gd name="connsiteY1" fmla="*/ 0 h 838200"/>
              <a:gd name="connsiteX2" fmla="*/ 8130539 w 8130540"/>
              <a:gd name="connsiteY2" fmla="*/ 838199 h 838200"/>
              <a:gd name="connsiteX3" fmla="*/ 0 w 8130540"/>
              <a:gd name="connsiteY3" fmla="*/ 838199 h 838200"/>
              <a:gd name="connsiteX4" fmla="*/ 0 w 8130540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8130540" h="838200">
                <a:moveTo>
                  <a:pt x="0" y="0"/>
                </a:moveTo>
                <a:lnTo>
                  <a:pt x="8130539" y="0"/>
                </a:lnTo>
                <a:lnTo>
                  <a:pt x="8130539" y="838199"/>
                </a:lnTo>
                <a:lnTo>
                  <a:pt x="0" y="838199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7" name="Freeform 3"/>
          <p:cNvSpPr/>
          <p:nvPr/>
        </p:nvSpPr>
        <p:spPr>
          <a:xfrm>
            <a:off x="1530490" y="1105806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199 h 838200"/>
              <a:gd name="connsiteX3" fmla="*/ 0 w 73152"/>
              <a:gd name="connsiteY3" fmla="*/ 838199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199"/>
                </a:lnTo>
                <a:lnTo>
                  <a:pt x="0" y="838199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8" name="Freeform 3"/>
          <p:cNvSpPr/>
          <p:nvPr/>
        </p:nvSpPr>
        <p:spPr>
          <a:xfrm>
            <a:off x="1530490" y="1105806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199 h 838200"/>
              <a:gd name="connsiteX3" fmla="*/ 0 w 73152"/>
              <a:gd name="connsiteY3" fmla="*/ 838199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199"/>
                </a:lnTo>
                <a:lnTo>
                  <a:pt x="0" y="838199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9" name="Freeform 3"/>
          <p:cNvSpPr/>
          <p:nvPr/>
        </p:nvSpPr>
        <p:spPr>
          <a:xfrm>
            <a:off x="1529187" y="1882795"/>
            <a:ext cx="6952481" cy="760400"/>
          </a:xfrm>
          <a:custGeom>
            <a:avLst/>
            <a:gdLst>
              <a:gd name="connsiteX0" fmla="*/ 0 w 8130540"/>
              <a:gd name="connsiteY0" fmla="*/ 0 h 838200"/>
              <a:gd name="connsiteX1" fmla="*/ 8130539 w 8130540"/>
              <a:gd name="connsiteY1" fmla="*/ 0 h 838200"/>
              <a:gd name="connsiteX2" fmla="*/ 8130539 w 8130540"/>
              <a:gd name="connsiteY2" fmla="*/ 838200 h 838200"/>
              <a:gd name="connsiteX3" fmla="*/ 0 w 8130540"/>
              <a:gd name="connsiteY3" fmla="*/ 838200 h 838200"/>
              <a:gd name="connsiteX4" fmla="*/ 0 w 8130540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8130540" h="838200">
                <a:moveTo>
                  <a:pt x="0" y="0"/>
                </a:moveTo>
                <a:lnTo>
                  <a:pt x="8130539" y="0"/>
                </a:lnTo>
                <a:lnTo>
                  <a:pt x="8130539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10" name="Freeform 3"/>
          <p:cNvSpPr/>
          <p:nvPr/>
        </p:nvSpPr>
        <p:spPr>
          <a:xfrm>
            <a:off x="1530490" y="1882795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11" name="Freeform 3"/>
          <p:cNvSpPr/>
          <p:nvPr/>
        </p:nvSpPr>
        <p:spPr>
          <a:xfrm>
            <a:off x="1530490" y="1882795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12" name="Freeform 3"/>
          <p:cNvSpPr/>
          <p:nvPr/>
        </p:nvSpPr>
        <p:spPr>
          <a:xfrm>
            <a:off x="1529187" y="2660477"/>
            <a:ext cx="6952481" cy="760400"/>
          </a:xfrm>
          <a:custGeom>
            <a:avLst/>
            <a:gdLst>
              <a:gd name="connsiteX0" fmla="*/ 0 w 8130540"/>
              <a:gd name="connsiteY0" fmla="*/ 0 h 838200"/>
              <a:gd name="connsiteX1" fmla="*/ 8130539 w 8130540"/>
              <a:gd name="connsiteY1" fmla="*/ 0 h 838200"/>
              <a:gd name="connsiteX2" fmla="*/ 8130539 w 8130540"/>
              <a:gd name="connsiteY2" fmla="*/ 838200 h 838200"/>
              <a:gd name="connsiteX3" fmla="*/ 0 w 8130540"/>
              <a:gd name="connsiteY3" fmla="*/ 838200 h 838200"/>
              <a:gd name="connsiteX4" fmla="*/ 0 w 8130540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8130540" h="838200">
                <a:moveTo>
                  <a:pt x="0" y="0"/>
                </a:moveTo>
                <a:lnTo>
                  <a:pt x="8130539" y="0"/>
                </a:lnTo>
                <a:lnTo>
                  <a:pt x="8130539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13" name="Freeform 3"/>
          <p:cNvSpPr/>
          <p:nvPr/>
        </p:nvSpPr>
        <p:spPr>
          <a:xfrm>
            <a:off x="1530490" y="2660477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14" name="Freeform 3"/>
          <p:cNvSpPr/>
          <p:nvPr/>
        </p:nvSpPr>
        <p:spPr>
          <a:xfrm>
            <a:off x="1530490" y="2660477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15" name="Freeform 3"/>
          <p:cNvSpPr/>
          <p:nvPr/>
        </p:nvSpPr>
        <p:spPr>
          <a:xfrm>
            <a:off x="1529187" y="3438159"/>
            <a:ext cx="6952481" cy="760400"/>
          </a:xfrm>
          <a:custGeom>
            <a:avLst/>
            <a:gdLst>
              <a:gd name="connsiteX0" fmla="*/ 0 w 8130540"/>
              <a:gd name="connsiteY0" fmla="*/ 0 h 838200"/>
              <a:gd name="connsiteX1" fmla="*/ 8130539 w 8130540"/>
              <a:gd name="connsiteY1" fmla="*/ 0 h 838200"/>
              <a:gd name="connsiteX2" fmla="*/ 8130539 w 8130540"/>
              <a:gd name="connsiteY2" fmla="*/ 838200 h 838200"/>
              <a:gd name="connsiteX3" fmla="*/ 0 w 8130540"/>
              <a:gd name="connsiteY3" fmla="*/ 838200 h 838200"/>
              <a:gd name="connsiteX4" fmla="*/ 0 w 8130540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8130540" h="838200">
                <a:moveTo>
                  <a:pt x="0" y="0"/>
                </a:moveTo>
                <a:lnTo>
                  <a:pt x="8130539" y="0"/>
                </a:lnTo>
                <a:lnTo>
                  <a:pt x="8130539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16" name="Freeform 3"/>
          <p:cNvSpPr/>
          <p:nvPr/>
        </p:nvSpPr>
        <p:spPr>
          <a:xfrm>
            <a:off x="1530490" y="3438159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17" name="Freeform 3"/>
          <p:cNvSpPr/>
          <p:nvPr/>
        </p:nvSpPr>
        <p:spPr>
          <a:xfrm>
            <a:off x="1530490" y="3438159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18" name="Freeform 3"/>
          <p:cNvSpPr/>
          <p:nvPr/>
        </p:nvSpPr>
        <p:spPr>
          <a:xfrm>
            <a:off x="1529187" y="4215841"/>
            <a:ext cx="6952481" cy="760400"/>
          </a:xfrm>
          <a:custGeom>
            <a:avLst/>
            <a:gdLst>
              <a:gd name="connsiteX0" fmla="*/ 0 w 8130540"/>
              <a:gd name="connsiteY0" fmla="*/ 0 h 838200"/>
              <a:gd name="connsiteX1" fmla="*/ 8130539 w 8130540"/>
              <a:gd name="connsiteY1" fmla="*/ 0 h 838200"/>
              <a:gd name="connsiteX2" fmla="*/ 8130539 w 8130540"/>
              <a:gd name="connsiteY2" fmla="*/ 838200 h 838200"/>
              <a:gd name="connsiteX3" fmla="*/ 0 w 8130540"/>
              <a:gd name="connsiteY3" fmla="*/ 838200 h 838200"/>
              <a:gd name="connsiteX4" fmla="*/ 0 w 8130540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8130540" h="838200">
                <a:moveTo>
                  <a:pt x="0" y="0"/>
                </a:moveTo>
                <a:lnTo>
                  <a:pt x="8130539" y="0"/>
                </a:lnTo>
                <a:lnTo>
                  <a:pt x="8130539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19" name="Freeform 3"/>
          <p:cNvSpPr/>
          <p:nvPr/>
        </p:nvSpPr>
        <p:spPr>
          <a:xfrm>
            <a:off x="1530490" y="4215841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20" name="Freeform 3"/>
          <p:cNvSpPr/>
          <p:nvPr/>
        </p:nvSpPr>
        <p:spPr>
          <a:xfrm>
            <a:off x="1530490" y="4215841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21" name="Freeform 3"/>
          <p:cNvSpPr/>
          <p:nvPr/>
        </p:nvSpPr>
        <p:spPr>
          <a:xfrm>
            <a:off x="1529187" y="4993523"/>
            <a:ext cx="6952481" cy="760400"/>
          </a:xfrm>
          <a:custGeom>
            <a:avLst/>
            <a:gdLst>
              <a:gd name="connsiteX0" fmla="*/ 0 w 8130540"/>
              <a:gd name="connsiteY0" fmla="*/ 0 h 838200"/>
              <a:gd name="connsiteX1" fmla="*/ 8130539 w 8130540"/>
              <a:gd name="connsiteY1" fmla="*/ 0 h 838200"/>
              <a:gd name="connsiteX2" fmla="*/ 8130539 w 8130540"/>
              <a:gd name="connsiteY2" fmla="*/ 838200 h 838200"/>
              <a:gd name="connsiteX3" fmla="*/ 0 w 8130540"/>
              <a:gd name="connsiteY3" fmla="*/ 838200 h 838200"/>
              <a:gd name="connsiteX4" fmla="*/ 0 w 8130540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8130540" h="838200">
                <a:moveTo>
                  <a:pt x="0" y="0"/>
                </a:moveTo>
                <a:lnTo>
                  <a:pt x="8130539" y="0"/>
                </a:lnTo>
                <a:lnTo>
                  <a:pt x="8130539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22" name="Freeform 3"/>
          <p:cNvSpPr/>
          <p:nvPr/>
        </p:nvSpPr>
        <p:spPr>
          <a:xfrm>
            <a:off x="1530490" y="4993523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23" name="Freeform 3"/>
          <p:cNvSpPr/>
          <p:nvPr/>
        </p:nvSpPr>
        <p:spPr>
          <a:xfrm>
            <a:off x="1530490" y="4993523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24" name="Freeform 3"/>
          <p:cNvSpPr/>
          <p:nvPr/>
        </p:nvSpPr>
        <p:spPr>
          <a:xfrm>
            <a:off x="1529187" y="5771204"/>
            <a:ext cx="6952481" cy="760400"/>
          </a:xfrm>
          <a:custGeom>
            <a:avLst/>
            <a:gdLst>
              <a:gd name="connsiteX0" fmla="*/ 0 w 8130540"/>
              <a:gd name="connsiteY0" fmla="*/ 0 h 838200"/>
              <a:gd name="connsiteX1" fmla="*/ 8130539 w 8130540"/>
              <a:gd name="connsiteY1" fmla="*/ 0 h 838200"/>
              <a:gd name="connsiteX2" fmla="*/ 8130539 w 8130540"/>
              <a:gd name="connsiteY2" fmla="*/ 838199 h 838200"/>
              <a:gd name="connsiteX3" fmla="*/ 0 w 8130540"/>
              <a:gd name="connsiteY3" fmla="*/ 838199 h 838200"/>
              <a:gd name="connsiteX4" fmla="*/ 0 w 8130540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8130540" h="838200">
                <a:moveTo>
                  <a:pt x="0" y="0"/>
                </a:moveTo>
                <a:lnTo>
                  <a:pt x="8130539" y="0"/>
                </a:lnTo>
                <a:lnTo>
                  <a:pt x="8130539" y="838199"/>
                </a:lnTo>
                <a:lnTo>
                  <a:pt x="0" y="838199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25" name="Freeform 3"/>
          <p:cNvSpPr/>
          <p:nvPr/>
        </p:nvSpPr>
        <p:spPr>
          <a:xfrm>
            <a:off x="1530490" y="5771204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199 h 838200"/>
              <a:gd name="connsiteX3" fmla="*/ 0 w 73152"/>
              <a:gd name="connsiteY3" fmla="*/ 838199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199"/>
                </a:lnTo>
                <a:lnTo>
                  <a:pt x="0" y="838199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26" name="Freeform 3"/>
          <p:cNvSpPr/>
          <p:nvPr/>
        </p:nvSpPr>
        <p:spPr>
          <a:xfrm>
            <a:off x="1530490" y="5771204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199 h 838200"/>
              <a:gd name="connsiteX3" fmla="*/ 0 w 73152"/>
              <a:gd name="connsiteY3" fmla="*/ 838199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199"/>
                </a:lnTo>
                <a:lnTo>
                  <a:pt x="0" y="838199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651592" y="299551"/>
            <a:ext cx="7840817" cy="6244496"/>
          </a:xfrm>
          <a:prstGeom prst="rect">
            <a:avLst/>
          </a:prstGeom>
          <a:noFill/>
        </p:spPr>
      </p:pic>
      <p:sp>
        <p:nvSpPr>
          <p:cNvPr id="27" name="TextBox 1"/>
          <p:cNvSpPr txBox="1"/>
          <p:nvPr/>
        </p:nvSpPr>
        <p:spPr>
          <a:xfrm>
            <a:off x="1785918" y="2428868"/>
            <a:ext cx="7106562" cy="1240798"/>
          </a:xfrm>
          <a:prstGeom prst="rect">
            <a:avLst/>
          </a:prstGeom>
          <a:noFill/>
        </p:spPr>
        <p:txBody>
          <a:bodyPr wrap="square" lIns="0" tIns="0" rIns="0" bIns="40078" rtlCol="0">
            <a:spAutoFit/>
          </a:bodyPr>
          <a:lstStyle/>
          <a:p>
            <a:pPr>
              <a:lnSpc>
                <a:spcPct val="150000"/>
              </a:lnSpc>
              <a:tabLst>
                <a:tab pos="255905" algn="l"/>
              </a:tabLst>
            </a:pP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Passenger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may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get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a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discount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ticket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if</a:t>
            </a:r>
            <a:endParaRPr lang="en-US" altLang="zh-CN" sz="2600" dirty="0">
              <a:solidFill>
                <a:srgbClr val="000000"/>
              </a:solidFill>
              <a:latin typeface="微软雅黑" panose="020B0503020204020204" pitchFamily="18" charset="-122"/>
              <a:cs typeface="微软雅黑" panose="020B0503020204020204" pitchFamily="18" charset="-122"/>
            </a:endParaRPr>
          </a:p>
          <a:p>
            <a:pPr>
              <a:lnSpc>
                <a:spcPct val="150000"/>
              </a:lnSpc>
              <a:tabLst>
                <a:tab pos="255905" algn="l"/>
              </a:tabLst>
            </a:pPr>
            <a:r>
              <a:rPr lang="en-US" altLang="zh-CN" sz="2600" dirty="0"/>
              <a:t>	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he/she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is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below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12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or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a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student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below 25.</a:t>
            </a:r>
            <a:endParaRPr lang="en-US" altLang="zh-CN" sz="2600" dirty="0">
              <a:solidFill>
                <a:srgbClr val="000000"/>
              </a:solidFill>
              <a:latin typeface="微软雅黑" panose="020B0503020204020204" pitchFamily="18" charset="-122"/>
              <a:cs typeface="微软雅黑" panose="020B0503020204020204" pitchFamily="18" charset="-122"/>
            </a:endParaRPr>
          </a:p>
        </p:txBody>
      </p:sp>
      <p:sp>
        <p:nvSpPr>
          <p:cNvPr id="29" name="标题 1"/>
          <p:cNvSpPr txBox="1"/>
          <p:nvPr/>
        </p:nvSpPr>
        <p:spPr>
          <a:xfrm>
            <a:off x="1500166" y="857232"/>
            <a:ext cx="692948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Example1</a:t>
            </a:r>
            <a:endParaRPr kumimoji="0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1529187" y="328123"/>
            <a:ext cx="6952481" cy="760400"/>
          </a:xfrm>
          <a:custGeom>
            <a:avLst/>
            <a:gdLst>
              <a:gd name="connsiteX0" fmla="*/ 0 w 8130540"/>
              <a:gd name="connsiteY0" fmla="*/ 0 h 838200"/>
              <a:gd name="connsiteX1" fmla="*/ 8130539 w 8130540"/>
              <a:gd name="connsiteY1" fmla="*/ 0 h 838200"/>
              <a:gd name="connsiteX2" fmla="*/ 8130539 w 8130540"/>
              <a:gd name="connsiteY2" fmla="*/ 838200 h 838200"/>
              <a:gd name="connsiteX3" fmla="*/ 0 w 8130540"/>
              <a:gd name="connsiteY3" fmla="*/ 838200 h 838200"/>
              <a:gd name="connsiteX4" fmla="*/ 0 w 8130540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8130540" h="838200">
                <a:moveTo>
                  <a:pt x="0" y="0"/>
                </a:moveTo>
                <a:lnTo>
                  <a:pt x="8130539" y="0"/>
                </a:lnTo>
                <a:lnTo>
                  <a:pt x="8130539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3" name="Freeform 3"/>
          <p:cNvSpPr/>
          <p:nvPr/>
        </p:nvSpPr>
        <p:spPr>
          <a:xfrm>
            <a:off x="1530490" y="328123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5" name="Freeform 3"/>
          <p:cNvSpPr/>
          <p:nvPr/>
        </p:nvSpPr>
        <p:spPr>
          <a:xfrm>
            <a:off x="1530490" y="328123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6" name="Freeform 3"/>
          <p:cNvSpPr/>
          <p:nvPr/>
        </p:nvSpPr>
        <p:spPr>
          <a:xfrm>
            <a:off x="1529187" y="1105806"/>
            <a:ext cx="6952481" cy="760400"/>
          </a:xfrm>
          <a:custGeom>
            <a:avLst/>
            <a:gdLst>
              <a:gd name="connsiteX0" fmla="*/ 0 w 8130540"/>
              <a:gd name="connsiteY0" fmla="*/ 0 h 838200"/>
              <a:gd name="connsiteX1" fmla="*/ 8130539 w 8130540"/>
              <a:gd name="connsiteY1" fmla="*/ 0 h 838200"/>
              <a:gd name="connsiteX2" fmla="*/ 8130539 w 8130540"/>
              <a:gd name="connsiteY2" fmla="*/ 838199 h 838200"/>
              <a:gd name="connsiteX3" fmla="*/ 0 w 8130540"/>
              <a:gd name="connsiteY3" fmla="*/ 838199 h 838200"/>
              <a:gd name="connsiteX4" fmla="*/ 0 w 8130540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8130540" h="838200">
                <a:moveTo>
                  <a:pt x="0" y="0"/>
                </a:moveTo>
                <a:lnTo>
                  <a:pt x="8130539" y="0"/>
                </a:lnTo>
                <a:lnTo>
                  <a:pt x="8130539" y="838199"/>
                </a:lnTo>
                <a:lnTo>
                  <a:pt x="0" y="838199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7" name="Freeform 3"/>
          <p:cNvSpPr/>
          <p:nvPr/>
        </p:nvSpPr>
        <p:spPr>
          <a:xfrm>
            <a:off x="1530490" y="1105806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199 h 838200"/>
              <a:gd name="connsiteX3" fmla="*/ 0 w 73152"/>
              <a:gd name="connsiteY3" fmla="*/ 838199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199"/>
                </a:lnTo>
                <a:lnTo>
                  <a:pt x="0" y="838199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8" name="Freeform 3"/>
          <p:cNvSpPr/>
          <p:nvPr/>
        </p:nvSpPr>
        <p:spPr>
          <a:xfrm>
            <a:off x="1530490" y="1105806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199 h 838200"/>
              <a:gd name="connsiteX3" fmla="*/ 0 w 73152"/>
              <a:gd name="connsiteY3" fmla="*/ 838199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199"/>
                </a:lnTo>
                <a:lnTo>
                  <a:pt x="0" y="838199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9" name="Freeform 3"/>
          <p:cNvSpPr/>
          <p:nvPr/>
        </p:nvSpPr>
        <p:spPr>
          <a:xfrm>
            <a:off x="1529187" y="1882795"/>
            <a:ext cx="6952481" cy="760400"/>
          </a:xfrm>
          <a:custGeom>
            <a:avLst/>
            <a:gdLst>
              <a:gd name="connsiteX0" fmla="*/ 0 w 8130540"/>
              <a:gd name="connsiteY0" fmla="*/ 0 h 838200"/>
              <a:gd name="connsiteX1" fmla="*/ 8130539 w 8130540"/>
              <a:gd name="connsiteY1" fmla="*/ 0 h 838200"/>
              <a:gd name="connsiteX2" fmla="*/ 8130539 w 8130540"/>
              <a:gd name="connsiteY2" fmla="*/ 838200 h 838200"/>
              <a:gd name="connsiteX3" fmla="*/ 0 w 8130540"/>
              <a:gd name="connsiteY3" fmla="*/ 838200 h 838200"/>
              <a:gd name="connsiteX4" fmla="*/ 0 w 8130540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8130540" h="838200">
                <a:moveTo>
                  <a:pt x="0" y="0"/>
                </a:moveTo>
                <a:lnTo>
                  <a:pt x="8130539" y="0"/>
                </a:lnTo>
                <a:lnTo>
                  <a:pt x="8130539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10" name="Freeform 3"/>
          <p:cNvSpPr/>
          <p:nvPr/>
        </p:nvSpPr>
        <p:spPr>
          <a:xfrm>
            <a:off x="1530490" y="1882795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11" name="Freeform 3"/>
          <p:cNvSpPr/>
          <p:nvPr/>
        </p:nvSpPr>
        <p:spPr>
          <a:xfrm>
            <a:off x="1530490" y="1882795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12" name="Freeform 3"/>
          <p:cNvSpPr/>
          <p:nvPr/>
        </p:nvSpPr>
        <p:spPr>
          <a:xfrm>
            <a:off x="1529187" y="2660477"/>
            <a:ext cx="6952481" cy="760400"/>
          </a:xfrm>
          <a:custGeom>
            <a:avLst/>
            <a:gdLst>
              <a:gd name="connsiteX0" fmla="*/ 0 w 8130540"/>
              <a:gd name="connsiteY0" fmla="*/ 0 h 838200"/>
              <a:gd name="connsiteX1" fmla="*/ 8130539 w 8130540"/>
              <a:gd name="connsiteY1" fmla="*/ 0 h 838200"/>
              <a:gd name="connsiteX2" fmla="*/ 8130539 w 8130540"/>
              <a:gd name="connsiteY2" fmla="*/ 838200 h 838200"/>
              <a:gd name="connsiteX3" fmla="*/ 0 w 8130540"/>
              <a:gd name="connsiteY3" fmla="*/ 838200 h 838200"/>
              <a:gd name="connsiteX4" fmla="*/ 0 w 8130540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8130540" h="838200">
                <a:moveTo>
                  <a:pt x="0" y="0"/>
                </a:moveTo>
                <a:lnTo>
                  <a:pt x="8130539" y="0"/>
                </a:lnTo>
                <a:lnTo>
                  <a:pt x="8130539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13" name="Freeform 3"/>
          <p:cNvSpPr/>
          <p:nvPr/>
        </p:nvSpPr>
        <p:spPr>
          <a:xfrm>
            <a:off x="1530490" y="2660477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14" name="Freeform 3"/>
          <p:cNvSpPr/>
          <p:nvPr/>
        </p:nvSpPr>
        <p:spPr>
          <a:xfrm>
            <a:off x="1530490" y="2660477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15" name="Freeform 3"/>
          <p:cNvSpPr/>
          <p:nvPr/>
        </p:nvSpPr>
        <p:spPr>
          <a:xfrm>
            <a:off x="1529187" y="3438159"/>
            <a:ext cx="6952481" cy="760400"/>
          </a:xfrm>
          <a:custGeom>
            <a:avLst/>
            <a:gdLst>
              <a:gd name="connsiteX0" fmla="*/ 0 w 8130540"/>
              <a:gd name="connsiteY0" fmla="*/ 0 h 838200"/>
              <a:gd name="connsiteX1" fmla="*/ 8130539 w 8130540"/>
              <a:gd name="connsiteY1" fmla="*/ 0 h 838200"/>
              <a:gd name="connsiteX2" fmla="*/ 8130539 w 8130540"/>
              <a:gd name="connsiteY2" fmla="*/ 838200 h 838200"/>
              <a:gd name="connsiteX3" fmla="*/ 0 w 8130540"/>
              <a:gd name="connsiteY3" fmla="*/ 838200 h 838200"/>
              <a:gd name="connsiteX4" fmla="*/ 0 w 8130540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8130540" h="838200">
                <a:moveTo>
                  <a:pt x="0" y="0"/>
                </a:moveTo>
                <a:lnTo>
                  <a:pt x="8130539" y="0"/>
                </a:lnTo>
                <a:lnTo>
                  <a:pt x="8130539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16" name="Freeform 3"/>
          <p:cNvSpPr/>
          <p:nvPr/>
        </p:nvSpPr>
        <p:spPr>
          <a:xfrm>
            <a:off x="1530490" y="3438159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17" name="Freeform 3"/>
          <p:cNvSpPr/>
          <p:nvPr/>
        </p:nvSpPr>
        <p:spPr>
          <a:xfrm>
            <a:off x="1530490" y="3438159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18" name="Freeform 3"/>
          <p:cNvSpPr/>
          <p:nvPr/>
        </p:nvSpPr>
        <p:spPr>
          <a:xfrm>
            <a:off x="1529187" y="4215841"/>
            <a:ext cx="6952481" cy="760400"/>
          </a:xfrm>
          <a:custGeom>
            <a:avLst/>
            <a:gdLst>
              <a:gd name="connsiteX0" fmla="*/ 0 w 8130540"/>
              <a:gd name="connsiteY0" fmla="*/ 0 h 838200"/>
              <a:gd name="connsiteX1" fmla="*/ 8130539 w 8130540"/>
              <a:gd name="connsiteY1" fmla="*/ 0 h 838200"/>
              <a:gd name="connsiteX2" fmla="*/ 8130539 w 8130540"/>
              <a:gd name="connsiteY2" fmla="*/ 838200 h 838200"/>
              <a:gd name="connsiteX3" fmla="*/ 0 w 8130540"/>
              <a:gd name="connsiteY3" fmla="*/ 838200 h 838200"/>
              <a:gd name="connsiteX4" fmla="*/ 0 w 8130540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8130540" h="838200">
                <a:moveTo>
                  <a:pt x="0" y="0"/>
                </a:moveTo>
                <a:lnTo>
                  <a:pt x="8130539" y="0"/>
                </a:lnTo>
                <a:lnTo>
                  <a:pt x="8130539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19" name="Freeform 3"/>
          <p:cNvSpPr/>
          <p:nvPr/>
        </p:nvSpPr>
        <p:spPr>
          <a:xfrm>
            <a:off x="1530490" y="4215841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20" name="Freeform 3"/>
          <p:cNvSpPr/>
          <p:nvPr/>
        </p:nvSpPr>
        <p:spPr>
          <a:xfrm>
            <a:off x="1530490" y="4215841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21" name="Freeform 3"/>
          <p:cNvSpPr/>
          <p:nvPr/>
        </p:nvSpPr>
        <p:spPr>
          <a:xfrm>
            <a:off x="1529187" y="4993523"/>
            <a:ext cx="6952481" cy="760400"/>
          </a:xfrm>
          <a:custGeom>
            <a:avLst/>
            <a:gdLst>
              <a:gd name="connsiteX0" fmla="*/ 0 w 8130540"/>
              <a:gd name="connsiteY0" fmla="*/ 0 h 838200"/>
              <a:gd name="connsiteX1" fmla="*/ 8130539 w 8130540"/>
              <a:gd name="connsiteY1" fmla="*/ 0 h 838200"/>
              <a:gd name="connsiteX2" fmla="*/ 8130539 w 8130540"/>
              <a:gd name="connsiteY2" fmla="*/ 838200 h 838200"/>
              <a:gd name="connsiteX3" fmla="*/ 0 w 8130540"/>
              <a:gd name="connsiteY3" fmla="*/ 838200 h 838200"/>
              <a:gd name="connsiteX4" fmla="*/ 0 w 8130540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8130540" h="838200">
                <a:moveTo>
                  <a:pt x="0" y="0"/>
                </a:moveTo>
                <a:lnTo>
                  <a:pt x="8130539" y="0"/>
                </a:lnTo>
                <a:lnTo>
                  <a:pt x="8130539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22" name="Freeform 3"/>
          <p:cNvSpPr/>
          <p:nvPr/>
        </p:nvSpPr>
        <p:spPr>
          <a:xfrm>
            <a:off x="1530490" y="4993523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23" name="Freeform 3"/>
          <p:cNvSpPr/>
          <p:nvPr/>
        </p:nvSpPr>
        <p:spPr>
          <a:xfrm>
            <a:off x="1530490" y="4993523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24" name="Freeform 3"/>
          <p:cNvSpPr/>
          <p:nvPr/>
        </p:nvSpPr>
        <p:spPr>
          <a:xfrm>
            <a:off x="1529187" y="5771204"/>
            <a:ext cx="6952481" cy="760400"/>
          </a:xfrm>
          <a:custGeom>
            <a:avLst/>
            <a:gdLst>
              <a:gd name="connsiteX0" fmla="*/ 0 w 8130540"/>
              <a:gd name="connsiteY0" fmla="*/ 0 h 838200"/>
              <a:gd name="connsiteX1" fmla="*/ 8130539 w 8130540"/>
              <a:gd name="connsiteY1" fmla="*/ 0 h 838200"/>
              <a:gd name="connsiteX2" fmla="*/ 8130539 w 8130540"/>
              <a:gd name="connsiteY2" fmla="*/ 838199 h 838200"/>
              <a:gd name="connsiteX3" fmla="*/ 0 w 8130540"/>
              <a:gd name="connsiteY3" fmla="*/ 838199 h 838200"/>
              <a:gd name="connsiteX4" fmla="*/ 0 w 8130540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8130540" h="838200">
                <a:moveTo>
                  <a:pt x="0" y="0"/>
                </a:moveTo>
                <a:lnTo>
                  <a:pt x="8130539" y="0"/>
                </a:lnTo>
                <a:lnTo>
                  <a:pt x="8130539" y="838199"/>
                </a:lnTo>
                <a:lnTo>
                  <a:pt x="0" y="838199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25" name="Freeform 3"/>
          <p:cNvSpPr/>
          <p:nvPr/>
        </p:nvSpPr>
        <p:spPr>
          <a:xfrm>
            <a:off x="1530490" y="5771204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199 h 838200"/>
              <a:gd name="connsiteX3" fmla="*/ 0 w 73152"/>
              <a:gd name="connsiteY3" fmla="*/ 838199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199"/>
                </a:lnTo>
                <a:lnTo>
                  <a:pt x="0" y="838199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26" name="Freeform 3"/>
          <p:cNvSpPr/>
          <p:nvPr/>
        </p:nvSpPr>
        <p:spPr>
          <a:xfrm>
            <a:off x="1530490" y="5771204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199 h 838200"/>
              <a:gd name="connsiteX3" fmla="*/ 0 w 73152"/>
              <a:gd name="connsiteY3" fmla="*/ 838199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199"/>
                </a:lnTo>
                <a:lnTo>
                  <a:pt x="0" y="838199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651592" y="299551"/>
            <a:ext cx="7840817" cy="6244496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>
            <a:off x="1965634" y="818006"/>
            <a:ext cx="2371418" cy="591902"/>
          </a:xfrm>
          <a:prstGeom prst="rect">
            <a:avLst/>
          </a:prstGeom>
          <a:noFill/>
        </p:spPr>
        <p:txBody>
          <a:bodyPr wrap="none" lIns="0" tIns="0" rIns="0" bIns="40078" rtlCol="0">
            <a:spAutoFit/>
          </a:bodyPr>
          <a:lstStyle/>
          <a:p>
            <a:pPr>
              <a:lnSpc>
                <a:spcPts val="4295"/>
              </a:lnSpc>
            </a:pPr>
            <a:r>
              <a:rPr lang="en-US" altLang="zh-CN" sz="3800" dirty="0">
                <a:solidFill>
                  <a:srgbClr val="572314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Procedure</a:t>
            </a:r>
            <a:endParaRPr lang="en-US" altLang="zh-CN" sz="3800" dirty="0">
              <a:solidFill>
                <a:srgbClr val="572314"/>
              </a:solidFill>
              <a:latin typeface="微软雅黑" panose="020B0503020204020204" pitchFamily="18" charset="-122"/>
              <a:cs typeface="微软雅黑" panose="020B0503020204020204" pitchFamily="18" charset="-122"/>
            </a:endParaRPr>
          </a:p>
        </p:txBody>
      </p:sp>
      <p:sp>
        <p:nvSpPr>
          <p:cNvPr id="32" name="内容占位符 2"/>
          <p:cNvSpPr txBox="1"/>
          <p:nvPr/>
        </p:nvSpPr>
        <p:spPr>
          <a:xfrm>
            <a:off x="1500166" y="1571612"/>
            <a:ext cx="7215238" cy="45259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514350" marR="0" lvl="0" indent="-51435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Identify causes and effects in specification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14350" marR="0" lvl="0" indent="-51435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Make Boolean graph linking causes and effects. 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14350" marR="0" lvl="0" indent="-51435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Annotate impossible combinations of causes and effects (adding constraints)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14350" marR="0" lvl="0" indent="-51435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Develop decision table from graph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14350" marR="0" lvl="0" indent="-51435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Transform </a:t>
            </a:r>
            <a:r>
              <a:rPr lang="en-US" altLang="zh-CN" sz="2800" dirty="0"/>
              <a:t>each column into test case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1529187" y="328123"/>
            <a:ext cx="6952481" cy="760400"/>
          </a:xfrm>
          <a:custGeom>
            <a:avLst/>
            <a:gdLst>
              <a:gd name="connsiteX0" fmla="*/ 0 w 8130540"/>
              <a:gd name="connsiteY0" fmla="*/ 0 h 838200"/>
              <a:gd name="connsiteX1" fmla="*/ 8130539 w 8130540"/>
              <a:gd name="connsiteY1" fmla="*/ 0 h 838200"/>
              <a:gd name="connsiteX2" fmla="*/ 8130539 w 8130540"/>
              <a:gd name="connsiteY2" fmla="*/ 838200 h 838200"/>
              <a:gd name="connsiteX3" fmla="*/ 0 w 8130540"/>
              <a:gd name="connsiteY3" fmla="*/ 838200 h 838200"/>
              <a:gd name="connsiteX4" fmla="*/ 0 w 8130540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8130540" h="838200">
                <a:moveTo>
                  <a:pt x="0" y="0"/>
                </a:moveTo>
                <a:lnTo>
                  <a:pt x="8130539" y="0"/>
                </a:lnTo>
                <a:lnTo>
                  <a:pt x="8130539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3" name="Freeform 3"/>
          <p:cNvSpPr/>
          <p:nvPr/>
        </p:nvSpPr>
        <p:spPr>
          <a:xfrm>
            <a:off x="1530490" y="328123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5" name="Freeform 3"/>
          <p:cNvSpPr/>
          <p:nvPr/>
        </p:nvSpPr>
        <p:spPr>
          <a:xfrm>
            <a:off x="1530490" y="328123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6" name="Freeform 3"/>
          <p:cNvSpPr/>
          <p:nvPr/>
        </p:nvSpPr>
        <p:spPr>
          <a:xfrm>
            <a:off x="1529187" y="1105806"/>
            <a:ext cx="6952481" cy="760400"/>
          </a:xfrm>
          <a:custGeom>
            <a:avLst/>
            <a:gdLst>
              <a:gd name="connsiteX0" fmla="*/ 0 w 8130540"/>
              <a:gd name="connsiteY0" fmla="*/ 0 h 838200"/>
              <a:gd name="connsiteX1" fmla="*/ 8130539 w 8130540"/>
              <a:gd name="connsiteY1" fmla="*/ 0 h 838200"/>
              <a:gd name="connsiteX2" fmla="*/ 8130539 w 8130540"/>
              <a:gd name="connsiteY2" fmla="*/ 838199 h 838200"/>
              <a:gd name="connsiteX3" fmla="*/ 0 w 8130540"/>
              <a:gd name="connsiteY3" fmla="*/ 838199 h 838200"/>
              <a:gd name="connsiteX4" fmla="*/ 0 w 8130540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8130540" h="838200">
                <a:moveTo>
                  <a:pt x="0" y="0"/>
                </a:moveTo>
                <a:lnTo>
                  <a:pt x="8130539" y="0"/>
                </a:lnTo>
                <a:lnTo>
                  <a:pt x="8130539" y="838199"/>
                </a:lnTo>
                <a:lnTo>
                  <a:pt x="0" y="838199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7" name="Freeform 3"/>
          <p:cNvSpPr/>
          <p:nvPr/>
        </p:nvSpPr>
        <p:spPr>
          <a:xfrm>
            <a:off x="1530490" y="1105806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199 h 838200"/>
              <a:gd name="connsiteX3" fmla="*/ 0 w 73152"/>
              <a:gd name="connsiteY3" fmla="*/ 838199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199"/>
                </a:lnTo>
                <a:lnTo>
                  <a:pt x="0" y="838199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8" name="Freeform 3"/>
          <p:cNvSpPr/>
          <p:nvPr/>
        </p:nvSpPr>
        <p:spPr>
          <a:xfrm>
            <a:off x="1530490" y="1105806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199 h 838200"/>
              <a:gd name="connsiteX3" fmla="*/ 0 w 73152"/>
              <a:gd name="connsiteY3" fmla="*/ 838199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199"/>
                </a:lnTo>
                <a:lnTo>
                  <a:pt x="0" y="838199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9" name="Freeform 3"/>
          <p:cNvSpPr/>
          <p:nvPr/>
        </p:nvSpPr>
        <p:spPr>
          <a:xfrm>
            <a:off x="1529187" y="1882795"/>
            <a:ext cx="6952481" cy="760400"/>
          </a:xfrm>
          <a:custGeom>
            <a:avLst/>
            <a:gdLst>
              <a:gd name="connsiteX0" fmla="*/ 0 w 8130540"/>
              <a:gd name="connsiteY0" fmla="*/ 0 h 838200"/>
              <a:gd name="connsiteX1" fmla="*/ 8130539 w 8130540"/>
              <a:gd name="connsiteY1" fmla="*/ 0 h 838200"/>
              <a:gd name="connsiteX2" fmla="*/ 8130539 w 8130540"/>
              <a:gd name="connsiteY2" fmla="*/ 838200 h 838200"/>
              <a:gd name="connsiteX3" fmla="*/ 0 w 8130540"/>
              <a:gd name="connsiteY3" fmla="*/ 838200 h 838200"/>
              <a:gd name="connsiteX4" fmla="*/ 0 w 8130540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8130540" h="838200">
                <a:moveTo>
                  <a:pt x="0" y="0"/>
                </a:moveTo>
                <a:lnTo>
                  <a:pt x="8130539" y="0"/>
                </a:lnTo>
                <a:lnTo>
                  <a:pt x="8130539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10" name="Freeform 3"/>
          <p:cNvSpPr/>
          <p:nvPr/>
        </p:nvSpPr>
        <p:spPr>
          <a:xfrm>
            <a:off x="1530490" y="1882795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11" name="Freeform 3"/>
          <p:cNvSpPr/>
          <p:nvPr/>
        </p:nvSpPr>
        <p:spPr>
          <a:xfrm>
            <a:off x="1530490" y="1882795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12" name="Freeform 3"/>
          <p:cNvSpPr/>
          <p:nvPr/>
        </p:nvSpPr>
        <p:spPr>
          <a:xfrm>
            <a:off x="1529187" y="2660477"/>
            <a:ext cx="6952481" cy="760400"/>
          </a:xfrm>
          <a:custGeom>
            <a:avLst/>
            <a:gdLst>
              <a:gd name="connsiteX0" fmla="*/ 0 w 8130540"/>
              <a:gd name="connsiteY0" fmla="*/ 0 h 838200"/>
              <a:gd name="connsiteX1" fmla="*/ 8130539 w 8130540"/>
              <a:gd name="connsiteY1" fmla="*/ 0 h 838200"/>
              <a:gd name="connsiteX2" fmla="*/ 8130539 w 8130540"/>
              <a:gd name="connsiteY2" fmla="*/ 838200 h 838200"/>
              <a:gd name="connsiteX3" fmla="*/ 0 w 8130540"/>
              <a:gd name="connsiteY3" fmla="*/ 838200 h 838200"/>
              <a:gd name="connsiteX4" fmla="*/ 0 w 8130540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8130540" h="838200">
                <a:moveTo>
                  <a:pt x="0" y="0"/>
                </a:moveTo>
                <a:lnTo>
                  <a:pt x="8130539" y="0"/>
                </a:lnTo>
                <a:lnTo>
                  <a:pt x="8130539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13" name="Freeform 3"/>
          <p:cNvSpPr/>
          <p:nvPr/>
        </p:nvSpPr>
        <p:spPr>
          <a:xfrm>
            <a:off x="1530490" y="2660477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14" name="Freeform 3"/>
          <p:cNvSpPr/>
          <p:nvPr/>
        </p:nvSpPr>
        <p:spPr>
          <a:xfrm>
            <a:off x="1530490" y="2660477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15" name="Freeform 3"/>
          <p:cNvSpPr/>
          <p:nvPr/>
        </p:nvSpPr>
        <p:spPr>
          <a:xfrm>
            <a:off x="1529187" y="3438159"/>
            <a:ext cx="6952481" cy="760400"/>
          </a:xfrm>
          <a:custGeom>
            <a:avLst/>
            <a:gdLst>
              <a:gd name="connsiteX0" fmla="*/ 0 w 8130540"/>
              <a:gd name="connsiteY0" fmla="*/ 0 h 838200"/>
              <a:gd name="connsiteX1" fmla="*/ 8130539 w 8130540"/>
              <a:gd name="connsiteY1" fmla="*/ 0 h 838200"/>
              <a:gd name="connsiteX2" fmla="*/ 8130539 w 8130540"/>
              <a:gd name="connsiteY2" fmla="*/ 838200 h 838200"/>
              <a:gd name="connsiteX3" fmla="*/ 0 w 8130540"/>
              <a:gd name="connsiteY3" fmla="*/ 838200 h 838200"/>
              <a:gd name="connsiteX4" fmla="*/ 0 w 8130540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8130540" h="838200">
                <a:moveTo>
                  <a:pt x="0" y="0"/>
                </a:moveTo>
                <a:lnTo>
                  <a:pt x="8130539" y="0"/>
                </a:lnTo>
                <a:lnTo>
                  <a:pt x="8130539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16" name="Freeform 3"/>
          <p:cNvSpPr/>
          <p:nvPr/>
        </p:nvSpPr>
        <p:spPr>
          <a:xfrm>
            <a:off x="1530490" y="3438159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17" name="Freeform 3"/>
          <p:cNvSpPr/>
          <p:nvPr/>
        </p:nvSpPr>
        <p:spPr>
          <a:xfrm>
            <a:off x="1530490" y="3438159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18" name="Freeform 3"/>
          <p:cNvSpPr/>
          <p:nvPr/>
        </p:nvSpPr>
        <p:spPr>
          <a:xfrm>
            <a:off x="1529187" y="4215841"/>
            <a:ext cx="6952481" cy="760400"/>
          </a:xfrm>
          <a:custGeom>
            <a:avLst/>
            <a:gdLst>
              <a:gd name="connsiteX0" fmla="*/ 0 w 8130540"/>
              <a:gd name="connsiteY0" fmla="*/ 0 h 838200"/>
              <a:gd name="connsiteX1" fmla="*/ 8130539 w 8130540"/>
              <a:gd name="connsiteY1" fmla="*/ 0 h 838200"/>
              <a:gd name="connsiteX2" fmla="*/ 8130539 w 8130540"/>
              <a:gd name="connsiteY2" fmla="*/ 838200 h 838200"/>
              <a:gd name="connsiteX3" fmla="*/ 0 w 8130540"/>
              <a:gd name="connsiteY3" fmla="*/ 838200 h 838200"/>
              <a:gd name="connsiteX4" fmla="*/ 0 w 8130540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8130540" h="838200">
                <a:moveTo>
                  <a:pt x="0" y="0"/>
                </a:moveTo>
                <a:lnTo>
                  <a:pt x="8130539" y="0"/>
                </a:lnTo>
                <a:lnTo>
                  <a:pt x="8130539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19" name="Freeform 3"/>
          <p:cNvSpPr/>
          <p:nvPr/>
        </p:nvSpPr>
        <p:spPr>
          <a:xfrm>
            <a:off x="1530490" y="4215841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20" name="Freeform 3"/>
          <p:cNvSpPr/>
          <p:nvPr/>
        </p:nvSpPr>
        <p:spPr>
          <a:xfrm>
            <a:off x="1530490" y="4215841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21" name="Freeform 3"/>
          <p:cNvSpPr/>
          <p:nvPr/>
        </p:nvSpPr>
        <p:spPr>
          <a:xfrm>
            <a:off x="1529187" y="4993523"/>
            <a:ext cx="6952481" cy="760400"/>
          </a:xfrm>
          <a:custGeom>
            <a:avLst/>
            <a:gdLst>
              <a:gd name="connsiteX0" fmla="*/ 0 w 8130540"/>
              <a:gd name="connsiteY0" fmla="*/ 0 h 838200"/>
              <a:gd name="connsiteX1" fmla="*/ 8130539 w 8130540"/>
              <a:gd name="connsiteY1" fmla="*/ 0 h 838200"/>
              <a:gd name="connsiteX2" fmla="*/ 8130539 w 8130540"/>
              <a:gd name="connsiteY2" fmla="*/ 838200 h 838200"/>
              <a:gd name="connsiteX3" fmla="*/ 0 w 8130540"/>
              <a:gd name="connsiteY3" fmla="*/ 838200 h 838200"/>
              <a:gd name="connsiteX4" fmla="*/ 0 w 8130540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8130540" h="838200">
                <a:moveTo>
                  <a:pt x="0" y="0"/>
                </a:moveTo>
                <a:lnTo>
                  <a:pt x="8130539" y="0"/>
                </a:lnTo>
                <a:lnTo>
                  <a:pt x="8130539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22" name="Freeform 3"/>
          <p:cNvSpPr/>
          <p:nvPr/>
        </p:nvSpPr>
        <p:spPr>
          <a:xfrm>
            <a:off x="1530490" y="4993523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23" name="Freeform 3"/>
          <p:cNvSpPr/>
          <p:nvPr/>
        </p:nvSpPr>
        <p:spPr>
          <a:xfrm>
            <a:off x="1530490" y="4993523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24" name="Freeform 3"/>
          <p:cNvSpPr/>
          <p:nvPr/>
        </p:nvSpPr>
        <p:spPr>
          <a:xfrm>
            <a:off x="1529187" y="5771204"/>
            <a:ext cx="6952481" cy="760400"/>
          </a:xfrm>
          <a:custGeom>
            <a:avLst/>
            <a:gdLst>
              <a:gd name="connsiteX0" fmla="*/ 0 w 8130540"/>
              <a:gd name="connsiteY0" fmla="*/ 0 h 838200"/>
              <a:gd name="connsiteX1" fmla="*/ 8130539 w 8130540"/>
              <a:gd name="connsiteY1" fmla="*/ 0 h 838200"/>
              <a:gd name="connsiteX2" fmla="*/ 8130539 w 8130540"/>
              <a:gd name="connsiteY2" fmla="*/ 838199 h 838200"/>
              <a:gd name="connsiteX3" fmla="*/ 0 w 8130540"/>
              <a:gd name="connsiteY3" fmla="*/ 838199 h 838200"/>
              <a:gd name="connsiteX4" fmla="*/ 0 w 8130540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8130540" h="838200">
                <a:moveTo>
                  <a:pt x="0" y="0"/>
                </a:moveTo>
                <a:lnTo>
                  <a:pt x="8130539" y="0"/>
                </a:lnTo>
                <a:lnTo>
                  <a:pt x="8130539" y="838199"/>
                </a:lnTo>
                <a:lnTo>
                  <a:pt x="0" y="838199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25" name="Freeform 3"/>
          <p:cNvSpPr/>
          <p:nvPr/>
        </p:nvSpPr>
        <p:spPr>
          <a:xfrm>
            <a:off x="1530490" y="5771204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199 h 838200"/>
              <a:gd name="connsiteX3" fmla="*/ 0 w 73152"/>
              <a:gd name="connsiteY3" fmla="*/ 838199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199"/>
                </a:lnTo>
                <a:lnTo>
                  <a:pt x="0" y="838199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26" name="Freeform 3"/>
          <p:cNvSpPr/>
          <p:nvPr/>
        </p:nvSpPr>
        <p:spPr>
          <a:xfrm>
            <a:off x="1530490" y="5771204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199 h 838200"/>
              <a:gd name="connsiteX3" fmla="*/ 0 w 73152"/>
              <a:gd name="connsiteY3" fmla="*/ 838199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199"/>
                </a:lnTo>
                <a:lnTo>
                  <a:pt x="0" y="838199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651592" y="299551"/>
            <a:ext cx="7840817" cy="6244496"/>
          </a:xfrm>
          <a:prstGeom prst="rect">
            <a:avLst/>
          </a:prstGeom>
          <a:noFill/>
        </p:spPr>
      </p:pic>
      <p:sp>
        <p:nvSpPr>
          <p:cNvPr id="27" name="TextBox 1"/>
          <p:cNvSpPr txBox="1"/>
          <p:nvPr/>
        </p:nvSpPr>
        <p:spPr>
          <a:xfrm>
            <a:off x="1658998" y="1360493"/>
            <a:ext cx="7377498" cy="1148465"/>
          </a:xfrm>
          <a:prstGeom prst="rect">
            <a:avLst/>
          </a:prstGeom>
          <a:noFill/>
        </p:spPr>
        <p:txBody>
          <a:bodyPr wrap="square" lIns="0" tIns="0" rIns="0" bIns="40078" rtlCol="0">
            <a:spAutoFit/>
          </a:bodyPr>
          <a:lstStyle/>
          <a:p>
            <a:pPr>
              <a:lnSpc>
                <a:spcPct val="150000"/>
              </a:lnSpc>
              <a:tabLst>
                <a:tab pos="255905" algn="l"/>
              </a:tabLst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Passenger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may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get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a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discount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ticket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if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18" charset="-122"/>
              <a:cs typeface="微软雅黑" panose="020B0503020204020204" pitchFamily="18" charset="-122"/>
            </a:endParaRPr>
          </a:p>
          <a:p>
            <a:pPr>
              <a:lnSpc>
                <a:spcPct val="150000"/>
              </a:lnSpc>
              <a:tabLst>
                <a:tab pos="255905" algn="l"/>
              </a:tabLst>
            </a:pPr>
            <a:r>
              <a:rPr lang="en-US" altLang="zh-CN" sz="2400" dirty="0"/>
              <a:t>	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he/she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is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below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12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or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a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student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below 25.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18" charset="-122"/>
              <a:cs typeface="微软雅黑" panose="020B0503020204020204" pitchFamily="18" charset="-122"/>
            </a:endParaRPr>
          </a:p>
        </p:txBody>
      </p:sp>
      <p:sp>
        <p:nvSpPr>
          <p:cNvPr id="29" name="标题 1"/>
          <p:cNvSpPr txBox="1"/>
          <p:nvPr/>
        </p:nvSpPr>
        <p:spPr>
          <a:xfrm>
            <a:off x="1517330" y="344784"/>
            <a:ext cx="692948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Example1</a:t>
            </a:r>
            <a:endParaRPr kumimoji="0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0" name="TextBox 1"/>
          <p:cNvSpPr txBox="1"/>
          <p:nvPr/>
        </p:nvSpPr>
        <p:spPr>
          <a:xfrm>
            <a:off x="1658998" y="2927148"/>
            <a:ext cx="7305490" cy="3056680"/>
          </a:xfrm>
          <a:prstGeom prst="rect">
            <a:avLst/>
          </a:prstGeom>
          <a:noFill/>
        </p:spPr>
        <p:txBody>
          <a:bodyPr wrap="square" lIns="0" tIns="0" rIns="0" bIns="40078" rtlCol="0">
            <a:spAutoFit/>
          </a:bodyPr>
          <a:lstStyle/>
          <a:p>
            <a:pPr>
              <a:lnSpc>
                <a:spcPct val="150000"/>
              </a:lnSpc>
              <a:tabLst>
                <a:tab pos="255905" algn="l"/>
              </a:tabLst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C1: Age &lt; 12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18" charset="-122"/>
              <a:cs typeface="微软雅黑" panose="020B0503020204020204" pitchFamily="18" charset="-122"/>
            </a:endParaRPr>
          </a:p>
          <a:p>
            <a:pPr>
              <a:lnSpc>
                <a:spcPct val="150000"/>
              </a:lnSpc>
              <a:tabLst>
                <a:tab pos="255905" algn="l"/>
              </a:tabLst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C2: Age &lt; 25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18" charset="-122"/>
              <a:cs typeface="微软雅黑" panose="020B0503020204020204" pitchFamily="18" charset="-122"/>
            </a:endParaRPr>
          </a:p>
          <a:p>
            <a:pPr>
              <a:lnSpc>
                <a:spcPct val="150000"/>
              </a:lnSpc>
              <a:spcAft>
                <a:spcPts val="1200"/>
              </a:spcAft>
              <a:tabLst>
                <a:tab pos="255905" algn="l"/>
              </a:tabLst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C3: Status = Student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18" charset="-122"/>
              <a:cs typeface="微软雅黑" panose="020B0503020204020204" pitchFamily="18" charset="-122"/>
            </a:endParaRPr>
          </a:p>
          <a:p>
            <a:pPr>
              <a:lnSpc>
                <a:spcPct val="150000"/>
              </a:lnSpc>
              <a:tabLst>
                <a:tab pos="255905" algn="l"/>
              </a:tabLst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I1:  He/she is a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student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below 25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18" charset="-122"/>
              <a:cs typeface="微软雅黑" panose="020B0503020204020204" pitchFamily="18" charset="-122"/>
            </a:endParaRPr>
          </a:p>
          <a:p>
            <a:pPr>
              <a:lnSpc>
                <a:spcPct val="150000"/>
              </a:lnSpc>
              <a:tabLst>
                <a:tab pos="255905" algn="l"/>
              </a:tabLst>
            </a:pPr>
            <a:endParaRPr lang="en-US" altLang="zh-CN" sz="2000" dirty="0">
              <a:solidFill>
                <a:srgbClr val="000000"/>
              </a:solidFill>
              <a:latin typeface="微软雅黑" panose="020B0503020204020204" pitchFamily="18" charset="-122"/>
              <a:cs typeface="微软雅黑" panose="020B0503020204020204" pitchFamily="18" charset="-122"/>
            </a:endParaRPr>
          </a:p>
          <a:p>
            <a:pPr>
              <a:lnSpc>
                <a:spcPct val="150000"/>
              </a:lnSpc>
              <a:tabLst>
                <a:tab pos="255905" algn="l"/>
              </a:tabLst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E1: Passenger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can get a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discount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ticket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18" charset="-122"/>
              <a:cs typeface="微软雅黑" panose="020B0503020204020204" pitchFamily="18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内容占位符 6"/>
          <p:cNvGraphicFramePr>
            <a:graphicFrameLocks noGrp="1"/>
          </p:cNvGraphicFramePr>
          <p:nvPr>
            <p:ph idx="1"/>
          </p:nvPr>
        </p:nvGraphicFramePr>
        <p:xfrm>
          <a:off x="714348" y="3214686"/>
          <a:ext cx="7786746" cy="2333639"/>
        </p:xfrm>
        <a:graphic>
          <a:graphicData uri="http://schemas.openxmlformats.org/drawingml/2006/table">
            <a:tbl>
              <a:tblPr/>
              <a:tblGrid>
                <a:gridCol w="865194"/>
                <a:gridCol w="865194"/>
                <a:gridCol w="865194"/>
                <a:gridCol w="865194"/>
                <a:gridCol w="865194"/>
                <a:gridCol w="865194"/>
                <a:gridCol w="865194"/>
                <a:gridCol w="865194"/>
                <a:gridCol w="865194"/>
              </a:tblGrid>
              <a:tr h="333377">
                <a:tc>
                  <a:txBody>
                    <a:bodyPr/>
                    <a:lstStyle/>
                    <a:p>
                      <a:pPr algn="ctr" rtl="0" fontAlgn="t"/>
                      <a:endParaRPr lang="en-US" sz="1300" b="1" i="0" u="none" strike="noStrike" dirty="0">
                        <a:solidFill>
                          <a:srgbClr val="000000"/>
                        </a:solidFill>
                        <a:latin typeface="微软雅黑" panose="020B0503020204020204" pitchFamily="18" charset="-122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300" b="1" i="0" u="none" strike="noStrike" dirty="0">
                          <a:solidFill>
                            <a:srgbClr val="000000"/>
                          </a:solidFill>
                          <a:latin typeface="微软雅黑" panose="020B0503020204020204" pitchFamily="18" charset="-122"/>
                        </a:rPr>
                        <a:t>1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latin typeface="微软雅黑" panose="020B0503020204020204" pitchFamily="18" charset="-122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300" b="1" i="0" u="none" strike="noStrike" dirty="0">
                          <a:solidFill>
                            <a:srgbClr val="000000"/>
                          </a:solidFill>
                          <a:latin typeface="微软雅黑" panose="020B0503020204020204" pitchFamily="18" charset="-122"/>
                        </a:rPr>
                        <a:t>2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latin typeface="微软雅黑" panose="020B0503020204020204" pitchFamily="18" charset="-122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300" b="1" i="0" u="none" strike="noStrike" dirty="0">
                          <a:solidFill>
                            <a:srgbClr val="000000"/>
                          </a:solidFill>
                          <a:latin typeface="微软雅黑" panose="020B0503020204020204" pitchFamily="18" charset="-122"/>
                        </a:rPr>
                        <a:t>3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latin typeface="微软雅黑" panose="020B0503020204020204" pitchFamily="18" charset="-122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300" b="1" i="0" u="none" strike="noStrike" dirty="0">
                          <a:solidFill>
                            <a:srgbClr val="000000"/>
                          </a:solidFill>
                          <a:latin typeface="微软雅黑" panose="020B0503020204020204" pitchFamily="18" charset="-122"/>
                        </a:rPr>
                        <a:t>4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latin typeface="微软雅黑" panose="020B0503020204020204" pitchFamily="18" charset="-122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300" b="1" i="0" u="none" strike="noStrike" dirty="0">
                          <a:solidFill>
                            <a:srgbClr val="000000"/>
                          </a:solidFill>
                          <a:latin typeface="微软雅黑" panose="020B0503020204020204" pitchFamily="18" charset="-122"/>
                        </a:rPr>
                        <a:t>5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latin typeface="微软雅黑" panose="020B0503020204020204" pitchFamily="18" charset="-122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300" b="1" i="0" u="none" strike="noStrike" dirty="0">
                          <a:solidFill>
                            <a:srgbClr val="000000"/>
                          </a:solidFill>
                          <a:latin typeface="微软雅黑" panose="020B0503020204020204" pitchFamily="18" charset="-122"/>
                        </a:rPr>
                        <a:t>6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latin typeface="微软雅黑" panose="020B0503020204020204" pitchFamily="18" charset="-122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300" b="1" i="0" u="none" strike="noStrike" dirty="0">
                          <a:solidFill>
                            <a:srgbClr val="000000"/>
                          </a:solidFill>
                          <a:latin typeface="微软雅黑" panose="020B0503020204020204" pitchFamily="18" charset="-122"/>
                        </a:rPr>
                        <a:t>7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latin typeface="微软雅黑" panose="020B0503020204020204" pitchFamily="18" charset="-122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300" b="1" i="0" u="none" strike="noStrike" dirty="0">
                          <a:solidFill>
                            <a:srgbClr val="000000"/>
                          </a:solidFill>
                          <a:latin typeface="微软雅黑" panose="020B0503020204020204" pitchFamily="18" charset="-122"/>
                        </a:rPr>
                        <a:t>8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latin typeface="微软雅黑" panose="020B0503020204020204" pitchFamily="18" charset="-122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333377"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300" b="1" i="0" u="none" strike="noStrike" dirty="0">
                          <a:solidFill>
                            <a:srgbClr val="000000"/>
                          </a:solidFill>
                          <a:latin typeface="微软雅黑" panose="020B0503020204020204" pitchFamily="18" charset="-122"/>
                        </a:rPr>
                        <a:t>C1 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latin typeface="微软雅黑" panose="020B0503020204020204" pitchFamily="18" charset="-122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300" b="1" i="0" u="none" strike="noStrike" dirty="0">
                          <a:solidFill>
                            <a:srgbClr val="000000"/>
                          </a:solidFill>
                          <a:latin typeface="微软雅黑" panose="020B0503020204020204" pitchFamily="18" charset="-122"/>
                        </a:rPr>
                        <a:t>T 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latin typeface="微软雅黑" panose="020B0503020204020204" pitchFamily="18" charset="-122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latin typeface="微软雅黑" panose="020B0503020204020204" pitchFamily="18" charset="-122"/>
                        </a:rPr>
                        <a:t>T 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latin typeface="微软雅黑" panose="020B0503020204020204" pitchFamily="18" charset="-122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latin typeface="微软雅黑" panose="020B0503020204020204" pitchFamily="18" charset="-122"/>
                        </a:rPr>
                        <a:t>T 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latin typeface="微软雅黑" panose="020B0503020204020204" pitchFamily="18" charset="-122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latin typeface="微软雅黑" panose="020B0503020204020204" pitchFamily="18" charset="-122"/>
                        </a:rPr>
                        <a:t>T 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latin typeface="微软雅黑" panose="020B0503020204020204" pitchFamily="18" charset="-122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latin typeface="微软雅黑" panose="020B0503020204020204" pitchFamily="18" charset="-122"/>
                        </a:rPr>
                        <a:t>F 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latin typeface="微软雅黑" panose="020B0503020204020204" pitchFamily="18" charset="-122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latin typeface="微软雅黑" panose="020B0503020204020204" pitchFamily="18" charset="-122"/>
                        </a:rPr>
                        <a:t>F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latin typeface="微软雅黑" panose="020B0503020204020204" pitchFamily="18" charset="-122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latin typeface="微软雅黑" panose="020B0503020204020204" pitchFamily="18" charset="-122"/>
                        </a:rPr>
                        <a:t>F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latin typeface="微软雅黑" panose="020B0503020204020204" pitchFamily="18" charset="-122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300" b="1" i="0" u="none" strike="noStrike" dirty="0">
                          <a:solidFill>
                            <a:srgbClr val="000000"/>
                          </a:solidFill>
                          <a:latin typeface="微软雅黑" panose="020B0503020204020204" pitchFamily="18" charset="-122"/>
                        </a:rPr>
                        <a:t>F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latin typeface="微软雅黑" panose="020B0503020204020204" pitchFamily="18" charset="-122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377"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latin typeface="微软雅黑" panose="020B0503020204020204" pitchFamily="18" charset="-122"/>
                        </a:rPr>
                        <a:t>C2 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latin typeface="微软雅黑" panose="020B0503020204020204" pitchFamily="18" charset="-122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300" b="1" i="0" u="none" strike="noStrike" dirty="0">
                          <a:solidFill>
                            <a:srgbClr val="000000"/>
                          </a:solidFill>
                          <a:latin typeface="微软雅黑" panose="020B0503020204020204" pitchFamily="18" charset="-122"/>
                        </a:rPr>
                        <a:t>T 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latin typeface="微软雅黑" panose="020B0503020204020204" pitchFamily="18" charset="-122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300" b="1" i="0" u="none" strike="noStrike" dirty="0">
                          <a:solidFill>
                            <a:srgbClr val="000000"/>
                          </a:solidFill>
                          <a:latin typeface="微软雅黑" panose="020B0503020204020204" pitchFamily="18" charset="-122"/>
                        </a:rPr>
                        <a:t>T 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latin typeface="微软雅黑" panose="020B0503020204020204" pitchFamily="18" charset="-122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latin typeface="微软雅黑" panose="020B0503020204020204" pitchFamily="18" charset="-122"/>
                        </a:rPr>
                        <a:t>F 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latin typeface="微软雅黑" panose="020B0503020204020204" pitchFamily="18" charset="-122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300" b="1" i="0" u="none" strike="noStrike" dirty="0">
                          <a:solidFill>
                            <a:srgbClr val="000000"/>
                          </a:solidFill>
                          <a:latin typeface="微软雅黑" panose="020B0503020204020204" pitchFamily="18" charset="-122"/>
                        </a:rPr>
                        <a:t>F 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latin typeface="微软雅黑" panose="020B0503020204020204" pitchFamily="18" charset="-122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latin typeface="微软雅黑" panose="020B0503020204020204" pitchFamily="18" charset="-122"/>
                        </a:rPr>
                        <a:t>T 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latin typeface="微软雅黑" panose="020B0503020204020204" pitchFamily="18" charset="-122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latin typeface="微软雅黑" panose="020B0503020204020204" pitchFamily="18" charset="-122"/>
                        </a:rPr>
                        <a:t>T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latin typeface="微软雅黑" panose="020B0503020204020204" pitchFamily="18" charset="-122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latin typeface="微软雅黑" panose="020B0503020204020204" pitchFamily="18" charset="-122"/>
                        </a:rPr>
                        <a:t>F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latin typeface="微软雅黑" panose="020B0503020204020204" pitchFamily="18" charset="-122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latin typeface="微软雅黑" panose="020B0503020204020204" pitchFamily="18" charset="-122"/>
                        </a:rPr>
                        <a:t>F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latin typeface="微软雅黑" panose="020B0503020204020204" pitchFamily="18" charset="-122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377"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latin typeface="微软雅黑" panose="020B0503020204020204" pitchFamily="18" charset="-122"/>
                        </a:rPr>
                        <a:t>C3 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latin typeface="微软雅黑" panose="020B0503020204020204" pitchFamily="18" charset="-122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latin typeface="微软雅黑" panose="020B0503020204020204" pitchFamily="18" charset="-122"/>
                        </a:rPr>
                        <a:t>T 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latin typeface="微软雅黑" panose="020B0503020204020204" pitchFamily="18" charset="-122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300" b="1" i="0" u="none" strike="noStrike" dirty="0">
                          <a:solidFill>
                            <a:srgbClr val="000000"/>
                          </a:solidFill>
                          <a:latin typeface="微软雅黑" panose="020B0503020204020204" pitchFamily="18" charset="-122"/>
                        </a:rPr>
                        <a:t>F 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latin typeface="微软雅黑" panose="020B0503020204020204" pitchFamily="18" charset="-122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300" b="1" i="0" u="none" strike="noStrike" dirty="0">
                          <a:solidFill>
                            <a:srgbClr val="000000"/>
                          </a:solidFill>
                          <a:latin typeface="微软雅黑" panose="020B0503020204020204" pitchFamily="18" charset="-122"/>
                        </a:rPr>
                        <a:t>T 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latin typeface="微软雅黑" panose="020B0503020204020204" pitchFamily="18" charset="-122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latin typeface="微软雅黑" panose="020B0503020204020204" pitchFamily="18" charset="-122"/>
                        </a:rPr>
                        <a:t>F 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latin typeface="微软雅黑" panose="020B0503020204020204" pitchFamily="18" charset="-122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latin typeface="微软雅黑" panose="020B0503020204020204" pitchFamily="18" charset="-122"/>
                        </a:rPr>
                        <a:t>T 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latin typeface="微软雅黑" panose="020B0503020204020204" pitchFamily="18" charset="-122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latin typeface="微软雅黑" panose="020B0503020204020204" pitchFamily="18" charset="-122"/>
                        </a:rPr>
                        <a:t>F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latin typeface="微软雅黑" panose="020B0503020204020204" pitchFamily="18" charset="-122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latin typeface="微软雅黑" panose="020B0503020204020204" pitchFamily="18" charset="-122"/>
                        </a:rPr>
                        <a:t>T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latin typeface="微软雅黑" panose="020B0503020204020204" pitchFamily="18" charset="-122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latin typeface="微软雅黑" panose="020B0503020204020204" pitchFamily="18" charset="-122"/>
                        </a:rPr>
                        <a:t>F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latin typeface="微软雅黑" panose="020B0503020204020204" pitchFamily="18" charset="-122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377"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latin typeface="微软雅黑" panose="020B0503020204020204" pitchFamily="18" charset="-122"/>
                        </a:rPr>
                        <a:t>I1 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latin typeface="微软雅黑" panose="020B0503020204020204" pitchFamily="18" charset="-122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latin typeface="微软雅黑" panose="020B0503020204020204" pitchFamily="18" charset="-122"/>
                        </a:rPr>
                        <a:t>T 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latin typeface="微软雅黑" panose="020B0503020204020204" pitchFamily="18" charset="-122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latin typeface="微软雅黑" panose="020B0503020204020204" pitchFamily="18" charset="-122"/>
                        </a:rPr>
                        <a:t>F 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latin typeface="微软雅黑" panose="020B0503020204020204" pitchFamily="18" charset="-122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300" b="1" i="0" u="none" strike="noStrike" dirty="0">
                          <a:solidFill>
                            <a:srgbClr val="000000"/>
                          </a:solidFill>
                          <a:latin typeface="微软雅黑" panose="020B0503020204020204" pitchFamily="18" charset="-122"/>
                        </a:rPr>
                        <a:t>F 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latin typeface="微软雅黑" panose="020B0503020204020204" pitchFamily="18" charset="-122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300" b="1" i="0" u="none" strike="noStrike" dirty="0">
                          <a:solidFill>
                            <a:srgbClr val="000000"/>
                          </a:solidFill>
                          <a:latin typeface="微软雅黑" panose="020B0503020204020204" pitchFamily="18" charset="-122"/>
                        </a:rPr>
                        <a:t>F 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latin typeface="微软雅黑" panose="020B0503020204020204" pitchFamily="18" charset="-122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300" b="1" i="0" u="none" strike="noStrike" dirty="0">
                          <a:solidFill>
                            <a:srgbClr val="000000"/>
                          </a:solidFill>
                          <a:latin typeface="微软雅黑" panose="020B0503020204020204" pitchFamily="18" charset="-122"/>
                        </a:rPr>
                        <a:t>T 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latin typeface="微软雅黑" panose="020B0503020204020204" pitchFamily="18" charset="-122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latin typeface="微软雅黑" panose="020B0503020204020204" pitchFamily="18" charset="-122"/>
                        </a:rPr>
                        <a:t>F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latin typeface="微软雅黑" panose="020B0503020204020204" pitchFamily="18" charset="-122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latin typeface="微软雅黑" panose="020B0503020204020204" pitchFamily="18" charset="-122"/>
                        </a:rPr>
                        <a:t>F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latin typeface="微软雅黑" panose="020B0503020204020204" pitchFamily="18" charset="-122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latin typeface="微软雅黑" panose="020B0503020204020204" pitchFamily="18" charset="-122"/>
                        </a:rPr>
                        <a:t>F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latin typeface="微软雅黑" panose="020B0503020204020204" pitchFamily="18" charset="-122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377">
                <a:tc>
                  <a:txBody>
                    <a:bodyPr/>
                    <a:lstStyle/>
                    <a:p>
                      <a:pPr algn="ctr" rtl="0" fontAlgn="t"/>
                      <a:r>
                        <a:rPr lang="zh-CN" altLang="en-US" sz="1300" b="1" i="0" u="none" strike="noStrike">
                          <a:solidFill>
                            <a:srgbClr val="000000"/>
                          </a:solidFill>
                          <a:latin typeface="微软雅黑" panose="020B0503020204020204" pitchFamily="18" charset="-122"/>
                        </a:rPr>
                        <a:t>　</a:t>
                      </a:r>
                      <a:endParaRPr lang="zh-CN" altLang="en-US" sz="1300" b="1" i="0" u="none" strike="noStrike">
                        <a:solidFill>
                          <a:srgbClr val="000000"/>
                        </a:solidFill>
                        <a:latin typeface="微软雅黑" panose="020B0503020204020204" pitchFamily="18" charset="-122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300" b="1" i="0" u="none" strike="noStrike">
                          <a:solidFill>
                            <a:srgbClr val="000000"/>
                          </a:solidFill>
                          <a:latin typeface="微软雅黑" panose="020B0503020204020204" pitchFamily="18" charset="-122"/>
                        </a:rPr>
                        <a:t>　</a:t>
                      </a:r>
                      <a:endParaRPr lang="zh-CN" altLang="en-US" sz="1300" b="1" i="0" u="none" strike="noStrike">
                        <a:solidFill>
                          <a:srgbClr val="000000"/>
                        </a:solidFill>
                        <a:latin typeface="微软雅黑" panose="020B0503020204020204" pitchFamily="18" charset="-122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300" b="1" i="0" u="none" strike="noStrike">
                          <a:solidFill>
                            <a:srgbClr val="000000"/>
                          </a:solidFill>
                          <a:latin typeface="微软雅黑" panose="020B0503020204020204" pitchFamily="18" charset="-122"/>
                        </a:rPr>
                        <a:t>　</a:t>
                      </a:r>
                      <a:endParaRPr lang="zh-CN" altLang="en-US" sz="1300" b="1" i="0" u="none" strike="noStrike">
                        <a:solidFill>
                          <a:srgbClr val="000000"/>
                        </a:solidFill>
                        <a:latin typeface="微软雅黑" panose="020B0503020204020204" pitchFamily="18" charset="-122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300" b="1" i="0" u="none" strike="noStrike">
                          <a:solidFill>
                            <a:srgbClr val="000000"/>
                          </a:solidFill>
                          <a:latin typeface="微软雅黑" panose="020B0503020204020204" pitchFamily="18" charset="-122"/>
                        </a:rPr>
                        <a:t>　</a:t>
                      </a:r>
                      <a:endParaRPr lang="zh-CN" altLang="en-US" sz="1300" b="1" i="0" u="none" strike="noStrike">
                        <a:solidFill>
                          <a:srgbClr val="000000"/>
                        </a:solidFill>
                        <a:latin typeface="微软雅黑" panose="020B0503020204020204" pitchFamily="18" charset="-122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300" b="1" i="0" u="none" strike="noStrike">
                          <a:solidFill>
                            <a:srgbClr val="000000"/>
                          </a:solidFill>
                          <a:latin typeface="微软雅黑" panose="020B0503020204020204" pitchFamily="18" charset="-122"/>
                        </a:rPr>
                        <a:t>　</a:t>
                      </a:r>
                      <a:endParaRPr lang="zh-CN" altLang="en-US" sz="1300" b="1" i="0" u="none" strike="noStrike">
                        <a:solidFill>
                          <a:srgbClr val="000000"/>
                        </a:solidFill>
                        <a:latin typeface="微软雅黑" panose="020B0503020204020204" pitchFamily="18" charset="-122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300" b="1" i="0" u="none" strike="noStrike" dirty="0">
                          <a:solidFill>
                            <a:srgbClr val="000000"/>
                          </a:solidFill>
                          <a:latin typeface="微软雅黑" panose="020B0503020204020204" pitchFamily="18" charset="-122"/>
                        </a:rPr>
                        <a:t>　</a:t>
                      </a:r>
                      <a:endParaRPr lang="zh-CN" altLang="en-US" sz="1300" b="1" i="0" u="none" strike="noStrike" dirty="0">
                        <a:solidFill>
                          <a:srgbClr val="000000"/>
                        </a:solidFill>
                        <a:latin typeface="微软雅黑" panose="020B0503020204020204" pitchFamily="18" charset="-122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　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　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　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377"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latin typeface="微软雅黑" panose="020B0503020204020204" pitchFamily="18" charset="-122"/>
                        </a:rPr>
                        <a:t>E1 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latin typeface="微软雅黑" panose="020B0503020204020204" pitchFamily="18" charset="-122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latin typeface="微软雅黑" panose="020B0503020204020204" pitchFamily="18" charset="-122"/>
                        </a:rPr>
                        <a:t>T 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latin typeface="微软雅黑" panose="020B0503020204020204" pitchFamily="18" charset="-122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latin typeface="微软雅黑" panose="020B0503020204020204" pitchFamily="18" charset="-122"/>
                        </a:rPr>
                        <a:t>T 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latin typeface="微软雅黑" panose="020B0503020204020204" pitchFamily="18" charset="-122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latin typeface="微软雅黑" panose="020B0503020204020204" pitchFamily="18" charset="-122"/>
                        </a:rPr>
                        <a:t>T 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latin typeface="微软雅黑" panose="020B0503020204020204" pitchFamily="18" charset="-122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latin typeface="微软雅黑" panose="020B0503020204020204" pitchFamily="18" charset="-122"/>
                        </a:rPr>
                        <a:t>T 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latin typeface="微软雅黑" panose="020B0503020204020204" pitchFamily="18" charset="-122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latin typeface="微软雅黑" panose="020B0503020204020204" pitchFamily="18" charset="-122"/>
                        </a:rPr>
                        <a:t>T 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latin typeface="微软雅黑" panose="020B0503020204020204" pitchFamily="18" charset="-122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latin typeface="微软雅黑" panose="020B0503020204020204" pitchFamily="18" charset="-122"/>
                        </a:rPr>
                        <a:t>F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latin typeface="微软雅黑" panose="020B0503020204020204" pitchFamily="18" charset="-122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300" b="1" i="0" u="none" strike="noStrike" dirty="0">
                          <a:solidFill>
                            <a:srgbClr val="000000"/>
                          </a:solidFill>
                          <a:latin typeface="微软雅黑" panose="020B0503020204020204" pitchFamily="18" charset="-122"/>
                        </a:rPr>
                        <a:t>F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latin typeface="微软雅黑" panose="020B0503020204020204" pitchFamily="18" charset="-122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300" b="1" i="0" u="none" strike="noStrike" dirty="0">
                          <a:solidFill>
                            <a:srgbClr val="000000"/>
                          </a:solidFill>
                          <a:latin typeface="微软雅黑" panose="020B0503020204020204" pitchFamily="18" charset="-122"/>
                        </a:rPr>
                        <a:t>F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latin typeface="微软雅黑" panose="020B0503020204020204" pitchFamily="18" charset="-122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428596" y="285728"/>
            <a:ext cx="4294723" cy="24288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矩形 7"/>
          <p:cNvSpPr/>
          <p:nvPr/>
        </p:nvSpPr>
        <p:spPr>
          <a:xfrm>
            <a:off x="714348" y="357166"/>
            <a:ext cx="1928826" cy="1500198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500430" y="3143248"/>
            <a:ext cx="500066" cy="2571768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4357686" y="3143248"/>
            <a:ext cx="500066" cy="2571768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标注 10"/>
          <p:cNvSpPr/>
          <p:nvPr/>
        </p:nvSpPr>
        <p:spPr>
          <a:xfrm>
            <a:off x="4286248" y="2214554"/>
            <a:ext cx="1643074" cy="571504"/>
          </a:xfrm>
          <a:prstGeom prst="wedgeRectCallout">
            <a:avLst>
              <a:gd name="adj1" fmla="val -52438"/>
              <a:gd name="adj2" fmla="val 9212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impossible combinations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4286248" y="6072206"/>
            <a:ext cx="4214847" cy="5251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How about using extended decision table?</a:t>
            </a:r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714348" y="6072206"/>
            <a:ext cx="2345484" cy="5251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Limited decision table</a:t>
            </a:r>
            <a:endParaRPr lang="zh-CN" altLang="en-US" dirty="0"/>
          </a:p>
        </p:txBody>
      </p:sp>
      <p:sp>
        <p:nvSpPr>
          <p:cNvPr id="18" name="椭圆形标注 17"/>
          <p:cNvSpPr/>
          <p:nvPr/>
        </p:nvSpPr>
        <p:spPr>
          <a:xfrm>
            <a:off x="899592" y="791254"/>
            <a:ext cx="915490" cy="350614"/>
          </a:xfrm>
          <a:prstGeom prst="wedgeEllipseCallout">
            <a:avLst>
              <a:gd name="adj1" fmla="val 68484"/>
              <a:gd name="adj2" fmla="val 5497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R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3" grpId="0" animBg="1"/>
      <p:bldP spid="12" grpId="0" animBg="1"/>
      <p:bldP spid="1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dirty="0"/>
              <a:t>Example2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472518" cy="4525963"/>
          </a:xfrm>
        </p:spPr>
        <p:txBody>
          <a:bodyPr>
            <a:normAutofit/>
          </a:bodyPr>
          <a:lstStyle/>
          <a:p>
            <a:r>
              <a:rPr lang="en-US" altLang="zh-CN" sz="2400" dirty="0"/>
              <a:t>The character in column 1 must be an ‘A’ or ‘B’. The character in column 2 must be a digit. In this situation, the file update is made. If the character in column 1 is incorrect, message x is issued. If the character in column 2 is not a digit, message y is issued.</a:t>
            </a:r>
            <a:endParaRPr lang="zh-CN" altLang="en-US" sz="2400" dirty="0"/>
          </a:p>
        </p:txBody>
      </p:sp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785786" y="3609996"/>
            <a:ext cx="4000528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5643578"/>
            <a:ext cx="8229600" cy="482585"/>
          </a:xfrm>
        </p:spPr>
        <p:txBody>
          <a:bodyPr>
            <a:normAutofit fontScale="92500" lnSpcReduction="20000"/>
          </a:bodyPr>
          <a:lstStyle/>
          <a:p>
            <a:r>
              <a:rPr lang="en-US" altLang="zh-CN" dirty="0"/>
              <a:t>Change cause-effect graph to decision table.</a:t>
            </a:r>
            <a:endParaRPr lang="zh-CN" altLang="en-US" dirty="0"/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428596" y="142852"/>
            <a:ext cx="5972175" cy="2695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43174" y="2643182"/>
            <a:ext cx="5981700" cy="2733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o_case10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500166" y="2928934"/>
            <a:ext cx="7416800" cy="3668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0"/>
            <a:ext cx="5981700" cy="2733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dirty="0"/>
              <a:t>Example 3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Requirements for Calculating Car Insurance Premiums:</a:t>
            </a:r>
            <a:endParaRPr lang="en-US" altLang="zh-CN" dirty="0"/>
          </a:p>
          <a:p>
            <a:pPr lvl="1"/>
            <a:r>
              <a:rPr lang="en-US" altLang="zh-CN" dirty="0"/>
              <a:t>R00101 For males between 25 and 64 years of age, the premium is $1000</a:t>
            </a:r>
            <a:endParaRPr lang="en-US" altLang="zh-CN" dirty="0"/>
          </a:p>
          <a:p>
            <a:pPr lvl="1"/>
            <a:r>
              <a:rPr lang="en-US" altLang="zh-CN" dirty="0"/>
              <a:t>R00102 For males less than 25 years of age, the premium is $3000</a:t>
            </a:r>
            <a:endParaRPr lang="en-US" altLang="zh-CN" dirty="0"/>
          </a:p>
          <a:p>
            <a:pPr lvl="1"/>
            <a:r>
              <a:rPr lang="en-US" altLang="zh-CN" dirty="0"/>
              <a:t>R00103 For anyone 65 years of age or more, the premium is $1500</a:t>
            </a:r>
            <a:endParaRPr lang="en-US" altLang="zh-CN" dirty="0"/>
          </a:p>
          <a:p>
            <a:pPr lvl="1"/>
            <a:r>
              <a:rPr lang="en-US" altLang="zh-CN" dirty="0"/>
              <a:t>R00104 For females less than 65 years of age, the premium is $500</a:t>
            </a:r>
            <a:endParaRPr lang="en-US" altLang="zh-CN" dirty="0"/>
          </a:p>
          <a:p>
            <a:pPr lvl="1"/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2984"/>
            <a:ext cx="8229600" cy="4983179"/>
          </a:xfrm>
        </p:spPr>
        <p:txBody>
          <a:bodyPr>
            <a:normAutofit fontScale="92500" lnSpcReduction="20000"/>
          </a:bodyPr>
          <a:lstStyle/>
          <a:p>
            <a:r>
              <a:rPr lang="en-US" altLang="zh-CN" b="1" dirty="0"/>
              <a:t>Causes (input conditions)</a:t>
            </a:r>
            <a:endParaRPr lang="en-US" altLang="zh-CN" b="1" dirty="0"/>
          </a:p>
          <a:p>
            <a:pPr lvl="1"/>
            <a:r>
              <a:rPr lang="en-US" altLang="zh-CN" dirty="0"/>
              <a:t>1. Sex is Male</a:t>
            </a:r>
            <a:endParaRPr lang="en-US" altLang="zh-CN" dirty="0"/>
          </a:p>
          <a:p>
            <a:pPr lvl="1"/>
            <a:r>
              <a:rPr lang="en-US" altLang="zh-CN" dirty="0"/>
              <a:t>2. Sex is Female</a:t>
            </a:r>
            <a:endParaRPr lang="en-US" altLang="zh-CN" dirty="0"/>
          </a:p>
          <a:p>
            <a:pPr lvl="1"/>
            <a:r>
              <a:rPr lang="en-US" altLang="zh-CN" dirty="0"/>
              <a:t>3. Age is &lt;25</a:t>
            </a:r>
            <a:endParaRPr lang="en-US" altLang="zh-CN" dirty="0"/>
          </a:p>
          <a:p>
            <a:pPr lvl="1"/>
            <a:r>
              <a:rPr lang="en-US" altLang="zh-CN" dirty="0"/>
              <a:t>4. Age is &gt;=25 and &lt; 65</a:t>
            </a:r>
            <a:endParaRPr lang="en-US" altLang="zh-CN" dirty="0"/>
          </a:p>
          <a:p>
            <a:pPr lvl="1"/>
            <a:r>
              <a:rPr lang="en-US" altLang="zh-CN" dirty="0"/>
              <a:t>5. Age is &gt;= 65</a:t>
            </a:r>
            <a:endParaRPr lang="en-US" altLang="zh-CN" dirty="0"/>
          </a:p>
          <a:p>
            <a:pPr lvl="1"/>
            <a:endParaRPr lang="en-US" altLang="zh-CN" dirty="0"/>
          </a:p>
          <a:p>
            <a:r>
              <a:rPr lang="en-US" altLang="zh-CN" b="1" dirty="0"/>
              <a:t>Effects (output conditions)</a:t>
            </a:r>
            <a:endParaRPr lang="en-US" altLang="zh-CN" dirty="0"/>
          </a:p>
          <a:p>
            <a:pPr lvl="1"/>
            <a:r>
              <a:rPr lang="en-US" altLang="zh-CN" dirty="0"/>
              <a:t>100. Premium is $1000</a:t>
            </a:r>
            <a:endParaRPr lang="en-US" altLang="zh-CN" dirty="0"/>
          </a:p>
          <a:p>
            <a:pPr lvl="1"/>
            <a:r>
              <a:rPr lang="en-US" altLang="zh-CN" dirty="0"/>
              <a:t>101. Premium is $3000</a:t>
            </a:r>
            <a:endParaRPr lang="en-US" altLang="zh-CN" dirty="0"/>
          </a:p>
          <a:p>
            <a:pPr lvl="1"/>
            <a:r>
              <a:rPr lang="en-US" altLang="zh-CN" dirty="0"/>
              <a:t>102. Premium is $1500</a:t>
            </a:r>
            <a:endParaRPr lang="en-US" altLang="zh-CN" dirty="0"/>
          </a:p>
          <a:p>
            <a:pPr lvl="1"/>
            <a:r>
              <a:rPr lang="en-US" altLang="zh-CN" dirty="0"/>
              <a:t>103. Premium is $500</a:t>
            </a: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496" y="476672"/>
            <a:ext cx="2520280" cy="5616624"/>
          </a:xfrm>
        </p:spPr>
        <p:txBody>
          <a:bodyPr>
            <a:normAutofit fontScale="85000" lnSpcReduction="20000"/>
          </a:bodyPr>
          <a:lstStyle/>
          <a:p>
            <a:r>
              <a:rPr lang="en-US" altLang="zh-CN" sz="2400" dirty="0"/>
              <a:t>R00101 For males between 25 and 64 years of age, the premium is $1000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dirty="0"/>
              <a:t>R00102 For males less than 25 years of age, the premium is $3000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dirty="0"/>
              <a:t>R00103 For anyone 65 years of age or more, the premium is $1500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dirty="0"/>
              <a:t>R00104 For females less than 65 years of age, the premium is $500</a:t>
            </a:r>
            <a:endParaRPr lang="en-US" altLang="zh-CN" sz="2400" dirty="0"/>
          </a:p>
          <a:p>
            <a:endParaRPr lang="zh-CN" altLang="en-US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2689448" y="274638"/>
            <a:ext cx="6454552" cy="64361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728693" y="3714752"/>
            <a:ext cx="8201025" cy="3071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42852"/>
            <a:ext cx="8143875" cy="3543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7" name="直接连接符 6"/>
          <p:cNvCxnSpPr/>
          <p:nvPr/>
        </p:nvCxnSpPr>
        <p:spPr>
          <a:xfrm>
            <a:off x="785786" y="5000636"/>
            <a:ext cx="2000264" cy="1588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785786" y="6000768"/>
            <a:ext cx="2000264" cy="1588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Exercise-1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altLang="zh-CN" dirty="0"/>
              <a:t>Use extended decision table to test example 2.</a:t>
            </a:r>
            <a:endParaRPr lang="en-US" altLang="zh-CN" dirty="0"/>
          </a:p>
          <a:p>
            <a:pPr lvl="1"/>
            <a:r>
              <a:rPr lang="en-US" altLang="zh-CN" dirty="0"/>
              <a:t>The character in column 1 must be an ‘A’ or ‘B’. The character in column 2 must be a digit. In this situation, the file update is made. If the character in column 1 is incorrect, message x is issued. If the character in column 2 is not a digit, message y is issued.</a:t>
            </a:r>
            <a:endParaRPr lang="zh-CN" altLang="en-US" dirty="0"/>
          </a:p>
          <a:p>
            <a:pPr lvl="1"/>
            <a:endParaRPr lang="en-US" altLang="zh-CN" dirty="0"/>
          </a:p>
          <a:p>
            <a:pPr lvl="1"/>
            <a:r>
              <a:rPr lang="en-US" altLang="zh-CN" dirty="0"/>
              <a:t>Use extended decision table to test example 3.</a:t>
            </a:r>
            <a:endParaRPr lang="zh-CN" altLang="en-US" dirty="0"/>
          </a:p>
          <a:p>
            <a:pPr lvl="1"/>
            <a:endParaRPr lang="en-US" altLang="zh-CN" dirty="0"/>
          </a:p>
          <a:p>
            <a:pPr lvl="1"/>
            <a:r>
              <a:rPr lang="en-US" altLang="zh-CN" dirty="0"/>
              <a:t>Check out the number of rules.</a:t>
            </a:r>
            <a:endParaRPr lang="zh-CN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836613"/>
            <a:ext cx="8229600" cy="5030787"/>
          </a:xfrm>
        </p:spPr>
        <p:txBody>
          <a:bodyPr/>
          <a:lstStyle/>
          <a:p>
            <a:pPr eaLnBrk="1" hangingPunct="1">
              <a:buNone/>
            </a:pPr>
            <a:r>
              <a:rPr lang="en-US" altLang="zh-CN" sz="4000" dirty="0"/>
              <a:t>Example 4</a:t>
            </a:r>
            <a:endParaRPr lang="en-US" altLang="zh-CN" sz="4000" dirty="0"/>
          </a:p>
          <a:p>
            <a:pPr eaLnBrk="1" hangingPunct="1">
              <a:buNone/>
            </a:pPr>
            <a:r>
              <a:rPr lang="zh-CN" altLang="en-US" dirty="0"/>
              <a:t>有一个处理单价为</a:t>
            </a:r>
            <a:r>
              <a:rPr lang="en-US" altLang="zh-CN" dirty="0"/>
              <a:t>5</a:t>
            </a:r>
            <a:r>
              <a:rPr lang="zh-CN" altLang="en-US" dirty="0"/>
              <a:t>角钱的饮料的自动售货机软件测试用例的设计。其规格说明如下：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若投入</a:t>
            </a:r>
            <a:r>
              <a:rPr lang="en-US" altLang="zh-CN" dirty="0"/>
              <a:t>5</a:t>
            </a:r>
            <a:r>
              <a:rPr lang="zh-CN" altLang="en-US" dirty="0"/>
              <a:t>角钱或</a:t>
            </a:r>
            <a:r>
              <a:rPr lang="en-US" altLang="zh-CN" dirty="0"/>
              <a:t>1</a:t>
            </a:r>
            <a:r>
              <a:rPr lang="zh-CN" altLang="en-US" dirty="0"/>
              <a:t>元钱的硬币，押下</a:t>
            </a:r>
            <a:r>
              <a:rPr lang="en-US" altLang="zh-CN" dirty="0"/>
              <a:t>〖</a:t>
            </a:r>
            <a:r>
              <a:rPr lang="zh-CN" altLang="en-US" dirty="0"/>
              <a:t>橙汁</a:t>
            </a:r>
            <a:r>
              <a:rPr lang="en-US" altLang="zh-CN" dirty="0"/>
              <a:t>〗</a:t>
            </a:r>
            <a:r>
              <a:rPr lang="zh-CN" altLang="en-US" dirty="0"/>
              <a:t>或</a:t>
            </a:r>
            <a:r>
              <a:rPr lang="en-US" altLang="zh-CN" dirty="0"/>
              <a:t>〖</a:t>
            </a:r>
            <a:r>
              <a:rPr lang="zh-CN" altLang="en-US" dirty="0"/>
              <a:t>啤酒</a:t>
            </a:r>
            <a:r>
              <a:rPr lang="en-US" altLang="zh-CN" dirty="0"/>
              <a:t>〗</a:t>
            </a:r>
            <a:r>
              <a:rPr lang="zh-CN" altLang="en-US" dirty="0"/>
              <a:t>的按钮，则相应的饮料就送出来。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若售货机没有零钱找，则一个显示</a:t>
            </a:r>
            <a:r>
              <a:rPr lang="en-US" altLang="zh-CN" dirty="0"/>
              <a:t>〖</a:t>
            </a:r>
            <a:r>
              <a:rPr lang="zh-CN" altLang="en-US" dirty="0"/>
              <a:t>零钱找完</a:t>
            </a:r>
            <a:r>
              <a:rPr lang="en-US" altLang="zh-CN" dirty="0"/>
              <a:t>〗</a:t>
            </a:r>
            <a:r>
              <a:rPr lang="zh-CN" altLang="en-US" dirty="0"/>
              <a:t>的红灯亮，这时在投入</a:t>
            </a:r>
            <a:r>
              <a:rPr lang="en-US" altLang="zh-CN" dirty="0"/>
              <a:t>1</a:t>
            </a:r>
            <a:r>
              <a:rPr lang="zh-CN" altLang="en-US" dirty="0"/>
              <a:t>元硬币并押下按钮后，饮料不送出来而且</a:t>
            </a:r>
            <a:r>
              <a:rPr lang="en-US" altLang="zh-CN" dirty="0"/>
              <a:t>1</a:t>
            </a:r>
            <a:r>
              <a:rPr lang="zh-CN" altLang="en-US" dirty="0"/>
              <a:t>元硬币也退出来；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若有零钱找，则显示</a:t>
            </a:r>
            <a:r>
              <a:rPr lang="en-US" altLang="zh-CN" dirty="0"/>
              <a:t>〖</a:t>
            </a:r>
            <a:r>
              <a:rPr lang="zh-CN" altLang="en-US" dirty="0"/>
              <a:t>零钱找完</a:t>
            </a:r>
            <a:r>
              <a:rPr lang="en-US" altLang="zh-CN" dirty="0"/>
              <a:t>〗</a:t>
            </a:r>
            <a:r>
              <a:rPr lang="zh-CN" altLang="en-US" dirty="0"/>
              <a:t>的红灯灭，在送出饮料的同时退还</a:t>
            </a:r>
            <a:r>
              <a:rPr lang="en-US" altLang="zh-CN" dirty="0"/>
              <a:t>5</a:t>
            </a:r>
            <a:r>
              <a:rPr lang="zh-CN" altLang="en-US" dirty="0"/>
              <a:t>角硬币。 </a:t>
            </a:r>
            <a:endParaRPr lang="zh-CN" alt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692150"/>
            <a:ext cx="8229600" cy="5522932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  <a:spcAft>
                <a:spcPts val="600"/>
              </a:spcAft>
            </a:pPr>
            <a:r>
              <a:rPr lang="en-US" altLang="zh-CN" sz="2800" dirty="0"/>
              <a:t>1) </a:t>
            </a:r>
            <a:r>
              <a:rPr lang="zh-CN" altLang="en-US" sz="2800" dirty="0"/>
              <a:t>分析这一段说明，列出原因和结果</a:t>
            </a:r>
            <a:endParaRPr lang="zh-CN" altLang="en-US" sz="2800" dirty="0"/>
          </a:p>
          <a:p>
            <a:pPr lvl="1" eaLnBrk="1" hangingPunct="1">
              <a:lnSpc>
                <a:spcPct val="80000"/>
              </a:lnSpc>
            </a:pPr>
            <a:r>
              <a:rPr lang="zh-CN" altLang="en-US" sz="2400" b="1" dirty="0"/>
              <a:t>原因：</a:t>
            </a:r>
            <a:endParaRPr lang="zh-CN" altLang="en-US" sz="2400" b="1" dirty="0"/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dirty="0"/>
              <a:t>1.</a:t>
            </a:r>
            <a:r>
              <a:rPr lang="zh-CN" altLang="en-US" sz="2400" dirty="0"/>
              <a:t>售货机有零钱找</a:t>
            </a:r>
            <a:endParaRPr lang="zh-CN" altLang="en-US" sz="2400" dirty="0"/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dirty="0"/>
              <a:t>2.</a:t>
            </a:r>
            <a:r>
              <a:rPr lang="zh-CN" altLang="en-US" sz="2400" dirty="0"/>
              <a:t>投入</a:t>
            </a:r>
            <a:r>
              <a:rPr lang="en-US" altLang="zh-CN" sz="2400" dirty="0"/>
              <a:t>1</a:t>
            </a:r>
            <a:r>
              <a:rPr lang="zh-CN" altLang="en-US" sz="2400" dirty="0"/>
              <a:t>元硬币</a:t>
            </a:r>
            <a:endParaRPr lang="zh-CN" altLang="en-US" sz="2400" dirty="0"/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dirty="0"/>
              <a:t>3.</a:t>
            </a:r>
            <a:r>
              <a:rPr lang="zh-CN" altLang="en-US" sz="2400" dirty="0"/>
              <a:t>投入</a:t>
            </a:r>
            <a:r>
              <a:rPr lang="en-US" altLang="zh-CN" sz="2400" dirty="0"/>
              <a:t>5</a:t>
            </a:r>
            <a:r>
              <a:rPr lang="zh-CN" altLang="en-US" sz="2400" dirty="0"/>
              <a:t>角硬币 </a:t>
            </a:r>
            <a:endParaRPr lang="zh-CN" altLang="en-US" sz="2400" dirty="0"/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dirty="0"/>
              <a:t>4.</a:t>
            </a:r>
            <a:r>
              <a:rPr lang="zh-CN" altLang="en-US" sz="2400" dirty="0"/>
              <a:t>押下橙汁按钮</a:t>
            </a:r>
            <a:endParaRPr lang="zh-CN" altLang="en-US" sz="2400" dirty="0"/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dirty="0"/>
              <a:t>5.</a:t>
            </a:r>
            <a:r>
              <a:rPr lang="zh-CN" altLang="en-US" sz="2400" dirty="0"/>
              <a:t>押下啤酒按钮 </a:t>
            </a:r>
            <a:endParaRPr lang="en-US" altLang="zh-CN" sz="2400" dirty="0"/>
          </a:p>
          <a:p>
            <a:pPr lvl="1" eaLnBrk="1" hangingPunct="1">
              <a:lnSpc>
                <a:spcPct val="80000"/>
              </a:lnSpc>
            </a:pPr>
            <a:endParaRPr lang="zh-CN" altLang="en-US" sz="2400" dirty="0"/>
          </a:p>
          <a:p>
            <a:pPr lvl="1" eaLnBrk="1" hangingPunct="1">
              <a:lnSpc>
                <a:spcPct val="80000"/>
              </a:lnSpc>
            </a:pPr>
            <a:r>
              <a:rPr lang="zh-CN" altLang="en-US" sz="2400" b="1" dirty="0"/>
              <a:t>结果：</a:t>
            </a:r>
            <a:r>
              <a:rPr lang="zh-CN" altLang="en-US" sz="2400" dirty="0"/>
              <a:t> </a:t>
            </a:r>
            <a:endParaRPr lang="zh-CN" altLang="en-US" sz="2400" dirty="0"/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dirty="0"/>
              <a:t>21.</a:t>
            </a:r>
            <a:r>
              <a:rPr lang="zh-CN" altLang="en-US" sz="2400" dirty="0"/>
              <a:t>售货机</a:t>
            </a:r>
            <a:r>
              <a:rPr lang="en-US" altLang="zh-CN" sz="2400" dirty="0"/>
              <a:t>〖</a:t>
            </a:r>
            <a:r>
              <a:rPr lang="zh-CN" altLang="en-US" sz="2400" dirty="0"/>
              <a:t>零钱找完</a:t>
            </a:r>
            <a:r>
              <a:rPr lang="en-US" altLang="zh-CN" sz="2400" dirty="0"/>
              <a:t>〗</a:t>
            </a:r>
            <a:r>
              <a:rPr lang="zh-CN" altLang="en-US" sz="2400" dirty="0"/>
              <a:t>灯亮    </a:t>
            </a:r>
            <a:endParaRPr lang="zh-CN" altLang="en-US" sz="2400" dirty="0"/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dirty="0"/>
              <a:t>22.</a:t>
            </a:r>
            <a:r>
              <a:rPr lang="zh-CN" altLang="en-US" sz="2400" dirty="0"/>
              <a:t>退还</a:t>
            </a:r>
            <a:r>
              <a:rPr lang="en-US" altLang="zh-CN" sz="2400" dirty="0"/>
              <a:t>1</a:t>
            </a:r>
            <a:r>
              <a:rPr lang="zh-CN" altLang="en-US" sz="2400" dirty="0"/>
              <a:t>元硬币</a:t>
            </a:r>
            <a:endParaRPr lang="zh-CN" altLang="en-US" sz="2400" dirty="0"/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dirty="0"/>
              <a:t>23.</a:t>
            </a:r>
            <a:r>
              <a:rPr lang="zh-CN" altLang="en-US" sz="2400" dirty="0"/>
              <a:t>退还</a:t>
            </a:r>
            <a:r>
              <a:rPr lang="en-US" altLang="zh-CN" sz="2400" dirty="0"/>
              <a:t>5</a:t>
            </a:r>
            <a:r>
              <a:rPr lang="zh-CN" altLang="en-US" sz="2400" dirty="0"/>
              <a:t>角硬币              </a:t>
            </a:r>
            <a:endParaRPr lang="zh-CN" altLang="en-US" sz="2400" dirty="0"/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dirty="0"/>
              <a:t>24.</a:t>
            </a:r>
            <a:r>
              <a:rPr lang="zh-CN" altLang="en-US" sz="2400" dirty="0"/>
              <a:t>送出橙汁饮料</a:t>
            </a:r>
            <a:endParaRPr lang="zh-CN" altLang="en-US" sz="2400" dirty="0"/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dirty="0"/>
              <a:t>25.</a:t>
            </a:r>
            <a:r>
              <a:rPr lang="zh-CN" altLang="en-US" sz="2400" dirty="0"/>
              <a:t>送出啤酒饮料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270000"/>
            <a:ext cx="8445500" cy="4246563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Aft>
                <a:spcPts val="600"/>
              </a:spcAft>
            </a:pPr>
            <a:r>
              <a:rPr lang="zh-CN" altLang="en-US" dirty="0"/>
              <a:t>画出因果图，如图所示。所有原因结点列在左边，所有结果结点列在右边。建立中间结点，表示处理的中间状态。中间结点：</a:t>
            </a:r>
            <a:endParaRPr lang="zh-CN" altLang="en-US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dirty="0"/>
              <a:t>11. </a:t>
            </a:r>
            <a:r>
              <a:rPr lang="zh-CN" altLang="en-US" dirty="0"/>
              <a:t>投入</a:t>
            </a:r>
            <a:r>
              <a:rPr lang="en-US" altLang="zh-CN" dirty="0"/>
              <a:t>1</a:t>
            </a:r>
            <a:r>
              <a:rPr lang="zh-CN" altLang="en-US" dirty="0"/>
              <a:t>元硬币且押下饮料按钮  </a:t>
            </a:r>
            <a:r>
              <a:rPr lang="zh-CN" altLang="en-US" dirty="0">
                <a:solidFill>
                  <a:srgbClr val="FF0000"/>
                </a:solidFill>
              </a:rPr>
              <a:t>该找</a:t>
            </a:r>
            <a:r>
              <a:rPr lang="en-US" altLang="zh-CN" dirty="0">
                <a:solidFill>
                  <a:srgbClr val="FF0000"/>
                </a:solidFill>
              </a:rPr>
              <a:t>5</a:t>
            </a:r>
            <a:r>
              <a:rPr lang="zh-CN" altLang="en-US" dirty="0">
                <a:solidFill>
                  <a:srgbClr val="FF0000"/>
                </a:solidFill>
              </a:rPr>
              <a:t>角</a:t>
            </a:r>
            <a:endParaRPr lang="zh-CN" altLang="en-US" dirty="0">
              <a:solidFill>
                <a:srgbClr val="FF0000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/>
              <a:t>12. </a:t>
            </a:r>
            <a:r>
              <a:rPr lang="zh-CN" altLang="en-US" dirty="0"/>
              <a:t>押下</a:t>
            </a:r>
            <a:r>
              <a:rPr lang="en-US" altLang="zh-CN" dirty="0"/>
              <a:t>〖</a:t>
            </a:r>
            <a:r>
              <a:rPr lang="zh-CN" altLang="en-US" dirty="0"/>
              <a:t>橙汁</a:t>
            </a:r>
            <a:r>
              <a:rPr lang="en-US" altLang="zh-CN" dirty="0"/>
              <a:t>〗</a:t>
            </a:r>
            <a:r>
              <a:rPr lang="zh-CN" altLang="en-US" dirty="0"/>
              <a:t>或</a:t>
            </a:r>
            <a:r>
              <a:rPr lang="en-US" altLang="zh-CN" dirty="0"/>
              <a:t>〖</a:t>
            </a:r>
            <a:r>
              <a:rPr lang="zh-CN" altLang="en-US" dirty="0"/>
              <a:t>啤酒</a:t>
            </a:r>
            <a:r>
              <a:rPr lang="en-US" altLang="zh-CN" dirty="0"/>
              <a:t>〗</a:t>
            </a:r>
            <a:r>
              <a:rPr lang="zh-CN" altLang="en-US" dirty="0"/>
              <a:t>的按钮  </a:t>
            </a:r>
            <a:r>
              <a:rPr lang="zh-CN" altLang="en-US" dirty="0">
                <a:solidFill>
                  <a:srgbClr val="FF0000"/>
                </a:solidFill>
              </a:rPr>
              <a:t>押下按钮</a:t>
            </a:r>
            <a:endParaRPr lang="zh-CN" altLang="en-US" dirty="0">
              <a:solidFill>
                <a:srgbClr val="FF0000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/>
              <a:t>13. </a:t>
            </a:r>
            <a:r>
              <a:rPr lang="zh-CN" altLang="en-US" dirty="0"/>
              <a:t>应当找</a:t>
            </a:r>
            <a:r>
              <a:rPr lang="en-US" altLang="zh-CN" dirty="0"/>
              <a:t>5</a:t>
            </a:r>
            <a:r>
              <a:rPr lang="zh-CN" altLang="en-US" dirty="0"/>
              <a:t>角零钱并且售货机有零钱找 </a:t>
            </a:r>
            <a:r>
              <a:rPr lang="zh-CN" altLang="en-US" dirty="0">
                <a:solidFill>
                  <a:srgbClr val="FF0000"/>
                </a:solidFill>
              </a:rPr>
              <a:t>可找</a:t>
            </a:r>
            <a:r>
              <a:rPr lang="en-US" altLang="zh-CN" dirty="0">
                <a:solidFill>
                  <a:srgbClr val="FF0000"/>
                </a:solidFill>
              </a:rPr>
              <a:t>5</a:t>
            </a:r>
            <a:r>
              <a:rPr lang="zh-CN" altLang="en-US" dirty="0">
                <a:solidFill>
                  <a:srgbClr val="FF0000"/>
                </a:solidFill>
              </a:rPr>
              <a:t>角</a:t>
            </a:r>
            <a:endParaRPr lang="zh-CN" altLang="en-US" dirty="0">
              <a:solidFill>
                <a:srgbClr val="FF0000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/>
              <a:t>14. </a:t>
            </a:r>
            <a:r>
              <a:rPr lang="zh-CN" altLang="en-US" dirty="0"/>
              <a:t>钱已付清   </a:t>
            </a:r>
            <a:r>
              <a:rPr lang="zh-CN" altLang="en-US" dirty="0">
                <a:solidFill>
                  <a:srgbClr val="FF0000"/>
                </a:solidFill>
              </a:rPr>
              <a:t>钱付清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9" name="Picture 4" descr="o_case11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1"/>
          <a:srcRect/>
          <a:stretch>
            <a:fillRect/>
          </a:stretch>
        </p:blipFill>
        <p:spPr>
          <a:xfrm>
            <a:off x="1409700" y="1597025"/>
            <a:ext cx="6834188" cy="4352925"/>
          </a:xfrm>
          <a:noFill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549275"/>
            <a:ext cx="8229600" cy="5762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/>
              <a:t>3)</a:t>
            </a:r>
            <a:r>
              <a:rPr lang="zh-CN" altLang="en-US"/>
              <a:t>转换成判定表： </a:t>
            </a:r>
            <a:endParaRPr lang="zh-CN" altLang="en-US"/>
          </a:p>
        </p:txBody>
      </p:sp>
      <p:pic>
        <p:nvPicPr>
          <p:cNvPr id="20483" name="Picture 5" descr="o_case1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042988" y="1196975"/>
            <a:ext cx="7561262" cy="4884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95425"/>
            <a:ext cx="8229600" cy="4454525"/>
          </a:xfrm>
        </p:spPr>
        <p:txBody>
          <a:bodyPr/>
          <a:lstStyle/>
          <a:p>
            <a:pPr eaLnBrk="1" hangingPunct="1"/>
            <a:r>
              <a:rPr lang="en-US" altLang="zh-CN"/>
              <a:t>4) </a:t>
            </a:r>
            <a:r>
              <a:rPr lang="zh-CN" altLang="en-US"/>
              <a:t>在判定表中，阴影部分表示因违反约束条件的不可能出现的情况，删去。</a:t>
            </a:r>
            <a:endParaRPr lang="zh-CN" altLang="en-US"/>
          </a:p>
          <a:p>
            <a:pPr eaLnBrk="1" hangingPunct="1"/>
            <a:r>
              <a:rPr lang="zh-CN" altLang="en-US"/>
              <a:t>第</a:t>
            </a:r>
            <a:r>
              <a:rPr lang="en-US" altLang="zh-CN"/>
              <a:t>16</a:t>
            </a:r>
            <a:r>
              <a:rPr lang="zh-CN" altLang="en-US"/>
              <a:t>列与第</a:t>
            </a:r>
            <a:r>
              <a:rPr lang="en-US" altLang="zh-CN"/>
              <a:t>32</a:t>
            </a:r>
            <a:r>
              <a:rPr lang="zh-CN" altLang="en-US"/>
              <a:t>列因什么动作也没做，也删去。最后可根据剩下的</a:t>
            </a:r>
            <a:r>
              <a:rPr lang="en-US" altLang="zh-CN"/>
              <a:t>16</a:t>
            </a:r>
            <a:r>
              <a:rPr lang="zh-CN" altLang="en-US"/>
              <a:t>列作为确定测试用例的依据。 </a:t>
            </a:r>
            <a:endParaRPr lang="zh-CN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Exercise-2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Other version of vending machine.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有一个处理单价为</a:t>
            </a:r>
            <a:r>
              <a:rPr lang="en-US" altLang="zh-CN" dirty="0"/>
              <a:t>1</a:t>
            </a:r>
            <a:r>
              <a:rPr lang="zh-CN" altLang="en-US" dirty="0"/>
              <a:t>元</a:t>
            </a:r>
            <a:r>
              <a:rPr lang="en-US" altLang="zh-CN" dirty="0"/>
              <a:t>5</a:t>
            </a:r>
            <a:r>
              <a:rPr lang="zh-CN" altLang="en-US" dirty="0"/>
              <a:t>角钱的盒装饮料的自动售货机。若投入</a:t>
            </a:r>
            <a:r>
              <a:rPr lang="en-US" altLang="zh-CN" dirty="0"/>
              <a:t>1</a:t>
            </a:r>
            <a:r>
              <a:rPr lang="zh-CN" altLang="en-US" dirty="0"/>
              <a:t>元</a:t>
            </a:r>
            <a:r>
              <a:rPr lang="en-US" altLang="zh-CN" dirty="0"/>
              <a:t>5</a:t>
            </a:r>
            <a:r>
              <a:rPr lang="zh-CN" altLang="en-US" dirty="0"/>
              <a:t>角硬币，按下“可乐”、“雪碧”或“红茶”按钮，相应的饮料就送出来。若投入的是</a:t>
            </a:r>
            <a:r>
              <a:rPr lang="en-US" altLang="zh-CN" dirty="0"/>
              <a:t>2</a:t>
            </a:r>
            <a:r>
              <a:rPr lang="zh-CN" altLang="en-US" dirty="0"/>
              <a:t>元硬币，在送出饮料的同时退还</a:t>
            </a:r>
            <a:r>
              <a:rPr lang="en-US" altLang="zh-CN" dirty="0"/>
              <a:t>5</a:t>
            </a:r>
            <a:r>
              <a:rPr lang="zh-CN" altLang="en-US" dirty="0"/>
              <a:t>角硬币。</a:t>
            </a:r>
            <a:endParaRPr lang="zh-CN" alt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328592"/>
          </a:xfrm>
        </p:spPr>
        <p:txBody>
          <a:bodyPr>
            <a:normAutofit fontScale="92500" lnSpcReduction="20000"/>
          </a:bodyPr>
          <a:lstStyle/>
          <a:p>
            <a:r>
              <a:rPr lang="zh-CN" altLang="en-US" dirty="0">
                <a:latin typeface="微软雅黑" panose="020B0503020204020204" pitchFamily="18" charset="-122"/>
                <a:ea typeface="微软雅黑" panose="020B0503020204020204" pitchFamily="18" charset="-122"/>
              </a:rPr>
              <a:t>因：</a:t>
            </a:r>
            <a:endParaRPr lang="en-US" altLang="zh-CN" dirty="0">
              <a:latin typeface="微软雅黑" panose="020B0503020204020204" pitchFamily="18" charset="-122"/>
              <a:ea typeface="微软雅黑" panose="020B0503020204020204" pitchFamily="18" charset="-122"/>
            </a:endParaRPr>
          </a:p>
          <a:p>
            <a:pPr lvl="1"/>
            <a:r>
              <a:rPr lang="en-US" altLang="zh-CN" dirty="0">
                <a:latin typeface="微软雅黑" panose="020B0503020204020204" pitchFamily="18" charset="-122"/>
                <a:ea typeface="微软雅黑" panose="020B0503020204020204" pitchFamily="18" charset="-122"/>
              </a:rPr>
              <a:t>1</a:t>
            </a:r>
            <a:r>
              <a:rPr lang="zh-CN" altLang="en-US" dirty="0">
                <a:latin typeface="微软雅黑" panose="020B0503020204020204" pitchFamily="18" charset="-122"/>
                <a:ea typeface="微软雅黑" panose="020B0503020204020204" pitchFamily="18" charset="-122"/>
              </a:rPr>
              <a:t>、投入</a:t>
            </a:r>
            <a:r>
              <a:rPr lang="en-US" altLang="zh-CN" dirty="0">
                <a:latin typeface="微软雅黑" panose="020B0503020204020204" pitchFamily="18" charset="-122"/>
                <a:ea typeface="微软雅黑" panose="020B0503020204020204" pitchFamily="18" charset="-122"/>
              </a:rPr>
              <a:t>1</a:t>
            </a:r>
            <a:r>
              <a:rPr lang="zh-CN" altLang="en-US" dirty="0">
                <a:latin typeface="微软雅黑" panose="020B0503020204020204" pitchFamily="18" charset="-122"/>
                <a:ea typeface="微软雅黑" panose="020B0503020204020204" pitchFamily="18" charset="-122"/>
              </a:rPr>
              <a:t>元</a:t>
            </a:r>
            <a:r>
              <a:rPr lang="en-US" altLang="zh-CN" dirty="0">
                <a:latin typeface="微软雅黑" panose="020B0503020204020204" pitchFamily="18" charset="-122"/>
                <a:ea typeface="微软雅黑" panose="020B0503020204020204" pitchFamily="18" charset="-122"/>
              </a:rPr>
              <a:t>5</a:t>
            </a:r>
            <a:r>
              <a:rPr lang="zh-CN" altLang="en-US" dirty="0">
                <a:latin typeface="微软雅黑" panose="020B0503020204020204" pitchFamily="18" charset="-122"/>
                <a:ea typeface="微软雅黑" panose="020B0503020204020204" pitchFamily="18" charset="-122"/>
              </a:rPr>
              <a:t>角硬币　　</a:t>
            </a:r>
            <a:endParaRPr lang="en-US" altLang="zh-CN" dirty="0">
              <a:latin typeface="微软雅黑" panose="020B0503020204020204" pitchFamily="18" charset="-122"/>
              <a:ea typeface="微软雅黑" panose="020B0503020204020204" pitchFamily="18" charset="-122"/>
            </a:endParaRPr>
          </a:p>
          <a:p>
            <a:pPr lvl="1"/>
            <a:r>
              <a:rPr lang="en-US" altLang="zh-CN" dirty="0">
                <a:latin typeface="微软雅黑" panose="020B0503020204020204" pitchFamily="18" charset="-122"/>
                <a:ea typeface="微软雅黑" panose="020B0503020204020204" pitchFamily="18" charset="-122"/>
              </a:rPr>
              <a:t>2</a:t>
            </a:r>
            <a:r>
              <a:rPr lang="zh-CN" altLang="en-US" dirty="0">
                <a:latin typeface="微软雅黑" panose="020B0503020204020204" pitchFamily="18" charset="-122"/>
                <a:ea typeface="微软雅黑" panose="020B0503020204020204" pitchFamily="18" charset="-122"/>
              </a:rPr>
              <a:t>、投入</a:t>
            </a:r>
            <a:r>
              <a:rPr lang="en-US" altLang="zh-CN" dirty="0">
                <a:latin typeface="微软雅黑" panose="020B0503020204020204" pitchFamily="18" charset="-122"/>
                <a:ea typeface="微软雅黑" panose="020B0503020204020204" pitchFamily="18" charset="-122"/>
              </a:rPr>
              <a:t>2</a:t>
            </a:r>
            <a:r>
              <a:rPr lang="zh-CN" altLang="en-US" dirty="0">
                <a:latin typeface="微软雅黑" panose="020B0503020204020204" pitchFamily="18" charset="-122"/>
                <a:ea typeface="微软雅黑" panose="020B0503020204020204" pitchFamily="18" charset="-122"/>
              </a:rPr>
              <a:t>元硬币　　</a:t>
            </a:r>
            <a:endParaRPr lang="en-US" altLang="zh-CN" dirty="0">
              <a:latin typeface="微软雅黑" panose="020B0503020204020204" pitchFamily="18" charset="-122"/>
              <a:ea typeface="微软雅黑" panose="020B0503020204020204" pitchFamily="18" charset="-122"/>
            </a:endParaRPr>
          </a:p>
          <a:p>
            <a:pPr lvl="1"/>
            <a:r>
              <a:rPr lang="en-US" altLang="zh-CN" dirty="0">
                <a:latin typeface="微软雅黑" panose="020B0503020204020204" pitchFamily="18" charset="-122"/>
                <a:ea typeface="微软雅黑" panose="020B0503020204020204" pitchFamily="18" charset="-122"/>
              </a:rPr>
              <a:t>3</a:t>
            </a:r>
            <a:r>
              <a:rPr lang="zh-CN" altLang="en-US" dirty="0">
                <a:latin typeface="微软雅黑" panose="020B0503020204020204" pitchFamily="18" charset="-122"/>
                <a:ea typeface="微软雅黑" panose="020B0503020204020204" pitchFamily="18" charset="-122"/>
              </a:rPr>
              <a:t>、按下‘可乐’按钮　　</a:t>
            </a:r>
            <a:endParaRPr lang="en-US" altLang="zh-CN" dirty="0">
              <a:latin typeface="微软雅黑" panose="020B0503020204020204" pitchFamily="18" charset="-122"/>
              <a:ea typeface="微软雅黑" panose="020B0503020204020204" pitchFamily="18" charset="-122"/>
            </a:endParaRPr>
          </a:p>
          <a:p>
            <a:pPr lvl="1"/>
            <a:r>
              <a:rPr lang="en-US" altLang="zh-CN" dirty="0">
                <a:latin typeface="微软雅黑" panose="020B0503020204020204" pitchFamily="18" charset="-122"/>
                <a:ea typeface="微软雅黑" panose="020B0503020204020204" pitchFamily="18" charset="-122"/>
              </a:rPr>
              <a:t>4</a:t>
            </a:r>
            <a:r>
              <a:rPr lang="zh-CN" altLang="en-US" dirty="0">
                <a:latin typeface="微软雅黑" panose="020B0503020204020204" pitchFamily="18" charset="-122"/>
                <a:ea typeface="微软雅黑" panose="020B0503020204020204" pitchFamily="18" charset="-122"/>
              </a:rPr>
              <a:t>、按下‘雪碧’按钮　　</a:t>
            </a:r>
            <a:endParaRPr lang="en-US" altLang="zh-CN" dirty="0">
              <a:latin typeface="微软雅黑" panose="020B0503020204020204" pitchFamily="18" charset="-122"/>
              <a:ea typeface="微软雅黑" panose="020B0503020204020204" pitchFamily="18" charset="-122"/>
            </a:endParaRPr>
          </a:p>
          <a:p>
            <a:pPr lvl="1"/>
            <a:r>
              <a:rPr lang="en-US" altLang="zh-CN" dirty="0">
                <a:latin typeface="微软雅黑" panose="020B0503020204020204" pitchFamily="18" charset="-122"/>
                <a:ea typeface="微软雅黑" panose="020B0503020204020204" pitchFamily="18" charset="-122"/>
              </a:rPr>
              <a:t>5</a:t>
            </a:r>
            <a:r>
              <a:rPr lang="zh-CN" altLang="en-US" dirty="0">
                <a:latin typeface="微软雅黑" panose="020B0503020204020204" pitchFamily="18" charset="-122"/>
                <a:ea typeface="微软雅黑" panose="020B0503020204020204" pitchFamily="18" charset="-122"/>
              </a:rPr>
              <a:t>、按下‘红茶’按钮</a:t>
            </a:r>
            <a:endParaRPr lang="en-US" altLang="zh-CN" dirty="0">
              <a:latin typeface="微软雅黑" panose="020B0503020204020204" pitchFamily="18" charset="-122"/>
              <a:ea typeface="微软雅黑" panose="020B0503020204020204" pitchFamily="18" charset="-122"/>
            </a:endParaRPr>
          </a:p>
          <a:p>
            <a:pPr lvl="1"/>
            <a:endParaRPr lang="zh-CN" altLang="en-US" dirty="0"/>
          </a:p>
          <a:p>
            <a:r>
              <a:rPr lang="zh-CN" altLang="en-US" dirty="0">
                <a:latin typeface="微软雅黑" panose="020B0503020204020204" pitchFamily="18" charset="-122"/>
                <a:ea typeface="微软雅黑" panose="020B0503020204020204" pitchFamily="18" charset="-122"/>
              </a:rPr>
              <a:t>果：</a:t>
            </a:r>
            <a:endParaRPr lang="en-US" altLang="zh-CN" dirty="0">
              <a:latin typeface="微软雅黑" panose="020B0503020204020204" pitchFamily="18" charset="-122"/>
              <a:ea typeface="微软雅黑" panose="020B0503020204020204" pitchFamily="18" charset="-122"/>
            </a:endParaRPr>
          </a:p>
          <a:p>
            <a:pPr lvl="1"/>
            <a:r>
              <a:rPr lang="en-US" altLang="zh-CN" dirty="0">
                <a:latin typeface="微软雅黑" panose="020B0503020204020204" pitchFamily="18" charset="-122"/>
                <a:ea typeface="微软雅黑" panose="020B0503020204020204" pitchFamily="18" charset="-122"/>
              </a:rPr>
              <a:t>1</a:t>
            </a:r>
            <a:r>
              <a:rPr lang="zh-CN" altLang="en-US" dirty="0">
                <a:latin typeface="微软雅黑" panose="020B0503020204020204" pitchFamily="18" charset="-122"/>
                <a:ea typeface="微软雅黑" panose="020B0503020204020204" pitchFamily="18" charset="-122"/>
              </a:rPr>
              <a:t>、退出</a:t>
            </a:r>
            <a:r>
              <a:rPr lang="en-US" altLang="zh-CN" dirty="0">
                <a:latin typeface="微软雅黑" panose="020B0503020204020204" pitchFamily="18" charset="-122"/>
                <a:ea typeface="微软雅黑" panose="020B0503020204020204" pitchFamily="18" charset="-122"/>
              </a:rPr>
              <a:t>5</a:t>
            </a:r>
            <a:r>
              <a:rPr lang="zh-CN" altLang="en-US" dirty="0">
                <a:latin typeface="微软雅黑" panose="020B0503020204020204" pitchFamily="18" charset="-122"/>
                <a:ea typeface="微软雅黑" panose="020B0503020204020204" pitchFamily="18" charset="-122"/>
              </a:rPr>
              <a:t>角硬币　　</a:t>
            </a:r>
            <a:endParaRPr lang="en-US" altLang="zh-CN" dirty="0">
              <a:latin typeface="微软雅黑" panose="020B0503020204020204" pitchFamily="18" charset="-122"/>
              <a:ea typeface="微软雅黑" panose="020B0503020204020204" pitchFamily="18" charset="-122"/>
            </a:endParaRPr>
          </a:p>
          <a:p>
            <a:pPr lvl="1"/>
            <a:r>
              <a:rPr lang="en-US" altLang="zh-CN" dirty="0">
                <a:latin typeface="微软雅黑" panose="020B0503020204020204" pitchFamily="18" charset="-122"/>
                <a:ea typeface="微软雅黑" panose="020B0503020204020204" pitchFamily="18" charset="-122"/>
              </a:rPr>
              <a:t>2</a:t>
            </a:r>
            <a:r>
              <a:rPr lang="zh-CN" altLang="en-US" dirty="0">
                <a:latin typeface="微软雅黑" panose="020B0503020204020204" pitchFamily="18" charset="-122"/>
                <a:ea typeface="微软雅黑" panose="020B0503020204020204" pitchFamily="18" charset="-122"/>
              </a:rPr>
              <a:t>、送出‘可乐’　　</a:t>
            </a:r>
            <a:endParaRPr lang="en-US" altLang="zh-CN" dirty="0">
              <a:latin typeface="微软雅黑" panose="020B0503020204020204" pitchFamily="18" charset="-122"/>
              <a:ea typeface="微软雅黑" panose="020B0503020204020204" pitchFamily="18" charset="-122"/>
            </a:endParaRPr>
          </a:p>
          <a:p>
            <a:pPr lvl="1"/>
            <a:r>
              <a:rPr lang="en-US" altLang="zh-CN" dirty="0">
                <a:latin typeface="微软雅黑" panose="020B0503020204020204" pitchFamily="18" charset="-122"/>
                <a:ea typeface="微软雅黑" panose="020B0503020204020204" pitchFamily="18" charset="-122"/>
              </a:rPr>
              <a:t>3</a:t>
            </a:r>
            <a:r>
              <a:rPr lang="zh-CN" altLang="en-US" dirty="0">
                <a:latin typeface="微软雅黑" panose="020B0503020204020204" pitchFamily="18" charset="-122"/>
                <a:ea typeface="微软雅黑" panose="020B0503020204020204" pitchFamily="18" charset="-122"/>
              </a:rPr>
              <a:t>、送出‘雪碧’　　</a:t>
            </a:r>
            <a:endParaRPr lang="en-US" altLang="zh-CN" dirty="0">
              <a:latin typeface="微软雅黑" panose="020B0503020204020204" pitchFamily="18" charset="-122"/>
              <a:ea typeface="微软雅黑" panose="020B0503020204020204" pitchFamily="18" charset="-122"/>
            </a:endParaRPr>
          </a:p>
          <a:p>
            <a:pPr lvl="1"/>
            <a:r>
              <a:rPr lang="en-US" altLang="zh-CN" dirty="0">
                <a:latin typeface="微软雅黑" panose="020B0503020204020204" pitchFamily="18" charset="-122"/>
                <a:ea typeface="微软雅黑" panose="020B0503020204020204" pitchFamily="18" charset="-122"/>
              </a:rPr>
              <a:t>4</a:t>
            </a:r>
            <a:r>
              <a:rPr lang="zh-CN" altLang="en-US" dirty="0">
                <a:latin typeface="微软雅黑" panose="020B0503020204020204" pitchFamily="18" charset="-122"/>
                <a:ea typeface="微软雅黑" panose="020B0503020204020204" pitchFamily="18" charset="-122"/>
              </a:rPr>
              <a:t>、送出‘红茶’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228" y="1196752"/>
            <a:ext cx="8025544" cy="5112568"/>
          </a:xfr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592" y="1124744"/>
            <a:ext cx="8348816" cy="4248472"/>
          </a:xfr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Exercise-3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616624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dirty="0"/>
              <a:t>Given the requirements as follows:</a:t>
            </a:r>
            <a:endParaRPr lang="zh-CN" altLang="zh-CN" sz="2400" dirty="0"/>
          </a:p>
          <a:p>
            <a:pPr lvl="1"/>
            <a:r>
              <a:rPr lang="en-US" altLang="zh-CN" sz="2400" dirty="0"/>
              <a:t>For international airlines of Europe and America, all classes have in-flight meals and in-flight entertainments;</a:t>
            </a:r>
            <a:endParaRPr lang="zh-CN" altLang="zh-CN" sz="2400" dirty="0"/>
          </a:p>
          <a:p>
            <a:pPr lvl="1"/>
            <a:r>
              <a:rPr lang="en-US" altLang="zh-CN" sz="2400" dirty="0"/>
              <a:t>For other international airlines, all classes have in-flight meals, only business classes have in-flight entertainments;</a:t>
            </a:r>
            <a:endParaRPr lang="zh-CN" altLang="zh-CN" sz="2400" dirty="0"/>
          </a:p>
          <a:p>
            <a:pPr lvl="1"/>
            <a:r>
              <a:rPr lang="en-US" altLang="zh-CN" sz="2400" dirty="0"/>
              <a:t>For domestic airlines, business classes have in-flight meals, but no in-flight entertainments;</a:t>
            </a:r>
            <a:endParaRPr lang="zh-CN" altLang="zh-CN" sz="2400" dirty="0"/>
          </a:p>
          <a:p>
            <a:pPr lvl="1"/>
            <a:r>
              <a:rPr lang="en-US" altLang="zh-CN" sz="2400" dirty="0"/>
              <a:t>For domestic airlines, economy classes have in-flight meals if the flying time is longer than 2 hours, but no in-flight entertainments.</a:t>
            </a:r>
            <a:endParaRPr lang="zh-CN" altLang="zh-CN" sz="2400" dirty="0"/>
          </a:p>
          <a:p>
            <a:pPr>
              <a:lnSpc>
                <a:spcPct val="120000"/>
              </a:lnSpc>
            </a:pPr>
            <a:r>
              <a:rPr lang="en-US" altLang="zh-CN" sz="2400" dirty="0"/>
              <a:t>Design the corresponding</a:t>
            </a:r>
            <a:r>
              <a:rPr lang="en-US" altLang="zh-CN" sz="2400" b="1" dirty="0"/>
              <a:t> </a:t>
            </a:r>
            <a:r>
              <a:rPr lang="en-US" altLang="zh-CN" sz="2400" b="1" dirty="0">
                <a:solidFill>
                  <a:srgbClr val="FF0000"/>
                </a:solidFill>
              </a:rPr>
              <a:t>extended</a:t>
            </a:r>
            <a:r>
              <a:rPr lang="en-US" altLang="zh-CN" sz="2400" b="1" dirty="0"/>
              <a:t> entry decision table: </a:t>
            </a:r>
            <a:endParaRPr lang="zh-CN" altLang="zh-CN" sz="2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1529187" y="328123"/>
            <a:ext cx="6952481" cy="760400"/>
          </a:xfrm>
          <a:custGeom>
            <a:avLst/>
            <a:gdLst>
              <a:gd name="connsiteX0" fmla="*/ 0 w 8130540"/>
              <a:gd name="connsiteY0" fmla="*/ 0 h 838200"/>
              <a:gd name="connsiteX1" fmla="*/ 8130539 w 8130540"/>
              <a:gd name="connsiteY1" fmla="*/ 0 h 838200"/>
              <a:gd name="connsiteX2" fmla="*/ 8130539 w 8130540"/>
              <a:gd name="connsiteY2" fmla="*/ 838200 h 838200"/>
              <a:gd name="connsiteX3" fmla="*/ 0 w 8130540"/>
              <a:gd name="connsiteY3" fmla="*/ 838200 h 838200"/>
              <a:gd name="connsiteX4" fmla="*/ 0 w 8130540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8130540" h="838200">
                <a:moveTo>
                  <a:pt x="0" y="0"/>
                </a:moveTo>
                <a:lnTo>
                  <a:pt x="8130539" y="0"/>
                </a:lnTo>
                <a:lnTo>
                  <a:pt x="8130539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3" name="Freeform 3"/>
          <p:cNvSpPr/>
          <p:nvPr/>
        </p:nvSpPr>
        <p:spPr>
          <a:xfrm>
            <a:off x="1530490" y="328123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5" name="Freeform 3"/>
          <p:cNvSpPr/>
          <p:nvPr/>
        </p:nvSpPr>
        <p:spPr>
          <a:xfrm>
            <a:off x="1530490" y="328123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6" name="Freeform 3"/>
          <p:cNvSpPr/>
          <p:nvPr/>
        </p:nvSpPr>
        <p:spPr>
          <a:xfrm>
            <a:off x="1529187" y="1105806"/>
            <a:ext cx="6952481" cy="760400"/>
          </a:xfrm>
          <a:custGeom>
            <a:avLst/>
            <a:gdLst>
              <a:gd name="connsiteX0" fmla="*/ 0 w 8130540"/>
              <a:gd name="connsiteY0" fmla="*/ 0 h 838200"/>
              <a:gd name="connsiteX1" fmla="*/ 8130539 w 8130540"/>
              <a:gd name="connsiteY1" fmla="*/ 0 h 838200"/>
              <a:gd name="connsiteX2" fmla="*/ 8130539 w 8130540"/>
              <a:gd name="connsiteY2" fmla="*/ 838199 h 838200"/>
              <a:gd name="connsiteX3" fmla="*/ 0 w 8130540"/>
              <a:gd name="connsiteY3" fmla="*/ 838199 h 838200"/>
              <a:gd name="connsiteX4" fmla="*/ 0 w 8130540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8130540" h="838200">
                <a:moveTo>
                  <a:pt x="0" y="0"/>
                </a:moveTo>
                <a:lnTo>
                  <a:pt x="8130539" y="0"/>
                </a:lnTo>
                <a:lnTo>
                  <a:pt x="8130539" y="838199"/>
                </a:lnTo>
                <a:lnTo>
                  <a:pt x="0" y="838199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7" name="Freeform 3"/>
          <p:cNvSpPr/>
          <p:nvPr/>
        </p:nvSpPr>
        <p:spPr>
          <a:xfrm>
            <a:off x="1530490" y="1105806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199 h 838200"/>
              <a:gd name="connsiteX3" fmla="*/ 0 w 73152"/>
              <a:gd name="connsiteY3" fmla="*/ 838199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199"/>
                </a:lnTo>
                <a:lnTo>
                  <a:pt x="0" y="838199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8" name="Freeform 3"/>
          <p:cNvSpPr/>
          <p:nvPr/>
        </p:nvSpPr>
        <p:spPr>
          <a:xfrm>
            <a:off x="1530490" y="1105806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199 h 838200"/>
              <a:gd name="connsiteX3" fmla="*/ 0 w 73152"/>
              <a:gd name="connsiteY3" fmla="*/ 838199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199"/>
                </a:lnTo>
                <a:lnTo>
                  <a:pt x="0" y="838199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9" name="Freeform 3"/>
          <p:cNvSpPr/>
          <p:nvPr/>
        </p:nvSpPr>
        <p:spPr>
          <a:xfrm>
            <a:off x="1529187" y="1882795"/>
            <a:ext cx="6952481" cy="760400"/>
          </a:xfrm>
          <a:custGeom>
            <a:avLst/>
            <a:gdLst>
              <a:gd name="connsiteX0" fmla="*/ 0 w 8130540"/>
              <a:gd name="connsiteY0" fmla="*/ 0 h 838200"/>
              <a:gd name="connsiteX1" fmla="*/ 8130539 w 8130540"/>
              <a:gd name="connsiteY1" fmla="*/ 0 h 838200"/>
              <a:gd name="connsiteX2" fmla="*/ 8130539 w 8130540"/>
              <a:gd name="connsiteY2" fmla="*/ 838200 h 838200"/>
              <a:gd name="connsiteX3" fmla="*/ 0 w 8130540"/>
              <a:gd name="connsiteY3" fmla="*/ 838200 h 838200"/>
              <a:gd name="connsiteX4" fmla="*/ 0 w 8130540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8130540" h="838200">
                <a:moveTo>
                  <a:pt x="0" y="0"/>
                </a:moveTo>
                <a:lnTo>
                  <a:pt x="8130539" y="0"/>
                </a:lnTo>
                <a:lnTo>
                  <a:pt x="8130539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10" name="Freeform 3"/>
          <p:cNvSpPr/>
          <p:nvPr/>
        </p:nvSpPr>
        <p:spPr>
          <a:xfrm>
            <a:off x="1530490" y="1882795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11" name="Freeform 3"/>
          <p:cNvSpPr/>
          <p:nvPr/>
        </p:nvSpPr>
        <p:spPr>
          <a:xfrm>
            <a:off x="1530490" y="1882795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12" name="Freeform 3"/>
          <p:cNvSpPr/>
          <p:nvPr/>
        </p:nvSpPr>
        <p:spPr>
          <a:xfrm>
            <a:off x="1529187" y="2660477"/>
            <a:ext cx="6952481" cy="760400"/>
          </a:xfrm>
          <a:custGeom>
            <a:avLst/>
            <a:gdLst>
              <a:gd name="connsiteX0" fmla="*/ 0 w 8130540"/>
              <a:gd name="connsiteY0" fmla="*/ 0 h 838200"/>
              <a:gd name="connsiteX1" fmla="*/ 8130539 w 8130540"/>
              <a:gd name="connsiteY1" fmla="*/ 0 h 838200"/>
              <a:gd name="connsiteX2" fmla="*/ 8130539 w 8130540"/>
              <a:gd name="connsiteY2" fmla="*/ 838200 h 838200"/>
              <a:gd name="connsiteX3" fmla="*/ 0 w 8130540"/>
              <a:gd name="connsiteY3" fmla="*/ 838200 h 838200"/>
              <a:gd name="connsiteX4" fmla="*/ 0 w 8130540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8130540" h="838200">
                <a:moveTo>
                  <a:pt x="0" y="0"/>
                </a:moveTo>
                <a:lnTo>
                  <a:pt x="8130539" y="0"/>
                </a:lnTo>
                <a:lnTo>
                  <a:pt x="8130539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13" name="Freeform 3"/>
          <p:cNvSpPr/>
          <p:nvPr/>
        </p:nvSpPr>
        <p:spPr>
          <a:xfrm>
            <a:off x="1530490" y="2660477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14" name="Freeform 3"/>
          <p:cNvSpPr/>
          <p:nvPr/>
        </p:nvSpPr>
        <p:spPr>
          <a:xfrm>
            <a:off x="1530490" y="2660477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15" name="Freeform 3"/>
          <p:cNvSpPr/>
          <p:nvPr/>
        </p:nvSpPr>
        <p:spPr>
          <a:xfrm>
            <a:off x="1529187" y="3438159"/>
            <a:ext cx="6952481" cy="760400"/>
          </a:xfrm>
          <a:custGeom>
            <a:avLst/>
            <a:gdLst>
              <a:gd name="connsiteX0" fmla="*/ 0 w 8130540"/>
              <a:gd name="connsiteY0" fmla="*/ 0 h 838200"/>
              <a:gd name="connsiteX1" fmla="*/ 8130539 w 8130540"/>
              <a:gd name="connsiteY1" fmla="*/ 0 h 838200"/>
              <a:gd name="connsiteX2" fmla="*/ 8130539 w 8130540"/>
              <a:gd name="connsiteY2" fmla="*/ 838200 h 838200"/>
              <a:gd name="connsiteX3" fmla="*/ 0 w 8130540"/>
              <a:gd name="connsiteY3" fmla="*/ 838200 h 838200"/>
              <a:gd name="connsiteX4" fmla="*/ 0 w 8130540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8130540" h="838200">
                <a:moveTo>
                  <a:pt x="0" y="0"/>
                </a:moveTo>
                <a:lnTo>
                  <a:pt x="8130539" y="0"/>
                </a:lnTo>
                <a:lnTo>
                  <a:pt x="8130539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16" name="Freeform 3"/>
          <p:cNvSpPr/>
          <p:nvPr/>
        </p:nvSpPr>
        <p:spPr>
          <a:xfrm>
            <a:off x="1530490" y="3438159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17" name="Freeform 3"/>
          <p:cNvSpPr/>
          <p:nvPr/>
        </p:nvSpPr>
        <p:spPr>
          <a:xfrm>
            <a:off x="1530490" y="3438159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18" name="Freeform 3"/>
          <p:cNvSpPr/>
          <p:nvPr/>
        </p:nvSpPr>
        <p:spPr>
          <a:xfrm>
            <a:off x="1529187" y="4215841"/>
            <a:ext cx="6952481" cy="760400"/>
          </a:xfrm>
          <a:custGeom>
            <a:avLst/>
            <a:gdLst>
              <a:gd name="connsiteX0" fmla="*/ 0 w 8130540"/>
              <a:gd name="connsiteY0" fmla="*/ 0 h 838200"/>
              <a:gd name="connsiteX1" fmla="*/ 8130539 w 8130540"/>
              <a:gd name="connsiteY1" fmla="*/ 0 h 838200"/>
              <a:gd name="connsiteX2" fmla="*/ 8130539 w 8130540"/>
              <a:gd name="connsiteY2" fmla="*/ 838200 h 838200"/>
              <a:gd name="connsiteX3" fmla="*/ 0 w 8130540"/>
              <a:gd name="connsiteY3" fmla="*/ 838200 h 838200"/>
              <a:gd name="connsiteX4" fmla="*/ 0 w 8130540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8130540" h="838200">
                <a:moveTo>
                  <a:pt x="0" y="0"/>
                </a:moveTo>
                <a:lnTo>
                  <a:pt x="8130539" y="0"/>
                </a:lnTo>
                <a:lnTo>
                  <a:pt x="8130539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19" name="Freeform 3"/>
          <p:cNvSpPr/>
          <p:nvPr/>
        </p:nvSpPr>
        <p:spPr>
          <a:xfrm>
            <a:off x="1530490" y="4215841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20" name="Freeform 3"/>
          <p:cNvSpPr/>
          <p:nvPr/>
        </p:nvSpPr>
        <p:spPr>
          <a:xfrm>
            <a:off x="1530490" y="4215841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21" name="Freeform 3"/>
          <p:cNvSpPr/>
          <p:nvPr/>
        </p:nvSpPr>
        <p:spPr>
          <a:xfrm>
            <a:off x="1529187" y="4993523"/>
            <a:ext cx="6952481" cy="760400"/>
          </a:xfrm>
          <a:custGeom>
            <a:avLst/>
            <a:gdLst>
              <a:gd name="connsiteX0" fmla="*/ 0 w 8130540"/>
              <a:gd name="connsiteY0" fmla="*/ 0 h 838200"/>
              <a:gd name="connsiteX1" fmla="*/ 8130539 w 8130540"/>
              <a:gd name="connsiteY1" fmla="*/ 0 h 838200"/>
              <a:gd name="connsiteX2" fmla="*/ 8130539 w 8130540"/>
              <a:gd name="connsiteY2" fmla="*/ 838200 h 838200"/>
              <a:gd name="connsiteX3" fmla="*/ 0 w 8130540"/>
              <a:gd name="connsiteY3" fmla="*/ 838200 h 838200"/>
              <a:gd name="connsiteX4" fmla="*/ 0 w 8130540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8130540" h="838200">
                <a:moveTo>
                  <a:pt x="0" y="0"/>
                </a:moveTo>
                <a:lnTo>
                  <a:pt x="8130539" y="0"/>
                </a:lnTo>
                <a:lnTo>
                  <a:pt x="8130539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22" name="Freeform 3"/>
          <p:cNvSpPr/>
          <p:nvPr/>
        </p:nvSpPr>
        <p:spPr>
          <a:xfrm>
            <a:off x="1530490" y="4993523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23" name="Freeform 3"/>
          <p:cNvSpPr/>
          <p:nvPr/>
        </p:nvSpPr>
        <p:spPr>
          <a:xfrm>
            <a:off x="1530490" y="4993523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200 h 838200"/>
              <a:gd name="connsiteX3" fmla="*/ 0 w 73152"/>
              <a:gd name="connsiteY3" fmla="*/ 838200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200"/>
                </a:lnTo>
                <a:lnTo>
                  <a:pt x="0" y="8382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24" name="Freeform 3"/>
          <p:cNvSpPr/>
          <p:nvPr/>
        </p:nvSpPr>
        <p:spPr>
          <a:xfrm>
            <a:off x="1529187" y="5771204"/>
            <a:ext cx="6952481" cy="760400"/>
          </a:xfrm>
          <a:custGeom>
            <a:avLst/>
            <a:gdLst>
              <a:gd name="connsiteX0" fmla="*/ 0 w 8130540"/>
              <a:gd name="connsiteY0" fmla="*/ 0 h 838200"/>
              <a:gd name="connsiteX1" fmla="*/ 8130539 w 8130540"/>
              <a:gd name="connsiteY1" fmla="*/ 0 h 838200"/>
              <a:gd name="connsiteX2" fmla="*/ 8130539 w 8130540"/>
              <a:gd name="connsiteY2" fmla="*/ 838199 h 838200"/>
              <a:gd name="connsiteX3" fmla="*/ 0 w 8130540"/>
              <a:gd name="connsiteY3" fmla="*/ 838199 h 838200"/>
              <a:gd name="connsiteX4" fmla="*/ 0 w 8130540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8130540" h="838200">
                <a:moveTo>
                  <a:pt x="0" y="0"/>
                </a:moveTo>
                <a:lnTo>
                  <a:pt x="8130539" y="0"/>
                </a:lnTo>
                <a:lnTo>
                  <a:pt x="8130539" y="838199"/>
                </a:lnTo>
                <a:lnTo>
                  <a:pt x="0" y="838199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25" name="Freeform 3"/>
          <p:cNvSpPr/>
          <p:nvPr/>
        </p:nvSpPr>
        <p:spPr>
          <a:xfrm>
            <a:off x="1530490" y="5771204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199 h 838200"/>
              <a:gd name="connsiteX3" fmla="*/ 0 w 73152"/>
              <a:gd name="connsiteY3" fmla="*/ 838199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199"/>
                </a:lnTo>
                <a:lnTo>
                  <a:pt x="0" y="838199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sp>
        <p:nvSpPr>
          <p:cNvPr id="26" name="Freeform 3"/>
          <p:cNvSpPr/>
          <p:nvPr/>
        </p:nvSpPr>
        <p:spPr>
          <a:xfrm>
            <a:off x="1530490" y="5771204"/>
            <a:ext cx="62553" cy="760400"/>
          </a:xfrm>
          <a:custGeom>
            <a:avLst/>
            <a:gdLst>
              <a:gd name="connsiteX0" fmla="*/ 0 w 73152"/>
              <a:gd name="connsiteY0" fmla="*/ 0 h 838200"/>
              <a:gd name="connsiteX1" fmla="*/ 73151 w 73152"/>
              <a:gd name="connsiteY1" fmla="*/ 0 h 838200"/>
              <a:gd name="connsiteX2" fmla="*/ 73151 w 73152"/>
              <a:gd name="connsiteY2" fmla="*/ 838199 h 838200"/>
              <a:gd name="connsiteX3" fmla="*/ 0 w 73152"/>
              <a:gd name="connsiteY3" fmla="*/ 838199 h 838200"/>
              <a:gd name="connsiteX4" fmla="*/ 0 w 73152"/>
              <a:gd name="connsiteY4" fmla="*/ 0 h 838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3152" h="838200">
                <a:moveTo>
                  <a:pt x="0" y="0"/>
                </a:moveTo>
                <a:lnTo>
                  <a:pt x="73151" y="0"/>
                </a:lnTo>
                <a:lnTo>
                  <a:pt x="73151" y="838199"/>
                </a:lnTo>
                <a:lnTo>
                  <a:pt x="0" y="838199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56" tIns="40078" rIns="80156" bIns="40078" rtlCol="0" anchor="ctr"/>
          <a:lstStyle/>
          <a:p>
            <a:pPr algn="ctr"/>
            <a:endParaRPr lang="zh-CN" alt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467544" y="299551"/>
            <a:ext cx="8024865" cy="6244496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>
            <a:off x="1965635" y="818006"/>
            <a:ext cx="6715493" cy="591902"/>
          </a:xfrm>
          <a:prstGeom prst="rect">
            <a:avLst/>
          </a:prstGeom>
          <a:noFill/>
        </p:spPr>
        <p:txBody>
          <a:bodyPr wrap="none" lIns="0" tIns="0" rIns="0" bIns="40078" rtlCol="0">
            <a:spAutoFit/>
          </a:bodyPr>
          <a:lstStyle/>
          <a:p>
            <a:pPr>
              <a:lnSpc>
                <a:spcPts val="4295"/>
              </a:lnSpc>
            </a:pPr>
            <a:r>
              <a:rPr lang="en-US" altLang="zh-CN" sz="3800" dirty="0">
                <a:solidFill>
                  <a:srgbClr val="572314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Black</a:t>
            </a:r>
            <a:r>
              <a:rPr lang="en-US" altLang="zh-CN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800" dirty="0">
                <a:solidFill>
                  <a:srgbClr val="572314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Box Testing Techniques</a:t>
            </a:r>
            <a:endParaRPr lang="en-US" altLang="zh-CN" sz="3800" dirty="0">
              <a:solidFill>
                <a:srgbClr val="572314"/>
              </a:solidFill>
              <a:latin typeface="微软雅黑" panose="020B0503020204020204" pitchFamily="18" charset="-122"/>
              <a:cs typeface="微软雅黑" panose="020B0503020204020204" pitchFamily="18" charset="-122"/>
            </a:endParaRPr>
          </a:p>
        </p:txBody>
      </p:sp>
      <p:sp>
        <p:nvSpPr>
          <p:cNvPr id="29" name="TextBox 1"/>
          <p:cNvSpPr txBox="1"/>
          <p:nvPr/>
        </p:nvSpPr>
        <p:spPr>
          <a:xfrm>
            <a:off x="1770157" y="1631691"/>
            <a:ext cx="6294432" cy="4695590"/>
          </a:xfrm>
          <a:prstGeom prst="rect">
            <a:avLst/>
          </a:prstGeom>
          <a:noFill/>
        </p:spPr>
        <p:txBody>
          <a:bodyPr wrap="square" lIns="0" tIns="0" rIns="0" bIns="40078" rtlCol="0">
            <a:spAutoFit/>
          </a:bodyPr>
          <a:lstStyle/>
          <a:p>
            <a:pPr>
              <a:lnSpc>
                <a:spcPct val="130000"/>
              </a:lnSpc>
              <a:tabLst>
                <a:tab pos="6311900" algn="l"/>
              </a:tabLst>
            </a:pPr>
            <a:r>
              <a:rPr lang="en-US" altLang="zh-CN" sz="3500" dirty="0">
                <a:solidFill>
                  <a:srgbClr val="3891A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US" altLang="zh-C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35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Boundary Value Analysis</a:t>
            </a:r>
            <a:endParaRPr lang="en-US" altLang="zh-CN" sz="3500" dirty="0">
              <a:solidFill>
                <a:srgbClr val="000000"/>
              </a:solidFill>
              <a:latin typeface="微软雅黑" panose="020B0503020204020204" pitchFamily="18" charset="-122"/>
              <a:cs typeface="微软雅黑" panose="020B0503020204020204" pitchFamily="18" charset="-122"/>
            </a:endParaRPr>
          </a:p>
          <a:p>
            <a:pPr>
              <a:lnSpc>
                <a:spcPct val="130000"/>
              </a:lnSpc>
              <a:tabLst>
                <a:tab pos="6311900" algn="l"/>
              </a:tabLst>
            </a:pPr>
            <a:r>
              <a:rPr lang="en-US" altLang="zh-CN" sz="3500" dirty="0">
                <a:solidFill>
                  <a:srgbClr val="3891A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</a:t>
            </a:r>
            <a:r>
              <a:rPr lang="en-US" altLang="zh-CN" sz="35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Equivalence</a:t>
            </a:r>
            <a:r>
              <a:rPr lang="en-US" altLang="zh-C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5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Partitioning</a:t>
            </a:r>
            <a:endParaRPr lang="en-US" altLang="zh-CN" sz="3500" dirty="0">
              <a:solidFill>
                <a:srgbClr val="000000"/>
              </a:solidFill>
              <a:latin typeface="微软雅黑" panose="020B0503020204020204" pitchFamily="18" charset="-122"/>
              <a:cs typeface="微软雅黑" panose="020B0503020204020204" pitchFamily="18" charset="-122"/>
            </a:endParaRPr>
          </a:p>
          <a:p>
            <a:pPr>
              <a:lnSpc>
                <a:spcPct val="130000"/>
              </a:lnSpc>
              <a:tabLst>
                <a:tab pos="6311900" algn="l"/>
              </a:tabLst>
            </a:pPr>
            <a:r>
              <a:rPr lang="en-US" altLang="zh-CN" sz="3500" dirty="0">
                <a:solidFill>
                  <a:srgbClr val="3891A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US" altLang="zh-C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35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Decision Table</a:t>
            </a:r>
            <a:endParaRPr lang="en-US" altLang="zh-CN" sz="3500" dirty="0">
              <a:solidFill>
                <a:srgbClr val="000000"/>
              </a:solidFill>
              <a:latin typeface="微软雅黑" panose="020B0503020204020204" pitchFamily="18" charset="-122"/>
              <a:cs typeface="微软雅黑" panose="020B0503020204020204" pitchFamily="18" charset="-122"/>
            </a:endParaRPr>
          </a:p>
          <a:p>
            <a:pPr>
              <a:lnSpc>
                <a:spcPct val="130000"/>
              </a:lnSpc>
              <a:tabLst>
                <a:tab pos="6311900" algn="l"/>
              </a:tabLst>
            </a:pPr>
            <a:r>
              <a:rPr lang="en-US" altLang="zh-CN" sz="3500" dirty="0">
                <a:solidFill>
                  <a:srgbClr val="3891A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US" altLang="zh-C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35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Cause-Effect</a:t>
            </a:r>
            <a:r>
              <a:rPr lang="en-US" altLang="zh-C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5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Graph</a:t>
            </a:r>
            <a:endParaRPr lang="en-US" altLang="zh-CN" sz="3500" dirty="0">
              <a:solidFill>
                <a:srgbClr val="000000"/>
              </a:solidFill>
              <a:latin typeface="微软雅黑" panose="020B0503020204020204" pitchFamily="18" charset="-122"/>
              <a:cs typeface="微软雅黑" panose="020B0503020204020204" pitchFamily="18" charset="-122"/>
            </a:endParaRPr>
          </a:p>
          <a:p>
            <a:pPr>
              <a:lnSpc>
                <a:spcPct val="130000"/>
              </a:lnSpc>
              <a:tabLst>
                <a:tab pos="6311900" algn="l"/>
              </a:tabLst>
            </a:pPr>
            <a:r>
              <a:rPr lang="en-US" altLang="zh-CN" sz="3500" dirty="0">
                <a:solidFill>
                  <a:srgbClr val="3891A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US" altLang="zh-C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3500" dirty="0">
                <a:solidFill>
                  <a:srgbClr val="000000"/>
                </a:solidFill>
                <a:latin typeface="微软雅黑" panose="020B0503020204020204" pitchFamily="18" charset="-122"/>
                <a:cs typeface="微软雅黑" panose="020B0503020204020204" pitchFamily="18" charset="-122"/>
              </a:rPr>
              <a:t>Combinatorial Test</a:t>
            </a:r>
            <a:endParaRPr lang="en-US" altLang="zh-CN" sz="3500" dirty="0">
              <a:solidFill>
                <a:srgbClr val="000000"/>
              </a:solidFill>
              <a:latin typeface="微软雅黑" panose="020B0503020204020204" pitchFamily="18" charset="-122"/>
              <a:cs typeface="微软雅黑" panose="020B0503020204020204" pitchFamily="18" charset="-122"/>
            </a:endParaRPr>
          </a:p>
          <a:p>
            <a:pPr>
              <a:lnSpc>
                <a:spcPts val="875"/>
              </a:lnSpc>
            </a:pPr>
            <a:endParaRPr lang="en-US" altLang="zh-CN" sz="3600" dirty="0"/>
          </a:p>
          <a:p>
            <a:pPr>
              <a:lnSpc>
                <a:spcPts val="875"/>
              </a:lnSpc>
            </a:pPr>
            <a:endParaRPr lang="en-US" altLang="zh-CN" sz="3600" dirty="0"/>
          </a:p>
          <a:p>
            <a:pPr>
              <a:lnSpc>
                <a:spcPts val="875"/>
              </a:lnSpc>
            </a:pPr>
            <a:endParaRPr lang="en-US" altLang="zh-CN" sz="3600" dirty="0"/>
          </a:p>
          <a:p>
            <a:pPr>
              <a:lnSpc>
                <a:spcPts val="875"/>
              </a:lnSpc>
            </a:pPr>
            <a:endParaRPr lang="en-US" altLang="zh-CN" dirty="0"/>
          </a:p>
          <a:p>
            <a:pPr>
              <a:lnSpc>
                <a:spcPts val="875"/>
              </a:lnSpc>
            </a:pPr>
            <a:endParaRPr lang="en-US" altLang="zh-CN" dirty="0"/>
          </a:p>
          <a:p>
            <a:pPr>
              <a:lnSpc>
                <a:spcPts val="875"/>
              </a:lnSpc>
            </a:pPr>
            <a:endParaRPr lang="en-US" altLang="zh-CN" dirty="0"/>
          </a:p>
          <a:p>
            <a:pPr>
              <a:lnSpc>
                <a:spcPts val="875"/>
              </a:lnSpc>
            </a:pPr>
            <a:endParaRPr lang="en-US" altLang="zh-CN" dirty="0"/>
          </a:p>
          <a:p>
            <a:pPr>
              <a:lnSpc>
                <a:spcPts val="875"/>
              </a:lnSpc>
            </a:pPr>
            <a:endParaRPr lang="en-US" altLang="zh-CN" dirty="0"/>
          </a:p>
          <a:p>
            <a:pPr>
              <a:lnSpc>
                <a:spcPts val="1840"/>
              </a:lnSpc>
              <a:tabLst>
                <a:tab pos="6311900" algn="l"/>
              </a:tabLst>
            </a:pPr>
            <a:r>
              <a:rPr lang="en-US" altLang="zh-CN" dirty="0"/>
              <a:t>	</a:t>
            </a:r>
            <a:endParaRPr lang="en-US" altLang="zh-CN" sz="1100" dirty="0">
              <a:solidFill>
                <a:srgbClr val="B5A788"/>
              </a:solidFill>
              <a:latin typeface="微软雅黑" panose="020B0503020204020204" pitchFamily="18" charset="-122"/>
              <a:cs typeface="微软雅黑" panose="020B0503020204020204" pitchFamily="18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e590a002-8716-4e6a-8ff4-45a43ec5d9a1"/>
  <p:tag name="COMMONDATA" val="eyJoZGlkIjoiN2IwOWFlOGM2YmZkYmVhODljOWM2OWVmNWFhOGVlYjQifQ=="/>
  <p:tag name="commondata" val="eyJoZGlkIjoiODA5MTA2NDMzZjIxODllMWZmMzY1NzJhMzc2YzVkYTE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5523</Words>
  <Application>WPS 演示</Application>
  <PresentationFormat>全屏显示(4:3)</PresentationFormat>
  <Paragraphs>404</Paragraphs>
  <Slides>33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2" baseType="lpstr">
      <vt:lpstr>Arial</vt:lpstr>
      <vt:lpstr>宋体</vt:lpstr>
      <vt:lpstr>Wingdings</vt:lpstr>
      <vt:lpstr>微软雅黑</vt:lpstr>
      <vt:lpstr>Times New Roman</vt:lpstr>
      <vt:lpstr>Arial Unicode MS</vt:lpstr>
      <vt:lpstr>Calibri</vt:lpstr>
      <vt:lpstr>等线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Example2</vt:lpstr>
      <vt:lpstr>PowerPoint 演示文稿</vt:lpstr>
      <vt:lpstr>PowerPoint 演示文稿</vt:lpstr>
      <vt:lpstr>Example 3</vt:lpstr>
      <vt:lpstr>PowerPoint 演示文稿</vt:lpstr>
      <vt:lpstr>PowerPoint 演示文稿</vt:lpstr>
      <vt:lpstr>PowerPoint 演示文稿</vt:lpstr>
      <vt:lpstr>Exercise-1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Exercise-2</vt:lpstr>
      <vt:lpstr>PowerPoint 演示文稿</vt:lpstr>
      <vt:lpstr>PowerPoint 演示文稿</vt:lpstr>
      <vt:lpstr>PowerPoint 演示文稿</vt:lpstr>
      <vt:lpstr>Exercise-3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zxf</dc:creator>
  <cp:lastModifiedBy>大孜</cp:lastModifiedBy>
  <cp:revision>92</cp:revision>
  <dcterms:created xsi:type="dcterms:W3CDTF">2015-06-04T01:06:00Z</dcterms:created>
  <dcterms:modified xsi:type="dcterms:W3CDTF">2023-11-13T07:57:13Z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CF827F181B754DECAD4A81171AA4C587</vt:lpwstr>
  </property>
  <property fmtid="{D5CDD505-2E9C-101B-9397-08002B2CF9AE}" pid="3" name="KSOProductBuildVer">
    <vt:lpwstr>2052-12.1.0.15712</vt:lpwstr>
  </property>
</Properties>
</file>