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5"/>
  </p:handoutMasterIdLst>
  <p:sldIdLst>
    <p:sldId id="350" r:id="rId3"/>
    <p:sldId id="351" r:id="rId4"/>
    <p:sldId id="304" r:id="rId6"/>
    <p:sldId id="389" r:id="rId7"/>
    <p:sldId id="379" r:id="rId8"/>
    <p:sldId id="380" r:id="rId9"/>
    <p:sldId id="382" r:id="rId10"/>
    <p:sldId id="388" r:id="rId11"/>
    <p:sldId id="392" r:id="rId12"/>
    <p:sldId id="394" r:id="rId13"/>
    <p:sldId id="395" r:id="rId14"/>
    <p:sldId id="391" r:id="rId15"/>
    <p:sldId id="393" r:id="rId16"/>
    <p:sldId id="472" r:id="rId17"/>
    <p:sldId id="383" r:id="rId18"/>
    <p:sldId id="384" r:id="rId19"/>
    <p:sldId id="385" r:id="rId20"/>
    <p:sldId id="386" r:id="rId21"/>
    <p:sldId id="397" r:id="rId22"/>
    <p:sldId id="398" r:id="rId23"/>
    <p:sldId id="436" r:id="rId24"/>
    <p:sldId id="404" r:id="rId25"/>
    <p:sldId id="405" r:id="rId26"/>
    <p:sldId id="437" r:id="rId27"/>
    <p:sldId id="438" r:id="rId28"/>
    <p:sldId id="453" r:id="rId29"/>
    <p:sldId id="454" r:id="rId30"/>
    <p:sldId id="457" r:id="rId31"/>
    <p:sldId id="414" r:id="rId32"/>
    <p:sldId id="415" r:id="rId33"/>
    <p:sldId id="416" r:id="rId34"/>
    <p:sldId id="417" r:id="rId35"/>
    <p:sldId id="418" r:id="rId36"/>
    <p:sldId id="458" r:id="rId37"/>
    <p:sldId id="459" r:id="rId38"/>
    <p:sldId id="461" r:id="rId39"/>
    <p:sldId id="464" r:id="rId40"/>
    <p:sldId id="460" r:id="rId41"/>
    <p:sldId id="430" r:id="rId42"/>
    <p:sldId id="462" r:id="rId43"/>
    <p:sldId id="466" r:id="rId44"/>
  </p:sldIdLst>
  <p:sldSz cx="9144000" cy="6858000" type="screen4x3"/>
  <p:notesSz cx="7099300" cy="10234930"/>
  <p:custDataLst>
    <p:tags r:id="rId49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5F5F5F"/>
    <a:srgbClr val="DDDDDD"/>
    <a:srgbClr val="FEFEFE"/>
    <a:srgbClr val="EAEAEA"/>
    <a:srgbClr val="F8F8F8"/>
    <a:srgbClr val="FF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13"/>
    <p:restoredTop sz="78838"/>
  </p:normalViewPr>
  <p:slideViewPr>
    <p:cSldViewPr showGuides="1">
      <p:cViewPr varScale="1">
        <p:scale>
          <a:sx n="70" d="100"/>
          <a:sy n="70" d="100"/>
        </p:scale>
        <p:origin x="120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9" Type="http://schemas.openxmlformats.org/officeDocument/2006/relationships/tags" Target="tags/tag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l" eaLnBrk="1" latinLnBrk="1" hangingPunct="1">
              <a:spcBef>
                <a:spcPct val="5000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r" eaLnBrk="1" latinLnBrk="1" hangingPunct="1">
              <a:spcBef>
                <a:spcPct val="5000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556DB4-0433-4C79-8378-0E2032C89DE2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4988" cy="511175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l" eaLnBrk="1" latinLnBrk="1" hangingPunct="1">
              <a:spcBef>
                <a:spcPct val="5000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</p:spPr>
        <p:txBody>
          <a:bodyPr vert="horz" wrap="square" lIns="94265" tIns="47133" rIns="94265" bIns="47133" numCol="1" anchor="b" anchorCtr="0" compatLnSpc="1"/>
          <a:lstStyle>
            <a:lvl1pPr algn="r" eaLnBrk="1" latin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41A6CD-3230-4A77-B664-49DC3F40B0DE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10495 8428.59,'0'-22,"11"22,55-11,-11 11,88 0,-78 0,1 0,0 0,55 0,-55 0,98 0,-87 0,44 0,109 0,-120 0,11 0,-22 0,10 0,-10 0,0 0,-11 0,-11 0,10 0,45 11,-66-11,0 0,33 11,-66-11,-22 0,10 0,-21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7959.95 8867.59,'44'0,"22"0,54 0,177 0,76 0,-176 0,188 0,-210 0,-10 0,-12 0,-21 0,-33 0,11 0,-23 0,-21 0,-22 0,-11 0,0 0,-11 0,11 0,-33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10660 8878.59,'0'22,"-11"-11,-22-11,-66 22,33-22,11 0,22 0,-65 0,87 0,-22 0,-33 0,33 0,-22 0,22-11,0 11,0-22,0 11,22-11,-21 11,-23-44,44 44,-22-22,0 11,0-11,11 22,11 11,11-22,-22-11,11 0,11 1,0-1,11 0,-11 22,33-22,33-22,-22 22,44 22,-45 11,12 0,22 0,-44 0,22 0,11 0,-22 0,76 0,-76 0,55 11,22 33,-22-11,-88-11,11-11,-11-11,10 22,-10-22,11 11,-11 11,11-11,-22 22,0-1,0 1,-44 33,11-33,-21-11,-12-11,22 11,-22-11,-55 11,77-22,-11 11,-43-11,65 0,33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15500 4411.59,'0'0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1062.7 3875.59,'724'0,"1164"87,-1493-21,-65-55,-144-11,-10 0,241 22,-55-11,-98 11,-34-22,11 0,-109 0,132 0,-133 0,1 11,-11-11,10 0,-21 22,22-22,-11 0,10 0,111 0,-110 0,153 0,-153 0,-1 0,100 0,-121 0,-12 0,1 0,-11 0,11 0,98 0,-87 0,11 0,10 0,12 0,11 0,10 0,-21 0,22 0,-12 0,-10 0,186 0,-164 0,22 0,153 0,-187 0,-10 0,-11 0,-33 0,-12 0,-21 0,-22 0,-22-11,11 11,-33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1216.7 4522.59,'11'0,"33"-11,109 11,144 0,-89 0,835 0,-450 0,10 0,-317 0,-23 0,-22 0,-21 0,153 0,-219 0,-12 0,-21 0,11-22,-22 22,10 0,-10 0,44 0,-12 0,23 0,0 0,164 0,-164 0,-34 0,23 0,-44 0,10 0,45 0,-99 0,-33 0,0 0,-33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10754.7 8155.59,'21'0,"-10"-11,11 0,-11-11,110-11,-55 22,132-22,43 33,-109 0,-12 0,-21 0,0 0,-22 0,22-22,-77 22,-22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865.702 8803.59,'10'0,"12"0,22 0,44 0,11 0,0 0,208 0,-120 0,175 43,-187-21,12 11,-11 0,175 11,-176-11,188 33,-199-44,1-11,120 11,-142-22,11 0,-12 0,12 11,-11 11,10-22,-10 11,11 11,-12-22,144 0,-144 0,12 0,-11 0,153 0,-142 0,-23 0,1 11,0-11,131 0,-131 0,0 0,-23 0,-10 0,99-11,-110 0,54-11,-76 22,-11-11,77-11,-66 11,-1 11,-21-22,22 22,0-11,0-11,0 11,0-11,21 11,-21 11,0-22,77 22,-77 0,21-11,-43 11,-11 0,0 0,-33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12521.7 8353.59,'33'-22,"-1"-44,1-22,11 22,-11-11,99-142,-66 142,0-11,-33 44,-1-11,-10 55,-11 33,11 11,-11 176,-11-111,0 12,0 88,-11-110,0-34,-11-32,22-11,-11-11,-10-11,-12 0,0-22,-66-109,66 43,-33 11,22-11,-44-55,77 89,-22 10,12-11,21 44,-11-11,11 11,0-11,-22 11,22-22,11 11,11 22,153 0,-109 0,22 0,-22 0,0 11,142 11,-142-22,0 11,0 11,-33-22,-12 11,-10-11,11 0,-22 22,0 11,0 0,0 65,-33-54,23-11,-89 55,33-44,0 11,0-22,0 11,-21-22,10 11,-11 0,11-1,-11 1,11-22,23 11,-12 11,22-22,11 11,0-11,11 11,11-22,11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1490.7 4829.59,'-11'0,"33"-22,33 22,175 0,-87 0,44 0,10 0,264 0,-219 0,10 0,-21 0,-1 0,1 0,164 0,-220 0,-10 0,131 0,-164 0,0 0,-12 0,111 0,-132-11,0 11,-23-21,23 10,66 11,-12 0,-87 0,143 0,10 0,-175 0,55 0,-44 0,-55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9529.45 8658.59,'11'-11,"22"-11,33 22,11-11,10 11,23 0,11 0,11 0,-23 0,12 0,-22 0,76 0,-109 0,55 11,-77-11,-22 11,-11-11,11 0,-11 0,77 0,-44 0,76 0,-54 0,-22 0,11 0,-22 0,0 0,0 0,-22 0,11 0,-11 0,11 0,-12 0,12 0,-11 0,11 0,-11 0,11 0,-22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11241.5 9306.59,'11'-22,"66"11,143 11,-56 0,-21 0,-11 0,-78 0,89 0,-88 0,22 0,-44 0,-11 0,-11 0,-11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2384.45 10184.6,'11'0,"22"0,131 0,-32 0,0 0,131 0,-153 0,22 0,131 22,-109-11,318 22,-308-33,253 22,-109 11,-155-22,-109-11,-22 0,-22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1841.7 4071.59,'22'0,"44"11,22-1,11 12,164 22,33-11,-131-11,66-11,-133-11,45 0,-77 22,-11-22,-55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1951.7 5223.59,'33'0,"0"0,110 0,-45 0,133 0,-110 0,87 0,-87 0,-44 0,11 11,21 0,-54-11,-11 0,11 22,-11-22,11 0,-11 0,11 0,10 0,-21 0,22 0,22 0,-22 0,0 0,98 0,-87 0,-11 0,88 0,-89 0,45 0,-55 0,-22 0,33 0,-55 0,11 0,-22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2225.7 6255.59,'22'0,"-11"0,11 11,11 22,11 0,11 21,-44-21,22 11,-33-22,55 11,-22-22,0-11,11 0,54 0,23-22,-11-11,-44 0,153 0,-175 33,22 0,-44 0,-11 0,44 11,-22 0,0-11,43 22,-21-22,-22 0,33 0,0 0,0 0,11 0,21 0,1 0,22 0,120 0,-120 0,-44 0,11 0,-44 0,11 0,-22 0,-1 0,-21 0,11 0,11-33,33 22,44 11,-55 0,44 0,-23 0,-43 11,-11 0,-11-11,-11 22,22-22,11-11,33-22,44-22,-55 44,10-10,-21 10,-11-11,0 22,-11 0,-11 0,11 0,-11 0,11 0,-11 0,11 0,-11 0,-11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1907.7 8362.59,'11'-11,"0"11,44 0,-44 0,11 0,11 0,33 11,-33-11,11 11,10-11,111 0,-55 22,11-22,21 0,-10 0,120 0,-175 11,-22-11,-22 22,-22-22,22 0,22 0,11 0,10 0,45 0,-22 0,-22 0,11 0,-44 0,10 11,-10 11,-11-11,-11-11,-11 22,11-22,11 0,66 0,-22 0,142 0,-87 0,11 0,142 0,-153 0,65 0,-120 11,-44-11,22 33,-55-11,0-11,11-11,11 0,88 21,285 78,-198-55,34 11,-165-55,87 0,-109 0,11 0,22-33,22-33,-66 55,-12-11,-10 22,11 0,-11 0,77 0,22 0,-22 0,-11-11,-23-11,-21 22,-33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4374.7 9482.59,'0'-11,"-11"11,22 0,0 0,10 0,-10 0,11 11,11-11,0 10,0 12,0-22,-22 11,11-11,-11 0,11 0,-11 0,11 0,-22 22,11-22,11 0,22 0,-11 0,0 0,-11 0,-12 0,12 0,-11 0,11 0,-11-11,22-11,22 22,11-11,11 11,11 0,76 0,-21-21,-77 21,66-11,21-11,-87 11,77-11,-77 11,-1 11,-32 0,55 0,-55-22,0 22,11 0,55 0,-44 0,10 0,34 0,-33 0,0 0,33 0,-66 0,0 11,65 11,-32-22,0 11,66-11,-55 0,208 0,-208 0,120 0,1 0,-99 0,54 0,-76 0,55 0,-11 0,10 0,-21 0,11 0,-77 0,76 0,-54 0,0 0,11 0,11 0,-11 0,10 0,-10 0,11 0,-11 0,11 0,-22 0,10 0,-10 0,0 0,0 0,0 0,22 0,-23 0,-21 0,22 0,-44 0,-11 0,11-11,11 11,0-11,44 11,87-22,56-22,-88 22,-99 11,-1 11,-21 0,-11-22,22 22,-11-11,22-22,0 0,22-33,-44 33,44-22,-44 44,-11-10,0 10,0-11,0 11,-44-44,-55 22,-76-11,-12-22,-11 33,1-22,120 55,-77-11,89-11,-45 22,55-11,-110 11,88 0,12 0,-23 0,-11 0,22 0,-109-33,109 11,-88 12,77 10,-10 0,-12 0,-11 0,22 0,1 0,-1 0,0 0,-99 0,100-22,21 22,-22 0,0 0,0 0,1 0,10 0,11 0,-153 0,65 0,66 0,-87 0,-23-11,11-11,78 22,-89 0,-10 0,43 0,77 0,33 0,1-11,-1 11,-66 0,66 0,0 0,-65 0,65 0,0 11,11-11,-11 11,22 11,-76 21,76-21,-22 11,33-22,-55 22,77-11,-22-11,0 22,-33 22,33-44,0 22,-65 55,10-11,55-23,22-21,-22 11,33-22,-22-11,22 11,0-11,0 11,33 11,-22-22,77 11,-22-11,98 11,-21-11,44 11,-187-22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8830.7 2249.59,'22'0,"-11"0,11 22,10-22,67 0,-33 0,0 0,11 0,22 0,21 0,-10 0,11-11,-11 11,-12-33,67-33,-110 33,-11-22,22-22,-44 11,-12 0,12-98,-11 76,-11-11,33-43,-11 76,-11 0,-11 0,0 0,0-66,0 78,0 10,0 11,-11 0,0 0,-22 0,0-22,-87 11,43 11,-22 11,-186-22,153 44,-11-22,-109 22,142 0,-22 33,-98 33,131-22,-22 11,-54 88,87-56,11 12,-11 11,-43 142,65-120,33 0,0-33,33-1,-11 34,11-99,0 33,11-33,0 0,11 0,11-33,66 33,-34-33,34 0,0 11,44-11,10 0,12 0,-165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10564.7 1744.59,'11'-33,"22"-33,33-33,21-44,78-120,-88 142,241-153,-307 241,11 11,-11 11,11 33,-11 44,-11 22,0 142,0-98,-11 142,0-153,-22 44,11-121,22-12,-11-10,11-11,-22-11,-11 0,-33-22,-10-43,-23-34,11-33,-11 0,-11 12,23-12,10 55,11-11,33 44,11 22,22 11,-11-10,22 21,22-11,11-11,55 22,21 0,12 0,11 0,43 0,220 0,-208 11,-11 22,21-1,-153-32,-44 22,11-22,-22 11,0 11,0-11,-11 77,-44-11,22-44,-33 0,-10 22,-144 43,-43 1,131-55,55-11,11-11,44-11,11-11,11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7864.7 9767.59,'11'0,"11"0,22 0,10 0,-10 0,11 0,11 0,-22 0,11 0,-11 0,22 0,0 0,120 0,-76 0,11 0,-12 11,23 0,-11-11,120 22,-109-22,120 0,-142 11,154-11,-144 0,12 0,0 0,-1 0,1 0,0 0,-22 0,10 0,-43 0,22 0,-11 0,11 0,-1 0,100 0,-88 0,-12 0,-10 0,-11 0,-11 0,0 0,-33 0,-33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1147.7 10327.6,'11'-22,"11"11,22 11,76 0,-43 0,11 0,120 0,-87 0,22 0,-11 0,21 11,-21 0,131 11,-21 11,21-1,1-21,-1 22,-142-11,10-22,1 11,132-11,-122 22,122-22,-133 0,-10 0,88 11,-122-11,12 0,66 0,-88 0,11 0,43 0,-54 0,-11 0,66 0,-77 0,54 0,-43 0,0 0,66 0,-45 0,-10 0,121 0,-99 0,-1 0,-10 0,-11 0,-11 0,0 0,-11 0,11 0,-23 0,78 0,-88 0,11 0,-11 0,0 0,-11 0,11 0,11 0,-11 0,-1 0,56-11,-55 11,11 0,11 0,-22-11,0 11,-22-22,-11 22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5065.7 9679.59,'-11'0,"22"0,22 0,11 0,22 0,32 0,1 0,132 0,-111 11,-10-11,11 22,22-22,-12 0,-10 0,11 0,-1 0,1 0,33 0,142 0,-142 0,-12 0,-10 0,11 0,-23 0,1 0,-22 0,11 0,-23 0,1 0,-22 0,11 0,-11 0,-11 0,-12 0,12 0,0 0,77 0,-55 0,-12 0,23 0,-11 0,22 0,-11 0,-12 0,-10 0,-22 0,11 0,-22 0,11 0,11 0,-23 0,23 0,0 0,-11 0,-11 0,11 0,-44 0,-11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1556.7 4740.59,'11'-22,"-11"11,22-11,22 11,11 11,-11-22,120-11,-76 33,11-11,-22-11,21 22,23-11,22 11,10 0,12 0,-33 0,32 0,1 0,208 0,-175 0,21 0,-21 0,10 0,242 0,-241 0,241 0,-252 0,10 0,176 0,-208 0,10 0,144 0,-166 0,-21 0,11 0,-12 0,12 0,-22 0,-1 0,1 0,-22 0,11 0,87 0,-142 0,0 0,-33 0,0 0,-33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8910.7 4378.59,'0'-22,"22"22,-11-11,11 11,10 11,1 0,-22 11,11-11,-22 11,11-22,22 33,-11-33,-22 11,11-22,22-22,22-44,-22 22,-22 11,44-44,-44 55,22-10,-11 10,-11-22,10 44,-21-11,0 11,11-11,-11 11,22-11,-22 11,0 11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6122.7 6353.59,'11'-21,"0"21,11 10,-11 12,-11-11,22 11,-22-11,0-22,33 11,-22-11,21-22,1 1,55-34,-44 33,-11 0,22 0,-44 11,11 22,-11 0,11 0,-11 0,11 0,-11 0,11 0,-11 0,11 0,-22 11,11-11,10 0,12 0,33 0,-33 0,11 0,-11 0,22 0,-22 0,0 0,11 0,-11 22,21-22,-43 11,11-11,-11 0,44 0,-22 0,33-11,-22 0,-11-11,-11 11,-11-11,11 22,11 0,-22 0,22 0,-33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8800.7 6332.59,'-11'0,"22"0,0 0,11 0,11 0,-22 10,11 12,-11-22,11 0,43 11,-32-11,66 22,-55-22,-11 0,0 0,22 0,-44 0,11 0,-11 0,11 0,-11 0,11 0,-11 0,10 0,-10 0,11 0,-22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5694.7 8208.59,'11'0,"22"0,0 0,11 0,21 0,-10 0,11 0,-22 0,11 0,22 0,-22 0,-22 0,-23 0,12 0,-11 0,-11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8965.7 8099.59,'10'0,"12"0,11 0,11 0,44 0,11 0,109 0,-54 0,120 0,-120 0,-44 0,120 11,-32 0,-99 10,-12-21,-21 0,0 0,66 0,-33 0,10 0,-54 11,-22-11,-22 22,11-22,-22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9058.95 1700.59,'-22'22,"11"11,-55 65,11-10,11 11,22-33,22-55,0 22,11-11,-11 11,22-22,22 11,55 11,-44-33,77 11,-67-11,12 21,-22-21,-44 0,22 0,-11 0,11 0,-22 0,11 0,22-11,22-10,-44 21,11-11,-22 11,-11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9552.95 1832.59,'-22'0,"-44"21,33 12,0 33,-44 99,44-77,-21 87,21-87,22-22,-11 0,11 11,-11-44,22 21,0-21,0 11,0-22,0-11,0-11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9738.95 2172.59,'0'11,"0"22,0 22,0-12,0 23,0 0,0 0,0-11,0-22,0 0,0-22,0-22,22-22,22-66,-11 55,0-22,22 11,-22 11,0 12,0 10,-22 11,11-11,-11 22,11 0,-11 0,22 0,-1 0,-10 0,11 0,-22 11,22-11,-11 22,11 22,-33-12,0 67,0-33,0 0,0 22,0 43,0-32,0-88,0 11,0-11,0-22,0 11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10650 2303.59,'11'-11,"11"11,-11 0,11 0,-11 0,11 0,-11 0,11 0,11 0,0 0,-22 0,77 0,-55 0,11 0,43 0,-43 0,-11 0,-11 0,11 0,-22 0,-11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11078 1941.59,'0'-11,"-32"11,-1 44,0 88,22 33,-11-89,-11 23,-11 33,44-77,-22 22,22-45,0-10,-11-11,11 11,0-11,11-11,-11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11539 1864.59,'0'22,"0"66,0-11,0 44,0-22,0-1,0-32,-11 66,-10-88,10 11,-11 21,11-54,11-11,0 22,0-33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8010.7 5882.59,'0'-22,"-22"22,33 0,109 0,-54 0,132 0,-121 0,21 0,100 0,0 0,-78 0,45 0,-33 0,-67 0,1 0,-22 0,55 0,-44 0,11 0,-22 0,21 0,-10 0,55 0,-55 0,11 0,0 0,-22 0,10 0,56 0,11 0,-55 0,-22 0,87 0,-98 0,22 0,-11 0,55 0,-44 0,44 0,-66 0,-1 0,1 0,0 0,-33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8043.7 7835.59,'0'-11,"-22"11,33-22,11 22,43-11,34 11,-33 0,11 0,11 0,10 0,1 0,132 0,164 0,-132 0,1 0,10 11,-120 0,384 44,-275-44,-11 11,-142-22,-11 0,0 11,120-11,56 22,-188-11,-21 11,0-22,0 11,-22-11,22 22,-66-22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9272.7 4301.59,'-11'11,"-11"33,11-22,-11-11,22 22,-11-11,11 11,0 0,0 10,0 23,0-33,0 0,0 0,0 0,11 22,-11-44,11 11,55 22,-44-22,-22-11,-11-11,-110 22,44-22,-11 0,55 0,23 0,-12 0,11 0,11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9338.7 4444.59,'11'0,"22"0,0 0,32 0,-43 0,11 0,-22 0,11 0,-22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9908.7 4136.59,'0'-22,"22"22,-22-32,11 32,11 0,-11 0,11 0,-11 0,11 10,-11 23,-11-11,0-11,0 11,0-11,0 11,0-11,0 11,0-11,-11-11,0 22,-11-22,11 0,-11 0,11 11,22-11,22 0,44 22,-44-11,33 11,-11-11,-44 11,22 11,-11-22,-11-11,-11 33,0 0,0 0,-11-1,-33-32,-11 0,-11 0,55 0,-44 0,22 0,0 0,0 0,22 0,11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12521.7 6408.59,'11'-22,"0"22,11 0,-12 0,23 0,55 11,-55 11,0-22,0 0,0 0,0 11,0-11,-22 0,-11 22,22-22,-22 11,0 22,0 0,0 0,-11 22,-22 22,11-22,22-12,-11-10,11 0,0 0,-22 22,22-44,0 11,0-11,0-11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13124.7 6057.59,'11'0,"11"0,-11 0,11 0,-11 0,11 11,-22 11,0 11,0 0,0 0,0 0,0-22,0 11,0-11,-11-11,-22 22,0-22,0 0,11 0,33 0,11 0,22 0,-11 11,22 11,-22-11,-22 10,11-10,-22 11,0 11,0 11,0-11,0 22,-11-44,-22 44,11-44,-11 11,22-11,-22-11,0 22,11-22,11 0,-22 0,11 0,11 0,-11-11,12 11,-12 0,22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10754.7 8538.59,'0'22,"32"-66,12-55,22-55,33-43,22 21,10-22,1 34,11 10,-11 22,32-10,-109 87,-44 44,11 55,11 55,0 43,-22 45,22 21,-33 23,-11-1,-33 198,-11-241,11-55,11-55,11-23,11-43,11 11,-22-22,-77-76,23-12,-122-176,110 133,-109-100,65 99,99 121,0-43,22 43,22 11,22 0,11 0,176 0,-56 11,1 0,32 21,1-10,10 11,12-22,-44 11,-23-22,-54 0,-33 0,-77 0,-44 0,-241 77,65-22,-10 22,-45-11,12-11,11-12,32 12,12-44,54 22,55-11,55-11,11 11,66-66,33-44,22-54,55-45,21-21,23-12,11 12,-56 21,78-76,-143 186,-33 11,-11 33,-11 11,-11 11,21-11,23 187,44 208,-11 44,-22-22,-44 0,-11-66,0-153,0-121,0-22,-22-44,-44-44,-263-274,175 186,-109-175,131 153,-11 22,-142-175,44 77,142 175,-22-33,110 99,-11-22,11 22,33-11,66 11,44 0,274 0,-154 0,44 0,12 0,10 11,220 55,-384-55,-45 11,-43-11,-44-11,-22 22,0-11,-33 22,-44 55,-43-12,-78 45,-32-22,-45 33,-21-1,-33 12,-1-11,34-34,11-10,43-22,77-33,45-22,54 11,55-11,-11-11,22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13005.5 10513.6,'11'-11,"11"-22,-11-22,22-21,22-23,11-22,0-22,10-10,-10 10,0 11,-11 34,-11 10,-22 44,-11 11,11-22,-11 55,11 44,-11 121,-11 252,0-286,0 45,0-121,0-44,-11-11,-22-22,-11-11,-11-22,11-11,11 0,-88-76,78 54,-12 22,22 22,0 22,33 11,0-11,0 11,-11-11,11 11,0-22,11 1,0 10,22 22,22 0,10 0,-21 0,22 0,-11 0,-11 0,11 11,-11-11,-11 21,33-21,-33 11,-12-11,12 0,-22 0,11 0,-11 22,-11-11,0 77,0-44,0 22,-11 55,0-55,-44-1,12 1,-12 11,-22 11,-110 77,88-67,-10-21,-122 77,132-110,1 11,10-23,22 1,22-22,22 11,22-22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8547.7 4499.59,'-11'0,"22"-11,0 11,77 65,-55-43,44 44,-11-22,-33-22,0 11,0-22,-11 11,-11-22,10 11,-10-11,55 0,0-22,0-33,0 11,0-22,0 1,21-23,23-22,-22 22,-77 77,-11 11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8427.7 3719.59,'22'-11,"-11"-11,22 22,-1 0,1 11,0 22,0 0,0 0,-11-11,11 44,-22-55,11 11,-11-22,22-33,33 0,87-132,-76 67,-11-1,121-77,-121 110,-1 33,1 1,-66 32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9513.7 5541.59,'33'22,"33"-11,0 77,-44-77,-11 11,11-11,-22 11,33-33,0-44,175-175,-54 21,-77 121,10-11,12 34,-22-1,77-11,-121 44,-22 33,-11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10029.7 8000.59,'11'44,"77"142,-44-76,11-22,11 11,-1-1,-54-87,11 11,11-22,11-33,121-109,-44 21,142-142,-120 131,186-143,-143 144,89-89,-154 121,-45 56,-21-12,-22 22,-33 33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6578.2 4378.59,'-22'0,"-21"0,-23 0,-22 0,-22 11,-22-11,-219 0,143 0,10 0,1 0,-1 0,11 0,12 0,21 0,-11 0,23 0,-144 0,177 0,-122 0,110 0,23 0,-111 0,121 0,-10 0,-34 0,88 0,11 0,0 0,11 0,11 0,-11-11,11 11,-11 0,22-11,-11 11,11-22,-22-11,55-66,66 0,33 23,-66 43,98-33,34 11,98 11,77 11,-142 33,252 0,-242 0,-10 0,-1 0,-10 0,-23 11,-21 0,10 11,-43-11,22 22,-12-33,122 55,-154-44,76 44,-131-44,0 22,-33-33,-22 0,-11 22,22-22,-11 0,11 10,21 23,-21-11,-22-11,11-11,11 22,-11-11,11 11,-11 11,11-22,-11 22,11-11,-11-11,-11 11,22-11,-11 11,-22-11,-33-11,-22 33,33-11,-21 11,54-33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9948.2 5421.59,'11'0,"55"11,22-1,43 12,12-22,43 11,23-11,-11 0,21 0,187 0,-208 0,-34 0,67-11,-165 11,-33-11,0-10,-11 10,-22-11,0 11,0-11,0-11,0-33,0 22,0-11,-33-55,-11 23,-22 21,-318-99,241 121,-11 22,-153 11,-44 22,208 0,11 22,-54 55,87 44,88-88,11 21,0 56,0-55,0 33,11-55,0 21,11-43,11-11,0-11,0 22,0-11,-22-11,22 0,-11 22,10-22,-32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3187.2 6353.59,'-99'-32,"44"32,99 0,44 0,44 0,43 0,253 0,-175 0,-12 0,220 0,-263 0,120-11,-142 11,-143-22,-11 22,-22-11,0-44,0 11,0-22,0 0,-11 0,-11 11,-11-10,-11-1,-44 22,-22-22,-208-33,142 66,-219-33,198 44,-198-21,208 21,44 22,12 0,43 0,22 11,22 11,11 10,11 12,11-11,11 22,0 11,0 0,11 0,0-22,11 10,11-10,66 44,-55-55,21 0,23 0,-11-22,44 11,11-22,-1 11,166 11,-166-22,133 0,-187-11,10 11,-54-22,0 11,-22 11,-11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7185.7 3370.59,'22'-22,"33"22,11-11,32 11,67 0,-88 0,76 0,-87 0,-22 0,44 0,-44 0,-11 0,0 0,22 0,-22 0,-1 0,12 0,44 0,-22 0,-22 0,44 0,54 0,-76 0,88 0,-88 0,-22 0,11 0,-12 0,-10 0,22 0,-22 0,0 0,0 0,0 0,0 0,0 0,0 0,44 0,-23 0,-10 0,110 0,-77 0,22 0,98 0,-98 0,-33 0,0 0,-11 0,-44 0,10 0,-10 0,-11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3607.7 5488.59,'33'0,"11"-11,21 11,56 0,-11 0,11 0,-23 0,1 0,44 0,-77 0,87 0,-87 0,0 0,0 0,-22 0,-11-22,0 22,0 0,0 0,0-11,-12 11,12 0,-22 0,11 0,-11 0,-11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1-06T21:37:51"/>
    </inkml:context>
    <inkml:brush xml:id="br0">
      <inkml:brushProperty name="width" value="0.05292" units="cm"/>
      <inkml:brushProperty name="height" value="0.05292" units="cm"/>
      <inkml:brushProperty name="color" value="#1b7ccb"/>
      <inkml:brushProperty name="ignorePressure" value="0"/>
    </inkml:brush>
  </inkml:definitions>
  <inkml:trace contextRef="#ctx0" brushRef="#br0">9171.7 5554.59,'11'-11,"11"11,22 0,11-22,110 11,10-22,-76 11,132 11,21-22,-54 0,-100 11,78-11,44 0,-155 33,12-11,-44 11,-11 0,-11 0,-11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lstStyle>
            <a:lvl1pPr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lstStyle>
            <a:lvl1pPr algn="r"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860925"/>
            <a:ext cx="5678488" cy="4606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b" anchorCtr="0" compatLnSpc="1"/>
          <a:lstStyle>
            <a:lvl1pPr eaLnBrk="1" latinLnBrk="0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5" tIns="47133" rIns="94265" bIns="47133" numCol="1" anchor="b" anchorCtr="0" compatLnSpc="1"/>
          <a:lstStyle>
            <a:lvl1pPr algn="r" eaLnBrk="1" latinLnBrk="0" hangingPunct="1">
              <a:spcBef>
                <a:spcPct val="0"/>
              </a:spcBef>
              <a:defRPr kumimoji="0"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A2FD86-08B0-4AA2-B927-122F4D9C838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4265" tIns="47133" rIns="94265" bIns="47133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4265" tIns="47133" rIns="94265" bIns="47133" anchor="t" anchorCtr="0"/>
          <a:p>
            <a:pPr lvl="0" eaLnBrk="1" hangingPunct="1"/>
            <a:endParaRPr lang="en-I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97225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A2CA2C-9321-4A8A-916D-719BC69F9C87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3025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0825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0BF568-CD3B-4282-B0C1-D776548331FC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43250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0B1EF9-4D5D-4940-B636-EE82AB16DA92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99E8EE-9C51-43BE-B83F-1EAFD328A508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582D45-ABED-4C99-8ED2-D396991FB5B3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ACFF44-3A23-4221-BC1E-C47D698AE305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FFFEA4-D168-4FDE-90FF-57B9F2DA51ED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786063" y="1054100"/>
            <a:ext cx="5903913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7AA07D-CBBC-450D-A64A-4F5470D7BD39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8549B5-5910-4C57-BEFF-FD79977C9F0C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8F5FF2-6564-4780-A30D-F15B41912ECA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E6359C-AD78-441A-B253-54E3DAA65703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0" y="6678613"/>
            <a:ext cx="9144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spcBef>
                <a:spcPct val="50000"/>
              </a:spcBef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  <a:noFill/>
        </p:spPr>
        <p:txBody>
          <a:bodyPr vert="horz" wrap="square" lIns="45720" tIns="45720" rIns="45720" bIns="45720" numCol="1" anchor="ctr" anchorCtr="0" compatLnSpc="1"/>
          <a:lstStyle>
            <a:lvl1pPr algn="ctr" eaLnBrk="1" latinLnBrk="0" hangingPunct="1">
              <a:spcBef>
                <a:spcPct val="50000"/>
              </a:spcBef>
              <a:defRPr kumimoji="0" sz="1100" b="0">
                <a:solidFill>
                  <a:srgbClr val="636363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E6359C-AD78-441A-B253-54E3DAA65703}" type="slidenum"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anose="020B0603020102020204" pitchFamily="34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ß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Þ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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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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.png"/><Relationship Id="rId7" Type="http://schemas.openxmlformats.org/officeDocument/2006/relationships/customXml" Target="../ink/ink4.xml"/><Relationship Id="rId6" Type="http://schemas.openxmlformats.org/officeDocument/2006/relationships/image" Target="../media/image9.png"/><Relationship Id="rId5" Type="http://schemas.openxmlformats.org/officeDocument/2006/relationships/customXml" Target="../ink/ink3.xml"/><Relationship Id="rId4" Type="http://schemas.openxmlformats.org/officeDocument/2006/relationships/image" Target="../media/image8.png"/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customXml" Target="../ink/ink9.xml"/><Relationship Id="rId8" Type="http://schemas.openxmlformats.org/officeDocument/2006/relationships/image" Target="../media/image15.png"/><Relationship Id="rId7" Type="http://schemas.openxmlformats.org/officeDocument/2006/relationships/customXml" Target="../ink/ink8.xml"/><Relationship Id="rId6" Type="http://schemas.openxmlformats.org/officeDocument/2006/relationships/image" Target="../media/image14.png"/><Relationship Id="rId5" Type="http://schemas.openxmlformats.org/officeDocument/2006/relationships/customXml" Target="../ink/ink7.xml"/><Relationship Id="rId4" Type="http://schemas.openxmlformats.org/officeDocument/2006/relationships/image" Target="../media/image13.png"/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6.png"/><Relationship Id="rId1" Type="http://schemas.openxmlformats.org/officeDocument/2006/relationships/customXml" Target="../ink/ink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0.png"/><Relationship Id="rId6" Type="http://schemas.openxmlformats.org/officeDocument/2006/relationships/customXml" Target="../ink/ink13.xml"/><Relationship Id="rId5" Type="http://schemas.openxmlformats.org/officeDocument/2006/relationships/image" Target="../media/image19.png"/><Relationship Id="rId4" Type="http://schemas.openxmlformats.org/officeDocument/2006/relationships/customXml" Target="../ink/ink12.xml"/><Relationship Id="rId3" Type="http://schemas.openxmlformats.org/officeDocument/2006/relationships/image" Target="../media/image18.png"/><Relationship Id="rId2" Type="http://schemas.openxmlformats.org/officeDocument/2006/relationships/customXml" Target="../ink/ink1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customXml" Target="../ink/ink17.xml"/><Relationship Id="rId7" Type="http://schemas.openxmlformats.org/officeDocument/2006/relationships/image" Target="../media/image23.png"/><Relationship Id="rId6" Type="http://schemas.openxmlformats.org/officeDocument/2006/relationships/customXml" Target="../ink/ink16.xml"/><Relationship Id="rId5" Type="http://schemas.openxmlformats.org/officeDocument/2006/relationships/image" Target="../media/image22.png"/><Relationship Id="rId4" Type="http://schemas.openxmlformats.org/officeDocument/2006/relationships/customXml" Target="../ink/ink15.xml"/><Relationship Id="rId3" Type="http://schemas.openxmlformats.org/officeDocument/2006/relationships/image" Target="../media/image21.png"/><Relationship Id="rId2" Type="http://schemas.openxmlformats.org/officeDocument/2006/relationships/customXml" Target="../ink/ink14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customXml" Target="../ink/ink20.xml"/><Relationship Id="rId4" Type="http://schemas.openxmlformats.org/officeDocument/2006/relationships/image" Target="../media/image26.png"/><Relationship Id="rId3" Type="http://schemas.openxmlformats.org/officeDocument/2006/relationships/customXml" Target="../ink/ink19.xml"/><Relationship Id="rId2" Type="http://schemas.openxmlformats.org/officeDocument/2006/relationships/image" Target="../media/image25.png"/><Relationship Id="rId1" Type="http://schemas.openxmlformats.org/officeDocument/2006/relationships/customXml" Target="../ink/ink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customXml" Target="../ink/ink22.xml"/><Relationship Id="rId3" Type="http://schemas.openxmlformats.org/officeDocument/2006/relationships/image" Target="../media/image30.png"/><Relationship Id="rId2" Type="http://schemas.openxmlformats.org/officeDocument/2006/relationships/customXml" Target="../ink/ink21.xml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png"/><Relationship Id="rId3" Type="http://schemas.openxmlformats.org/officeDocument/2006/relationships/customXml" Target="../ink/ink23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customXml" Target="../ink/ink28.xml"/><Relationship Id="rId8" Type="http://schemas.openxmlformats.org/officeDocument/2006/relationships/image" Target="../media/image39.png"/><Relationship Id="rId7" Type="http://schemas.openxmlformats.org/officeDocument/2006/relationships/customXml" Target="../ink/ink27.xml"/><Relationship Id="rId6" Type="http://schemas.openxmlformats.org/officeDocument/2006/relationships/image" Target="../media/image38.png"/><Relationship Id="rId5" Type="http://schemas.openxmlformats.org/officeDocument/2006/relationships/customXml" Target="../ink/ink26.xml"/><Relationship Id="rId4" Type="http://schemas.openxmlformats.org/officeDocument/2006/relationships/image" Target="../media/image37.png"/><Relationship Id="rId3" Type="http://schemas.openxmlformats.org/officeDocument/2006/relationships/customXml" Target="../ink/ink25.xml"/><Relationship Id="rId2" Type="http://schemas.openxmlformats.org/officeDocument/2006/relationships/image" Target="../media/image36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1.png"/><Relationship Id="rId11" Type="http://schemas.openxmlformats.org/officeDocument/2006/relationships/customXml" Target="../ink/ink29.xml"/><Relationship Id="rId10" Type="http://schemas.openxmlformats.org/officeDocument/2006/relationships/image" Target="../media/image40.png"/><Relationship Id="rId1" Type="http://schemas.openxmlformats.org/officeDocument/2006/relationships/customXml" Target="../ink/ink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customXml" Target="../ink/ink34.xml"/><Relationship Id="rId8" Type="http://schemas.openxmlformats.org/officeDocument/2006/relationships/image" Target="../media/image47.png"/><Relationship Id="rId7" Type="http://schemas.openxmlformats.org/officeDocument/2006/relationships/customXml" Target="../ink/ink33.xml"/><Relationship Id="rId6" Type="http://schemas.openxmlformats.org/officeDocument/2006/relationships/image" Target="../media/image46.png"/><Relationship Id="rId5" Type="http://schemas.openxmlformats.org/officeDocument/2006/relationships/customXml" Target="../ink/ink32.xml"/><Relationship Id="rId4" Type="http://schemas.openxmlformats.org/officeDocument/2006/relationships/image" Target="../media/image45.png"/><Relationship Id="rId3" Type="http://schemas.openxmlformats.org/officeDocument/2006/relationships/customXml" Target="../ink/ink31.xml"/><Relationship Id="rId2" Type="http://schemas.openxmlformats.org/officeDocument/2006/relationships/image" Target="../media/image44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9.png"/><Relationship Id="rId11" Type="http://schemas.openxmlformats.org/officeDocument/2006/relationships/customXml" Target="../ink/ink35.xml"/><Relationship Id="rId10" Type="http://schemas.openxmlformats.org/officeDocument/2006/relationships/image" Target="../media/image48.png"/><Relationship Id="rId1" Type="http://schemas.openxmlformats.org/officeDocument/2006/relationships/customXml" Target="../ink/ink3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customXml" Target="../ink/ink39.xml"/><Relationship Id="rId7" Type="http://schemas.openxmlformats.org/officeDocument/2006/relationships/image" Target="../media/image52.png"/><Relationship Id="rId6" Type="http://schemas.openxmlformats.org/officeDocument/2006/relationships/customXml" Target="../ink/ink38.xml"/><Relationship Id="rId5" Type="http://schemas.openxmlformats.org/officeDocument/2006/relationships/image" Target="../media/image51.png"/><Relationship Id="rId4" Type="http://schemas.openxmlformats.org/officeDocument/2006/relationships/customXml" Target="../ink/ink37.xml"/><Relationship Id="rId3" Type="http://schemas.openxmlformats.org/officeDocument/2006/relationships/image" Target="../media/image50.png"/><Relationship Id="rId2" Type="http://schemas.openxmlformats.org/officeDocument/2006/relationships/customXml" Target="../ink/ink36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56.png"/><Relationship Id="rId14" Type="http://schemas.openxmlformats.org/officeDocument/2006/relationships/customXml" Target="../ink/ink42.xml"/><Relationship Id="rId13" Type="http://schemas.openxmlformats.org/officeDocument/2006/relationships/image" Target="../media/image55.png"/><Relationship Id="rId12" Type="http://schemas.openxmlformats.org/officeDocument/2006/relationships/customXml" Target="../ink/ink41.xml"/><Relationship Id="rId11" Type="http://schemas.openxmlformats.org/officeDocument/2006/relationships/image" Target="../media/image54.png"/><Relationship Id="rId10" Type="http://schemas.openxmlformats.org/officeDocument/2006/relationships/customXml" Target="../ink/ink40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7.png"/><Relationship Id="rId2" Type="http://schemas.openxmlformats.org/officeDocument/2006/relationships/customXml" Target="../ink/ink43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jpe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8.png"/><Relationship Id="rId2" Type="http://schemas.openxmlformats.org/officeDocument/2006/relationships/customXml" Target="../ink/ink44.xml"/><Relationship Id="rId1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png"/><Relationship Id="rId8" Type="http://schemas.openxmlformats.org/officeDocument/2006/relationships/customXml" Target="../ink/ink48.xml"/><Relationship Id="rId7" Type="http://schemas.openxmlformats.org/officeDocument/2006/relationships/image" Target="../media/image71.png"/><Relationship Id="rId6" Type="http://schemas.openxmlformats.org/officeDocument/2006/relationships/customXml" Target="../ink/ink47.xml"/><Relationship Id="rId5" Type="http://schemas.openxmlformats.org/officeDocument/2006/relationships/image" Target="../media/image70.png"/><Relationship Id="rId4" Type="http://schemas.openxmlformats.org/officeDocument/2006/relationships/customXml" Target="../ink/ink46.xml"/><Relationship Id="rId3" Type="http://schemas.openxmlformats.org/officeDocument/2006/relationships/image" Target="../media/image69.png"/><Relationship Id="rId2" Type="http://schemas.openxmlformats.org/officeDocument/2006/relationships/customXml" Target="../ink/ink45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7.png"/><Relationship Id="rId6" Type="http://schemas.openxmlformats.org/officeDocument/2006/relationships/customXml" Target="../ink/ink51.xml"/><Relationship Id="rId5" Type="http://schemas.openxmlformats.org/officeDocument/2006/relationships/image" Target="../media/image76.png"/><Relationship Id="rId4" Type="http://schemas.openxmlformats.org/officeDocument/2006/relationships/customXml" Target="../ink/ink50.xml"/><Relationship Id="rId3" Type="http://schemas.openxmlformats.org/officeDocument/2006/relationships/image" Target="../media/image75.png"/><Relationship Id="rId2" Type="http://schemas.openxmlformats.org/officeDocument/2006/relationships/customXml" Target="../ink/ink49.xml"/><Relationship Id="rId1" Type="http://schemas.openxmlformats.org/officeDocument/2006/relationships/image" Target="../media/image7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customXml" Target="../ink/ink54.xml"/><Relationship Id="rId4" Type="http://schemas.openxmlformats.org/officeDocument/2006/relationships/image" Target="../media/image79.png"/><Relationship Id="rId3" Type="http://schemas.openxmlformats.org/officeDocument/2006/relationships/customXml" Target="../ink/ink53.xml"/><Relationship Id="rId2" Type="http://schemas.openxmlformats.org/officeDocument/2006/relationships/image" Target="../media/image78.png"/><Relationship Id="rId1" Type="http://schemas.openxmlformats.org/officeDocument/2006/relationships/customXml" Target="../ink/ink5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305800" cy="1470025"/>
          </a:xfrm>
        </p:spPr>
        <p:txBody>
          <a:bodyPr vert="horz" wrap="square" lIns="91440" tIns="45720" rIns="91440" bIns="45720" anchor="b" anchorCtr="0"/>
          <a:p>
            <a:pPr eaLnBrk="1" hangingPunct="1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sz="4800" dirty="0">
                <a:ea typeface="微软雅黑" panose="020B0503020204020204" pitchFamily="34" charset="-122"/>
              </a:rPr>
              <a:t>Session 7</a:t>
            </a:r>
            <a:br>
              <a:rPr lang="en-US" altLang="zh-CN" sz="4800" dirty="0">
                <a:ea typeface="微软雅黑" panose="020B0503020204020204" pitchFamily="34" charset="-122"/>
              </a:rPr>
            </a:br>
            <a:r>
              <a:rPr lang="en-US" altLang="zh-CN" sz="4800" dirty="0">
                <a:ea typeface="微软雅黑" panose="020B0503020204020204" pitchFamily="34" charset="-122"/>
              </a:rPr>
              <a:t> Black-Box Testing (1)</a:t>
            </a:r>
            <a:br>
              <a:rPr lang="en-US" altLang="zh-CN" sz="4800" dirty="0">
                <a:ea typeface="微软雅黑" panose="020B0503020204020204" pitchFamily="34" charset="-122"/>
              </a:rPr>
            </a:b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-- Boundary Value Analysis</a:t>
            </a:r>
            <a:endParaRPr lang="zh-CN" altLang="en-US" sz="3200" dirty="0"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905000" y="4419600"/>
            <a:ext cx="6400800" cy="17526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None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 panose="05020102010507070707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chengbaolei@suda.edu.cn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24"/>
          <p:cNvSpPr txBox="1"/>
          <p:nvPr/>
        </p:nvSpPr>
        <p:spPr>
          <a:xfrm>
            <a:off x="153988" y="709613"/>
            <a:ext cx="68580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Objectives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Rectangle 25"/>
          <p:cNvSpPr/>
          <p:nvPr/>
        </p:nvSpPr>
        <p:spPr>
          <a:xfrm>
            <a:off x="928688" y="1143000"/>
            <a:ext cx="7315200" cy="45704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latinLnBrk="1" hangingPunct="1">
              <a:lnSpc>
                <a:spcPct val="130000"/>
              </a:lnSpc>
              <a:buClrTx/>
              <a:buSzTx/>
              <a:buFontTx/>
              <a:buBlip>
                <a:blip r:embed="rId1"/>
              </a:buBlip>
            </a:pPr>
            <a:r>
              <a:rPr lang="en-US" altLang="zh-CN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 this Session, you will learn</a:t>
            </a:r>
            <a:endParaRPr lang="en-US" altLang="zh-CN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Introduction of Black-Box Testing</a:t>
            </a:r>
            <a:endParaRPr lang="en-US" altLang="zh-CN" sz="32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Boundary Value Analysis</a:t>
            </a:r>
            <a:endParaRPr lang="en-US" altLang="zh-CN" sz="32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Equivalence Partitioning</a:t>
            </a:r>
            <a:endParaRPr lang="en-US" altLang="zh-CN" sz="32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Decision Table</a:t>
            </a:r>
            <a:endParaRPr lang="en-US" altLang="zh-CN" sz="32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Cause-Effect Graph</a:t>
            </a:r>
            <a:endParaRPr lang="en-US" altLang="zh-CN" sz="32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lnSpc>
                <a:spcPct val="130000"/>
              </a:lnSpc>
              <a:buClrTx/>
              <a:buSzTx/>
              <a:buFontTx/>
              <a:buBlip>
                <a:blip r:embed="rId2"/>
              </a:buBlip>
            </a:pPr>
            <a:endParaRPr lang="en-US" altLang="zh-CN" sz="2400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4.1 Introduction of Black-Box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sz="3000" dirty="0">
                <a:ea typeface="黑体" panose="02010609060101010101" pitchFamily="49" charset="-122"/>
              </a:rPr>
              <a:t>With black-box testing, the tester views the program as a black-box and is completely unconcerned with the internal structure of the program or system. </a:t>
            </a:r>
            <a:endParaRPr lang="en-US" altLang="zh-CN" sz="3000" dirty="0">
              <a:ea typeface="黑体" panose="02010609060101010101" pitchFamily="49" charset="-122"/>
            </a:endParaRPr>
          </a:p>
          <a:p>
            <a:r>
              <a:rPr lang="en-US" altLang="zh-CN" sz="3000" dirty="0">
                <a:ea typeface="黑体" panose="02010609060101010101" pitchFamily="49" charset="-122"/>
              </a:rPr>
              <a:t>The tester focuses on testing the program’s functionality against the specification.</a:t>
            </a:r>
            <a:endParaRPr lang="en-US" altLang="zh-CN" sz="3000" dirty="0">
              <a:ea typeface="黑体" panose="02010609060101010101" pitchFamily="49" charset="-122"/>
            </a:endParaRPr>
          </a:p>
          <a:p>
            <a:r>
              <a:rPr lang="en-US" altLang="zh-CN" sz="3000" dirty="0">
                <a:ea typeface="黑体" panose="02010609060101010101" pitchFamily="49" charset="-122"/>
              </a:rPr>
              <a:t>Behavioral, functional, closed-box, input-output …</a:t>
            </a:r>
            <a:endParaRPr lang="en-US" altLang="zh-CN" sz="3000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4.1 Introduction of Black-Box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313738" cy="47244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Why we need Black-box testing?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sz="3000" dirty="0">
                <a:ea typeface="宋体" panose="02010600030101010101" pitchFamily="2" charset="-122"/>
              </a:rPr>
              <a:t>Specific knowledge of the application’s code /internal structure and programming knowledge in general is not required. 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lvl="1"/>
            <a:r>
              <a:rPr lang="en-US" altLang="zh-CN" sz="3000" dirty="0">
                <a:ea typeface="宋体" panose="02010600030101010101" pitchFamily="2" charset="-122"/>
              </a:rPr>
              <a:t>The tester </a:t>
            </a:r>
            <a:r>
              <a:rPr lang="en-US" altLang="zh-CN" sz="3000" dirty="0">
                <a:ea typeface="黑体" panose="02010609060101010101" pitchFamily="49" charset="-122"/>
              </a:rPr>
              <a:t>only know the "legal" inputs and what the expected outputs should be.</a:t>
            </a:r>
            <a:endParaRPr lang="en-US" altLang="zh-CN" sz="3000" dirty="0">
              <a:ea typeface="黑体" panose="02010609060101010101" pitchFamily="49" charset="-122"/>
            </a:endParaRPr>
          </a:p>
          <a:p>
            <a:pPr lvl="1"/>
            <a:r>
              <a:rPr lang="en-US" altLang="zh-CN" sz="3000" dirty="0">
                <a:ea typeface="宋体" panose="02010600030101010101" pitchFamily="2" charset="-122"/>
              </a:rPr>
              <a:t>The tester is aware of what the software is supposed to do but is not aware of how it does it.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24"/>
          <p:cNvSpPr txBox="1"/>
          <p:nvPr/>
        </p:nvSpPr>
        <p:spPr>
          <a:xfrm>
            <a:off x="153988" y="709613"/>
            <a:ext cx="6858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Basic Concepts of White box testing</a:t>
            </a:r>
            <a:endParaRPr lang="en-US" altLang="zh-CN" sz="18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11188" y="692150"/>
          <a:ext cx="8208963" cy="5451475"/>
        </p:xfrm>
        <a:graphic>
          <a:graphicData uri="http://schemas.openxmlformats.org/drawingml/2006/table">
            <a:tbl>
              <a:tblPr/>
              <a:tblGrid>
                <a:gridCol w="1492537"/>
                <a:gridCol w="2684299"/>
                <a:gridCol w="4032126"/>
              </a:tblGrid>
              <a:tr h="708218">
                <a:tc>
                  <a:txBody>
                    <a:bodyPr/>
                    <a:lstStyle/>
                    <a:p>
                      <a:endParaRPr lang="zh-CN" sz="2000" kern="100" dirty="0">
                        <a:latin typeface="+mn-lt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EB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White-box Testing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EB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Black-box Testing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EBC"/>
                    </a:solidFill>
                  </a:tcPr>
                </a:tc>
              </a:tr>
              <a:tr h="18843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Tester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visibility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have visibility to the code and write test cases based upon the code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have no visibility to the code and write test cases based on possible inputs and outputs for functionality documented in specifications and /or requirements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</a:tr>
              <a:tr h="117971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A failed test case  reveals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a problem </a:t>
                      </a:r>
                      <a:r>
                        <a:rPr lang="en-US" sz="2000" kern="100" dirty="0" smtClean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(a fault</a:t>
                      </a: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a symptom of a problem </a:t>
                      </a:r>
                      <a:endParaRPr lang="en-US" sz="2000" kern="100" dirty="0" smtClean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a failure)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</a:tr>
              <a:tr h="16792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Controlled?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Yes – the test case helps to identify  the specific lines of code involved</a:t>
                      </a:r>
                      <a:endParaRPr lang="zh-CN" sz="2000" kern="10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n-lt"/>
                          <a:ea typeface="宋体" panose="02010600030101010101" pitchFamily="2" charset="-122"/>
                          <a:cs typeface="Times New Roman" panose="02020603050405020304"/>
                        </a:rPr>
                        <a:t>No – it can be hard to find the cause of the failure</a:t>
                      </a:r>
                      <a:endParaRPr lang="zh-CN" sz="2000" kern="100" dirty="0">
                        <a:latin typeface="+mn-lt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1441" marR="91441" marT="45714" marB="4571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BE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664325" y="5331460"/>
              <a:ext cx="1631315" cy="2159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664325" y="5331460"/>
                <a:ext cx="1631315" cy="21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5054600" y="5631180"/>
              <a:ext cx="1673225" cy="63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5054600" y="5631180"/>
                <a:ext cx="167322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墨迹 4"/>
              <p14:cNvContentPartPr/>
              <p14:nvPr/>
            </p14:nvContentPartPr>
            <p14:xfrm>
              <a:off x="6134735" y="5310505"/>
              <a:ext cx="781050" cy="36322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6"/>
            </p:blipFill>
            <p:spPr>
              <a:xfrm>
                <a:off x="6134735" y="5310505"/>
                <a:ext cx="781050" cy="3632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墨迹 5"/>
              <p14:cNvContentPartPr/>
              <p14:nvPr/>
            </p14:nvContentPartPr>
            <p14:xfrm>
              <a:off x="9842500" y="2801620"/>
              <a:ext cx="635" cy="63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8"/>
            </p:blipFill>
            <p:spPr>
              <a:xfrm>
                <a:off x="9842500" y="280162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4.1 Introduction of Black-Box Testing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ea typeface="宋体" panose="02010600030101010101" pitchFamily="2" charset="-122"/>
              </a:rPr>
              <a:t>Typical black-box test design techniques: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sz="3200" dirty="0">
                <a:ea typeface="黑体" panose="02010609060101010101" pitchFamily="49" charset="-122"/>
              </a:rPr>
              <a:t>Boundary Value Analysis</a:t>
            </a:r>
            <a:endParaRPr lang="en-US" altLang="zh-CN" sz="3200" dirty="0">
              <a:ea typeface="黑体" panose="02010609060101010101" pitchFamily="49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sz="3200" dirty="0">
                <a:ea typeface="黑体" panose="02010609060101010101" pitchFamily="49" charset="-122"/>
              </a:rPr>
              <a:t>Equivalence Partitioning</a:t>
            </a:r>
            <a:endParaRPr lang="en-US" altLang="zh-CN" sz="3200" dirty="0">
              <a:ea typeface="黑体" panose="02010609060101010101" pitchFamily="49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sz="3200" dirty="0">
                <a:ea typeface="黑体" panose="02010609060101010101" pitchFamily="49" charset="-122"/>
              </a:rPr>
              <a:t>Decision Table </a:t>
            </a:r>
            <a:endParaRPr lang="en-US" altLang="zh-CN" sz="3200" dirty="0">
              <a:ea typeface="黑体" panose="02010609060101010101" pitchFamily="49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sz="3200" dirty="0">
                <a:ea typeface="黑体" panose="02010609060101010101" pitchFamily="49" charset="-122"/>
              </a:rPr>
              <a:t>Cause-Effect Graph</a:t>
            </a:r>
            <a:endParaRPr lang="en-US" altLang="zh-CN" sz="32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725" y="1330325"/>
            <a:ext cx="3600450" cy="440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3810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solidFill>
                  <a:srgbClr val="FF0000"/>
                </a:solidFill>
                <a:latin typeface="Arial Black" panose="020B0A04020102020204" pitchFamily="34" charset="0"/>
                <a:ea typeface="+mn-ea"/>
                <a:cs typeface="+mn-cs"/>
              </a:rPr>
              <a:t>Boundary test</a:t>
            </a:r>
            <a:endParaRPr kumimoji="1" lang="en-US" altLang="zh-CN" sz="3200" i="1" kern="1200" cap="none" spc="0" normalizeH="0" baseline="0" noProof="0" dirty="0">
              <a:solidFill>
                <a:srgbClr val="FF0000"/>
              </a:solidFill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21508" name="TextBox 7"/>
          <p:cNvSpPr txBox="1"/>
          <p:nvPr/>
        </p:nvSpPr>
        <p:spPr>
          <a:xfrm>
            <a:off x="538163" y="1082675"/>
            <a:ext cx="4338637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If you can safely and</a:t>
            </a:r>
            <a:endParaRPr lang="zh-CN" altLang="en-US" b="1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400" y="1527175"/>
            <a:ext cx="4338638" cy="5857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confidently walk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8163" y="1973263"/>
            <a:ext cx="425767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along the edge of a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8163" y="2540000"/>
            <a:ext cx="447833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cliff without falling off,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8163" y="2997200"/>
            <a:ext cx="449103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you can almost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8638" y="3530600"/>
            <a:ext cx="452278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certainly walk in the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8163" y="3987800"/>
            <a:ext cx="449103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i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middle of a field.</a:t>
            </a:r>
            <a:endParaRPr kumimoji="1" lang="zh-CN" altLang="en-US" sz="3200" i="1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ea typeface="黑体" panose="02010609060101010101" pitchFamily="49" charset="-122"/>
              </a:rPr>
              <a:t>The rationale behind boundary value testing is that errors tend to occur near the extreme values of an input variable. In another word, 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errors tend to congregate at the boundaries</a:t>
            </a:r>
            <a:r>
              <a:rPr lang="en-US" altLang="zh-CN" dirty="0">
                <a:ea typeface="黑体" panose="02010609060101010101" pitchFamily="49" charset="-122"/>
              </a:rPr>
              <a:t>.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Examples: array, loop, </a:t>
            </a:r>
            <a:r>
              <a:rPr lang="en-US" altLang="zh-CN" dirty="0">
                <a:ea typeface="黑体" panose="02010609060101010101" pitchFamily="49" charset="-122"/>
                <a:sym typeface="Symbol" panose="05050102010706020507" pitchFamily="18" charset="2"/>
              </a:rPr>
              <a:t>  …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The basic idea of boundary value analysis is to use input variable values at their </a:t>
            </a:r>
            <a:r>
              <a:rPr lang="en-US" altLang="zh-CN" b="1" i="1" dirty="0">
                <a:ea typeface="黑体" panose="02010609060101010101" pitchFamily="49" charset="-122"/>
              </a:rPr>
              <a:t>min, min+, nom, max-, and max.</a:t>
            </a:r>
            <a:endParaRPr lang="en-US" altLang="zh-CN" b="1" i="1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75005" y="2461260"/>
              <a:ext cx="7423150" cy="16065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75005" y="2461260"/>
                <a:ext cx="7423150" cy="160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772795" y="2851150"/>
              <a:ext cx="4544695" cy="2159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772795" y="2851150"/>
                <a:ext cx="4544695" cy="21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6829425" y="5088255"/>
              <a:ext cx="850900" cy="9144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6829425" y="5088255"/>
                <a:ext cx="850900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5" name="墨迹 4"/>
              <p14:cNvContentPartPr/>
              <p14:nvPr/>
            </p14:nvContentPartPr>
            <p14:xfrm>
              <a:off x="549910" y="5590540"/>
              <a:ext cx="5527040" cy="25844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8"/>
            </p:blipFill>
            <p:spPr>
              <a:xfrm>
                <a:off x="549910" y="5590540"/>
                <a:ext cx="5527040" cy="258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6" name="墨迹 5"/>
              <p14:cNvContentPartPr/>
              <p14:nvPr/>
            </p14:nvContentPartPr>
            <p14:xfrm>
              <a:off x="7839710" y="4795520"/>
              <a:ext cx="739140" cy="64897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0"/>
            </p:blipFill>
            <p:spPr>
              <a:xfrm>
                <a:off x="7839710" y="4795520"/>
                <a:ext cx="739140" cy="64897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209" end="3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Example1 (with one variable):</a:t>
            </a:r>
            <a:endParaRPr lang="en-US" altLang="zh-CN" b="1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“Input can range from integers 0 to 100,”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Test cases include: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Min: 0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Min+: 1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Nom: 56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Max-: 99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Max: 100</a:t>
            </a:r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ea typeface="黑体" panose="02010609060101010101" pitchFamily="49" charset="-122"/>
              </a:rPr>
              <a:t>What happens when a physical quantity exceeds its maximum?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Robustness Testing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Robustness testing is a simple extension of boundary value analysis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We see what happens when the extreme are exceeded with a value slightly greater than the maximum (max+) and a value slightly less than the minimum (min-)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939800" y="3025775"/>
              <a:ext cx="3499485" cy="4191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939800" y="3025775"/>
                <a:ext cx="3499485" cy="4191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1214438"/>
            <a:ext cx="8424863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39725" marR="0" lvl="0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based on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single fault assumption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“Failures are only rarely as a result of the simultaneous occurrence of two or more faults”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Normal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Robustness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interested in what happens when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more than one variable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has an extreme value.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Multiple Variable of Boundary Values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(Worst-Case Testing) 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Multiple Variable of Boundary Values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Worst-Case Testing)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6051550" y="5470525"/>
              <a:ext cx="1345565" cy="2857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6051550" y="5470525"/>
                <a:ext cx="1345565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7138670" y="5888990"/>
              <a:ext cx="725805" cy="2159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7138670" y="5888990"/>
                <a:ext cx="725805" cy="21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1514475" y="6467475"/>
              <a:ext cx="1889125" cy="8445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1514475" y="6467475"/>
                <a:ext cx="1889125" cy="8445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Boundary Value Analysis 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techniques include: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Normal Boundary Values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Robustness Boundary Values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Multiple Variable of Boundary Values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39825" marR="0" lvl="2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(Worst-Case Testing) 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Multiple Variable of Boundary Values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39825" marR="0" lvl="2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Worst-Case Testing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1169670" y="2585720"/>
              <a:ext cx="1011555" cy="1117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169670" y="2585720"/>
                <a:ext cx="1011555" cy="1117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1239520" y="3317240"/>
              <a:ext cx="1798955" cy="2857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1239520" y="3317240"/>
                <a:ext cx="1798955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1413510" y="3972560"/>
              <a:ext cx="2447290" cy="174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1413510" y="3972560"/>
                <a:ext cx="2447290" cy="174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5" name="墨迹 4"/>
              <p14:cNvContentPartPr/>
              <p14:nvPr/>
            </p14:nvContentPartPr>
            <p14:xfrm>
              <a:off x="1211580" y="5303520"/>
              <a:ext cx="3666490" cy="2794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9"/>
            </p:blipFill>
            <p:spPr>
              <a:xfrm>
                <a:off x="1211580" y="5303520"/>
                <a:ext cx="3666490" cy="2794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Example2 (with two variables): </a:t>
            </a:r>
            <a:endParaRPr lang="en-US" altLang="zh-CN" b="1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Function F with two variables x, and y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a =&lt; x =&lt; b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c =&lt; y =&lt; d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en-US" altLang="zh-CN" dirty="0">
                <a:ea typeface="黑体" panose="02010609060101010101" pitchFamily="49" charset="-122"/>
              </a:rPr>
              <a:t>At least how many test cases should be created by using boundary value analysis?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z="825" smtClean="0"/>
            </a:fld>
            <a:endParaRPr lang="zh-CN" altLang="en-US" sz="825"/>
          </a:p>
        </p:txBody>
      </p:sp>
      <p:graphicFrame>
        <p:nvGraphicFramePr>
          <p:cNvPr id="5" name="Group 288"/>
          <p:cNvGraphicFramePr>
            <a:graphicFrameLocks noGrp="1"/>
          </p:cNvGraphicFramePr>
          <p:nvPr>
            <p:ph sz="half" idx="4294967295"/>
          </p:nvPr>
        </p:nvGraphicFramePr>
        <p:xfrm>
          <a:off x="2668872" y="1835603"/>
          <a:ext cx="3185795" cy="2935605"/>
        </p:xfrm>
        <a:graphic>
          <a:graphicData uri="http://schemas.openxmlformats.org/drawingml/2006/table">
            <a:tbl>
              <a:tblPr/>
              <a:tblGrid>
                <a:gridCol w="855980"/>
                <a:gridCol w="817880"/>
                <a:gridCol w="702310"/>
                <a:gridCol w="809625"/>
              </a:tblGrid>
              <a:tr h="269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测试用例</a:t>
                      </a:r>
                      <a:endParaRPr kumimoji="0" lang="zh-CN" altLang="fr-F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fr-F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预期输出</a:t>
                      </a:r>
                      <a:endParaRPr kumimoji="0" lang="zh-CN" altLang="fr-F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T1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X2min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F1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T2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X1nom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X2min+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F2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T3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X1nom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F3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T4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X2max-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F4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T5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X2max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F5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T6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X1min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F6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T7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X1min+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F7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T8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X1max-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F8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T9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X1max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X2nom</a:t>
                      </a:r>
                      <a:endParaRPr kumimoji="0" lang="fr-FR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r-FR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F9</a:t>
                      </a:r>
                      <a:endParaRPr kumimoji="0" lang="fr-FR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284"/>
          <p:cNvGrpSpPr/>
          <p:nvPr/>
        </p:nvGrpSpPr>
        <p:grpSpPr bwMode="auto">
          <a:xfrm>
            <a:off x="1102010" y="2051107"/>
            <a:ext cx="3132534" cy="1565672"/>
            <a:chOff x="113" y="1661"/>
            <a:chExt cx="2631" cy="1315"/>
          </a:xfrm>
        </p:grpSpPr>
        <p:sp>
          <p:nvSpPr>
            <p:cNvPr id="7" name="Oval 265"/>
            <p:cNvSpPr>
              <a:spLocks noChangeArrowheads="1"/>
            </p:cNvSpPr>
            <p:nvPr/>
          </p:nvSpPr>
          <p:spPr bwMode="auto">
            <a:xfrm>
              <a:off x="2018" y="1661"/>
              <a:ext cx="726" cy="1315"/>
            </a:xfrm>
            <a:prstGeom prst="ellipse">
              <a:avLst/>
            </a:prstGeom>
            <a:noFill/>
            <a:ln w="28575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8" name="AutoShape 277"/>
            <p:cNvSpPr>
              <a:spLocks noChangeArrowheads="1"/>
            </p:cNvSpPr>
            <p:nvPr/>
          </p:nvSpPr>
          <p:spPr bwMode="auto">
            <a:xfrm>
              <a:off x="113" y="2069"/>
              <a:ext cx="1225" cy="318"/>
            </a:xfrm>
            <a:prstGeom prst="wedgeRoundRectCallout">
              <a:avLst>
                <a:gd name="adj1" fmla="val 96694"/>
                <a:gd name="adj2" fmla="val -3458"/>
                <a:gd name="adj3" fmla="val 16667"/>
              </a:avLst>
            </a:prstGeom>
            <a:solidFill>
              <a:schemeClr val="accent1"/>
            </a:solidFill>
            <a:ln w="38100">
              <a:solidFill>
                <a:srgbClr val="800000"/>
              </a:solidFill>
              <a:miter lim="800000"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500" b="0"/>
                <a:t>X1</a:t>
              </a:r>
              <a:r>
                <a:rPr lang="zh-CN" altLang="en-US" sz="1500" b="0"/>
                <a:t>取正常值</a:t>
              </a:r>
              <a:endParaRPr lang="zh-CN" altLang="en-US" sz="1500" b="0"/>
            </a:p>
          </p:txBody>
        </p:sp>
      </p:grpSp>
      <p:grpSp>
        <p:nvGrpSpPr>
          <p:cNvPr id="9" name="Group 285"/>
          <p:cNvGrpSpPr/>
          <p:nvPr/>
        </p:nvGrpSpPr>
        <p:grpSpPr bwMode="auto">
          <a:xfrm>
            <a:off x="4288122" y="2051107"/>
            <a:ext cx="3402806" cy="1565672"/>
            <a:chOff x="2789" y="1661"/>
            <a:chExt cx="2858" cy="1315"/>
          </a:xfrm>
        </p:grpSpPr>
        <p:sp>
          <p:nvSpPr>
            <p:cNvPr id="10" name="Oval 276"/>
            <p:cNvSpPr>
              <a:spLocks noChangeArrowheads="1"/>
            </p:cNvSpPr>
            <p:nvPr/>
          </p:nvSpPr>
          <p:spPr bwMode="auto">
            <a:xfrm>
              <a:off x="2789" y="1661"/>
              <a:ext cx="635" cy="1315"/>
            </a:xfrm>
            <a:prstGeom prst="ellips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11" name="AutoShape 278"/>
            <p:cNvSpPr>
              <a:spLocks noChangeArrowheads="1"/>
            </p:cNvSpPr>
            <p:nvPr/>
          </p:nvSpPr>
          <p:spPr bwMode="auto">
            <a:xfrm>
              <a:off x="4513" y="2069"/>
              <a:ext cx="1134" cy="545"/>
            </a:xfrm>
            <a:prstGeom prst="wedgeRoundRectCallout">
              <a:avLst>
                <a:gd name="adj1" fmla="val -135185"/>
                <a:gd name="adj2" fmla="val -22662"/>
                <a:gd name="adj3" fmla="val 16667"/>
              </a:avLst>
            </a:prstGeom>
            <a:solidFill>
              <a:schemeClr val="accent1"/>
            </a:solidFill>
            <a:ln w="38100">
              <a:solidFill>
                <a:srgbClr val="FF00FF"/>
              </a:solidFill>
              <a:miter lim="800000"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500" b="0"/>
                <a:t>X2</a:t>
              </a:r>
              <a:r>
                <a:rPr lang="zh-CN" altLang="en-US" sz="1500" b="0"/>
                <a:t>依次取各种边界值</a:t>
              </a:r>
              <a:endParaRPr lang="zh-CN" altLang="en-US" sz="1500" b="0"/>
            </a:p>
          </p:txBody>
        </p:sp>
      </p:grpSp>
      <p:grpSp>
        <p:nvGrpSpPr>
          <p:cNvPr id="12" name="Group 287"/>
          <p:cNvGrpSpPr/>
          <p:nvPr/>
        </p:nvGrpSpPr>
        <p:grpSpPr bwMode="auto">
          <a:xfrm>
            <a:off x="4234544" y="3616778"/>
            <a:ext cx="3456385" cy="1188244"/>
            <a:chOff x="2744" y="2976"/>
            <a:chExt cx="2903" cy="998"/>
          </a:xfrm>
        </p:grpSpPr>
        <p:sp>
          <p:nvSpPr>
            <p:cNvPr id="13" name="Oval 280"/>
            <p:cNvSpPr>
              <a:spLocks noChangeArrowheads="1"/>
            </p:cNvSpPr>
            <p:nvPr/>
          </p:nvSpPr>
          <p:spPr bwMode="auto">
            <a:xfrm>
              <a:off x="2744" y="2976"/>
              <a:ext cx="635" cy="998"/>
            </a:xfrm>
            <a:prstGeom prst="ellipse">
              <a:avLst/>
            </a:prstGeom>
            <a:noFill/>
            <a:ln w="28575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14" name="AutoShape 281"/>
            <p:cNvSpPr>
              <a:spLocks noChangeArrowheads="1"/>
            </p:cNvSpPr>
            <p:nvPr/>
          </p:nvSpPr>
          <p:spPr bwMode="auto">
            <a:xfrm>
              <a:off x="4422" y="3203"/>
              <a:ext cx="1225" cy="318"/>
            </a:xfrm>
            <a:prstGeom prst="wedgeRoundRectCallout">
              <a:avLst>
                <a:gd name="adj1" fmla="val -127796"/>
                <a:gd name="adj2" fmla="val 40880"/>
                <a:gd name="adj3" fmla="val 16667"/>
              </a:avLst>
            </a:prstGeom>
            <a:solidFill>
              <a:schemeClr val="accent1"/>
            </a:solidFill>
            <a:ln w="38100">
              <a:solidFill>
                <a:srgbClr val="800000"/>
              </a:solidFill>
              <a:miter lim="800000"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500" b="0"/>
                <a:t>X2</a:t>
              </a:r>
              <a:r>
                <a:rPr lang="zh-CN" altLang="en-US" sz="1500" b="0"/>
                <a:t>取正常值</a:t>
              </a:r>
              <a:endParaRPr lang="zh-CN" altLang="en-US" sz="1500" b="0"/>
            </a:p>
          </p:txBody>
        </p:sp>
      </p:grpSp>
      <p:grpSp>
        <p:nvGrpSpPr>
          <p:cNvPr id="15" name="Group 286"/>
          <p:cNvGrpSpPr/>
          <p:nvPr/>
        </p:nvGrpSpPr>
        <p:grpSpPr bwMode="auto">
          <a:xfrm>
            <a:off x="1102010" y="3616778"/>
            <a:ext cx="3078956" cy="1243013"/>
            <a:chOff x="113" y="2976"/>
            <a:chExt cx="2586" cy="1044"/>
          </a:xfrm>
        </p:grpSpPr>
        <p:sp>
          <p:nvSpPr>
            <p:cNvPr id="16" name="Oval 282"/>
            <p:cNvSpPr>
              <a:spLocks noChangeArrowheads="1"/>
            </p:cNvSpPr>
            <p:nvPr/>
          </p:nvSpPr>
          <p:spPr bwMode="auto">
            <a:xfrm>
              <a:off x="2064" y="2976"/>
              <a:ext cx="635" cy="1044"/>
            </a:xfrm>
            <a:prstGeom prst="ellipse">
              <a:avLst/>
            </a:prstGeom>
            <a:noFill/>
            <a:ln w="38100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17" name="AutoShape 283"/>
            <p:cNvSpPr>
              <a:spLocks noChangeArrowheads="1"/>
            </p:cNvSpPr>
            <p:nvPr/>
          </p:nvSpPr>
          <p:spPr bwMode="auto">
            <a:xfrm>
              <a:off x="113" y="3294"/>
              <a:ext cx="1134" cy="545"/>
            </a:xfrm>
            <a:prstGeom prst="wedgeRoundRectCallout">
              <a:avLst>
                <a:gd name="adj1" fmla="val 112787"/>
                <a:gd name="adj2" fmla="val -18806"/>
                <a:gd name="adj3" fmla="val 16667"/>
              </a:avLst>
            </a:prstGeom>
            <a:solidFill>
              <a:schemeClr val="accent1"/>
            </a:solidFill>
            <a:ln w="38100">
              <a:solidFill>
                <a:srgbClr val="FF00FF"/>
              </a:solidFill>
              <a:miter lim="800000"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500" b="0" dirty="0"/>
                <a:t>X1</a:t>
              </a:r>
              <a:r>
                <a:rPr lang="zh-CN" altLang="en-US" sz="1500" b="0" dirty="0"/>
                <a:t>依次取各种边界值</a:t>
              </a:r>
              <a:endParaRPr lang="zh-CN" altLang="en-US" sz="1500" b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5" name="直接连接符 24"/>
          <p:cNvCxnSpPr/>
          <p:nvPr/>
        </p:nvCxnSpPr>
        <p:spPr>
          <a:xfrm>
            <a:off x="-12700" y="5141913"/>
            <a:ext cx="13081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1319213" y="2755900"/>
            <a:ext cx="0" cy="2398713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471488" y="941388"/>
            <a:ext cx="1722438" cy="179705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边界值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分析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" name="直接连接符 8"/>
          <p:cNvCxnSpPr>
            <a:stCxn id="6" idx="6"/>
          </p:cNvCxnSpPr>
          <p:nvPr/>
        </p:nvCxnSpPr>
        <p:spPr>
          <a:xfrm>
            <a:off x="2193925" y="1839913"/>
            <a:ext cx="3206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2514600" y="1079500"/>
            <a:ext cx="0" cy="774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514600" y="1079500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678863" y="1079500"/>
            <a:ext cx="0" cy="42259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2514600" y="5305425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514600" y="1854200"/>
            <a:ext cx="0" cy="3451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83" name="Group 66"/>
          <p:cNvGrpSpPr/>
          <p:nvPr/>
        </p:nvGrpSpPr>
        <p:grpSpPr>
          <a:xfrm>
            <a:off x="2895600" y="1363663"/>
            <a:ext cx="5334000" cy="3657600"/>
            <a:chOff x="480" y="1872"/>
            <a:chExt cx="3360" cy="2304"/>
          </a:xfrm>
        </p:grpSpPr>
        <p:sp>
          <p:nvSpPr>
            <p:cNvPr id="28686" name="Line 38"/>
            <p:cNvSpPr/>
            <p:nvPr/>
          </p:nvSpPr>
          <p:spPr>
            <a:xfrm flipV="1">
              <a:off x="817" y="1872"/>
              <a:ext cx="2" cy="2304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87" name="Line 39"/>
            <p:cNvSpPr/>
            <p:nvPr/>
          </p:nvSpPr>
          <p:spPr>
            <a:xfrm>
              <a:off x="576" y="3888"/>
              <a:ext cx="2832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88" name="Line 40"/>
            <p:cNvSpPr/>
            <p:nvPr/>
          </p:nvSpPr>
          <p:spPr>
            <a:xfrm>
              <a:off x="817" y="2447"/>
              <a:ext cx="234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689" name="Line 41"/>
            <p:cNvSpPr/>
            <p:nvPr/>
          </p:nvSpPr>
          <p:spPr>
            <a:xfrm>
              <a:off x="817" y="3455"/>
              <a:ext cx="234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690" name="Line 42"/>
            <p:cNvSpPr/>
            <p:nvPr/>
          </p:nvSpPr>
          <p:spPr>
            <a:xfrm>
              <a:off x="1141" y="2087"/>
              <a:ext cx="0" cy="180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691" name="Line 43"/>
            <p:cNvSpPr/>
            <p:nvPr/>
          </p:nvSpPr>
          <p:spPr>
            <a:xfrm>
              <a:off x="2599" y="2087"/>
              <a:ext cx="0" cy="180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692" name="AutoShape 44"/>
            <p:cNvSpPr/>
            <p:nvPr/>
          </p:nvSpPr>
          <p:spPr>
            <a:xfrm>
              <a:off x="1709" y="2416"/>
              <a:ext cx="81" cy="72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AutoShape 45"/>
            <p:cNvSpPr/>
            <p:nvPr/>
          </p:nvSpPr>
          <p:spPr>
            <a:xfrm>
              <a:off x="1709" y="2559"/>
              <a:ext cx="81" cy="72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AutoShape 46"/>
            <p:cNvSpPr/>
            <p:nvPr/>
          </p:nvSpPr>
          <p:spPr>
            <a:xfrm>
              <a:off x="1109" y="3024"/>
              <a:ext cx="81" cy="72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AutoShape 47"/>
            <p:cNvSpPr/>
            <p:nvPr/>
          </p:nvSpPr>
          <p:spPr>
            <a:xfrm>
              <a:off x="1256" y="3023"/>
              <a:ext cx="81" cy="72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6" name="AutoShape 48"/>
            <p:cNvSpPr/>
            <p:nvPr/>
          </p:nvSpPr>
          <p:spPr>
            <a:xfrm>
              <a:off x="1709" y="3023"/>
              <a:ext cx="81" cy="72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7" name="AutoShape 49"/>
            <p:cNvSpPr/>
            <p:nvPr/>
          </p:nvSpPr>
          <p:spPr>
            <a:xfrm>
              <a:off x="1709" y="3287"/>
              <a:ext cx="81" cy="72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8" name="AutoShape 50"/>
            <p:cNvSpPr/>
            <p:nvPr/>
          </p:nvSpPr>
          <p:spPr>
            <a:xfrm>
              <a:off x="1709" y="3415"/>
              <a:ext cx="81" cy="72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99" name="AutoShape 51"/>
            <p:cNvSpPr/>
            <p:nvPr/>
          </p:nvSpPr>
          <p:spPr>
            <a:xfrm>
              <a:off x="2404" y="3023"/>
              <a:ext cx="81" cy="72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0" name="AutoShape 52"/>
            <p:cNvSpPr/>
            <p:nvPr/>
          </p:nvSpPr>
          <p:spPr>
            <a:xfrm>
              <a:off x="2550" y="3024"/>
              <a:ext cx="81" cy="72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1" name="Text Box 53"/>
            <p:cNvSpPr txBox="1"/>
            <p:nvPr/>
          </p:nvSpPr>
          <p:spPr>
            <a:xfrm>
              <a:off x="3504" y="374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1" baseline="-25000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400" b="1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2" name="Text Box 54"/>
            <p:cNvSpPr txBox="1"/>
            <p:nvPr/>
          </p:nvSpPr>
          <p:spPr>
            <a:xfrm>
              <a:off x="480" y="1872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1" baseline="-25000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b="1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3" name="Text Box 55"/>
            <p:cNvSpPr txBox="1"/>
            <p:nvPr/>
          </p:nvSpPr>
          <p:spPr>
            <a:xfrm>
              <a:off x="576" y="230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4" name="Text Box 56"/>
            <p:cNvSpPr txBox="1"/>
            <p:nvPr/>
          </p:nvSpPr>
          <p:spPr>
            <a:xfrm>
              <a:off x="576" y="3312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5" name="Text Box 57"/>
            <p:cNvSpPr txBox="1"/>
            <p:nvPr/>
          </p:nvSpPr>
          <p:spPr>
            <a:xfrm>
              <a:off x="2448" y="3888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6" name="Text Box 58"/>
            <p:cNvSpPr txBox="1"/>
            <p:nvPr/>
          </p:nvSpPr>
          <p:spPr>
            <a:xfrm>
              <a:off x="1008" y="3888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 rot="-855557">
            <a:off x="5062538" y="574675"/>
            <a:ext cx="1443037" cy="708025"/>
          </a:xfrm>
          <a:prstGeom prst="rect">
            <a:avLst/>
          </a:prstGeom>
          <a:solidFill>
            <a:schemeClr val="tx1"/>
          </a:solidFill>
          <a:ln w="2857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Monotype Corsiva" panose="03010101010201010101" pitchFamily="66" charset="0"/>
                <a:ea typeface="宋体" panose="02010600030101010101" pitchFamily="2" charset="-122"/>
              </a:rPr>
              <a:t>4n+1</a:t>
            </a:r>
            <a:endParaRPr lang="zh-CN" altLang="en-US" sz="4000" b="1" dirty="0">
              <a:solidFill>
                <a:schemeClr val="bg1"/>
              </a:solidFill>
              <a:latin typeface="Monotype Corsiva" panose="03010101010201010101" pitchFamily="66" charset="0"/>
              <a:ea typeface="宋体" panose="02010600030101010101" pitchFamily="2" charset="-122"/>
            </a:endParaRPr>
          </a:p>
        </p:txBody>
      </p:sp>
      <p:sp>
        <p:nvSpPr>
          <p:cNvPr id="28685" name="TextBox 33"/>
          <p:cNvSpPr txBox="1"/>
          <p:nvPr/>
        </p:nvSpPr>
        <p:spPr>
          <a:xfrm>
            <a:off x="2786063" y="5429250"/>
            <a:ext cx="4786312" cy="1108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1" indent="0" eaLnBrk="1" latinLnBrk="1" hangingPunct="1"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Normal Boundary Values</a:t>
            </a: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1" indent="0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>
                <a:latin typeface="Arial" panose="020B0604020202020204" pitchFamily="34" charset="0"/>
                <a:ea typeface="宋体" panose="02010600030101010101" pitchFamily="2" charset="-122"/>
              </a:rPr>
              <a:t>2 variables to n variables?</a:t>
            </a:r>
            <a:endParaRPr lang="zh-CN" altLang="en-US" sz="2000" b="1" i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2610485" y="5408295"/>
              <a:ext cx="4921250" cy="6553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2610485" y="5408295"/>
                <a:ext cx="4921250" cy="6553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4924425" y="334010"/>
              <a:ext cx="1645285" cy="110934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4924425" y="334010"/>
                <a:ext cx="1645285" cy="11093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6617970" y="431800"/>
              <a:ext cx="1178560" cy="76708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6617970" y="431800"/>
                <a:ext cx="1178560" cy="767080"/>
              </a:xfrm>
              <a:prstGeom prst="rect"/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5" name="直接连接符 24"/>
          <p:cNvCxnSpPr/>
          <p:nvPr/>
        </p:nvCxnSpPr>
        <p:spPr>
          <a:xfrm>
            <a:off x="-12700" y="5141913"/>
            <a:ext cx="13081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1319213" y="2755900"/>
            <a:ext cx="0" cy="2398713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471488" y="941388"/>
            <a:ext cx="1722438" cy="179705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边界值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健壮性测试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" name="直接连接符 8"/>
          <p:cNvCxnSpPr>
            <a:stCxn id="6" idx="6"/>
          </p:cNvCxnSpPr>
          <p:nvPr/>
        </p:nvCxnSpPr>
        <p:spPr>
          <a:xfrm>
            <a:off x="2193925" y="1839913"/>
            <a:ext cx="3206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2514600" y="1079500"/>
            <a:ext cx="0" cy="774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514600" y="1079500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678863" y="1079500"/>
            <a:ext cx="0" cy="42259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2514600" y="5305425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514600" y="1854200"/>
            <a:ext cx="0" cy="3451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 rot="-855557">
            <a:off x="5062538" y="574675"/>
            <a:ext cx="1443037" cy="708025"/>
          </a:xfrm>
          <a:prstGeom prst="rect">
            <a:avLst/>
          </a:prstGeom>
          <a:solidFill>
            <a:schemeClr val="tx1"/>
          </a:solidFill>
          <a:ln w="2857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Monotype Corsiva" panose="03010101010201010101" pitchFamily="66" charset="0"/>
                <a:ea typeface="宋体" panose="02010600030101010101" pitchFamily="2" charset="-122"/>
              </a:rPr>
              <a:t>6n+1</a:t>
            </a:r>
            <a:endParaRPr lang="zh-CN" altLang="en-US" sz="4000" b="1" dirty="0">
              <a:solidFill>
                <a:schemeClr val="bg1"/>
              </a:solidFill>
              <a:latin typeface="Monotype Corsiva" panose="03010101010201010101" pitchFamily="66" charset="0"/>
              <a:ea typeface="宋体" panose="02010600030101010101" pitchFamily="2" charset="-122"/>
            </a:endParaRPr>
          </a:p>
        </p:txBody>
      </p:sp>
      <p:pic>
        <p:nvPicPr>
          <p:cNvPr id="2970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4488" y="1247775"/>
            <a:ext cx="5426075" cy="388937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6" name="椭圆 75"/>
          <p:cNvSpPr/>
          <p:nvPr/>
        </p:nvSpPr>
        <p:spPr>
          <a:xfrm>
            <a:off x="471488" y="935038"/>
            <a:ext cx="1722438" cy="179705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健壮性边界值测试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10" name="TextBox 13"/>
          <p:cNvSpPr txBox="1"/>
          <p:nvPr/>
        </p:nvSpPr>
        <p:spPr>
          <a:xfrm>
            <a:off x="1857375" y="5857875"/>
            <a:ext cx="5715000" cy="652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39775" lvl="1" indent="-282575" eaLnBrk="1" latin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Robustness Boundary Values</a:t>
            </a: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组合 23"/>
          <p:cNvGrpSpPr/>
          <p:nvPr/>
        </p:nvGrpSpPr>
        <p:grpSpPr>
          <a:xfrm>
            <a:off x="3571875" y="1714500"/>
            <a:ext cx="3286125" cy="2695575"/>
            <a:chOff x="3571868" y="1714488"/>
            <a:chExt cx="3286148" cy="2696008"/>
          </a:xfrm>
        </p:grpSpPr>
        <p:sp>
          <p:nvSpPr>
            <p:cNvPr id="29713" name="矩形 14"/>
            <p:cNvSpPr/>
            <p:nvPr/>
          </p:nvSpPr>
          <p:spPr>
            <a:xfrm>
              <a:off x="3571868" y="3000372"/>
              <a:ext cx="35719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●</a:t>
              </a:r>
              <a:endPara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4" name="矩形 16"/>
            <p:cNvSpPr/>
            <p:nvPr/>
          </p:nvSpPr>
          <p:spPr>
            <a:xfrm>
              <a:off x="6500826" y="3071810"/>
              <a:ext cx="35719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●</a:t>
              </a:r>
              <a:endPara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5" name="矩形 18"/>
            <p:cNvSpPr/>
            <p:nvPr/>
          </p:nvSpPr>
          <p:spPr>
            <a:xfrm>
              <a:off x="4857752" y="4071942"/>
              <a:ext cx="35719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●</a:t>
              </a:r>
              <a:endPara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6" name="矩形 20"/>
            <p:cNvSpPr/>
            <p:nvPr/>
          </p:nvSpPr>
          <p:spPr>
            <a:xfrm>
              <a:off x="4786314" y="1714488"/>
              <a:ext cx="357190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●</a:t>
              </a:r>
              <a:endPara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3643313" y="4000500"/>
            <a:ext cx="357187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●</a:t>
            </a:r>
            <a:endParaRPr lang="zh-CN" altLang="en-US" sz="1600" b="1" dirty="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6" grpId="0"/>
      <p:bldP spid="2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5" name="直接连接符 24"/>
          <p:cNvCxnSpPr/>
          <p:nvPr/>
        </p:nvCxnSpPr>
        <p:spPr>
          <a:xfrm>
            <a:off x="-12700" y="5141913"/>
            <a:ext cx="13081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1319213" y="2755900"/>
            <a:ext cx="0" cy="2398713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471488" y="941388"/>
            <a:ext cx="1722438" cy="179705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最坏情况测试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" name="直接连接符 8"/>
          <p:cNvCxnSpPr>
            <a:stCxn id="6" idx="6"/>
          </p:cNvCxnSpPr>
          <p:nvPr/>
        </p:nvCxnSpPr>
        <p:spPr>
          <a:xfrm>
            <a:off x="2193925" y="1839913"/>
            <a:ext cx="3206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2514600" y="1079500"/>
            <a:ext cx="0" cy="774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514600" y="1079500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678863" y="1079500"/>
            <a:ext cx="0" cy="42259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2514600" y="5305425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514600" y="1854200"/>
            <a:ext cx="0" cy="3451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 rot="20744443">
            <a:off x="5063201" y="574237"/>
            <a:ext cx="1442925" cy="707886"/>
          </a:xfrm>
          <a:prstGeom prst="rect">
            <a:avLst/>
          </a:prstGeom>
          <a:blipFill rotWithShape="1">
            <a:blip r:embed="rId1" cstate="print"/>
            <a:stretch>
              <a:fillRect/>
            </a:stretch>
          </a:blipFill>
          <a:ln w="28575">
            <a:solidFill>
              <a:schemeClr val="bg1"/>
            </a:solidFill>
          </a:ln>
        </p:spPr>
        <p:txBody>
          <a:bodyPr/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57188" y="928688"/>
            <a:ext cx="1979613" cy="1798638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最坏情况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边界值分析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0733" name="Group 77"/>
          <p:cNvGrpSpPr/>
          <p:nvPr/>
        </p:nvGrpSpPr>
        <p:grpSpPr>
          <a:xfrm>
            <a:off x="2625725" y="1162050"/>
            <a:ext cx="5943600" cy="4114800"/>
            <a:chOff x="1056" y="768"/>
            <a:chExt cx="3744" cy="2592"/>
          </a:xfrm>
        </p:grpSpPr>
        <p:sp>
          <p:nvSpPr>
            <p:cNvPr id="30736" name="Line 33"/>
            <p:cNvSpPr/>
            <p:nvPr/>
          </p:nvSpPr>
          <p:spPr>
            <a:xfrm flipV="1">
              <a:off x="1432" y="768"/>
              <a:ext cx="2" cy="2592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37" name="Line 34"/>
            <p:cNvSpPr/>
            <p:nvPr/>
          </p:nvSpPr>
          <p:spPr>
            <a:xfrm>
              <a:off x="1163" y="3036"/>
              <a:ext cx="3156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38" name="Line 35"/>
            <p:cNvSpPr/>
            <p:nvPr/>
          </p:nvSpPr>
          <p:spPr>
            <a:xfrm>
              <a:off x="1432" y="1415"/>
              <a:ext cx="2615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39" name="Line 36"/>
            <p:cNvSpPr/>
            <p:nvPr/>
          </p:nvSpPr>
          <p:spPr>
            <a:xfrm>
              <a:off x="1432" y="2549"/>
              <a:ext cx="2615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40" name="Line 37"/>
            <p:cNvSpPr/>
            <p:nvPr/>
          </p:nvSpPr>
          <p:spPr>
            <a:xfrm>
              <a:off x="1793" y="1010"/>
              <a:ext cx="0" cy="202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41" name="Line 38"/>
            <p:cNvSpPr/>
            <p:nvPr/>
          </p:nvSpPr>
          <p:spPr>
            <a:xfrm>
              <a:off x="3417" y="1010"/>
              <a:ext cx="0" cy="202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42" name="AutoShape 39"/>
            <p:cNvSpPr/>
            <p:nvPr/>
          </p:nvSpPr>
          <p:spPr>
            <a:xfrm>
              <a:off x="2425" y="1380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3" name="AutoShape 40"/>
            <p:cNvSpPr/>
            <p:nvPr/>
          </p:nvSpPr>
          <p:spPr>
            <a:xfrm>
              <a:off x="2425" y="1541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4" name="AutoShape 42"/>
            <p:cNvSpPr/>
            <p:nvPr/>
          </p:nvSpPr>
          <p:spPr>
            <a:xfrm>
              <a:off x="1921" y="2063"/>
              <a:ext cx="90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5" name="AutoShape 43"/>
            <p:cNvSpPr/>
            <p:nvPr/>
          </p:nvSpPr>
          <p:spPr>
            <a:xfrm>
              <a:off x="2425" y="2063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6" name="AutoShape 44"/>
            <p:cNvSpPr/>
            <p:nvPr/>
          </p:nvSpPr>
          <p:spPr>
            <a:xfrm>
              <a:off x="2425" y="2360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7" name="AutoShape 45"/>
            <p:cNvSpPr/>
            <p:nvPr/>
          </p:nvSpPr>
          <p:spPr>
            <a:xfrm>
              <a:off x="2425" y="2504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8" name="AutoShape 46"/>
            <p:cNvSpPr/>
            <p:nvPr/>
          </p:nvSpPr>
          <p:spPr>
            <a:xfrm>
              <a:off x="3184" y="2063"/>
              <a:ext cx="90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49" name="AutoShape 47"/>
            <p:cNvSpPr/>
            <p:nvPr/>
          </p:nvSpPr>
          <p:spPr>
            <a:xfrm>
              <a:off x="3379" y="2064"/>
              <a:ext cx="90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0" name="Text Box 48"/>
            <p:cNvSpPr txBox="1"/>
            <p:nvPr/>
          </p:nvSpPr>
          <p:spPr>
            <a:xfrm>
              <a:off x="4426" y="2874"/>
              <a:ext cx="3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1" baseline="-25000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400" b="1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1" name="Text Box 49"/>
            <p:cNvSpPr txBox="1"/>
            <p:nvPr/>
          </p:nvSpPr>
          <p:spPr>
            <a:xfrm>
              <a:off x="1056" y="768"/>
              <a:ext cx="3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r>
                <a:rPr lang="en-US" altLang="zh-CN" sz="2400" b="1" baseline="-25000" dirty="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b="1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2" name="Text Box 50"/>
            <p:cNvSpPr txBox="1"/>
            <p:nvPr/>
          </p:nvSpPr>
          <p:spPr>
            <a:xfrm>
              <a:off x="1163" y="1254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3" name="Text Box 51"/>
            <p:cNvSpPr txBox="1"/>
            <p:nvPr/>
          </p:nvSpPr>
          <p:spPr>
            <a:xfrm>
              <a:off x="1163" y="2388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4" name="Text Box 52"/>
            <p:cNvSpPr txBox="1"/>
            <p:nvPr/>
          </p:nvSpPr>
          <p:spPr>
            <a:xfrm>
              <a:off x="3249" y="3036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5" name="Text Box 53"/>
            <p:cNvSpPr txBox="1"/>
            <p:nvPr/>
          </p:nvSpPr>
          <p:spPr>
            <a:xfrm>
              <a:off x="1644" y="3036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6" name="AutoShape 54"/>
            <p:cNvSpPr/>
            <p:nvPr/>
          </p:nvSpPr>
          <p:spPr>
            <a:xfrm>
              <a:off x="1750" y="2367"/>
              <a:ext cx="90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7" name="AutoShape 55"/>
            <p:cNvSpPr/>
            <p:nvPr/>
          </p:nvSpPr>
          <p:spPr>
            <a:xfrm>
              <a:off x="1744" y="2511"/>
              <a:ext cx="90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8" name="AutoShape 58"/>
            <p:cNvSpPr/>
            <p:nvPr/>
          </p:nvSpPr>
          <p:spPr>
            <a:xfrm>
              <a:off x="3376" y="2511"/>
              <a:ext cx="90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59" name="AutoShape 59"/>
            <p:cNvSpPr/>
            <p:nvPr/>
          </p:nvSpPr>
          <p:spPr>
            <a:xfrm>
              <a:off x="3168" y="2504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0" name="AutoShape 60"/>
            <p:cNvSpPr/>
            <p:nvPr/>
          </p:nvSpPr>
          <p:spPr>
            <a:xfrm>
              <a:off x="3381" y="2344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1" name="AutoShape 62"/>
            <p:cNvSpPr/>
            <p:nvPr/>
          </p:nvSpPr>
          <p:spPr>
            <a:xfrm>
              <a:off x="3381" y="1376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2" name="AutoShape 63"/>
            <p:cNvSpPr/>
            <p:nvPr/>
          </p:nvSpPr>
          <p:spPr>
            <a:xfrm>
              <a:off x="3205" y="1376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3" name="AutoShape 64"/>
            <p:cNvSpPr/>
            <p:nvPr/>
          </p:nvSpPr>
          <p:spPr>
            <a:xfrm>
              <a:off x="1744" y="1519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4" name="AutoShape 65"/>
            <p:cNvSpPr/>
            <p:nvPr/>
          </p:nvSpPr>
          <p:spPr>
            <a:xfrm>
              <a:off x="1909" y="1360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5" name="AutoShape 66"/>
            <p:cNvSpPr/>
            <p:nvPr/>
          </p:nvSpPr>
          <p:spPr>
            <a:xfrm>
              <a:off x="1749" y="1360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6" name="AutoShape 67"/>
            <p:cNvSpPr/>
            <p:nvPr/>
          </p:nvSpPr>
          <p:spPr>
            <a:xfrm>
              <a:off x="1749" y="2064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7" name="AutoShape 68"/>
            <p:cNvSpPr/>
            <p:nvPr/>
          </p:nvSpPr>
          <p:spPr>
            <a:xfrm>
              <a:off x="1925" y="2512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8" name="AutoShape 70"/>
            <p:cNvSpPr/>
            <p:nvPr/>
          </p:nvSpPr>
          <p:spPr>
            <a:xfrm>
              <a:off x="3177" y="2351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69" name="AutoShape 72"/>
            <p:cNvSpPr/>
            <p:nvPr/>
          </p:nvSpPr>
          <p:spPr>
            <a:xfrm>
              <a:off x="3205" y="1536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70" name="AutoShape 74"/>
            <p:cNvSpPr/>
            <p:nvPr/>
          </p:nvSpPr>
          <p:spPr>
            <a:xfrm>
              <a:off x="1920" y="1536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71" name="AutoShape 75"/>
            <p:cNvSpPr/>
            <p:nvPr/>
          </p:nvSpPr>
          <p:spPr>
            <a:xfrm>
              <a:off x="1913" y="2367"/>
              <a:ext cx="91" cy="81"/>
            </a:xfrm>
            <a:prstGeom prst="flowChartConnector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72" name="AutoShape 76"/>
            <p:cNvSpPr/>
            <p:nvPr/>
          </p:nvSpPr>
          <p:spPr>
            <a:xfrm>
              <a:off x="3381" y="1536"/>
              <a:ext cx="91" cy="81"/>
            </a:xfrm>
            <a:prstGeom prst="flowChartConnector">
              <a:avLst/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734" name="TextBox 50"/>
          <p:cNvSpPr txBox="1"/>
          <p:nvPr/>
        </p:nvSpPr>
        <p:spPr>
          <a:xfrm>
            <a:off x="71438" y="142875"/>
            <a:ext cx="614362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39775" lvl="1" indent="-282575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Multiple Variable of Boundary Values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39775" lvl="1" indent="-282575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/ Worse-Case Testing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5" name="TextBox 50"/>
          <p:cNvSpPr txBox="1"/>
          <p:nvPr/>
        </p:nvSpPr>
        <p:spPr>
          <a:xfrm>
            <a:off x="642938" y="5429250"/>
            <a:ext cx="7358062" cy="1168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combinations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extreme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values!</a:t>
            </a:r>
            <a:endParaRPr lang="en-US" altLang="zh-CN" sz="2000" b="1" dirty="0">
              <a:solidFill>
                <a:srgbClr val="0065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latin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Useful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failure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which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appears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only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when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two or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more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variable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boundary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values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4994275" y="6202680"/>
              <a:ext cx="2893060" cy="355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4994275" y="6202680"/>
                <a:ext cx="2893060" cy="355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728980" y="6537325"/>
              <a:ext cx="4544695" cy="1397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728980" y="6537325"/>
                <a:ext cx="4544695" cy="139700"/>
              </a:xfrm>
              <a:prstGeom prst="rect"/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5" name="直接连接符 24"/>
          <p:cNvCxnSpPr/>
          <p:nvPr/>
        </p:nvCxnSpPr>
        <p:spPr>
          <a:xfrm>
            <a:off x="-12700" y="5141913"/>
            <a:ext cx="13081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1319213" y="2755900"/>
            <a:ext cx="0" cy="2398713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193925" y="1839913"/>
            <a:ext cx="3206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2514600" y="1079500"/>
            <a:ext cx="0" cy="774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514600" y="1079500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678863" y="1079500"/>
            <a:ext cx="0" cy="42259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2514600" y="5305425"/>
            <a:ext cx="61642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514600" y="1854200"/>
            <a:ext cx="0" cy="3451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 rot="20744443">
            <a:off x="5063201" y="574237"/>
            <a:ext cx="1442925" cy="707886"/>
          </a:xfrm>
          <a:prstGeom prst="rect">
            <a:avLst/>
          </a:prstGeom>
          <a:blipFill rotWithShape="1">
            <a:blip r:embed="rId1" cstate="print"/>
            <a:stretch>
              <a:fillRect/>
            </a:stretch>
          </a:blipFill>
          <a:ln w="28575">
            <a:solidFill>
              <a:schemeClr val="bg1"/>
            </a:solidFill>
          </a:ln>
        </p:spPr>
        <p:txBody>
          <a:bodyPr/>
          <a:lstStyle/>
          <a:p>
            <a:pPr marR="0" defTabSz="914400" eaLnBrk="1" latin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92075" y="1000125"/>
            <a:ext cx="2193925" cy="179705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健壮最坏情况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边界值分析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175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0" y="1076325"/>
            <a:ext cx="5810250" cy="4224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7" name="TextBox 13"/>
          <p:cNvSpPr txBox="1"/>
          <p:nvPr/>
        </p:nvSpPr>
        <p:spPr>
          <a:xfrm>
            <a:off x="1285875" y="5643563"/>
            <a:ext cx="72866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Also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invalid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extreme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values.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8" name="TextBox 13"/>
          <p:cNvSpPr txBox="1"/>
          <p:nvPr/>
        </p:nvSpPr>
        <p:spPr>
          <a:xfrm>
            <a:off x="0" y="142875"/>
            <a:ext cx="728662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39775" lvl="1" indent="-282575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Robust Multiple Variable of Boundary Values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     / Robust Worst-Case Testing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3209925" y="6146800"/>
              <a:ext cx="3485515" cy="2159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3209925" y="6146800"/>
                <a:ext cx="3485515" cy="21590"/>
              </a:xfrm>
              <a:prstGeom prst="rect"/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ea typeface="黑体" panose="02010609060101010101" pitchFamily="49" charset="-122"/>
              </a:rPr>
              <a:t>Description of Boundary Value?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  <p:pic>
        <p:nvPicPr>
          <p:cNvPr id="3277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2000250"/>
            <a:ext cx="7215188" cy="4643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Examples: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r>
              <a:rPr lang="en-US" altLang="zh-CN" sz="2800" dirty="0">
                <a:ea typeface="宋体" panose="02010600030101010101" pitchFamily="2" charset="-122"/>
              </a:rPr>
              <a:t>Characters with input range condition [1, 255]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boundary values:	 1, 255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2800" dirty="0">
                <a:solidFill>
                  <a:srgbClr val="000000"/>
                </a:solidFill>
                <a:ea typeface="黑体" panose="02010609060101010101" pitchFamily="49" charset="-122"/>
              </a:rPr>
              <a:t>Read and Write CD-R</a:t>
            </a:r>
            <a:endParaRPr lang="en-US" altLang="zh-CN" sz="2800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dirty="0">
                <a:ea typeface="宋体" panose="02010600030101010101" pitchFamily="2" charset="-122"/>
              </a:rPr>
              <a:t>boundary values: 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Empty file, full files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2800" dirty="0">
                <a:solidFill>
                  <a:srgbClr val="000000"/>
                </a:solidFill>
                <a:ea typeface="黑体" panose="02010609060101010101" pitchFamily="49" charset="-122"/>
              </a:rPr>
              <a:t>Printer: </a:t>
            </a:r>
            <a:endParaRPr lang="en-US" altLang="zh-CN" sz="2800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dirty="0">
                <a:ea typeface="宋体" panose="02010600030101010101" pitchFamily="2" charset="-122"/>
              </a:rPr>
              <a:t>boundary values: 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1 page and maximum pages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988695" y="2905760"/>
              <a:ext cx="4649470" cy="10541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988695" y="2905760"/>
                <a:ext cx="4649470" cy="105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5658485" y="2466975"/>
              <a:ext cx="348615" cy="37020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5658485" y="2466975"/>
                <a:ext cx="348615" cy="370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3888105" y="3874770"/>
              <a:ext cx="934720" cy="19558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3888105" y="3874770"/>
                <a:ext cx="934720" cy="195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5" name="墨迹 4"/>
              <p14:cNvContentPartPr/>
              <p14:nvPr/>
            </p14:nvContentPartPr>
            <p14:xfrm>
              <a:off x="5581650" y="4021455"/>
              <a:ext cx="425450" cy="4191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8"/>
            </p:blipFill>
            <p:spPr>
              <a:xfrm>
                <a:off x="5581650" y="4021455"/>
                <a:ext cx="425450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6" name="墨迹 5"/>
              <p14:cNvContentPartPr/>
              <p14:nvPr/>
            </p14:nvContentPartPr>
            <p14:xfrm>
              <a:off x="3616325" y="5212715"/>
              <a:ext cx="390525" cy="63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0"/>
            </p:blipFill>
            <p:spPr>
              <a:xfrm>
                <a:off x="3616325" y="5212715"/>
                <a:ext cx="39052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7" name="墨迹 6"/>
              <p14:cNvContentPartPr/>
              <p14:nvPr/>
            </p14:nvContentPartPr>
            <p14:xfrm>
              <a:off x="5693410" y="5143500"/>
              <a:ext cx="1526540" cy="4889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2"/>
            </p:blipFill>
            <p:spPr>
              <a:xfrm>
                <a:off x="5693410" y="5143500"/>
                <a:ext cx="1526540" cy="4889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dirty="0">
                <a:ea typeface="宋体" panose="02010600030101010101" pitchFamily="2" charset="-122"/>
              </a:rPr>
              <a:t>Examples: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Triangle Problem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The NextDate Problem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The Commission Problem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5" y="476250"/>
            <a:ext cx="8736013" cy="583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88" y="476250"/>
            <a:ext cx="8748712" cy="5689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ea typeface="宋体" panose="02010600030101010101" pitchFamily="2" charset="-122"/>
              </a:rPr>
              <a:t>The Triangle Problem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solidFill>
                  <a:srgbClr val="000000"/>
                </a:solidFill>
                <a:ea typeface="宋体" panose="02010600030101010101" pitchFamily="2" charset="-122"/>
              </a:rPr>
              <a:t>Test cases for boundary value analysis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28688" y="2428875"/>
          <a:ext cx="6500813" cy="4054480"/>
        </p:xfrm>
        <a:graphic>
          <a:graphicData uri="http://schemas.openxmlformats.org/drawingml/2006/table">
            <a:tbl>
              <a:tblPr/>
              <a:tblGrid>
                <a:gridCol w="1095375"/>
                <a:gridCol w="1096962"/>
                <a:gridCol w="1095375"/>
                <a:gridCol w="1096963"/>
                <a:gridCol w="2116137"/>
              </a:tblGrid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NO.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a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b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Expected results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I(Isosceles)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E(Equilateral)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199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N(NotATriangle)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6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7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8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9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199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13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199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8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4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Franklin Gothic Book" panose="020B050302010202020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6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圆角矩形标注 4"/>
          <p:cNvSpPr/>
          <p:nvPr/>
        </p:nvSpPr>
        <p:spPr>
          <a:xfrm>
            <a:off x="7358063" y="1571625"/>
            <a:ext cx="1785938" cy="714375"/>
          </a:xfrm>
          <a:prstGeom prst="wedgeRoundRectCallout">
            <a:avLst>
              <a:gd name="adj1" fmla="val -116590"/>
              <a:gd name="adj2" fmla="val 586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 test cases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5612765" y="1080135"/>
              <a:ext cx="551815" cy="38354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5612765" y="1080135"/>
                <a:ext cx="551815" cy="3835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5801360" y="1163955"/>
              <a:ext cx="265430" cy="66230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5801360" y="1163955"/>
                <a:ext cx="265430" cy="6623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6184265" y="1379855"/>
              <a:ext cx="370205" cy="46736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6184265" y="1379855"/>
                <a:ext cx="370205" cy="467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墨迹 6"/>
              <p14:cNvContentPartPr/>
              <p14:nvPr/>
            </p14:nvContentPartPr>
            <p14:xfrm>
              <a:off x="6762750" y="1456055"/>
              <a:ext cx="384175" cy="762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8"/>
            </p:blipFill>
            <p:spPr>
              <a:xfrm>
                <a:off x="6762750" y="1456055"/>
                <a:ext cx="384175" cy="7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8" name="墨迹 7"/>
              <p14:cNvContentPartPr/>
              <p14:nvPr/>
            </p14:nvContentPartPr>
            <p14:xfrm>
              <a:off x="6881495" y="1226185"/>
              <a:ext cx="153670" cy="55816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0"/>
            </p:blipFill>
            <p:spPr>
              <a:xfrm>
                <a:off x="6881495" y="1226185"/>
                <a:ext cx="153670" cy="558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9" name="墨迹 8"/>
              <p14:cNvContentPartPr/>
              <p14:nvPr/>
            </p14:nvContentPartPr>
            <p14:xfrm>
              <a:off x="7279005" y="1184275"/>
              <a:ext cx="48895" cy="60007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2"/>
            </p:blipFill>
            <p:spPr>
              <a:xfrm>
                <a:off x="7279005" y="1184275"/>
                <a:ext cx="48895" cy="60007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ea typeface="宋体" panose="02010600030101010101" pitchFamily="2" charset="-122"/>
              </a:rPr>
              <a:t>The Triangle Problem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Design test cases for </a:t>
            </a:r>
            <a:r>
              <a:rPr lang="en-US" altLang="zh-CN" dirty="0">
                <a:ea typeface="黑体" panose="02010609060101010101" pitchFamily="49" charset="-122"/>
              </a:rPr>
              <a:t>Robustness Boundary Values.</a:t>
            </a:r>
            <a:endParaRPr lang="en-US" altLang="zh-CN" dirty="0">
              <a:ea typeface="黑体" panose="02010609060101010101" pitchFamily="49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ea typeface="黑体" panose="02010609060101010101" pitchFamily="49" charset="-122"/>
              </a:rPr>
              <a:t>How many test cases for Multiple Variable of Boundary Values</a:t>
            </a:r>
            <a:r>
              <a:rPr lang="en-US" altLang="zh-CN" dirty="0">
                <a:ea typeface="宋体" panose="02010600030101010101" pitchFamily="2" charset="-122"/>
              </a:rPr>
              <a:t>(Worst-case testing) ?</a:t>
            </a:r>
            <a:endParaRPr lang="en-US" altLang="zh-CN" dirty="0">
              <a:ea typeface="黑体" panose="02010609060101010101" pitchFamily="49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ea typeface="黑体" panose="02010609060101010101" pitchFamily="49" charset="-122"/>
              </a:rPr>
              <a:t>How many test cases for Robust Multiple Variable of Boundary Values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dirty="0">
                <a:ea typeface="黑体" panose="02010609060101010101" pitchFamily="49" charset="-122"/>
              </a:rPr>
              <a:t>Robust Worst-Case Testing</a:t>
            </a:r>
            <a:r>
              <a:rPr lang="en-US" altLang="zh-CN" dirty="0">
                <a:ea typeface="宋体" panose="02010600030101010101" pitchFamily="2" charset="-122"/>
              </a:rPr>
              <a:t>)?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5073015" y="3721735"/>
              <a:ext cx="2112010" cy="1460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5073015" y="3721735"/>
                <a:ext cx="2112010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5093970" y="4947920"/>
              <a:ext cx="2830195" cy="13335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5093970" y="4947920"/>
                <a:ext cx="2830195" cy="133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5672455" y="2731770"/>
              <a:ext cx="237490" cy="40513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5672455" y="2731770"/>
                <a:ext cx="237490" cy="405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5" name="墨迹 4"/>
              <p14:cNvContentPartPr/>
              <p14:nvPr/>
            </p14:nvContentPartPr>
            <p14:xfrm>
              <a:off x="5930265" y="2822575"/>
              <a:ext cx="146685" cy="63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9"/>
            </p:blipFill>
            <p:spPr>
              <a:xfrm>
                <a:off x="5930265" y="2822575"/>
                <a:ext cx="14668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6" name="墨迹 5"/>
              <p14:cNvContentPartPr/>
              <p14:nvPr/>
            </p14:nvContentPartPr>
            <p14:xfrm>
              <a:off x="6292215" y="2592705"/>
              <a:ext cx="252095" cy="29972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1"/>
            </p:blipFill>
            <p:spPr>
              <a:xfrm>
                <a:off x="6292215" y="2592705"/>
                <a:ext cx="252095" cy="2997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7" name="墨迹 6"/>
              <p14:cNvContentPartPr/>
              <p14:nvPr/>
            </p14:nvContentPartPr>
            <p14:xfrm>
              <a:off x="7951470" y="4055745"/>
              <a:ext cx="258445" cy="38417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3"/>
            </p:blipFill>
            <p:spPr>
              <a:xfrm>
                <a:off x="7951470" y="4055745"/>
                <a:ext cx="258445" cy="384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8" name="墨迹 7"/>
              <p14:cNvContentPartPr/>
              <p14:nvPr/>
            </p14:nvContentPartPr>
            <p14:xfrm>
              <a:off x="8251190" y="3846830"/>
              <a:ext cx="209550" cy="39814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5"/>
            </p:blipFill>
            <p:spPr>
              <a:xfrm>
                <a:off x="8251190" y="3846830"/>
                <a:ext cx="209550" cy="39814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71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154" end="2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ea typeface="宋体" panose="02010600030101010101" pitchFamily="2" charset="-122"/>
              </a:rPr>
              <a:t>The NextDate Problem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Inputs are three integers: month, date, year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Output is the next date of the input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739775" lvl="1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Satisfy the following conditions: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1139825" lvl="2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C1: 1&lt;= month &lt;= 12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1139825" lvl="2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C2: 1&lt;= day &lt;= 31</a:t>
            </a:r>
            <a:endParaRPr lang="en-US" altLang="zh-CN" dirty="0">
              <a:ea typeface="黑体" panose="02010609060101010101" pitchFamily="49" charset="-122"/>
            </a:endParaRPr>
          </a:p>
          <a:p>
            <a:pPr marL="1139825" lvl="2" indent="-282575">
              <a:lnSpc>
                <a:spcPct val="130000"/>
              </a:lnSpc>
              <a:buBlip>
                <a:blip r:embed="rId1"/>
              </a:buBlip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C3: 1812&lt;= year &lt;= 2012</a:t>
            </a:r>
            <a:endParaRPr lang="zh-CN" altLang="en-US" dirty="0">
              <a:ea typeface="黑体" panose="02010609060101010101" pitchFamily="49" charset="-122"/>
            </a:endParaRPr>
          </a:p>
          <a:p>
            <a:pPr>
              <a:buBlip>
                <a:blip r:embed="rId1"/>
              </a:buBlip>
            </a:pPr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How to test the </a:t>
            </a: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NextDate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problem?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For month: 0, 1, 2, 6, 11, 12, 13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For day: 0, 1, 2, 15, 30, 31, 32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For year : 1811, 1812, 1813, 1900, 2011, 2012, 2013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39725" marR="0" lvl="0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Some impossible test cases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2-30-1900, 6-31-2012…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39725" marR="0" lvl="0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Miss some important test cases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28 or 29 in February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Leap year: 2000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6139180" y="4432300"/>
              <a:ext cx="2028825" cy="148526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6139180" y="4432300"/>
                <a:ext cx="2028825" cy="148526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34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68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0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53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80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202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233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254" end="2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198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0"/>
            <a:ext cx="9144000" cy="6643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01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764223"/>
            <a:ext cx="8280400" cy="52498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03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8" y="619125"/>
            <a:ext cx="8604250" cy="5167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836613"/>
            <a:ext cx="7129463" cy="3600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5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4365625"/>
            <a:ext cx="4032250" cy="1655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549275"/>
            <a:ext cx="7235825" cy="583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10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692150"/>
            <a:ext cx="7058025" cy="346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4149725"/>
            <a:ext cx="5257800" cy="15414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13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1112"/>
            <a:ext cx="9144000" cy="6643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1" name="TextBox 1"/>
          <p:cNvSpPr txBox="1"/>
          <p:nvPr/>
        </p:nvSpPr>
        <p:spPr>
          <a:xfrm>
            <a:off x="1042988" y="587375"/>
            <a:ext cx="8101012" cy="5540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395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5723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5723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Cases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5723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5723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5723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Commission Problem</a:t>
            </a:r>
            <a:endParaRPr lang="en-US" altLang="zh-CN" b="1" dirty="0">
              <a:solidFill>
                <a:srgbClr val="57231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2" name="TextBox 1"/>
          <p:cNvSpPr txBox="1"/>
          <p:nvPr/>
        </p:nvSpPr>
        <p:spPr>
          <a:xfrm>
            <a:off x="1714500" y="1357313"/>
            <a:ext cx="6584950" cy="450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324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focus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boundary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values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3" name="TextBox 1"/>
          <p:cNvSpPr txBox="1"/>
          <p:nvPr/>
        </p:nvSpPr>
        <p:spPr>
          <a:xfrm>
            <a:off x="1714500" y="1835150"/>
            <a:ext cx="5788025" cy="450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324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range,especially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near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4" name="TextBox 1"/>
          <p:cNvSpPr txBox="1"/>
          <p:nvPr/>
        </p:nvSpPr>
        <p:spPr>
          <a:xfrm>
            <a:off x="1714500" y="2428875"/>
            <a:ext cx="6688138" cy="4508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324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threshold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points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$1000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$1800.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5" name="TextBox 1"/>
          <p:cNvSpPr txBox="1"/>
          <p:nvPr/>
        </p:nvSpPr>
        <p:spPr>
          <a:xfrm>
            <a:off x="2000250" y="3786188"/>
            <a:ext cx="1782763" cy="2809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175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commission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6" name="TextBox 1"/>
          <p:cNvSpPr txBox="1"/>
          <p:nvPr/>
        </p:nvSpPr>
        <p:spPr>
          <a:xfrm>
            <a:off x="1714500" y="4429125"/>
            <a:ext cx="1782763" cy="2809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175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commission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7" name="TextBox 1"/>
          <p:cNvSpPr txBox="1"/>
          <p:nvPr/>
        </p:nvSpPr>
        <p:spPr>
          <a:xfrm>
            <a:off x="1571625" y="5219700"/>
            <a:ext cx="1782763" cy="2809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4007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lnSpc>
                <a:spcPts val="175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commission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 rot="10800000" flipV="1">
            <a:off x="7383463" y="4710113"/>
            <a:ext cx="238125" cy="196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40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15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28575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7987030" y="5861050"/>
              <a:ext cx="822960" cy="10668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7987030" y="5861050"/>
                <a:ext cx="822960" cy="10668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61950" y="1419225"/>
            <a:ext cx="8424863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Boundary Value Analysis 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techniques include:</a:t>
            </a:r>
            <a:endParaRPr kumimoji="0" lang="en-US" altLang="zh-CN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Normal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Robustness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Multiple Variable of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39825" marR="0" lvl="2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(Worst-Case Testing) 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39775" marR="0" lvl="1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Multiple Variable of Boundary Values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39825" marR="0" lvl="2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Robust Worst-Case Testing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39725" marR="0" lvl="0" indent="-282575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Blip>
                <a:blip r:embed="rId1"/>
              </a:buBlip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can be applied for the input/output range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5420995" y="2689860"/>
              <a:ext cx="725805" cy="34925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5420995" y="2689860"/>
                <a:ext cx="725805" cy="349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5351780" y="2021205"/>
              <a:ext cx="704215" cy="467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5351780" y="2021205"/>
                <a:ext cx="704215" cy="467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6041390" y="3045460"/>
              <a:ext cx="753745" cy="59309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6041390" y="3045460"/>
                <a:ext cx="753745" cy="5930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5" name="墨迹 4"/>
              <p14:cNvContentPartPr/>
              <p14:nvPr/>
            </p14:nvContentPartPr>
            <p14:xfrm>
              <a:off x="6369050" y="4516120"/>
              <a:ext cx="1401445" cy="98298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9"/>
            </p:blipFill>
            <p:spPr>
              <a:xfrm>
                <a:off x="6369050" y="4516120"/>
                <a:ext cx="1401445" cy="9829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algn="l" eaLnBrk="1" hangingPunct="1">
              <a:buNone/>
            </a:pPr>
            <a:r>
              <a:rPr lang="zh-CN" altLang="en-US" sz="3600" b="1" dirty="0">
                <a:ea typeface="微软雅黑" panose="020B0503020204020204" pitchFamily="34" charset="-122"/>
              </a:rPr>
              <a:t>边界值检验的主要类型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20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557338"/>
            <a:ext cx="8464550" cy="4319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2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01138" cy="6643688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4140200" y="4941888"/>
            <a:ext cx="4535488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871663" y="2852738"/>
            <a:ext cx="3636963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1612900" y="2418080"/>
              <a:ext cx="3227705" cy="42608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612900" y="2418080"/>
                <a:ext cx="3227705" cy="4260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5" name="墨迹 4"/>
              <p14:cNvContentPartPr/>
              <p14:nvPr/>
            </p14:nvContentPartPr>
            <p14:xfrm>
              <a:off x="6317615" y="2961640"/>
              <a:ext cx="1527175" cy="55118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5"/>
            </p:blipFill>
            <p:spPr>
              <a:xfrm>
                <a:off x="6317615" y="2961640"/>
                <a:ext cx="1527175" cy="5511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6" name="墨迹 5"/>
              <p14:cNvContentPartPr/>
              <p14:nvPr/>
            </p14:nvContentPartPr>
            <p14:xfrm>
              <a:off x="1926590" y="3429000"/>
              <a:ext cx="1631950" cy="60642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7"/>
            </p:blipFill>
            <p:spPr>
              <a:xfrm>
                <a:off x="1926590" y="3429000"/>
                <a:ext cx="1631950" cy="60642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42938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0" y="1412875"/>
            <a:ext cx="8782050" cy="4724400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30000"/>
              </a:spcBef>
              <a:buNone/>
            </a:pP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Questions?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000" dirty="0">
                <a:solidFill>
                  <a:srgbClr val="000000"/>
                </a:solidFill>
                <a:ea typeface="黑体" panose="02010609060101010101" pitchFamily="49" charset="-122"/>
              </a:rPr>
              <a:t>What is the advantages of </a:t>
            </a:r>
            <a:r>
              <a:rPr lang="en-US" altLang="zh-CN" sz="3000" dirty="0">
                <a:ea typeface="宋体" panose="02010600030101010101" pitchFamily="2" charset="-122"/>
              </a:rPr>
              <a:t>Boundary Value Analysis?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000" dirty="0">
                <a:solidFill>
                  <a:srgbClr val="000000"/>
                </a:solidFill>
                <a:ea typeface="黑体" panose="02010609060101010101" pitchFamily="49" charset="-122"/>
              </a:rPr>
              <a:t>What is the limitations of </a:t>
            </a:r>
            <a:r>
              <a:rPr lang="en-US" altLang="zh-CN" sz="3000" dirty="0">
                <a:ea typeface="宋体" panose="02010600030101010101" pitchFamily="2" charset="-122"/>
              </a:rPr>
              <a:t>Boundary Value Analysis?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endParaRPr lang="zh-CN" altLang="en-US" sz="2400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84213" y="55563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4.2 </a:t>
            </a:r>
            <a:r>
              <a:rPr lang="en-US" altLang="zh-CN" sz="3600" dirty="0">
                <a:ea typeface="宋体" panose="02010600030101010101" pitchFamily="2" charset="-122"/>
              </a:rPr>
              <a:t>Boundary Value Analysis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179388" y="1052513"/>
            <a:ext cx="8782050" cy="4724400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30000"/>
              </a:spcBef>
            </a:pPr>
            <a:r>
              <a:rPr lang="en-US" altLang="zh-CN" sz="3000" dirty="0">
                <a:solidFill>
                  <a:srgbClr val="000000"/>
                </a:solidFill>
                <a:ea typeface="黑体" panose="02010609060101010101" pitchFamily="49" charset="-122"/>
              </a:rPr>
              <a:t>What is the advantages of </a:t>
            </a:r>
            <a:r>
              <a:rPr lang="en-US" altLang="zh-CN" sz="3000" dirty="0">
                <a:ea typeface="宋体" panose="02010600030101010101" pitchFamily="2" charset="-122"/>
              </a:rPr>
              <a:t>Boundary Value Analysis?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Given the boundary, it is easy and cheap to design test cases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N parameters produce 4n+1, 6n+1, 5</a:t>
            </a:r>
            <a:r>
              <a:rPr lang="en-US" altLang="zh-CN" sz="2600" baseline="30000" dirty="0">
                <a:ea typeface="宋体" panose="02010600030101010101" pitchFamily="2" charset="-122"/>
              </a:rPr>
              <a:t>n</a:t>
            </a:r>
            <a:r>
              <a:rPr lang="en-US" altLang="zh-CN" sz="2600" dirty="0">
                <a:ea typeface="宋体" panose="02010600030101010101" pitchFamily="2" charset="-122"/>
              </a:rPr>
              <a:t>, 7</a:t>
            </a:r>
            <a:r>
              <a:rPr lang="en-US" altLang="zh-CN" sz="2600" baseline="30000" dirty="0">
                <a:ea typeface="宋体" panose="02010600030101010101" pitchFamily="2" charset="-122"/>
              </a:rPr>
              <a:t>n</a:t>
            </a:r>
            <a:r>
              <a:rPr lang="en-US" altLang="zh-CN" sz="2600" dirty="0">
                <a:ea typeface="宋体" panose="02010600030101010101" pitchFamily="2" charset="-122"/>
              </a:rPr>
              <a:t> test cases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Different data type have different boundary value selection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000" dirty="0">
                <a:solidFill>
                  <a:srgbClr val="000000"/>
                </a:solidFill>
                <a:ea typeface="黑体" panose="02010609060101010101" pitchFamily="49" charset="-122"/>
              </a:rPr>
              <a:t>What is the limitations of </a:t>
            </a:r>
            <a:r>
              <a:rPr lang="en-US" altLang="zh-CN" sz="3000" dirty="0">
                <a:ea typeface="宋体" panose="02010600030101010101" pitchFamily="2" charset="-122"/>
              </a:rPr>
              <a:t>Boundary Value Analysis?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Suppose parameters are independent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Ignore the semantic information of parameters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30000"/>
              </a:spcBef>
            </a:pPr>
            <a:r>
              <a:rPr lang="en-US" altLang="zh-CN" sz="2600" dirty="0">
                <a:ea typeface="宋体" panose="02010600030101010101" pitchFamily="2" charset="-122"/>
              </a:rPr>
              <a:t>Boundary value analysis is not useful for a Boolean variable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endParaRPr lang="zh-CN" altLang="en-US" sz="2400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4563110" y="2119630"/>
              <a:ext cx="2105025" cy="2159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4563110" y="2119630"/>
                <a:ext cx="2105025" cy="21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2291080" y="3457575"/>
              <a:ext cx="989965" cy="2857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2291080" y="3457575"/>
                <a:ext cx="989965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5824220" y="3352800"/>
              <a:ext cx="1241425" cy="1752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5824220" y="3352800"/>
                <a:ext cx="1241425" cy="1752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684213" y="55563"/>
            <a:ext cx="7772400" cy="1143000"/>
          </a:xfrm>
        </p:spPr>
        <p:txBody>
          <a:bodyPr vert="horz" wrap="square" lIns="91440" tIns="45720" rIns="91440" bIns="45720" anchor="ctr" anchorCtr="0"/>
          <a:p>
            <a:pPr marL="342900" indent="-342900" eaLnBrk="1" hangingPunct="1"/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Exercise 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179388" y="1052513"/>
            <a:ext cx="8856662" cy="47244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ea typeface="黑体" panose="02010609060101010101" pitchFamily="49" charset="-122"/>
              </a:rPr>
              <a:t>There are three integer inputs x, y, z, corresponding to the length, width and height of a rectangle respectively. All of these three inputs are in the range of [2, 20], the output is the volume of the rectangle. </a:t>
            </a:r>
            <a:endParaRPr lang="zh-CN" altLang="zh-CN" sz="2800" dirty="0">
              <a:ea typeface="黑体" panose="02010609060101010101" pitchFamily="49" charset="-122"/>
            </a:endParaRPr>
          </a:p>
          <a:p>
            <a:pPr lvl="1"/>
            <a:r>
              <a:rPr lang="en-US" altLang="zh-CN" sz="2400" dirty="0">
                <a:ea typeface="黑体" panose="02010609060101010101" pitchFamily="49" charset="-122"/>
              </a:rPr>
              <a:t>List the number of test cases that needed by four types of boundary value analysis respectively.</a:t>
            </a:r>
            <a:endParaRPr lang="zh-CN" altLang="zh-CN" sz="2400" dirty="0">
              <a:ea typeface="黑体" panose="02010609060101010101" pitchFamily="49" charset="-122"/>
            </a:endParaRPr>
          </a:p>
          <a:p>
            <a:pPr lvl="1"/>
            <a:r>
              <a:rPr lang="en-US" altLang="zh-CN" sz="2400" dirty="0">
                <a:ea typeface="黑体" panose="02010609060101010101" pitchFamily="49" charset="-122"/>
              </a:rPr>
              <a:t>Design the test cases by Robustness Boundary Value Analysis.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30000"/>
              </a:spcBef>
            </a:pPr>
            <a:endParaRPr lang="zh-CN" altLang="en-US" sz="2400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  <a:p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tags/tag1.xml><?xml version="1.0" encoding="utf-8"?>
<p:tagLst xmlns:p="http://schemas.openxmlformats.org/presentationml/2006/main">
  <p:tag name="COMMONDATA" val="eyJoZGlkIjoiN2IwOWFlOGM2YmZkYmVhODljOWM2OWVmNWFhOGVlYjQifQ=="/>
  <p:tag name="commondata" val="eyJoZGlkIjoiODA5MTA2NDMzZjIxODllMWZmMzY1NzJhMzc2YzVkYTE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0</TotalTime>
  <Words>6971</Words>
  <Application>WPS 演示</Application>
  <PresentationFormat>全屏显示(4:3)</PresentationFormat>
  <Paragraphs>590</Paragraphs>
  <Slides>41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8" baseType="lpstr">
      <vt:lpstr>Arial</vt:lpstr>
      <vt:lpstr>宋体</vt:lpstr>
      <vt:lpstr>Wingdings</vt:lpstr>
      <vt:lpstr>Franklin Gothic Medium</vt:lpstr>
      <vt:lpstr>Wingdings 2</vt:lpstr>
      <vt:lpstr>Arial</vt:lpstr>
      <vt:lpstr>微软雅黑</vt:lpstr>
      <vt:lpstr>Wingdings 2</vt:lpstr>
      <vt:lpstr>黑体</vt:lpstr>
      <vt:lpstr>Arial Unicode MS</vt:lpstr>
      <vt:lpstr>Times New Roman</vt:lpstr>
      <vt:lpstr>Arial Black</vt:lpstr>
      <vt:lpstr>Symbol</vt:lpstr>
      <vt:lpstr>Franklin Gothic Book</vt:lpstr>
      <vt:lpstr>Times New Roman</vt:lpstr>
      <vt:lpstr>Monotype Corsiva</vt:lpstr>
      <vt:lpstr>暗香扑面</vt:lpstr>
      <vt:lpstr>Session 7  Black-Box Testing (1) -- Boundary Value Analysis</vt:lpstr>
      <vt:lpstr>PowerPoint 演示文稿</vt:lpstr>
      <vt:lpstr>4.1 Introduction of Black-Box Testing</vt:lpstr>
      <vt:lpstr>4.1 Introduction of Black-Box Testing</vt:lpstr>
      <vt:lpstr>PowerPoint 演示文稿</vt:lpstr>
      <vt:lpstr>4.1 Introduction of Black-Box Testing</vt:lpstr>
      <vt:lpstr>PowerPoint 演示文稿</vt:lpstr>
      <vt:lpstr>4.2 Boundary Value Analysis</vt:lpstr>
      <vt:lpstr>4.2 Boundary Value Analysis</vt:lpstr>
      <vt:lpstr>4.2 Boundary Value Analysis</vt:lpstr>
      <vt:lpstr>4.2 Boundary Value Analysis</vt:lpstr>
      <vt:lpstr>4.2 Boundary Value Analysis</vt:lpstr>
      <vt:lpstr>4.2 Boundary Value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Boundary Value Analysis</vt:lpstr>
      <vt:lpstr>4.2 Boundary Value Analysis</vt:lpstr>
      <vt:lpstr>4.2 Boundary Value Analysis</vt:lpstr>
      <vt:lpstr>PowerPoint 演示文稿</vt:lpstr>
      <vt:lpstr>PowerPoint 演示文稿</vt:lpstr>
      <vt:lpstr>4.2 Boundary Value Analysis</vt:lpstr>
      <vt:lpstr>4.2 Boundary Value Analysis</vt:lpstr>
      <vt:lpstr>4.2 Boundary Value Analysis</vt:lpstr>
      <vt:lpstr>4.2 Boundary Value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Boundary Value Analysis</vt:lpstr>
      <vt:lpstr>边界值检验的主要类型</vt:lpstr>
      <vt:lpstr>PowerPoint 演示文稿</vt:lpstr>
      <vt:lpstr>4.2 Boundary Value Analysis</vt:lpstr>
      <vt:lpstr>4.2 Boundary Value Analysis</vt:lpstr>
      <vt:lpstr>Exercise 1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</dc:title>
  <dc:creator>微软用户</dc:creator>
  <cp:lastModifiedBy>大孜</cp:lastModifiedBy>
  <cp:revision>313</cp:revision>
  <cp:lastPrinted>2016-04-24T12:03:00Z</cp:lastPrinted>
  <dcterms:created xsi:type="dcterms:W3CDTF">2009-02-06T04:48:00Z</dcterms:created>
  <dcterms:modified xsi:type="dcterms:W3CDTF">2023-11-06T16:10:02Z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2715047BC9214CCF88D9D66B98CD612B</vt:lpwstr>
  </property>
  <property fmtid="{D5CDD505-2E9C-101B-9397-08002B2CF9AE}" pid="3" name="KSOProductBuildVer">
    <vt:lpwstr>2052-12.1.0.15712</vt:lpwstr>
  </property>
</Properties>
</file>