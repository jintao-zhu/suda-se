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4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14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45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58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65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14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34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65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64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826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22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47924-9FD9-4BF2-BC43-A32741F0B1AC}" type="datetimeFigureOut">
              <a:rPr lang="zh-CN" altLang="en-US" smtClean="0"/>
              <a:t>2016/11/3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9C3BC-144F-47FD-9EA8-6E27CE81B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34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8831" y="545465"/>
            <a:ext cx="8188779" cy="5816146"/>
          </a:xfrm>
        </p:spPr>
        <p:txBody>
          <a:bodyPr>
            <a:noAutofit/>
          </a:bodyPr>
          <a:lstStyle/>
          <a:p>
            <a:r>
              <a:rPr lang="en-US" altLang="zh-CN" sz="2400" b="1" dirty="0" smtClean="0">
                <a:latin typeface="+mn-ea"/>
              </a:rPr>
              <a:t>1.</a:t>
            </a:r>
            <a:r>
              <a:rPr lang="zh-CN" altLang="zh-CN" sz="2400" b="1" dirty="0" smtClean="0">
                <a:latin typeface="+mn-ea"/>
              </a:rPr>
              <a:t>假定</a:t>
            </a:r>
            <a:r>
              <a:rPr lang="zh-CN" altLang="zh-CN" sz="2400" b="1" dirty="0">
                <a:latin typeface="+mn-ea"/>
              </a:rPr>
              <a:t>一个</a:t>
            </a:r>
            <a:r>
              <a:rPr lang="en-US" altLang="zh-CN" sz="2400" b="1" dirty="0">
                <a:latin typeface="+mn-ea"/>
              </a:rPr>
              <a:t>ISP</a:t>
            </a:r>
            <a:r>
              <a:rPr lang="zh-CN" altLang="zh-CN" sz="2400" b="1" dirty="0">
                <a:latin typeface="+mn-ea"/>
              </a:rPr>
              <a:t>拥有形为</a:t>
            </a:r>
            <a:r>
              <a:rPr lang="en-US" altLang="zh-CN" sz="2400" b="1" dirty="0">
                <a:latin typeface="+mn-ea"/>
              </a:rPr>
              <a:t>101.101.100.0/23</a:t>
            </a:r>
            <a:r>
              <a:rPr lang="zh-CN" altLang="zh-CN" sz="2400" b="1" dirty="0">
                <a:latin typeface="+mn-ea"/>
              </a:rPr>
              <a:t>的地址块，要分配给四个单位使用，</a:t>
            </a:r>
            <a:r>
              <a:rPr lang="en-US" altLang="zh-CN" sz="2400" b="1" dirty="0">
                <a:latin typeface="+mn-ea"/>
              </a:rPr>
              <a:t>A</a:t>
            </a:r>
            <a:r>
              <a:rPr lang="zh-CN" altLang="zh-CN" sz="2400" b="1" dirty="0">
                <a:latin typeface="+mn-ea"/>
              </a:rPr>
              <a:t>单位需要</a:t>
            </a:r>
            <a:r>
              <a:rPr lang="en-US" altLang="zh-CN" sz="2400" b="1" dirty="0">
                <a:latin typeface="+mn-ea"/>
              </a:rPr>
              <a:t>115</a:t>
            </a:r>
            <a:r>
              <a:rPr lang="zh-CN" altLang="zh-CN" sz="2400" b="1" dirty="0">
                <a:latin typeface="+mn-ea"/>
              </a:rPr>
              <a:t>个</a:t>
            </a:r>
            <a:r>
              <a:rPr lang="en-US" altLang="zh-CN" sz="2400" b="1" dirty="0">
                <a:latin typeface="+mn-ea"/>
              </a:rPr>
              <a:t>IP</a:t>
            </a:r>
            <a:r>
              <a:rPr lang="zh-CN" altLang="zh-CN" sz="2400" b="1" dirty="0">
                <a:latin typeface="+mn-ea"/>
              </a:rPr>
              <a:t>地址，</a:t>
            </a:r>
            <a:r>
              <a:rPr lang="en-US" altLang="zh-CN" sz="2400" b="1" dirty="0">
                <a:latin typeface="+mn-ea"/>
              </a:rPr>
              <a:t>B</a:t>
            </a:r>
            <a:r>
              <a:rPr lang="zh-CN" altLang="zh-CN" sz="2400" b="1" dirty="0">
                <a:latin typeface="+mn-ea"/>
              </a:rPr>
              <a:t>单位需要</a:t>
            </a:r>
            <a:r>
              <a:rPr lang="en-US" altLang="zh-CN" sz="2400" b="1" dirty="0">
                <a:latin typeface="+mn-ea"/>
              </a:rPr>
              <a:t>238</a:t>
            </a:r>
            <a:r>
              <a:rPr lang="zh-CN" altLang="zh-CN" sz="2400" b="1" dirty="0">
                <a:latin typeface="+mn-ea"/>
              </a:rPr>
              <a:t>个地址，</a:t>
            </a:r>
            <a:r>
              <a:rPr lang="en-US" altLang="zh-CN" sz="2400" b="1" dirty="0">
                <a:latin typeface="+mn-ea"/>
              </a:rPr>
              <a:t>C</a:t>
            </a:r>
            <a:r>
              <a:rPr lang="zh-CN" altLang="zh-CN" sz="2400" b="1" dirty="0">
                <a:latin typeface="+mn-ea"/>
              </a:rPr>
              <a:t>单位需要</a:t>
            </a:r>
            <a:r>
              <a:rPr lang="en-US" altLang="zh-CN" sz="2400" b="1" dirty="0">
                <a:latin typeface="+mn-ea"/>
              </a:rPr>
              <a:t>50</a:t>
            </a:r>
            <a:r>
              <a:rPr lang="zh-CN" altLang="zh-CN" sz="2400" b="1" dirty="0">
                <a:latin typeface="+mn-ea"/>
              </a:rPr>
              <a:t>个</a:t>
            </a:r>
            <a:r>
              <a:rPr lang="en-US" altLang="zh-CN" sz="2400" b="1" dirty="0">
                <a:latin typeface="+mn-ea"/>
              </a:rPr>
              <a:t>IP</a:t>
            </a:r>
            <a:r>
              <a:rPr lang="zh-CN" altLang="zh-CN" sz="2400" b="1" dirty="0">
                <a:latin typeface="+mn-ea"/>
              </a:rPr>
              <a:t>地址，</a:t>
            </a:r>
            <a:r>
              <a:rPr lang="en-US" altLang="zh-CN" sz="2400" b="1" dirty="0">
                <a:latin typeface="+mn-ea"/>
              </a:rPr>
              <a:t>D</a:t>
            </a:r>
            <a:r>
              <a:rPr lang="zh-CN" altLang="zh-CN" sz="2400" b="1" dirty="0">
                <a:latin typeface="+mn-ea"/>
              </a:rPr>
              <a:t>单位需要</a:t>
            </a:r>
            <a:r>
              <a:rPr lang="en-US" altLang="zh-CN" sz="2400" b="1" dirty="0">
                <a:latin typeface="+mn-ea"/>
              </a:rPr>
              <a:t>29</a:t>
            </a:r>
            <a:r>
              <a:rPr lang="zh-CN" altLang="zh-CN" sz="2400" b="1" dirty="0">
                <a:latin typeface="+mn-ea"/>
              </a:rPr>
              <a:t>个</a:t>
            </a:r>
            <a:r>
              <a:rPr lang="en-US" altLang="zh-CN" sz="2400" b="1" dirty="0">
                <a:latin typeface="+mn-ea"/>
              </a:rPr>
              <a:t>IP</a:t>
            </a:r>
            <a:r>
              <a:rPr lang="zh-CN" altLang="zh-CN" sz="2400" b="1" dirty="0">
                <a:latin typeface="+mn-ea"/>
              </a:rPr>
              <a:t>地址。请提供满足四个单位需要的地址块划分（形式为</a:t>
            </a:r>
            <a:r>
              <a:rPr lang="en-US" altLang="zh-CN" sz="2400" b="1" dirty="0" err="1">
                <a:latin typeface="+mn-ea"/>
              </a:rPr>
              <a:t>a.b.c.d</a:t>
            </a:r>
            <a:r>
              <a:rPr lang="en-US" altLang="zh-CN" sz="2400" b="1" dirty="0">
                <a:latin typeface="+mn-ea"/>
              </a:rPr>
              <a:t>/x</a:t>
            </a:r>
            <a:r>
              <a:rPr lang="zh-CN" altLang="zh-CN" sz="2400" b="1" dirty="0">
                <a:latin typeface="+mn-ea"/>
              </a:rPr>
              <a:t>）。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 smtClean="0">
                <a:latin typeface="+mn-ea"/>
              </a:rPr>
              <a:t>2.128.11.3.31</a:t>
            </a:r>
            <a:r>
              <a:rPr lang="zh-CN" altLang="zh-CN" sz="2400" b="1" dirty="0">
                <a:latin typeface="+mn-ea"/>
              </a:rPr>
              <a:t>是哪类地址，其网络标识和主机标识分别是什么？</a:t>
            </a:r>
            <a:endParaRPr lang="en-US" altLang="zh-CN" sz="2400" b="1" dirty="0">
              <a:latin typeface="+mn-ea"/>
            </a:endParaRPr>
          </a:p>
          <a:p>
            <a:r>
              <a:rPr lang="en-US" altLang="zh-CN" sz="2400" b="1" dirty="0" smtClean="0">
                <a:latin typeface="+mn-ea"/>
              </a:rPr>
              <a:t>3.</a:t>
            </a:r>
            <a:r>
              <a:rPr lang="zh-CN" altLang="zh-CN" sz="2400" b="1" dirty="0" smtClean="0">
                <a:latin typeface="+mn-ea"/>
              </a:rPr>
              <a:t>下</a:t>
            </a:r>
            <a:r>
              <a:rPr lang="zh-CN" altLang="zh-CN" sz="2400" b="1" dirty="0">
                <a:latin typeface="+mn-ea"/>
              </a:rPr>
              <a:t>表是某台路由器中的路由表</a:t>
            </a:r>
            <a:r>
              <a:rPr lang="zh-CN" altLang="zh-CN" sz="1600" dirty="0" smtClean="0">
                <a:solidFill>
                  <a:srgbClr val="333399"/>
                </a:solidFill>
              </a:rPr>
              <a:t>，</a:t>
            </a:r>
            <a:r>
              <a:rPr lang="zh-CN" altLang="zh-CN" sz="2400" b="1" dirty="0" smtClean="0"/>
              <a:t>现</a:t>
            </a:r>
            <a:r>
              <a:rPr lang="zh-CN" altLang="zh-CN" sz="2400" b="1" dirty="0"/>
              <a:t>该路由收到了</a:t>
            </a:r>
            <a:r>
              <a:rPr lang="en-US" altLang="zh-CN" sz="2400" b="1" dirty="0"/>
              <a:t>5</a:t>
            </a:r>
            <a:r>
              <a:rPr lang="zh-CN" altLang="zh-CN" sz="2400" b="1" dirty="0"/>
              <a:t>个数据报</a:t>
            </a:r>
            <a:r>
              <a:rPr lang="zh-CN" altLang="zh-CN" sz="2400" b="1" dirty="0" smtClean="0"/>
              <a:t>，其</a:t>
            </a:r>
            <a:r>
              <a:rPr lang="zh-CN" altLang="zh-CN" sz="2400" b="1" dirty="0"/>
              <a:t>目标</a:t>
            </a:r>
            <a:r>
              <a:rPr lang="en-US" altLang="zh-CN" sz="2400" b="1" dirty="0"/>
              <a:t>IP</a:t>
            </a:r>
            <a:r>
              <a:rPr lang="zh-CN" altLang="zh-CN" sz="2400" b="1" dirty="0"/>
              <a:t>地址分别如下，请</a:t>
            </a:r>
            <a:r>
              <a:rPr lang="zh-CN" altLang="zh-CN" sz="2400" b="1" dirty="0" smtClean="0"/>
              <a:t>给</a:t>
            </a:r>
            <a:r>
              <a:rPr lang="zh-CN" altLang="zh-CN" sz="2400" b="1" dirty="0" smtClean="0"/>
              <a:t>出</a:t>
            </a:r>
            <a:endParaRPr lang="en-US" altLang="zh-CN" sz="2400" b="1" dirty="0" smtClean="0"/>
          </a:p>
          <a:p>
            <a:r>
              <a:rPr lang="zh-CN" altLang="zh-CN" sz="2400" b="1" smtClean="0"/>
              <a:t>每个数据报</a:t>
            </a:r>
            <a:r>
              <a:rPr lang="zh-CN" altLang="zh-CN" sz="2400" b="1" dirty="0"/>
              <a:t>的下一跳</a:t>
            </a:r>
            <a:r>
              <a:rPr lang="zh-CN" altLang="zh-CN" sz="2400" b="1" dirty="0" smtClean="0"/>
              <a:t>。</a:t>
            </a:r>
            <a:endParaRPr lang="en-US" altLang="zh-CN" sz="2400" b="1" dirty="0" smtClean="0"/>
          </a:p>
          <a:p>
            <a:r>
              <a:rPr lang="en-US" altLang="zh-CN" sz="2400" b="1" dirty="0"/>
              <a:t> 1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C4.5E.13.87</a:t>
            </a:r>
            <a:endParaRPr lang="zh-CN" altLang="zh-CN" sz="2400" b="1" dirty="0"/>
          </a:p>
          <a:p>
            <a:r>
              <a:rPr lang="en-US" altLang="zh-CN" sz="2400" b="1" dirty="0"/>
              <a:t> 2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C4.5E.22.09</a:t>
            </a:r>
            <a:endParaRPr lang="zh-CN" altLang="zh-CN" sz="2400" b="1" dirty="0"/>
          </a:p>
          <a:p>
            <a:r>
              <a:rPr lang="en-US" altLang="zh-CN" sz="2400" b="1" dirty="0"/>
              <a:t> 3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C3.41.80.02</a:t>
            </a:r>
            <a:endParaRPr lang="zh-CN" altLang="zh-CN" sz="2400" b="1" dirty="0"/>
          </a:p>
          <a:p>
            <a:r>
              <a:rPr lang="en-US" altLang="zh-CN" sz="2400" b="1" dirty="0"/>
              <a:t> 4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5E.43.91.12</a:t>
            </a:r>
            <a:endParaRPr lang="zh-CN" altLang="zh-CN" sz="2400" b="1" dirty="0"/>
          </a:p>
          <a:p>
            <a:r>
              <a:rPr lang="en-US" altLang="zh-CN" sz="2400" b="1" dirty="0"/>
              <a:t> 5</a:t>
            </a:r>
            <a:r>
              <a:rPr lang="zh-CN" altLang="zh-CN" sz="2400" b="1" dirty="0"/>
              <a:t>）</a:t>
            </a:r>
            <a:r>
              <a:rPr lang="en-US" altLang="zh-CN" sz="2400" b="1" dirty="0"/>
              <a:t>C4.6D.31.2E</a:t>
            </a:r>
            <a:endParaRPr lang="en-US" altLang="zh-CN" sz="2400" b="1" dirty="0" smtClean="0"/>
          </a:p>
          <a:p>
            <a:endParaRPr lang="zh-CN" altLang="en-US" sz="2400" b="1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793839"/>
              </p:ext>
            </p:extLst>
          </p:nvPr>
        </p:nvGraphicFramePr>
        <p:xfrm>
          <a:off x="5648031" y="3453538"/>
          <a:ext cx="3434422" cy="33352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490">
                  <a:extLst>
                    <a:ext uri="{9D8B030D-6E8A-4147-A177-3AD203B41FA5}">
                      <a16:colId xmlns:a16="http://schemas.microsoft.com/office/drawing/2014/main" val="1557735221"/>
                    </a:ext>
                  </a:extLst>
                </a:gridCol>
                <a:gridCol w="1681932">
                  <a:extLst>
                    <a:ext uri="{9D8B030D-6E8A-4147-A177-3AD203B41FA5}">
                      <a16:colId xmlns:a16="http://schemas.microsoft.com/office/drawing/2014/main" val="1413417217"/>
                    </a:ext>
                  </a:extLst>
                </a:gridCol>
              </a:tblGrid>
              <a:tr h="3980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</a:rPr>
                        <a:t>网络</a:t>
                      </a:r>
                      <a:r>
                        <a:rPr lang="en-US" sz="1800" kern="100">
                          <a:effectLst/>
                        </a:rPr>
                        <a:t>/</a:t>
                      </a:r>
                      <a:r>
                        <a:rPr lang="zh-CN" sz="1800" kern="100">
                          <a:effectLst/>
                        </a:rPr>
                        <a:t>掩码长度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下一</a:t>
                      </a:r>
                      <a:r>
                        <a:rPr lang="zh-CN" sz="1800" kern="100" dirty="0" smtClean="0">
                          <a:effectLst/>
                        </a:rPr>
                        <a:t>跳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4615704"/>
                  </a:ext>
                </a:extLst>
              </a:tr>
              <a:tr h="3869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C4.50.0.0/12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A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1986037"/>
                  </a:ext>
                </a:extLst>
              </a:tr>
              <a:tr h="44873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C4.50.0.0/12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B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2371463"/>
                  </a:ext>
                </a:extLst>
              </a:tr>
              <a:tr h="3560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C4.60.0.0/12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7180571"/>
                  </a:ext>
                </a:extLst>
              </a:tr>
              <a:tr h="5377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C4.68.0.0/14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D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0449010"/>
                  </a:ext>
                </a:extLst>
              </a:tr>
              <a:tr h="4957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80.0.0.0/1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E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8549882"/>
                  </a:ext>
                </a:extLst>
              </a:tr>
              <a:tr h="3560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40.0.0.0/2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F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2201361"/>
                  </a:ext>
                </a:extLst>
              </a:tr>
              <a:tr h="3560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0.0.0.0/2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G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089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270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166</Words>
  <Application>Microsoft Office PowerPoint</Application>
  <PresentationFormat>全屏显示(4:3)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ly</dc:creator>
  <cp:lastModifiedBy>ly</cp:lastModifiedBy>
  <cp:revision>5</cp:revision>
  <dcterms:created xsi:type="dcterms:W3CDTF">2016-09-29T04:08:13Z</dcterms:created>
  <dcterms:modified xsi:type="dcterms:W3CDTF">2016-11-03T14:51:14Z</dcterms:modified>
</cp:coreProperties>
</file>