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3013DD2-B8A5-85A7-56BA-2698E394F5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33CB60E-AF84-38E6-40E6-6F4D5DCD00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8408BB1-4335-D161-C6B7-82186B0EB9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3FCF20-31D1-4692-A7F9-6D41E1E001E9}" type="datetimeFigureOut">
              <a:rPr lang="zh-CN" altLang="en-US" smtClean="0"/>
              <a:t>2024/12/23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7FF1B06-0D0C-1DA7-6647-2C6B4000F1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7BF6937-7345-8E6A-A571-976F08BE42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C7A28-3DE2-4F66-AB41-691BF3EFF93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53333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5EE2471-B4B3-A911-BB3D-AEEA66925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D66CE78-0123-CAAA-8A4B-2FA45CEF80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5E88A84-5D75-1ECB-7DE5-FF591B5122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3FCF20-31D1-4692-A7F9-6D41E1E001E9}" type="datetimeFigureOut">
              <a:rPr lang="zh-CN" altLang="en-US" smtClean="0"/>
              <a:t>2024/12/23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98D7E6F-56B1-7201-2443-9B6C106427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1BEA4E0-2200-54F4-A153-80D2877AC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C7A28-3DE2-4F66-AB41-691BF3EFF93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92685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F908C6-6A1B-79E7-889C-890FDC7B56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18EC97C-DDDD-2130-2738-663C92B475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361D34A-319E-0EF4-81A3-EE21C22B91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3FCF20-31D1-4692-A7F9-6D41E1E001E9}" type="datetimeFigureOut">
              <a:rPr lang="zh-CN" altLang="en-US" smtClean="0"/>
              <a:t>2024/12/23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F79E867-7EC4-2F1C-F334-E8C6ABEAF7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F0E2DD1-544A-A32C-983B-7DDD0B8C97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C7A28-3DE2-4F66-AB41-691BF3EFF93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70217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378A259-A5BE-2463-EADE-C5954936CD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F2530FB-0657-B3E2-EC72-3654FDAD9EB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A0001AE-8CE3-B489-8F22-BA6C0EC91A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4E195B1-DE73-6031-5A52-43659A5B27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3FCF20-31D1-4692-A7F9-6D41E1E001E9}" type="datetimeFigureOut">
              <a:rPr lang="zh-CN" altLang="en-US" smtClean="0"/>
              <a:t>2024/12/23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CDDD3BE-66CB-1EAB-B035-C990D1A1FF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A2E74F9-0D0F-4F59-5C9A-F7C554ADF1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C7A28-3DE2-4F66-AB41-691BF3EFF93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067353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9A978DF-791C-7F1D-D494-655E0509C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8553760-3459-23CF-A4A6-22BE3C074D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DFBFE1D-7E59-31FE-1FDA-613A3C97E1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CB8938C1-1F10-6CFD-0CFC-D2F1861885B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226B6CA-F5FB-A9CC-9B16-E9B6F178942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8EE04B9E-696E-1F1F-D3CE-1CD27577A0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3FCF20-31D1-4692-A7F9-6D41E1E001E9}" type="datetimeFigureOut">
              <a:rPr lang="zh-CN" altLang="en-US" smtClean="0"/>
              <a:t>2024/12/23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4E608A85-DB91-F439-A5EB-A7252EF0F4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4FB8624-2025-A8BD-8357-532236E764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C7A28-3DE2-4F66-AB41-691BF3EFF93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966659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7E74BDB-3150-C55B-7A62-3D170FDE64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4FE6731-795D-0F04-7897-9DE4085249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3FCF20-31D1-4692-A7F9-6D41E1E001E9}" type="datetimeFigureOut">
              <a:rPr lang="zh-CN" altLang="en-US" smtClean="0"/>
              <a:t>2024/12/23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461B0CAA-2A7F-71DC-037D-A57103E45C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812AF60-C729-0E7B-E455-0E320C181F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C7A28-3DE2-4F66-AB41-691BF3EFF93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11435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8E11C46-536E-4600-7955-375C54F48D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3FCF20-31D1-4692-A7F9-6D41E1E001E9}" type="datetimeFigureOut">
              <a:rPr lang="zh-CN" altLang="en-US" smtClean="0"/>
              <a:t>2024/12/23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B0941F8-56A1-3EB7-7BCB-7025BE6C62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39D5C97-0584-6E8A-74B3-DB3060C81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C7A28-3DE2-4F66-AB41-691BF3EFF93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62138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6805F-AB1D-6D1B-41E5-BAF96B9033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74A57AF-DB1E-B2A0-8449-780E2047D4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229B2B2-9260-346E-D0B2-4ABC7EE2EB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60F82F4-BD3F-EA86-5A91-1D84B11A6D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3FCF20-31D1-4692-A7F9-6D41E1E001E9}" type="datetimeFigureOut">
              <a:rPr lang="zh-CN" altLang="en-US" smtClean="0"/>
              <a:t>2024/12/23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CEAF2E-FB50-8E0F-DB0D-7BCDB305A9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76E7580-0DFF-6A8A-2BD7-A3C5F856EB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C7A28-3DE2-4F66-AB41-691BF3EFF93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174052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991E1DF-B54E-9350-64C4-E4D1ACF105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6BE033AE-E2FB-2E66-9580-F9DB3A19239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3B692AA-50A8-2F46-7DCE-3C5CD60CAD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3B588EE-5CB7-7886-82CE-82E7193818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3FCF20-31D1-4692-A7F9-6D41E1E001E9}" type="datetimeFigureOut">
              <a:rPr lang="zh-CN" altLang="en-US" smtClean="0"/>
              <a:t>2024/12/23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B7F807C-32E0-BE38-68CC-4A4F8030FD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3451F56-F573-9E76-76EA-5075A0DCA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C7A28-3DE2-4F66-AB41-691BF3EFF93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75206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117334C-DE42-2DD3-5D5C-387008E4A1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544FDCD-1658-7FC5-036A-A211809634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AF89D66-DB91-A972-F4C2-EF2C8819A0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3FCF20-31D1-4692-A7F9-6D41E1E001E9}" type="datetimeFigureOut">
              <a:rPr lang="zh-CN" altLang="en-US" smtClean="0"/>
              <a:t>2024/12/23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6B58978-B426-F93D-7458-A5689A8646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E0CD922-AD6A-ED7B-5AB1-C4D6B0B2E5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C7A28-3DE2-4F66-AB41-691BF3EFF93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09429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465C5724-CB7E-416F-9481-E931ADA1E60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56DA510-5C7E-4836-1C84-3BA91C107E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48F7CE6-0BBD-A649-10E8-4004393C8E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3FCF20-31D1-4692-A7F9-6D41E1E001E9}" type="datetimeFigureOut">
              <a:rPr lang="zh-CN" altLang="en-US" smtClean="0"/>
              <a:t>2024/12/23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1FB7D1A-55E6-FF82-BB74-B9A316035F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B7C5787-4D0D-D61B-E6D7-AC3CD0A93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C7A28-3DE2-4F66-AB41-691BF3EFF93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359993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DDCE2B04-5E3C-1EBF-07B9-0CE41DA64A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E4E64FA-66A6-8592-BAF7-17CAD31C77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CDF8991-964C-3380-FE16-676A1ECFCD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3FCF20-31D1-4692-A7F9-6D41E1E001E9}" type="datetimeFigureOut">
              <a:rPr lang="zh-CN" altLang="en-US" smtClean="0"/>
              <a:t>2024/12/23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4991659-2793-5E55-C5B8-2EC453E9F1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8334986-DC53-D1D4-8749-408DCCCF8B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2C7A28-3DE2-4F66-AB41-691BF3EFF93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235146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F46CD07-F990-BAA1-B8C2-6C8BB6C6860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复习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3FA38855-D639-0B6A-1F23-B8D6F94BBBD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55000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B33704F-F652-2655-4FCF-BB9E1B8D69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题型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E7502D1-A0DB-BAC0-675D-AE81179764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1.</a:t>
            </a:r>
            <a:r>
              <a:rPr lang="zh-CN" altLang="en-US" dirty="0"/>
              <a:t>选择题（</a:t>
            </a:r>
            <a:r>
              <a:rPr lang="en-US" altLang="zh-CN" dirty="0"/>
              <a:t>2</a:t>
            </a:r>
            <a:r>
              <a:rPr lang="zh-CN" altLang="en-US" dirty="0"/>
              <a:t>分</a:t>
            </a:r>
            <a:r>
              <a:rPr lang="en-US" altLang="zh-CN" dirty="0"/>
              <a:t>*10=20</a:t>
            </a:r>
            <a:r>
              <a:rPr lang="zh-CN" altLang="en-US" dirty="0"/>
              <a:t>分）</a:t>
            </a:r>
            <a:endParaRPr lang="en-US" altLang="zh-CN" dirty="0"/>
          </a:p>
          <a:p>
            <a:pPr marL="457200" lvl="1" indent="0">
              <a:buNone/>
            </a:pPr>
            <a:r>
              <a:rPr lang="en-US" altLang="zh-CN" dirty="0"/>
              <a:t>	</a:t>
            </a:r>
            <a:r>
              <a:rPr lang="zh-CN" altLang="en-US" dirty="0"/>
              <a:t>范围覆盖期中之后的基本概念，性质，和基础算法</a:t>
            </a:r>
            <a:endParaRPr lang="en-US" altLang="zh-CN" dirty="0"/>
          </a:p>
          <a:p>
            <a:r>
              <a:rPr lang="zh-CN" altLang="en-US" dirty="0"/>
              <a:t>第</a:t>
            </a:r>
            <a:r>
              <a:rPr lang="en-US" altLang="zh-CN" dirty="0"/>
              <a:t>2-5</a:t>
            </a:r>
            <a:r>
              <a:rPr lang="zh-CN" altLang="en-US" dirty="0"/>
              <a:t>题</a:t>
            </a:r>
            <a:r>
              <a:rPr lang="zh-CN" altLang="en-US" dirty="0">
                <a:sym typeface="Wingdings" panose="05000000000000000000" pitchFamily="2" charset="2"/>
              </a:rPr>
              <a:t>   </a:t>
            </a:r>
            <a:r>
              <a:rPr lang="en-US" altLang="zh-CN" dirty="0">
                <a:sym typeface="Wingdings" panose="05000000000000000000" pitchFamily="2" charset="2"/>
              </a:rPr>
              <a:t>(16</a:t>
            </a:r>
            <a:r>
              <a:rPr lang="zh-CN" altLang="en-US" dirty="0">
                <a:sym typeface="Wingdings" panose="05000000000000000000" pitchFamily="2" charset="2"/>
              </a:rPr>
              <a:t>分</a:t>
            </a:r>
            <a:r>
              <a:rPr lang="en-US" altLang="zh-CN" dirty="0">
                <a:sym typeface="Wingdings" panose="05000000000000000000" pitchFamily="2" charset="2"/>
              </a:rPr>
              <a:t>*4=64</a:t>
            </a:r>
            <a:r>
              <a:rPr lang="zh-CN" altLang="en-US" dirty="0">
                <a:sym typeface="Wingdings" panose="05000000000000000000" pitchFamily="2" charset="2"/>
              </a:rPr>
              <a:t>分，每题大约</a:t>
            </a:r>
            <a:r>
              <a:rPr lang="en-US" altLang="zh-CN" dirty="0">
                <a:sym typeface="Wingdings" panose="05000000000000000000" pitchFamily="2" charset="2"/>
              </a:rPr>
              <a:t>2-3</a:t>
            </a:r>
            <a:r>
              <a:rPr lang="zh-CN" altLang="en-US" dirty="0">
                <a:sym typeface="Wingdings" panose="05000000000000000000" pitchFamily="2" charset="2"/>
              </a:rPr>
              <a:t>小问</a:t>
            </a:r>
            <a:r>
              <a:rPr lang="en-US" altLang="zh-CN" dirty="0">
                <a:sym typeface="Wingdings" panose="05000000000000000000" pitchFamily="2" charset="2"/>
              </a:rPr>
              <a:t>)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en-US" dirty="0"/>
              <a:t>分别考察树、图、查找和排序四个章节的内容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en-US" dirty="0"/>
              <a:t>对教材中重要算法的理解和使用，形式包括画图、计算等</a:t>
            </a:r>
            <a:endParaRPr lang="en-US" altLang="zh-CN" dirty="0"/>
          </a:p>
          <a:p>
            <a:r>
              <a:rPr lang="zh-CN" altLang="en-US" dirty="0"/>
              <a:t>第</a:t>
            </a:r>
            <a:r>
              <a:rPr lang="en-US" altLang="zh-CN" dirty="0"/>
              <a:t>6</a:t>
            </a:r>
            <a:r>
              <a:rPr lang="zh-CN" altLang="en-US" dirty="0"/>
              <a:t>题 （共</a:t>
            </a:r>
            <a:r>
              <a:rPr lang="en-US" altLang="zh-CN" dirty="0"/>
              <a:t>16</a:t>
            </a:r>
            <a:r>
              <a:rPr lang="zh-CN" altLang="en-US" dirty="0"/>
              <a:t>分，</a:t>
            </a:r>
            <a:r>
              <a:rPr lang="en-US" altLang="zh-CN" dirty="0"/>
              <a:t>1</a:t>
            </a:r>
            <a:r>
              <a:rPr lang="zh-CN" altLang="en-US" dirty="0"/>
              <a:t>题，包括</a:t>
            </a:r>
            <a:r>
              <a:rPr lang="en-US" altLang="zh-CN" dirty="0"/>
              <a:t>2-3</a:t>
            </a:r>
            <a:r>
              <a:rPr lang="zh-CN" altLang="en-US" dirty="0"/>
              <a:t>问）</a:t>
            </a:r>
            <a:endParaRPr lang="en-US" altLang="zh-CN" dirty="0"/>
          </a:p>
          <a:p>
            <a:pPr marL="457200" lvl="1" indent="0">
              <a:buNone/>
            </a:pPr>
            <a:r>
              <a:rPr lang="en-US" altLang="zh-CN" sz="2800" dirty="0"/>
              <a:t>	</a:t>
            </a:r>
            <a:r>
              <a:rPr lang="zh-CN" altLang="en-US" sz="2800" dirty="0"/>
              <a:t>综合题（算法题）</a:t>
            </a:r>
          </a:p>
        </p:txBody>
      </p:sp>
    </p:spTree>
    <p:extLst>
      <p:ext uri="{BB962C8B-B14F-4D97-AF65-F5344CB8AC3E}">
        <p14:creationId xmlns:p14="http://schemas.microsoft.com/office/powerpoint/2010/main" val="7599245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16D8994-79B9-7F7C-DB5A-B25E77F652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39241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dirty="0"/>
              <a:t>期中之前：</a:t>
            </a:r>
            <a:endParaRPr lang="en-US" altLang="zh-CN" dirty="0"/>
          </a:p>
          <a:p>
            <a:pPr marL="457200" lvl="1" indent="0">
              <a:buNone/>
            </a:pPr>
            <a:r>
              <a:rPr lang="en-US" altLang="zh-CN" dirty="0"/>
              <a:t>-</a:t>
            </a:r>
            <a:r>
              <a:rPr lang="zh-CN" altLang="en-US" dirty="0"/>
              <a:t>时间</a:t>
            </a:r>
            <a:r>
              <a:rPr lang="en-US" altLang="zh-CN" dirty="0"/>
              <a:t>/</a:t>
            </a:r>
            <a:r>
              <a:rPr lang="zh-CN" altLang="en-US" dirty="0"/>
              <a:t>空间复杂度</a:t>
            </a:r>
            <a:endParaRPr lang="en-US" altLang="zh-CN" dirty="0"/>
          </a:p>
          <a:p>
            <a:pPr marL="457200" lvl="1" indent="0">
              <a:buNone/>
            </a:pPr>
            <a:r>
              <a:rPr lang="en-US" altLang="zh-CN" dirty="0"/>
              <a:t>-</a:t>
            </a:r>
            <a:r>
              <a:rPr lang="zh-CN" altLang="en-US" dirty="0"/>
              <a:t>线性表</a:t>
            </a:r>
            <a:endParaRPr lang="en-US" altLang="zh-CN" dirty="0"/>
          </a:p>
          <a:p>
            <a:pPr marL="457200" lvl="1" indent="0">
              <a:buNone/>
            </a:pPr>
            <a:r>
              <a:rPr lang="en-US" altLang="zh-CN" dirty="0"/>
              <a:t>-</a:t>
            </a:r>
            <a:r>
              <a:rPr lang="zh-CN" altLang="en-US" dirty="0"/>
              <a:t>队列</a:t>
            </a:r>
            <a:r>
              <a:rPr lang="en-US" altLang="zh-CN" dirty="0"/>
              <a:t>/</a:t>
            </a:r>
            <a:r>
              <a:rPr lang="zh-CN" altLang="en-US" dirty="0"/>
              <a:t>栈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期中之后（重点）</a:t>
            </a:r>
            <a:endParaRPr lang="en-US" altLang="zh-CN" dirty="0"/>
          </a:p>
          <a:p>
            <a:pPr marL="457200" lvl="1" indent="0">
              <a:buNone/>
            </a:pPr>
            <a:r>
              <a:rPr lang="en-US" altLang="zh-CN" dirty="0"/>
              <a:t>-</a:t>
            </a:r>
            <a:r>
              <a:rPr lang="zh-CN" altLang="en-US" dirty="0"/>
              <a:t>字符串（重点是</a:t>
            </a:r>
            <a:r>
              <a:rPr lang="en-US" altLang="zh-CN" dirty="0"/>
              <a:t>KMP</a:t>
            </a:r>
            <a:r>
              <a:rPr lang="zh-CN" altLang="en-US" dirty="0"/>
              <a:t>，时间不够可以跳过，因为有</a:t>
            </a:r>
            <a:r>
              <a:rPr lang="en-US" altLang="zh-CN" dirty="0"/>
              <a:t>1</a:t>
            </a:r>
            <a:r>
              <a:rPr lang="zh-CN" altLang="en-US" dirty="0"/>
              <a:t>个平行班没有讲授）</a:t>
            </a:r>
            <a:endParaRPr lang="en-US" altLang="zh-CN" dirty="0"/>
          </a:p>
          <a:p>
            <a:pPr marL="457200" lvl="1" indent="0">
              <a:buNone/>
            </a:pPr>
            <a:r>
              <a:rPr lang="en-US" altLang="zh-CN" dirty="0"/>
              <a:t>-</a:t>
            </a:r>
            <a:r>
              <a:rPr lang="zh-CN" altLang="en-US" dirty="0"/>
              <a:t>树</a:t>
            </a:r>
            <a:endParaRPr lang="en-US" altLang="zh-CN" dirty="0"/>
          </a:p>
          <a:p>
            <a:pPr marL="457200" lvl="1" indent="0">
              <a:buNone/>
            </a:pPr>
            <a:r>
              <a:rPr lang="en-US" altLang="zh-CN" dirty="0"/>
              <a:t>-</a:t>
            </a:r>
            <a:r>
              <a:rPr lang="zh-CN" altLang="en-US" dirty="0"/>
              <a:t>图</a:t>
            </a:r>
            <a:endParaRPr lang="en-US" altLang="zh-CN" dirty="0"/>
          </a:p>
          <a:p>
            <a:pPr marL="457200" lvl="1" indent="0">
              <a:buNone/>
            </a:pPr>
            <a:r>
              <a:rPr lang="en-US" altLang="zh-CN" dirty="0"/>
              <a:t>-</a:t>
            </a:r>
            <a:r>
              <a:rPr lang="zh-CN" altLang="en-US" dirty="0"/>
              <a:t>查找</a:t>
            </a:r>
            <a:endParaRPr lang="en-US" altLang="zh-CN" dirty="0"/>
          </a:p>
          <a:p>
            <a:pPr marL="457200" lvl="1" indent="0">
              <a:buNone/>
            </a:pPr>
            <a:r>
              <a:rPr lang="en-US" altLang="zh-CN" dirty="0"/>
              <a:t>-</a:t>
            </a:r>
            <a:r>
              <a:rPr lang="zh-CN" altLang="en-US" dirty="0"/>
              <a:t>排序</a:t>
            </a:r>
          </a:p>
        </p:txBody>
      </p:sp>
      <p:sp>
        <p:nvSpPr>
          <p:cNvPr id="2" name="右大括号 1">
            <a:extLst>
              <a:ext uri="{FF2B5EF4-FFF2-40B4-BE49-F238E27FC236}">
                <a16:creationId xmlns:a16="http://schemas.microsoft.com/office/drawing/2014/main" id="{ADC1E7D7-0AB9-2667-C306-323457B7911C}"/>
              </a:ext>
            </a:extLst>
          </p:cNvPr>
          <p:cNvSpPr/>
          <p:nvPr/>
        </p:nvSpPr>
        <p:spPr>
          <a:xfrm>
            <a:off x="4718304" y="1554480"/>
            <a:ext cx="292608" cy="941832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2A72696-12C5-C4DF-CCA8-3E67216217B4}"/>
              </a:ext>
            </a:extLst>
          </p:cNvPr>
          <p:cNvSpPr txBox="1"/>
          <p:nvPr/>
        </p:nvSpPr>
        <p:spPr>
          <a:xfrm>
            <a:off x="5212080" y="1840730"/>
            <a:ext cx="13580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会覆盖一些</a:t>
            </a:r>
          </a:p>
        </p:txBody>
      </p:sp>
    </p:spTree>
    <p:extLst>
      <p:ext uri="{BB962C8B-B14F-4D97-AF65-F5344CB8AC3E}">
        <p14:creationId xmlns:p14="http://schemas.microsoft.com/office/powerpoint/2010/main" val="32437598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673BECD-8FDA-C3E3-AE39-FBA21FF2EF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12393"/>
            <a:ext cx="10515600" cy="4351338"/>
          </a:xfrm>
        </p:spPr>
        <p:txBody>
          <a:bodyPr>
            <a:normAutofit fontScale="92500" lnSpcReduction="20000"/>
          </a:bodyPr>
          <a:lstStyle/>
          <a:p>
            <a:r>
              <a:rPr lang="zh-CN" altLang="en-US" dirty="0"/>
              <a:t>树</a:t>
            </a:r>
            <a:endParaRPr lang="en-US" altLang="zh-CN" dirty="0"/>
          </a:p>
          <a:p>
            <a:pPr lvl="1"/>
            <a:r>
              <a:rPr lang="zh-CN" altLang="en-US" dirty="0"/>
              <a:t>树，二叉树、完全二叉树（堆）的一些性质</a:t>
            </a:r>
            <a:endParaRPr lang="en-US" altLang="zh-CN" dirty="0"/>
          </a:p>
          <a:p>
            <a:pPr lvl="1"/>
            <a:r>
              <a:rPr lang="zh-CN" altLang="en-US" dirty="0"/>
              <a:t>二叉树经典存储二叉链表，以及对应的先序、中序、后序遍历</a:t>
            </a:r>
            <a:endParaRPr lang="en-US" altLang="zh-CN" dirty="0"/>
          </a:p>
          <a:p>
            <a:pPr lvl="1"/>
            <a:r>
              <a:rPr lang="zh-CN" altLang="en-US" dirty="0"/>
              <a:t>根据遍历序列进行构造二叉树的方法</a:t>
            </a:r>
            <a:endParaRPr lang="en-US" altLang="zh-CN" dirty="0"/>
          </a:p>
          <a:p>
            <a:pPr lvl="1"/>
            <a:r>
              <a:rPr lang="zh-CN" altLang="en-US" dirty="0"/>
              <a:t>二叉树与树</a:t>
            </a:r>
            <a:r>
              <a:rPr lang="en-US" altLang="zh-CN" dirty="0"/>
              <a:t>/</a:t>
            </a:r>
            <a:r>
              <a:rPr lang="zh-CN" altLang="en-US" dirty="0"/>
              <a:t>森林的转换</a:t>
            </a:r>
            <a:endParaRPr lang="en-US" altLang="zh-CN" dirty="0"/>
          </a:p>
          <a:p>
            <a:pPr lvl="1"/>
            <a:r>
              <a:rPr lang="zh-CN" altLang="en-US" dirty="0"/>
              <a:t>哈夫曼树的构建与应用</a:t>
            </a:r>
            <a:endParaRPr lang="en-US" altLang="zh-CN" dirty="0"/>
          </a:p>
          <a:p>
            <a:r>
              <a:rPr lang="zh-CN" altLang="en-US" dirty="0"/>
              <a:t>图</a:t>
            </a:r>
            <a:endParaRPr lang="en-US" altLang="zh-CN" dirty="0"/>
          </a:p>
          <a:p>
            <a:pPr lvl="1"/>
            <a:r>
              <a:rPr lang="zh-CN" altLang="en-US" dirty="0"/>
              <a:t>图概念中的一些基本</a:t>
            </a:r>
            <a:endParaRPr lang="en-US" altLang="zh-CN" dirty="0"/>
          </a:p>
          <a:p>
            <a:pPr lvl="1"/>
            <a:r>
              <a:rPr lang="zh-CN" altLang="en-US" dirty="0"/>
              <a:t>图的存储（邻接矩阵，邻接表）</a:t>
            </a:r>
            <a:endParaRPr lang="en-US" altLang="zh-CN" dirty="0"/>
          </a:p>
          <a:p>
            <a:pPr lvl="1"/>
            <a:r>
              <a:rPr lang="zh-CN" altLang="en-US" dirty="0"/>
              <a:t>图的应用（应用现有经典算法解决问题，计算）</a:t>
            </a:r>
            <a:endParaRPr lang="en-US" altLang="zh-CN" dirty="0"/>
          </a:p>
          <a:p>
            <a:pPr lvl="2"/>
            <a:r>
              <a:rPr lang="zh-CN" altLang="en-US" dirty="0"/>
              <a:t>最小生成树</a:t>
            </a:r>
            <a:endParaRPr lang="en-US" altLang="zh-CN" dirty="0"/>
          </a:p>
          <a:p>
            <a:pPr lvl="2"/>
            <a:r>
              <a:rPr lang="zh-CN" altLang="en-US" dirty="0"/>
              <a:t>最短距离</a:t>
            </a:r>
            <a:endParaRPr lang="en-US" altLang="zh-CN" dirty="0"/>
          </a:p>
          <a:p>
            <a:pPr lvl="2"/>
            <a:r>
              <a:rPr lang="zh-CN" altLang="en-US" dirty="0"/>
              <a:t>拓扑排序</a:t>
            </a:r>
            <a:endParaRPr lang="en-US" altLang="zh-CN" dirty="0"/>
          </a:p>
          <a:p>
            <a:pPr lvl="2"/>
            <a:r>
              <a:rPr lang="zh-CN" altLang="en-US" dirty="0"/>
              <a:t>关键路径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6922418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E6EB5C1-03DD-D43B-628C-49A88DFBDA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2208" y="1322705"/>
            <a:ext cx="10515600" cy="4351338"/>
          </a:xfrm>
        </p:spPr>
        <p:txBody>
          <a:bodyPr/>
          <a:lstStyle/>
          <a:p>
            <a:r>
              <a:rPr lang="zh-CN" altLang="en-US" dirty="0"/>
              <a:t>查找</a:t>
            </a:r>
            <a:endParaRPr lang="en-US" altLang="zh-CN" dirty="0"/>
          </a:p>
          <a:p>
            <a:pPr lvl="1"/>
            <a:r>
              <a:rPr lang="zh-CN" altLang="en-US" dirty="0"/>
              <a:t>线性查找（简单）</a:t>
            </a:r>
            <a:endParaRPr lang="en-US" altLang="zh-CN" dirty="0"/>
          </a:p>
          <a:p>
            <a:pPr lvl="1"/>
            <a:r>
              <a:rPr lang="en-US" altLang="zh-CN" dirty="0"/>
              <a:t>AVL</a:t>
            </a:r>
            <a:r>
              <a:rPr lang="zh-CN" altLang="en-US" dirty="0"/>
              <a:t>树（重要，构建过程）</a:t>
            </a:r>
            <a:endParaRPr lang="en-US" altLang="zh-CN" dirty="0"/>
          </a:p>
          <a:p>
            <a:pPr lvl="1"/>
            <a:r>
              <a:rPr lang="zh-CN" altLang="en-US" dirty="0"/>
              <a:t>散列表查找（重要，散列表的构建</a:t>
            </a:r>
            <a:r>
              <a:rPr lang="en-US" altLang="zh-CN" dirty="0"/>
              <a:t>(</a:t>
            </a:r>
            <a:r>
              <a:rPr lang="zh-CN" altLang="en-US" dirty="0"/>
              <a:t>开放地址</a:t>
            </a:r>
            <a:r>
              <a:rPr lang="en-US" altLang="zh-CN" dirty="0"/>
              <a:t>+</a:t>
            </a:r>
            <a:r>
              <a:rPr lang="zh-CN" altLang="en-US" dirty="0"/>
              <a:t>拉链法</a:t>
            </a:r>
            <a:r>
              <a:rPr lang="en-US" altLang="zh-CN" dirty="0"/>
              <a:t>)</a:t>
            </a:r>
            <a:r>
              <a:rPr lang="zh-CN" altLang="en-US" dirty="0"/>
              <a:t>，装填因子，</a:t>
            </a:r>
            <a:r>
              <a:rPr lang="en-US" altLang="zh-CN" dirty="0"/>
              <a:t>ASL</a:t>
            </a:r>
            <a:r>
              <a:rPr lang="zh-CN" altLang="en-US" dirty="0"/>
              <a:t>计算）</a:t>
            </a:r>
            <a:endParaRPr lang="en-US" altLang="zh-CN" dirty="0"/>
          </a:p>
          <a:p>
            <a:r>
              <a:rPr lang="zh-CN" altLang="en-US" dirty="0"/>
              <a:t>排序</a:t>
            </a:r>
            <a:endParaRPr lang="en-US" altLang="zh-CN" dirty="0"/>
          </a:p>
          <a:p>
            <a:pPr lvl="1"/>
            <a:r>
              <a:rPr lang="zh-CN" altLang="en-US" dirty="0"/>
              <a:t>经典排序算法的特点</a:t>
            </a:r>
            <a:r>
              <a:rPr lang="en-US" altLang="zh-CN" dirty="0"/>
              <a:t>(</a:t>
            </a:r>
            <a:r>
              <a:rPr lang="zh-CN" altLang="en-US" dirty="0"/>
              <a:t>算法原理，稳定否？</a:t>
            </a:r>
            <a:r>
              <a:rPr lang="en-US" altLang="zh-CN" dirty="0"/>
              <a:t>)</a:t>
            </a:r>
            <a:r>
              <a:rPr lang="zh-CN" altLang="en-US" dirty="0"/>
              <a:t>与时空复杂度</a:t>
            </a:r>
            <a:endParaRPr lang="en-US" altLang="zh-CN" dirty="0"/>
          </a:p>
          <a:p>
            <a:pPr lvl="1"/>
            <a:r>
              <a:rPr lang="zh-CN" altLang="en-US" dirty="0"/>
              <a:t>对算法的理解，熟练运用算法对待排序数据集的排序过程</a:t>
            </a:r>
            <a:endParaRPr lang="en-US" altLang="zh-CN" dirty="0"/>
          </a:p>
          <a:p>
            <a:pPr lvl="1"/>
            <a:r>
              <a:rPr lang="zh-CN" altLang="en-US" dirty="0"/>
              <a:t>除了简单排序算法（比如直接插入、冒泡、简单选择）之外，尤其要关注以前没学过但非常具有特性的排序算法（快速排序、</a:t>
            </a:r>
            <a:r>
              <a:rPr lang="zh-CN" altLang="en-US"/>
              <a:t>堆排序、归并排序等</a:t>
            </a:r>
            <a:r>
              <a:rPr lang="zh-CN" altLang="en-US" dirty="0"/>
              <a:t>）</a:t>
            </a:r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610986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B82B312-F9D3-DBF3-B325-1B4FCA1ED6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79144C2-A5F7-D14D-BB6C-6A7408E78C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复习以</a:t>
            </a:r>
            <a:r>
              <a:rPr lang="en-US" altLang="zh-CN" dirty="0"/>
              <a:t>PPT</a:t>
            </a:r>
            <a:r>
              <a:rPr lang="zh-CN" altLang="en-US" dirty="0"/>
              <a:t>为主</a:t>
            </a:r>
            <a:endParaRPr lang="en-US" altLang="zh-CN" dirty="0"/>
          </a:p>
          <a:p>
            <a:r>
              <a:rPr lang="zh-CN" altLang="en-US" dirty="0"/>
              <a:t>复习希冀作业平台的选择题、简答题（没有时间可以忽略编程题）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670397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196</TotalTime>
  <Words>370</Words>
  <Application>Microsoft Office PowerPoint</Application>
  <PresentationFormat>宽屏</PresentationFormat>
  <Paragraphs>44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1" baseType="lpstr">
      <vt:lpstr>等线</vt:lpstr>
      <vt:lpstr>等线 Light</vt:lpstr>
      <vt:lpstr>Arial</vt:lpstr>
      <vt:lpstr>Wingdings</vt:lpstr>
      <vt:lpstr>Office 主题​​</vt:lpstr>
      <vt:lpstr>复习</vt:lpstr>
      <vt:lpstr>题型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zhengxian gong</dc:creator>
  <cp:lastModifiedBy>zhengxian gong</cp:lastModifiedBy>
  <cp:revision>22</cp:revision>
  <dcterms:created xsi:type="dcterms:W3CDTF">2024-12-22T08:48:35Z</dcterms:created>
  <dcterms:modified xsi:type="dcterms:W3CDTF">2024-12-23T14:52:37Z</dcterms:modified>
</cp:coreProperties>
</file>